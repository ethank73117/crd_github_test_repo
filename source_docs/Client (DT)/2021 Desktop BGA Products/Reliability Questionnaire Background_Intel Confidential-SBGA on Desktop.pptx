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493" r:id="rId3"/>
    <p:sldId id="528" r:id="rId4"/>
    <p:sldId id="516" r:id="rId5"/>
    <p:sldId id="514" r:id="rId6"/>
    <p:sldId id="529" r:id="rId7"/>
    <p:sldId id="530" r:id="rId8"/>
    <p:sldId id="501" r:id="rId9"/>
    <p:sldId id="517" r:id="rId10"/>
    <p:sldId id="518" r:id="rId11"/>
    <p:sldId id="513" r:id="rId12"/>
    <p:sldId id="512" r:id="rId13"/>
    <p:sldId id="505" r:id="rId14"/>
    <p:sldId id="508" r:id="rId15"/>
    <p:sldId id="26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u, Ximo" initials="CX" lastIdx="1" clrIdx="0">
    <p:extLst>
      <p:ext uri="{19B8F6BF-5375-455C-9EA6-DF929625EA0E}">
        <p15:presenceInfo xmlns:p15="http://schemas.microsoft.com/office/powerpoint/2012/main" userId="S::ximo.chu@intel.com::6e971cad-4a86-4b01-ab43-6b1ceb6e000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64" autoAdjust="0"/>
    <p:restoredTop sz="84865" autoAdjust="0"/>
  </p:normalViewPr>
  <p:slideViewPr>
    <p:cSldViewPr snapToGrid="0">
      <p:cViewPr varScale="1">
        <p:scale>
          <a:sx n="105" d="100"/>
          <a:sy n="105" d="100"/>
        </p:scale>
        <p:origin x="10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81DE2C-1DC4-0447-B77F-51F02E34F0FF}" type="datetimeFigureOut">
              <a:rPr lang="en-US" smtClean="0"/>
              <a:t>4/15/2021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EEAACF-D898-7547-887D-F3F4F71C2B8D}" type="slidenum">
              <a:rPr lang="en-US" smtClean="0"/>
              <a:t>‹#›</a:t>
            </a:fld>
            <a:endParaRPr lang="en-US"/>
          </a:p>
        </p:txBody>
      </p:sp>
    </p:spTree>
    <p:extLst>
      <p:ext uri="{BB962C8B-B14F-4D97-AF65-F5344CB8AC3E}">
        <p14:creationId xmlns:p14="http://schemas.microsoft.com/office/powerpoint/2010/main" val="1119612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EEAACF-D898-7547-887D-F3F4F71C2B8D}" type="slidenum">
              <a:rPr lang="en-US" smtClean="0"/>
              <a:t>3</a:t>
            </a:fld>
            <a:endParaRPr lang="en-US"/>
          </a:p>
        </p:txBody>
      </p:sp>
    </p:spTree>
    <p:extLst>
      <p:ext uri="{BB962C8B-B14F-4D97-AF65-F5344CB8AC3E}">
        <p14:creationId xmlns:p14="http://schemas.microsoft.com/office/powerpoint/2010/main" val="3181498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EEAACF-D898-7547-887D-F3F4F71C2B8D}" type="slidenum">
              <a:rPr lang="en-US" smtClean="0"/>
              <a:t>5</a:t>
            </a:fld>
            <a:endParaRPr lang="en-US"/>
          </a:p>
        </p:txBody>
      </p:sp>
    </p:spTree>
    <p:extLst>
      <p:ext uri="{BB962C8B-B14F-4D97-AF65-F5344CB8AC3E}">
        <p14:creationId xmlns:p14="http://schemas.microsoft.com/office/powerpoint/2010/main" val="1773302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3EEAACF-D898-7547-887D-F3F4F71C2B8D}" type="slidenum">
              <a:rPr lang="en-US" smtClean="0"/>
              <a:t>7</a:t>
            </a:fld>
            <a:endParaRPr lang="en-US"/>
          </a:p>
        </p:txBody>
      </p:sp>
    </p:spTree>
    <p:extLst>
      <p:ext uri="{BB962C8B-B14F-4D97-AF65-F5344CB8AC3E}">
        <p14:creationId xmlns:p14="http://schemas.microsoft.com/office/powerpoint/2010/main" val="4113706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1C8689-8455-3546-ADF9-3B7273760F66}" type="slidenum">
              <a:rPr lang="en-US" smtClean="0"/>
              <a:pPr/>
              <a:t>13</a:t>
            </a:fld>
            <a:endParaRPr lang="en-US" dirty="0"/>
          </a:p>
        </p:txBody>
      </p:sp>
    </p:spTree>
    <p:extLst>
      <p:ext uri="{BB962C8B-B14F-4D97-AF65-F5344CB8AC3E}">
        <p14:creationId xmlns:p14="http://schemas.microsoft.com/office/powerpoint/2010/main" val="34490472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with Radial Gradient">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916" y="3305897"/>
            <a:ext cx="10950515" cy="1470025"/>
          </a:xfrm>
        </p:spPr>
        <p:txBody>
          <a:bodyPr lIns="0" rIns="0" anchor="b" anchorCtr="0">
            <a:noAutofit/>
          </a:bodyPr>
          <a:lstStyle>
            <a:lvl1pPr>
              <a:lnSpc>
                <a:spcPct val="80000"/>
              </a:lnSpc>
              <a:defRPr sz="8666" b="0" spc="0" baseline="0">
                <a:solidFill>
                  <a:schemeClr val="bg1"/>
                </a:solidFill>
                <a:latin typeface="Intel Clear Pro" panose="020B0804020202060201" pitchFamily="34" charset="0"/>
                <a:cs typeface="Intel Clear Pro" panose="020B0804020202060201" pitchFamily="34" charset="0"/>
              </a:defRPr>
            </a:lvl1pPr>
          </a:lstStyle>
          <a:p>
            <a:r>
              <a:rPr lang="en-US" dirty="0"/>
              <a:t>65pt Intel Clear pro Title</a:t>
            </a:r>
            <a:br>
              <a:rPr lang="en-US" dirty="0"/>
            </a:br>
            <a:r>
              <a:rPr lang="en-US" dirty="0"/>
              <a:t>with radial gradient</a:t>
            </a:r>
          </a:p>
        </p:txBody>
      </p:sp>
      <p:sp>
        <p:nvSpPr>
          <p:cNvPr id="3" name="Subtitle 2"/>
          <p:cNvSpPr>
            <a:spLocks noGrp="1"/>
          </p:cNvSpPr>
          <p:nvPr>
            <p:ph type="subTitle" idx="1" hasCustomPrompt="1"/>
          </p:nvPr>
        </p:nvSpPr>
        <p:spPr>
          <a:xfrm>
            <a:off x="607484" y="4657344"/>
            <a:ext cx="8440283" cy="1233813"/>
          </a:xfrm>
        </p:spPr>
        <p:txBody>
          <a:bodyPr lIns="0" rIns="0">
            <a:noAutofit/>
          </a:bodyPr>
          <a:lstStyle>
            <a:lvl1pPr marL="0" indent="0" algn="l">
              <a:buNone/>
              <a:defRPr sz="2133" b="0" i="0" baseline="0">
                <a:solidFill>
                  <a:srgbClr val="F3D54E"/>
                </a:solidFill>
                <a:latin typeface="Intel Clear"/>
                <a:cs typeface="Intel Clear"/>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16pt Intel Clear Subhead, Date, Etc.</a:t>
            </a:r>
          </a:p>
        </p:txBody>
      </p:sp>
      <p:sp>
        <p:nvSpPr>
          <p:cNvPr id="8" name="Rectangle 7"/>
          <p:cNvSpPr/>
          <p:nvPr userDrawn="1"/>
        </p:nvSpPr>
        <p:spPr>
          <a:xfrm>
            <a:off x="602397" y="6464460"/>
            <a:ext cx="2704266" cy="161583"/>
          </a:xfrm>
          <a:prstGeom prst="rect">
            <a:avLst/>
          </a:prstGeom>
        </p:spPr>
        <p:txBody>
          <a:bodyPr wrap="none" lIns="0" tIns="0" rIns="0" bIns="0">
            <a:spAutoFit/>
          </a:bodyPr>
          <a:lstStyle/>
          <a:p>
            <a:pPr marL="0" marR="0" indent="0" algn="l" defTabSz="609585" rtl="0" eaLnBrk="1" fontAlgn="auto" latinLnBrk="0" hangingPunct="1">
              <a:lnSpc>
                <a:spcPct val="100000"/>
              </a:lnSpc>
              <a:spcBef>
                <a:spcPts val="0"/>
              </a:spcBef>
              <a:spcAft>
                <a:spcPts val="0"/>
              </a:spcAft>
              <a:buClrTx/>
              <a:buSzTx/>
              <a:buFontTx/>
              <a:buNone/>
              <a:tabLst/>
              <a:defRPr/>
            </a:pPr>
            <a:r>
              <a:rPr lang="en-US" sz="1050" b="0" i="0" u="none" strike="noStrike" kern="1200" baseline="0" dirty="0">
                <a:solidFill>
                  <a:schemeClr val="bg1"/>
                </a:solidFill>
                <a:latin typeface="+mn-lt"/>
                <a:ea typeface="+mn-ea"/>
                <a:cs typeface="Intel Clear"/>
              </a:rPr>
              <a:t>Intel Confidential – For use under CNDA only</a:t>
            </a:r>
          </a:p>
        </p:txBody>
      </p:sp>
      <p:pic>
        <p:nvPicPr>
          <p:cNvPr id="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602397" y="510892"/>
            <a:ext cx="1664065" cy="1106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8470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7" name="Title 6"/>
          <p:cNvSpPr>
            <a:spLocks noGrp="1"/>
          </p:cNvSpPr>
          <p:nvPr>
            <p:ph type="title" hasCustomPrompt="1"/>
          </p:nvPr>
        </p:nvSpPr>
        <p:spPr>
          <a:xfrm>
            <a:off x="607484" y="411797"/>
            <a:ext cx="10972800" cy="1158240"/>
          </a:xfrm>
        </p:spPr>
        <p:txBody>
          <a:bodyPr/>
          <a:lstStyle>
            <a:lvl1pPr>
              <a:defRPr b="0" i="0" baseline="0">
                <a:solidFill>
                  <a:srgbClr val="003C71"/>
                </a:solidFill>
                <a:latin typeface="Intel Clear"/>
                <a:cs typeface="Intel Clear"/>
              </a:defRPr>
            </a:lvl1pPr>
          </a:lstStyle>
          <a:p>
            <a:r>
              <a:rPr lang="en-US" dirty="0"/>
              <a:t>28pt Intel Clear Headline</a:t>
            </a:r>
          </a:p>
        </p:txBody>
      </p:sp>
      <p:sp>
        <p:nvSpPr>
          <p:cNvPr id="9" name="Content Placeholder 8"/>
          <p:cNvSpPr>
            <a:spLocks noGrp="1"/>
          </p:cNvSpPr>
          <p:nvPr>
            <p:ph sz="quarter" idx="13" hasCustomPrompt="1"/>
          </p:nvPr>
        </p:nvSpPr>
        <p:spPr>
          <a:xfrm>
            <a:off x="607484" y="1604434"/>
            <a:ext cx="10970683" cy="4567767"/>
          </a:xfrm>
        </p:spPr>
        <p:txBody>
          <a:bodyPr/>
          <a:lstStyle>
            <a:lvl1pPr>
              <a:defRPr>
                <a:solidFill>
                  <a:srgbClr val="0071C5"/>
                </a:solidFill>
              </a:defRPr>
            </a:lvl1pPr>
            <a:lvl2pPr>
              <a:defRPr sz="2400"/>
            </a:lvl2pPr>
            <a:lvl3pPr>
              <a:defRPr sz="2400"/>
            </a:lvl3pPr>
            <a:lvl4pPr>
              <a:defRPr sz="2133"/>
            </a:lvl4pPr>
          </a:lstStyle>
          <a:p>
            <a:pPr lvl="0"/>
            <a:r>
              <a:rPr lang="en-US" dirty="0"/>
              <a:t>18pt Intel Clear body text</a:t>
            </a:r>
          </a:p>
          <a:p>
            <a:pPr lvl="1"/>
            <a:r>
              <a:rPr lang="en-US" dirty="0"/>
              <a:t>18pt Intel Clear bullet one</a:t>
            </a:r>
          </a:p>
          <a:p>
            <a:pPr lvl="2"/>
            <a:r>
              <a:rPr lang="en-US" dirty="0"/>
              <a:t>18pt Intel Clear sub-bullet</a:t>
            </a:r>
          </a:p>
          <a:p>
            <a:pPr lvl="3"/>
            <a:r>
              <a:rPr lang="en-US" dirty="0"/>
              <a:t>16pt Intel Clear fourth level</a:t>
            </a:r>
          </a:p>
          <a:p>
            <a:pPr lvl="4"/>
            <a:r>
              <a:rPr lang="en-US" dirty="0" err="1"/>
              <a:t>14pt</a:t>
            </a:r>
            <a:r>
              <a:rPr lang="en-US" dirty="0"/>
              <a:t> Intel Clear fifth level</a:t>
            </a:r>
          </a:p>
        </p:txBody>
      </p:sp>
      <p:sp>
        <p:nvSpPr>
          <p:cNvPr id="8" name="Slide Number Placeholder 4"/>
          <p:cNvSpPr>
            <a:spLocks noGrp="1"/>
          </p:cNvSpPr>
          <p:nvPr>
            <p:ph type="sldNum" sz="quarter" idx="12"/>
          </p:nvPr>
        </p:nvSpPr>
        <p:spPr>
          <a:xfrm>
            <a:off x="11638843" y="6344355"/>
            <a:ext cx="548640" cy="513644"/>
          </a:xfrm>
        </p:spPr>
        <p:txBody>
          <a:bodyPr/>
          <a:lstStyle>
            <a:lvl1pPr algn="ctr">
              <a:defRPr sz="1200"/>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392676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6"/>
          <p:cNvSpPr>
            <a:spLocks noGrp="1"/>
          </p:cNvSpPr>
          <p:nvPr>
            <p:ph type="title" hasCustomPrompt="1"/>
          </p:nvPr>
        </p:nvSpPr>
        <p:spPr>
          <a:xfrm>
            <a:off x="607484" y="411798"/>
            <a:ext cx="10972800" cy="574516"/>
          </a:xfrm>
        </p:spPr>
        <p:txBody>
          <a:bodyPr>
            <a:spAutoFit/>
          </a:bodyPr>
          <a:lstStyle>
            <a:lvl1pPr>
              <a:defRPr b="0" i="0" baseline="0">
                <a:solidFill>
                  <a:srgbClr val="003C71"/>
                </a:solidFill>
                <a:latin typeface="Intel Clear"/>
                <a:cs typeface="Intel Clear"/>
              </a:defRPr>
            </a:lvl1pPr>
          </a:lstStyle>
          <a:p>
            <a:r>
              <a:rPr lang="en-US" dirty="0"/>
              <a:t>28pt Intel Clear Headline</a:t>
            </a:r>
          </a:p>
        </p:txBody>
      </p:sp>
      <p:sp>
        <p:nvSpPr>
          <p:cNvPr id="7" name="Slide Number Placeholder 4"/>
          <p:cNvSpPr>
            <a:spLocks noGrp="1"/>
          </p:cNvSpPr>
          <p:nvPr>
            <p:ph type="sldNum" sz="quarter" idx="12"/>
          </p:nvPr>
        </p:nvSpPr>
        <p:spPr>
          <a:xfrm>
            <a:off x="11638843" y="6344355"/>
            <a:ext cx="548640" cy="513644"/>
          </a:xfrm>
        </p:spPr>
        <p:txBody>
          <a:bodyPr/>
          <a:lstStyle>
            <a:lvl1pPr algn="ctr">
              <a:defRPr sz="1200" b="0"/>
            </a:lvl1pPr>
          </a:lstStyle>
          <a:p>
            <a:fld id="{EE2556C5-CE8C-6547-B838-EA80C61A4AF7}" type="slidenum">
              <a:rPr lang="en-US" smtClean="0"/>
              <a:pPr/>
              <a:t>‹#›</a:t>
            </a:fld>
            <a:endParaRPr lang="en-US" dirty="0"/>
          </a:p>
        </p:txBody>
      </p:sp>
    </p:spTree>
    <p:extLst>
      <p:ext uri="{BB962C8B-B14F-4D97-AF65-F5344CB8AC3E}">
        <p14:creationId xmlns:p14="http://schemas.microsoft.com/office/powerpoint/2010/main" val="905494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blank" preserve="1">
  <p:cSld name="Back Cover Radial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2" descr="\\.psf\Home\Desktop\Inte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4636577" y="2500173"/>
            <a:ext cx="2811727" cy="18531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12579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2116" y="6345936"/>
            <a:ext cx="12192000" cy="512064"/>
          </a:xfrm>
          <a:prstGeom prst="rect">
            <a:avLst/>
          </a:prstGeom>
          <a:gradFill flip="none" rotWithShape="1">
            <a:gsLst>
              <a:gs pos="0">
                <a:schemeClr val="tx2"/>
              </a:gs>
              <a:gs pos="50000">
                <a:schemeClr val="accent2"/>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p>
        </p:txBody>
      </p:sp>
      <p:sp>
        <p:nvSpPr>
          <p:cNvPr id="10" name="Rectangle 9"/>
          <p:cNvSpPr/>
          <p:nvPr/>
        </p:nvSpPr>
        <p:spPr>
          <a:xfrm>
            <a:off x="607484" y="6529704"/>
            <a:ext cx="2758769" cy="164212"/>
          </a:xfrm>
          <a:prstGeom prst="rect">
            <a:avLst/>
          </a:prstGeom>
        </p:spPr>
        <p:txBody>
          <a:bodyPr wrap="none" lIns="0" tIns="0" rIns="0" bIns="0">
            <a:spAutoFit/>
          </a:bodyPr>
          <a:lstStyle/>
          <a:p>
            <a:pPr marL="0" marR="0" indent="0" algn="l" defTabSz="609585" rtl="0" eaLnBrk="1" fontAlgn="auto" latinLnBrk="0" hangingPunct="1">
              <a:lnSpc>
                <a:spcPct val="100000"/>
              </a:lnSpc>
              <a:spcBef>
                <a:spcPts val="0"/>
              </a:spcBef>
              <a:spcAft>
                <a:spcPts val="0"/>
              </a:spcAft>
              <a:buClrTx/>
              <a:buSzTx/>
              <a:buFontTx/>
              <a:buNone/>
              <a:tabLst/>
              <a:defRPr/>
            </a:pPr>
            <a:r>
              <a:rPr lang="en-US" sz="1067" b="0" i="0" u="none" strike="noStrike" kern="1200" baseline="0" dirty="0">
                <a:solidFill>
                  <a:schemeClr val="bg1"/>
                </a:solidFill>
                <a:latin typeface="+mn-lt"/>
                <a:ea typeface="+mn-ea"/>
                <a:cs typeface="Intel Clear"/>
              </a:rPr>
              <a:t>Intel Confidential – For use under CNDA only</a:t>
            </a:r>
          </a:p>
        </p:txBody>
      </p:sp>
      <p:pic>
        <p:nvPicPr>
          <p:cNvPr id="11" name="Picture 2" descr="\\.psf\Home\Desktop\Intel.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986554" y="6440786"/>
            <a:ext cx="485781" cy="32017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a:xfrm>
            <a:off x="11624735" y="6432680"/>
            <a:ext cx="3175" cy="316992"/>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 name="Title Placeholder 1"/>
          <p:cNvSpPr>
            <a:spLocks noGrp="1"/>
          </p:cNvSpPr>
          <p:nvPr>
            <p:ph type="title"/>
          </p:nvPr>
        </p:nvSpPr>
        <p:spPr>
          <a:xfrm>
            <a:off x="607484" y="413507"/>
            <a:ext cx="10972800" cy="1158240"/>
          </a:xfrm>
          <a:prstGeom prst="rect">
            <a:avLst/>
          </a:prstGeom>
        </p:spPr>
        <p:txBody>
          <a:bodyPr vert="horz" lIns="0" tIns="0" rIns="0" bIns="0" rtlCol="0" anchor="t" anchorCtr="0">
            <a:noAutofit/>
          </a:bodyPr>
          <a:lstStyle/>
          <a:p>
            <a:r>
              <a:rPr lang="en-US" dirty="0"/>
              <a:t>28pt Intel Clear Headline</a:t>
            </a:r>
          </a:p>
        </p:txBody>
      </p:sp>
      <p:sp>
        <p:nvSpPr>
          <p:cNvPr id="3" name="Text Placeholder 2"/>
          <p:cNvSpPr>
            <a:spLocks noGrp="1"/>
          </p:cNvSpPr>
          <p:nvPr>
            <p:ph type="body" idx="1"/>
          </p:nvPr>
        </p:nvSpPr>
        <p:spPr>
          <a:xfrm>
            <a:off x="607484" y="1604434"/>
            <a:ext cx="10970683" cy="4567767"/>
          </a:xfrm>
          <a:prstGeom prst="rect">
            <a:avLst/>
          </a:prstGeom>
        </p:spPr>
        <p:txBody>
          <a:bodyPr vert="horz" lIns="0" tIns="0" rIns="0" bIns="0" rtlCol="0">
            <a:noAutofit/>
          </a:bodyPr>
          <a:lstStyle/>
          <a:p>
            <a:pPr lvl="0"/>
            <a:r>
              <a:rPr lang="en-US" dirty="0"/>
              <a:t>18pt Intel Clear body text</a:t>
            </a:r>
          </a:p>
          <a:p>
            <a:pPr lvl="1"/>
            <a:r>
              <a:rPr lang="en-US" dirty="0"/>
              <a:t>16pt Intel Clear bullet one</a:t>
            </a:r>
          </a:p>
          <a:p>
            <a:pPr lvl="2"/>
            <a:r>
              <a:rPr lang="en-US" dirty="0"/>
              <a:t>16pt Intel Clear sub-bullet</a:t>
            </a:r>
          </a:p>
          <a:p>
            <a:pPr lvl="3"/>
            <a:r>
              <a:rPr lang="en-US" dirty="0" err="1"/>
              <a:t>14pt</a:t>
            </a:r>
            <a:r>
              <a:rPr lang="en-US" dirty="0"/>
              <a:t> Intel Clear fourth level</a:t>
            </a:r>
          </a:p>
          <a:p>
            <a:pPr lvl="4"/>
            <a:r>
              <a:rPr lang="en-US" dirty="0" err="1"/>
              <a:t>14pt</a:t>
            </a:r>
            <a:r>
              <a:rPr lang="en-US" dirty="0"/>
              <a:t> Intel Clear fifth level</a:t>
            </a:r>
          </a:p>
        </p:txBody>
      </p:sp>
      <p:sp>
        <p:nvSpPr>
          <p:cNvPr id="6" name="Slide Number Placeholder 5"/>
          <p:cNvSpPr>
            <a:spLocks noGrp="1"/>
          </p:cNvSpPr>
          <p:nvPr>
            <p:ph type="sldNum" sz="quarter" idx="4"/>
          </p:nvPr>
        </p:nvSpPr>
        <p:spPr>
          <a:xfrm>
            <a:off x="9163136" y="6432516"/>
            <a:ext cx="2844800" cy="365125"/>
          </a:xfrm>
          <a:prstGeom prst="rect">
            <a:avLst/>
          </a:prstGeom>
        </p:spPr>
        <p:txBody>
          <a:bodyPr vert="horz" lIns="0" tIns="0" rIns="0" bIns="0" rtlCol="0" anchor="ctr"/>
          <a:lstStyle>
            <a:lvl1pPr algn="r">
              <a:defRPr sz="1067">
                <a:solidFill>
                  <a:schemeClr val="bg1"/>
                </a:solidFill>
                <a:latin typeface="+mn-lt"/>
                <a:cs typeface="Intel Clear"/>
              </a:defRPr>
            </a:lvl1pPr>
          </a:lstStyle>
          <a:p>
            <a:fld id="{EE2556C5-CE8C-6547-B838-EA80C61A4AF7}" type="slidenum">
              <a:rPr lang="en-US" smtClean="0"/>
              <a:pPr/>
              <a:t>‹#›</a:t>
            </a:fld>
            <a:endParaRPr lang="en-US" dirty="0"/>
          </a:p>
        </p:txBody>
      </p:sp>
      <p:sp>
        <p:nvSpPr>
          <p:cNvPr id="4" name="fc" descr="Intel Restricted Secret"/>
          <p:cNvSpPr txBox="1"/>
          <p:nvPr userDrawn="1"/>
        </p:nvSpPr>
        <p:spPr>
          <a:xfrm>
            <a:off x="0" y="6380480"/>
            <a:ext cx="12192000" cy="0"/>
          </a:xfrm>
          <a:prstGeom prst="rect">
            <a:avLst/>
          </a:prstGeom>
          <a:solidFill>
            <a:schemeClr val="bg2">
              <a:lumMod val="20000"/>
              <a:lumOff val="80000"/>
            </a:schemeClr>
          </a:solidFill>
        </p:spPr>
        <p:txBody>
          <a:bodyPr vert="horz" lIns="0" tIns="0" rIns="0" bIns="0" rtlCol="0">
            <a:noAutofit/>
          </a:bodyPr>
          <a:lstStyle/>
          <a:p>
            <a:pPr algn="ctr"/>
            <a:endParaRPr lang="en-US" sz="1467" dirty="0">
              <a:solidFill>
                <a:srgbClr val="003C71"/>
              </a:solidFill>
            </a:endParaRPr>
          </a:p>
        </p:txBody>
      </p:sp>
    </p:spTree>
    <p:extLst>
      <p:ext uri="{BB962C8B-B14F-4D97-AF65-F5344CB8AC3E}">
        <p14:creationId xmlns:p14="http://schemas.microsoft.com/office/powerpoint/2010/main" val="36424770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Lst>
  <p:hf hdr="0" ftr="0" dt="0"/>
  <p:txStyles>
    <p:titleStyle>
      <a:lvl1pPr algn="l" defTabSz="609585" rtl="0" eaLnBrk="1" latinLnBrk="0" hangingPunct="1">
        <a:lnSpc>
          <a:spcPct val="100000"/>
        </a:lnSpc>
        <a:spcBef>
          <a:spcPct val="0"/>
        </a:spcBef>
        <a:buNone/>
        <a:defRPr sz="3733" b="0" i="0" kern="1200" spc="0" baseline="0">
          <a:solidFill>
            <a:srgbClr val="003C71"/>
          </a:solidFill>
          <a:latin typeface="Intel Clear"/>
          <a:ea typeface="Intel Clear"/>
          <a:cs typeface="Intel Clear"/>
        </a:defRPr>
      </a:lvl1pPr>
    </p:titleStyle>
    <p:body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microsoft.com/office/2007/relationships/hdphoto" Target="../media/hdphoto1.wdp"/><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5698-5295-4256-8B1B-8A7287A386B3}"/>
              </a:ext>
            </a:extLst>
          </p:cNvPr>
          <p:cNvSpPr>
            <a:spLocks noGrp="1"/>
          </p:cNvSpPr>
          <p:nvPr>
            <p:ph type="ctrTitle"/>
          </p:nvPr>
        </p:nvSpPr>
        <p:spPr>
          <a:xfrm>
            <a:off x="753788" y="2571626"/>
            <a:ext cx="10950515" cy="1470025"/>
          </a:xfrm>
        </p:spPr>
        <p:txBody>
          <a:bodyPr/>
          <a:lstStyle/>
          <a:p>
            <a:r>
              <a:rPr lang="en-US" sz="7200" dirty="0"/>
              <a:t>BGA Desktop Use Condition and Expectation</a:t>
            </a:r>
          </a:p>
        </p:txBody>
      </p:sp>
    </p:spTree>
    <p:extLst>
      <p:ext uri="{BB962C8B-B14F-4D97-AF65-F5344CB8AC3E}">
        <p14:creationId xmlns:p14="http://schemas.microsoft.com/office/powerpoint/2010/main" val="1386007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683" y="169595"/>
            <a:ext cx="10972800" cy="492443"/>
          </a:xfrm>
        </p:spPr>
        <p:txBody>
          <a:bodyPr/>
          <a:lstStyle/>
          <a:p>
            <a:r>
              <a:rPr lang="en-US" sz="3200" dirty="0">
                <a:solidFill>
                  <a:schemeClr val="tx2"/>
                </a:solidFill>
                <a:latin typeface="Intel Clear" panose="020B0604020203020204" pitchFamily="34" charset="0"/>
                <a:ea typeface="Intel Clear" panose="020B0604020203020204" pitchFamily="34" charset="0"/>
                <a:cs typeface="Intel Clear" panose="020B0604020203020204" pitchFamily="34" charset="0"/>
              </a:rPr>
              <a:t>Legal Disclaimer</a:t>
            </a:r>
          </a:p>
        </p:txBody>
      </p:sp>
      <p:sp>
        <p:nvSpPr>
          <p:cNvPr id="12" name="Slide Number Placeholder 11"/>
          <p:cNvSpPr>
            <a:spLocks noGrp="1"/>
          </p:cNvSpPr>
          <p:nvPr>
            <p:ph type="sldNum" sz="quarter" idx="12"/>
          </p:nvPr>
        </p:nvSpPr>
        <p:spPr/>
        <p:txBody>
          <a:bodyPr/>
          <a:lstStyle/>
          <a:p>
            <a:fld id="{EE2556C5-CE8C-6547-B838-EA80C61A4AF7}" type="slidenum">
              <a:rPr lang="en-US" smtClean="0"/>
              <a:pPr/>
              <a:t>2</a:t>
            </a:fld>
            <a:endParaRPr lang="en-US" dirty="0"/>
          </a:p>
        </p:txBody>
      </p:sp>
      <p:sp>
        <p:nvSpPr>
          <p:cNvPr id="8" name="Content Placeholder 4">
            <a:extLst>
              <a:ext uri="{FF2B5EF4-FFF2-40B4-BE49-F238E27FC236}">
                <a16:creationId xmlns:a16="http://schemas.microsoft.com/office/drawing/2014/main" id="{9F1DB430-6490-654A-9389-C4CC46DA10C6}"/>
              </a:ext>
            </a:extLst>
          </p:cNvPr>
          <p:cNvSpPr txBox="1">
            <a:spLocks/>
          </p:cNvSpPr>
          <p:nvPr/>
        </p:nvSpPr>
        <p:spPr>
          <a:xfrm>
            <a:off x="798513" y="959029"/>
            <a:ext cx="10453687" cy="5196915"/>
          </a:xfrm>
          <a:prstGeom prst="rect">
            <a:avLst/>
          </a:prstGeom>
        </p:spPr>
        <p:txBody>
          <a:bodyPr/>
          <a:lstStyle>
            <a:lvl1pPr marL="0" indent="0" algn="l" defTabSz="457200" rtl="0" eaLnBrk="1" latinLnBrk="0" hangingPunct="1">
              <a:spcBef>
                <a:spcPts val="1200"/>
              </a:spcBef>
              <a:spcAft>
                <a:spcPts val="0"/>
              </a:spcAft>
              <a:buFont typeface="Wingdings" panose="05000000000000000000" pitchFamily="2" charset="2"/>
              <a:buNone/>
              <a:defRPr sz="2200" b="0" kern="1200">
                <a:solidFill>
                  <a:srgbClr val="0071C5"/>
                </a:solidFill>
                <a:latin typeface="+mn-lt"/>
                <a:ea typeface="+mn-ea"/>
                <a:cs typeface="Intel Clear" panose="020B0604020203020204" pitchFamily="34" charset="0"/>
              </a:defRPr>
            </a:lvl1pPr>
            <a:lvl2pPr marL="225425" indent="-225425" algn="l" defTabSz="457200" rtl="0" eaLnBrk="1" latinLnBrk="0" hangingPunct="1">
              <a:spcBef>
                <a:spcPts val="1200"/>
              </a:spcBef>
              <a:buFont typeface="Wingdings" charset="2"/>
              <a:buChar char="§"/>
              <a:defRPr sz="1800" kern="1200" baseline="0">
                <a:solidFill>
                  <a:schemeClr val="tx2"/>
                </a:solidFill>
                <a:latin typeface="+mn-lt"/>
                <a:ea typeface="+mn-ea"/>
                <a:cs typeface="Intel Clear" panose="020B0604020203020204" pitchFamily="34" charset="0"/>
              </a:defRPr>
            </a:lvl2pPr>
            <a:lvl3pPr marL="571500" indent="-228600" algn="l" defTabSz="457200" rtl="0" eaLnBrk="1" latinLnBrk="0" hangingPunct="1">
              <a:spcBef>
                <a:spcPts val="800"/>
              </a:spcBef>
              <a:buFont typeface="Wingdings" charset="2"/>
              <a:buChar char="§"/>
              <a:defRPr sz="1800" kern="1200">
                <a:solidFill>
                  <a:schemeClr val="tx2"/>
                </a:solidFill>
                <a:latin typeface="+mn-lt"/>
                <a:ea typeface="+mn-ea"/>
                <a:cs typeface="Intel Clear" panose="020B0604020203020204" pitchFamily="34" charset="0"/>
              </a:defRPr>
            </a:lvl3pPr>
            <a:lvl4pPr marL="969963" indent="-228600" algn="l" defTabSz="457200" rtl="0" eaLnBrk="1" latinLnBrk="0" hangingPunct="1">
              <a:spcBef>
                <a:spcPct val="20000"/>
              </a:spcBef>
              <a:buFont typeface="Arial"/>
              <a:buChar char="–"/>
              <a:defRPr sz="1600" kern="1200">
                <a:solidFill>
                  <a:schemeClr val="tx2"/>
                </a:solidFill>
                <a:latin typeface="+mn-lt"/>
                <a:ea typeface="+mn-ea"/>
                <a:cs typeface="Intel Clear" panose="020B0604020203020204" pitchFamily="34" charset="0"/>
              </a:defRPr>
            </a:lvl4pPr>
            <a:lvl5pPr marL="1319213" indent="-228600" algn="l" defTabSz="457200" rtl="0" eaLnBrk="1" latinLnBrk="0" hangingPunct="1">
              <a:spcBef>
                <a:spcPct val="20000"/>
              </a:spcBef>
              <a:buFont typeface="Intel Clear" panose="020B0604020203020204" pitchFamily="34" charset="0"/>
              <a:buChar char="–"/>
              <a:defRPr sz="1400" kern="1200">
                <a:solidFill>
                  <a:schemeClr val="tx2"/>
                </a:solidFill>
                <a:latin typeface="+mn-lt"/>
                <a:ea typeface="+mn-ea"/>
                <a:cs typeface="Intel Clear" panose="020B0604020203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spcBef>
                <a:spcPts val="600"/>
              </a:spcBef>
            </a:pPr>
            <a:r>
              <a:rPr lang="en-US" sz="1300" dirty="0">
                <a:solidFill>
                  <a:srgbClr val="000000"/>
                </a:solidFill>
              </a:rPr>
              <a:t>You may not use or facilitate the use of this document in connection with any infringement or other legal analysis concerning Intel products described herein. You agree to grant Intel a non-exclusive, royalty-free license to any patent claim thereafter drafted which includes subject matter disclosed herein.</a:t>
            </a:r>
          </a:p>
          <a:p>
            <a:pPr>
              <a:spcBef>
                <a:spcPts val="600"/>
              </a:spcBef>
            </a:pPr>
            <a:r>
              <a:rPr lang="en-US" sz="1300" dirty="0">
                <a:solidFill>
                  <a:srgbClr val="000000"/>
                </a:solidFill>
              </a:rPr>
              <a:t>No license (express or implied, by estoppel or otherwise) to any intellectual property rights is granted by this document.</a:t>
            </a:r>
          </a:p>
          <a:p>
            <a:pPr>
              <a:spcBef>
                <a:spcPts val="600"/>
              </a:spcBef>
            </a:pPr>
            <a:r>
              <a:rPr lang="en-US" sz="1300" dirty="0">
                <a:solidFill>
                  <a:srgbClr val="000000"/>
                </a:solidFill>
              </a:rPr>
              <a:t>Intel technologies’ features and benefits depend on system configuration and may require enabled hardware, software or service activation. Learn more at Intel.com, or from the OEM or retailer.</a:t>
            </a:r>
          </a:p>
          <a:p>
            <a:pPr>
              <a:spcBef>
                <a:spcPts val="600"/>
              </a:spcBef>
            </a:pPr>
            <a:r>
              <a:rPr lang="en-US" sz="1300" dirty="0">
                <a:solidFill>
                  <a:srgbClr val="000000"/>
                </a:solidFill>
              </a:rPr>
              <a:t>No computer system can be absolutely secure. Intel does not assume any liability for lost or stolen data or systems or any damages resulting from such losses.</a:t>
            </a:r>
          </a:p>
          <a:p>
            <a:pPr>
              <a:spcBef>
                <a:spcPts val="600"/>
              </a:spcBef>
            </a:pPr>
            <a:r>
              <a:rPr lang="en-US" sz="1300" dirty="0">
                <a:solidFill>
                  <a:srgbClr val="000000"/>
                </a:solidFill>
              </a:rPr>
              <a:t>The products described may contain design defects or errors known as errata which may cause the product to deviate from published specifications. Current characterized errata are available on request.</a:t>
            </a:r>
          </a:p>
          <a:p>
            <a:pPr>
              <a:spcBef>
                <a:spcPts val="600"/>
              </a:spcBef>
            </a:pPr>
            <a:r>
              <a:rPr lang="en-US" sz="1300" dirty="0">
                <a:solidFill>
                  <a:srgbClr val="000000"/>
                </a:solidFill>
              </a:rPr>
              <a:t>Intel disclaims all express and implied warranties, including without limitation, the implied warranties of merchantability, fitness for a particular purpose, and non-infringement, as well as any warranty arising from course of performance, course of dealing, or usage in trade.</a:t>
            </a:r>
          </a:p>
          <a:p>
            <a:pPr>
              <a:spcBef>
                <a:spcPts val="600"/>
              </a:spcBef>
            </a:pPr>
            <a:r>
              <a:rPr lang="en-US" sz="1300" dirty="0">
                <a:solidFill>
                  <a:srgbClr val="000000"/>
                </a:solidFill>
              </a:rPr>
              <a:t>Intel technologies’ features and benefits depend on system configuration and may require enabled hardware, software or service activation. Learn more at intel.com, or from the OEM or retailer.</a:t>
            </a:r>
          </a:p>
          <a:p>
            <a:pPr>
              <a:spcBef>
                <a:spcPts val="600"/>
              </a:spcBef>
            </a:pPr>
            <a:r>
              <a:rPr lang="en-US" sz="1300" dirty="0">
                <a:solidFill>
                  <a:srgbClr val="000000"/>
                </a:solidFill>
              </a:rPr>
              <a:t>All information provided here is subject to change without notice. Contact your Intel representative to obtain the latest Intel product specifications and roadmaps.</a:t>
            </a:r>
          </a:p>
          <a:p>
            <a:pPr>
              <a:spcBef>
                <a:spcPts val="600"/>
              </a:spcBef>
            </a:pPr>
            <a:r>
              <a:rPr lang="en-US" sz="1300" dirty="0">
                <a:solidFill>
                  <a:srgbClr val="000000"/>
                </a:solidFill>
              </a:rPr>
              <a:t>Copies of documents which have an order number and are referenced in this document may be obtained by calling 1-800-548-4725 or visit www.intel.com/design/literature.htm.</a:t>
            </a:r>
          </a:p>
          <a:p>
            <a:pPr>
              <a:spcBef>
                <a:spcPts val="600"/>
              </a:spcBef>
            </a:pPr>
            <a:r>
              <a:rPr lang="en-US" sz="1300" dirty="0">
                <a:solidFill>
                  <a:srgbClr val="000000"/>
                </a:solidFill>
              </a:rPr>
              <a:t>Intel, and the Intel logo are trademarks of Intel Corporation in the U.S. and/or other countries. </a:t>
            </a:r>
          </a:p>
          <a:p>
            <a:pPr>
              <a:spcBef>
                <a:spcPts val="600"/>
              </a:spcBef>
            </a:pPr>
            <a:r>
              <a:rPr lang="en-US" sz="1300" dirty="0">
                <a:solidFill>
                  <a:srgbClr val="000000"/>
                </a:solidFill>
              </a:rPr>
              <a:t>*Other names and brands may be claimed as the property of others.</a:t>
            </a:r>
          </a:p>
          <a:p>
            <a:pPr>
              <a:spcBef>
                <a:spcPts val="600"/>
              </a:spcBef>
            </a:pPr>
            <a:r>
              <a:rPr lang="en-US" sz="1300" dirty="0">
                <a:solidFill>
                  <a:srgbClr val="000000"/>
                </a:solidFill>
              </a:rPr>
              <a:t>© 2021 Intel Corporation. All rights reserved.</a:t>
            </a:r>
          </a:p>
        </p:txBody>
      </p:sp>
    </p:spTree>
    <p:extLst>
      <p:ext uri="{BB962C8B-B14F-4D97-AF65-F5344CB8AC3E}">
        <p14:creationId xmlns:p14="http://schemas.microsoft.com/office/powerpoint/2010/main" val="2510225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D31F-C97C-4304-8147-8C2D5BFB90EF}"/>
              </a:ext>
            </a:extLst>
          </p:cNvPr>
          <p:cNvSpPr>
            <a:spLocks noGrp="1"/>
          </p:cNvSpPr>
          <p:nvPr>
            <p:ph type="title"/>
          </p:nvPr>
        </p:nvSpPr>
        <p:spPr/>
        <p:txBody>
          <a:bodyPr/>
          <a:lstStyle/>
          <a:p>
            <a:r>
              <a:rPr lang="en-US" dirty="0"/>
              <a:t>Background</a:t>
            </a:r>
          </a:p>
        </p:txBody>
      </p:sp>
      <p:sp>
        <p:nvSpPr>
          <p:cNvPr id="3" name="Slide Number Placeholder 2">
            <a:extLst>
              <a:ext uri="{FF2B5EF4-FFF2-40B4-BE49-F238E27FC236}">
                <a16:creationId xmlns:a16="http://schemas.microsoft.com/office/drawing/2014/main" id="{F26183C0-2935-43C9-B774-5CFCE4547A18}"/>
              </a:ext>
            </a:extLst>
          </p:cNvPr>
          <p:cNvSpPr>
            <a:spLocks noGrp="1"/>
          </p:cNvSpPr>
          <p:nvPr>
            <p:ph type="sldNum" sz="quarter" idx="12"/>
          </p:nvPr>
        </p:nvSpPr>
        <p:spPr>
          <a:xfrm>
            <a:off x="11643360" y="6344356"/>
            <a:ext cx="548640" cy="513644"/>
          </a:xfrm>
        </p:spPr>
        <p:txBody>
          <a:bodyPr/>
          <a:lstStyle/>
          <a:p>
            <a:fld id="{EE2556C5-CE8C-6547-B838-EA80C61A4AF7}" type="slidenum">
              <a:rPr lang="en-US" smtClean="0"/>
              <a:pPr/>
              <a:t>3</a:t>
            </a:fld>
            <a:endParaRPr lang="en-US" dirty="0"/>
          </a:p>
        </p:txBody>
      </p:sp>
      <p:sp>
        <p:nvSpPr>
          <p:cNvPr id="5" name="TextBox 4">
            <a:extLst>
              <a:ext uri="{FF2B5EF4-FFF2-40B4-BE49-F238E27FC236}">
                <a16:creationId xmlns:a16="http://schemas.microsoft.com/office/drawing/2014/main" id="{2BD09C8E-828C-47A0-BAA2-D3439396C285}"/>
              </a:ext>
            </a:extLst>
          </p:cNvPr>
          <p:cNvSpPr txBox="1"/>
          <p:nvPr/>
        </p:nvSpPr>
        <p:spPr>
          <a:xfrm>
            <a:off x="548925" y="1325110"/>
            <a:ext cx="11031359" cy="3246889"/>
          </a:xfrm>
          <a:prstGeom prst="rect">
            <a:avLst/>
          </a:prstGeom>
          <a:noFill/>
        </p:spPr>
        <p:txBody>
          <a:bodyPr vert="horz" wrap="square" lIns="0" tIns="0" rIns="0" bIns="0" rtlCol="0">
            <a:noAutofit/>
          </a:bodyPr>
          <a:lstStyle/>
          <a:p>
            <a:pPr marL="342900" indent="-342900">
              <a:buFont typeface="Arial" panose="020B0604020202020204" pitchFamily="34" charset="0"/>
              <a:buChar char="•"/>
            </a:pPr>
            <a:r>
              <a:rPr lang="en-US" sz="2000" dirty="0">
                <a:solidFill>
                  <a:srgbClr val="003C71"/>
                </a:solidFill>
              </a:rPr>
              <a:t>The solder joint reliability (SJR) requirement of desktop product is defined based on use condition. The goal of this survey is to collect feedback from customers to refine SJR requirement of desktop system.</a:t>
            </a:r>
          </a:p>
          <a:p>
            <a:pPr marL="342900" indent="-342900">
              <a:buFont typeface="Arial" panose="020B0604020202020204" pitchFamily="34" charset="0"/>
              <a:buChar char="•"/>
            </a:pPr>
            <a:r>
              <a:rPr lang="en-US" sz="2000" dirty="0">
                <a:solidFill>
                  <a:srgbClr val="003C71"/>
                </a:solidFill>
              </a:rPr>
              <a:t>This survey focuses on the desktop products with soldered BGA CPU:</a:t>
            </a:r>
          </a:p>
          <a:p>
            <a:pPr marL="800100" lvl="1" indent="-342900">
              <a:buFontTx/>
              <a:buChar char="-"/>
            </a:pPr>
            <a:r>
              <a:rPr lang="en-US" sz="2000" dirty="0">
                <a:solidFill>
                  <a:srgbClr val="003C71"/>
                </a:solidFill>
              </a:rPr>
              <a:t>Mini PC, set top box</a:t>
            </a:r>
          </a:p>
          <a:p>
            <a:pPr marL="800100" lvl="1" indent="-342900">
              <a:buFontTx/>
              <a:buChar char="-"/>
            </a:pPr>
            <a:r>
              <a:rPr lang="en-US" sz="2000" dirty="0">
                <a:solidFill>
                  <a:srgbClr val="003C71"/>
                </a:solidFill>
              </a:rPr>
              <a:t>All-In-One PC</a:t>
            </a:r>
          </a:p>
          <a:p>
            <a:pPr marL="342900" indent="-342900">
              <a:buFont typeface="Arial" panose="020B0604020202020204" pitchFamily="34" charset="0"/>
              <a:buChar char="•"/>
            </a:pPr>
            <a:endParaRPr lang="en-US" sz="2000" dirty="0">
              <a:solidFill>
                <a:srgbClr val="003C71"/>
              </a:solidFill>
            </a:endParaRPr>
          </a:p>
        </p:txBody>
      </p:sp>
      <p:pic>
        <p:nvPicPr>
          <p:cNvPr id="7" name="Picture 6">
            <a:extLst>
              <a:ext uri="{FF2B5EF4-FFF2-40B4-BE49-F238E27FC236}">
                <a16:creationId xmlns:a16="http://schemas.microsoft.com/office/drawing/2014/main" id="{6F2620BC-63F6-4A6A-BBEB-FF13576777BE}"/>
              </a:ext>
            </a:extLst>
          </p:cNvPr>
          <p:cNvPicPr>
            <a:picLocks noChangeAspect="1"/>
          </p:cNvPicPr>
          <p:nvPr/>
        </p:nvPicPr>
        <p:blipFill>
          <a:blip r:embed="rId3"/>
          <a:stretch>
            <a:fillRect/>
          </a:stretch>
        </p:blipFill>
        <p:spPr>
          <a:xfrm>
            <a:off x="2568200" y="3742582"/>
            <a:ext cx="2042116" cy="819623"/>
          </a:xfrm>
          <a:prstGeom prst="rect">
            <a:avLst/>
          </a:prstGeom>
        </p:spPr>
      </p:pic>
      <p:grpSp>
        <p:nvGrpSpPr>
          <p:cNvPr id="8" name="Group 7">
            <a:extLst>
              <a:ext uri="{FF2B5EF4-FFF2-40B4-BE49-F238E27FC236}">
                <a16:creationId xmlns:a16="http://schemas.microsoft.com/office/drawing/2014/main" id="{FDD6642E-A6DE-4F8C-974D-531843818E38}"/>
              </a:ext>
            </a:extLst>
          </p:cNvPr>
          <p:cNvGrpSpPr/>
          <p:nvPr/>
        </p:nvGrpSpPr>
        <p:grpSpPr>
          <a:xfrm>
            <a:off x="4828234" y="3090917"/>
            <a:ext cx="2568744" cy="1671667"/>
            <a:chOff x="0" y="0"/>
            <a:chExt cx="5667272" cy="4963885"/>
          </a:xfrm>
        </p:grpSpPr>
        <p:sp>
          <p:nvSpPr>
            <p:cNvPr id="9" name="Rectangle: Rounded Corners 8">
              <a:extLst>
                <a:ext uri="{FF2B5EF4-FFF2-40B4-BE49-F238E27FC236}">
                  <a16:creationId xmlns:a16="http://schemas.microsoft.com/office/drawing/2014/main" id="{8EAB6D65-435A-473D-82DF-1574B16381F5}"/>
                </a:ext>
              </a:extLst>
            </p:cNvPr>
            <p:cNvSpPr/>
            <p:nvPr/>
          </p:nvSpPr>
          <p:spPr>
            <a:xfrm>
              <a:off x="1" y="3426488"/>
              <a:ext cx="5667271" cy="1014883"/>
            </a:xfrm>
            <a:prstGeom prst="roundRect">
              <a:avLst/>
            </a:prstGeom>
            <a:gradFill flip="none" rotWithShape="1">
              <a:gsLst>
                <a:gs pos="30000">
                  <a:schemeClr val="bg2">
                    <a:lumMod val="75000"/>
                  </a:schemeClr>
                </a:gs>
                <a:gs pos="0">
                  <a:schemeClr val="accent2">
                    <a:lumMod val="0"/>
                    <a:lumOff val="100000"/>
                  </a:schemeClr>
                </a:gs>
                <a:gs pos="0">
                  <a:schemeClr val="accent2">
                    <a:lumMod val="0"/>
                    <a:lumOff val="100000"/>
                  </a:schemeClr>
                </a:gs>
                <a:gs pos="54000">
                  <a:schemeClr val="bg2">
                    <a:lumMod val="75000"/>
                  </a:scheme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10" name="Rectangle: Rounded Corners 9">
              <a:extLst>
                <a:ext uri="{FF2B5EF4-FFF2-40B4-BE49-F238E27FC236}">
                  <a16:creationId xmlns:a16="http://schemas.microsoft.com/office/drawing/2014/main" id="{64AEBD3A-358C-43A8-9CBC-5E4A3FB1619F}"/>
                </a:ext>
              </a:extLst>
            </p:cNvPr>
            <p:cNvSpPr/>
            <p:nvPr/>
          </p:nvSpPr>
          <p:spPr>
            <a:xfrm>
              <a:off x="1" y="0"/>
              <a:ext cx="5667271" cy="4039437"/>
            </a:xfrm>
            <a:prstGeom prst="roundRect">
              <a:avLst>
                <a:gd name="adj" fmla="val 1997"/>
              </a:avLst>
            </a:prstGeom>
            <a:gradFill flip="none" rotWithShape="1">
              <a:gsLst>
                <a:gs pos="37000">
                  <a:schemeClr val="tx1"/>
                </a:gs>
                <a:gs pos="0">
                  <a:schemeClr val="accent2">
                    <a:lumMod val="0"/>
                    <a:lumOff val="100000"/>
                  </a:schemeClr>
                </a:gs>
                <a:gs pos="0">
                  <a:schemeClr val="accent2">
                    <a:lumMod val="0"/>
                    <a:lumOff val="100000"/>
                  </a:schemeClr>
                </a:gs>
                <a:gs pos="0">
                  <a:schemeClr val="bg2">
                    <a:lumMod val="75000"/>
                  </a:schemeClr>
                </a:gs>
              </a:gsLst>
              <a:lin ang="27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213233FD-A1F3-425C-9735-B4C786602F77}"/>
                </a:ext>
              </a:extLst>
            </p:cNvPr>
            <p:cNvSpPr/>
            <p:nvPr/>
          </p:nvSpPr>
          <p:spPr>
            <a:xfrm>
              <a:off x="0" y="3853537"/>
              <a:ext cx="5667271" cy="23446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12" name="Oval 11">
              <a:extLst>
                <a:ext uri="{FF2B5EF4-FFF2-40B4-BE49-F238E27FC236}">
                  <a16:creationId xmlns:a16="http://schemas.microsoft.com/office/drawing/2014/main" id="{119F2B73-65C7-4125-9649-A167CDEC0A60}"/>
                </a:ext>
              </a:extLst>
            </p:cNvPr>
            <p:cNvSpPr/>
            <p:nvPr/>
          </p:nvSpPr>
          <p:spPr>
            <a:xfrm>
              <a:off x="2863776" y="70338"/>
              <a:ext cx="60291" cy="60291"/>
            </a:xfrm>
            <a:prstGeom prst="ellipse">
              <a:avLst/>
            </a:prstGeom>
            <a:gradFill flip="none" rotWithShape="1">
              <a:gsLst>
                <a:gs pos="73500">
                  <a:schemeClr val="bg2">
                    <a:lumMod val="75000"/>
                  </a:schemeClr>
                </a:gs>
                <a:gs pos="0">
                  <a:schemeClr val="accent2">
                    <a:lumMod val="0"/>
                    <a:lumOff val="100000"/>
                  </a:schemeClr>
                </a:gs>
                <a:gs pos="0">
                  <a:schemeClr val="accent2">
                    <a:lumMod val="0"/>
                    <a:lumOff val="100000"/>
                  </a:schemeClr>
                </a:gs>
                <a:gs pos="100000">
                  <a:schemeClr val="accent2">
                    <a:lumMod val="10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13" name="Flowchart: Manual Operation 12">
              <a:extLst>
                <a:ext uri="{FF2B5EF4-FFF2-40B4-BE49-F238E27FC236}">
                  <a16:creationId xmlns:a16="http://schemas.microsoft.com/office/drawing/2014/main" id="{15A8274F-82A8-49B7-A784-0515D55E23F7}"/>
                </a:ext>
              </a:extLst>
            </p:cNvPr>
            <p:cNvSpPr/>
            <p:nvPr/>
          </p:nvSpPr>
          <p:spPr>
            <a:xfrm rot="10800000">
              <a:off x="2255850" y="4441371"/>
              <a:ext cx="1215851" cy="512466"/>
            </a:xfrm>
            <a:prstGeom prst="flowChartManualOperation">
              <a:avLst/>
            </a:prstGeom>
            <a:gradFill>
              <a:gsLst>
                <a:gs pos="30000">
                  <a:schemeClr val="bg2">
                    <a:lumMod val="75000"/>
                  </a:schemeClr>
                </a:gs>
                <a:gs pos="0">
                  <a:schemeClr val="accent2">
                    <a:lumMod val="0"/>
                    <a:lumOff val="100000"/>
                  </a:schemeClr>
                </a:gs>
                <a:gs pos="0">
                  <a:schemeClr val="accent2">
                    <a:lumMod val="0"/>
                    <a:lumOff val="100000"/>
                  </a:schemeClr>
                </a:gs>
                <a:gs pos="54000">
                  <a:schemeClr val="bg2">
                    <a:lumMod val="75000"/>
                  </a:schemeClr>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sp>
          <p:nvSpPr>
            <p:cNvPr id="14" name="Flowchart: Manual Operation 13">
              <a:extLst>
                <a:ext uri="{FF2B5EF4-FFF2-40B4-BE49-F238E27FC236}">
                  <a16:creationId xmlns:a16="http://schemas.microsoft.com/office/drawing/2014/main" id="{77ADC73B-D24D-4838-8782-BFE627E37F9F}"/>
                </a:ext>
              </a:extLst>
            </p:cNvPr>
            <p:cNvSpPr/>
            <p:nvPr/>
          </p:nvSpPr>
          <p:spPr>
            <a:xfrm rot="10800000">
              <a:off x="1999622" y="4804790"/>
              <a:ext cx="1718267" cy="159095"/>
            </a:xfrm>
            <a:prstGeom prst="flowChartManualOperation">
              <a:avLst/>
            </a:prstGeom>
            <a:gradFill flip="none" rotWithShape="1">
              <a:gsLst>
                <a:gs pos="100000">
                  <a:schemeClr val="accent3">
                    <a:lumMod val="5000"/>
                    <a:lumOff val="95000"/>
                  </a:schemeClr>
                </a:gs>
                <a:gs pos="29000">
                  <a:schemeClr val="bg2">
                    <a:lumMod val="75000"/>
                  </a:schemeClr>
                </a:gs>
                <a:gs pos="100000">
                  <a:schemeClr val="bg2"/>
                </a:gs>
                <a:gs pos="100000">
                  <a:schemeClr val="bg2"/>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a:p>
          </p:txBody>
        </p:sp>
        <p:pic>
          <p:nvPicPr>
            <p:cNvPr id="15" name="Picture 14">
              <a:extLst>
                <a:ext uri="{FF2B5EF4-FFF2-40B4-BE49-F238E27FC236}">
                  <a16:creationId xmlns:a16="http://schemas.microsoft.com/office/drawing/2014/main" id="{1DF09239-059B-4456-9289-35EBF3C99213}"/>
                </a:ext>
              </a:extLst>
            </p:cNvPr>
            <p:cNvPicPr>
              <a:picLocks noChangeAspect="1"/>
            </p:cNvPicPr>
            <p:nvPr/>
          </p:nvPicPr>
          <p:blipFill>
            <a:blip r:embed="rId4"/>
            <a:stretch>
              <a:fillRect/>
            </a:stretch>
          </p:blipFill>
          <p:spPr>
            <a:xfrm>
              <a:off x="257538" y="373273"/>
              <a:ext cx="5152194" cy="3529215"/>
            </a:xfrm>
            <a:prstGeom prst="rect">
              <a:avLst/>
            </a:prstGeom>
          </p:spPr>
        </p:pic>
      </p:grpSp>
      <p:pic>
        <p:nvPicPr>
          <p:cNvPr id="16" name="Picture 15">
            <a:extLst>
              <a:ext uri="{FF2B5EF4-FFF2-40B4-BE49-F238E27FC236}">
                <a16:creationId xmlns:a16="http://schemas.microsoft.com/office/drawing/2014/main" id="{D5611EBD-D618-4179-A163-10C69330343B}"/>
              </a:ext>
            </a:extLst>
          </p:cNvPr>
          <p:cNvPicPr>
            <a:picLocks noChangeAspect="1"/>
          </p:cNvPicPr>
          <p:nvPr/>
        </p:nvPicPr>
        <p:blipFill rotWithShape="1">
          <a:blip r:embed="rId5">
            <a:extLst>
              <a:ext uri="{BEBA8EAE-BF5A-486C-A8C5-ECC9F3942E4B}">
                <a14:imgProps xmlns:a14="http://schemas.microsoft.com/office/drawing/2010/main">
                  <a14:imgLayer r:embed="rId6">
                    <a14:imgEffect>
                      <a14:brightnessContrast bright="40000" contrast="-40000"/>
                    </a14:imgEffect>
                  </a14:imgLayer>
                </a14:imgProps>
              </a:ext>
            </a:extLst>
          </a:blip>
          <a:srcRect l="17981" t="13234" r="14354" b="14949"/>
          <a:stretch/>
        </p:blipFill>
        <p:spPr>
          <a:xfrm rot="16200000">
            <a:off x="7574454" y="3123621"/>
            <a:ext cx="1651747" cy="1607930"/>
          </a:xfrm>
          <a:prstGeom prst="rect">
            <a:avLst/>
          </a:prstGeom>
        </p:spPr>
      </p:pic>
      <p:sp>
        <p:nvSpPr>
          <p:cNvPr id="4" name="Rectangle 3">
            <a:extLst>
              <a:ext uri="{FF2B5EF4-FFF2-40B4-BE49-F238E27FC236}">
                <a16:creationId xmlns:a16="http://schemas.microsoft.com/office/drawing/2014/main" id="{034DA0B7-69D4-4630-8803-7247BE179AA8}"/>
              </a:ext>
            </a:extLst>
          </p:cNvPr>
          <p:cNvSpPr/>
          <p:nvPr/>
        </p:nvSpPr>
        <p:spPr>
          <a:xfrm>
            <a:off x="2113984" y="4920418"/>
            <a:ext cx="7241191" cy="307777"/>
          </a:xfrm>
          <a:prstGeom prst="rect">
            <a:avLst/>
          </a:prstGeom>
        </p:spPr>
        <p:txBody>
          <a:bodyPr wrap="square">
            <a:spAutoFit/>
          </a:bodyPr>
          <a:lstStyle/>
          <a:p>
            <a:pPr lvl="1"/>
            <a:r>
              <a:rPr lang="en-US" sz="1400" dirty="0">
                <a:solidFill>
                  <a:srgbClr val="003C71"/>
                </a:solidFill>
              </a:rPr>
              <a:t>Figure1. Examples of Mini PC, All-In-One PC and BGA CPU on motherboard</a:t>
            </a:r>
          </a:p>
        </p:txBody>
      </p:sp>
    </p:spTree>
    <p:extLst>
      <p:ext uri="{BB962C8B-B14F-4D97-AF65-F5344CB8AC3E}">
        <p14:creationId xmlns:p14="http://schemas.microsoft.com/office/powerpoint/2010/main" val="1039734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0EF1C-DBF5-4BE0-8991-CF1B696AF4F8}"/>
              </a:ext>
            </a:extLst>
          </p:cNvPr>
          <p:cNvSpPr>
            <a:spLocks noGrp="1"/>
          </p:cNvSpPr>
          <p:nvPr>
            <p:ph type="title"/>
          </p:nvPr>
        </p:nvSpPr>
        <p:spPr/>
        <p:txBody>
          <a:bodyPr/>
          <a:lstStyle/>
          <a:p>
            <a:r>
              <a:rPr lang="en-US" dirty="0"/>
              <a:t>Solder Joint Reliability Fundamentals</a:t>
            </a:r>
          </a:p>
        </p:txBody>
      </p:sp>
      <p:sp>
        <p:nvSpPr>
          <p:cNvPr id="4" name="Content Placeholder 3">
            <a:extLst>
              <a:ext uri="{FF2B5EF4-FFF2-40B4-BE49-F238E27FC236}">
                <a16:creationId xmlns:a16="http://schemas.microsoft.com/office/drawing/2014/main" id="{2AFCAC9A-EBDF-4EE1-90B2-2443D33FEAB3}"/>
              </a:ext>
            </a:extLst>
          </p:cNvPr>
          <p:cNvSpPr>
            <a:spLocks noGrp="1"/>
          </p:cNvSpPr>
          <p:nvPr>
            <p:ph sz="quarter" idx="13"/>
          </p:nvPr>
        </p:nvSpPr>
        <p:spPr>
          <a:xfrm>
            <a:off x="607484" y="1318684"/>
            <a:ext cx="10970683" cy="4567767"/>
          </a:xfrm>
        </p:spPr>
        <p:txBody>
          <a:bodyPr/>
          <a:lstStyle/>
          <a:p>
            <a:pPr marL="342900" indent="-342900">
              <a:buFont typeface="Arial" panose="020B0604020202020204" pitchFamily="34" charset="0"/>
              <a:buChar char="•"/>
            </a:pPr>
            <a:r>
              <a:rPr lang="en-US" sz="2000" dirty="0">
                <a:solidFill>
                  <a:srgbClr val="003C71"/>
                </a:solidFill>
              </a:rPr>
              <a:t>Solder joint reliability (SJR) is the ability of the solder joints connecting a BGA package to a system board or card to withstand the stresses to which they are exposed during manufacturing, shipping, and End-User operation</a:t>
            </a:r>
          </a:p>
          <a:p>
            <a:pPr marL="643459" lvl="1" indent="-342900">
              <a:buFont typeface="Arial" panose="020B0604020202020204" pitchFamily="34" charset="0"/>
              <a:buChar char="•"/>
            </a:pPr>
            <a:r>
              <a:rPr lang="en-US" sz="2000" dirty="0">
                <a:solidFill>
                  <a:srgbClr val="0071C5"/>
                </a:solidFill>
              </a:rPr>
              <a:t>Stresses to the solder joint can come from different sources, including CTE (critical-to-function) induced stress, static mechanical loads, and dynamic mechanical loads</a:t>
            </a:r>
          </a:p>
          <a:p>
            <a:pPr marL="342900" indent="-342900">
              <a:buFont typeface="Arial" panose="020B0604020202020204" pitchFamily="34" charset="0"/>
              <a:buChar char="•"/>
            </a:pPr>
            <a:r>
              <a:rPr lang="en-US" sz="2000" dirty="0">
                <a:solidFill>
                  <a:srgbClr val="003C71"/>
                </a:solidFill>
              </a:rPr>
              <a:t>To accommodate for solder joint stresses, BGA packages are designed with NCTF (non-critical-to-function) joints in high stress areas</a:t>
            </a:r>
          </a:p>
          <a:p>
            <a:pPr marL="643459" lvl="1" indent="-342900">
              <a:buFont typeface="Arial" panose="020B0604020202020204" pitchFamily="34" charset="0"/>
              <a:buChar char="•"/>
            </a:pPr>
            <a:r>
              <a:rPr lang="en-US" sz="2000" dirty="0">
                <a:solidFill>
                  <a:srgbClr val="0071C5"/>
                </a:solidFill>
              </a:rPr>
              <a:t>These joints can fail without negatively impacting package capability</a:t>
            </a:r>
          </a:p>
          <a:p>
            <a:pPr marL="342900" indent="-342900">
              <a:buFont typeface="Arial" panose="020B0604020202020204" pitchFamily="34" charset="0"/>
              <a:buChar char="•"/>
            </a:pPr>
            <a:r>
              <a:rPr lang="en-US" sz="2000" dirty="0">
                <a:solidFill>
                  <a:srgbClr val="003C71"/>
                </a:solidFill>
              </a:rPr>
              <a:t>SJR risk is assessed based on package attributes and mechanical modeling, and if needed, empirical data collection</a:t>
            </a:r>
          </a:p>
          <a:p>
            <a:pPr marL="342900" indent="-342900">
              <a:buFont typeface="Arial" panose="020B0604020202020204" pitchFamily="34" charset="0"/>
              <a:buChar char="•"/>
            </a:pPr>
            <a:endParaRPr lang="en-US" sz="1800" dirty="0"/>
          </a:p>
        </p:txBody>
      </p:sp>
      <p:sp>
        <p:nvSpPr>
          <p:cNvPr id="3" name="Slide Number Placeholder 2">
            <a:extLst>
              <a:ext uri="{FF2B5EF4-FFF2-40B4-BE49-F238E27FC236}">
                <a16:creationId xmlns:a16="http://schemas.microsoft.com/office/drawing/2014/main" id="{2894FE43-C772-4166-8C34-8E4BD1B2C7DC}"/>
              </a:ext>
            </a:extLst>
          </p:cNvPr>
          <p:cNvSpPr>
            <a:spLocks noGrp="1"/>
          </p:cNvSpPr>
          <p:nvPr>
            <p:ph type="sldNum" sz="quarter" idx="12"/>
          </p:nvPr>
        </p:nvSpPr>
        <p:spPr/>
        <p:txBody>
          <a:bodyPr/>
          <a:lstStyle/>
          <a:p>
            <a:fld id="{EE2556C5-CE8C-6547-B838-EA80C61A4AF7}" type="slidenum">
              <a:rPr lang="en-US" smtClean="0"/>
              <a:pPr/>
              <a:t>4</a:t>
            </a:fld>
            <a:endParaRPr lang="en-US" dirty="0"/>
          </a:p>
        </p:txBody>
      </p:sp>
    </p:spTree>
    <p:extLst>
      <p:ext uri="{BB962C8B-B14F-4D97-AF65-F5344CB8AC3E}">
        <p14:creationId xmlns:p14="http://schemas.microsoft.com/office/powerpoint/2010/main" val="1448250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Solder Joint Reliability Overview</a:t>
            </a:r>
          </a:p>
        </p:txBody>
      </p:sp>
      <p:sp>
        <p:nvSpPr>
          <p:cNvPr id="3" name="Slide Number Placeholder 2"/>
          <p:cNvSpPr>
            <a:spLocks noGrp="1"/>
          </p:cNvSpPr>
          <p:nvPr>
            <p:ph type="sldNum" sz="quarter" idx="12"/>
          </p:nvPr>
        </p:nvSpPr>
        <p:spPr/>
        <p:txBody>
          <a:bodyPr/>
          <a:lstStyle/>
          <a:p>
            <a:fld id="{EE2556C5-CE8C-6547-B838-EA80C61A4AF7}" type="slidenum">
              <a:rPr lang="en-US" smtClean="0"/>
              <a:pPr/>
              <a:t>5</a:t>
            </a:fld>
            <a:endParaRPr lang="en-US" dirty="0"/>
          </a:p>
        </p:txBody>
      </p:sp>
      <p:sp>
        <p:nvSpPr>
          <p:cNvPr id="4" name="TextBox 3"/>
          <p:cNvSpPr txBox="1"/>
          <p:nvPr/>
        </p:nvSpPr>
        <p:spPr>
          <a:xfrm>
            <a:off x="607484" y="1280160"/>
            <a:ext cx="11031359" cy="4855464"/>
          </a:xfrm>
          <a:prstGeom prst="rect">
            <a:avLst/>
          </a:prstGeom>
          <a:noFill/>
        </p:spPr>
        <p:txBody>
          <a:bodyPr vert="horz" wrap="square" lIns="0" tIns="0" rIns="0" bIns="0" rtlCol="0">
            <a:noAutofit/>
          </a:bodyPr>
          <a:lstStyle/>
          <a:p>
            <a:pPr marL="285750" indent="-285750">
              <a:buFont typeface="Arial" panose="020B0604020202020204" pitchFamily="34" charset="0"/>
              <a:buChar char="•"/>
            </a:pPr>
            <a:r>
              <a:rPr lang="en-US" sz="2000" dirty="0">
                <a:solidFill>
                  <a:srgbClr val="003C71"/>
                </a:solidFill>
              </a:rPr>
              <a:t>Intel certifies Client BGA products using data collection and/or mechanical modeling based on empirical data collection</a:t>
            </a:r>
          </a:p>
          <a:p>
            <a:pPr marL="285750" indent="-285750">
              <a:buFont typeface="Arial" panose="020B0604020202020204" pitchFamily="34" charset="0"/>
              <a:buChar char="•"/>
            </a:pPr>
            <a:r>
              <a:rPr lang="en-US" sz="2000" dirty="0">
                <a:solidFill>
                  <a:srgbClr val="003C71"/>
                </a:solidFill>
              </a:rPr>
              <a:t>The primary reliability stresses that Intel uses for BGA Solder Joint Reliability certification are accelerated temperature cycling and shock tests. These tests envelope many of the stresses BGA packages will go through. Intel does not complete 4-point bend, thermal shock, or sequential temperature cycle and shock testing.</a:t>
            </a:r>
          </a:p>
          <a:p>
            <a:pPr marL="285750" indent="-285750">
              <a:buFont typeface="Arial" panose="020B0604020202020204" pitchFamily="34" charset="0"/>
              <a:buChar char="•"/>
            </a:pPr>
            <a:endParaRPr lang="en-US" dirty="0">
              <a:solidFill>
                <a:srgbClr val="003C71"/>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105083148"/>
              </p:ext>
            </p:extLst>
          </p:nvPr>
        </p:nvGraphicFramePr>
        <p:xfrm>
          <a:off x="569199" y="3276128"/>
          <a:ext cx="11107928" cy="2164080"/>
        </p:xfrm>
        <a:graphic>
          <a:graphicData uri="http://schemas.openxmlformats.org/drawingml/2006/table">
            <a:tbl>
              <a:tblPr firstRow="1" bandRow="1">
                <a:tableStyleId>{21E4AEA4-8DFA-4A89-87EB-49C32662AFE0}</a:tableStyleId>
              </a:tblPr>
              <a:tblGrid>
                <a:gridCol w="2896616">
                  <a:extLst>
                    <a:ext uri="{9D8B030D-6E8A-4147-A177-3AD203B41FA5}">
                      <a16:colId xmlns:a16="http://schemas.microsoft.com/office/drawing/2014/main" val="20000"/>
                    </a:ext>
                  </a:extLst>
                </a:gridCol>
                <a:gridCol w="4012014">
                  <a:extLst>
                    <a:ext uri="{9D8B030D-6E8A-4147-A177-3AD203B41FA5}">
                      <a16:colId xmlns:a16="http://schemas.microsoft.com/office/drawing/2014/main" val="20001"/>
                    </a:ext>
                  </a:extLst>
                </a:gridCol>
                <a:gridCol w="4199298">
                  <a:extLst>
                    <a:ext uri="{9D8B030D-6E8A-4147-A177-3AD203B41FA5}">
                      <a16:colId xmlns:a16="http://schemas.microsoft.com/office/drawing/2014/main" val="20002"/>
                    </a:ext>
                  </a:extLst>
                </a:gridCol>
              </a:tblGrid>
              <a:tr h="370840">
                <a:tc>
                  <a:txBody>
                    <a:bodyPr/>
                    <a:lstStyle/>
                    <a:p>
                      <a:r>
                        <a:rPr lang="en-US" dirty="0"/>
                        <a:t>Test</a:t>
                      </a:r>
                    </a:p>
                  </a:txBody>
                  <a:tcPr/>
                </a:tc>
                <a:tc>
                  <a:txBody>
                    <a:bodyPr/>
                    <a:lstStyle/>
                    <a:p>
                      <a:r>
                        <a:rPr lang="en-US" dirty="0"/>
                        <a:t>Requirement</a:t>
                      </a:r>
                    </a:p>
                  </a:txBody>
                  <a:tcPr/>
                </a:tc>
                <a:tc>
                  <a:txBody>
                    <a:bodyPr/>
                    <a:lstStyle/>
                    <a:p>
                      <a:r>
                        <a:rPr lang="en-US" dirty="0"/>
                        <a:t>Failure Criteria</a:t>
                      </a:r>
                    </a:p>
                  </a:txBody>
                  <a:tcPr/>
                </a:tc>
                <a:extLst>
                  <a:ext uri="{0D108BD9-81ED-4DB2-BD59-A6C34878D82A}">
                    <a16:rowId xmlns:a16="http://schemas.microsoft.com/office/drawing/2014/main" val="10000"/>
                  </a:ext>
                </a:extLst>
              </a:tr>
              <a:tr h="370840">
                <a:tc>
                  <a:txBody>
                    <a:bodyPr/>
                    <a:lstStyle/>
                    <a:p>
                      <a:r>
                        <a:rPr lang="en-US" sz="2000" dirty="0"/>
                        <a:t>Temperature Cycle</a:t>
                      </a:r>
                    </a:p>
                  </a:txBody>
                  <a:tcPr/>
                </a:tc>
                <a:tc>
                  <a:txBody>
                    <a:bodyPr/>
                    <a:lstStyle/>
                    <a:p>
                      <a:r>
                        <a:rPr lang="en-US" sz="2000" strike="noStrike" baseline="0" dirty="0"/>
                        <a:t>Based on use condition</a:t>
                      </a:r>
                      <a:r>
                        <a:rPr lang="en-US" sz="2000" strike="noStrike" baseline="30000" dirty="0"/>
                        <a:t>1</a:t>
                      </a:r>
                      <a:r>
                        <a:rPr lang="en-US" sz="2000" strike="noStrike" baseline="0" dirty="0"/>
                        <a:t> (desktop)</a:t>
                      </a:r>
                      <a:endParaRPr lang="en-US" sz="2000" strike="noStrike" dirty="0"/>
                    </a:p>
                  </a:txBody>
                  <a:tcPr/>
                </a:tc>
                <a:tc>
                  <a:txBody>
                    <a:bodyPr/>
                    <a:lstStyle/>
                    <a:p>
                      <a:r>
                        <a:rPr lang="en-US" sz="2000" dirty="0"/>
                        <a:t>1000 ohm resistance spike on CTF chain</a:t>
                      </a:r>
                    </a:p>
                  </a:txBody>
                  <a:tcPr/>
                </a:tc>
                <a:extLst>
                  <a:ext uri="{0D108BD9-81ED-4DB2-BD59-A6C34878D82A}">
                    <a16:rowId xmlns:a16="http://schemas.microsoft.com/office/drawing/2014/main" val="10001"/>
                  </a:ext>
                </a:extLst>
              </a:tr>
              <a:tr h="370840">
                <a:tc>
                  <a:txBody>
                    <a:bodyPr/>
                    <a:lstStyle/>
                    <a:p>
                      <a:r>
                        <a:rPr lang="en-US" sz="2000" dirty="0"/>
                        <a:t>Shock</a:t>
                      </a:r>
                    </a:p>
                  </a:txBody>
                  <a:tcPr/>
                </a:tc>
                <a:tc>
                  <a:txBody>
                    <a:bodyPr/>
                    <a:lstStyle/>
                    <a:p>
                      <a:r>
                        <a:rPr lang="en-US" sz="2000" dirty="0"/>
                        <a:t>5 drops at 100 G</a:t>
                      </a:r>
                      <a:r>
                        <a:rPr lang="en-US" sz="2000" strike="noStrike" baseline="30000" dirty="0"/>
                        <a:t>2</a:t>
                      </a:r>
                      <a:r>
                        <a:rPr lang="en-US" sz="2000" baseline="0" dirty="0"/>
                        <a:t> (laptop)</a:t>
                      </a:r>
                    </a:p>
                    <a:p>
                      <a:r>
                        <a:rPr lang="en-US" sz="2000" baseline="0" dirty="0"/>
                        <a:t>5 drops at 125 G</a:t>
                      </a:r>
                      <a:r>
                        <a:rPr lang="en-US" sz="2000" strike="noStrike" baseline="30000" dirty="0"/>
                        <a:t>2</a:t>
                      </a:r>
                      <a:r>
                        <a:rPr lang="en-US" sz="2000" baseline="0" dirty="0"/>
                        <a:t> (tablet)</a:t>
                      </a:r>
                    </a:p>
                    <a:p>
                      <a:r>
                        <a:rPr lang="en-US" sz="2000" baseline="0" dirty="0"/>
                        <a:t>5 drops at 135 G</a:t>
                      </a:r>
                      <a:r>
                        <a:rPr lang="en-US" sz="2000" strike="noStrike" baseline="30000" dirty="0"/>
                        <a:t>2</a:t>
                      </a:r>
                      <a:r>
                        <a:rPr lang="en-US" sz="2000" baseline="0" dirty="0"/>
                        <a:t> (desktop)</a:t>
                      </a:r>
                      <a:endParaRPr lang="en-US" sz="2000" dirty="0"/>
                    </a:p>
                  </a:txBody>
                  <a:tcPr/>
                </a:tc>
                <a:tc>
                  <a:txBody>
                    <a:bodyPr/>
                    <a:lstStyle/>
                    <a:p>
                      <a:r>
                        <a:rPr lang="en-US" sz="2000" dirty="0"/>
                        <a:t>In situ electrical opens on CTF joints</a:t>
                      </a:r>
                    </a:p>
                  </a:txBody>
                  <a:tcPr/>
                </a:tc>
                <a:extLst>
                  <a:ext uri="{0D108BD9-81ED-4DB2-BD59-A6C34878D82A}">
                    <a16:rowId xmlns:a16="http://schemas.microsoft.com/office/drawing/2014/main" val="10002"/>
                  </a:ext>
                </a:extLst>
              </a:tr>
            </a:tbl>
          </a:graphicData>
        </a:graphic>
      </p:graphicFrame>
      <p:sp>
        <p:nvSpPr>
          <p:cNvPr id="6" name="TextBox 5">
            <a:extLst>
              <a:ext uri="{FF2B5EF4-FFF2-40B4-BE49-F238E27FC236}">
                <a16:creationId xmlns:a16="http://schemas.microsoft.com/office/drawing/2014/main" id="{37A9B76C-E044-43B4-BB7C-EEEC6DD639FC}"/>
              </a:ext>
            </a:extLst>
          </p:cNvPr>
          <p:cNvSpPr txBox="1"/>
          <p:nvPr/>
        </p:nvSpPr>
        <p:spPr>
          <a:xfrm>
            <a:off x="607484" y="5592040"/>
            <a:ext cx="8283019" cy="391751"/>
          </a:xfrm>
          <a:prstGeom prst="rect">
            <a:avLst/>
          </a:prstGeom>
          <a:noFill/>
        </p:spPr>
        <p:txBody>
          <a:bodyPr vert="horz" wrap="none" lIns="0" tIns="0" rIns="0" bIns="0" rtlCol="0">
            <a:noAutofit/>
          </a:bodyPr>
          <a:lstStyle/>
          <a:p>
            <a:r>
              <a:rPr lang="en-US" sz="1100" dirty="0">
                <a:solidFill>
                  <a:srgbClr val="003C71"/>
                </a:solidFill>
              </a:rPr>
              <a:t>1 KBQ requirement calculated based on Intel models using Norris-</a:t>
            </a:r>
            <a:r>
              <a:rPr lang="en-US" sz="1100" dirty="0" err="1">
                <a:solidFill>
                  <a:srgbClr val="003C71"/>
                </a:solidFill>
              </a:rPr>
              <a:t>Landzberg</a:t>
            </a:r>
            <a:r>
              <a:rPr lang="en-US" sz="1100" dirty="0">
                <a:solidFill>
                  <a:srgbClr val="003C71"/>
                </a:solidFill>
              </a:rPr>
              <a:t>. </a:t>
            </a:r>
          </a:p>
          <a:p>
            <a:r>
              <a:rPr lang="en-US" sz="1100" dirty="0">
                <a:solidFill>
                  <a:srgbClr val="003C71"/>
                </a:solidFill>
              </a:rPr>
              <a:t>2 These shock conditions are for a 45 mm x 24 mm package form factor. Different form factors may have different equivalent shock conditions.</a:t>
            </a:r>
          </a:p>
          <a:p>
            <a:endParaRPr lang="en-US" sz="1100" dirty="0">
              <a:solidFill>
                <a:srgbClr val="003C71"/>
              </a:solidFill>
            </a:endParaRPr>
          </a:p>
        </p:txBody>
      </p:sp>
    </p:spTree>
    <p:extLst>
      <p:ext uri="{BB962C8B-B14F-4D97-AF65-F5344CB8AC3E}">
        <p14:creationId xmlns:p14="http://schemas.microsoft.com/office/powerpoint/2010/main" val="15677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7840-6173-402A-8320-3DD7339993FB}"/>
              </a:ext>
            </a:extLst>
          </p:cNvPr>
          <p:cNvSpPr>
            <a:spLocks noGrp="1"/>
          </p:cNvSpPr>
          <p:nvPr>
            <p:ph type="title"/>
          </p:nvPr>
        </p:nvSpPr>
        <p:spPr>
          <a:xfrm>
            <a:off x="607484" y="411798"/>
            <a:ext cx="10972800" cy="574453"/>
          </a:xfrm>
        </p:spPr>
        <p:txBody>
          <a:bodyPr/>
          <a:lstStyle/>
          <a:p>
            <a:r>
              <a:rPr lang="en-US" dirty="0"/>
              <a:t>BGA Desktop Survey</a:t>
            </a:r>
          </a:p>
        </p:txBody>
      </p:sp>
      <p:sp>
        <p:nvSpPr>
          <p:cNvPr id="3" name="Slide Number Placeholder 2">
            <a:extLst>
              <a:ext uri="{FF2B5EF4-FFF2-40B4-BE49-F238E27FC236}">
                <a16:creationId xmlns:a16="http://schemas.microsoft.com/office/drawing/2014/main" id="{BF692EC3-D76D-4206-84A8-F02DE389B997}"/>
              </a:ext>
            </a:extLst>
          </p:cNvPr>
          <p:cNvSpPr>
            <a:spLocks noGrp="1"/>
          </p:cNvSpPr>
          <p:nvPr>
            <p:ph type="sldNum" sz="quarter" idx="12"/>
          </p:nvPr>
        </p:nvSpPr>
        <p:spPr/>
        <p:txBody>
          <a:bodyPr/>
          <a:lstStyle/>
          <a:p>
            <a:fld id="{EE2556C5-CE8C-6547-B838-EA80C61A4AF7}" type="slidenum">
              <a:rPr lang="en-US" smtClean="0"/>
              <a:pPr/>
              <a:t>6</a:t>
            </a:fld>
            <a:endParaRPr lang="en-US" dirty="0"/>
          </a:p>
        </p:txBody>
      </p:sp>
      <p:sp>
        <p:nvSpPr>
          <p:cNvPr id="4" name="Rectangle 3">
            <a:extLst>
              <a:ext uri="{FF2B5EF4-FFF2-40B4-BE49-F238E27FC236}">
                <a16:creationId xmlns:a16="http://schemas.microsoft.com/office/drawing/2014/main" id="{055167B9-898A-431B-B29B-26895A923E4F}"/>
              </a:ext>
            </a:extLst>
          </p:cNvPr>
          <p:cNvSpPr/>
          <p:nvPr/>
        </p:nvSpPr>
        <p:spPr>
          <a:xfrm>
            <a:off x="180521" y="1283446"/>
            <a:ext cx="11826725" cy="1938992"/>
          </a:xfrm>
          <a:prstGeom prst="rect">
            <a:avLst/>
          </a:prstGeom>
        </p:spPr>
        <p:txBody>
          <a:bodyPr wrap="square">
            <a:spAutoFit/>
          </a:bodyPr>
          <a:lstStyle/>
          <a:p>
            <a:pPr marL="742950" lvl="1" indent="-285750">
              <a:buFont typeface="Arial" panose="020B0604020202020204" pitchFamily="34" charset="0"/>
              <a:buChar char="•"/>
            </a:pPr>
            <a:r>
              <a:rPr lang="en-US" sz="2400" dirty="0">
                <a:solidFill>
                  <a:srgbClr val="003C71"/>
                </a:solidFill>
              </a:rPr>
              <a:t>The questions focus on desktop products with soldered BGA CPU:</a:t>
            </a:r>
          </a:p>
          <a:p>
            <a:pPr marL="1257300" lvl="2" indent="-342900">
              <a:buFontTx/>
              <a:buChar char="-"/>
            </a:pPr>
            <a:r>
              <a:rPr lang="en-US" sz="2400" dirty="0">
                <a:solidFill>
                  <a:srgbClr val="003C71"/>
                </a:solidFill>
              </a:rPr>
              <a:t>Mini PC, set top box</a:t>
            </a:r>
          </a:p>
          <a:p>
            <a:pPr marL="1257300" lvl="2" indent="-342900">
              <a:buFontTx/>
              <a:buChar char="-"/>
            </a:pPr>
            <a:r>
              <a:rPr lang="en-US" sz="2400" dirty="0">
                <a:solidFill>
                  <a:srgbClr val="003C71"/>
                </a:solidFill>
              </a:rPr>
              <a:t>All-In-One PC</a:t>
            </a:r>
          </a:p>
          <a:p>
            <a:pPr marL="742950" lvl="1" indent="-285750">
              <a:buFont typeface="Arial" panose="020B0604020202020204" pitchFamily="34" charset="0"/>
              <a:buChar char="•"/>
            </a:pPr>
            <a:r>
              <a:rPr lang="en-US" sz="2400" dirty="0">
                <a:solidFill>
                  <a:srgbClr val="003C71"/>
                </a:solidFill>
              </a:rPr>
              <a:t>There are six sections:</a:t>
            </a:r>
          </a:p>
          <a:p>
            <a:pPr lvl="1"/>
            <a:endParaRPr lang="en-US" sz="2400" dirty="0">
              <a:solidFill>
                <a:srgbClr val="003C71"/>
              </a:solidFill>
            </a:endParaRPr>
          </a:p>
        </p:txBody>
      </p:sp>
      <p:sp>
        <p:nvSpPr>
          <p:cNvPr id="17" name="Rectangle 16">
            <a:extLst>
              <a:ext uri="{FF2B5EF4-FFF2-40B4-BE49-F238E27FC236}">
                <a16:creationId xmlns:a16="http://schemas.microsoft.com/office/drawing/2014/main" id="{59A51AB4-6A41-4B90-A748-1C65C1C586E6}"/>
              </a:ext>
            </a:extLst>
          </p:cNvPr>
          <p:cNvSpPr/>
          <p:nvPr/>
        </p:nvSpPr>
        <p:spPr>
          <a:xfrm>
            <a:off x="904353" y="2826159"/>
            <a:ext cx="11102893" cy="2677656"/>
          </a:xfrm>
          <a:prstGeom prst="rect">
            <a:avLst/>
          </a:prstGeom>
        </p:spPr>
        <p:txBody>
          <a:bodyPr wrap="square">
            <a:spAutoFit/>
          </a:bodyPr>
          <a:lstStyle/>
          <a:p>
            <a:pPr marL="742950" lvl="1" indent="-285750">
              <a:buFont typeface="Arial" panose="020B0604020202020204" pitchFamily="34" charset="0"/>
              <a:buChar char="•"/>
            </a:pPr>
            <a:r>
              <a:rPr lang="en-US" sz="2400" dirty="0">
                <a:solidFill>
                  <a:srgbClr val="003C71"/>
                </a:solidFill>
              </a:rPr>
              <a:t>What Intel BGA products are used in desktop products?</a:t>
            </a:r>
          </a:p>
          <a:p>
            <a:pPr marL="742950" lvl="1" indent="-285750">
              <a:buFont typeface="Arial" panose="020B0604020202020204" pitchFamily="34" charset="0"/>
              <a:buChar char="•"/>
            </a:pPr>
            <a:r>
              <a:rPr lang="en-US" sz="2400" dirty="0">
                <a:solidFill>
                  <a:srgbClr val="003C71"/>
                </a:solidFill>
              </a:rPr>
              <a:t>Do you perform board level SJR testing -  </a:t>
            </a:r>
            <a:r>
              <a:rPr lang="en-US" sz="2400" dirty="0">
                <a:solidFill>
                  <a:schemeClr val="accent2"/>
                </a:solidFill>
                <a:hlinkClick r:id="rId2" action="ppaction://hlinksldjump">
                  <a:extLst>
                    <a:ext uri="{A12FA001-AC4F-418D-AE19-62706E023703}">
                      <ahyp:hlinkClr xmlns:ahyp="http://schemas.microsoft.com/office/drawing/2018/hyperlinkcolor" val="tx"/>
                    </a:ext>
                  </a:extLst>
                </a:hlinkClick>
              </a:rPr>
              <a:t>JEDEC standard temperature cycle testing?</a:t>
            </a:r>
            <a:endParaRPr lang="en-US" sz="2400" dirty="0">
              <a:solidFill>
                <a:schemeClr val="accent2"/>
              </a:solidFill>
            </a:endParaRPr>
          </a:p>
          <a:p>
            <a:pPr marL="742950" lvl="1" indent="-285750">
              <a:buFont typeface="Arial" panose="020B0604020202020204" pitchFamily="34" charset="0"/>
              <a:buChar char="•"/>
            </a:pPr>
            <a:r>
              <a:rPr lang="en-US" sz="2400" dirty="0">
                <a:solidFill>
                  <a:srgbClr val="003C71"/>
                </a:solidFill>
              </a:rPr>
              <a:t>Do you perform system level SJR testing?</a:t>
            </a:r>
          </a:p>
          <a:p>
            <a:pPr marL="742950" lvl="1" indent="-285750">
              <a:buFont typeface="Arial" panose="020B0604020202020204" pitchFamily="34" charset="0"/>
              <a:buChar char="•"/>
            </a:pPr>
            <a:r>
              <a:rPr lang="en-US" sz="2400" dirty="0">
                <a:solidFill>
                  <a:srgbClr val="003C71"/>
                </a:solidFill>
              </a:rPr>
              <a:t>What are the product temperature conditions?</a:t>
            </a:r>
          </a:p>
          <a:p>
            <a:pPr marL="742950" lvl="1" indent="-285750">
              <a:buFont typeface="Arial" panose="020B0604020202020204" pitchFamily="34" charset="0"/>
              <a:buChar char="•"/>
            </a:pPr>
            <a:r>
              <a:rPr lang="en-US" sz="2400" dirty="0">
                <a:solidFill>
                  <a:srgbClr val="003C71"/>
                </a:solidFill>
              </a:rPr>
              <a:t>How many power cycles do you anticipate?</a:t>
            </a:r>
          </a:p>
          <a:p>
            <a:pPr marL="742950" lvl="1" indent="-285750">
              <a:buFont typeface="Arial" panose="020B0604020202020204" pitchFamily="34" charset="0"/>
              <a:buChar char="•"/>
            </a:pPr>
            <a:r>
              <a:rPr lang="en-US" sz="2400" dirty="0">
                <a:solidFill>
                  <a:srgbClr val="003C71"/>
                </a:solidFill>
              </a:rPr>
              <a:t>Do you use board level adhesives?</a:t>
            </a:r>
          </a:p>
        </p:txBody>
      </p:sp>
    </p:spTree>
    <p:extLst>
      <p:ext uri="{BB962C8B-B14F-4D97-AF65-F5344CB8AC3E}">
        <p14:creationId xmlns:p14="http://schemas.microsoft.com/office/powerpoint/2010/main" val="2338764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9849-6D59-45E8-8414-115A1A6487B2}"/>
              </a:ext>
            </a:extLst>
          </p:cNvPr>
          <p:cNvSpPr>
            <a:spLocks noGrp="1"/>
          </p:cNvSpPr>
          <p:nvPr>
            <p:ph type="title"/>
          </p:nvPr>
        </p:nvSpPr>
        <p:spPr>
          <a:xfrm>
            <a:off x="607484" y="411798"/>
            <a:ext cx="10972800" cy="430887"/>
          </a:xfrm>
        </p:spPr>
        <p:txBody>
          <a:bodyPr/>
          <a:lstStyle/>
          <a:p>
            <a:r>
              <a:rPr lang="en-US" sz="2800" dirty="0"/>
              <a:t>JEDEC Standard Temperature Cycle</a:t>
            </a:r>
          </a:p>
        </p:txBody>
      </p:sp>
      <p:sp>
        <p:nvSpPr>
          <p:cNvPr id="3" name="Slide Number Placeholder 2">
            <a:extLst>
              <a:ext uri="{FF2B5EF4-FFF2-40B4-BE49-F238E27FC236}">
                <a16:creationId xmlns:a16="http://schemas.microsoft.com/office/drawing/2014/main" id="{C563061C-09C6-4FE6-939B-569B805A966B}"/>
              </a:ext>
            </a:extLst>
          </p:cNvPr>
          <p:cNvSpPr>
            <a:spLocks noGrp="1"/>
          </p:cNvSpPr>
          <p:nvPr>
            <p:ph type="sldNum" sz="quarter" idx="12"/>
          </p:nvPr>
        </p:nvSpPr>
        <p:spPr/>
        <p:txBody>
          <a:bodyPr/>
          <a:lstStyle/>
          <a:p>
            <a:fld id="{EE2556C5-CE8C-6547-B838-EA80C61A4AF7}" type="slidenum">
              <a:rPr lang="en-US" smtClean="0"/>
              <a:pPr/>
              <a:t>7</a:t>
            </a:fld>
            <a:endParaRPr lang="en-US" dirty="0"/>
          </a:p>
        </p:txBody>
      </p:sp>
      <p:sp>
        <p:nvSpPr>
          <p:cNvPr id="4" name="Rectangle 3">
            <a:extLst>
              <a:ext uri="{FF2B5EF4-FFF2-40B4-BE49-F238E27FC236}">
                <a16:creationId xmlns:a16="http://schemas.microsoft.com/office/drawing/2014/main" id="{DDB617D0-DBE1-400D-9F3E-40406CBC980C}"/>
              </a:ext>
            </a:extLst>
          </p:cNvPr>
          <p:cNvSpPr/>
          <p:nvPr/>
        </p:nvSpPr>
        <p:spPr>
          <a:xfrm>
            <a:off x="540094" y="1009084"/>
            <a:ext cx="11040190" cy="2831544"/>
          </a:xfrm>
          <a:prstGeom prst="rect">
            <a:avLst/>
          </a:prstGeom>
        </p:spPr>
        <p:txBody>
          <a:bodyPr wrap="square">
            <a:spAutoFit/>
          </a:bodyPr>
          <a:lstStyle/>
          <a:p>
            <a:r>
              <a:rPr lang="en-US" sz="2000" dirty="0">
                <a:solidFill>
                  <a:srgbClr val="003C71"/>
                </a:solidFill>
              </a:rPr>
              <a:t>Scope: This test is conducted to determine the ability of components and solder interconnects to withstand mechanical stresses induced by alternating high- and low-temperature extremes. </a:t>
            </a:r>
          </a:p>
          <a:p>
            <a:r>
              <a:rPr lang="en-US" sz="2000" dirty="0">
                <a:solidFill>
                  <a:srgbClr val="003C71"/>
                </a:solidFill>
              </a:rPr>
              <a:t>Boards are placed in the temperature cycling chamber and heated or cooled inside the chamber. </a:t>
            </a:r>
          </a:p>
          <a:p>
            <a:endParaRPr lang="en-US" sz="2000" dirty="0">
              <a:solidFill>
                <a:srgbClr val="003C71"/>
              </a:solidFill>
            </a:endParaRPr>
          </a:p>
          <a:p>
            <a:r>
              <a:rPr lang="en-US" sz="2000" dirty="0">
                <a:solidFill>
                  <a:srgbClr val="003C71"/>
                </a:solidFill>
              </a:rPr>
              <a:t>Use Temperature Cycle – X (TCX) as an example:</a:t>
            </a:r>
          </a:p>
          <a:p>
            <a:br>
              <a:rPr lang="en-US" sz="2000" dirty="0">
                <a:solidFill>
                  <a:srgbClr val="003C71"/>
                </a:solidFill>
              </a:rPr>
            </a:br>
            <a:endParaRPr lang="en-US" sz="2000" dirty="0">
              <a:solidFill>
                <a:srgbClr val="003C71"/>
              </a:solidFill>
            </a:endParaRPr>
          </a:p>
          <a:p>
            <a:endParaRPr lang="en-US" dirty="0"/>
          </a:p>
        </p:txBody>
      </p:sp>
      <p:sp>
        <p:nvSpPr>
          <p:cNvPr id="7" name="Rectangle 6">
            <a:extLst>
              <a:ext uri="{FF2B5EF4-FFF2-40B4-BE49-F238E27FC236}">
                <a16:creationId xmlns:a16="http://schemas.microsoft.com/office/drawing/2014/main" id="{CDDEA454-6DE7-4573-B439-DC6A0153FCF0}"/>
              </a:ext>
            </a:extLst>
          </p:cNvPr>
          <p:cNvSpPr/>
          <p:nvPr/>
        </p:nvSpPr>
        <p:spPr>
          <a:xfrm>
            <a:off x="7954121" y="6359781"/>
            <a:ext cx="2946640" cy="369332"/>
          </a:xfrm>
          <a:prstGeom prst="rect">
            <a:avLst/>
          </a:prstGeom>
        </p:spPr>
        <p:txBody>
          <a:bodyPr wrap="none">
            <a:spAutoFit/>
          </a:bodyPr>
          <a:lstStyle/>
          <a:p>
            <a:r>
              <a:rPr lang="en-US" dirty="0"/>
              <a:t>Reference: JESD22-A104F</a:t>
            </a:r>
          </a:p>
        </p:txBody>
      </p:sp>
      <p:sp>
        <p:nvSpPr>
          <p:cNvPr id="9" name="Rectangle 8">
            <a:extLst>
              <a:ext uri="{FF2B5EF4-FFF2-40B4-BE49-F238E27FC236}">
                <a16:creationId xmlns:a16="http://schemas.microsoft.com/office/drawing/2014/main" id="{28F909BB-0F12-4350-9C03-812A8ACA15CE}"/>
              </a:ext>
            </a:extLst>
          </p:cNvPr>
          <p:cNvSpPr/>
          <p:nvPr/>
        </p:nvSpPr>
        <p:spPr>
          <a:xfrm>
            <a:off x="540094" y="2900714"/>
            <a:ext cx="5766157" cy="1056571"/>
          </a:xfrm>
          <a:prstGeom prst="rect">
            <a:avLst/>
          </a:prstGeom>
        </p:spPr>
        <p:txBody>
          <a:bodyPr wrap="square">
            <a:spAutoFit/>
          </a:bodyPr>
          <a:lstStyle/>
          <a:p>
            <a:r>
              <a:rPr lang="en-US" sz="2000" dirty="0">
                <a:solidFill>
                  <a:srgbClr val="003C71"/>
                </a:solidFill>
              </a:rPr>
              <a:t>Temperature range: -40</a:t>
            </a:r>
            <a:r>
              <a:rPr lang="en-US" sz="2000" dirty="0"/>
              <a:t> ˚ </a:t>
            </a:r>
            <a:r>
              <a:rPr lang="en-US" sz="2133" dirty="0">
                <a:solidFill>
                  <a:schemeClr val="tx2"/>
                </a:solidFill>
              </a:rPr>
              <a:t>C</a:t>
            </a:r>
            <a:r>
              <a:rPr lang="en-US" sz="2000" dirty="0">
                <a:solidFill>
                  <a:srgbClr val="003C71"/>
                </a:solidFill>
              </a:rPr>
              <a:t> to 85 </a:t>
            </a:r>
            <a:r>
              <a:rPr lang="en-US" sz="2000" dirty="0"/>
              <a:t>˚ </a:t>
            </a:r>
            <a:r>
              <a:rPr lang="en-US" sz="2133" dirty="0">
                <a:solidFill>
                  <a:schemeClr val="tx2"/>
                </a:solidFill>
              </a:rPr>
              <a:t>C </a:t>
            </a:r>
          </a:p>
          <a:p>
            <a:r>
              <a:rPr lang="en-US" sz="2000" dirty="0">
                <a:solidFill>
                  <a:srgbClr val="003C71"/>
                </a:solidFill>
              </a:rPr>
              <a:t>Dwell time: 15 min at -40 </a:t>
            </a:r>
            <a:r>
              <a:rPr lang="en-US" sz="2000" dirty="0"/>
              <a:t>˚ </a:t>
            </a:r>
            <a:r>
              <a:rPr lang="en-US" sz="2133" dirty="0">
                <a:solidFill>
                  <a:schemeClr val="tx2"/>
                </a:solidFill>
              </a:rPr>
              <a:t>C </a:t>
            </a:r>
            <a:r>
              <a:rPr lang="en-US" sz="2000" dirty="0">
                <a:solidFill>
                  <a:srgbClr val="003C71"/>
                </a:solidFill>
              </a:rPr>
              <a:t>; 15 min at 85 </a:t>
            </a:r>
            <a:r>
              <a:rPr lang="en-US" sz="2000" dirty="0"/>
              <a:t>˚ </a:t>
            </a:r>
            <a:r>
              <a:rPr lang="en-US" sz="2133" dirty="0">
                <a:solidFill>
                  <a:schemeClr val="tx2"/>
                </a:solidFill>
              </a:rPr>
              <a:t>C </a:t>
            </a:r>
            <a:r>
              <a:rPr lang="en-US" sz="2000" dirty="0">
                <a:solidFill>
                  <a:srgbClr val="003C71"/>
                </a:solidFill>
              </a:rPr>
              <a:t>Cycle time: 1 hour</a:t>
            </a:r>
            <a:endParaRPr lang="en-US" dirty="0"/>
          </a:p>
        </p:txBody>
      </p:sp>
      <p:pic>
        <p:nvPicPr>
          <p:cNvPr id="15" name="Picture 14">
            <a:extLst>
              <a:ext uri="{FF2B5EF4-FFF2-40B4-BE49-F238E27FC236}">
                <a16:creationId xmlns:a16="http://schemas.microsoft.com/office/drawing/2014/main" id="{A7C1A309-D4CE-4352-8014-13D67BB9002A}"/>
              </a:ext>
            </a:extLst>
          </p:cNvPr>
          <p:cNvPicPr>
            <a:picLocks noChangeAspect="1"/>
          </p:cNvPicPr>
          <p:nvPr/>
        </p:nvPicPr>
        <p:blipFill>
          <a:blip r:embed="rId3"/>
          <a:stretch>
            <a:fillRect/>
          </a:stretch>
        </p:blipFill>
        <p:spPr>
          <a:xfrm>
            <a:off x="6547410" y="2511040"/>
            <a:ext cx="4988096" cy="3791559"/>
          </a:xfrm>
          <a:prstGeom prst="rect">
            <a:avLst/>
          </a:prstGeom>
        </p:spPr>
      </p:pic>
      <p:sp>
        <p:nvSpPr>
          <p:cNvPr id="20" name="Action Button: Go Back or Previous 19">
            <a:hlinkClick r:id="rId4" action="ppaction://hlinksldjump" highlightClick="1"/>
            <a:extLst>
              <a:ext uri="{FF2B5EF4-FFF2-40B4-BE49-F238E27FC236}">
                <a16:creationId xmlns:a16="http://schemas.microsoft.com/office/drawing/2014/main" id="{F14E5803-D15E-4A45-A11B-88445856F980}"/>
              </a:ext>
            </a:extLst>
          </p:cNvPr>
          <p:cNvSpPr/>
          <p:nvPr/>
        </p:nvSpPr>
        <p:spPr>
          <a:xfrm>
            <a:off x="11580284" y="5774892"/>
            <a:ext cx="367206" cy="314409"/>
          </a:xfrm>
          <a:prstGeom prst="actionButtonBackPrevious">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22250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Backup</a:t>
            </a:r>
          </a:p>
        </p:txBody>
      </p:sp>
      <p:sp>
        <p:nvSpPr>
          <p:cNvPr id="3" name="Slide Number Placeholder 2"/>
          <p:cNvSpPr>
            <a:spLocks noGrp="1"/>
          </p:cNvSpPr>
          <p:nvPr>
            <p:ph type="sldNum" sz="quarter" idx="4294967295"/>
          </p:nvPr>
        </p:nvSpPr>
        <p:spPr>
          <a:xfrm>
            <a:off x="11644313" y="6343650"/>
            <a:ext cx="547687" cy="514350"/>
          </a:xfrm>
        </p:spPr>
        <p:txBody>
          <a:bodyPr/>
          <a:lstStyle/>
          <a:p>
            <a:fld id="{EE2556C5-CE8C-6547-B838-EA80C61A4AF7}" type="slidenum">
              <a:rPr lang="en-US" smtClean="0"/>
              <a:pPr/>
              <a:t>8</a:t>
            </a:fld>
            <a:endParaRPr lang="en-US" dirty="0"/>
          </a:p>
        </p:txBody>
      </p:sp>
    </p:spTree>
    <p:extLst>
      <p:ext uri="{BB962C8B-B14F-4D97-AF65-F5344CB8AC3E}">
        <p14:creationId xmlns:p14="http://schemas.microsoft.com/office/powerpoint/2010/main" val="2550440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2AA97-16B0-4634-89C9-7FA943A46FD6}"/>
              </a:ext>
            </a:extLst>
          </p:cNvPr>
          <p:cNvSpPr>
            <a:spLocks noGrp="1"/>
          </p:cNvSpPr>
          <p:nvPr>
            <p:ph type="title"/>
          </p:nvPr>
        </p:nvSpPr>
        <p:spPr/>
        <p:txBody>
          <a:bodyPr/>
          <a:lstStyle/>
          <a:p>
            <a:r>
              <a:rPr lang="en-US" dirty="0"/>
              <a:t>Norris-</a:t>
            </a:r>
            <a:r>
              <a:rPr lang="en-US" dirty="0" err="1"/>
              <a:t>Landzberg</a:t>
            </a:r>
            <a:r>
              <a:rPr lang="en-US" dirty="0"/>
              <a:t> Model</a:t>
            </a:r>
          </a:p>
        </p:txBody>
      </p:sp>
      <p:sp>
        <p:nvSpPr>
          <p:cNvPr id="4" name="Slide Number Placeholder 3">
            <a:extLst>
              <a:ext uri="{FF2B5EF4-FFF2-40B4-BE49-F238E27FC236}">
                <a16:creationId xmlns:a16="http://schemas.microsoft.com/office/drawing/2014/main" id="{35F7683E-B0C0-441D-A24F-295A91C9611B}"/>
              </a:ext>
            </a:extLst>
          </p:cNvPr>
          <p:cNvSpPr>
            <a:spLocks noGrp="1"/>
          </p:cNvSpPr>
          <p:nvPr>
            <p:ph type="sldNum" sz="quarter" idx="12"/>
          </p:nvPr>
        </p:nvSpPr>
        <p:spPr/>
        <p:txBody>
          <a:bodyPr/>
          <a:lstStyle/>
          <a:p>
            <a:fld id="{EE2556C5-CE8C-6547-B838-EA80C61A4AF7}" type="slidenum">
              <a:rPr lang="en-US" smtClean="0"/>
              <a:pPr/>
              <a:t>9</a:t>
            </a:fld>
            <a:endParaRPr lang="en-US" dirty="0"/>
          </a:p>
        </p:txBody>
      </p:sp>
      <p:pic>
        <p:nvPicPr>
          <p:cNvPr id="14" name="Picture 13">
            <a:extLst>
              <a:ext uri="{FF2B5EF4-FFF2-40B4-BE49-F238E27FC236}">
                <a16:creationId xmlns:a16="http://schemas.microsoft.com/office/drawing/2014/main" id="{503E3F31-BABA-4AD7-B87C-D0CFF91735C3}"/>
              </a:ext>
            </a:extLst>
          </p:cNvPr>
          <p:cNvPicPr>
            <a:picLocks noChangeAspect="1"/>
          </p:cNvPicPr>
          <p:nvPr/>
        </p:nvPicPr>
        <p:blipFill>
          <a:blip r:embed="rId2"/>
          <a:stretch>
            <a:fillRect/>
          </a:stretch>
        </p:blipFill>
        <p:spPr>
          <a:xfrm>
            <a:off x="610223" y="1242329"/>
            <a:ext cx="11028620" cy="5358848"/>
          </a:xfrm>
          <a:prstGeom prst="rect">
            <a:avLst/>
          </a:prstGeom>
        </p:spPr>
      </p:pic>
      <p:pic>
        <p:nvPicPr>
          <p:cNvPr id="15" name="Picture 14">
            <a:extLst>
              <a:ext uri="{FF2B5EF4-FFF2-40B4-BE49-F238E27FC236}">
                <a16:creationId xmlns:a16="http://schemas.microsoft.com/office/drawing/2014/main" id="{3A3BDB95-8885-42E0-9051-6BC507AD6EC0}"/>
              </a:ext>
            </a:extLst>
          </p:cNvPr>
          <p:cNvPicPr>
            <a:picLocks noChangeAspect="1"/>
          </p:cNvPicPr>
          <p:nvPr/>
        </p:nvPicPr>
        <p:blipFill>
          <a:blip r:embed="rId3"/>
          <a:stretch>
            <a:fillRect/>
          </a:stretch>
        </p:blipFill>
        <p:spPr>
          <a:xfrm>
            <a:off x="633510" y="4791776"/>
            <a:ext cx="10924979" cy="1408298"/>
          </a:xfrm>
          <a:prstGeom prst="rect">
            <a:avLst/>
          </a:prstGeom>
        </p:spPr>
      </p:pic>
    </p:spTree>
    <p:extLst>
      <p:ext uri="{BB962C8B-B14F-4D97-AF65-F5344CB8AC3E}">
        <p14:creationId xmlns:p14="http://schemas.microsoft.com/office/powerpoint/2010/main" val="20864564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AE454-5169-45A0-BD79-0DA22DC0E23D}"/>
              </a:ext>
            </a:extLst>
          </p:cNvPr>
          <p:cNvSpPr>
            <a:spLocks noGrp="1"/>
          </p:cNvSpPr>
          <p:nvPr>
            <p:ph type="title"/>
          </p:nvPr>
        </p:nvSpPr>
        <p:spPr/>
        <p:txBody>
          <a:bodyPr/>
          <a:lstStyle/>
          <a:p>
            <a:r>
              <a:rPr lang="en-US" dirty="0"/>
              <a:t>Weibull Distribution</a:t>
            </a:r>
          </a:p>
        </p:txBody>
      </p:sp>
      <p:sp>
        <p:nvSpPr>
          <p:cNvPr id="3" name="Slide Number Placeholder 2">
            <a:extLst>
              <a:ext uri="{FF2B5EF4-FFF2-40B4-BE49-F238E27FC236}">
                <a16:creationId xmlns:a16="http://schemas.microsoft.com/office/drawing/2014/main" id="{A1242F77-4B00-4F80-ADC0-CC19C2F086D1}"/>
              </a:ext>
            </a:extLst>
          </p:cNvPr>
          <p:cNvSpPr>
            <a:spLocks noGrp="1"/>
          </p:cNvSpPr>
          <p:nvPr>
            <p:ph type="sldNum" sz="quarter" idx="12"/>
          </p:nvPr>
        </p:nvSpPr>
        <p:spPr/>
        <p:txBody>
          <a:bodyPr/>
          <a:lstStyle/>
          <a:p>
            <a:fld id="{EE2556C5-CE8C-6547-B838-EA80C61A4AF7}" type="slidenum">
              <a:rPr lang="en-US" smtClean="0"/>
              <a:pPr/>
              <a:t>10</a:t>
            </a:fld>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E524A6F-58B3-4A47-8556-2F92FFF5E4A6}"/>
                  </a:ext>
                </a:extLst>
              </p:cNvPr>
              <p:cNvSpPr txBox="1">
                <a:spLocks noChangeArrowheads="1"/>
              </p:cNvSpPr>
              <p:nvPr/>
            </p:nvSpPr>
            <p:spPr>
              <a:xfrm>
                <a:off x="609600" y="914400"/>
                <a:ext cx="10972800" cy="5334000"/>
              </a:xfrm>
              <a:prstGeom prst="rect">
                <a:avLst/>
              </a:prstGeom>
            </p:spPr>
            <p:txBody>
              <a:bodyPr>
                <a:normAutofit fontScale="92500" lnSpcReduction="20000"/>
              </a:bodyPr>
              <a:lst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lvl="1">
                  <a:spcBef>
                    <a:spcPts val="600"/>
                  </a:spcBef>
                </a:pPr>
                <a:r>
                  <a:rPr lang="en-US" dirty="0"/>
                  <a:t>Intel uses a 2-parameter Weibull model for SJR, where reliability R at time t is given by:</a:t>
                </a:r>
              </a:p>
              <a:p>
                <a:pPr marL="457200" lvl="1" indent="0">
                  <a:spcBef>
                    <a:spcPts val="600"/>
                  </a:spcBef>
                  <a:buFont typeface="Wingdings" charset="2"/>
                  <a:buNone/>
                </a:pPr>
                <a:endParaRPr lang="en-US" dirty="0"/>
              </a:p>
              <a:p>
                <a:pPr>
                  <a:spcBef>
                    <a:spcPts val="600"/>
                  </a:spcBef>
                </a:pPr>
                <a14:m>
                  <m:oMathPara xmlns:m="http://schemas.openxmlformats.org/officeDocument/2006/math">
                    <m:oMathParaPr>
                      <m:jc m:val="centerGroup"/>
                    </m:oMathParaPr>
                    <m:oMath xmlns:m="http://schemas.openxmlformats.org/officeDocument/2006/math">
                      <m:r>
                        <a:rPr lang="en-US" i="1">
                          <a:latin typeface="Cambria Math"/>
                        </a:rPr>
                        <m:t>𝑅</m:t>
                      </m:r>
                      <m:r>
                        <a:rPr lang="en-US" i="1">
                          <a:latin typeface="Cambria Math"/>
                        </a:rPr>
                        <m:t>=</m:t>
                      </m:r>
                      <m:sSup>
                        <m:sSupPr>
                          <m:ctrlPr>
                            <a:rPr lang="en-US" i="1">
                              <a:latin typeface="Cambria Math" panose="02040503050406030204" pitchFamily="18" charset="0"/>
                            </a:rPr>
                          </m:ctrlPr>
                        </m:sSupPr>
                        <m:e>
                          <m:r>
                            <a:rPr lang="en-US" i="1">
                              <a:latin typeface="Cambria Math"/>
                            </a:rPr>
                            <m:t>𝑒</m:t>
                          </m:r>
                        </m:e>
                        <m:sup>
                          <m:sSup>
                            <m:sSupPr>
                              <m:ctrlPr>
                                <a:rPr lang="en-US" i="1">
                                  <a:latin typeface="Cambria Math" panose="02040503050406030204" pitchFamily="18" charset="0"/>
                                </a:rPr>
                              </m:ctrlPr>
                            </m:sSupPr>
                            <m:e>
                              <m:r>
                                <a:rPr lang="en-US" i="1">
                                  <a:latin typeface="Cambria Math"/>
                                </a:rPr>
                                <m:t>−(</m:t>
                              </m:r>
                              <m:f>
                                <m:fPr>
                                  <m:type m:val="skw"/>
                                  <m:ctrlPr>
                                    <a:rPr lang="en-US" i="1">
                                      <a:latin typeface="Cambria Math" panose="02040503050406030204" pitchFamily="18" charset="0"/>
                                    </a:rPr>
                                  </m:ctrlPr>
                                </m:fPr>
                                <m:num>
                                  <m:r>
                                    <a:rPr lang="en-US" i="1">
                                      <a:latin typeface="Cambria Math"/>
                                    </a:rPr>
                                    <m:t>𝑡</m:t>
                                  </m:r>
                                </m:num>
                                <m:den>
                                  <m:r>
                                    <m:rPr>
                                      <m:sty m:val="p"/>
                                    </m:rPr>
                                    <a:rPr lang="el-GR" i="1">
                                      <a:latin typeface="Cambria Math"/>
                                    </a:rPr>
                                    <m:t>α</m:t>
                                  </m:r>
                                </m:den>
                              </m:f>
                              <m:r>
                                <a:rPr lang="en-US" i="1">
                                  <a:latin typeface="Cambria Math"/>
                                </a:rPr>
                                <m:t>)</m:t>
                              </m:r>
                            </m:e>
                            <m:sup>
                              <m:r>
                                <m:rPr>
                                  <m:sty m:val="p"/>
                                </m:rPr>
                                <a:rPr lang="el-GR" i="1">
                                  <a:latin typeface="Cambria Math"/>
                                </a:rPr>
                                <m:t>β</m:t>
                              </m:r>
                            </m:sup>
                          </m:sSup>
                        </m:sup>
                      </m:sSup>
                    </m:oMath>
                  </m:oMathPara>
                </a14:m>
                <a:endParaRPr lang="en-US" dirty="0"/>
              </a:p>
              <a:p>
                <a:pPr>
                  <a:spcBef>
                    <a:spcPts val="600"/>
                  </a:spcBef>
                </a:pPr>
                <a:endParaRPr lang="en-US" sz="1600" dirty="0"/>
              </a:p>
              <a:p>
                <a:pPr>
                  <a:spcBef>
                    <a:spcPts val="600"/>
                  </a:spcBef>
                </a:pPr>
                <a:r>
                  <a:rPr lang="en-US" sz="1600" dirty="0"/>
                  <a:t>		where α is the Weibull “scale” parameter and </a:t>
                </a:r>
                <a:r>
                  <a:rPr lang="el-GR" sz="1600" dirty="0"/>
                  <a:t>β</a:t>
                </a:r>
                <a:r>
                  <a:rPr lang="en-US" sz="1600" dirty="0"/>
                  <a:t> is the Weibull “shape” parameter</a:t>
                </a:r>
              </a:p>
              <a:p>
                <a:pPr>
                  <a:spcBef>
                    <a:spcPts val="600"/>
                  </a:spcBef>
                </a:pPr>
                <a:endParaRPr lang="en-US" sz="1600" dirty="0"/>
              </a:p>
              <a:p>
                <a:pPr lvl="1">
                  <a:spcBef>
                    <a:spcPts val="600"/>
                  </a:spcBef>
                </a:pPr>
                <a:r>
                  <a:rPr lang="en-US" dirty="0"/>
                  <a:t>Weibull α represents the “characteristic lifetime” of the distribution, where the failure rate is 63.2%</a:t>
                </a:r>
              </a:p>
              <a:p>
                <a:pPr lvl="2">
                  <a:spcBef>
                    <a:spcPts val="600"/>
                  </a:spcBef>
                </a:pPr>
                <a:r>
                  <a:rPr lang="en-US" dirty="0"/>
                  <a:t>Corresponds to the Lognormal μ parameter, or MTTF, where failure rate is 50%</a:t>
                </a:r>
              </a:p>
              <a:p>
                <a:pPr lvl="1">
                  <a:spcBef>
                    <a:spcPts val="600"/>
                  </a:spcBef>
                </a:pPr>
                <a:r>
                  <a:rPr lang="en-US" dirty="0"/>
                  <a:t>Weibull β represents the slope or steepness of the distribution</a:t>
                </a:r>
              </a:p>
              <a:p>
                <a:pPr lvl="2">
                  <a:spcBef>
                    <a:spcPts val="600"/>
                  </a:spcBef>
                </a:pPr>
                <a:r>
                  <a:rPr lang="en-US" dirty="0"/>
                  <a:t>A low β in SJR data indicates a large amount of scatter in the data due to large variations in process parameters, joint shape or quality, enabling load, or other factors</a:t>
                </a:r>
              </a:p>
              <a:p>
                <a:pPr lvl="2">
                  <a:spcBef>
                    <a:spcPts val="600"/>
                  </a:spcBef>
                </a:pPr>
                <a:r>
                  <a:rPr lang="en-US" dirty="0"/>
                  <a:t>A high β value indicates good control over critical process and material factors or insensitivity to variability that is present</a:t>
                </a:r>
              </a:p>
              <a:p>
                <a:pPr lvl="2">
                  <a:spcBef>
                    <a:spcPts val="600"/>
                  </a:spcBef>
                </a:pPr>
                <a:r>
                  <a:rPr lang="en-US" dirty="0"/>
                  <a:t>Corresponds to the Lognormal σ parameter except that a lower </a:t>
                </a:r>
                <a:r>
                  <a:rPr lang="el-GR" dirty="0"/>
                  <a:t>σ</a:t>
                </a:r>
                <a:r>
                  <a:rPr lang="en-US" dirty="0"/>
                  <a:t> represents a steeper failure curve</a:t>
                </a:r>
              </a:p>
              <a:p>
                <a:pPr lvl="1">
                  <a:spcBef>
                    <a:spcPts val="600"/>
                  </a:spcBef>
                </a:pPr>
                <a:r>
                  <a:rPr lang="en-US" dirty="0"/>
                  <a:t>Intel uses Weibull because it is more conservative estimate for the tail end of the distribution, even in cases where a lognormal distribution may give a better fit</a:t>
                </a:r>
              </a:p>
            </p:txBody>
          </p:sp>
        </mc:Choice>
        <mc:Fallback xmlns="">
          <p:sp>
            <p:nvSpPr>
              <p:cNvPr id="4" name="Rectangle 3">
                <a:extLst>
                  <a:ext uri="{FF2B5EF4-FFF2-40B4-BE49-F238E27FC236}">
                    <a16:creationId xmlns:a16="http://schemas.microsoft.com/office/drawing/2014/main" id="{1E524A6F-58B3-4A47-8556-2F92FFF5E4A6}"/>
                  </a:ext>
                </a:extLst>
              </p:cNvPr>
              <p:cNvSpPr txBox="1">
                <a:spLocks noRot="1" noChangeAspect="1" noMove="1" noResize="1" noEditPoints="1" noAdjustHandles="1" noChangeArrowheads="1" noChangeShapeType="1" noTextEdit="1"/>
              </p:cNvSpPr>
              <p:nvPr/>
            </p:nvSpPr>
            <p:spPr>
              <a:xfrm>
                <a:off x="609600" y="914400"/>
                <a:ext cx="10972800" cy="5334000"/>
              </a:xfrm>
              <a:prstGeom prst="rect">
                <a:avLst/>
              </a:prstGeom>
              <a:blipFill>
                <a:blip r:embed="rId2"/>
                <a:stretch>
                  <a:fillRect l="-500" t="-1600" r="-944" b="-1371"/>
                </a:stretch>
              </a:blipFill>
            </p:spPr>
            <p:txBody>
              <a:bodyPr/>
              <a:lstStyle/>
              <a:p>
                <a:r>
                  <a:rPr lang="en-US">
                    <a:noFill/>
                  </a:rPr>
                  <a:t> </a:t>
                </a:r>
              </a:p>
            </p:txBody>
          </p:sp>
        </mc:Fallback>
      </mc:AlternateContent>
    </p:spTree>
    <p:extLst>
      <p:ext uri="{BB962C8B-B14F-4D97-AF65-F5344CB8AC3E}">
        <p14:creationId xmlns:p14="http://schemas.microsoft.com/office/powerpoint/2010/main" val="1050692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E2556C5-CE8C-6547-B838-EA80C61A4AF7}" type="slidenum">
              <a:rPr lang="en-US" smtClean="0"/>
              <a:pPr/>
              <a:t>11</a:t>
            </a:fld>
            <a:endParaRPr lang="en-US" dirty="0"/>
          </a:p>
        </p:txBody>
      </p:sp>
      <p:sp>
        <p:nvSpPr>
          <p:cNvPr id="55" name="Content Placeholder 4"/>
          <p:cNvSpPr>
            <a:spLocks noGrp="1"/>
          </p:cNvSpPr>
          <p:nvPr>
            <p:ph sz="quarter" idx="13"/>
          </p:nvPr>
        </p:nvSpPr>
        <p:spPr>
          <a:xfrm>
            <a:off x="607485" y="817849"/>
            <a:ext cx="7581673" cy="5354352"/>
          </a:xfrm>
        </p:spPr>
        <p:txBody>
          <a:bodyPr>
            <a:normAutofit fontScale="85000" lnSpcReduction="10000"/>
          </a:bodyPr>
          <a:lstStyle/>
          <a:p>
            <a:pPr>
              <a:spcBef>
                <a:spcPts val="800"/>
              </a:spcBef>
            </a:pPr>
            <a:r>
              <a:rPr lang="en-US" dirty="0"/>
              <a:t> </a:t>
            </a:r>
          </a:p>
          <a:p>
            <a:pPr lvl="1">
              <a:spcBef>
                <a:spcPts val="800"/>
              </a:spcBef>
            </a:pPr>
            <a:r>
              <a:rPr lang="en-US" sz="2000" dirty="0"/>
              <a:t>Diagonal bend mode, -z direction, 2 </a:t>
            </a:r>
            <a:r>
              <a:rPr lang="en-US" sz="2000" dirty="0" err="1"/>
              <a:t>ms</a:t>
            </a:r>
            <a:r>
              <a:rPr lang="en-US" sz="2000" dirty="0"/>
              <a:t> half-sine pulse</a:t>
            </a:r>
          </a:p>
          <a:p>
            <a:pPr lvl="1">
              <a:spcBef>
                <a:spcPts val="800"/>
              </a:spcBef>
            </a:pPr>
            <a:r>
              <a:rPr lang="en-US" sz="2000" dirty="0"/>
              <a:t>In-situ electrical monitoring of the daisy chain</a:t>
            </a:r>
          </a:p>
          <a:p>
            <a:pPr lvl="1">
              <a:spcBef>
                <a:spcPts val="800"/>
              </a:spcBef>
            </a:pPr>
            <a:r>
              <a:rPr lang="en-US" sz="2000" dirty="0"/>
              <a:t>Intel Shock Test Board (STB)</a:t>
            </a:r>
          </a:p>
          <a:p>
            <a:pPr lvl="1">
              <a:spcBef>
                <a:spcPts val="800"/>
              </a:spcBef>
            </a:pPr>
            <a:r>
              <a:rPr lang="en-US" sz="2000" dirty="0"/>
              <a:t>No Adhesives</a:t>
            </a:r>
          </a:p>
          <a:p>
            <a:pPr>
              <a:spcBef>
                <a:spcPts val="800"/>
              </a:spcBef>
            </a:pPr>
            <a:r>
              <a:rPr lang="en-US" dirty="0"/>
              <a:t>Shock requirements are based on translation from 6-axis system-level drop data</a:t>
            </a:r>
          </a:p>
          <a:p>
            <a:pPr lvl="1">
              <a:spcBef>
                <a:spcPts val="800"/>
              </a:spcBef>
              <a:tabLst>
                <a:tab pos="2976488" algn="l"/>
              </a:tabLst>
            </a:pPr>
            <a:r>
              <a:rPr lang="en-US" sz="2000" dirty="0"/>
              <a:t>Client  Req’ts:	</a:t>
            </a:r>
            <a:r>
              <a:rPr lang="en-US" sz="2000" dirty="0">
                <a:solidFill>
                  <a:srgbClr val="002060"/>
                </a:solidFill>
              </a:rPr>
              <a:t>5 drops @ 100G (Laptop)</a:t>
            </a:r>
            <a:endParaRPr lang="en-US" sz="1400" dirty="0">
              <a:solidFill>
                <a:srgbClr val="002060"/>
              </a:solidFill>
            </a:endParaRPr>
          </a:p>
          <a:p>
            <a:pPr marL="457189" lvl="1" indent="0">
              <a:spcBef>
                <a:spcPts val="800"/>
              </a:spcBef>
              <a:buNone/>
              <a:tabLst>
                <a:tab pos="2976488" algn="l"/>
              </a:tabLst>
            </a:pPr>
            <a:r>
              <a:rPr lang="en-US" sz="2000" dirty="0">
                <a:solidFill>
                  <a:srgbClr val="002060"/>
                </a:solidFill>
              </a:rPr>
              <a:t>	5 drops @ 125G (Tablet)</a:t>
            </a:r>
          </a:p>
          <a:p>
            <a:pPr marL="457189" lvl="1" indent="0">
              <a:spcBef>
                <a:spcPts val="800"/>
              </a:spcBef>
              <a:buNone/>
              <a:tabLst>
                <a:tab pos="2976488" algn="l"/>
              </a:tabLst>
            </a:pPr>
            <a:r>
              <a:rPr lang="en-US" sz="2000" dirty="0"/>
              <a:t>	5 drops @ 135G (Desktop)</a:t>
            </a:r>
          </a:p>
          <a:p>
            <a:pPr lvl="1">
              <a:spcBef>
                <a:spcPts val="800"/>
              </a:spcBef>
              <a:tabLst>
                <a:tab pos="2976488" algn="l"/>
              </a:tabLst>
            </a:pPr>
            <a:r>
              <a:rPr lang="en-US" sz="2000" dirty="0"/>
              <a:t>Success criteria:  No in-situ electrical opens on any CTF joint for above laptop or tablet </a:t>
            </a:r>
            <a:r>
              <a:rPr lang="en-US" sz="2000" dirty="0" err="1"/>
              <a:t>req’ts</a:t>
            </a:r>
            <a:endParaRPr lang="en-US" sz="2000" dirty="0"/>
          </a:p>
          <a:p>
            <a:pPr lvl="1">
              <a:spcBef>
                <a:spcPts val="800"/>
              </a:spcBef>
              <a:tabLst>
                <a:tab pos="2976488" algn="l"/>
              </a:tabLst>
            </a:pPr>
            <a:r>
              <a:rPr lang="en-US" sz="2000" dirty="0">
                <a:solidFill>
                  <a:schemeClr val="tx2"/>
                </a:solidFill>
              </a:rPr>
              <a:t>To set G level, dropped boards from industry standard heights in all 6 orientations with strain gauges. Ran models based on board strain in different orientations to come up with equivalent -z only shock req. </a:t>
            </a:r>
          </a:p>
          <a:p>
            <a:pPr lvl="2">
              <a:spcBef>
                <a:spcPts val="800"/>
              </a:spcBef>
              <a:tabLst>
                <a:tab pos="2976488" algn="l"/>
              </a:tabLst>
            </a:pPr>
            <a:r>
              <a:rPr lang="en-US" sz="2000" dirty="0">
                <a:solidFill>
                  <a:schemeClr val="tx2"/>
                </a:solidFill>
              </a:rPr>
              <a:t>Drop parameters: 3 drops in each orientation from 0.6 m + 1 drop in worst case orientation from 1 m</a:t>
            </a:r>
          </a:p>
        </p:txBody>
      </p:sp>
      <p:sp>
        <p:nvSpPr>
          <p:cNvPr id="56" name="Title 3"/>
          <p:cNvSpPr>
            <a:spLocks noGrp="1"/>
          </p:cNvSpPr>
          <p:nvPr>
            <p:ph type="title"/>
          </p:nvPr>
        </p:nvSpPr>
        <p:spPr>
          <a:xfrm>
            <a:off x="607484" y="411797"/>
            <a:ext cx="10972800" cy="1158240"/>
          </a:xfrm>
        </p:spPr>
        <p:txBody>
          <a:bodyPr>
            <a:noAutofit/>
          </a:bodyPr>
          <a:lstStyle/>
          <a:p>
            <a:r>
              <a:rPr lang="en-US" sz="2800" dirty="0">
                <a:latin typeface="+mn-lt"/>
              </a:rPr>
              <a:t>Client Shock Certification Test Setup</a:t>
            </a:r>
          </a:p>
        </p:txBody>
      </p:sp>
      <p:pic>
        <p:nvPicPr>
          <p:cNvPr id="57" name="Picture 56"/>
          <p:cNvPicPr>
            <a:picLocks noChangeAspect="1"/>
          </p:cNvPicPr>
          <p:nvPr/>
        </p:nvPicPr>
        <p:blipFill rotWithShape="1">
          <a:blip r:embed="rId2" cstate="print">
            <a:extLst>
              <a:ext uri="{28A0092B-C50C-407E-A947-70E740481C1C}">
                <a14:useLocalDpi xmlns:a14="http://schemas.microsoft.com/office/drawing/2010/main"/>
              </a:ext>
            </a:extLst>
          </a:blip>
          <a:srcRect r="49095"/>
          <a:stretch/>
        </p:blipFill>
        <p:spPr>
          <a:xfrm>
            <a:off x="8298428" y="419320"/>
            <a:ext cx="3394153" cy="2473949"/>
          </a:xfrm>
          <a:prstGeom prst="rect">
            <a:avLst/>
          </a:prstGeom>
        </p:spPr>
      </p:pic>
      <p:grpSp>
        <p:nvGrpSpPr>
          <p:cNvPr id="58" name="Group 57"/>
          <p:cNvGrpSpPr>
            <a:grpSpLocks noChangeAspect="1"/>
          </p:cNvGrpSpPr>
          <p:nvPr/>
        </p:nvGrpSpPr>
        <p:grpSpPr>
          <a:xfrm>
            <a:off x="8298427" y="2893269"/>
            <a:ext cx="3474720" cy="3465571"/>
            <a:chOff x="3200400" y="541020"/>
            <a:chExt cx="5791200" cy="5775960"/>
          </a:xfrm>
        </p:grpSpPr>
        <p:grpSp>
          <p:nvGrpSpPr>
            <p:cNvPr id="59" name="Group 58"/>
            <p:cNvGrpSpPr/>
            <p:nvPr/>
          </p:nvGrpSpPr>
          <p:grpSpPr>
            <a:xfrm>
              <a:off x="3200400" y="541020"/>
              <a:ext cx="5791200" cy="5775960"/>
              <a:chOff x="0" y="0"/>
              <a:chExt cx="5791200" cy="5775960"/>
            </a:xfrm>
          </p:grpSpPr>
          <p:pic>
            <p:nvPicPr>
              <p:cNvPr id="75" name="Picture 74"/>
              <p:cNvPicPr/>
              <p:nvPr/>
            </p:nvPicPr>
            <p:blipFill>
              <a:blip r:embed="rId3" cstate="print">
                <a:extLst>
                  <a:ext uri="{28A0092B-C50C-407E-A947-70E740481C1C}">
                    <a14:useLocalDpi xmlns:a14="http://schemas.microsoft.com/office/drawing/2010/main"/>
                  </a:ext>
                </a:extLst>
              </a:blip>
              <a:stretch>
                <a:fillRect/>
              </a:stretch>
            </p:blipFill>
            <p:spPr>
              <a:xfrm>
                <a:off x="0" y="0"/>
                <a:ext cx="5791200" cy="5775960"/>
              </a:xfrm>
              <a:prstGeom prst="rect">
                <a:avLst/>
              </a:prstGeom>
            </p:spPr>
          </p:pic>
          <p:sp>
            <p:nvSpPr>
              <p:cNvPr id="76" name="Shape 392"/>
              <p:cNvSpPr/>
              <p:nvPr/>
            </p:nvSpPr>
            <p:spPr>
              <a:xfrm>
                <a:off x="1193292" y="4431792"/>
                <a:ext cx="140208" cy="140208"/>
              </a:xfrm>
              <a:custGeom>
                <a:avLst/>
                <a:gdLst/>
                <a:ahLst/>
                <a:cxnLst/>
                <a:rect l="0" t="0" r="0" b="0"/>
                <a:pathLst>
                  <a:path w="140208" h="140208">
                    <a:moveTo>
                      <a:pt x="70104" y="0"/>
                    </a:moveTo>
                    <a:cubicBezTo>
                      <a:pt x="32004" y="0"/>
                      <a:pt x="0" y="32004"/>
                      <a:pt x="0" y="70104"/>
                    </a:cubicBezTo>
                    <a:cubicBezTo>
                      <a:pt x="0" y="108204"/>
                      <a:pt x="32004" y="140208"/>
                      <a:pt x="70104" y="140208"/>
                    </a:cubicBezTo>
                    <a:cubicBezTo>
                      <a:pt x="108204" y="140208"/>
                      <a:pt x="140208" y="108204"/>
                      <a:pt x="140208" y="70104"/>
                    </a:cubicBezTo>
                    <a:cubicBezTo>
                      <a:pt x="140208" y="32004"/>
                      <a:pt x="108204"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77" name="Shape 394"/>
              <p:cNvSpPr/>
              <p:nvPr/>
            </p:nvSpPr>
            <p:spPr>
              <a:xfrm>
                <a:off x="1472184" y="4140708"/>
                <a:ext cx="140208" cy="138684"/>
              </a:xfrm>
              <a:custGeom>
                <a:avLst/>
                <a:gdLst/>
                <a:ahLst/>
                <a:cxnLst/>
                <a:rect l="0" t="0" r="0" b="0"/>
                <a:pathLst>
                  <a:path w="140208" h="138684">
                    <a:moveTo>
                      <a:pt x="70104" y="0"/>
                    </a:moveTo>
                    <a:cubicBezTo>
                      <a:pt x="32004" y="0"/>
                      <a:pt x="0" y="30480"/>
                      <a:pt x="0" y="68580"/>
                    </a:cubicBezTo>
                    <a:cubicBezTo>
                      <a:pt x="0" y="108204"/>
                      <a:pt x="32004" y="138684"/>
                      <a:pt x="70104" y="138684"/>
                    </a:cubicBezTo>
                    <a:cubicBezTo>
                      <a:pt x="109728" y="138684"/>
                      <a:pt x="140208" y="108204"/>
                      <a:pt x="140208" y="68580"/>
                    </a:cubicBezTo>
                    <a:cubicBezTo>
                      <a:pt x="140208" y="30480"/>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78" name="Shape 396"/>
              <p:cNvSpPr/>
              <p:nvPr/>
            </p:nvSpPr>
            <p:spPr>
              <a:xfrm>
                <a:off x="1943100" y="2807208"/>
                <a:ext cx="138684" cy="138685"/>
              </a:xfrm>
              <a:custGeom>
                <a:avLst/>
                <a:gdLst/>
                <a:ahLst/>
                <a:cxnLst/>
                <a:rect l="0" t="0" r="0" b="0"/>
                <a:pathLst>
                  <a:path w="138684" h="138685">
                    <a:moveTo>
                      <a:pt x="70104" y="0"/>
                    </a:moveTo>
                    <a:cubicBezTo>
                      <a:pt x="32004" y="0"/>
                      <a:pt x="0" y="30480"/>
                      <a:pt x="0" y="68580"/>
                    </a:cubicBezTo>
                    <a:cubicBezTo>
                      <a:pt x="0" y="108204"/>
                      <a:pt x="32004" y="138685"/>
                      <a:pt x="70104" y="138685"/>
                    </a:cubicBezTo>
                    <a:cubicBezTo>
                      <a:pt x="108204" y="138685"/>
                      <a:pt x="138684" y="108204"/>
                      <a:pt x="138684" y="68580"/>
                    </a:cubicBezTo>
                    <a:cubicBezTo>
                      <a:pt x="138684" y="30480"/>
                      <a:pt x="108204"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79" name="Shape 398"/>
              <p:cNvSpPr/>
              <p:nvPr/>
            </p:nvSpPr>
            <p:spPr>
              <a:xfrm>
                <a:off x="1905000" y="3707892"/>
                <a:ext cx="138684" cy="140208"/>
              </a:xfrm>
              <a:custGeom>
                <a:avLst/>
                <a:gdLst/>
                <a:ahLst/>
                <a:cxnLst/>
                <a:rect l="0" t="0" r="0" b="0"/>
                <a:pathLst>
                  <a:path w="138684" h="140208">
                    <a:moveTo>
                      <a:pt x="70104" y="0"/>
                    </a:moveTo>
                    <a:cubicBezTo>
                      <a:pt x="30480" y="0"/>
                      <a:pt x="0" y="32004"/>
                      <a:pt x="0" y="70104"/>
                    </a:cubicBezTo>
                    <a:cubicBezTo>
                      <a:pt x="0" y="108204"/>
                      <a:pt x="30480" y="140208"/>
                      <a:pt x="70104" y="140208"/>
                    </a:cubicBezTo>
                    <a:cubicBezTo>
                      <a:pt x="108204" y="140208"/>
                      <a:pt x="138684" y="108204"/>
                      <a:pt x="138684" y="70104"/>
                    </a:cubicBezTo>
                    <a:cubicBezTo>
                      <a:pt x="138684" y="32004"/>
                      <a:pt x="108204"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0" name="Shape 400"/>
              <p:cNvSpPr/>
              <p:nvPr/>
            </p:nvSpPr>
            <p:spPr>
              <a:xfrm>
                <a:off x="3567684" y="3555492"/>
                <a:ext cx="140208" cy="140208"/>
              </a:xfrm>
              <a:custGeom>
                <a:avLst/>
                <a:gdLst/>
                <a:ahLst/>
                <a:cxnLst/>
                <a:rect l="0" t="0" r="0" b="0"/>
                <a:pathLst>
                  <a:path w="140208" h="140208">
                    <a:moveTo>
                      <a:pt x="70104" y="0"/>
                    </a:moveTo>
                    <a:cubicBezTo>
                      <a:pt x="32004" y="0"/>
                      <a:pt x="0" y="32004"/>
                      <a:pt x="0" y="70104"/>
                    </a:cubicBezTo>
                    <a:cubicBezTo>
                      <a:pt x="0" y="108204"/>
                      <a:pt x="32004" y="140208"/>
                      <a:pt x="70104" y="140208"/>
                    </a:cubicBezTo>
                    <a:cubicBezTo>
                      <a:pt x="109728" y="140208"/>
                      <a:pt x="140208" y="108204"/>
                      <a:pt x="140208" y="70104"/>
                    </a:cubicBezTo>
                    <a:cubicBezTo>
                      <a:pt x="140208" y="32004"/>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1" name="Shape 401"/>
              <p:cNvSpPr/>
              <p:nvPr/>
            </p:nvSpPr>
            <p:spPr>
              <a:xfrm>
                <a:off x="2157984" y="3403092"/>
                <a:ext cx="190500" cy="190500"/>
              </a:xfrm>
              <a:custGeom>
                <a:avLst/>
                <a:gdLst/>
                <a:ahLst/>
                <a:cxnLst/>
                <a:rect l="0" t="0" r="0" b="0"/>
                <a:pathLst>
                  <a:path w="190500" h="190500">
                    <a:moveTo>
                      <a:pt x="96012" y="0"/>
                    </a:moveTo>
                    <a:cubicBezTo>
                      <a:pt x="147828" y="0"/>
                      <a:pt x="190500" y="42672"/>
                      <a:pt x="190500" y="96012"/>
                    </a:cubicBezTo>
                    <a:cubicBezTo>
                      <a:pt x="190500" y="147828"/>
                      <a:pt x="147828" y="190500"/>
                      <a:pt x="96012" y="190500"/>
                    </a:cubicBezTo>
                    <a:cubicBezTo>
                      <a:pt x="42672" y="190500"/>
                      <a:pt x="0" y="147828"/>
                      <a:pt x="0" y="96012"/>
                    </a:cubicBezTo>
                    <a:cubicBezTo>
                      <a:pt x="0" y="42672"/>
                      <a:pt x="42672" y="0"/>
                      <a:pt x="96012" y="0"/>
                    </a:cubicBezTo>
                    <a:close/>
                  </a:path>
                </a:pathLst>
              </a:custGeom>
              <a:ln w="0" cap="flat">
                <a:miter lim="127000"/>
              </a:ln>
            </p:spPr>
            <p:style>
              <a:lnRef idx="0">
                <a:srgbClr val="000000">
                  <a:alpha val="0"/>
                </a:srgbClr>
              </a:lnRef>
              <a:fillRef idx="1">
                <a:srgbClr val="FCB504"/>
              </a:fillRef>
              <a:effectRef idx="0">
                <a:scrgbClr r="0" g="0" b="0"/>
              </a:effectRef>
              <a:fontRef idx="none"/>
            </p:style>
            <p:txBody>
              <a:bodyPr/>
              <a:lstStyle/>
              <a:p>
                <a:endParaRPr lang="en-US"/>
              </a:p>
            </p:txBody>
          </p:sp>
          <p:sp>
            <p:nvSpPr>
              <p:cNvPr id="82" name="Shape 402"/>
              <p:cNvSpPr/>
              <p:nvPr/>
            </p:nvSpPr>
            <p:spPr>
              <a:xfrm>
                <a:off x="2157984" y="3403092"/>
                <a:ext cx="190500" cy="190500"/>
              </a:xfrm>
              <a:custGeom>
                <a:avLst/>
                <a:gdLst/>
                <a:ahLst/>
                <a:cxnLst/>
                <a:rect l="0" t="0" r="0" b="0"/>
                <a:pathLst>
                  <a:path w="190500" h="190500">
                    <a:moveTo>
                      <a:pt x="96012" y="0"/>
                    </a:moveTo>
                    <a:cubicBezTo>
                      <a:pt x="42672" y="0"/>
                      <a:pt x="0" y="42672"/>
                      <a:pt x="0" y="96012"/>
                    </a:cubicBezTo>
                    <a:cubicBezTo>
                      <a:pt x="0" y="147828"/>
                      <a:pt x="42672" y="190500"/>
                      <a:pt x="96012" y="190500"/>
                    </a:cubicBezTo>
                    <a:cubicBezTo>
                      <a:pt x="147828" y="190500"/>
                      <a:pt x="190500" y="147828"/>
                      <a:pt x="190500" y="96012"/>
                    </a:cubicBezTo>
                    <a:cubicBezTo>
                      <a:pt x="190500" y="42672"/>
                      <a:pt x="147828" y="0"/>
                      <a:pt x="96012"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3" name="Shape 403"/>
              <p:cNvSpPr/>
              <p:nvPr/>
            </p:nvSpPr>
            <p:spPr>
              <a:xfrm>
                <a:off x="3403092" y="2159508"/>
                <a:ext cx="190500" cy="190500"/>
              </a:xfrm>
              <a:custGeom>
                <a:avLst/>
                <a:gdLst/>
                <a:ahLst/>
                <a:cxnLst/>
                <a:rect l="0" t="0" r="0" b="0"/>
                <a:pathLst>
                  <a:path w="190500" h="190500">
                    <a:moveTo>
                      <a:pt x="94488" y="0"/>
                    </a:moveTo>
                    <a:cubicBezTo>
                      <a:pt x="147828" y="0"/>
                      <a:pt x="190500" y="42673"/>
                      <a:pt x="190500" y="94488"/>
                    </a:cubicBezTo>
                    <a:cubicBezTo>
                      <a:pt x="190500" y="147828"/>
                      <a:pt x="147828" y="190500"/>
                      <a:pt x="94488" y="190500"/>
                    </a:cubicBezTo>
                    <a:cubicBezTo>
                      <a:pt x="42672" y="190500"/>
                      <a:pt x="0" y="147828"/>
                      <a:pt x="0" y="94488"/>
                    </a:cubicBezTo>
                    <a:cubicBezTo>
                      <a:pt x="0" y="42673"/>
                      <a:pt x="42672" y="0"/>
                      <a:pt x="94488" y="0"/>
                    </a:cubicBezTo>
                    <a:close/>
                  </a:path>
                </a:pathLst>
              </a:custGeom>
              <a:ln w="0" cap="flat">
                <a:miter lim="127000"/>
              </a:ln>
            </p:spPr>
            <p:style>
              <a:lnRef idx="0">
                <a:srgbClr val="000000">
                  <a:alpha val="0"/>
                </a:srgbClr>
              </a:lnRef>
              <a:fillRef idx="1">
                <a:srgbClr val="FCB504"/>
              </a:fillRef>
              <a:effectRef idx="0">
                <a:scrgbClr r="0" g="0" b="0"/>
              </a:effectRef>
              <a:fontRef idx="none"/>
            </p:style>
            <p:txBody>
              <a:bodyPr/>
              <a:lstStyle/>
              <a:p>
                <a:endParaRPr lang="en-US"/>
              </a:p>
            </p:txBody>
          </p:sp>
          <p:sp>
            <p:nvSpPr>
              <p:cNvPr id="84" name="Shape 404"/>
              <p:cNvSpPr/>
              <p:nvPr/>
            </p:nvSpPr>
            <p:spPr>
              <a:xfrm>
                <a:off x="3403092" y="2159508"/>
                <a:ext cx="190500" cy="190500"/>
              </a:xfrm>
              <a:custGeom>
                <a:avLst/>
                <a:gdLst/>
                <a:ahLst/>
                <a:cxnLst/>
                <a:rect l="0" t="0" r="0" b="0"/>
                <a:pathLst>
                  <a:path w="190500" h="190500">
                    <a:moveTo>
                      <a:pt x="94488" y="0"/>
                    </a:moveTo>
                    <a:cubicBezTo>
                      <a:pt x="42672" y="0"/>
                      <a:pt x="0" y="42673"/>
                      <a:pt x="0" y="94488"/>
                    </a:cubicBezTo>
                    <a:cubicBezTo>
                      <a:pt x="0" y="147828"/>
                      <a:pt x="42672" y="190500"/>
                      <a:pt x="94488" y="190500"/>
                    </a:cubicBezTo>
                    <a:cubicBezTo>
                      <a:pt x="147828" y="190500"/>
                      <a:pt x="190500" y="147828"/>
                      <a:pt x="190500" y="94488"/>
                    </a:cubicBezTo>
                    <a:cubicBezTo>
                      <a:pt x="190500" y="42673"/>
                      <a:pt x="147828" y="0"/>
                      <a:pt x="94488"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5" name="Shape 406"/>
              <p:cNvSpPr/>
              <p:nvPr/>
            </p:nvSpPr>
            <p:spPr>
              <a:xfrm>
                <a:off x="2805684" y="3669792"/>
                <a:ext cx="140208" cy="140208"/>
              </a:xfrm>
              <a:custGeom>
                <a:avLst/>
                <a:gdLst/>
                <a:ahLst/>
                <a:cxnLst/>
                <a:rect l="0" t="0" r="0" b="0"/>
                <a:pathLst>
                  <a:path w="140208" h="140208">
                    <a:moveTo>
                      <a:pt x="70104" y="0"/>
                    </a:moveTo>
                    <a:cubicBezTo>
                      <a:pt x="32004" y="0"/>
                      <a:pt x="0" y="32004"/>
                      <a:pt x="0" y="70104"/>
                    </a:cubicBezTo>
                    <a:cubicBezTo>
                      <a:pt x="0" y="108204"/>
                      <a:pt x="32004" y="140208"/>
                      <a:pt x="70104" y="140208"/>
                    </a:cubicBezTo>
                    <a:cubicBezTo>
                      <a:pt x="109728" y="140208"/>
                      <a:pt x="140208" y="108204"/>
                      <a:pt x="140208" y="70104"/>
                    </a:cubicBezTo>
                    <a:cubicBezTo>
                      <a:pt x="140208" y="32004"/>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6" name="Shape 407"/>
              <p:cNvSpPr/>
              <p:nvPr/>
            </p:nvSpPr>
            <p:spPr>
              <a:xfrm>
                <a:off x="2805684" y="3874008"/>
                <a:ext cx="140208" cy="138684"/>
              </a:xfrm>
              <a:custGeom>
                <a:avLst/>
                <a:gdLst/>
                <a:ahLst/>
                <a:cxnLst/>
                <a:rect l="0" t="0" r="0" b="0"/>
                <a:pathLst>
                  <a:path w="140208" h="138684">
                    <a:moveTo>
                      <a:pt x="70104" y="0"/>
                    </a:moveTo>
                    <a:cubicBezTo>
                      <a:pt x="109728" y="0"/>
                      <a:pt x="140208" y="30480"/>
                      <a:pt x="140208" y="70104"/>
                    </a:cubicBezTo>
                    <a:cubicBezTo>
                      <a:pt x="140208" y="108204"/>
                      <a:pt x="109728" y="138684"/>
                      <a:pt x="70104" y="138684"/>
                    </a:cubicBezTo>
                    <a:cubicBezTo>
                      <a:pt x="32004" y="138684"/>
                      <a:pt x="0" y="108204"/>
                      <a:pt x="0" y="70104"/>
                    </a:cubicBezTo>
                    <a:cubicBezTo>
                      <a:pt x="0" y="30480"/>
                      <a:pt x="32004" y="0"/>
                      <a:pt x="70104" y="0"/>
                    </a:cubicBez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a:p>
            </p:txBody>
          </p:sp>
          <p:sp>
            <p:nvSpPr>
              <p:cNvPr id="87" name="Shape 408"/>
              <p:cNvSpPr/>
              <p:nvPr/>
            </p:nvSpPr>
            <p:spPr>
              <a:xfrm>
                <a:off x="2805684" y="3874008"/>
                <a:ext cx="140208" cy="138684"/>
              </a:xfrm>
              <a:custGeom>
                <a:avLst/>
                <a:gdLst/>
                <a:ahLst/>
                <a:cxnLst/>
                <a:rect l="0" t="0" r="0" b="0"/>
                <a:pathLst>
                  <a:path w="140208" h="138684">
                    <a:moveTo>
                      <a:pt x="70104" y="0"/>
                    </a:moveTo>
                    <a:cubicBezTo>
                      <a:pt x="32004" y="0"/>
                      <a:pt x="0" y="30480"/>
                      <a:pt x="0" y="70104"/>
                    </a:cubicBezTo>
                    <a:cubicBezTo>
                      <a:pt x="0" y="108204"/>
                      <a:pt x="32004" y="138684"/>
                      <a:pt x="70104" y="138684"/>
                    </a:cubicBezTo>
                    <a:cubicBezTo>
                      <a:pt x="109728" y="138684"/>
                      <a:pt x="140208" y="108204"/>
                      <a:pt x="140208" y="70104"/>
                    </a:cubicBezTo>
                    <a:cubicBezTo>
                      <a:pt x="140208" y="30480"/>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8" name="Shape 410"/>
              <p:cNvSpPr/>
              <p:nvPr/>
            </p:nvSpPr>
            <p:spPr>
              <a:xfrm>
                <a:off x="3681984" y="2807208"/>
                <a:ext cx="140208" cy="138685"/>
              </a:xfrm>
              <a:custGeom>
                <a:avLst/>
                <a:gdLst/>
                <a:ahLst/>
                <a:cxnLst/>
                <a:rect l="0" t="0" r="0" b="0"/>
                <a:pathLst>
                  <a:path w="140208" h="138685">
                    <a:moveTo>
                      <a:pt x="70104" y="0"/>
                    </a:moveTo>
                    <a:cubicBezTo>
                      <a:pt x="32004" y="0"/>
                      <a:pt x="0" y="30480"/>
                      <a:pt x="0" y="68580"/>
                    </a:cubicBezTo>
                    <a:cubicBezTo>
                      <a:pt x="0" y="108204"/>
                      <a:pt x="32004" y="138685"/>
                      <a:pt x="70104" y="138685"/>
                    </a:cubicBezTo>
                    <a:cubicBezTo>
                      <a:pt x="109728" y="138685"/>
                      <a:pt x="140208" y="108204"/>
                      <a:pt x="140208" y="68580"/>
                    </a:cubicBezTo>
                    <a:cubicBezTo>
                      <a:pt x="140208" y="30480"/>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89" name="Shape 411"/>
              <p:cNvSpPr/>
              <p:nvPr/>
            </p:nvSpPr>
            <p:spPr>
              <a:xfrm>
                <a:off x="3886200" y="2807208"/>
                <a:ext cx="138684" cy="138685"/>
              </a:xfrm>
              <a:custGeom>
                <a:avLst/>
                <a:gdLst/>
                <a:ahLst/>
                <a:cxnLst/>
                <a:rect l="0" t="0" r="0" b="0"/>
                <a:pathLst>
                  <a:path w="138684" h="138685">
                    <a:moveTo>
                      <a:pt x="68580" y="0"/>
                    </a:moveTo>
                    <a:cubicBezTo>
                      <a:pt x="108204" y="0"/>
                      <a:pt x="138684" y="30480"/>
                      <a:pt x="138684" y="68580"/>
                    </a:cubicBezTo>
                    <a:cubicBezTo>
                      <a:pt x="138684" y="108204"/>
                      <a:pt x="108204" y="138685"/>
                      <a:pt x="68580" y="138685"/>
                    </a:cubicBezTo>
                    <a:cubicBezTo>
                      <a:pt x="30480" y="138685"/>
                      <a:pt x="0" y="108204"/>
                      <a:pt x="0" y="68580"/>
                    </a:cubicBezTo>
                    <a:cubicBezTo>
                      <a:pt x="0" y="30480"/>
                      <a:pt x="30480" y="0"/>
                      <a:pt x="68580" y="0"/>
                    </a:cubicBez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a:p>
            </p:txBody>
          </p:sp>
          <p:sp>
            <p:nvSpPr>
              <p:cNvPr id="90" name="Shape 412"/>
              <p:cNvSpPr/>
              <p:nvPr/>
            </p:nvSpPr>
            <p:spPr>
              <a:xfrm>
                <a:off x="3886200" y="2807208"/>
                <a:ext cx="138684" cy="138685"/>
              </a:xfrm>
              <a:custGeom>
                <a:avLst/>
                <a:gdLst/>
                <a:ahLst/>
                <a:cxnLst/>
                <a:rect l="0" t="0" r="0" b="0"/>
                <a:pathLst>
                  <a:path w="138684" h="138685">
                    <a:moveTo>
                      <a:pt x="68580" y="0"/>
                    </a:moveTo>
                    <a:cubicBezTo>
                      <a:pt x="30480" y="0"/>
                      <a:pt x="0" y="30480"/>
                      <a:pt x="0" y="68580"/>
                    </a:cubicBezTo>
                    <a:cubicBezTo>
                      <a:pt x="0" y="108204"/>
                      <a:pt x="30480" y="138685"/>
                      <a:pt x="68580" y="138685"/>
                    </a:cubicBezTo>
                    <a:cubicBezTo>
                      <a:pt x="108204" y="138685"/>
                      <a:pt x="138684" y="108204"/>
                      <a:pt x="138684" y="68580"/>
                    </a:cubicBezTo>
                    <a:cubicBezTo>
                      <a:pt x="138684" y="30480"/>
                      <a:pt x="108204" y="0"/>
                      <a:pt x="68580"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1" name="Shape 414"/>
              <p:cNvSpPr/>
              <p:nvPr/>
            </p:nvSpPr>
            <p:spPr>
              <a:xfrm>
                <a:off x="2805684" y="1943100"/>
                <a:ext cx="140208" cy="140208"/>
              </a:xfrm>
              <a:custGeom>
                <a:avLst/>
                <a:gdLst/>
                <a:ahLst/>
                <a:cxnLst/>
                <a:rect l="0" t="0" r="0" b="0"/>
                <a:pathLst>
                  <a:path w="140208" h="140208">
                    <a:moveTo>
                      <a:pt x="70104" y="0"/>
                    </a:moveTo>
                    <a:cubicBezTo>
                      <a:pt x="32004" y="0"/>
                      <a:pt x="0" y="30480"/>
                      <a:pt x="0" y="70104"/>
                    </a:cubicBezTo>
                    <a:cubicBezTo>
                      <a:pt x="0" y="108204"/>
                      <a:pt x="32004" y="140208"/>
                      <a:pt x="70104" y="140208"/>
                    </a:cubicBezTo>
                    <a:cubicBezTo>
                      <a:pt x="109728" y="140208"/>
                      <a:pt x="140208" y="108204"/>
                      <a:pt x="140208" y="70104"/>
                    </a:cubicBezTo>
                    <a:cubicBezTo>
                      <a:pt x="140208" y="30480"/>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2" name="Shape 416"/>
              <p:cNvSpPr/>
              <p:nvPr/>
            </p:nvSpPr>
            <p:spPr>
              <a:xfrm>
                <a:off x="4139184" y="1473708"/>
                <a:ext cx="140208" cy="138685"/>
              </a:xfrm>
              <a:custGeom>
                <a:avLst/>
                <a:gdLst/>
                <a:ahLst/>
                <a:cxnLst/>
                <a:rect l="0" t="0" r="0" b="0"/>
                <a:pathLst>
                  <a:path w="140208" h="138685">
                    <a:moveTo>
                      <a:pt x="70104" y="0"/>
                    </a:moveTo>
                    <a:cubicBezTo>
                      <a:pt x="32004" y="0"/>
                      <a:pt x="0" y="30480"/>
                      <a:pt x="0" y="70104"/>
                    </a:cubicBezTo>
                    <a:cubicBezTo>
                      <a:pt x="0" y="108204"/>
                      <a:pt x="32004" y="138685"/>
                      <a:pt x="70104" y="138685"/>
                    </a:cubicBezTo>
                    <a:cubicBezTo>
                      <a:pt x="109728" y="138685"/>
                      <a:pt x="140208" y="108204"/>
                      <a:pt x="140208" y="70104"/>
                    </a:cubicBezTo>
                    <a:cubicBezTo>
                      <a:pt x="140208" y="30480"/>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3" name="Shape 418"/>
              <p:cNvSpPr/>
              <p:nvPr/>
            </p:nvSpPr>
            <p:spPr>
              <a:xfrm>
                <a:off x="4431793" y="1181100"/>
                <a:ext cx="140208" cy="140208"/>
              </a:xfrm>
              <a:custGeom>
                <a:avLst/>
                <a:gdLst/>
                <a:ahLst/>
                <a:cxnLst/>
                <a:rect l="0" t="0" r="0" b="0"/>
                <a:pathLst>
                  <a:path w="140208" h="140208">
                    <a:moveTo>
                      <a:pt x="70104" y="0"/>
                    </a:moveTo>
                    <a:cubicBezTo>
                      <a:pt x="30480" y="0"/>
                      <a:pt x="0" y="30480"/>
                      <a:pt x="0" y="70104"/>
                    </a:cubicBezTo>
                    <a:cubicBezTo>
                      <a:pt x="0" y="108204"/>
                      <a:pt x="30480" y="140208"/>
                      <a:pt x="70104" y="140208"/>
                    </a:cubicBezTo>
                    <a:cubicBezTo>
                      <a:pt x="109728" y="140208"/>
                      <a:pt x="140208" y="108204"/>
                      <a:pt x="140208" y="70104"/>
                    </a:cubicBezTo>
                    <a:cubicBezTo>
                      <a:pt x="140208" y="30480"/>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4" name="Shape 420"/>
              <p:cNvSpPr/>
              <p:nvPr/>
            </p:nvSpPr>
            <p:spPr>
              <a:xfrm>
                <a:off x="2057400" y="2057400"/>
                <a:ext cx="138684" cy="140208"/>
              </a:xfrm>
              <a:custGeom>
                <a:avLst/>
                <a:gdLst/>
                <a:ahLst/>
                <a:cxnLst/>
                <a:rect l="0" t="0" r="0" b="0"/>
                <a:pathLst>
                  <a:path w="138684" h="140208">
                    <a:moveTo>
                      <a:pt x="70104" y="0"/>
                    </a:moveTo>
                    <a:cubicBezTo>
                      <a:pt x="30480" y="0"/>
                      <a:pt x="0" y="30480"/>
                      <a:pt x="0" y="70104"/>
                    </a:cubicBezTo>
                    <a:cubicBezTo>
                      <a:pt x="0" y="108204"/>
                      <a:pt x="30480" y="140208"/>
                      <a:pt x="70104" y="140208"/>
                    </a:cubicBezTo>
                    <a:cubicBezTo>
                      <a:pt x="108204" y="140208"/>
                      <a:pt x="138684" y="108204"/>
                      <a:pt x="138684" y="70104"/>
                    </a:cubicBezTo>
                    <a:cubicBezTo>
                      <a:pt x="138684" y="30480"/>
                      <a:pt x="108204"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5" name="Shape 422"/>
              <p:cNvSpPr/>
              <p:nvPr/>
            </p:nvSpPr>
            <p:spPr>
              <a:xfrm>
                <a:off x="1193292" y="1181100"/>
                <a:ext cx="140208" cy="140208"/>
              </a:xfrm>
              <a:custGeom>
                <a:avLst/>
                <a:gdLst/>
                <a:ahLst/>
                <a:cxnLst/>
                <a:rect l="0" t="0" r="0" b="0"/>
                <a:pathLst>
                  <a:path w="140208" h="140208">
                    <a:moveTo>
                      <a:pt x="70104" y="0"/>
                    </a:moveTo>
                    <a:cubicBezTo>
                      <a:pt x="32004" y="0"/>
                      <a:pt x="0" y="30480"/>
                      <a:pt x="0" y="70104"/>
                    </a:cubicBezTo>
                    <a:cubicBezTo>
                      <a:pt x="0" y="108204"/>
                      <a:pt x="32004" y="140208"/>
                      <a:pt x="70104" y="140208"/>
                    </a:cubicBezTo>
                    <a:cubicBezTo>
                      <a:pt x="108204" y="140208"/>
                      <a:pt x="140208" y="108204"/>
                      <a:pt x="140208" y="70104"/>
                    </a:cubicBezTo>
                    <a:cubicBezTo>
                      <a:pt x="140208" y="30480"/>
                      <a:pt x="108204"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6" name="Shape 423"/>
              <p:cNvSpPr/>
              <p:nvPr/>
            </p:nvSpPr>
            <p:spPr>
              <a:xfrm>
                <a:off x="1738884" y="2793492"/>
                <a:ext cx="140208" cy="140208"/>
              </a:xfrm>
              <a:custGeom>
                <a:avLst/>
                <a:gdLst/>
                <a:ahLst/>
                <a:cxnLst/>
                <a:rect l="0" t="0" r="0" b="0"/>
                <a:pathLst>
                  <a:path w="140208" h="140208">
                    <a:moveTo>
                      <a:pt x="70104" y="0"/>
                    </a:moveTo>
                    <a:cubicBezTo>
                      <a:pt x="109728" y="0"/>
                      <a:pt x="140208" y="32003"/>
                      <a:pt x="140208" y="70103"/>
                    </a:cubicBezTo>
                    <a:cubicBezTo>
                      <a:pt x="140208" y="108203"/>
                      <a:pt x="109728" y="140208"/>
                      <a:pt x="70104" y="140208"/>
                    </a:cubicBezTo>
                    <a:cubicBezTo>
                      <a:pt x="32004" y="140208"/>
                      <a:pt x="0" y="108203"/>
                      <a:pt x="0" y="70103"/>
                    </a:cubicBezTo>
                    <a:cubicBezTo>
                      <a:pt x="0" y="32003"/>
                      <a:pt x="32004" y="0"/>
                      <a:pt x="70104" y="0"/>
                    </a:cubicBez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a:p>
            </p:txBody>
          </p:sp>
          <p:sp>
            <p:nvSpPr>
              <p:cNvPr id="97" name="Shape 424"/>
              <p:cNvSpPr/>
              <p:nvPr/>
            </p:nvSpPr>
            <p:spPr>
              <a:xfrm>
                <a:off x="1738884" y="2793492"/>
                <a:ext cx="140208" cy="140208"/>
              </a:xfrm>
              <a:custGeom>
                <a:avLst/>
                <a:gdLst/>
                <a:ahLst/>
                <a:cxnLst/>
                <a:rect l="0" t="0" r="0" b="0"/>
                <a:pathLst>
                  <a:path w="140208" h="140208">
                    <a:moveTo>
                      <a:pt x="70104" y="0"/>
                    </a:moveTo>
                    <a:cubicBezTo>
                      <a:pt x="32004" y="0"/>
                      <a:pt x="0" y="32003"/>
                      <a:pt x="0" y="70103"/>
                    </a:cubicBezTo>
                    <a:cubicBezTo>
                      <a:pt x="0" y="108203"/>
                      <a:pt x="32004" y="140208"/>
                      <a:pt x="70104" y="140208"/>
                    </a:cubicBezTo>
                    <a:cubicBezTo>
                      <a:pt x="109728" y="140208"/>
                      <a:pt x="140208" y="108203"/>
                      <a:pt x="140208" y="70103"/>
                    </a:cubicBezTo>
                    <a:cubicBezTo>
                      <a:pt x="140208" y="32003"/>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98" name="Shape 425"/>
              <p:cNvSpPr/>
              <p:nvPr/>
            </p:nvSpPr>
            <p:spPr>
              <a:xfrm>
                <a:off x="2805684" y="1726692"/>
                <a:ext cx="140208" cy="140208"/>
              </a:xfrm>
              <a:custGeom>
                <a:avLst/>
                <a:gdLst/>
                <a:ahLst/>
                <a:cxnLst/>
                <a:rect l="0" t="0" r="0" b="0"/>
                <a:pathLst>
                  <a:path w="140208" h="140208">
                    <a:moveTo>
                      <a:pt x="70104" y="0"/>
                    </a:moveTo>
                    <a:cubicBezTo>
                      <a:pt x="109728" y="0"/>
                      <a:pt x="140208" y="32003"/>
                      <a:pt x="140208" y="70103"/>
                    </a:cubicBezTo>
                    <a:cubicBezTo>
                      <a:pt x="140208" y="108203"/>
                      <a:pt x="109728" y="140208"/>
                      <a:pt x="70104" y="140208"/>
                    </a:cubicBezTo>
                    <a:cubicBezTo>
                      <a:pt x="32004" y="140208"/>
                      <a:pt x="0" y="108203"/>
                      <a:pt x="0" y="70103"/>
                    </a:cubicBezTo>
                    <a:cubicBezTo>
                      <a:pt x="0" y="32003"/>
                      <a:pt x="32004" y="0"/>
                      <a:pt x="70104" y="0"/>
                    </a:cubicBezTo>
                    <a:close/>
                  </a:path>
                </a:pathLst>
              </a:custGeom>
              <a:ln w="0" cap="flat">
                <a:miter lim="127000"/>
              </a:ln>
            </p:spPr>
            <p:style>
              <a:lnRef idx="0">
                <a:srgbClr val="000000">
                  <a:alpha val="0"/>
                </a:srgbClr>
              </a:lnRef>
              <a:fillRef idx="1">
                <a:srgbClr val="000000"/>
              </a:fillRef>
              <a:effectRef idx="0">
                <a:scrgbClr r="0" g="0" b="0"/>
              </a:effectRef>
              <a:fontRef idx="none"/>
            </p:style>
            <p:txBody>
              <a:bodyPr/>
              <a:lstStyle/>
              <a:p>
                <a:endParaRPr lang="en-US"/>
              </a:p>
            </p:txBody>
          </p:sp>
          <p:sp>
            <p:nvSpPr>
              <p:cNvPr id="99" name="Shape 426"/>
              <p:cNvSpPr/>
              <p:nvPr/>
            </p:nvSpPr>
            <p:spPr>
              <a:xfrm>
                <a:off x="2805684" y="1726692"/>
                <a:ext cx="140208" cy="140208"/>
              </a:xfrm>
              <a:custGeom>
                <a:avLst/>
                <a:gdLst/>
                <a:ahLst/>
                <a:cxnLst/>
                <a:rect l="0" t="0" r="0" b="0"/>
                <a:pathLst>
                  <a:path w="140208" h="140208">
                    <a:moveTo>
                      <a:pt x="70104" y="0"/>
                    </a:moveTo>
                    <a:cubicBezTo>
                      <a:pt x="32004" y="0"/>
                      <a:pt x="0" y="32003"/>
                      <a:pt x="0" y="70103"/>
                    </a:cubicBezTo>
                    <a:cubicBezTo>
                      <a:pt x="0" y="108203"/>
                      <a:pt x="32004" y="140208"/>
                      <a:pt x="70104" y="140208"/>
                    </a:cubicBezTo>
                    <a:cubicBezTo>
                      <a:pt x="109728" y="140208"/>
                      <a:pt x="140208" y="108203"/>
                      <a:pt x="140208" y="70103"/>
                    </a:cubicBezTo>
                    <a:cubicBezTo>
                      <a:pt x="140208" y="32003"/>
                      <a:pt x="109728"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sp>
            <p:nvSpPr>
              <p:cNvPr id="100" name="Shape 428"/>
              <p:cNvSpPr/>
              <p:nvPr/>
            </p:nvSpPr>
            <p:spPr>
              <a:xfrm>
                <a:off x="4584193" y="4572000"/>
                <a:ext cx="140208" cy="140208"/>
              </a:xfrm>
              <a:custGeom>
                <a:avLst/>
                <a:gdLst/>
                <a:ahLst/>
                <a:cxnLst/>
                <a:rect l="0" t="0" r="0" b="0"/>
                <a:pathLst>
                  <a:path w="140208" h="140208">
                    <a:moveTo>
                      <a:pt x="70104" y="0"/>
                    </a:moveTo>
                    <a:cubicBezTo>
                      <a:pt x="32004" y="0"/>
                      <a:pt x="0" y="30480"/>
                      <a:pt x="0" y="70104"/>
                    </a:cubicBezTo>
                    <a:cubicBezTo>
                      <a:pt x="0" y="108204"/>
                      <a:pt x="32004" y="140208"/>
                      <a:pt x="70104" y="140208"/>
                    </a:cubicBezTo>
                    <a:cubicBezTo>
                      <a:pt x="108204" y="140208"/>
                      <a:pt x="140208" y="108204"/>
                      <a:pt x="140208" y="70104"/>
                    </a:cubicBezTo>
                    <a:cubicBezTo>
                      <a:pt x="140208" y="30480"/>
                      <a:pt x="108204" y="0"/>
                      <a:pt x="70104" y="0"/>
                    </a:cubicBezTo>
                    <a:close/>
                  </a:path>
                </a:pathLst>
              </a:custGeom>
              <a:ln w="9525" cap="rnd">
                <a:round/>
              </a:ln>
            </p:spPr>
            <p:style>
              <a:lnRef idx="1">
                <a:srgbClr val="333333"/>
              </a:lnRef>
              <a:fillRef idx="0">
                <a:srgbClr val="000000">
                  <a:alpha val="0"/>
                </a:srgbClr>
              </a:fillRef>
              <a:effectRef idx="0">
                <a:scrgbClr r="0" g="0" b="0"/>
              </a:effectRef>
              <a:fontRef idx="none"/>
            </p:style>
            <p:txBody>
              <a:bodyPr/>
              <a:lstStyle/>
              <a:p>
                <a:endParaRPr lang="en-US"/>
              </a:p>
            </p:txBody>
          </p:sp>
        </p:grpSp>
        <p:sp>
          <p:nvSpPr>
            <p:cNvPr id="60" name="Oval 59"/>
            <p:cNvSpPr/>
            <p:nvPr/>
          </p:nvSpPr>
          <p:spPr>
            <a:xfrm>
              <a:off x="5249731" y="2596178"/>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p:cNvSpPr/>
            <p:nvPr/>
          </p:nvSpPr>
          <p:spPr>
            <a:xfrm>
              <a:off x="6008147" y="2493520"/>
              <a:ext cx="146303"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p:cNvSpPr/>
            <p:nvPr/>
          </p:nvSpPr>
          <p:spPr>
            <a:xfrm>
              <a:off x="5149472" y="3337023"/>
              <a:ext cx="146303"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p:cNvSpPr/>
            <p:nvPr/>
          </p:nvSpPr>
          <p:spPr>
            <a:xfrm>
              <a:off x="6878373" y="3350023"/>
              <a:ext cx="146303"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p:cNvSpPr/>
            <p:nvPr/>
          </p:nvSpPr>
          <p:spPr>
            <a:xfrm>
              <a:off x="6768847" y="4098750"/>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p:cNvSpPr/>
            <p:nvPr/>
          </p:nvSpPr>
          <p:spPr>
            <a:xfrm>
              <a:off x="6006083" y="4208895"/>
              <a:ext cx="146303"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p:cNvSpPr/>
            <p:nvPr/>
          </p:nvSpPr>
          <p:spPr>
            <a:xfrm>
              <a:off x="4387596" y="1716024"/>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p:cNvSpPr/>
            <p:nvPr/>
          </p:nvSpPr>
          <p:spPr>
            <a:xfrm>
              <a:off x="7339584" y="2010918"/>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p:cNvSpPr/>
            <p:nvPr/>
          </p:nvSpPr>
          <p:spPr>
            <a:xfrm>
              <a:off x="7632193" y="1716024"/>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p:cNvSpPr/>
            <p:nvPr/>
          </p:nvSpPr>
          <p:spPr>
            <a:xfrm>
              <a:off x="7778497" y="5109972"/>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p:cNvSpPr/>
            <p:nvPr/>
          </p:nvSpPr>
          <p:spPr>
            <a:xfrm>
              <a:off x="4666488" y="4674108"/>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p:cNvSpPr/>
            <p:nvPr/>
          </p:nvSpPr>
          <p:spPr>
            <a:xfrm>
              <a:off x="4390747" y="4969764"/>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p:cNvSpPr/>
            <p:nvPr/>
          </p:nvSpPr>
          <p:spPr>
            <a:xfrm>
              <a:off x="5101590" y="4248214"/>
              <a:ext cx="146304" cy="146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5309952" y="2652096"/>
              <a:ext cx="1526387" cy="15263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5662752" y="3201361"/>
              <a:ext cx="836016" cy="430108"/>
            </a:xfrm>
            <a:prstGeom prst="rect">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p:cNvGrpSpPr/>
          <p:nvPr/>
        </p:nvGrpSpPr>
        <p:grpSpPr>
          <a:xfrm>
            <a:off x="10781937" y="3996395"/>
            <a:ext cx="1488228" cy="430887"/>
            <a:chOff x="10277444" y="6176967"/>
            <a:chExt cx="1488227" cy="430887"/>
          </a:xfrm>
        </p:grpSpPr>
        <p:sp>
          <p:nvSpPr>
            <p:cNvPr id="102" name="TextBox 101"/>
            <p:cNvSpPr txBox="1"/>
            <p:nvPr/>
          </p:nvSpPr>
          <p:spPr>
            <a:xfrm>
              <a:off x="10277444" y="6176967"/>
              <a:ext cx="1488227" cy="430887"/>
            </a:xfrm>
            <a:prstGeom prst="rect">
              <a:avLst/>
            </a:prstGeom>
            <a:solidFill>
              <a:schemeClr val="bg1"/>
            </a:solidFill>
            <a:ln>
              <a:solidFill>
                <a:schemeClr val="tx1"/>
              </a:solidFill>
            </a:ln>
          </p:spPr>
          <p:txBody>
            <a:bodyPr wrap="none" lIns="274320" tIns="0" bIns="0" rtlCol="0">
              <a:spAutoFit/>
            </a:bodyPr>
            <a:lstStyle/>
            <a:p>
              <a:r>
                <a:rPr lang="en-US" sz="1400" dirty="0"/>
                <a:t>Board Masses</a:t>
              </a:r>
            </a:p>
            <a:p>
              <a:r>
                <a:rPr lang="en-US" sz="1400" dirty="0"/>
                <a:t>Supports</a:t>
              </a:r>
            </a:p>
          </p:txBody>
        </p:sp>
        <p:sp>
          <p:nvSpPr>
            <p:cNvPr id="103" name="Oval 102"/>
            <p:cNvSpPr/>
            <p:nvPr/>
          </p:nvSpPr>
          <p:spPr>
            <a:xfrm>
              <a:off x="10365977" y="6230559"/>
              <a:ext cx="118872" cy="11887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p:cNvSpPr/>
            <p:nvPr/>
          </p:nvSpPr>
          <p:spPr>
            <a:xfrm>
              <a:off x="10381522" y="6457092"/>
              <a:ext cx="87782" cy="8778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15" name="Straight Arrow Connector 114"/>
          <p:cNvCxnSpPr/>
          <p:nvPr/>
        </p:nvCxnSpPr>
        <p:spPr>
          <a:xfrm>
            <a:off x="9775838" y="817849"/>
            <a:ext cx="59925" cy="223772"/>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7" name="Straight Arrow Connector 116"/>
          <p:cNvCxnSpPr/>
          <p:nvPr/>
        </p:nvCxnSpPr>
        <p:spPr>
          <a:xfrm flipH="1">
            <a:off x="10035787" y="817849"/>
            <a:ext cx="173689" cy="223772"/>
          </a:xfrm>
          <a:prstGeom prst="straightConnector1">
            <a:avLst/>
          </a:prstGeom>
          <a:ln>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9425882" y="548640"/>
            <a:ext cx="409881" cy="265971"/>
          </a:xfrm>
          <a:prstGeom prst="rect">
            <a:avLst/>
          </a:prstGeom>
          <a:noFill/>
        </p:spPr>
        <p:txBody>
          <a:bodyPr vert="horz" wrap="square" lIns="0" tIns="0" rIns="0" bIns="0" rtlCol="0">
            <a:noAutofit/>
          </a:bodyPr>
          <a:lstStyle/>
          <a:p>
            <a:r>
              <a:rPr lang="en-US" sz="1600" b="1" dirty="0">
                <a:solidFill>
                  <a:srgbClr val="FF0000"/>
                </a:solidFill>
              </a:rPr>
              <a:t>SG1</a:t>
            </a:r>
          </a:p>
        </p:txBody>
      </p:sp>
      <p:sp>
        <p:nvSpPr>
          <p:cNvPr id="119" name="TextBox 118"/>
          <p:cNvSpPr txBox="1"/>
          <p:nvPr/>
        </p:nvSpPr>
        <p:spPr>
          <a:xfrm>
            <a:off x="10135341" y="551206"/>
            <a:ext cx="409881" cy="265971"/>
          </a:xfrm>
          <a:prstGeom prst="rect">
            <a:avLst/>
          </a:prstGeom>
          <a:noFill/>
        </p:spPr>
        <p:txBody>
          <a:bodyPr vert="horz" wrap="square" lIns="0" tIns="0" rIns="0" bIns="0" rtlCol="0">
            <a:noAutofit/>
          </a:bodyPr>
          <a:lstStyle/>
          <a:p>
            <a:r>
              <a:rPr lang="en-US" sz="1600" b="1" dirty="0">
                <a:solidFill>
                  <a:srgbClr val="FF0000"/>
                </a:solidFill>
              </a:rPr>
              <a:t>SG3</a:t>
            </a:r>
          </a:p>
        </p:txBody>
      </p:sp>
    </p:spTree>
    <p:extLst>
      <p:ext uri="{BB962C8B-B14F-4D97-AF65-F5344CB8AC3E}">
        <p14:creationId xmlns:p14="http://schemas.microsoft.com/office/powerpoint/2010/main" val="2252928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Shock Strain Gauge Placement</a:t>
            </a:r>
          </a:p>
        </p:txBody>
      </p:sp>
      <p:sp>
        <p:nvSpPr>
          <p:cNvPr id="4" name="Slide Number Placeholder 3"/>
          <p:cNvSpPr>
            <a:spLocks noGrp="1"/>
          </p:cNvSpPr>
          <p:nvPr>
            <p:ph type="sldNum" sz="quarter" idx="12"/>
          </p:nvPr>
        </p:nvSpPr>
        <p:spPr/>
        <p:txBody>
          <a:bodyPr/>
          <a:lstStyle/>
          <a:p>
            <a:fld id="{EE2556C5-CE8C-6547-B838-EA80C61A4AF7}" type="slidenum">
              <a:rPr lang="en-US" smtClean="0"/>
              <a:pPr/>
              <a:t>12</a:t>
            </a:fld>
            <a:endParaRPr lang="en-US" dirty="0"/>
          </a:p>
        </p:txBody>
      </p:sp>
      <p:sp>
        <p:nvSpPr>
          <p:cNvPr id="5" name="Rectangle 3"/>
          <p:cNvSpPr txBox="1">
            <a:spLocks noChangeArrowheads="1"/>
          </p:cNvSpPr>
          <p:nvPr/>
        </p:nvSpPr>
        <p:spPr>
          <a:xfrm>
            <a:off x="609600" y="1683732"/>
            <a:ext cx="6248400" cy="5334000"/>
          </a:xfrm>
          <a:prstGeom prst="rect">
            <a:avLst/>
          </a:prstGeom>
        </p:spPr>
        <p:txBody>
          <a:bodyPr vert="horz" lIns="0" tIns="0" rIns="0" bIns="0" rtlCol="0">
            <a:normAutofit/>
          </a:bodyPr>
          <a:lstStyle>
            <a:lvl1pPr marL="0" indent="0" algn="l" defTabSz="609585" rtl="0" eaLnBrk="1" latinLnBrk="0" hangingPunct="1">
              <a:spcBef>
                <a:spcPts val="1600"/>
              </a:spcBef>
              <a:spcAft>
                <a:spcPts val="0"/>
              </a:spcAft>
              <a:buFont typeface="Wingdings" panose="05000000000000000000" pitchFamily="2" charset="2"/>
              <a:buNone/>
              <a:defRPr sz="2400" b="0" kern="1200">
                <a:solidFill>
                  <a:srgbClr val="0071C5"/>
                </a:solidFill>
                <a:latin typeface="+mn-lt"/>
                <a:ea typeface="+mn-ea"/>
                <a:cs typeface="Intel Clear" panose="020B0604020203020204" pitchFamily="34" charset="0"/>
              </a:defRPr>
            </a:lvl1pPr>
            <a:lvl2pPr marL="300559" indent="-300559" algn="l" defTabSz="609585" rtl="0" eaLnBrk="1" latinLnBrk="0" hangingPunct="1">
              <a:spcBef>
                <a:spcPts val="1600"/>
              </a:spcBef>
              <a:buFont typeface="Wingdings" charset="2"/>
              <a:buChar char="§"/>
              <a:defRPr sz="2133" kern="1200" baseline="0">
                <a:solidFill>
                  <a:srgbClr val="003C71"/>
                </a:solidFill>
                <a:latin typeface="+mn-lt"/>
                <a:ea typeface="+mn-ea"/>
                <a:cs typeface="Intel Clear" panose="020B0604020203020204" pitchFamily="34" charset="0"/>
              </a:defRPr>
            </a:lvl2pPr>
            <a:lvl3pPr marL="761981" indent="-304792" algn="l" defTabSz="609585" rtl="0" eaLnBrk="1" latinLnBrk="0" hangingPunct="1">
              <a:spcBef>
                <a:spcPts val="1067"/>
              </a:spcBef>
              <a:buFont typeface="Intel Clear" panose="020B0604020203020204" pitchFamily="34" charset="0"/>
              <a:buChar char="–"/>
              <a:defRPr sz="2133" kern="1200">
                <a:solidFill>
                  <a:srgbClr val="003C71"/>
                </a:solidFill>
                <a:latin typeface="+mn-lt"/>
                <a:ea typeface="+mn-ea"/>
                <a:cs typeface="Intel Clear" panose="020B0604020203020204" pitchFamily="34" charset="0"/>
              </a:defRPr>
            </a:lvl3pPr>
            <a:lvl4pPr marL="1293252" indent="-304792" algn="l" defTabSz="609585" rtl="0" eaLnBrk="1" latinLnBrk="0" hangingPunct="1">
              <a:spcBef>
                <a:spcPct val="20000"/>
              </a:spcBef>
              <a:buFont typeface="Arial"/>
              <a:buChar char="–"/>
              <a:defRPr sz="1867" kern="1200">
                <a:solidFill>
                  <a:srgbClr val="003C71"/>
                </a:solidFill>
                <a:latin typeface="+mn-lt"/>
                <a:ea typeface="+mn-ea"/>
                <a:cs typeface="Intel Clear" panose="020B0604020203020204" pitchFamily="34" charset="0"/>
              </a:defRPr>
            </a:lvl4pPr>
            <a:lvl5pPr marL="1758907" indent="-304792" algn="l" defTabSz="609585" rtl="0" eaLnBrk="1" latinLnBrk="0" hangingPunct="1">
              <a:spcBef>
                <a:spcPct val="20000"/>
              </a:spcBef>
              <a:buFont typeface="Intel Clear" panose="020B0604020203020204" pitchFamily="34" charset="0"/>
              <a:buChar char="–"/>
              <a:defRPr sz="1867" kern="1200">
                <a:solidFill>
                  <a:srgbClr val="003C71"/>
                </a:solidFill>
                <a:latin typeface="+mn-lt"/>
                <a:ea typeface="+mn-ea"/>
                <a:cs typeface="Intel Clear" panose="020B060402020302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spcBef>
                <a:spcPts val="600"/>
              </a:spcBef>
            </a:pPr>
            <a:r>
              <a:rPr lang="en-US" dirty="0"/>
              <a:t>Shock Strain Gage Placement</a:t>
            </a:r>
          </a:p>
          <a:p>
            <a:pPr lvl="1"/>
            <a:r>
              <a:rPr lang="en-US" dirty="0"/>
              <a:t>Strain gauges are placed following IPC 9703</a:t>
            </a:r>
          </a:p>
          <a:p>
            <a:pPr lvl="1"/>
            <a:r>
              <a:rPr lang="en-US" dirty="0"/>
              <a:t>Strain gages are located on the secondary side of the board at the package corners. </a:t>
            </a:r>
          </a:p>
          <a:p>
            <a:pPr lvl="1"/>
            <a:r>
              <a:rPr lang="en-US" dirty="0"/>
              <a:t>The location of the strain gage is at the intersection of second row and second column of the BGA array (regardless of corner most ball depopulation)</a:t>
            </a:r>
            <a:endParaRPr lang="en-US" dirty="0">
              <a:solidFill>
                <a:srgbClr val="0066FF"/>
              </a:solidFill>
            </a:endParaRPr>
          </a:p>
        </p:txBody>
      </p:sp>
      <p:pic>
        <p:nvPicPr>
          <p:cNvPr id="6" name="Picture 5"/>
          <p:cNvPicPr>
            <a:picLocks noChangeAspect="1"/>
          </p:cNvPicPr>
          <p:nvPr/>
        </p:nvPicPr>
        <p:blipFill>
          <a:blip r:embed="rId2"/>
          <a:srcRect/>
          <a:stretch>
            <a:fillRect/>
          </a:stretch>
        </p:blipFill>
        <p:spPr bwMode="auto">
          <a:xfrm>
            <a:off x="6858000" y="988332"/>
            <a:ext cx="3473585" cy="3274358"/>
          </a:xfrm>
          <a:prstGeom prst="rect">
            <a:avLst/>
          </a:prstGeom>
          <a:noFill/>
          <a:ln w="9525">
            <a:noFill/>
            <a:miter lim="800000"/>
            <a:headEnd/>
            <a:tailEnd/>
          </a:ln>
        </p:spPr>
      </p:pic>
      <p:pic>
        <p:nvPicPr>
          <p:cNvPr id="7" name="Picture 6"/>
          <p:cNvPicPr>
            <a:picLocks noChangeAspect="1"/>
          </p:cNvPicPr>
          <p:nvPr/>
        </p:nvPicPr>
        <p:blipFill>
          <a:blip r:embed="rId3"/>
          <a:stretch>
            <a:fillRect/>
          </a:stretch>
        </p:blipFill>
        <p:spPr>
          <a:xfrm>
            <a:off x="8594792" y="3088053"/>
            <a:ext cx="3249911" cy="3252887"/>
          </a:xfrm>
          <a:prstGeom prst="rect">
            <a:avLst/>
          </a:prstGeom>
        </p:spPr>
      </p:pic>
    </p:spTree>
    <p:extLst>
      <p:ext uri="{BB962C8B-B14F-4D97-AF65-F5344CB8AC3E}">
        <p14:creationId xmlns:p14="http://schemas.microsoft.com/office/powerpoint/2010/main" val="2497277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2556C5-CE8C-6547-B838-EA80C61A4AF7}" type="slidenum">
              <a:rPr lang="en-US" smtClean="0"/>
              <a:pPr/>
              <a:t>13</a:t>
            </a:fld>
            <a:endParaRPr lang="en-US" dirty="0"/>
          </a:p>
        </p:txBody>
      </p:sp>
      <p:sp>
        <p:nvSpPr>
          <p:cNvPr id="3" name="Content Placeholder 2"/>
          <p:cNvSpPr>
            <a:spLocks noGrp="1"/>
          </p:cNvSpPr>
          <p:nvPr>
            <p:ph sz="quarter" idx="13"/>
          </p:nvPr>
        </p:nvSpPr>
        <p:spPr>
          <a:xfrm>
            <a:off x="607484" y="1145116"/>
            <a:ext cx="10970683" cy="4567767"/>
          </a:xfrm>
        </p:spPr>
        <p:txBody>
          <a:bodyPr/>
          <a:lstStyle/>
          <a:p>
            <a:pPr>
              <a:spcBef>
                <a:spcPts val="800"/>
              </a:spcBef>
            </a:pPr>
            <a:r>
              <a:rPr lang="en-US" sz="2133" dirty="0"/>
              <a:t>TC testing was performed per Intel test condition:</a:t>
            </a:r>
          </a:p>
          <a:p>
            <a:pPr marL="380990" indent="-380990">
              <a:spcBef>
                <a:spcPts val="800"/>
              </a:spcBef>
              <a:buFont typeface="Wingdings" panose="05000000000000000000" pitchFamily="2" charset="2"/>
              <a:buChar char="§"/>
            </a:pPr>
            <a:r>
              <a:rPr lang="en-US" sz="2133" dirty="0">
                <a:solidFill>
                  <a:schemeClr val="tx2"/>
                </a:solidFill>
              </a:rPr>
              <a:t>Temp. Cycle-T (TCT) range: -40</a:t>
            </a:r>
            <a:r>
              <a:rPr lang="en-US" sz="2000" dirty="0"/>
              <a:t> ˚ </a:t>
            </a:r>
            <a:r>
              <a:rPr lang="en-US" sz="2133" dirty="0">
                <a:solidFill>
                  <a:schemeClr val="tx2"/>
                </a:solidFill>
              </a:rPr>
              <a:t>C to 100</a:t>
            </a:r>
            <a:r>
              <a:rPr lang="en-US" sz="2000" dirty="0"/>
              <a:t> ˚ </a:t>
            </a:r>
            <a:r>
              <a:rPr lang="en-US" sz="2133" dirty="0">
                <a:solidFill>
                  <a:schemeClr val="tx2"/>
                </a:solidFill>
              </a:rPr>
              <a:t>C</a:t>
            </a:r>
          </a:p>
          <a:p>
            <a:pPr marL="681550" lvl="1" indent="-380990">
              <a:spcBef>
                <a:spcPts val="800"/>
              </a:spcBef>
              <a:buFont typeface="Courier New" panose="02070309020205020404" pitchFamily="49" charset="0"/>
              <a:buChar char="o"/>
            </a:pPr>
            <a:r>
              <a:rPr lang="en-US" sz="1867" dirty="0"/>
              <a:t>15min dwell; 1 hour cycle</a:t>
            </a:r>
          </a:p>
          <a:p>
            <a:pPr marL="681550" lvl="1" indent="-380990">
              <a:spcBef>
                <a:spcPts val="800"/>
              </a:spcBef>
              <a:buFont typeface="Courier New" panose="02070309020205020404" pitchFamily="49" charset="0"/>
              <a:buChar char="o"/>
            </a:pPr>
            <a:r>
              <a:rPr lang="en-US" sz="1867" dirty="0"/>
              <a:t>In-situ electrical monitoring of the daisy chain</a:t>
            </a:r>
          </a:p>
          <a:p>
            <a:pPr marL="681550" lvl="1" indent="-380990">
              <a:spcBef>
                <a:spcPts val="800"/>
              </a:spcBef>
              <a:buFont typeface="Courier New" panose="02070309020205020404" pitchFamily="49" charset="0"/>
              <a:buChar char="o"/>
            </a:pPr>
            <a:r>
              <a:rPr lang="en-US" sz="1867" dirty="0"/>
              <a:t>Intel Enabling Test Board (ETB) design</a:t>
            </a:r>
          </a:p>
          <a:p>
            <a:pPr marL="681550" lvl="1" indent="-380990">
              <a:spcBef>
                <a:spcPts val="800"/>
              </a:spcBef>
              <a:buFont typeface="Courier New" panose="02070309020205020404" pitchFamily="49" charset="0"/>
              <a:buChar char="o"/>
            </a:pPr>
            <a:r>
              <a:rPr lang="en-US" sz="1867" dirty="0"/>
              <a:t>No adhesives</a:t>
            </a:r>
          </a:p>
          <a:p>
            <a:pPr marL="380990" indent="-380990">
              <a:spcBef>
                <a:spcPts val="800"/>
              </a:spcBef>
              <a:buFont typeface="Wingdings" panose="05000000000000000000" pitchFamily="2" charset="2"/>
              <a:buChar char="§"/>
            </a:pPr>
            <a:r>
              <a:rPr lang="en-US" sz="1867" dirty="0">
                <a:solidFill>
                  <a:schemeClr val="tx2"/>
                </a:solidFill>
              </a:rPr>
              <a:t>TCT requirements based on standards from client market</a:t>
            </a:r>
          </a:p>
          <a:p>
            <a:pPr marL="681550" lvl="1" indent="-380990">
              <a:spcBef>
                <a:spcPts val="800"/>
              </a:spcBef>
              <a:buFont typeface="Courier New" panose="02070309020205020404" pitchFamily="49" charset="0"/>
              <a:buChar char="o"/>
            </a:pPr>
            <a:r>
              <a:rPr lang="en-US" sz="1867" dirty="0"/>
              <a:t>Number of TCT cycles for desktop - use condition base</a:t>
            </a:r>
          </a:p>
          <a:p>
            <a:pPr marL="681550" lvl="1" indent="-380990">
              <a:spcBef>
                <a:spcPts val="800"/>
              </a:spcBef>
              <a:buFont typeface="Courier New" panose="02070309020205020404" pitchFamily="49" charset="0"/>
              <a:buChar char="o"/>
            </a:pPr>
            <a:r>
              <a:rPr lang="en-US" sz="1867" dirty="0"/>
              <a:t>Failure criteria - 1000 ohm resistance increase</a:t>
            </a:r>
          </a:p>
          <a:p>
            <a:pPr marL="681550" lvl="1" indent="-380990">
              <a:spcBef>
                <a:spcPts val="800"/>
              </a:spcBef>
              <a:buFont typeface="Courier New" panose="02070309020205020404" pitchFamily="49" charset="0"/>
              <a:buChar char="o"/>
            </a:pPr>
            <a:r>
              <a:rPr lang="en-US" sz="1867" dirty="0"/>
              <a:t>Test-to-Fail (TTF) </a:t>
            </a:r>
            <a:r>
              <a:rPr lang="en-US" sz="1867" dirty="0">
                <a:solidFill>
                  <a:schemeClr val="accent2">
                    <a:lumMod val="50000"/>
                  </a:schemeClr>
                </a:solidFill>
              </a:rPr>
              <a:t>until 60% of the population fails</a:t>
            </a:r>
          </a:p>
          <a:p>
            <a:pPr marL="380991" indent="-380990">
              <a:spcBef>
                <a:spcPts val="800"/>
              </a:spcBef>
              <a:buFont typeface="Courier New" panose="02070309020205020404" pitchFamily="49" charset="0"/>
              <a:buChar char="o"/>
            </a:pPr>
            <a:r>
              <a:rPr lang="en-US" sz="1867" dirty="0">
                <a:solidFill>
                  <a:schemeClr val="accent2">
                    <a:lumMod val="50000"/>
                  </a:schemeClr>
                </a:solidFill>
              </a:rPr>
              <a:t>Other stresses are used as needed based on technical need and product specific use condition</a:t>
            </a:r>
          </a:p>
        </p:txBody>
      </p:sp>
      <p:sp>
        <p:nvSpPr>
          <p:cNvPr id="4" name="Title 3"/>
          <p:cNvSpPr>
            <a:spLocks noGrp="1"/>
          </p:cNvSpPr>
          <p:nvPr>
            <p:ph type="title"/>
          </p:nvPr>
        </p:nvSpPr>
        <p:spPr/>
        <p:txBody>
          <a:bodyPr/>
          <a:lstStyle/>
          <a:p>
            <a:r>
              <a:rPr lang="en-US" dirty="0"/>
              <a:t>Client Temperature Cycle (TC) Test</a:t>
            </a:r>
          </a:p>
        </p:txBody>
      </p:sp>
    </p:spTree>
    <p:extLst>
      <p:ext uri="{BB962C8B-B14F-4D97-AF65-F5344CB8AC3E}">
        <p14:creationId xmlns:p14="http://schemas.microsoft.com/office/powerpoint/2010/main" val="1992025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 Proprietary SJR Modeling Methodology Example</a:t>
            </a:r>
            <a:endParaRPr lang="en-US" dirty="0">
              <a:solidFill>
                <a:schemeClr val="accent6"/>
              </a:solidFill>
            </a:endParaRPr>
          </a:p>
        </p:txBody>
      </p:sp>
      <p:sp>
        <p:nvSpPr>
          <p:cNvPr id="4" name="Slide Number Placeholder 3"/>
          <p:cNvSpPr>
            <a:spLocks noGrp="1"/>
          </p:cNvSpPr>
          <p:nvPr>
            <p:ph type="sldNum" sz="quarter" idx="12"/>
          </p:nvPr>
        </p:nvSpPr>
        <p:spPr/>
        <p:txBody>
          <a:bodyPr/>
          <a:lstStyle/>
          <a:p>
            <a:fld id="{EE2556C5-CE8C-6547-B838-EA80C61A4AF7}" type="slidenum">
              <a:rPr lang="en-US" smtClean="0"/>
              <a:pPr/>
              <a:t>14</a:t>
            </a:fld>
            <a:endParaRPr lang="en-US" dirty="0"/>
          </a:p>
        </p:txBody>
      </p:sp>
      <p:pic>
        <p:nvPicPr>
          <p:cNvPr id="17" name="Picture 16"/>
          <p:cNvPicPr>
            <a:picLocks noChangeAspect="1"/>
          </p:cNvPicPr>
          <p:nvPr/>
        </p:nvPicPr>
        <p:blipFill>
          <a:blip r:embed="rId2"/>
          <a:stretch>
            <a:fillRect/>
          </a:stretch>
        </p:blipFill>
        <p:spPr>
          <a:xfrm>
            <a:off x="1386447" y="1737182"/>
            <a:ext cx="9558119" cy="4325290"/>
          </a:xfrm>
          <a:prstGeom prst="rect">
            <a:avLst/>
          </a:prstGeom>
        </p:spPr>
      </p:pic>
    </p:spTree>
    <p:extLst>
      <p:ext uri="{BB962C8B-B14F-4D97-AF65-F5344CB8AC3E}">
        <p14:creationId xmlns:p14="http://schemas.microsoft.com/office/powerpoint/2010/main" val="3414741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5519643"/>
      </p:ext>
    </p:extLst>
  </p:cSld>
  <p:clrMapOvr>
    <a:masterClrMapping/>
  </p:clrMapOvr>
</p:sld>
</file>

<file path=ppt/theme/theme1.xml><?xml version="1.0" encoding="utf-8"?>
<a:theme xmlns:a="http://schemas.openxmlformats.org/drawingml/2006/main" name="Int_PPT Template_ClearPro_16x9">
  <a:themeElements>
    <a:clrScheme name="Custom 2">
      <a:dk1>
        <a:sysClr val="windowText" lastClr="000000"/>
      </a:dk1>
      <a:lt1>
        <a:sysClr val="window" lastClr="FFFFFF"/>
      </a:lt1>
      <a:dk2>
        <a:srgbClr val="003C71"/>
      </a:dk2>
      <a:lt2>
        <a:srgbClr val="B1BABF"/>
      </a:lt2>
      <a:accent1>
        <a:srgbClr val="B7D108"/>
      </a:accent1>
      <a:accent2>
        <a:srgbClr val="0071C5"/>
      </a:accent2>
      <a:accent3>
        <a:srgbClr val="009CDA"/>
      </a:accent3>
      <a:accent4>
        <a:srgbClr val="F8D44C"/>
      </a:accent4>
      <a:accent5>
        <a:srgbClr val="FFA400"/>
      </a:accent5>
      <a:accent6>
        <a:srgbClr val="FF4E00"/>
      </a:accent6>
      <a:hlink>
        <a:srgbClr val="C3D600"/>
      </a:hlink>
      <a:folHlink>
        <a:srgbClr val="0071C5"/>
      </a:folHlink>
    </a:clrScheme>
    <a:fontScheme name="Intel Clear">
      <a:majorFont>
        <a:latin typeface="Intel Clear"/>
        <a:ea typeface=""/>
        <a:cs typeface=""/>
      </a:majorFont>
      <a:minorFont>
        <a:latin typeface="Intel Clea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2"/>
          </a:solidFill>
        </a:ln>
        <a:effectLst/>
      </a:spPr>
      <a:bodyPr/>
      <a:lstStyle/>
      <a:style>
        <a:lnRef idx="2">
          <a:schemeClr val="accent1"/>
        </a:lnRef>
        <a:fillRef idx="0">
          <a:schemeClr val="accent1"/>
        </a:fillRef>
        <a:effectRef idx="1">
          <a:schemeClr val="accent1"/>
        </a:effectRef>
        <a:fontRef idx="minor">
          <a:schemeClr val="tx1"/>
        </a:fontRef>
      </a:style>
    </a:lnDef>
    <a:txDef>
      <a:spPr>
        <a:solidFill>
          <a:schemeClr val="bg2">
            <a:lumMod val="20000"/>
            <a:lumOff val="80000"/>
          </a:schemeClr>
        </a:solidFill>
      </a:spPr>
      <a:bodyPr vert="horz" lIns="0" tIns="0" rIns="0" bIns="0" rtlCol="0">
        <a:noAutofit/>
      </a:bodyPr>
      <a:lstStyle>
        <a:defPPr>
          <a:defRPr sz="1100" dirty="0" smtClean="0">
            <a:solidFill>
              <a:srgbClr val="003C71"/>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c4463d611c42fa325f5ca3c445a3aa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a72e8be0cb631526d533f4f6f1b05f42"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Props1.xml><?xml version="1.0" encoding="utf-8"?>
<ds:datastoreItem xmlns:ds="http://schemas.openxmlformats.org/officeDocument/2006/customXml" ds:itemID="{AF7C63C0-8554-41AF-B8F4-FAE2417BB8FE}"/>
</file>

<file path=customXml/itemProps2.xml><?xml version="1.0" encoding="utf-8"?>
<ds:datastoreItem xmlns:ds="http://schemas.openxmlformats.org/officeDocument/2006/customXml" ds:itemID="{2D655405-02F9-4415-BEC8-E03A07E4BB9B}"/>
</file>

<file path=customXml/itemProps3.xml><?xml version="1.0" encoding="utf-8"?>
<ds:datastoreItem xmlns:ds="http://schemas.openxmlformats.org/officeDocument/2006/customXml" ds:itemID="{6F4666C0-7B42-40EA-9170-6BD4C05AA980}"/>
</file>

<file path=docProps/app.xml><?xml version="1.0" encoding="utf-8"?>
<Properties xmlns="http://schemas.openxmlformats.org/officeDocument/2006/extended-properties" xmlns:vt="http://schemas.openxmlformats.org/officeDocument/2006/docPropsVTypes">
  <Template/>
  <TotalTime>63805</TotalTime>
  <Words>1427</Words>
  <Application>Microsoft Office PowerPoint</Application>
  <PresentationFormat>Widescreen</PresentationFormat>
  <Paragraphs>130</Paragraphs>
  <Slides>15</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Cambria Math</vt:lpstr>
      <vt:lpstr>Courier New</vt:lpstr>
      <vt:lpstr>Intel Clear</vt:lpstr>
      <vt:lpstr>Intel Clear Pro</vt:lpstr>
      <vt:lpstr>Wingdings</vt:lpstr>
      <vt:lpstr>Int_PPT Template_ClearPro_16x9</vt:lpstr>
      <vt:lpstr>BGA Desktop Use Condition and Expectation</vt:lpstr>
      <vt:lpstr>Legal Disclaimer</vt:lpstr>
      <vt:lpstr>Background</vt:lpstr>
      <vt:lpstr>Solder Joint Reliability Fundamentals</vt:lpstr>
      <vt:lpstr>Solder Joint Reliability Overview</vt:lpstr>
      <vt:lpstr>BGA Desktop Survey</vt:lpstr>
      <vt:lpstr>JEDEC Standard Temperature Cycle</vt:lpstr>
      <vt:lpstr>Backup</vt:lpstr>
      <vt:lpstr>Norris-Landzberg Model</vt:lpstr>
      <vt:lpstr>Weibull Distribution</vt:lpstr>
      <vt:lpstr>Client Shock Certification Test Setup</vt:lpstr>
      <vt:lpstr>Shock Strain Gauge Placement</vt:lpstr>
      <vt:lpstr>Client Temperature Cycle (TC) Test</vt:lpstr>
      <vt:lpstr>Intel Proprietary SJR Modeling Methodology Example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Ramachandran, Ramya</dc:creator>
  <cp:keywords>CTPClassification=CTP_NT</cp:keywords>
  <cp:lastModifiedBy>Chu, Ximo</cp:lastModifiedBy>
  <cp:revision>676</cp:revision>
  <dcterms:created xsi:type="dcterms:W3CDTF">2018-03-21T18:32:05Z</dcterms:created>
  <dcterms:modified xsi:type="dcterms:W3CDTF">2021-04-16T00:48:30Z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cc65da4f-1c3a-4af1-a323-12330aebbcdf</vt:lpwstr>
  </property>
  <property fmtid="{D5CDD505-2E9C-101B-9397-08002B2CF9AE}" pid="3" name="CTP_TimeStamp">
    <vt:lpwstr>2020-08-07 02:20:40Z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