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46"/>
  </p:notesMasterIdLst>
  <p:handoutMasterIdLst>
    <p:handoutMasterId r:id="rId47"/>
  </p:handoutMasterIdLst>
  <p:sldIdLst>
    <p:sldId id="257" r:id="rId5"/>
    <p:sldId id="278" r:id="rId6"/>
    <p:sldId id="259" r:id="rId7"/>
    <p:sldId id="306" r:id="rId8"/>
    <p:sldId id="308" r:id="rId9"/>
    <p:sldId id="317" r:id="rId10"/>
    <p:sldId id="318" r:id="rId11"/>
    <p:sldId id="309" r:id="rId12"/>
    <p:sldId id="319" r:id="rId13"/>
    <p:sldId id="305" r:id="rId14"/>
    <p:sldId id="307" r:id="rId15"/>
    <p:sldId id="310" r:id="rId16"/>
    <p:sldId id="292" r:id="rId17"/>
    <p:sldId id="289" r:id="rId18"/>
    <p:sldId id="296" r:id="rId19"/>
    <p:sldId id="295" r:id="rId20"/>
    <p:sldId id="297" r:id="rId21"/>
    <p:sldId id="298" r:id="rId22"/>
    <p:sldId id="303" r:id="rId23"/>
    <p:sldId id="300" r:id="rId24"/>
    <p:sldId id="304" r:id="rId25"/>
    <p:sldId id="279" r:id="rId26"/>
    <p:sldId id="265" r:id="rId27"/>
    <p:sldId id="266" r:id="rId28"/>
    <p:sldId id="280" r:id="rId29"/>
    <p:sldId id="281" r:id="rId30"/>
    <p:sldId id="282" r:id="rId31"/>
    <p:sldId id="284" r:id="rId32"/>
    <p:sldId id="285" r:id="rId33"/>
    <p:sldId id="286" r:id="rId34"/>
    <p:sldId id="287" r:id="rId35"/>
    <p:sldId id="288" r:id="rId36"/>
    <p:sldId id="290" r:id="rId37"/>
    <p:sldId id="291" r:id="rId38"/>
    <p:sldId id="316" r:id="rId39"/>
    <p:sldId id="311" r:id="rId40"/>
    <p:sldId id="315" r:id="rId41"/>
    <p:sldId id="321" r:id="rId42"/>
    <p:sldId id="320" r:id="rId43"/>
    <p:sldId id="312" r:id="rId44"/>
    <p:sldId id="314" r:id="rId45"/>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k, Tzee Sing" initials="MTS" lastIdx="2" clrIdx="0">
    <p:extLst>
      <p:ext uri="{19B8F6BF-5375-455C-9EA6-DF929625EA0E}">
        <p15:presenceInfo xmlns:p15="http://schemas.microsoft.com/office/powerpoint/2012/main" userId="S::tzee.sing.mak@intel.com::a01bf18c-cf63-40f1-b76e-fd264d25c95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FF33"/>
    <a:srgbClr val="66FF33"/>
    <a:srgbClr val="99FF33"/>
    <a:srgbClr val="FC6467"/>
    <a:srgbClr val="0068B5"/>
    <a:srgbClr val="0000FF"/>
    <a:srgbClr val="00C7FD"/>
    <a:srgbClr val="2872C5"/>
    <a:srgbClr val="52525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318D17-C1C0-4F0A-ACBE-03E3C128B3B0}" v="101" dt="2020-11-11T03:15:05.558"/>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71" autoAdjust="0"/>
    <p:restoredTop sz="95319" autoAdjust="0"/>
  </p:normalViewPr>
  <p:slideViewPr>
    <p:cSldViewPr snapToGrid="0" snapToObjects="1">
      <p:cViewPr varScale="1">
        <p:scale>
          <a:sx n="79" d="100"/>
          <a:sy n="79" d="100"/>
        </p:scale>
        <p:origin x="1027" y="90"/>
      </p:cViewPr>
      <p:guideLst>
        <p:guide orient="horz" pos="4032"/>
        <p:guide pos="739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59" d="100"/>
          <a:sy n="59" d="100"/>
        </p:scale>
        <p:origin x="1603" y="6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k, Tzee Sing" userId="a01bf18c-cf63-40f1-b76e-fd264d25c957" providerId="ADAL" clId="{40318D17-C1C0-4F0A-ACBE-03E3C128B3B0}"/>
    <pc:docChg chg="undo redo custSel addSld modSld sldOrd">
      <pc:chgData name="Mak, Tzee Sing" userId="a01bf18c-cf63-40f1-b76e-fd264d25c957" providerId="ADAL" clId="{40318D17-C1C0-4F0A-ACBE-03E3C128B3B0}" dt="2020-11-11T03:25:02.957" v="4000" actId="1035"/>
      <pc:docMkLst>
        <pc:docMk/>
      </pc:docMkLst>
      <pc:sldChg chg="modSp">
        <pc:chgData name="Mak, Tzee Sing" userId="a01bf18c-cf63-40f1-b76e-fd264d25c957" providerId="ADAL" clId="{40318D17-C1C0-4F0A-ACBE-03E3C128B3B0}" dt="2020-11-10T08:41:40.429" v="3613" actId="1035"/>
        <pc:sldMkLst>
          <pc:docMk/>
          <pc:sldMk cId="2337698843" sldId="281"/>
        </pc:sldMkLst>
        <pc:spChg chg="mod">
          <ac:chgData name="Mak, Tzee Sing" userId="a01bf18c-cf63-40f1-b76e-fd264d25c957" providerId="ADAL" clId="{40318D17-C1C0-4F0A-ACBE-03E3C128B3B0}" dt="2020-11-10T08:41:40.429" v="3613" actId="1035"/>
          <ac:spMkLst>
            <pc:docMk/>
            <pc:sldMk cId="2337698843" sldId="281"/>
            <ac:spMk id="6" creationId="{C7C468BD-F8D6-4406-9251-675CFF030B7F}"/>
          </ac:spMkLst>
        </pc:spChg>
      </pc:sldChg>
      <pc:sldChg chg="modSp">
        <pc:chgData name="Mak, Tzee Sing" userId="a01bf18c-cf63-40f1-b76e-fd264d25c957" providerId="ADAL" clId="{40318D17-C1C0-4F0A-ACBE-03E3C128B3B0}" dt="2020-11-10T08:41:52.438" v="3623" actId="1035"/>
        <pc:sldMkLst>
          <pc:docMk/>
          <pc:sldMk cId="39980786" sldId="285"/>
        </pc:sldMkLst>
        <pc:spChg chg="mod">
          <ac:chgData name="Mak, Tzee Sing" userId="a01bf18c-cf63-40f1-b76e-fd264d25c957" providerId="ADAL" clId="{40318D17-C1C0-4F0A-ACBE-03E3C128B3B0}" dt="2020-11-10T08:41:52.438" v="3623" actId="1035"/>
          <ac:spMkLst>
            <pc:docMk/>
            <pc:sldMk cId="39980786" sldId="285"/>
            <ac:spMk id="6" creationId="{277D4F7F-2B58-421E-BCE2-D1302D23F034}"/>
          </ac:spMkLst>
        </pc:spChg>
      </pc:sldChg>
      <pc:sldChg chg="modSp">
        <pc:chgData name="Mak, Tzee Sing" userId="a01bf18c-cf63-40f1-b76e-fd264d25c957" providerId="ADAL" clId="{40318D17-C1C0-4F0A-ACBE-03E3C128B3B0}" dt="2020-11-10T08:41:56.064" v="3631" actId="1035"/>
        <pc:sldMkLst>
          <pc:docMk/>
          <pc:sldMk cId="4247796564" sldId="286"/>
        </pc:sldMkLst>
        <pc:spChg chg="mod">
          <ac:chgData name="Mak, Tzee Sing" userId="a01bf18c-cf63-40f1-b76e-fd264d25c957" providerId="ADAL" clId="{40318D17-C1C0-4F0A-ACBE-03E3C128B3B0}" dt="2020-11-10T08:41:56.064" v="3631" actId="1035"/>
          <ac:spMkLst>
            <pc:docMk/>
            <pc:sldMk cId="4247796564" sldId="286"/>
            <ac:spMk id="6" creationId="{802799F0-117C-4580-A1B0-A7DD43295204}"/>
          </ac:spMkLst>
        </pc:spChg>
      </pc:sldChg>
      <pc:sldChg chg="modSp">
        <pc:chgData name="Mak, Tzee Sing" userId="a01bf18c-cf63-40f1-b76e-fd264d25c957" providerId="ADAL" clId="{40318D17-C1C0-4F0A-ACBE-03E3C128B3B0}" dt="2020-11-10T08:42:00.174" v="3639" actId="1035"/>
        <pc:sldMkLst>
          <pc:docMk/>
          <pc:sldMk cId="2503978701" sldId="287"/>
        </pc:sldMkLst>
        <pc:spChg chg="mod">
          <ac:chgData name="Mak, Tzee Sing" userId="a01bf18c-cf63-40f1-b76e-fd264d25c957" providerId="ADAL" clId="{40318D17-C1C0-4F0A-ACBE-03E3C128B3B0}" dt="2020-11-10T08:42:00.174" v="3639" actId="1035"/>
          <ac:spMkLst>
            <pc:docMk/>
            <pc:sldMk cId="2503978701" sldId="287"/>
            <ac:spMk id="6" creationId="{23EF2FBC-08E3-4F82-9E2A-C9020B579940}"/>
          </ac:spMkLst>
        </pc:spChg>
      </pc:sldChg>
      <pc:sldChg chg="modSp">
        <pc:chgData name="Mak, Tzee Sing" userId="a01bf18c-cf63-40f1-b76e-fd264d25c957" providerId="ADAL" clId="{40318D17-C1C0-4F0A-ACBE-03E3C128B3B0}" dt="2020-11-10T08:42:04.007" v="3647" actId="1035"/>
        <pc:sldMkLst>
          <pc:docMk/>
          <pc:sldMk cId="3748719030" sldId="288"/>
        </pc:sldMkLst>
        <pc:spChg chg="mod">
          <ac:chgData name="Mak, Tzee Sing" userId="a01bf18c-cf63-40f1-b76e-fd264d25c957" providerId="ADAL" clId="{40318D17-C1C0-4F0A-ACBE-03E3C128B3B0}" dt="2020-11-10T08:42:04.007" v="3647" actId="1035"/>
          <ac:spMkLst>
            <pc:docMk/>
            <pc:sldMk cId="3748719030" sldId="288"/>
            <ac:spMk id="6" creationId="{F6545A40-960A-4031-BF8B-730B41729805}"/>
          </ac:spMkLst>
        </pc:spChg>
      </pc:sldChg>
      <pc:sldChg chg="modSp">
        <pc:chgData name="Mak, Tzee Sing" userId="a01bf18c-cf63-40f1-b76e-fd264d25c957" providerId="ADAL" clId="{40318D17-C1C0-4F0A-ACBE-03E3C128B3B0}" dt="2020-11-10T08:42:08.654" v="3657" actId="1035"/>
        <pc:sldMkLst>
          <pc:docMk/>
          <pc:sldMk cId="1281992114" sldId="290"/>
        </pc:sldMkLst>
        <pc:spChg chg="mod">
          <ac:chgData name="Mak, Tzee Sing" userId="a01bf18c-cf63-40f1-b76e-fd264d25c957" providerId="ADAL" clId="{40318D17-C1C0-4F0A-ACBE-03E3C128B3B0}" dt="2020-11-10T08:42:08.654" v="3657" actId="1035"/>
          <ac:spMkLst>
            <pc:docMk/>
            <pc:sldMk cId="1281992114" sldId="290"/>
            <ac:spMk id="6" creationId="{4BFFB81D-7BA5-4B8A-AFF0-7859BD1000D2}"/>
          </ac:spMkLst>
        </pc:spChg>
      </pc:sldChg>
      <pc:sldChg chg="modSp">
        <pc:chgData name="Mak, Tzee Sing" userId="a01bf18c-cf63-40f1-b76e-fd264d25c957" providerId="ADAL" clId="{40318D17-C1C0-4F0A-ACBE-03E3C128B3B0}" dt="2020-11-10T08:41:31.928" v="3600" actId="1035"/>
        <pc:sldMkLst>
          <pc:docMk/>
          <pc:sldMk cId="3791134066" sldId="304"/>
        </pc:sldMkLst>
        <pc:spChg chg="mod">
          <ac:chgData name="Mak, Tzee Sing" userId="a01bf18c-cf63-40f1-b76e-fd264d25c957" providerId="ADAL" clId="{40318D17-C1C0-4F0A-ACBE-03E3C128B3B0}" dt="2020-11-10T08:41:31.928" v="3600" actId="1035"/>
          <ac:spMkLst>
            <pc:docMk/>
            <pc:sldMk cId="3791134066" sldId="304"/>
            <ac:spMk id="6" creationId="{2B773A1A-904C-4A4A-8BA2-C6FCE23C47C5}"/>
          </ac:spMkLst>
        </pc:spChg>
      </pc:sldChg>
      <pc:sldChg chg="modSp">
        <pc:chgData name="Mak, Tzee Sing" userId="a01bf18c-cf63-40f1-b76e-fd264d25c957" providerId="ADAL" clId="{40318D17-C1C0-4F0A-ACBE-03E3C128B3B0}" dt="2020-11-10T08:20:21.486" v="3179" actId="404"/>
        <pc:sldMkLst>
          <pc:docMk/>
          <pc:sldMk cId="2472131551" sldId="305"/>
        </pc:sldMkLst>
        <pc:spChg chg="mod">
          <ac:chgData name="Mak, Tzee Sing" userId="a01bf18c-cf63-40f1-b76e-fd264d25c957" providerId="ADAL" clId="{40318D17-C1C0-4F0A-ACBE-03E3C128B3B0}" dt="2020-11-10T08:20:21.486" v="3179" actId="404"/>
          <ac:spMkLst>
            <pc:docMk/>
            <pc:sldMk cId="2472131551" sldId="305"/>
            <ac:spMk id="3" creationId="{1B9A7CA8-C9B3-46D7-9DB3-0753843309BD}"/>
          </ac:spMkLst>
        </pc:spChg>
      </pc:sldChg>
      <pc:sldChg chg="addSp delSp modSp">
        <pc:chgData name="Mak, Tzee Sing" userId="a01bf18c-cf63-40f1-b76e-fd264d25c957" providerId="ADAL" clId="{40318D17-C1C0-4F0A-ACBE-03E3C128B3B0}" dt="2020-11-11T03:14:53.958" v="3939" actId="207"/>
        <pc:sldMkLst>
          <pc:docMk/>
          <pc:sldMk cId="512674743" sldId="309"/>
        </pc:sldMkLst>
        <pc:spChg chg="mod">
          <ac:chgData name="Mak, Tzee Sing" userId="a01bf18c-cf63-40f1-b76e-fd264d25c957" providerId="ADAL" clId="{40318D17-C1C0-4F0A-ACBE-03E3C128B3B0}" dt="2020-11-10T03:34:33.624" v="4" actId="20577"/>
          <ac:spMkLst>
            <pc:docMk/>
            <pc:sldMk cId="512674743" sldId="309"/>
            <ac:spMk id="2" creationId="{E3F84DF0-0AB4-412D-BCC7-DB90DE1C0161}"/>
          </ac:spMkLst>
        </pc:spChg>
        <pc:spChg chg="add del mod">
          <ac:chgData name="Mak, Tzee Sing" userId="a01bf18c-cf63-40f1-b76e-fd264d25c957" providerId="ADAL" clId="{40318D17-C1C0-4F0A-ACBE-03E3C128B3B0}" dt="2020-11-11T03:06:09.376" v="3833"/>
          <ac:spMkLst>
            <pc:docMk/>
            <pc:sldMk cId="512674743" sldId="309"/>
            <ac:spMk id="6" creationId="{6DB74ED8-CDC9-4E67-B9B4-7C2C269EA766}"/>
          </ac:spMkLst>
        </pc:spChg>
        <pc:spChg chg="del">
          <ac:chgData name="Mak, Tzee Sing" userId="a01bf18c-cf63-40f1-b76e-fd264d25c957" providerId="ADAL" clId="{40318D17-C1C0-4F0A-ACBE-03E3C128B3B0}" dt="2020-11-10T03:34:51.514" v="10" actId="478"/>
          <ac:spMkLst>
            <pc:docMk/>
            <pc:sldMk cId="512674743" sldId="309"/>
            <ac:spMk id="7" creationId="{34723EF9-C3D3-4F07-9412-0035609C309D}"/>
          </ac:spMkLst>
        </pc:spChg>
        <pc:spChg chg="add mod">
          <ac:chgData name="Mak, Tzee Sing" userId="a01bf18c-cf63-40f1-b76e-fd264d25c957" providerId="ADAL" clId="{40318D17-C1C0-4F0A-ACBE-03E3C128B3B0}" dt="2020-11-11T03:14:53.958" v="3939" actId="207"/>
          <ac:spMkLst>
            <pc:docMk/>
            <pc:sldMk cId="512674743" sldId="309"/>
            <ac:spMk id="7" creationId="{DF020DCA-120D-4093-A81E-9B839947446E}"/>
          </ac:spMkLst>
        </pc:spChg>
        <pc:spChg chg="del">
          <ac:chgData name="Mak, Tzee Sing" userId="a01bf18c-cf63-40f1-b76e-fd264d25c957" providerId="ADAL" clId="{40318D17-C1C0-4F0A-ACBE-03E3C128B3B0}" dt="2020-11-10T03:35:03.529" v="12" actId="478"/>
          <ac:spMkLst>
            <pc:docMk/>
            <pc:sldMk cId="512674743" sldId="309"/>
            <ac:spMk id="8" creationId="{2D8DEE74-4746-416D-99CC-750778957C53}"/>
          </ac:spMkLst>
        </pc:spChg>
        <pc:spChg chg="del">
          <ac:chgData name="Mak, Tzee Sing" userId="a01bf18c-cf63-40f1-b76e-fd264d25c957" providerId="ADAL" clId="{40318D17-C1C0-4F0A-ACBE-03E3C128B3B0}" dt="2020-11-10T03:35:03.529" v="12" actId="478"/>
          <ac:spMkLst>
            <pc:docMk/>
            <pc:sldMk cId="512674743" sldId="309"/>
            <ac:spMk id="9" creationId="{BE696F74-8FB4-41A0-A5F1-EE26373BDC79}"/>
          </ac:spMkLst>
        </pc:spChg>
        <pc:spChg chg="mod">
          <ac:chgData name="Mak, Tzee Sing" userId="a01bf18c-cf63-40f1-b76e-fd264d25c957" providerId="ADAL" clId="{40318D17-C1C0-4F0A-ACBE-03E3C128B3B0}" dt="2020-11-11T03:10:14.372" v="3882" actId="1076"/>
          <ac:spMkLst>
            <pc:docMk/>
            <pc:sldMk cId="512674743" sldId="309"/>
            <ac:spMk id="10" creationId="{E59629A1-4BC8-415F-80C6-F351E80F8335}"/>
          </ac:spMkLst>
        </pc:spChg>
        <pc:spChg chg="del">
          <ac:chgData name="Mak, Tzee Sing" userId="a01bf18c-cf63-40f1-b76e-fd264d25c957" providerId="ADAL" clId="{40318D17-C1C0-4F0A-ACBE-03E3C128B3B0}" dt="2020-11-10T03:34:44.233" v="9" actId="478"/>
          <ac:spMkLst>
            <pc:docMk/>
            <pc:sldMk cId="512674743" sldId="309"/>
            <ac:spMk id="11" creationId="{6D9420D9-80C8-447C-BCB8-8A7C3E2CBD7D}"/>
          </ac:spMkLst>
        </pc:spChg>
        <pc:spChg chg="mod">
          <ac:chgData name="Mak, Tzee Sing" userId="a01bf18c-cf63-40f1-b76e-fd264d25c957" providerId="ADAL" clId="{40318D17-C1C0-4F0A-ACBE-03E3C128B3B0}" dt="2020-11-10T08:32:45.199" v="3446" actId="1035"/>
          <ac:spMkLst>
            <pc:docMk/>
            <pc:sldMk cId="512674743" sldId="309"/>
            <ac:spMk id="13" creationId="{DC1A5D59-5616-4960-9D2C-0707E7064FD4}"/>
          </ac:spMkLst>
        </pc:spChg>
        <pc:graphicFrameChg chg="mod modGraphic">
          <ac:chgData name="Mak, Tzee Sing" userId="a01bf18c-cf63-40f1-b76e-fd264d25c957" providerId="ADAL" clId="{40318D17-C1C0-4F0A-ACBE-03E3C128B3B0}" dt="2020-11-11T03:10:52.617" v="3884" actId="2165"/>
          <ac:graphicFrameMkLst>
            <pc:docMk/>
            <pc:sldMk cId="512674743" sldId="309"/>
            <ac:graphicFrameMk id="4" creationId="{6168C7AE-7D1D-418C-ADFC-4FEC77C3EF26}"/>
          </ac:graphicFrameMkLst>
        </pc:graphicFrameChg>
      </pc:sldChg>
      <pc:sldChg chg="ord">
        <pc:chgData name="Mak, Tzee Sing" userId="a01bf18c-cf63-40f1-b76e-fd264d25c957" providerId="ADAL" clId="{40318D17-C1C0-4F0A-ACBE-03E3C128B3B0}" dt="2020-11-11T03:12:49.681" v="3938"/>
        <pc:sldMkLst>
          <pc:docMk/>
          <pc:sldMk cId="1569816166" sldId="312"/>
        </pc:sldMkLst>
      </pc:sldChg>
      <pc:sldChg chg="addSp delSp ord">
        <pc:chgData name="Mak, Tzee Sing" userId="a01bf18c-cf63-40f1-b76e-fd264d25c957" providerId="ADAL" clId="{40318D17-C1C0-4F0A-ACBE-03E3C128B3B0}" dt="2020-11-11T03:12:49.681" v="3938"/>
        <pc:sldMkLst>
          <pc:docMk/>
          <pc:sldMk cId="1262008722" sldId="314"/>
        </pc:sldMkLst>
        <pc:spChg chg="del">
          <ac:chgData name="Mak, Tzee Sing" userId="a01bf18c-cf63-40f1-b76e-fd264d25c957" providerId="ADAL" clId="{40318D17-C1C0-4F0A-ACBE-03E3C128B3B0}" dt="2020-11-10T04:04:19.639" v="558" actId="478"/>
          <ac:spMkLst>
            <pc:docMk/>
            <pc:sldMk cId="1262008722" sldId="314"/>
            <ac:spMk id="21" creationId="{69518202-05DC-4BC9-809A-3D1BC763B3A4}"/>
          </ac:spMkLst>
        </pc:spChg>
        <pc:spChg chg="add">
          <ac:chgData name="Mak, Tzee Sing" userId="a01bf18c-cf63-40f1-b76e-fd264d25c957" providerId="ADAL" clId="{40318D17-C1C0-4F0A-ACBE-03E3C128B3B0}" dt="2020-11-10T04:04:19.957" v="559"/>
          <ac:spMkLst>
            <pc:docMk/>
            <pc:sldMk cId="1262008722" sldId="314"/>
            <ac:spMk id="30" creationId="{213BA3E2-6AF8-4B0C-ADAE-5B98744B49C6}"/>
          </ac:spMkLst>
        </pc:spChg>
      </pc:sldChg>
      <pc:sldChg chg="ord">
        <pc:chgData name="Mak, Tzee Sing" userId="a01bf18c-cf63-40f1-b76e-fd264d25c957" providerId="ADAL" clId="{40318D17-C1C0-4F0A-ACBE-03E3C128B3B0}" dt="2020-11-11T03:07:21.629" v="3840"/>
        <pc:sldMkLst>
          <pc:docMk/>
          <pc:sldMk cId="1407386360" sldId="315"/>
        </pc:sldMkLst>
      </pc:sldChg>
      <pc:sldChg chg="addSp delSp modSp add">
        <pc:chgData name="Mak, Tzee Sing" userId="a01bf18c-cf63-40f1-b76e-fd264d25c957" providerId="ADAL" clId="{40318D17-C1C0-4F0A-ACBE-03E3C128B3B0}" dt="2020-11-11T03:25:02.957" v="4000" actId="1035"/>
        <pc:sldMkLst>
          <pc:docMk/>
          <pc:sldMk cId="930238333" sldId="319"/>
        </pc:sldMkLst>
        <pc:spChg chg="mod">
          <ac:chgData name="Mak, Tzee Sing" userId="a01bf18c-cf63-40f1-b76e-fd264d25c957" providerId="ADAL" clId="{40318D17-C1C0-4F0A-ACBE-03E3C128B3B0}" dt="2020-11-10T03:34:39.881" v="8" actId="20577"/>
          <ac:spMkLst>
            <pc:docMk/>
            <pc:sldMk cId="930238333" sldId="319"/>
            <ac:spMk id="2" creationId="{E3F84DF0-0AB4-412D-BCC7-DB90DE1C0161}"/>
          </ac:spMkLst>
        </pc:spChg>
        <pc:spChg chg="mod">
          <ac:chgData name="Mak, Tzee Sing" userId="a01bf18c-cf63-40f1-b76e-fd264d25c957" providerId="ADAL" clId="{40318D17-C1C0-4F0A-ACBE-03E3C128B3B0}" dt="2020-11-11T03:18:53.012" v="3983" actId="14100"/>
          <ac:spMkLst>
            <pc:docMk/>
            <pc:sldMk cId="930238333" sldId="319"/>
            <ac:spMk id="7" creationId="{34723EF9-C3D3-4F07-9412-0035609C309D}"/>
          </ac:spMkLst>
        </pc:spChg>
        <pc:spChg chg="mod">
          <ac:chgData name="Mak, Tzee Sing" userId="a01bf18c-cf63-40f1-b76e-fd264d25c957" providerId="ADAL" clId="{40318D17-C1C0-4F0A-ACBE-03E3C128B3B0}" dt="2020-11-11T03:25:02.957" v="4000" actId="1035"/>
          <ac:spMkLst>
            <pc:docMk/>
            <pc:sldMk cId="930238333" sldId="319"/>
            <ac:spMk id="8" creationId="{2D8DEE74-4746-416D-99CC-750778957C53}"/>
          </ac:spMkLst>
        </pc:spChg>
        <pc:spChg chg="add del mod">
          <ac:chgData name="Mak, Tzee Sing" userId="a01bf18c-cf63-40f1-b76e-fd264d25c957" providerId="ADAL" clId="{40318D17-C1C0-4F0A-ACBE-03E3C128B3B0}" dt="2020-11-11T03:15:46.962" v="3956" actId="1036"/>
          <ac:spMkLst>
            <pc:docMk/>
            <pc:sldMk cId="930238333" sldId="319"/>
            <ac:spMk id="9" creationId="{BE696F74-8FB4-41A0-A5F1-EE26373BDC79}"/>
          </ac:spMkLst>
        </pc:spChg>
        <pc:spChg chg="del">
          <ac:chgData name="Mak, Tzee Sing" userId="a01bf18c-cf63-40f1-b76e-fd264d25c957" providerId="ADAL" clId="{40318D17-C1C0-4F0A-ACBE-03E3C128B3B0}" dt="2020-11-10T03:37:18.072" v="32" actId="478"/>
          <ac:spMkLst>
            <pc:docMk/>
            <pc:sldMk cId="930238333" sldId="319"/>
            <ac:spMk id="10" creationId="{E59629A1-4BC8-415F-80C6-F351E80F8335}"/>
          </ac:spMkLst>
        </pc:spChg>
        <pc:spChg chg="mod">
          <ac:chgData name="Mak, Tzee Sing" userId="a01bf18c-cf63-40f1-b76e-fd264d25c957" providerId="ADAL" clId="{40318D17-C1C0-4F0A-ACBE-03E3C128B3B0}" dt="2020-11-10T08:41:20.499" v="3593" actId="1035"/>
          <ac:spMkLst>
            <pc:docMk/>
            <pc:sldMk cId="930238333" sldId="319"/>
            <ac:spMk id="11" creationId="{6D9420D9-80C8-447C-BCB8-8A7C3E2CBD7D}"/>
          </ac:spMkLst>
        </pc:spChg>
        <pc:spChg chg="add del mod">
          <ac:chgData name="Mak, Tzee Sing" userId="a01bf18c-cf63-40f1-b76e-fd264d25c957" providerId="ADAL" clId="{40318D17-C1C0-4F0A-ACBE-03E3C128B3B0}" dt="2020-11-11T03:11:40.796" v="3889"/>
          <ac:spMkLst>
            <pc:docMk/>
            <pc:sldMk cId="930238333" sldId="319"/>
            <ac:spMk id="12" creationId="{2490824B-990E-4DA6-B774-A0263177EC16}"/>
          </ac:spMkLst>
        </pc:spChg>
        <pc:spChg chg="del">
          <ac:chgData name="Mak, Tzee Sing" userId="a01bf18c-cf63-40f1-b76e-fd264d25c957" providerId="ADAL" clId="{40318D17-C1C0-4F0A-ACBE-03E3C128B3B0}" dt="2020-11-10T03:37:18.072" v="32" actId="478"/>
          <ac:spMkLst>
            <pc:docMk/>
            <pc:sldMk cId="930238333" sldId="319"/>
            <ac:spMk id="13" creationId="{DC1A5D59-5616-4960-9D2C-0707E7064FD4}"/>
          </ac:spMkLst>
        </pc:spChg>
        <pc:graphicFrameChg chg="mod modGraphic">
          <ac:chgData name="Mak, Tzee Sing" userId="a01bf18c-cf63-40f1-b76e-fd264d25c957" providerId="ADAL" clId="{40318D17-C1C0-4F0A-ACBE-03E3C128B3B0}" dt="2020-11-11T03:16:19.198" v="3957" actId="6549"/>
          <ac:graphicFrameMkLst>
            <pc:docMk/>
            <pc:sldMk cId="930238333" sldId="319"/>
            <ac:graphicFrameMk id="4" creationId="{6168C7AE-7D1D-418C-ADFC-4FEC77C3EF26}"/>
          </ac:graphicFrameMkLst>
        </pc:graphicFrameChg>
      </pc:sldChg>
      <pc:sldChg chg="addSp delSp modSp add ord">
        <pc:chgData name="Mak, Tzee Sing" userId="a01bf18c-cf63-40f1-b76e-fd264d25c957" providerId="ADAL" clId="{40318D17-C1C0-4F0A-ACBE-03E3C128B3B0}" dt="2020-11-11T03:15:05.558" v="3940" actId="207"/>
        <pc:sldMkLst>
          <pc:docMk/>
          <pc:sldMk cId="3921995959" sldId="320"/>
        </pc:sldMkLst>
        <pc:spChg chg="del">
          <ac:chgData name="Mak, Tzee Sing" userId="a01bf18c-cf63-40f1-b76e-fd264d25c957" providerId="ADAL" clId="{40318D17-C1C0-4F0A-ACBE-03E3C128B3B0}" dt="2020-11-10T03:59:27.853" v="361" actId="478"/>
          <ac:spMkLst>
            <pc:docMk/>
            <pc:sldMk cId="3921995959" sldId="320"/>
            <ac:spMk id="2" creationId="{9647FF2D-83DC-4F79-A56D-AD32F1389E95}"/>
          </ac:spMkLst>
        </pc:spChg>
        <pc:spChg chg="add mod">
          <ac:chgData name="Mak, Tzee Sing" userId="a01bf18c-cf63-40f1-b76e-fd264d25c957" providerId="ADAL" clId="{40318D17-C1C0-4F0A-ACBE-03E3C128B3B0}" dt="2020-11-10T08:29:47.590" v="3379" actId="20577"/>
          <ac:spMkLst>
            <pc:docMk/>
            <pc:sldMk cId="3921995959" sldId="320"/>
            <ac:spMk id="5" creationId="{61D1FAA4-A82A-4BB1-9B22-2E471DB38CB0}"/>
          </ac:spMkLst>
        </pc:spChg>
        <pc:spChg chg="add del mod">
          <ac:chgData name="Mak, Tzee Sing" userId="a01bf18c-cf63-40f1-b76e-fd264d25c957" providerId="ADAL" clId="{40318D17-C1C0-4F0A-ACBE-03E3C128B3B0}" dt="2020-11-10T04:03:02.918" v="548"/>
          <ac:spMkLst>
            <pc:docMk/>
            <pc:sldMk cId="3921995959" sldId="320"/>
            <ac:spMk id="9" creationId="{C01A2183-E9BD-4979-9AF4-60CD99D5CC03}"/>
          </ac:spMkLst>
        </pc:spChg>
        <pc:spChg chg="add mod">
          <ac:chgData name="Mak, Tzee Sing" userId="a01bf18c-cf63-40f1-b76e-fd264d25c957" providerId="ADAL" clId="{40318D17-C1C0-4F0A-ACBE-03E3C128B3B0}" dt="2020-11-10T08:29:26.452" v="3366" actId="14100"/>
          <ac:spMkLst>
            <pc:docMk/>
            <pc:sldMk cId="3921995959" sldId="320"/>
            <ac:spMk id="11" creationId="{6B1A8BE2-6141-40DD-BA2A-9543775DE983}"/>
          </ac:spMkLst>
        </pc:spChg>
        <pc:spChg chg="add del">
          <ac:chgData name="Mak, Tzee Sing" userId="a01bf18c-cf63-40f1-b76e-fd264d25c957" providerId="ADAL" clId="{40318D17-C1C0-4F0A-ACBE-03E3C128B3B0}" dt="2020-11-10T04:05:29.922" v="560" actId="478"/>
          <ac:spMkLst>
            <pc:docMk/>
            <pc:sldMk cId="3921995959" sldId="320"/>
            <ac:spMk id="15" creationId="{5529DFB7-FFE0-42DD-9DB4-9AF4960E2F87}"/>
          </ac:spMkLst>
        </pc:spChg>
        <pc:spChg chg="add mod">
          <ac:chgData name="Mak, Tzee Sing" userId="a01bf18c-cf63-40f1-b76e-fd264d25c957" providerId="ADAL" clId="{40318D17-C1C0-4F0A-ACBE-03E3C128B3B0}" dt="2020-11-11T03:15:05.558" v="3940" actId="207"/>
          <ac:spMkLst>
            <pc:docMk/>
            <pc:sldMk cId="3921995959" sldId="320"/>
            <ac:spMk id="16" creationId="{2868E0D1-C4D6-416A-9C04-BC0D535D3868}"/>
          </ac:spMkLst>
        </pc:spChg>
        <pc:picChg chg="add del">
          <ac:chgData name="Mak, Tzee Sing" userId="a01bf18c-cf63-40f1-b76e-fd264d25c957" providerId="ADAL" clId="{40318D17-C1C0-4F0A-ACBE-03E3C128B3B0}" dt="2020-11-10T03:59:13.138" v="358"/>
          <ac:picMkLst>
            <pc:docMk/>
            <pc:sldMk cId="3921995959" sldId="320"/>
            <ac:picMk id="3" creationId="{20F65F5A-8511-428B-A7AF-5C57FB442BEA}"/>
          </ac:picMkLst>
        </pc:picChg>
        <pc:picChg chg="mod">
          <ac:chgData name="Mak, Tzee Sing" userId="a01bf18c-cf63-40f1-b76e-fd264d25c957" providerId="ADAL" clId="{40318D17-C1C0-4F0A-ACBE-03E3C128B3B0}" dt="2020-11-10T08:29:21.420" v="3365" actId="1035"/>
          <ac:picMkLst>
            <pc:docMk/>
            <pc:sldMk cId="3921995959" sldId="320"/>
            <ac:picMk id="4" creationId="{FFB5C42F-4A51-46AA-9F25-4CF75ECE87C0}"/>
          </ac:picMkLst>
        </pc:picChg>
        <pc:cxnChg chg="add mod">
          <ac:chgData name="Mak, Tzee Sing" userId="a01bf18c-cf63-40f1-b76e-fd264d25c957" providerId="ADAL" clId="{40318D17-C1C0-4F0A-ACBE-03E3C128B3B0}" dt="2020-11-10T08:29:21.420" v="3365" actId="1035"/>
          <ac:cxnSpMkLst>
            <pc:docMk/>
            <pc:sldMk cId="3921995959" sldId="320"/>
            <ac:cxnSpMk id="6" creationId="{B22486E9-B465-440A-8831-25C6CF785CD3}"/>
          </ac:cxnSpMkLst>
        </pc:cxnChg>
        <pc:cxnChg chg="add del mod">
          <ac:chgData name="Mak, Tzee Sing" userId="a01bf18c-cf63-40f1-b76e-fd264d25c957" providerId="ADAL" clId="{40318D17-C1C0-4F0A-ACBE-03E3C128B3B0}" dt="2020-11-10T04:03:02.918" v="548"/>
          <ac:cxnSpMkLst>
            <pc:docMk/>
            <pc:sldMk cId="3921995959" sldId="320"/>
            <ac:cxnSpMk id="10" creationId="{536510FE-C4CF-442F-AB5D-CC73399645CE}"/>
          </ac:cxnSpMkLst>
        </pc:cxnChg>
        <pc:cxnChg chg="add mod">
          <ac:chgData name="Mak, Tzee Sing" userId="a01bf18c-cf63-40f1-b76e-fd264d25c957" providerId="ADAL" clId="{40318D17-C1C0-4F0A-ACBE-03E3C128B3B0}" dt="2020-11-10T08:29:21.420" v="3365" actId="1035"/>
          <ac:cxnSpMkLst>
            <pc:docMk/>
            <pc:sldMk cId="3921995959" sldId="320"/>
            <ac:cxnSpMk id="12" creationId="{9F0EA1C1-5DDC-48C2-BFCF-2F06BDF5D61D}"/>
          </ac:cxnSpMkLst>
        </pc:cxnChg>
        <pc:cxnChg chg="add mod">
          <ac:chgData name="Mak, Tzee Sing" userId="a01bf18c-cf63-40f1-b76e-fd264d25c957" providerId="ADAL" clId="{40318D17-C1C0-4F0A-ACBE-03E3C128B3B0}" dt="2020-11-10T08:29:21.420" v="3365" actId="1035"/>
          <ac:cxnSpMkLst>
            <pc:docMk/>
            <pc:sldMk cId="3921995959" sldId="320"/>
            <ac:cxnSpMk id="17" creationId="{3022B845-71D3-4E8B-9383-B73BF21CFF1D}"/>
          </ac:cxnSpMkLst>
        </pc:cxnChg>
        <pc:cxnChg chg="add mod">
          <ac:chgData name="Mak, Tzee Sing" userId="a01bf18c-cf63-40f1-b76e-fd264d25c957" providerId="ADAL" clId="{40318D17-C1C0-4F0A-ACBE-03E3C128B3B0}" dt="2020-11-10T08:29:34.966" v="3369" actId="14100"/>
          <ac:cxnSpMkLst>
            <pc:docMk/>
            <pc:sldMk cId="3921995959" sldId="320"/>
            <ac:cxnSpMk id="20" creationId="{858C8360-3FC4-49E9-837D-51C67F38B53D}"/>
          </ac:cxnSpMkLst>
        </pc:cxnChg>
      </pc:sldChg>
      <pc:sldChg chg="addSp delSp modSp add ord">
        <pc:chgData name="Mak, Tzee Sing" userId="a01bf18c-cf63-40f1-b76e-fd264d25c957" providerId="ADAL" clId="{40318D17-C1C0-4F0A-ACBE-03E3C128B3B0}" dt="2020-11-11T03:12:38.159" v="3937"/>
        <pc:sldMkLst>
          <pc:docMk/>
          <pc:sldMk cId="3072379103" sldId="321"/>
        </pc:sldMkLst>
        <pc:spChg chg="del">
          <ac:chgData name="Mak, Tzee Sing" userId="a01bf18c-cf63-40f1-b76e-fd264d25c957" providerId="ADAL" clId="{40318D17-C1C0-4F0A-ACBE-03E3C128B3B0}" dt="2020-11-10T07:32:33.310" v="1840" actId="478"/>
          <ac:spMkLst>
            <pc:docMk/>
            <pc:sldMk cId="3072379103" sldId="321"/>
            <ac:spMk id="2" creationId="{6B4140B2-B494-4ED9-9EB5-0DE9E2FBAD6B}"/>
          </ac:spMkLst>
        </pc:spChg>
        <pc:spChg chg="add del">
          <ac:chgData name="Mak, Tzee Sing" userId="a01bf18c-cf63-40f1-b76e-fd264d25c957" providerId="ADAL" clId="{40318D17-C1C0-4F0A-ACBE-03E3C128B3B0}" dt="2020-11-10T07:32:29.314" v="1839" actId="478"/>
          <ac:spMkLst>
            <pc:docMk/>
            <pc:sldMk cId="3072379103" sldId="321"/>
            <ac:spMk id="3" creationId="{B43C17C4-FBF3-48AF-991A-BB36EEC77887}"/>
          </ac:spMkLst>
        </pc:spChg>
        <pc:spChg chg="add mod">
          <ac:chgData name="Mak, Tzee Sing" userId="a01bf18c-cf63-40f1-b76e-fd264d25c957" providerId="ADAL" clId="{40318D17-C1C0-4F0A-ACBE-03E3C128B3B0}" dt="2020-11-10T08:31:11.943" v="3408" actId="20577"/>
          <ac:spMkLst>
            <pc:docMk/>
            <pc:sldMk cId="3072379103" sldId="321"/>
            <ac:spMk id="6" creationId="{7B58BD70-DDC2-4DC7-8F55-ABF37B8B4226}"/>
          </ac:spMkLst>
        </pc:spChg>
        <pc:spChg chg="add mod ord">
          <ac:chgData name="Mak, Tzee Sing" userId="a01bf18c-cf63-40f1-b76e-fd264d25c957" providerId="ADAL" clId="{40318D17-C1C0-4F0A-ACBE-03E3C128B3B0}" dt="2020-11-10T08:30:36.210" v="3389" actId="20577"/>
          <ac:spMkLst>
            <pc:docMk/>
            <pc:sldMk cId="3072379103" sldId="321"/>
            <ac:spMk id="13" creationId="{28A427CB-8117-4F78-A867-D3D7C78A4B52}"/>
          </ac:spMkLst>
        </pc:spChg>
        <pc:spChg chg="add del mod">
          <ac:chgData name="Mak, Tzee Sing" userId="a01bf18c-cf63-40f1-b76e-fd264d25c957" providerId="ADAL" clId="{40318D17-C1C0-4F0A-ACBE-03E3C128B3B0}" dt="2020-11-10T07:38:21.361" v="2006" actId="478"/>
          <ac:spMkLst>
            <pc:docMk/>
            <pc:sldMk cId="3072379103" sldId="321"/>
            <ac:spMk id="14" creationId="{3FCFA5E8-B583-4B96-88F1-F135019A146E}"/>
          </ac:spMkLst>
        </pc:spChg>
        <pc:spChg chg="add mod">
          <ac:chgData name="Mak, Tzee Sing" userId="a01bf18c-cf63-40f1-b76e-fd264d25c957" providerId="ADAL" clId="{40318D17-C1C0-4F0A-ACBE-03E3C128B3B0}" dt="2020-11-10T07:40:41.866" v="2020" actId="208"/>
          <ac:spMkLst>
            <pc:docMk/>
            <pc:sldMk cId="3072379103" sldId="321"/>
            <ac:spMk id="15" creationId="{7C80786D-B833-41AD-9335-415054BA8A75}"/>
          </ac:spMkLst>
        </pc:spChg>
        <pc:spChg chg="add mod">
          <ac:chgData name="Mak, Tzee Sing" userId="a01bf18c-cf63-40f1-b76e-fd264d25c957" providerId="ADAL" clId="{40318D17-C1C0-4F0A-ACBE-03E3C128B3B0}" dt="2020-11-10T07:40:41.866" v="2020" actId="208"/>
          <ac:spMkLst>
            <pc:docMk/>
            <pc:sldMk cId="3072379103" sldId="321"/>
            <ac:spMk id="16" creationId="{C4A8B22D-EA41-47C2-9654-9007F79AC524}"/>
          </ac:spMkLst>
        </pc:spChg>
        <pc:spChg chg="mod">
          <ac:chgData name="Mak, Tzee Sing" userId="a01bf18c-cf63-40f1-b76e-fd264d25c957" providerId="ADAL" clId="{40318D17-C1C0-4F0A-ACBE-03E3C128B3B0}" dt="2020-11-10T07:42:46.985" v="2042" actId="1582"/>
          <ac:spMkLst>
            <pc:docMk/>
            <pc:sldMk cId="3072379103" sldId="321"/>
            <ac:spMk id="19" creationId="{6C0DBB46-F119-41CB-89FD-D9F4A376EAA7}"/>
          </ac:spMkLst>
        </pc:spChg>
        <pc:spChg chg="mod">
          <ac:chgData name="Mak, Tzee Sing" userId="a01bf18c-cf63-40f1-b76e-fd264d25c957" providerId="ADAL" clId="{40318D17-C1C0-4F0A-ACBE-03E3C128B3B0}" dt="2020-11-10T07:42:46.985" v="2042" actId="1582"/>
          <ac:spMkLst>
            <pc:docMk/>
            <pc:sldMk cId="3072379103" sldId="321"/>
            <ac:spMk id="20" creationId="{87BBE647-E1FE-406B-9E8B-A7EE48C80AC8}"/>
          </ac:spMkLst>
        </pc:spChg>
        <pc:spChg chg="add mod">
          <ac:chgData name="Mak, Tzee Sing" userId="a01bf18c-cf63-40f1-b76e-fd264d25c957" providerId="ADAL" clId="{40318D17-C1C0-4F0A-ACBE-03E3C128B3B0}" dt="2020-11-10T08:01:56.158" v="2754" actId="113"/>
          <ac:spMkLst>
            <pc:docMk/>
            <pc:sldMk cId="3072379103" sldId="321"/>
            <ac:spMk id="28" creationId="{B7356D0A-1F2D-494E-A224-516B7F1B0D3E}"/>
          </ac:spMkLst>
        </pc:spChg>
        <pc:spChg chg="add del mod">
          <ac:chgData name="Mak, Tzee Sing" userId="a01bf18c-cf63-40f1-b76e-fd264d25c957" providerId="ADAL" clId="{40318D17-C1C0-4F0A-ACBE-03E3C128B3B0}" dt="2020-11-10T07:59:50.865" v="2669" actId="478"/>
          <ac:spMkLst>
            <pc:docMk/>
            <pc:sldMk cId="3072379103" sldId="321"/>
            <ac:spMk id="29" creationId="{DE98E78C-E43A-4018-B1A8-09A9B73D314A}"/>
          </ac:spMkLst>
        </pc:spChg>
        <pc:spChg chg="add mod">
          <ac:chgData name="Mak, Tzee Sing" userId="a01bf18c-cf63-40f1-b76e-fd264d25c957" providerId="ADAL" clId="{40318D17-C1C0-4F0A-ACBE-03E3C128B3B0}" dt="2020-11-10T08:00:32.038" v="2675" actId="1076"/>
          <ac:spMkLst>
            <pc:docMk/>
            <pc:sldMk cId="3072379103" sldId="321"/>
            <ac:spMk id="30" creationId="{25720318-872E-480D-BE48-50A46E7CBC78}"/>
          </ac:spMkLst>
        </pc:spChg>
        <pc:spChg chg="add del mod">
          <ac:chgData name="Mak, Tzee Sing" userId="a01bf18c-cf63-40f1-b76e-fd264d25c957" providerId="ADAL" clId="{40318D17-C1C0-4F0A-ACBE-03E3C128B3B0}" dt="2020-11-10T08:01:29.156" v="2716" actId="478"/>
          <ac:spMkLst>
            <pc:docMk/>
            <pc:sldMk cId="3072379103" sldId="321"/>
            <ac:spMk id="31" creationId="{FB43DDAE-1BD3-42F1-AA8E-1247EB11299D}"/>
          </ac:spMkLst>
        </pc:spChg>
        <pc:spChg chg="add mod">
          <ac:chgData name="Mak, Tzee Sing" userId="a01bf18c-cf63-40f1-b76e-fd264d25c957" providerId="ADAL" clId="{40318D17-C1C0-4F0A-ACBE-03E3C128B3B0}" dt="2020-11-10T08:01:50.839" v="2753" actId="1038"/>
          <ac:spMkLst>
            <pc:docMk/>
            <pc:sldMk cId="3072379103" sldId="321"/>
            <ac:spMk id="32" creationId="{EDFE1EFE-034B-420D-A617-206BB59062A9}"/>
          </ac:spMkLst>
        </pc:spChg>
        <pc:grpChg chg="add del mod">
          <ac:chgData name="Mak, Tzee Sing" userId="a01bf18c-cf63-40f1-b76e-fd264d25c957" providerId="ADAL" clId="{40318D17-C1C0-4F0A-ACBE-03E3C128B3B0}" dt="2020-11-10T07:52:29.949" v="2401" actId="478"/>
          <ac:grpSpMkLst>
            <pc:docMk/>
            <pc:sldMk cId="3072379103" sldId="321"/>
            <ac:grpSpMk id="17" creationId="{60758C9E-D60D-45BA-B04E-E724CC78773D}"/>
          </ac:grpSpMkLst>
        </pc:grpChg>
        <pc:grpChg chg="add mod">
          <ac:chgData name="Mak, Tzee Sing" userId="a01bf18c-cf63-40f1-b76e-fd264d25c957" providerId="ADAL" clId="{40318D17-C1C0-4F0A-ACBE-03E3C128B3B0}" dt="2020-11-10T07:58:34.993" v="2562" actId="164"/>
          <ac:grpSpMkLst>
            <pc:docMk/>
            <pc:sldMk cId="3072379103" sldId="321"/>
            <ac:grpSpMk id="18" creationId="{B05C985A-3587-4ADE-9F98-BDC621DD117D}"/>
          </ac:grpSpMkLst>
        </pc:grpChg>
        <pc:grpChg chg="add mod">
          <ac:chgData name="Mak, Tzee Sing" userId="a01bf18c-cf63-40f1-b76e-fd264d25c957" providerId="ADAL" clId="{40318D17-C1C0-4F0A-ACBE-03E3C128B3B0}" dt="2020-11-10T07:58:34.993" v="2562" actId="164"/>
          <ac:grpSpMkLst>
            <pc:docMk/>
            <pc:sldMk cId="3072379103" sldId="321"/>
            <ac:grpSpMk id="21" creationId="{12FBAECA-BE3C-4D57-B4AF-C1EA619CD751}"/>
          </ac:grpSpMkLst>
        </pc:grpChg>
        <pc:grpChg chg="add mod">
          <ac:chgData name="Mak, Tzee Sing" userId="a01bf18c-cf63-40f1-b76e-fd264d25c957" providerId="ADAL" clId="{40318D17-C1C0-4F0A-ACBE-03E3C128B3B0}" dt="2020-11-10T07:58:48.870" v="2567" actId="1076"/>
          <ac:grpSpMkLst>
            <pc:docMk/>
            <pc:sldMk cId="3072379103" sldId="321"/>
            <ac:grpSpMk id="27" creationId="{A0EFB353-537F-4C88-89AB-2A07E6D980C3}"/>
          </ac:grpSpMkLst>
        </pc:grpChg>
        <pc:picChg chg="add del">
          <ac:chgData name="Mak, Tzee Sing" userId="a01bf18c-cf63-40f1-b76e-fd264d25c957" providerId="ADAL" clId="{40318D17-C1C0-4F0A-ACBE-03E3C128B3B0}" dt="2020-11-10T07:29:27.065" v="1744"/>
          <ac:picMkLst>
            <pc:docMk/>
            <pc:sldMk cId="3072379103" sldId="321"/>
            <ac:picMk id="4" creationId="{9E4683CA-10BF-4099-B53D-A7D91D2A92E0}"/>
          </ac:picMkLst>
        </pc:picChg>
        <pc:picChg chg="del mod">
          <ac:chgData name="Mak, Tzee Sing" userId="a01bf18c-cf63-40f1-b76e-fd264d25c957" providerId="ADAL" clId="{40318D17-C1C0-4F0A-ACBE-03E3C128B3B0}" dt="2020-11-10T07:34:53.913" v="1859"/>
          <ac:picMkLst>
            <pc:docMk/>
            <pc:sldMk cId="3072379103" sldId="321"/>
            <ac:picMk id="5" creationId="{627EB92B-83D3-4224-9B4C-21B532B14CE3}"/>
          </ac:picMkLst>
        </pc:picChg>
        <pc:picChg chg="add del mod">
          <ac:chgData name="Mak, Tzee Sing" userId="a01bf18c-cf63-40f1-b76e-fd264d25c957" providerId="ADAL" clId="{40318D17-C1C0-4F0A-ACBE-03E3C128B3B0}" dt="2020-11-10T07:34:43.186" v="1856"/>
          <ac:picMkLst>
            <pc:docMk/>
            <pc:sldMk cId="3072379103" sldId="321"/>
            <ac:picMk id="9" creationId="{5E20714F-F070-4A63-BAC1-1AD41EEB6742}"/>
          </ac:picMkLst>
        </pc:picChg>
        <pc:picChg chg="mod">
          <ac:chgData name="Mak, Tzee Sing" userId="a01bf18c-cf63-40f1-b76e-fd264d25c957" providerId="ADAL" clId="{40318D17-C1C0-4F0A-ACBE-03E3C128B3B0}" dt="2020-11-10T07:58:34.993" v="2562" actId="164"/>
          <ac:picMkLst>
            <pc:docMk/>
            <pc:sldMk cId="3072379103" sldId="321"/>
            <ac:picMk id="10" creationId="{781C6CB4-E55B-4D21-8718-744E77C3DAAF}"/>
          </ac:picMkLst>
        </pc:picChg>
        <pc:picChg chg="mod">
          <ac:chgData name="Mak, Tzee Sing" userId="a01bf18c-cf63-40f1-b76e-fd264d25c957" providerId="ADAL" clId="{40318D17-C1C0-4F0A-ACBE-03E3C128B3B0}" dt="2020-11-10T07:55:55.163" v="2534" actId="14100"/>
          <ac:picMkLst>
            <pc:docMk/>
            <pc:sldMk cId="3072379103" sldId="321"/>
            <ac:picMk id="11" creationId="{52FBE374-A856-4B3E-8958-14C41D955E2B}"/>
          </ac:picMkLst>
        </pc:picChg>
        <pc:picChg chg="add del">
          <ac:chgData name="Mak, Tzee Sing" userId="a01bf18c-cf63-40f1-b76e-fd264d25c957" providerId="ADAL" clId="{40318D17-C1C0-4F0A-ACBE-03E3C128B3B0}" dt="2020-11-10T07:57:56.896" v="2539"/>
          <ac:picMkLst>
            <pc:docMk/>
            <pc:sldMk cId="3072379103" sldId="321"/>
            <ac:picMk id="25" creationId="{51AAB914-C637-4237-9E8C-77BE62700E6E}"/>
          </ac:picMkLst>
        </pc:picChg>
        <pc:picChg chg="mod">
          <ac:chgData name="Mak, Tzee Sing" userId="a01bf18c-cf63-40f1-b76e-fd264d25c957" providerId="ADAL" clId="{40318D17-C1C0-4F0A-ACBE-03E3C128B3B0}" dt="2020-11-10T07:58:58.232" v="2568" actId="1076"/>
          <ac:picMkLst>
            <pc:docMk/>
            <pc:sldMk cId="3072379103" sldId="321"/>
            <ac:picMk id="26" creationId="{816D9F23-4171-4024-8A04-F0EF7185C490}"/>
          </ac:picMkLst>
        </pc:picChg>
        <pc:cxnChg chg="add mod">
          <ac:chgData name="Mak, Tzee Sing" userId="a01bf18c-cf63-40f1-b76e-fd264d25c957" providerId="ADAL" clId="{40318D17-C1C0-4F0A-ACBE-03E3C128B3B0}" dt="2020-11-10T07:33:46.241" v="1847" actId="1076"/>
          <ac:cxnSpMkLst>
            <pc:docMk/>
            <pc:sldMk cId="3072379103" sldId="321"/>
            <ac:cxnSpMk id="7" creationId="{6B93C086-84F4-4896-94A9-FD5148A2E700}"/>
          </ac:cxnSpMkLst>
        </pc:cxnChg>
        <pc:cxnChg chg="add del mod ord">
          <ac:chgData name="Mak, Tzee Sing" userId="a01bf18c-cf63-40f1-b76e-fd264d25c957" providerId="ADAL" clId="{40318D17-C1C0-4F0A-ACBE-03E3C128B3B0}" dt="2020-11-10T07:52:27.141" v="2400" actId="478"/>
          <ac:cxnSpMkLst>
            <pc:docMk/>
            <pc:sldMk cId="3072379103" sldId="321"/>
            <ac:cxnSpMk id="8" creationId="{46A30FDA-769C-4ACE-8D8E-B4F7B93FB850}"/>
          </ac:cxnSpMkLst>
        </pc:cxnChg>
        <pc:cxnChg chg="add mod">
          <ac:chgData name="Mak, Tzee Sing" userId="a01bf18c-cf63-40f1-b76e-fd264d25c957" providerId="ADAL" clId="{40318D17-C1C0-4F0A-ACBE-03E3C128B3B0}" dt="2020-11-10T07:58:18.157" v="2559" actId="1036"/>
          <ac:cxnSpMkLst>
            <pc:docMk/>
            <pc:sldMk cId="3072379103" sldId="321"/>
            <ac:cxnSpMk id="12" creationId="{913AA0B3-FA80-433D-85BF-1FEF4DE6547C}"/>
          </ac:cxnSpMkLst>
        </pc:cxn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t>11/11/2020</a:t>
            </a:fld>
            <a:endParaRPr lang="en-US"/>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t>‹#›</a:t>
            </a:fld>
            <a:endParaRPr lang="en-US"/>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D61C8689-8455-3546-ADF9-3B7273760F66}" type="slidenum">
              <a:rPr lang="en-US" smtClean="0"/>
              <a:pPr/>
              <a:t>2</a:t>
            </a:fld>
            <a:endParaRPr lang="en-US" dirty="0"/>
          </a:p>
        </p:txBody>
      </p:sp>
    </p:spTree>
    <p:extLst>
      <p:ext uri="{BB962C8B-B14F-4D97-AF65-F5344CB8AC3E}">
        <p14:creationId xmlns:p14="http://schemas.microsoft.com/office/powerpoint/2010/main" val="41152901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Gigabyte: https://www.youtube.com/watch?v=bR-DOeAm-PQ; https://www.youtube.com/watch?v=cnAFTMaS5R0</a:t>
            </a:r>
          </a:p>
        </p:txBody>
      </p:sp>
    </p:spTree>
    <p:extLst>
      <p:ext uri="{BB962C8B-B14F-4D97-AF65-F5344CB8AC3E}">
        <p14:creationId xmlns:p14="http://schemas.microsoft.com/office/powerpoint/2010/main" val="950167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Tree>
    <p:extLst>
      <p:ext uri="{BB962C8B-B14F-4D97-AF65-F5344CB8AC3E}">
        <p14:creationId xmlns:p14="http://schemas.microsoft.com/office/powerpoint/2010/main" val="2581723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D61C8689-8455-3546-ADF9-3B7273760F66}" type="slidenum">
              <a:rPr lang="en-US" smtClean="0"/>
              <a:pPr/>
              <a:t>22</a:t>
            </a:fld>
            <a:endParaRPr lang="en-US" dirty="0"/>
          </a:p>
        </p:txBody>
      </p:sp>
    </p:spTree>
    <p:extLst>
      <p:ext uri="{BB962C8B-B14F-4D97-AF65-F5344CB8AC3E}">
        <p14:creationId xmlns:p14="http://schemas.microsoft.com/office/powerpoint/2010/main" val="25103933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D61C8689-8455-3546-ADF9-3B7273760F66}" type="slidenum">
              <a:rPr lang="en-US" smtClean="0"/>
              <a:pPr/>
              <a:t>23</a:t>
            </a:fld>
            <a:endParaRPr lang="en-US" dirty="0"/>
          </a:p>
        </p:txBody>
      </p:sp>
    </p:spTree>
    <p:extLst>
      <p:ext uri="{BB962C8B-B14F-4D97-AF65-F5344CB8AC3E}">
        <p14:creationId xmlns:p14="http://schemas.microsoft.com/office/powerpoint/2010/main" val="25545898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D61C8689-8455-3546-ADF9-3B7273760F66}" type="slidenum">
              <a:rPr lang="en-US" smtClean="0"/>
              <a:pPr/>
              <a:t>24</a:t>
            </a:fld>
            <a:endParaRPr lang="en-US" dirty="0"/>
          </a:p>
        </p:txBody>
      </p:sp>
    </p:spTree>
    <p:extLst>
      <p:ext uri="{BB962C8B-B14F-4D97-AF65-F5344CB8AC3E}">
        <p14:creationId xmlns:p14="http://schemas.microsoft.com/office/powerpoint/2010/main" val="4079702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chemeClr val="bg1"/>
                </a:solidFill>
              </a:defRPr>
            </a:lvl1pPr>
          </a:lstStyle>
          <a:p>
            <a:r>
              <a:rPr lang="en-US" dirty="0"/>
              <a:t>75 </a:t>
            </a:r>
            <a:r>
              <a:rPr lang="en-US" dirty="0" err="1"/>
              <a:t>pt</a:t>
            </a:r>
            <a:r>
              <a:rPr lang="en-US" dirty="0"/>
              <a:t> Intel Clear Light</a:t>
            </a:r>
            <a:endParaRPr dirty="0"/>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chemeClr val="bg1"/>
                </a:solidFill>
              </a:defRPr>
            </a:lvl1pPr>
          </a:lstStyle>
          <a:p>
            <a:r>
              <a:rPr lang="en-US" dirty="0"/>
              <a:t>75 </a:t>
            </a:r>
            <a:r>
              <a:rPr lang="en-US" dirty="0" err="1"/>
              <a:t>pt</a:t>
            </a:r>
            <a:r>
              <a:rPr lang="en-US" dirty="0"/>
              <a:t> Intel Clear Light</a:t>
            </a:r>
            <a:endParaRPr dirty="0"/>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7500">
                <a:solidFill>
                  <a:srgbClr val="525252"/>
                </a:solidFill>
              </a:defRPr>
            </a:lvl1pPr>
          </a:lstStyle>
          <a:p>
            <a:r>
              <a:rPr lang="en-US" dirty="0"/>
              <a:t>75 </a:t>
            </a:r>
            <a:r>
              <a:rPr lang="en-US" dirty="0" err="1"/>
              <a:t>pt</a:t>
            </a:r>
            <a:r>
              <a:rPr lang="en-US" dirty="0"/>
              <a:t> Intel Clear</a:t>
            </a:r>
            <a:endParaRPr dirty="0"/>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0068B5"/>
                </a:solidFill>
              </a:defRPr>
            </a:lvl1pPr>
          </a:lstStyle>
          <a:p>
            <a:r>
              <a:rPr lang="en-US" dirty="0"/>
              <a:t>40pt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0068B5"/>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0068B5"/>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dirty="0"/>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dirty="0"/>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tx2"/>
                </a:solidFill>
              </a:defRPr>
            </a:lvl1pPr>
          </a:lstStyle>
          <a:p>
            <a:r>
              <a:rPr lang="en-US" dirty="0"/>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rgbClr val="525252"/>
                </a:solidFill>
              </a:defRPr>
            </a:lvl1pPr>
          </a:lstStyle>
          <a:p>
            <a:r>
              <a:rPr lang="en-US" dirty="0"/>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dirty="0"/>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bg1"/>
                </a:solidFill>
              </a:defRPr>
            </a:lvl1pPr>
          </a:lstStyle>
          <a:p>
            <a:r>
              <a:rPr lang="en-US" dirty="0"/>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dirty="0"/>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5503530" y="6562504"/>
            <a:ext cx="1184940" cy="231410"/>
          </a:xfrm>
          <a:prstGeom prst="rect">
            <a:avLst/>
          </a:prstGeom>
        </p:spPr>
        <p:txBody>
          <a:bodyPr wrap="none">
            <a:spAutoFit/>
          </a:bodyPr>
          <a:lstStyle/>
          <a:p>
            <a:pPr algn="ctr"/>
            <a:r>
              <a:rPr lang="en-US" sz="1000" dirty="0">
                <a:solidFill>
                  <a:schemeClr val="bg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1766830" cy="231410"/>
          </a:xfrm>
          <a:prstGeom prst="rect">
            <a:avLst/>
          </a:prstGeom>
        </p:spPr>
        <p:txBody>
          <a:bodyPr wrap="none">
            <a:spAutoFit/>
          </a:bodyPr>
          <a:lstStyle/>
          <a:p>
            <a:pPr algn="l"/>
            <a:r>
              <a:rPr lang="en-US" sz="1000" dirty="0">
                <a:solidFill>
                  <a:schemeClr val="bg1"/>
                </a:solidFill>
              </a:rPr>
              <a:t>Department or Event Name</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dirty="0"/>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rgbClr val="525252"/>
                </a:solidFill>
              </a:defRPr>
            </a:lvl1pPr>
          </a:lstStyle>
          <a:p>
            <a:r>
              <a:rPr lang="en-US" dirty="0"/>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5503530" y="6562504"/>
            <a:ext cx="1184940" cy="231410"/>
          </a:xfrm>
          <a:prstGeom prst="rect">
            <a:avLst/>
          </a:prstGeom>
        </p:spPr>
        <p:txBody>
          <a:bodyPr wrap="none">
            <a:spAutoFit/>
          </a:bodyPr>
          <a:lstStyle/>
          <a:p>
            <a:pPr algn="ctr"/>
            <a:r>
              <a:rPr lang="en-US" sz="1000" dirty="0">
                <a:solidFill>
                  <a:schemeClr val="bg1"/>
                </a:solidFill>
              </a:rPr>
              <a:t>Intel Confidential</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1766830" cy="231410"/>
          </a:xfrm>
          <a:prstGeom prst="rect">
            <a:avLst/>
          </a:prstGeom>
        </p:spPr>
        <p:txBody>
          <a:bodyPr wrap="none">
            <a:spAutoFit/>
          </a:bodyPr>
          <a:lstStyle/>
          <a:p>
            <a:pPr algn="l"/>
            <a:r>
              <a:rPr lang="en-US" sz="1000" dirty="0">
                <a:solidFill>
                  <a:schemeClr val="bg1"/>
                </a:solidFill>
              </a:rPr>
              <a:t>Department or Event Name</a:t>
            </a: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chemeClr val="bg1"/>
                </a:solidFill>
              </a:defRPr>
            </a:lvl1pPr>
          </a:lstStyle>
          <a:p>
            <a:r>
              <a:rPr lang="en-US" dirty="0"/>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dirty="0"/>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5503530" y="6562504"/>
            <a:ext cx="1184940" cy="231410"/>
          </a:xfrm>
          <a:prstGeom prst="rect">
            <a:avLst/>
          </a:prstGeom>
        </p:spPr>
        <p:txBody>
          <a:bodyPr wrap="none">
            <a:spAutoFit/>
          </a:bodyPr>
          <a:lstStyle/>
          <a:p>
            <a:pPr algn="ctr"/>
            <a:r>
              <a:rPr lang="en-US" sz="1000" dirty="0">
                <a:solidFill>
                  <a:schemeClr val="bg1"/>
                </a:solidFill>
              </a:rPr>
              <a:t>Intel Confidential</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1766830" cy="231410"/>
          </a:xfrm>
          <a:prstGeom prst="rect">
            <a:avLst/>
          </a:prstGeom>
        </p:spPr>
        <p:txBody>
          <a:bodyPr wrap="none">
            <a:spAutoFit/>
          </a:bodyPr>
          <a:lstStyle/>
          <a:p>
            <a:pPr algn="l"/>
            <a:r>
              <a:rPr lang="en-US" sz="1000" dirty="0">
                <a:solidFill>
                  <a:schemeClr val="bg1"/>
                </a:solidFill>
              </a:rPr>
              <a:t>Department or Event Name</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chemeClr val="bg1"/>
                </a:solidFill>
              </a:defRPr>
            </a:lvl1pPr>
          </a:lstStyle>
          <a:p>
            <a:r>
              <a:rPr lang="en-US" dirty="0"/>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5503530" y="6562504"/>
            <a:ext cx="1184940" cy="231410"/>
          </a:xfrm>
          <a:prstGeom prst="rect">
            <a:avLst/>
          </a:prstGeom>
        </p:spPr>
        <p:txBody>
          <a:bodyPr wrap="none">
            <a:spAutoFit/>
          </a:bodyPr>
          <a:lstStyle/>
          <a:p>
            <a:pPr algn="ctr"/>
            <a:r>
              <a:rPr lang="en-US" sz="1000" dirty="0">
                <a:solidFill>
                  <a:schemeClr val="bg1"/>
                </a:solidFill>
              </a:rPr>
              <a:t>Intel Confidential</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1766830" cy="231410"/>
          </a:xfrm>
          <a:prstGeom prst="rect">
            <a:avLst/>
          </a:prstGeom>
        </p:spPr>
        <p:txBody>
          <a:bodyPr wrap="none">
            <a:spAutoFit/>
          </a:bodyPr>
          <a:lstStyle/>
          <a:p>
            <a:pPr algn="l"/>
            <a:r>
              <a:rPr lang="en-US" sz="1000" dirty="0">
                <a:solidFill>
                  <a:schemeClr val="bg1"/>
                </a:solidFill>
              </a:rPr>
              <a:t>Department or Event Name</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5503530" y="6562504"/>
            <a:ext cx="1184940" cy="231410"/>
          </a:xfrm>
          <a:prstGeom prst="rect">
            <a:avLst/>
          </a:prstGeom>
        </p:spPr>
        <p:txBody>
          <a:bodyPr wrap="none">
            <a:spAutoFit/>
          </a:bodyPr>
          <a:lstStyle/>
          <a:p>
            <a:pPr algn="ctr"/>
            <a:r>
              <a:rPr lang="en-US" sz="1000" dirty="0">
                <a:solidFill>
                  <a:schemeClr val="bg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1766830" cy="231410"/>
          </a:xfrm>
          <a:prstGeom prst="rect">
            <a:avLst/>
          </a:prstGeom>
        </p:spPr>
        <p:txBody>
          <a:bodyPr wrap="none">
            <a:spAutoFit/>
          </a:bodyPr>
          <a:lstStyle/>
          <a:p>
            <a:pPr algn="l"/>
            <a:r>
              <a:rPr lang="en-US" sz="1000" dirty="0">
                <a:solidFill>
                  <a:schemeClr val="bg1"/>
                </a:solidFill>
              </a:rPr>
              <a:t>Department or Event Name</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5503530" y="6562504"/>
            <a:ext cx="1184940" cy="231410"/>
          </a:xfrm>
          <a:prstGeom prst="rect">
            <a:avLst/>
          </a:prstGeom>
        </p:spPr>
        <p:txBody>
          <a:bodyPr wrap="none">
            <a:spAutoFit/>
          </a:bodyPr>
          <a:lstStyle/>
          <a:p>
            <a:pPr algn="ctr"/>
            <a:r>
              <a:rPr lang="en-US" sz="1000" dirty="0">
                <a:solidFill>
                  <a:schemeClr val="bg1"/>
                </a:solidFill>
              </a:rPr>
              <a:t>Intel Confidential</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1766830" cy="231410"/>
          </a:xfrm>
          <a:prstGeom prst="rect">
            <a:avLst/>
          </a:prstGeom>
        </p:spPr>
        <p:txBody>
          <a:bodyPr wrap="none">
            <a:spAutoFit/>
          </a:bodyPr>
          <a:lstStyle/>
          <a:p>
            <a:pPr algn="l"/>
            <a:r>
              <a:rPr lang="en-US" sz="1000" dirty="0">
                <a:solidFill>
                  <a:schemeClr val="bg1"/>
                </a:solidFill>
              </a:rPr>
              <a:t>Department or Event Name</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rgbClr val="0068B5"/>
                </a:solidFill>
              </a:defRPr>
            </a:lvl1pPr>
          </a:lstStyle>
          <a:p>
            <a:r>
              <a:rPr lang="en-US" dirty="0"/>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rgbClr val="0068B5"/>
                </a:solidFill>
                <a:latin typeface="+mn-lt"/>
              </a:defRPr>
            </a:lvl1pPr>
            <a:lvl2pPr marL="228600" indent="0">
              <a:buNone/>
              <a:defRPr/>
            </a:lvl2pPr>
          </a:lstStyle>
          <a:p>
            <a:pPr lvl="0"/>
            <a:r>
              <a:rPr lang="en-US" dirty="0"/>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dirty="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5503530" y="6562504"/>
            <a:ext cx="1184940" cy="231410"/>
          </a:xfrm>
          <a:prstGeom prst="rect">
            <a:avLst/>
          </a:prstGeom>
        </p:spPr>
        <p:txBody>
          <a:bodyPr wrap="none">
            <a:spAutoFit/>
          </a:bodyPr>
          <a:lstStyle/>
          <a:p>
            <a:pPr algn="ctr"/>
            <a:r>
              <a:rPr lang="en-US" sz="1000" dirty="0">
                <a:solidFill>
                  <a:schemeClr val="bg1"/>
                </a:solidFill>
              </a:rPr>
              <a:t>Intel Confidential</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1766830" cy="231410"/>
          </a:xfrm>
          <a:prstGeom prst="rect">
            <a:avLst/>
          </a:prstGeom>
        </p:spPr>
        <p:txBody>
          <a:bodyPr wrap="none">
            <a:spAutoFit/>
          </a:bodyPr>
          <a:lstStyle/>
          <a:p>
            <a:pPr algn="l"/>
            <a:r>
              <a:rPr lang="en-US" sz="1000" dirty="0">
                <a:solidFill>
                  <a:schemeClr val="bg1"/>
                </a:solidFill>
              </a:rPr>
              <a:t>Department or Event Name</a:t>
            </a: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5503530" y="6562504"/>
            <a:ext cx="1184940" cy="231410"/>
          </a:xfrm>
          <a:prstGeom prst="rect">
            <a:avLst/>
          </a:prstGeom>
        </p:spPr>
        <p:txBody>
          <a:bodyPr wrap="none">
            <a:spAutoFit/>
          </a:bodyPr>
          <a:lstStyle/>
          <a:p>
            <a:pPr algn="ctr"/>
            <a:r>
              <a:rPr lang="en-US" sz="1000" dirty="0">
                <a:solidFill>
                  <a:schemeClr val="bg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1766830" cy="231410"/>
          </a:xfrm>
          <a:prstGeom prst="rect">
            <a:avLst/>
          </a:prstGeom>
        </p:spPr>
        <p:txBody>
          <a:bodyPr wrap="none">
            <a:spAutoFit/>
          </a:bodyPr>
          <a:lstStyle/>
          <a:p>
            <a:pPr algn="l"/>
            <a:r>
              <a:rPr lang="en-US" sz="1000" dirty="0">
                <a:solidFill>
                  <a:schemeClr val="bg1"/>
                </a:solidFill>
              </a:rPr>
              <a:t>Department or Event Name</a:t>
            </a: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accent1"/>
                </a:solidFill>
              </a:defRPr>
            </a:lvl1pPr>
          </a:lstStyle>
          <a:p>
            <a:r>
              <a:rPr lang="en-US" dirty="0"/>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5503530" y="6562504"/>
            <a:ext cx="1184940" cy="231410"/>
          </a:xfrm>
          <a:prstGeom prst="rect">
            <a:avLst/>
          </a:prstGeom>
        </p:spPr>
        <p:txBody>
          <a:bodyPr wrap="none">
            <a:spAutoFit/>
          </a:bodyPr>
          <a:lstStyle/>
          <a:p>
            <a:pPr algn="ctr"/>
            <a:r>
              <a:rPr lang="en-US" sz="1000" dirty="0">
                <a:solidFill>
                  <a:schemeClr val="bg1"/>
                </a:solidFill>
              </a:rPr>
              <a:t>Intel Confidential</a:t>
            </a:r>
          </a:p>
        </p:txBody>
      </p:sp>
      <p:sp>
        <p:nvSpPr>
          <p:cNvPr id="9" name="Rectangle 8">
            <a:extLst>
              <a:ext uri="{FF2B5EF4-FFF2-40B4-BE49-F238E27FC236}">
                <a16:creationId xmlns:a16="http://schemas.microsoft.com/office/drawing/2014/main" id="{F6E1F1A6-2FDF-4676-B713-F9746DD3A821}"/>
              </a:ext>
            </a:extLst>
          </p:cNvPr>
          <p:cNvSpPr/>
          <p:nvPr userDrawn="1"/>
        </p:nvSpPr>
        <p:spPr>
          <a:xfrm>
            <a:off x="483010" y="6562504"/>
            <a:ext cx="1766830" cy="231410"/>
          </a:xfrm>
          <a:prstGeom prst="rect">
            <a:avLst/>
          </a:prstGeom>
        </p:spPr>
        <p:txBody>
          <a:bodyPr wrap="none">
            <a:spAutoFit/>
          </a:bodyPr>
          <a:lstStyle/>
          <a:p>
            <a:pPr algn="l"/>
            <a:r>
              <a:rPr lang="en-US" sz="1000" dirty="0">
                <a:solidFill>
                  <a:schemeClr val="bg1"/>
                </a:solidFill>
              </a:rPr>
              <a:t>Department or Event Name</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bg1"/>
                </a:solidFill>
              </a:defRPr>
            </a:lvl1pPr>
          </a:lstStyle>
          <a:p>
            <a:r>
              <a:rPr lang="en-US" dirty="0"/>
              <a:t>48pt Intel Clear Light Body. For content that is not a section, but has a big idea in text only.</a:t>
            </a: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5503530" y="6562504"/>
            <a:ext cx="1184940" cy="231410"/>
          </a:xfrm>
          <a:prstGeom prst="rect">
            <a:avLst/>
          </a:prstGeom>
        </p:spPr>
        <p:txBody>
          <a:bodyPr wrap="none">
            <a:spAutoFit/>
          </a:bodyPr>
          <a:lstStyle/>
          <a:p>
            <a:pPr algn="ctr"/>
            <a:r>
              <a:rPr lang="en-US" sz="1000" dirty="0">
                <a:solidFill>
                  <a:schemeClr val="bg1"/>
                </a:solidFill>
              </a:rPr>
              <a:t>Intel Confidential</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1766830" cy="231410"/>
          </a:xfrm>
          <a:prstGeom prst="rect">
            <a:avLst/>
          </a:prstGeom>
        </p:spPr>
        <p:txBody>
          <a:bodyPr wrap="none">
            <a:spAutoFit/>
          </a:bodyPr>
          <a:lstStyle/>
          <a:p>
            <a:pPr algn="l"/>
            <a:r>
              <a:rPr lang="en-US" sz="1000" dirty="0">
                <a:solidFill>
                  <a:schemeClr val="bg1"/>
                </a:solidFill>
              </a:rPr>
              <a:t>Department or Event Name</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bg1"/>
                </a:solidFill>
              </a:defRPr>
            </a:lvl1pPr>
          </a:lstStyle>
          <a:p>
            <a:r>
              <a:rPr lang="en-US" dirty="0"/>
              <a:t>48pt Intel Clear Light Body. For content that is not a section, but has a big idea in text only.</a:t>
            </a: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and Bulleted Text">
    <p:spTree>
      <p:nvGrpSpPr>
        <p:cNvPr id="1" name=""/>
        <p:cNvGrpSpPr/>
        <p:nvPr/>
      </p:nvGrpSpPr>
      <p:grpSpPr>
        <a:xfrm>
          <a:off x="0" y="0"/>
          <a:ext cx="0" cy="0"/>
          <a:chOff x="0" y="0"/>
          <a:chExt cx="0" cy="0"/>
        </a:xfrm>
      </p:grpSpPr>
      <p:sp>
        <p:nvSpPr>
          <p:cNvPr id="7" name="Title 6"/>
          <p:cNvSpPr>
            <a:spLocks noGrp="1"/>
          </p:cNvSpPr>
          <p:nvPr>
            <p:ph type="title" hasCustomPrompt="1"/>
          </p:nvPr>
        </p:nvSpPr>
        <p:spPr>
          <a:xfrm>
            <a:off x="607484" y="411797"/>
            <a:ext cx="10972800" cy="1158240"/>
          </a:xfrm>
        </p:spPr>
        <p:txBody>
          <a:bodyPr/>
          <a:lstStyle>
            <a:lvl1pPr>
              <a:defRPr b="1" i="0" baseline="0">
                <a:solidFill>
                  <a:srgbClr val="003C71"/>
                </a:solidFill>
                <a:latin typeface="Intel Clear"/>
                <a:cs typeface="Intel Clear"/>
              </a:defRPr>
            </a:lvl1pPr>
          </a:lstStyle>
          <a:p>
            <a:r>
              <a:rPr lang="en-US" dirty="0"/>
              <a:t>28pt Intel Clear Headline</a:t>
            </a:r>
          </a:p>
        </p:txBody>
      </p:sp>
      <p:sp>
        <p:nvSpPr>
          <p:cNvPr id="9" name="Content Placeholder 8"/>
          <p:cNvSpPr>
            <a:spLocks noGrp="1"/>
          </p:cNvSpPr>
          <p:nvPr>
            <p:ph sz="quarter" idx="13" hasCustomPrompt="1"/>
          </p:nvPr>
        </p:nvSpPr>
        <p:spPr>
          <a:xfrm>
            <a:off x="607484" y="1350500"/>
            <a:ext cx="10970683" cy="4821701"/>
          </a:xfrm>
        </p:spPr>
        <p:txBody>
          <a:bodyPr/>
          <a:lstStyle>
            <a:lvl1pPr marL="228600" indent="-365760">
              <a:spcBef>
                <a:spcPts val="800"/>
              </a:spcBef>
              <a:buFont typeface="Wingdings" panose="05000000000000000000" pitchFamily="2" charset="2"/>
              <a:buChar char="q"/>
              <a:defRPr baseline="0">
                <a:solidFill>
                  <a:srgbClr val="0071C5"/>
                </a:solidFill>
              </a:defRPr>
            </a:lvl1pPr>
            <a:lvl2pPr marL="457200" indent="-182880">
              <a:spcBef>
                <a:spcPts val="400"/>
              </a:spcBef>
              <a:buFont typeface="Wingdings" panose="05000000000000000000" pitchFamily="2" charset="2"/>
              <a:buChar char="§"/>
              <a:defRPr sz="2133"/>
            </a:lvl2pPr>
            <a:lvl3pPr marL="731520" indent="-274320">
              <a:spcBef>
                <a:spcPts val="400"/>
              </a:spcBef>
              <a:buFont typeface="Wingdings" panose="05000000000000000000" pitchFamily="2" charset="2"/>
              <a:buChar char="v"/>
              <a:defRPr sz="1867"/>
            </a:lvl3pPr>
            <a:lvl4pPr marL="919957" indent="-228600">
              <a:spcBef>
                <a:spcPts val="400"/>
              </a:spcBef>
              <a:buFont typeface="Courier New" panose="02070309020205020404" pitchFamily="49" charset="0"/>
              <a:buChar char="o"/>
              <a:defRPr sz="1600"/>
            </a:lvl4pPr>
            <a:lvl5pPr marL="1148557" indent="-228600">
              <a:spcBef>
                <a:spcPts val="400"/>
              </a:spcBef>
              <a:buFont typeface="Courier New" panose="02070309020205020404" pitchFamily="49" charset="0"/>
              <a:buChar char="o"/>
              <a:defRPr sz="1467"/>
            </a:lvl5pPr>
          </a:lstStyle>
          <a:p>
            <a:pPr lvl="0"/>
            <a:r>
              <a:rPr lang="en-US" dirty="0"/>
              <a:t>Intro sentence or paragraph has no bullet and is Intel Blue</a:t>
            </a:r>
          </a:p>
          <a:p>
            <a:pPr lvl="1"/>
            <a:r>
              <a:rPr lang="en-US" dirty="0"/>
              <a:t>Intel Clear bullet one</a:t>
            </a:r>
          </a:p>
          <a:p>
            <a:pPr lvl="2"/>
            <a:r>
              <a:rPr lang="en-US" dirty="0"/>
              <a:t>Intel Clear sub-bullet</a:t>
            </a:r>
          </a:p>
          <a:p>
            <a:pPr lvl="3"/>
            <a:r>
              <a:rPr lang="en-US" dirty="0"/>
              <a:t>Intel Clear fourth level</a:t>
            </a:r>
          </a:p>
          <a:p>
            <a:pPr lvl="4"/>
            <a:r>
              <a:rPr lang="en-US" dirty="0"/>
              <a:t>Intel Clear fifth level</a:t>
            </a:r>
          </a:p>
        </p:txBody>
      </p:sp>
    </p:spTree>
    <p:extLst>
      <p:ext uri="{BB962C8B-B14F-4D97-AF65-F5344CB8AC3E}">
        <p14:creationId xmlns:p14="http://schemas.microsoft.com/office/powerpoint/2010/main" val="27342673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484" y="2810749"/>
            <a:ext cx="10363200" cy="1362075"/>
          </a:xfrm>
        </p:spPr>
        <p:txBody>
          <a:bodyPr anchor="b" anchorCtr="0">
            <a:noAutofit/>
          </a:bodyPr>
          <a:lstStyle>
            <a:lvl1pPr algn="l">
              <a:lnSpc>
                <a:spcPct val="80000"/>
              </a:lnSpc>
              <a:defRPr sz="7200"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a:t>Intel Clear Pro</a:t>
            </a:r>
            <a:br>
              <a:rPr lang="en-US" dirty="0"/>
            </a:br>
            <a:r>
              <a:rPr lang="en-US" dirty="0"/>
              <a:t>white section break</a:t>
            </a:r>
          </a:p>
        </p:txBody>
      </p:sp>
      <p:sp>
        <p:nvSpPr>
          <p:cNvPr id="3" name="Text Placeholder 2"/>
          <p:cNvSpPr>
            <a:spLocks noGrp="1"/>
          </p:cNvSpPr>
          <p:nvPr>
            <p:ph type="body" idx="1" hasCustomPrompt="1"/>
          </p:nvPr>
        </p:nvSpPr>
        <p:spPr>
          <a:xfrm>
            <a:off x="607484" y="4321533"/>
            <a:ext cx="10363200" cy="1500187"/>
          </a:xfrm>
        </p:spPr>
        <p:txBody>
          <a:bodyPr anchor="t" anchorCtr="0">
            <a:noAutofit/>
          </a:bodyPr>
          <a:lstStyle>
            <a:lvl1pPr marL="0" indent="0">
              <a:buNone/>
              <a:defRPr sz="2133" b="0" baseline="0">
                <a:solidFill>
                  <a:schemeClr val="accent2"/>
                </a:solidFill>
                <a:latin typeface="+mn-lt"/>
                <a:cs typeface="Intel Clear" panose="020B0604020203020204" pitchFamily="34"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dirty="0"/>
              <a:t>16pt Intel Clear Subhead</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Tree>
    <p:extLst>
      <p:ext uri="{BB962C8B-B14F-4D97-AF65-F5344CB8AC3E}">
        <p14:creationId xmlns:p14="http://schemas.microsoft.com/office/powerpoint/2010/main" val="193913284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64C55-8782-463D-A229-4F8DE8C6BA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BE9360-FE17-4784-9D2B-36ACC52A66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503FD3-84FF-4191-9DED-55E3A3C52DBC}"/>
              </a:ext>
            </a:extLst>
          </p:cNvPr>
          <p:cNvSpPr>
            <a:spLocks noGrp="1"/>
          </p:cNvSpPr>
          <p:nvPr>
            <p:ph type="dt" sz="half" idx="10"/>
          </p:nvPr>
        </p:nvSpPr>
        <p:spPr/>
        <p:txBody>
          <a:bodyPr/>
          <a:lstStyle/>
          <a:p>
            <a:fld id="{52122257-57BD-4FC2-8F08-835542920B61}" type="datetimeFigureOut">
              <a:rPr lang="en-US" smtClean="0"/>
              <a:t>11/11/2020</a:t>
            </a:fld>
            <a:endParaRPr lang="en-US"/>
          </a:p>
        </p:txBody>
      </p:sp>
      <p:sp>
        <p:nvSpPr>
          <p:cNvPr id="5" name="Footer Placeholder 4">
            <a:extLst>
              <a:ext uri="{FF2B5EF4-FFF2-40B4-BE49-F238E27FC236}">
                <a16:creationId xmlns:a16="http://schemas.microsoft.com/office/drawing/2014/main" id="{D3A3B3B6-417A-4201-B1A4-8D505A325A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FB519-77EA-4FA7-BACC-59EC57D31A24}"/>
              </a:ext>
            </a:extLst>
          </p:cNvPr>
          <p:cNvSpPr>
            <a:spLocks noGrp="1"/>
          </p:cNvSpPr>
          <p:nvPr>
            <p:ph type="sldNum" sz="quarter" idx="12"/>
          </p:nvPr>
        </p:nvSpPr>
        <p:spPr/>
        <p:txBody>
          <a:bodyPr/>
          <a:lstStyle/>
          <a:p>
            <a:fld id="{92BCFF4F-3379-4F01-9874-49103A9610D7}" type="slidenum">
              <a:rPr lang="en-US" smtClean="0"/>
              <a:t>‹#›</a:t>
            </a:fld>
            <a:endParaRPr lang="en-US"/>
          </a:p>
        </p:txBody>
      </p:sp>
    </p:spTree>
    <p:extLst>
      <p:ext uri="{BB962C8B-B14F-4D97-AF65-F5344CB8AC3E}">
        <p14:creationId xmlns:p14="http://schemas.microsoft.com/office/powerpoint/2010/main" val="1334864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rPr lang="en-US" dirty="0"/>
              <a:t>Body copy Intel clear light 28 point</a:t>
            </a:r>
          </a:p>
          <a:p>
            <a:pPr lvl="1"/>
            <a:r>
              <a:rPr lang="en-US" dirty="0"/>
              <a:t>Sub Bullet one 24 point</a:t>
            </a:r>
          </a:p>
          <a:p>
            <a:pPr lvl="2"/>
            <a:r>
              <a:rPr lang="en-US" dirty="0"/>
              <a:t>Sub Bullet two 20 point</a:t>
            </a:r>
          </a:p>
          <a:p>
            <a:pPr lvl="3"/>
            <a:r>
              <a:rPr lang="en-US" dirty="0"/>
              <a:t>Sub Bullet three 18 point</a:t>
            </a:r>
          </a:p>
          <a:p>
            <a:pPr lvl="4"/>
            <a:r>
              <a:rPr lang="en-US" dirty="0"/>
              <a:t>Sub Bullet four 16 point</a:t>
            </a:r>
            <a:br>
              <a:rPr lang="en-US" dirty="0"/>
            </a:br>
            <a:endParaRPr lang="en-US" dirty="0"/>
          </a:p>
          <a:p>
            <a:pPr lvl="2"/>
            <a:endParaRPr dirty="0"/>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p>
            <a:r>
              <a:rPr lang="en-US" dirty="0"/>
              <a:t>40pt Intel Clear Light Text Goes Here</a:t>
            </a:r>
            <a:endParaRPr dirty="0"/>
          </a:p>
        </p:txBody>
      </p:sp>
      <p:sp>
        <p:nvSpPr>
          <p:cNvPr id="2" name="Rectangle 1">
            <a:extLst>
              <a:ext uri="{FF2B5EF4-FFF2-40B4-BE49-F238E27FC236}">
                <a16:creationId xmlns:a16="http://schemas.microsoft.com/office/drawing/2014/main" id="{6D33D527-2918-4752-A9A7-0BDBA010BB39}"/>
              </a:ext>
            </a:extLst>
          </p:cNvPr>
          <p:cNvSpPr/>
          <p:nvPr userDrawn="1"/>
        </p:nvSpPr>
        <p:spPr>
          <a:xfrm>
            <a:off x="5428991" y="6562504"/>
            <a:ext cx="1334020" cy="245324"/>
          </a:xfrm>
          <a:prstGeom prst="rect">
            <a:avLst/>
          </a:prstGeom>
        </p:spPr>
        <p:txBody>
          <a:bodyPr wrap="none">
            <a:spAutoFit/>
          </a:bodyPr>
          <a:lstStyle/>
          <a:p>
            <a:pPr algn="ctr"/>
            <a:r>
              <a:rPr lang="en-US" sz="1100" b="1" dirty="0">
                <a:solidFill>
                  <a:schemeClr val="bg2"/>
                </a:solidFill>
              </a:rPr>
              <a:t>Intel Confidential</a:t>
            </a: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31">
            <a:extLst>
              <a:ext uri="{96DAC541-7B7A-43D3-8B79-37D633B846F1}">
                <asvg:svgBlip xmlns:asvg="http://schemas.microsoft.com/office/drawing/2016/SVG/main" r:embed="rId32"/>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785787" y="6550298"/>
            <a:ext cx="350326" cy="1846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2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200" b="0" i="0" u="none" strike="noStrike" cap="none" spc="0" normalizeH="0" baseline="0" dirty="0" err="1">
              <a:ln>
                <a:noFill/>
              </a:ln>
              <a:solidFill>
                <a:schemeClr val="bg2"/>
              </a:solidFill>
              <a:effectLst/>
              <a:uFillTx/>
              <a:latin typeface="+mn-lt"/>
              <a:ea typeface="+mn-ea"/>
              <a:cs typeface="+mn-cs"/>
              <a:sym typeface="Helvetica Neue"/>
            </a:endParaRPr>
          </a:p>
        </p:txBody>
      </p:sp>
      <p:sp>
        <p:nvSpPr>
          <p:cNvPr id="10" name="Rectangle 9">
            <a:extLst>
              <a:ext uri="{FF2B5EF4-FFF2-40B4-BE49-F238E27FC236}">
                <a16:creationId xmlns:a16="http://schemas.microsoft.com/office/drawing/2014/main" id="{DA23D9F5-D4BB-415A-8BA0-735BB92BA83A}"/>
              </a:ext>
            </a:extLst>
          </p:cNvPr>
          <p:cNvSpPr/>
          <p:nvPr userDrawn="1"/>
        </p:nvSpPr>
        <p:spPr>
          <a:xfrm>
            <a:off x="483010" y="6511109"/>
            <a:ext cx="2459328" cy="259238"/>
          </a:xfrm>
          <a:prstGeom prst="rect">
            <a:avLst/>
          </a:prstGeom>
        </p:spPr>
        <p:txBody>
          <a:bodyPr wrap="none">
            <a:spAutoFit/>
          </a:bodyPr>
          <a:lstStyle/>
          <a:p>
            <a:pPr algn="just"/>
            <a:r>
              <a:rPr lang="en-US" sz="1200" b="1" dirty="0">
                <a:solidFill>
                  <a:schemeClr val="tx1"/>
                </a:solidFill>
                <a:latin typeface="+mj-lt"/>
              </a:rPr>
              <a:t>CQR | </a:t>
            </a:r>
            <a:r>
              <a:rPr lang="en-US" sz="1100" b="1"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Customer Quality &amp; Reliability</a:t>
            </a:r>
            <a:endParaRPr lang="en-US" sz="1200" b="1"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 id="2147483781" r:id="rId27"/>
    <p:sldLayoutId id="2147483783" r:id="rId28"/>
    <p:sldLayoutId id="2147483784"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4000" b="1" i="0" u="none" strike="noStrike" cap="none" spc="0" baseline="0">
          <a:solidFill>
            <a:srgbClr val="0068B5"/>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300"/>
        </a:spcBef>
        <a:spcAft>
          <a:spcPts val="0"/>
        </a:spcAft>
        <a:buClrTx/>
        <a:buSzTx/>
        <a:buFont typeface="Wingdings" pitchFamily="2" charset="2"/>
        <a:buChar char="§"/>
        <a:tabLst/>
        <a:defRPr sz="2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300"/>
        </a:spcBef>
        <a:spcAft>
          <a:spcPts val="0"/>
        </a:spcAft>
        <a:buClrTx/>
        <a:buSzTx/>
        <a:buFont typeface="Arial" panose="020B0604020202020204" pitchFamily="34" charset="0"/>
        <a:buChar char="•"/>
        <a:tabLst/>
        <a:defRPr sz="24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3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3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300"/>
        </a:spcBef>
        <a:spcAft>
          <a:spcPts val="0"/>
        </a:spcAft>
        <a:buClrTx/>
        <a:buSzTx/>
        <a:buFont typeface="Arial" panose="020B0604020202020204" pitchFamily="34" charset="0"/>
        <a:buChar char="•"/>
        <a:tabLst/>
        <a:defRPr sz="16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8" Type="http://schemas.openxmlformats.org/officeDocument/2006/relationships/slide" Target="slide29.xml"/><Relationship Id="rId13" Type="http://schemas.openxmlformats.org/officeDocument/2006/relationships/slide" Target="slide34.xml"/><Relationship Id="rId18" Type="http://schemas.openxmlformats.org/officeDocument/2006/relationships/slide" Target="slide5.xml"/><Relationship Id="rId3" Type="http://schemas.openxmlformats.org/officeDocument/2006/relationships/slide" Target="slide23.xml"/><Relationship Id="rId7" Type="http://schemas.openxmlformats.org/officeDocument/2006/relationships/slide" Target="slide28.xml"/><Relationship Id="rId12" Type="http://schemas.openxmlformats.org/officeDocument/2006/relationships/slide" Target="slide33.xml"/><Relationship Id="rId17" Type="http://schemas.openxmlformats.org/officeDocument/2006/relationships/slide" Target="slide4.xml"/><Relationship Id="rId2" Type="http://schemas.openxmlformats.org/officeDocument/2006/relationships/notesSlide" Target="../notesSlides/notesSlide2.xml"/><Relationship Id="rId16" Type="http://schemas.openxmlformats.org/officeDocument/2006/relationships/slide" Target="slide22.xml"/><Relationship Id="rId20" Type="http://schemas.openxmlformats.org/officeDocument/2006/relationships/slide" Target="slide13.xml"/><Relationship Id="rId1" Type="http://schemas.openxmlformats.org/officeDocument/2006/relationships/slideLayout" Target="../slideLayouts/slideLayout27.xml"/><Relationship Id="rId6" Type="http://schemas.openxmlformats.org/officeDocument/2006/relationships/slide" Target="slide27.xml"/><Relationship Id="rId11" Type="http://schemas.openxmlformats.org/officeDocument/2006/relationships/slide" Target="slide32.xml"/><Relationship Id="rId5" Type="http://schemas.openxmlformats.org/officeDocument/2006/relationships/slide" Target="slide25.xml"/><Relationship Id="rId15" Type="http://schemas.openxmlformats.org/officeDocument/2006/relationships/slide" Target="slide11.xml"/><Relationship Id="rId10" Type="http://schemas.openxmlformats.org/officeDocument/2006/relationships/slide" Target="slide31.xml"/><Relationship Id="rId19" Type="http://schemas.openxmlformats.org/officeDocument/2006/relationships/slide" Target="slide10.xml"/><Relationship Id="rId4" Type="http://schemas.openxmlformats.org/officeDocument/2006/relationships/slide" Target="slide24.xml"/><Relationship Id="rId9" Type="http://schemas.openxmlformats.org/officeDocument/2006/relationships/slide" Target="slide30.xml"/><Relationship Id="rId14" Type="http://schemas.openxmlformats.org/officeDocument/2006/relationships/slide" Target="slide8.xml"/></Relationships>
</file>

<file path=ppt/slides/_rels/slide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3" Type="http://schemas.openxmlformats.org/officeDocument/2006/relationships/slide" Target="slide36.xml"/><Relationship Id="rId2" Type="http://schemas.openxmlformats.org/officeDocument/2006/relationships/hyperlink" Target="https://en.wikipedia.org/wiki/Cobot" TargetMode="External"/><Relationship Id="rId1" Type="http://schemas.openxmlformats.org/officeDocument/2006/relationships/slideLayout" Target="../slideLayouts/slideLayout27.xml"/><Relationship Id="rId5" Type="http://schemas.openxmlformats.org/officeDocument/2006/relationships/slide" Target="slide37.xml"/><Relationship Id="rId4" Type="http://schemas.openxmlformats.org/officeDocument/2006/relationships/slide" Target="slide35.xml"/></Relationships>
</file>

<file path=ppt/slides/_rels/slide9.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notesSlide" Target="../notesSlides/notesSlide3.xml"/><Relationship Id="rId1" Type="http://schemas.openxmlformats.org/officeDocument/2006/relationships/slideLayout" Target="../slideLayouts/slideLayout27.xml"/><Relationship Id="rId5" Type="http://schemas.openxmlformats.org/officeDocument/2006/relationships/slide" Target="slide3.xml"/><Relationship Id="rId4" Type="http://schemas.openxmlformats.org/officeDocument/2006/relationships/slide" Target="slide40.xml"/></Relationships>
</file>

<file path=ppt/slides/_rels/slide1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7.xml"/></Relationships>
</file>

<file path=ppt/slides/_rels/slide3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7.xml"/></Relationships>
</file>

<file path=ppt/slides/_rels/slide3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7.xml"/></Relationships>
</file>

<file path=ppt/slides/_rels/slide3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4.xml"/><Relationship Id="rId4" Type="http://schemas.openxmlformats.org/officeDocument/2006/relationships/slide" Target="slide8.xml"/></Relationships>
</file>

<file path=ppt/slides/_rels/slide3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image" Target="../media/image18.jpeg"/><Relationship Id="rId2" Type="http://schemas.openxmlformats.org/officeDocument/2006/relationships/image" Target="../media/image14.jpeg"/><Relationship Id="rId1" Type="http://schemas.openxmlformats.org/officeDocument/2006/relationships/slideLayout" Target="../slideLayouts/slideLayout4.xml"/><Relationship Id="rId6" Type="http://schemas.openxmlformats.org/officeDocument/2006/relationships/image" Target="../media/image17.jpeg"/><Relationship Id="rId5" Type="http://schemas.openxmlformats.org/officeDocument/2006/relationships/slide" Target="slide8.xml"/><Relationship Id="rId4" Type="http://schemas.openxmlformats.org/officeDocument/2006/relationships/image" Target="../media/image16.jpeg"/></Relationships>
</file>

<file path=ppt/slides/_rels/slide3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4.xml"/><Relationship Id="rId4" Type="http://schemas.openxmlformats.org/officeDocument/2006/relationships/image" Target="../media/image21.jpeg"/></Relationships>
</file>

<file path=ppt/slides/_rels/slide3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22.jpe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23.jpeg"/><Relationship Id="rId1" Type="http://schemas.openxmlformats.org/officeDocument/2006/relationships/slideLayout" Target="../slideLayouts/slideLayout4.xml"/><Relationship Id="rId5" Type="http://schemas.openxmlformats.org/officeDocument/2006/relationships/image" Target="../media/image25.jpeg"/><Relationship Id="rId4" Type="http://schemas.openxmlformats.org/officeDocument/2006/relationships/image" Target="../media/image24.jpeg"/></Relationships>
</file>

<file path=ppt/slides/_rels/slide41.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27.jpeg"/><Relationship Id="rId7" Type="http://schemas.openxmlformats.org/officeDocument/2006/relationships/image" Target="../media/image31.jpeg"/><Relationship Id="rId2" Type="http://schemas.openxmlformats.org/officeDocument/2006/relationships/image" Target="../media/image26.jpeg"/><Relationship Id="rId1" Type="http://schemas.openxmlformats.org/officeDocument/2006/relationships/slideLayout" Target="../slideLayouts/slideLayout4.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04480D3-CF96-458F-910A-D3A08F2DF84D}"/>
              </a:ext>
            </a:extLst>
          </p:cNvPr>
          <p:cNvSpPr>
            <a:spLocks noGrp="1"/>
          </p:cNvSpPr>
          <p:nvPr>
            <p:ph type="title"/>
          </p:nvPr>
        </p:nvSpPr>
        <p:spPr>
          <a:xfrm>
            <a:off x="1895475" y="3039365"/>
            <a:ext cx="10283651" cy="1091827"/>
          </a:xfrm>
        </p:spPr>
        <p:txBody>
          <a:bodyPr/>
          <a:lstStyle/>
          <a:p>
            <a:r>
              <a:rPr lang="en-US" sz="3600" dirty="0">
                <a:latin typeface="Intel Clear" panose="020B0604020203020204" pitchFamily="34" charset="0"/>
                <a:ea typeface="Intel Clear" panose="020B0604020203020204" pitchFamily="34" charset="0"/>
                <a:cs typeface="Intel Clear" panose="020B0604020203020204" pitchFamily="34" charset="0"/>
              </a:rPr>
              <a:t>Alder Lake-S OEM &amp; ODM CRD Survey Report </a:t>
            </a:r>
            <a:br>
              <a:rPr lang="en-US" sz="3600" dirty="0">
                <a:latin typeface="Intel Clear" panose="020B0604020203020204" pitchFamily="34" charset="0"/>
                <a:ea typeface="Intel Clear" panose="020B0604020203020204" pitchFamily="34" charset="0"/>
                <a:cs typeface="Intel Clear" panose="020B0604020203020204" pitchFamily="34" charset="0"/>
              </a:rPr>
            </a:br>
            <a:r>
              <a:rPr lang="en-US" sz="3600" dirty="0">
                <a:latin typeface="Intel Clear" panose="020B0604020203020204" pitchFamily="34" charset="0"/>
                <a:ea typeface="Intel Clear" panose="020B0604020203020204" pitchFamily="34" charset="0"/>
                <a:cs typeface="Intel Clear" panose="020B0604020203020204" pitchFamily="34" charset="0"/>
              </a:rPr>
              <a:t>(Desktop Segment</a:t>
            </a:r>
            <a:r>
              <a:rPr lang="en-US" sz="3600" dirty="0"/>
              <a:t>)</a:t>
            </a:r>
            <a:endParaRPr lang="en-MY" sz="3600" dirty="0"/>
          </a:p>
        </p:txBody>
      </p:sp>
      <p:sp>
        <p:nvSpPr>
          <p:cNvPr id="3" name="Text Placeholder 2">
            <a:extLst>
              <a:ext uri="{FF2B5EF4-FFF2-40B4-BE49-F238E27FC236}">
                <a16:creationId xmlns:a16="http://schemas.microsoft.com/office/drawing/2014/main" id="{ED1BFCD3-4133-45A8-9689-2F3708B6B9C2}"/>
              </a:ext>
            </a:extLst>
          </p:cNvPr>
          <p:cNvSpPr>
            <a:spLocks noGrp="1"/>
          </p:cNvSpPr>
          <p:nvPr>
            <p:ph type="body" sz="quarter" idx="27"/>
          </p:nvPr>
        </p:nvSpPr>
        <p:spPr>
          <a:xfrm>
            <a:off x="1895474" y="4482276"/>
            <a:ext cx="10283651" cy="846014"/>
          </a:xfrm>
        </p:spPr>
        <p:txBody>
          <a:bodyPr>
            <a:noAutofit/>
          </a:bodyPr>
          <a:lstStyle/>
          <a:p>
            <a:pPr>
              <a:spcBef>
                <a:spcPts val="0"/>
              </a:spcBef>
            </a:pPr>
            <a:r>
              <a:rPr lang="en-MY" b="1"/>
              <a:t>Customer participated</a:t>
            </a:r>
            <a:r>
              <a:rPr lang="en-MY"/>
              <a:t>: </a:t>
            </a:r>
            <a:endParaRPr lang="en-MY" dirty="0"/>
          </a:p>
          <a:p>
            <a:pPr>
              <a:spcBef>
                <a:spcPts val="0"/>
              </a:spcBef>
            </a:pPr>
            <a:r>
              <a:rPr lang="en-MY" dirty="0"/>
              <a:t>ACER, AS ROCK, ASUS, DELL, LENOVO, MSI, LITEON, FOXCONN, LCFC, ECS</a:t>
            </a:r>
          </a:p>
          <a:p>
            <a:pPr>
              <a:spcBef>
                <a:spcPts val="0"/>
              </a:spcBef>
            </a:pPr>
            <a:r>
              <a:rPr lang="en-MY" dirty="0"/>
              <a:t>2020 - WW45 Rev 0</a:t>
            </a:r>
          </a:p>
        </p:txBody>
      </p:sp>
      <p:sp>
        <p:nvSpPr>
          <p:cNvPr id="8" name="Rectangle: Rounded Corners 7">
            <a:extLst>
              <a:ext uri="{FF2B5EF4-FFF2-40B4-BE49-F238E27FC236}">
                <a16:creationId xmlns:a16="http://schemas.microsoft.com/office/drawing/2014/main" id="{F4905FF8-E5DF-46B6-8E1C-5DE6C27986E5}"/>
              </a:ext>
            </a:extLst>
          </p:cNvPr>
          <p:cNvSpPr/>
          <p:nvPr/>
        </p:nvSpPr>
        <p:spPr>
          <a:xfrm>
            <a:off x="2715973" y="781919"/>
            <a:ext cx="6492683" cy="1823058"/>
          </a:xfrm>
          <a:prstGeom prst="roundRect">
            <a:avLst/>
          </a:prstGeom>
          <a:noFill/>
          <a:ln w="317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800" b="1" dirty="0">
                <a:solidFill>
                  <a:srgbClr val="FF0000"/>
                </a:solidFill>
              </a:rPr>
              <a:t>CONFIDENTIAL</a:t>
            </a:r>
          </a:p>
          <a:p>
            <a:pPr algn="ctr"/>
            <a:r>
              <a:rPr lang="en-MY" sz="2667" dirty="0">
                <a:solidFill>
                  <a:srgbClr val="FF0000"/>
                </a:solidFill>
              </a:rPr>
              <a:t>Contained customer process information under NDA</a:t>
            </a:r>
          </a:p>
        </p:txBody>
      </p:sp>
    </p:spTree>
    <p:extLst>
      <p:ext uri="{BB962C8B-B14F-4D97-AF65-F5344CB8AC3E}">
        <p14:creationId xmlns:p14="http://schemas.microsoft.com/office/powerpoint/2010/main" val="340365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87DC6812-E0A2-4FBC-B9E1-5647A4C58A62}"/>
              </a:ext>
            </a:extLst>
          </p:cNvPr>
          <p:cNvGraphicFramePr>
            <a:graphicFrameLocks noGrp="1"/>
          </p:cNvGraphicFramePr>
          <p:nvPr>
            <p:ph sz="quarter" idx="13"/>
            <p:extLst>
              <p:ext uri="{D42A27DB-BD31-4B8C-83A1-F6EECF244321}">
                <p14:modId xmlns:p14="http://schemas.microsoft.com/office/powerpoint/2010/main" val="297916181"/>
              </p:ext>
            </p:extLst>
          </p:nvPr>
        </p:nvGraphicFramePr>
        <p:xfrm>
          <a:off x="607484" y="1126102"/>
          <a:ext cx="10970680" cy="4944530"/>
        </p:xfrm>
        <a:graphic>
          <a:graphicData uri="http://schemas.openxmlformats.org/drawingml/2006/table">
            <a:tbl>
              <a:tblPr firstRow="1" bandRow="1">
                <a:tableStyleId>{69012ECD-51FC-41F1-AA8D-1B2483CD663E}</a:tableStyleId>
              </a:tblPr>
              <a:tblGrid>
                <a:gridCol w="580037">
                  <a:extLst>
                    <a:ext uri="{9D8B030D-6E8A-4147-A177-3AD203B41FA5}">
                      <a16:colId xmlns:a16="http://schemas.microsoft.com/office/drawing/2014/main" val="2962252074"/>
                    </a:ext>
                  </a:extLst>
                </a:gridCol>
                <a:gridCol w="1277352">
                  <a:extLst>
                    <a:ext uri="{9D8B030D-6E8A-4147-A177-3AD203B41FA5}">
                      <a16:colId xmlns:a16="http://schemas.microsoft.com/office/drawing/2014/main" val="3019903190"/>
                    </a:ext>
                  </a:extLst>
                </a:gridCol>
                <a:gridCol w="1885232">
                  <a:extLst>
                    <a:ext uri="{9D8B030D-6E8A-4147-A177-3AD203B41FA5}">
                      <a16:colId xmlns:a16="http://schemas.microsoft.com/office/drawing/2014/main" val="2982499619"/>
                    </a:ext>
                  </a:extLst>
                </a:gridCol>
                <a:gridCol w="7228059">
                  <a:extLst>
                    <a:ext uri="{9D8B030D-6E8A-4147-A177-3AD203B41FA5}">
                      <a16:colId xmlns:a16="http://schemas.microsoft.com/office/drawing/2014/main" val="3198117007"/>
                    </a:ext>
                  </a:extLst>
                </a:gridCol>
              </a:tblGrid>
              <a:tr h="494453">
                <a:tc>
                  <a:txBody>
                    <a:bodyPr/>
                    <a:lstStyle/>
                    <a:p>
                      <a:pPr algn="l"/>
                      <a:r>
                        <a:rPr lang="en-US" sz="1900" dirty="0"/>
                        <a:t>#</a:t>
                      </a:r>
                      <a:endParaRPr lang="en-MY" sz="1900" dirty="0"/>
                    </a:p>
                  </a:txBody>
                  <a:tcPr marL="121920" marR="121920" marT="60960" marB="60960"/>
                </a:tc>
                <a:tc>
                  <a:txBody>
                    <a:bodyPr/>
                    <a:lstStyle/>
                    <a:p>
                      <a:pPr algn="l"/>
                      <a:r>
                        <a:rPr lang="en-US" sz="1900" dirty="0"/>
                        <a:t>Rev</a:t>
                      </a:r>
                      <a:endParaRPr lang="en-MY" sz="1900" dirty="0"/>
                    </a:p>
                  </a:txBody>
                  <a:tcPr marL="121920" marR="121920" marT="60960" marB="60960"/>
                </a:tc>
                <a:tc>
                  <a:txBody>
                    <a:bodyPr/>
                    <a:lstStyle/>
                    <a:p>
                      <a:pPr algn="l"/>
                      <a:r>
                        <a:rPr lang="en-US" sz="1900" dirty="0"/>
                        <a:t>Date Released</a:t>
                      </a:r>
                      <a:endParaRPr lang="en-MY" sz="1900" dirty="0"/>
                    </a:p>
                  </a:txBody>
                  <a:tcPr marL="121920" marR="121920" marT="60960" marB="60960"/>
                </a:tc>
                <a:tc>
                  <a:txBody>
                    <a:bodyPr/>
                    <a:lstStyle/>
                    <a:p>
                      <a:pPr algn="l"/>
                      <a:r>
                        <a:rPr lang="en-US" sz="1900" dirty="0"/>
                        <a:t>Change Description </a:t>
                      </a:r>
                      <a:endParaRPr lang="en-MY" sz="1900" dirty="0"/>
                    </a:p>
                  </a:txBody>
                  <a:tcPr marL="121920" marR="121920" marT="60960" marB="60960"/>
                </a:tc>
                <a:extLst>
                  <a:ext uri="{0D108BD9-81ED-4DB2-BD59-A6C34878D82A}">
                    <a16:rowId xmlns:a16="http://schemas.microsoft.com/office/drawing/2014/main" val="2312255859"/>
                  </a:ext>
                </a:extLst>
              </a:tr>
              <a:tr h="494453">
                <a:tc>
                  <a:txBody>
                    <a:bodyPr/>
                    <a:lstStyle/>
                    <a:p>
                      <a:pPr algn="l"/>
                      <a:r>
                        <a:rPr lang="en-US" sz="1900" dirty="0">
                          <a:solidFill>
                            <a:schemeClr val="bg2"/>
                          </a:solidFill>
                        </a:rPr>
                        <a:t>1</a:t>
                      </a:r>
                      <a:endParaRPr lang="en-MY" sz="1900" dirty="0">
                        <a:solidFill>
                          <a:schemeClr val="bg2"/>
                        </a:solidFill>
                      </a:endParaRPr>
                    </a:p>
                  </a:txBody>
                  <a:tcPr marL="121920" marR="121920" marT="60960" marB="60960"/>
                </a:tc>
                <a:tc>
                  <a:txBody>
                    <a:bodyPr/>
                    <a:lstStyle/>
                    <a:p>
                      <a:pPr algn="l"/>
                      <a:r>
                        <a:rPr lang="en-US" sz="1900" dirty="0">
                          <a:solidFill>
                            <a:schemeClr val="bg2"/>
                          </a:solidFill>
                        </a:rPr>
                        <a:t>0</a:t>
                      </a:r>
                      <a:endParaRPr lang="en-MY" sz="1900" dirty="0">
                        <a:solidFill>
                          <a:schemeClr val="bg2"/>
                        </a:solidFill>
                      </a:endParaRPr>
                    </a:p>
                  </a:txBody>
                  <a:tcPr marL="121920" marR="121920" marT="60960" marB="60960"/>
                </a:tc>
                <a:tc>
                  <a:txBody>
                    <a:bodyPr/>
                    <a:lstStyle/>
                    <a:p>
                      <a:pPr algn="l"/>
                      <a:r>
                        <a:rPr lang="en-US" sz="1900" dirty="0">
                          <a:solidFill>
                            <a:schemeClr val="bg2"/>
                          </a:solidFill>
                        </a:rPr>
                        <a:t>W45 Y2020</a:t>
                      </a:r>
                      <a:endParaRPr lang="en-MY" sz="1900" dirty="0">
                        <a:solidFill>
                          <a:schemeClr val="bg2"/>
                        </a:solidFill>
                      </a:endParaRPr>
                    </a:p>
                  </a:txBody>
                  <a:tcPr marL="121920" marR="121920" marT="60960" marB="60960"/>
                </a:tc>
                <a:tc>
                  <a:txBody>
                    <a:bodyPr/>
                    <a:lstStyle/>
                    <a:p>
                      <a:pPr algn="l"/>
                      <a:r>
                        <a:rPr lang="en-US" sz="1900" dirty="0">
                          <a:solidFill>
                            <a:schemeClr val="bg2"/>
                          </a:solidFill>
                        </a:rPr>
                        <a:t>New doc</a:t>
                      </a:r>
                      <a:endParaRPr lang="en-MY" sz="1900" dirty="0">
                        <a:solidFill>
                          <a:schemeClr val="bg2"/>
                        </a:solidFill>
                      </a:endParaRPr>
                    </a:p>
                  </a:txBody>
                  <a:tcPr marL="121920" marR="121920" marT="60960" marB="60960"/>
                </a:tc>
                <a:extLst>
                  <a:ext uri="{0D108BD9-81ED-4DB2-BD59-A6C34878D82A}">
                    <a16:rowId xmlns:a16="http://schemas.microsoft.com/office/drawing/2014/main" val="2792990111"/>
                  </a:ext>
                </a:extLst>
              </a:tr>
              <a:tr h="494453">
                <a:tc>
                  <a:txBody>
                    <a:bodyPr/>
                    <a:lstStyle/>
                    <a:p>
                      <a:pPr algn="l"/>
                      <a:endParaRPr lang="en-MY" sz="1900" dirty="0"/>
                    </a:p>
                  </a:txBody>
                  <a:tcPr marL="121920" marR="121920" marT="60960" marB="60960"/>
                </a:tc>
                <a:tc>
                  <a:txBody>
                    <a:bodyPr/>
                    <a:lstStyle/>
                    <a:p>
                      <a:pPr algn="l"/>
                      <a:endParaRPr lang="en-MY" sz="1900" dirty="0"/>
                    </a:p>
                  </a:txBody>
                  <a:tcPr marL="121920" marR="121920" marT="60960" marB="60960"/>
                </a:tc>
                <a:tc>
                  <a:txBody>
                    <a:bodyPr/>
                    <a:lstStyle/>
                    <a:p>
                      <a:pPr algn="l"/>
                      <a:endParaRPr lang="en-MY" sz="1900" dirty="0"/>
                    </a:p>
                  </a:txBody>
                  <a:tcPr marL="121920" marR="121920" marT="60960" marB="60960"/>
                </a:tc>
                <a:tc>
                  <a:txBody>
                    <a:bodyPr/>
                    <a:lstStyle/>
                    <a:p>
                      <a:pPr algn="l"/>
                      <a:endParaRPr lang="en-MY" sz="1900" dirty="0"/>
                    </a:p>
                  </a:txBody>
                  <a:tcPr marL="121920" marR="121920" marT="60960" marB="60960"/>
                </a:tc>
                <a:extLst>
                  <a:ext uri="{0D108BD9-81ED-4DB2-BD59-A6C34878D82A}">
                    <a16:rowId xmlns:a16="http://schemas.microsoft.com/office/drawing/2014/main" val="756855157"/>
                  </a:ext>
                </a:extLst>
              </a:tr>
              <a:tr h="494453">
                <a:tc>
                  <a:txBody>
                    <a:bodyPr/>
                    <a:lstStyle/>
                    <a:p>
                      <a:pPr algn="l"/>
                      <a:endParaRPr lang="en-MY" sz="1900"/>
                    </a:p>
                  </a:txBody>
                  <a:tcPr marL="121920" marR="121920" marT="60960" marB="60960"/>
                </a:tc>
                <a:tc>
                  <a:txBody>
                    <a:bodyPr/>
                    <a:lstStyle/>
                    <a:p>
                      <a:pPr algn="l"/>
                      <a:endParaRPr lang="en-MY" sz="1900"/>
                    </a:p>
                  </a:txBody>
                  <a:tcPr marL="121920" marR="121920" marT="60960" marB="60960"/>
                </a:tc>
                <a:tc>
                  <a:txBody>
                    <a:bodyPr/>
                    <a:lstStyle/>
                    <a:p>
                      <a:pPr algn="l"/>
                      <a:endParaRPr lang="en-MY" sz="1900" dirty="0"/>
                    </a:p>
                  </a:txBody>
                  <a:tcPr marL="121920" marR="121920" marT="60960" marB="60960"/>
                </a:tc>
                <a:tc>
                  <a:txBody>
                    <a:bodyPr/>
                    <a:lstStyle/>
                    <a:p>
                      <a:pPr algn="l"/>
                      <a:endParaRPr lang="en-MY" sz="1900" dirty="0"/>
                    </a:p>
                  </a:txBody>
                  <a:tcPr marL="121920" marR="121920" marT="60960" marB="60960"/>
                </a:tc>
                <a:extLst>
                  <a:ext uri="{0D108BD9-81ED-4DB2-BD59-A6C34878D82A}">
                    <a16:rowId xmlns:a16="http://schemas.microsoft.com/office/drawing/2014/main" val="3847394394"/>
                  </a:ext>
                </a:extLst>
              </a:tr>
              <a:tr h="494453">
                <a:tc>
                  <a:txBody>
                    <a:bodyPr/>
                    <a:lstStyle/>
                    <a:p>
                      <a:pPr algn="l"/>
                      <a:endParaRPr lang="en-MY" sz="1900"/>
                    </a:p>
                  </a:txBody>
                  <a:tcPr marL="121920" marR="121920" marT="60960" marB="60960"/>
                </a:tc>
                <a:tc>
                  <a:txBody>
                    <a:bodyPr/>
                    <a:lstStyle/>
                    <a:p>
                      <a:pPr algn="l"/>
                      <a:endParaRPr lang="en-MY" sz="1900"/>
                    </a:p>
                  </a:txBody>
                  <a:tcPr marL="121920" marR="121920" marT="60960" marB="60960"/>
                </a:tc>
                <a:tc>
                  <a:txBody>
                    <a:bodyPr/>
                    <a:lstStyle/>
                    <a:p>
                      <a:pPr algn="l"/>
                      <a:endParaRPr lang="en-MY" sz="1900" dirty="0"/>
                    </a:p>
                  </a:txBody>
                  <a:tcPr marL="121920" marR="121920" marT="60960" marB="60960"/>
                </a:tc>
                <a:tc>
                  <a:txBody>
                    <a:bodyPr/>
                    <a:lstStyle/>
                    <a:p>
                      <a:pPr algn="l"/>
                      <a:endParaRPr lang="en-MY" sz="1900" dirty="0"/>
                    </a:p>
                  </a:txBody>
                  <a:tcPr marL="121920" marR="121920" marT="60960" marB="60960"/>
                </a:tc>
                <a:extLst>
                  <a:ext uri="{0D108BD9-81ED-4DB2-BD59-A6C34878D82A}">
                    <a16:rowId xmlns:a16="http://schemas.microsoft.com/office/drawing/2014/main" val="396248220"/>
                  </a:ext>
                </a:extLst>
              </a:tr>
              <a:tr h="494453">
                <a:tc>
                  <a:txBody>
                    <a:bodyPr/>
                    <a:lstStyle/>
                    <a:p>
                      <a:pPr algn="l"/>
                      <a:endParaRPr lang="en-MY" sz="1900"/>
                    </a:p>
                  </a:txBody>
                  <a:tcPr marL="121920" marR="121920" marT="60960" marB="60960"/>
                </a:tc>
                <a:tc>
                  <a:txBody>
                    <a:bodyPr/>
                    <a:lstStyle/>
                    <a:p>
                      <a:pPr algn="l"/>
                      <a:endParaRPr lang="en-MY" sz="1900"/>
                    </a:p>
                  </a:txBody>
                  <a:tcPr marL="121920" marR="121920" marT="60960" marB="60960"/>
                </a:tc>
                <a:tc>
                  <a:txBody>
                    <a:bodyPr/>
                    <a:lstStyle/>
                    <a:p>
                      <a:pPr algn="l"/>
                      <a:endParaRPr lang="en-MY" sz="1900" dirty="0"/>
                    </a:p>
                  </a:txBody>
                  <a:tcPr marL="121920" marR="121920" marT="60960" marB="60960"/>
                </a:tc>
                <a:tc>
                  <a:txBody>
                    <a:bodyPr/>
                    <a:lstStyle/>
                    <a:p>
                      <a:pPr algn="l"/>
                      <a:endParaRPr lang="en-MY" sz="1900" dirty="0"/>
                    </a:p>
                  </a:txBody>
                  <a:tcPr marL="121920" marR="121920" marT="60960" marB="60960"/>
                </a:tc>
                <a:extLst>
                  <a:ext uri="{0D108BD9-81ED-4DB2-BD59-A6C34878D82A}">
                    <a16:rowId xmlns:a16="http://schemas.microsoft.com/office/drawing/2014/main" val="1779649880"/>
                  </a:ext>
                </a:extLst>
              </a:tr>
              <a:tr h="494453">
                <a:tc>
                  <a:txBody>
                    <a:bodyPr/>
                    <a:lstStyle/>
                    <a:p>
                      <a:pPr algn="l"/>
                      <a:endParaRPr lang="en-MY" sz="1900"/>
                    </a:p>
                  </a:txBody>
                  <a:tcPr marL="121920" marR="121920" marT="60960" marB="60960"/>
                </a:tc>
                <a:tc>
                  <a:txBody>
                    <a:bodyPr/>
                    <a:lstStyle/>
                    <a:p>
                      <a:pPr algn="l"/>
                      <a:endParaRPr lang="en-MY" sz="1900"/>
                    </a:p>
                  </a:txBody>
                  <a:tcPr marL="121920" marR="121920" marT="60960" marB="60960"/>
                </a:tc>
                <a:tc>
                  <a:txBody>
                    <a:bodyPr/>
                    <a:lstStyle/>
                    <a:p>
                      <a:pPr algn="l"/>
                      <a:endParaRPr lang="en-MY" sz="1900" dirty="0"/>
                    </a:p>
                  </a:txBody>
                  <a:tcPr marL="121920" marR="121920" marT="60960" marB="60960"/>
                </a:tc>
                <a:tc>
                  <a:txBody>
                    <a:bodyPr/>
                    <a:lstStyle/>
                    <a:p>
                      <a:pPr algn="l"/>
                      <a:endParaRPr lang="en-MY" sz="1900" dirty="0"/>
                    </a:p>
                  </a:txBody>
                  <a:tcPr marL="121920" marR="121920" marT="60960" marB="60960"/>
                </a:tc>
                <a:extLst>
                  <a:ext uri="{0D108BD9-81ED-4DB2-BD59-A6C34878D82A}">
                    <a16:rowId xmlns:a16="http://schemas.microsoft.com/office/drawing/2014/main" val="1206007545"/>
                  </a:ext>
                </a:extLst>
              </a:tr>
              <a:tr h="494453">
                <a:tc>
                  <a:txBody>
                    <a:bodyPr/>
                    <a:lstStyle/>
                    <a:p>
                      <a:pPr algn="l"/>
                      <a:endParaRPr lang="en-MY" sz="1900"/>
                    </a:p>
                  </a:txBody>
                  <a:tcPr marL="121920" marR="121920" marT="60960" marB="60960"/>
                </a:tc>
                <a:tc>
                  <a:txBody>
                    <a:bodyPr/>
                    <a:lstStyle/>
                    <a:p>
                      <a:pPr algn="l"/>
                      <a:endParaRPr lang="en-MY" sz="1900"/>
                    </a:p>
                  </a:txBody>
                  <a:tcPr marL="121920" marR="121920" marT="60960" marB="60960"/>
                </a:tc>
                <a:tc>
                  <a:txBody>
                    <a:bodyPr/>
                    <a:lstStyle/>
                    <a:p>
                      <a:pPr algn="l"/>
                      <a:endParaRPr lang="en-MY" sz="1900" dirty="0"/>
                    </a:p>
                  </a:txBody>
                  <a:tcPr marL="121920" marR="121920" marT="60960" marB="60960"/>
                </a:tc>
                <a:tc>
                  <a:txBody>
                    <a:bodyPr/>
                    <a:lstStyle/>
                    <a:p>
                      <a:pPr algn="l"/>
                      <a:endParaRPr lang="en-MY" sz="1900" dirty="0"/>
                    </a:p>
                  </a:txBody>
                  <a:tcPr marL="121920" marR="121920" marT="60960" marB="60960"/>
                </a:tc>
                <a:extLst>
                  <a:ext uri="{0D108BD9-81ED-4DB2-BD59-A6C34878D82A}">
                    <a16:rowId xmlns:a16="http://schemas.microsoft.com/office/drawing/2014/main" val="428232226"/>
                  </a:ext>
                </a:extLst>
              </a:tr>
              <a:tr h="494453">
                <a:tc>
                  <a:txBody>
                    <a:bodyPr/>
                    <a:lstStyle/>
                    <a:p>
                      <a:pPr algn="l"/>
                      <a:endParaRPr lang="en-MY" sz="1900"/>
                    </a:p>
                  </a:txBody>
                  <a:tcPr marL="121920" marR="121920" marT="60960" marB="60960"/>
                </a:tc>
                <a:tc>
                  <a:txBody>
                    <a:bodyPr/>
                    <a:lstStyle/>
                    <a:p>
                      <a:pPr algn="l"/>
                      <a:endParaRPr lang="en-MY" sz="1900"/>
                    </a:p>
                  </a:txBody>
                  <a:tcPr marL="121920" marR="121920" marT="60960" marB="60960"/>
                </a:tc>
                <a:tc>
                  <a:txBody>
                    <a:bodyPr/>
                    <a:lstStyle/>
                    <a:p>
                      <a:pPr algn="l"/>
                      <a:endParaRPr lang="en-MY" sz="1900" dirty="0"/>
                    </a:p>
                  </a:txBody>
                  <a:tcPr marL="121920" marR="121920" marT="60960" marB="60960"/>
                </a:tc>
                <a:tc>
                  <a:txBody>
                    <a:bodyPr/>
                    <a:lstStyle/>
                    <a:p>
                      <a:pPr algn="l"/>
                      <a:endParaRPr lang="en-MY" sz="1900" dirty="0"/>
                    </a:p>
                  </a:txBody>
                  <a:tcPr marL="121920" marR="121920" marT="60960" marB="60960"/>
                </a:tc>
                <a:extLst>
                  <a:ext uri="{0D108BD9-81ED-4DB2-BD59-A6C34878D82A}">
                    <a16:rowId xmlns:a16="http://schemas.microsoft.com/office/drawing/2014/main" val="440202276"/>
                  </a:ext>
                </a:extLst>
              </a:tr>
              <a:tr h="494453">
                <a:tc>
                  <a:txBody>
                    <a:bodyPr/>
                    <a:lstStyle/>
                    <a:p>
                      <a:pPr algn="l"/>
                      <a:endParaRPr lang="en-MY" sz="1900"/>
                    </a:p>
                  </a:txBody>
                  <a:tcPr marL="121920" marR="121920" marT="60960" marB="60960"/>
                </a:tc>
                <a:tc>
                  <a:txBody>
                    <a:bodyPr/>
                    <a:lstStyle/>
                    <a:p>
                      <a:pPr algn="l"/>
                      <a:endParaRPr lang="en-MY" sz="1900"/>
                    </a:p>
                  </a:txBody>
                  <a:tcPr marL="121920" marR="121920" marT="60960" marB="60960"/>
                </a:tc>
                <a:tc>
                  <a:txBody>
                    <a:bodyPr/>
                    <a:lstStyle/>
                    <a:p>
                      <a:pPr algn="l"/>
                      <a:endParaRPr lang="en-MY" sz="1900" dirty="0"/>
                    </a:p>
                  </a:txBody>
                  <a:tcPr marL="121920" marR="121920" marT="60960" marB="60960"/>
                </a:tc>
                <a:tc>
                  <a:txBody>
                    <a:bodyPr/>
                    <a:lstStyle/>
                    <a:p>
                      <a:pPr algn="l"/>
                      <a:endParaRPr lang="en-MY" sz="1900" dirty="0"/>
                    </a:p>
                  </a:txBody>
                  <a:tcPr marL="121920" marR="121920" marT="60960" marB="60960"/>
                </a:tc>
                <a:extLst>
                  <a:ext uri="{0D108BD9-81ED-4DB2-BD59-A6C34878D82A}">
                    <a16:rowId xmlns:a16="http://schemas.microsoft.com/office/drawing/2014/main" val="62312423"/>
                  </a:ext>
                </a:extLst>
              </a:tr>
            </a:tbl>
          </a:graphicData>
        </a:graphic>
      </p:graphicFrame>
      <p:sp>
        <p:nvSpPr>
          <p:cNvPr id="6" name="Title 5">
            <a:extLst>
              <a:ext uri="{FF2B5EF4-FFF2-40B4-BE49-F238E27FC236}">
                <a16:creationId xmlns:a16="http://schemas.microsoft.com/office/drawing/2014/main" id="{E55D6129-0E26-4275-8BC0-C031A3679AAB}"/>
              </a:ext>
            </a:extLst>
          </p:cNvPr>
          <p:cNvSpPr>
            <a:spLocks noGrp="1"/>
          </p:cNvSpPr>
          <p:nvPr>
            <p:ph type="title"/>
          </p:nvPr>
        </p:nvSpPr>
        <p:spPr/>
        <p:txBody>
          <a:bodyPr/>
          <a:lstStyle/>
          <a:p>
            <a:r>
              <a:rPr lang="en-US" dirty="0"/>
              <a:t>Revision History</a:t>
            </a:r>
            <a:endParaRPr lang="en-MY" dirty="0"/>
          </a:p>
        </p:txBody>
      </p:sp>
    </p:spTree>
    <p:extLst>
      <p:ext uri="{BB962C8B-B14F-4D97-AF65-F5344CB8AC3E}">
        <p14:creationId xmlns:p14="http://schemas.microsoft.com/office/powerpoint/2010/main" val="3415370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BB80727-7DE5-4B09-AC8F-E98F146A4105}"/>
              </a:ext>
            </a:extLst>
          </p:cNvPr>
          <p:cNvSpPr>
            <a:spLocks noGrp="1"/>
          </p:cNvSpPr>
          <p:nvPr>
            <p:ph sz="quarter" idx="13"/>
          </p:nvPr>
        </p:nvSpPr>
        <p:spPr>
          <a:xfrm>
            <a:off x="607484" y="1263721"/>
            <a:ext cx="5488516" cy="5092318"/>
          </a:xfrm>
        </p:spPr>
        <p:txBody>
          <a:bodyPr>
            <a:normAutofit/>
          </a:bodyPr>
          <a:lstStyle/>
          <a:p>
            <a:pPr marL="0" indent="457200">
              <a:lnSpc>
                <a:spcPct val="120000"/>
              </a:lnSpc>
              <a:spcBef>
                <a:spcPts val="200"/>
              </a:spcBef>
            </a:pPr>
            <a:r>
              <a:rPr lang="en-US" sz="2000" dirty="0"/>
              <a:t>Desktop Customer Landscape</a:t>
            </a:r>
          </a:p>
          <a:p>
            <a:pPr marL="0" indent="457200" hangingPunct="1">
              <a:lnSpc>
                <a:spcPct val="120000"/>
              </a:lnSpc>
              <a:spcBef>
                <a:spcPts val="200"/>
              </a:spcBef>
            </a:pPr>
            <a:r>
              <a:rPr lang="en-US" sz="2000" dirty="0"/>
              <a:t>Key Takeaway</a:t>
            </a:r>
          </a:p>
          <a:p>
            <a:pPr marL="0" indent="457200" hangingPunct="1">
              <a:lnSpc>
                <a:spcPct val="120000"/>
              </a:lnSpc>
              <a:spcBef>
                <a:spcPts val="200"/>
              </a:spcBef>
            </a:pPr>
            <a:r>
              <a:rPr lang="en-US" sz="2000" dirty="0"/>
              <a:t>Additional Feedback / Concerns</a:t>
            </a:r>
          </a:p>
          <a:p>
            <a:pPr marL="0" indent="457200" hangingPunct="1">
              <a:lnSpc>
                <a:spcPct val="120000"/>
              </a:lnSpc>
              <a:spcBef>
                <a:spcPts val="200"/>
              </a:spcBef>
            </a:pPr>
            <a:r>
              <a:rPr lang="en-US" sz="2000" dirty="0"/>
              <a:t>Observation / Next Step</a:t>
            </a:r>
          </a:p>
          <a:p>
            <a:pPr marL="0" indent="457200">
              <a:lnSpc>
                <a:spcPct val="120000"/>
              </a:lnSpc>
              <a:spcBef>
                <a:spcPts val="200"/>
              </a:spcBef>
            </a:pPr>
            <a:r>
              <a:rPr lang="en-US" sz="2000" dirty="0"/>
              <a:t>Printed Circuit Board (PCB) Design</a:t>
            </a:r>
          </a:p>
        </p:txBody>
      </p:sp>
      <p:sp>
        <p:nvSpPr>
          <p:cNvPr id="34" name="Title 33">
            <a:extLst>
              <a:ext uri="{FF2B5EF4-FFF2-40B4-BE49-F238E27FC236}">
                <a16:creationId xmlns:a16="http://schemas.microsoft.com/office/drawing/2014/main" id="{F8A29F60-EE4C-40C2-A9C3-45E9C15990C8}"/>
              </a:ext>
            </a:extLst>
          </p:cNvPr>
          <p:cNvSpPr>
            <a:spLocks noGrp="1"/>
          </p:cNvSpPr>
          <p:nvPr>
            <p:ph type="title"/>
          </p:nvPr>
        </p:nvSpPr>
        <p:spPr>
          <a:xfrm>
            <a:off x="607484" y="411797"/>
            <a:ext cx="10972800" cy="851922"/>
          </a:xfrm>
        </p:spPr>
        <p:txBody>
          <a:bodyPr/>
          <a:lstStyle/>
          <a:p>
            <a:r>
              <a:rPr lang="en-US" dirty="0"/>
              <a:t>Agenda</a:t>
            </a:r>
            <a:endParaRPr lang="en-MY" dirty="0"/>
          </a:p>
        </p:txBody>
      </p:sp>
      <p:sp>
        <p:nvSpPr>
          <p:cNvPr id="5" name="Content Placeholder 3">
            <a:extLst>
              <a:ext uri="{FF2B5EF4-FFF2-40B4-BE49-F238E27FC236}">
                <a16:creationId xmlns:a16="http://schemas.microsoft.com/office/drawing/2014/main" id="{57F59076-BB91-402E-9ACA-645DC4F1980C}"/>
              </a:ext>
            </a:extLst>
          </p:cNvPr>
          <p:cNvSpPr txBox="1">
            <a:spLocks/>
          </p:cNvSpPr>
          <p:nvPr/>
        </p:nvSpPr>
        <p:spPr>
          <a:xfrm>
            <a:off x="6096000" y="1263720"/>
            <a:ext cx="5438857" cy="43755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fontScale="92500" lnSpcReduction="20000"/>
          </a:bodyPr>
          <a:lstStyle>
            <a:lvl1pPr marL="228600" marR="0" indent="-365760" algn="l" defTabSz="609600" latinLnBrk="0">
              <a:lnSpc>
                <a:spcPct val="100000"/>
              </a:lnSpc>
              <a:spcBef>
                <a:spcPts val="800"/>
              </a:spcBef>
              <a:spcAft>
                <a:spcPts val="0"/>
              </a:spcAft>
              <a:buClrTx/>
              <a:buSzTx/>
              <a:buFont typeface="Wingdings" panose="05000000000000000000" pitchFamily="2" charset="2"/>
              <a:buChar char="q"/>
              <a:tabLst/>
              <a:defRPr sz="2800" b="0" i="0" u="none" strike="noStrike" cap="none" spc="0" baseline="0">
                <a:solidFill>
                  <a:srgbClr val="0071C5"/>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457200" marR="0" indent="-182880" algn="l" defTabSz="609600" latinLnBrk="0">
              <a:lnSpc>
                <a:spcPct val="100000"/>
              </a:lnSpc>
              <a:spcBef>
                <a:spcPts val="400"/>
              </a:spcBef>
              <a:spcAft>
                <a:spcPts val="0"/>
              </a:spcAft>
              <a:buClrTx/>
              <a:buSzTx/>
              <a:buFont typeface="Wingdings" panose="05000000000000000000" pitchFamily="2" charset="2"/>
              <a:buChar char="§"/>
              <a:tabLst/>
              <a:defRPr sz="2133"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2pPr>
            <a:lvl3pPr marL="731520" marR="0" indent="-274320" algn="l" defTabSz="609600" latinLnBrk="0">
              <a:lnSpc>
                <a:spcPct val="100000"/>
              </a:lnSpc>
              <a:spcBef>
                <a:spcPts val="400"/>
              </a:spcBef>
              <a:spcAft>
                <a:spcPts val="0"/>
              </a:spcAft>
              <a:buClrTx/>
              <a:buSzTx/>
              <a:buFont typeface="Wingdings" panose="05000000000000000000" pitchFamily="2" charset="2"/>
              <a:buChar char="v"/>
              <a:tabLst/>
              <a:defRPr sz="1867"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400"/>
              </a:spcBef>
              <a:spcAft>
                <a:spcPts val="0"/>
              </a:spcAft>
              <a:buClrTx/>
              <a:buSzTx/>
              <a:buFont typeface="Courier New" panose="02070309020205020404" pitchFamily="49" charset="0"/>
              <a:buChar char="o"/>
              <a:tabLst/>
              <a:defRPr sz="16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400"/>
              </a:spcBef>
              <a:spcAft>
                <a:spcPts val="0"/>
              </a:spcAft>
              <a:buClrTx/>
              <a:buSzTx/>
              <a:buFont typeface="Courier New" panose="02070309020205020404" pitchFamily="49" charset="0"/>
              <a:buChar char="o"/>
              <a:tabLst/>
              <a:defRPr sz="1467"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a:lstStyle>
          <a:p>
            <a:pPr marL="0" indent="457200">
              <a:lnSpc>
                <a:spcPct val="120000"/>
              </a:lnSpc>
              <a:spcBef>
                <a:spcPts val="200"/>
              </a:spcBef>
            </a:pPr>
            <a:r>
              <a:rPr lang="en-US" sz="2200" dirty="0"/>
              <a:t>PCBA Factory Process</a:t>
            </a:r>
          </a:p>
          <a:p>
            <a:pPr lvl="1" indent="274320">
              <a:lnSpc>
                <a:spcPct val="120000"/>
              </a:lnSpc>
              <a:spcBef>
                <a:spcPts val="200"/>
              </a:spcBef>
            </a:pPr>
            <a:r>
              <a:rPr lang="en-US" sz="1700" dirty="0"/>
              <a:t>Automation</a:t>
            </a:r>
          </a:p>
          <a:p>
            <a:pPr lvl="1" indent="274320">
              <a:lnSpc>
                <a:spcPct val="120000"/>
              </a:lnSpc>
              <a:spcBef>
                <a:spcPts val="200"/>
              </a:spcBef>
            </a:pPr>
            <a:r>
              <a:rPr lang="en-US" sz="1700" dirty="0"/>
              <a:t>Paste Printing</a:t>
            </a:r>
          </a:p>
          <a:p>
            <a:pPr lvl="1" indent="274320">
              <a:lnSpc>
                <a:spcPct val="120000"/>
              </a:lnSpc>
              <a:spcBef>
                <a:spcPts val="200"/>
              </a:spcBef>
            </a:pPr>
            <a:r>
              <a:rPr lang="en-US" sz="1700" dirty="0"/>
              <a:t>Pick and Place</a:t>
            </a:r>
          </a:p>
          <a:p>
            <a:pPr lvl="1" indent="274320">
              <a:lnSpc>
                <a:spcPct val="120000"/>
              </a:lnSpc>
              <a:spcBef>
                <a:spcPts val="200"/>
              </a:spcBef>
            </a:pPr>
            <a:r>
              <a:rPr lang="en-US" sz="1700" dirty="0"/>
              <a:t>Reflow</a:t>
            </a:r>
          </a:p>
          <a:p>
            <a:pPr lvl="1" indent="274320">
              <a:lnSpc>
                <a:spcPct val="120000"/>
              </a:lnSpc>
              <a:spcBef>
                <a:spcPts val="200"/>
              </a:spcBef>
            </a:pPr>
            <a:r>
              <a:rPr lang="en-US" sz="1700" dirty="0"/>
              <a:t>Wave Solder</a:t>
            </a:r>
          </a:p>
          <a:p>
            <a:pPr lvl="1" indent="274320">
              <a:lnSpc>
                <a:spcPct val="120000"/>
              </a:lnSpc>
              <a:spcBef>
                <a:spcPts val="200"/>
              </a:spcBef>
            </a:pPr>
            <a:r>
              <a:rPr lang="en-US" sz="1700" dirty="0"/>
              <a:t>Board Level Adhesive Process</a:t>
            </a:r>
          </a:p>
          <a:p>
            <a:pPr lvl="1" indent="274320">
              <a:lnSpc>
                <a:spcPct val="120000"/>
              </a:lnSpc>
              <a:spcBef>
                <a:spcPts val="200"/>
              </a:spcBef>
            </a:pPr>
            <a:r>
              <a:rPr lang="en-US" sz="1700" dirty="0"/>
              <a:t>ILM Cover / Lever / Assembly</a:t>
            </a:r>
          </a:p>
          <a:p>
            <a:pPr lvl="1" indent="274320">
              <a:lnSpc>
                <a:spcPct val="120000"/>
              </a:lnSpc>
              <a:spcBef>
                <a:spcPts val="200"/>
              </a:spcBef>
            </a:pPr>
            <a:r>
              <a:rPr lang="en-US" sz="1700" dirty="0"/>
              <a:t>Process Inspection / Monitoring</a:t>
            </a:r>
          </a:p>
          <a:p>
            <a:pPr lvl="1" indent="274320">
              <a:lnSpc>
                <a:spcPct val="120000"/>
              </a:lnSpc>
              <a:spcBef>
                <a:spcPts val="200"/>
              </a:spcBef>
            </a:pPr>
            <a:r>
              <a:rPr lang="en-US" sz="1700" dirty="0"/>
              <a:t>PCBA Test Process</a:t>
            </a:r>
          </a:p>
          <a:p>
            <a:pPr lvl="1" indent="274320">
              <a:lnSpc>
                <a:spcPct val="120000"/>
              </a:lnSpc>
              <a:spcBef>
                <a:spcPts val="200"/>
              </a:spcBef>
            </a:pPr>
            <a:r>
              <a:rPr lang="en-US" sz="1700" dirty="0"/>
              <a:t>PCB X-Ray</a:t>
            </a:r>
          </a:p>
          <a:p>
            <a:pPr lvl="1" indent="274320">
              <a:lnSpc>
                <a:spcPct val="120000"/>
              </a:lnSpc>
              <a:spcBef>
                <a:spcPts val="200"/>
              </a:spcBef>
            </a:pPr>
            <a:r>
              <a:rPr lang="en-US" sz="1700" dirty="0"/>
              <a:t>Rework</a:t>
            </a:r>
          </a:p>
          <a:p>
            <a:pPr lvl="1" indent="274320">
              <a:lnSpc>
                <a:spcPct val="120000"/>
              </a:lnSpc>
              <a:spcBef>
                <a:spcPts val="200"/>
              </a:spcBef>
            </a:pPr>
            <a:r>
              <a:rPr lang="en-US" sz="1700" dirty="0"/>
              <a:t>Others</a:t>
            </a:r>
          </a:p>
          <a:p>
            <a:pPr marL="0" indent="457200" hangingPunct="1">
              <a:spcBef>
                <a:spcPts val="200"/>
              </a:spcBef>
            </a:pPr>
            <a:r>
              <a:rPr lang="en-US" sz="2200" dirty="0"/>
              <a:t>Acknowledgment</a:t>
            </a:r>
          </a:p>
          <a:p>
            <a:pPr marL="0" indent="457200" hangingPunct="1">
              <a:spcBef>
                <a:spcPts val="200"/>
              </a:spcBef>
            </a:pPr>
            <a:r>
              <a:rPr lang="en-US" sz="2200" dirty="0"/>
              <a:t>Back Up</a:t>
            </a:r>
          </a:p>
        </p:txBody>
      </p:sp>
      <p:sp>
        <p:nvSpPr>
          <p:cNvPr id="6" name="Action Button: Go Forward or Next 5">
            <a:hlinkClick r:id="rId3" action="ppaction://hlinksldjump" highlightClick="1"/>
            <a:extLst>
              <a:ext uri="{FF2B5EF4-FFF2-40B4-BE49-F238E27FC236}">
                <a16:creationId xmlns:a16="http://schemas.microsoft.com/office/drawing/2014/main" id="{8AB77C4D-1E4D-491B-A181-025EA330DB36}"/>
              </a:ext>
            </a:extLst>
          </p:cNvPr>
          <p:cNvSpPr/>
          <p:nvPr/>
        </p:nvSpPr>
        <p:spPr>
          <a:xfrm>
            <a:off x="8633130" y="1894126"/>
            <a:ext cx="294640" cy="172720"/>
          </a:xfrm>
          <a:prstGeom prst="actionButtonForwardNext">
            <a:avLst/>
          </a:prstGeom>
          <a:noFill/>
          <a:ln w="12700" cap="flat">
            <a:solidFill>
              <a:srgbClr val="0068B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Action Button: Go Forward or Next 6">
            <a:hlinkClick r:id="rId4" action="ppaction://hlinksldjump" highlightClick="1"/>
            <a:extLst>
              <a:ext uri="{FF2B5EF4-FFF2-40B4-BE49-F238E27FC236}">
                <a16:creationId xmlns:a16="http://schemas.microsoft.com/office/drawing/2014/main" id="{57027FED-919A-4EFC-97E6-24C066AADE40}"/>
              </a:ext>
            </a:extLst>
          </p:cNvPr>
          <p:cNvSpPr/>
          <p:nvPr/>
        </p:nvSpPr>
        <p:spPr>
          <a:xfrm>
            <a:off x="8633130" y="2147750"/>
            <a:ext cx="294640" cy="172720"/>
          </a:xfrm>
          <a:prstGeom prst="actionButtonForwardNext">
            <a:avLst/>
          </a:prstGeom>
          <a:noFill/>
          <a:ln w="12700" cap="flat">
            <a:solidFill>
              <a:srgbClr val="0068B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 name="Action Button: Go Forward or Next 7">
            <a:hlinkClick r:id="rId5" action="ppaction://hlinksldjump" highlightClick="1"/>
            <a:extLst>
              <a:ext uri="{FF2B5EF4-FFF2-40B4-BE49-F238E27FC236}">
                <a16:creationId xmlns:a16="http://schemas.microsoft.com/office/drawing/2014/main" id="{269C2AE0-D25C-4C6E-BC49-C5431D850FB4}"/>
              </a:ext>
            </a:extLst>
          </p:cNvPr>
          <p:cNvSpPr/>
          <p:nvPr/>
        </p:nvSpPr>
        <p:spPr>
          <a:xfrm>
            <a:off x="8633130" y="2411256"/>
            <a:ext cx="294640" cy="172720"/>
          </a:xfrm>
          <a:prstGeom prst="actionButtonForwardNext">
            <a:avLst/>
          </a:prstGeom>
          <a:noFill/>
          <a:ln w="127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Action Button: Go Forward or Next 8">
            <a:hlinkClick r:id="rId6" action="ppaction://hlinksldjump" highlightClick="1"/>
            <a:extLst>
              <a:ext uri="{FF2B5EF4-FFF2-40B4-BE49-F238E27FC236}">
                <a16:creationId xmlns:a16="http://schemas.microsoft.com/office/drawing/2014/main" id="{D421FD86-3FA0-43B4-8B67-877436DF3573}"/>
              </a:ext>
            </a:extLst>
          </p:cNvPr>
          <p:cNvSpPr/>
          <p:nvPr/>
        </p:nvSpPr>
        <p:spPr>
          <a:xfrm>
            <a:off x="8633130" y="2669519"/>
            <a:ext cx="294640" cy="172720"/>
          </a:xfrm>
          <a:prstGeom prst="actionButtonForwardNext">
            <a:avLst/>
          </a:prstGeom>
          <a:noFill/>
          <a:ln w="127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Action Button: Go Forward or Next 10">
            <a:hlinkClick r:id="rId7" action="ppaction://hlinksldjump" highlightClick="1"/>
            <a:extLst>
              <a:ext uri="{FF2B5EF4-FFF2-40B4-BE49-F238E27FC236}">
                <a16:creationId xmlns:a16="http://schemas.microsoft.com/office/drawing/2014/main" id="{B57698A9-1AC2-4D38-A806-386BF47B442C}"/>
              </a:ext>
            </a:extLst>
          </p:cNvPr>
          <p:cNvSpPr/>
          <p:nvPr/>
        </p:nvSpPr>
        <p:spPr>
          <a:xfrm>
            <a:off x="9839354" y="2983514"/>
            <a:ext cx="294640" cy="172720"/>
          </a:xfrm>
          <a:prstGeom prst="actionButtonForwardNext">
            <a:avLst/>
          </a:prstGeom>
          <a:noFill/>
          <a:ln w="127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Action Button: Go Forward or Next 11">
            <a:hlinkClick r:id="rId8" action="ppaction://hlinksldjump" highlightClick="1"/>
            <a:extLst>
              <a:ext uri="{FF2B5EF4-FFF2-40B4-BE49-F238E27FC236}">
                <a16:creationId xmlns:a16="http://schemas.microsoft.com/office/drawing/2014/main" id="{EAF7F3A9-4E87-4988-84BD-EC8B1F399141}"/>
              </a:ext>
            </a:extLst>
          </p:cNvPr>
          <p:cNvSpPr/>
          <p:nvPr/>
        </p:nvSpPr>
        <p:spPr>
          <a:xfrm>
            <a:off x="9839354" y="3262322"/>
            <a:ext cx="294640" cy="172720"/>
          </a:xfrm>
          <a:prstGeom prst="actionButtonForwardNext">
            <a:avLst/>
          </a:prstGeom>
          <a:noFill/>
          <a:ln w="127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Action Button: Go Forward or Next 12">
            <a:hlinkClick r:id="rId9" action="ppaction://hlinksldjump" highlightClick="1"/>
            <a:extLst>
              <a:ext uri="{FF2B5EF4-FFF2-40B4-BE49-F238E27FC236}">
                <a16:creationId xmlns:a16="http://schemas.microsoft.com/office/drawing/2014/main" id="{FC958B7B-D9BE-45FF-8C89-6AB400009F09}"/>
              </a:ext>
            </a:extLst>
          </p:cNvPr>
          <p:cNvSpPr/>
          <p:nvPr/>
        </p:nvSpPr>
        <p:spPr>
          <a:xfrm>
            <a:off x="9839354" y="3545106"/>
            <a:ext cx="294640" cy="172720"/>
          </a:xfrm>
          <a:prstGeom prst="actionButtonForwardNext">
            <a:avLst/>
          </a:prstGeom>
          <a:noFill/>
          <a:ln w="127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8" name="Action Button: Go Forward or Next 17">
            <a:hlinkClick r:id="rId10" action="ppaction://hlinksldjump" highlightClick="1"/>
            <a:extLst>
              <a:ext uri="{FF2B5EF4-FFF2-40B4-BE49-F238E27FC236}">
                <a16:creationId xmlns:a16="http://schemas.microsoft.com/office/drawing/2014/main" id="{38E577F0-DE92-4EED-AB75-E548A2DC0F96}"/>
              </a:ext>
            </a:extLst>
          </p:cNvPr>
          <p:cNvSpPr/>
          <p:nvPr/>
        </p:nvSpPr>
        <p:spPr>
          <a:xfrm>
            <a:off x="8633130" y="3808168"/>
            <a:ext cx="294640" cy="172720"/>
          </a:xfrm>
          <a:prstGeom prst="actionButtonForwardNext">
            <a:avLst/>
          </a:prstGeom>
          <a:noFill/>
          <a:ln w="127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9" name="Action Button: Go Forward or Next 18">
            <a:hlinkClick r:id="rId11" action="ppaction://hlinksldjump" highlightClick="1"/>
            <a:extLst>
              <a:ext uri="{FF2B5EF4-FFF2-40B4-BE49-F238E27FC236}">
                <a16:creationId xmlns:a16="http://schemas.microsoft.com/office/drawing/2014/main" id="{8D9CB4BD-4AEF-4A8C-B3DC-1B3F4149A64B}"/>
              </a:ext>
            </a:extLst>
          </p:cNvPr>
          <p:cNvSpPr/>
          <p:nvPr/>
        </p:nvSpPr>
        <p:spPr>
          <a:xfrm>
            <a:off x="8633130" y="4067094"/>
            <a:ext cx="294640" cy="172720"/>
          </a:xfrm>
          <a:prstGeom prst="actionButtonForwardNext">
            <a:avLst/>
          </a:prstGeom>
          <a:noFill/>
          <a:ln w="127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0" name="Action Button: Go Forward or Next 19">
            <a:hlinkClick r:id="rId12" action="ppaction://hlinksldjump" highlightClick="1"/>
            <a:extLst>
              <a:ext uri="{FF2B5EF4-FFF2-40B4-BE49-F238E27FC236}">
                <a16:creationId xmlns:a16="http://schemas.microsoft.com/office/drawing/2014/main" id="{5C18BDC7-11C7-43D3-9249-C6C82487502D}"/>
              </a:ext>
            </a:extLst>
          </p:cNvPr>
          <p:cNvSpPr/>
          <p:nvPr/>
        </p:nvSpPr>
        <p:spPr>
          <a:xfrm>
            <a:off x="8633130" y="4328670"/>
            <a:ext cx="294640" cy="172720"/>
          </a:xfrm>
          <a:prstGeom prst="actionButtonForwardNext">
            <a:avLst/>
          </a:prstGeom>
          <a:noFill/>
          <a:ln w="127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1" name="Action Button: Go Forward or Next 20">
            <a:hlinkClick r:id="rId13" action="ppaction://hlinksldjump" highlightClick="1"/>
            <a:extLst>
              <a:ext uri="{FF2B5EF4-FFF2-40B4-BE49-F238E27FC236}">
                <a16:creationId xmlns:a16="http://schemas.microsoft.com/office/drawing/2014/main" id="{3019590C-4CDF-4BC6-A64A-F0011FBF2910}"/>
              </a:ext>
            </a:extLst>
          </p:cNvPr>
          <p:cNvSpPr/>
          <p:nvPr/>
        </p:nvSpPr>
        <p:spPr>
          <a:xfrm>
            <a:off x="8635780" y="4589528"/>
            <a:ext cx="294640" cy="172720"/>
          </a:xfrm>
          <a:prstGeom prst="actionButtonForwardNext">
            <a:avLst/>
          </a:prstGeom>
          <a:noFill/>
          <a:ln w="127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9" name="TextBox 28">
            <a:hlinkClick r:id="rId14" action="ppaction://hlinksldjump"/>
            <a:extLst>
              <a:ext uri="{FF2B5EF4-FFF2-40B4-BE49-F238E27FC236}">
                <a16:creationId xmlns:a16="http://schemas.microsoft.com/office/drawing/2014/main" id="{9BA853D2-384A-48D2-8D52-0D514FF18990}"/>
              </a:ext>
            </a:extLst>
          </p:cNvPr>
          <p:cNvSpPr txBox="1"/>
          <p:nvPr/>
        </p:nvSpPr>
        <p:spPr>
          <a:xfrm>
            <a:off x="1010353" y="2088641"/>
            <a:ext cx="5018275" cy="274947"/>
          </a:xfrm>
          <a:prstGeom prst="rect">
            <a:avLst/>
          </a:prstGeom>
          <a:noFill/>
          <a:ln w="12700" cap="flat">
            <a:solidFill>
              <a:srgbClr val="0068B5">
                <a:alpha val="20000"/>
              </a:srgb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a:spcBef>
                <a:spcPts val="200"/>
              </a:spcBef>
            </a:pPr>
            <a:endParaRPr lang="en-US" sz="1800" dirty="0">
              <a:solidFill>
                <a:srgbClr val="0068B5"/>
              </a:solidFill>
              <a:latin typeface="+mj-lt"/>
            </a:endParaRPr>
          </a:p>
        </p:txBody>
      </p:sp>
      <p:sp>
        <p:nvSpPr>
          <p:cNvPr id="31" name="TextBox 30">
            <a:hlinkClick r:id="rId15" action="ppaction://hlinksldjump"/>
            <a:extLst>
              <a:ext uri="{FF2B5EF4-FFF2-40B4-BE49-F238E27FC236}">
                <a16:creationId xmlns:a16="http://schemas.microsoft.com/office/drawing/2014/main" id="{DBF4DA66-370A-4665-A88F-975B924BF71D}"/>
              </a:ext>
            </a:extLst>
          </p:cNvPr>
          <p:cNvSpPr txBox="1"/>
          <p:nvPr/>
        </p:nvSpPr>
        <p:spPr>
          <a:xfrm>
            <a:off x="6429478" y="4817356"/>
            <a:ext cx="5018275" cy="274947"/>
          </a:xfrm>
          <a:prstGeom prst="rect">
            <a:avLst/>
          </a:prstGeom>
          <a:noFill/>
          <a:ln w="12700" cap="flat">
            <a:solidFill>
              <a:srgbClr val="0068B5">
                <a:alpha val="20000"/>
              </a:srgb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a:spcBef>
                <a:spcPts val="200"/>
              </a:spcBef>
            </a:pPr>
            <a:endParaRPr lang="en-US" sz="1800" dirty="0">
              <a:solidFill>
                <a:srgbClr val="0068B5"/>
              </a:solidFill>
              <a:latin typeface="+mj-lt"/>
            </a:endParaRPr>
          </a:p>
        </p:txBody>
      </p:sp>
      <p:sp>
        <p:nvSpPr>
          <p:cNvPr id="33" name="Action Button: Go Forward or Next 32">
            <a:hlinkClick r:id="rId16" action="ppaction://hlinksldjump" highlightClick="1"/>
            <a:extLst>
              <a:ext uri="{FF2B5EF4-FFF2-40B4-BE49-F238E27FC236}">
                <a16:creationId xmlns:a16="http://schemas.microsoft.com/office/drawing/2014/main" id="{CF358576-4D82-44EF-8068-6C58609B78E8}"/>
              </a:ext>
            </a:extLst>
          </p:cNvPr>
          <p:cNvSpPr/>
          <p:nvPr/>
        </p:nvSpPr>
        <p:spPr>
          <a:xfrm>
            <a:off x="8631362" y="1647825"/>
            <a:ext cx="294640" cy="172720"/>
          </a:xfrm>
          <a:prstGeom prst="actionButtonForwardNext">
            <a:avLst/>
          </a:prstGeom>
          <a:noFill/>
          <a:ln w="12700" cap="flat">
            <a:solidFill>
              <a:srgbClr val="0068B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44" name="TextBox 43">
            <a:hlinkClick r:id="rId17" action="ppaction://hlinksldjump"/>
            <a:extLst>
              <a:ext uri="{FF2B5EF4-FFF2-40B4-BE49-F238E27FC236}">
                <a16:creationId xmlns:a16="http://schemas.microsoft.com/office/drawing/2014/main" id="{400E5DD6-9A15-4733-8970-3702F5775DF1}"/>
              </a:ext>
            </a:extLst>
          </p:cNvPr>
          <p:cNvSpPr txBox="1"/>
          <p:nvPr/>
        </p:nvSpPr>
        <p:spPr>
          <a:xfrm>
            <a:off x="1001692" y="1294627"/>
            <a:ext cx="5018275" cy="274947"/>
          </a:xfrm>
          <a:prstGeom prst="rect">
            <a:avLst/>
          </a:prstGeom>
          <a:noFill/>
          <a:ln w="12700" cap="flat">
            <a:solidFill>
              <a:srgbClr val="0068B5">
                <a:alpha val="20000"/>
              </a:srgb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a:spcBef>
                <a:spcPts val="200"/>
              </a:spcBef>
            </a:pPr>
            <a:endParaRPr lang="en-US" sz="1800" dirty="0">
              <a:solidFill>
                <a:srgbClr val="0068B5"/>
              </a:solidFill>
              <a:latin typeface="+mj-lt"/>
            </a:endParaRPr>
          </a:p>
        </p:txBody>
      </p:sp>
      <p:sp>
        <p:nvSpPr>
          <p:cNvPr id="45" name="TextBox 44">
            <a:hlinkClick r:id="rId18" action="ppaction://hlinksldjump"/>
            <a:extLst>
              <a:ext uri="{FF2B5EF4-FFF2-40B4-BE49-F238E27FC236}">
                <a16:creationId xmlns:a16="http://schemas.microsoft.com/office/drawing/2014/main" id="{F47534E0-838B-4D4B-981A-3451891A8F0A}"/>
              </a:ext>
            </a:extLst>
          </p:cNvPr>
          <p:cNvSpPr txBox="1"/>
          <p:nvPr/>
        </p:nvSpPr>
        <p:spPr>
          <a:xfrm>
            <a:off x="999568" y="1708440"/>
            <a:ext cx="5018275" cy="274947"/>
          </a:xfrm>
          <a:prstGeom prst="rect">
            <a:avLst/>
          </a:prstGeom>
          <a:noFill/>
          <a:ln w="12700" cap="flat">
            <a:solidFill>
              <a:srgbClr val="0068B5">
                <a:alpha val="20000"/>
              </a:srgb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a:spcBef>
                <a:spcPts val="200"/>
              </a:spcBef>
            </a:pPr>
            <a:endParaRPr lang="en-US" sz="1800" dirty="0">
              <a:solidFill>
                <a:srgbClr val="0068B5"/>
              </a:solidFill>
              <a:latin typeface="+mj-lt"/>
            </a:endParaRPr>
          </a:p>
        </p:txBody>
      </p:sp>
      <p:sp>
        <p:nvSpPr>
          <p:cNvPr id="46" name="TextBox 45">
            <a:hlinkClick r:id="rId19" action="ppaction://hlinksldjump"/>
            <a:extLst>
              <a:ext uri="{FF2B5EF4-FFF2-40B4-BE49-F238E27FC236}">
                <a16:creationId xmlns:a16="http://schemas.microsoft.com/office/drawing/2014/main" id="{9645C4D7-748E-47D1-B0BE-C065ED58A92C}"/>
              </a:ext>
            </a:extLst>
          </p:cNvPr>
          <p:cNvSpPr txBox="1"/>
          <p:nvPr/>
        </p:nvSpPr>
        <p:spPr>
          <a:xfrm>
            <a:off x="1008850" y="2479671"/>
            <a:ext cx="5018275" cy="274947"/>
          </a:xfrm>
          <a:prstGeom prst="rect">
            <a:avLst/>
          </a:prstGeom>
          <a:noFill/>
          <a:ln w="12700" cap="flat">
            <a:solidFill>
              <a:srgbClr val="0068B5">
                <a:alpha val="20000"/>
              </a:srgb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a:spcBef>
                <a:spcPts val="200"/>
              </a:spcBef>
            </a:pPr>
            <a:endParaRPr lang="en-US" sz="1800" dirty="0">
              <a:solidFill>
                <a:srgbClr val="0068B5"/>
              </a:solidFill>
              <a:latin typeface="+mj-lt"/>
            </a:endParaRPr>
          </a:p>
        </p:txBody>
      </p:sp>
      <p:sp>
        <p:nvSpPr>
          <p:cNvPr id="47" name="TextBox 46">
            <a:hlinkClick r:id="rId20" action="ppaction://hlinksldjump"/>
            <a:extLst>
              <a:ext uri="{FF2B5EF4-FFF2-40B4-BE49-F238E27FC236}">
                <a16:creationId xmlns:a16="http://schemas.microsoft.com/office/drawing/2014/main" id="{66194FFA-5BC9-4036-A428-F93F036E97BD}"/>
              </a:ext>
            </a:extLst>
          </p:cNvPr>
          <p:cNvSpPr txBox="1"/>
          <p:nvPr/>
        </p:nvSpPr>
        <p:spPr>
          <a:xfrm>
            <a:off x="1007026" y="2899846"/>
            <a:ext cx="5018275" cy="274947"/>
          </a:xfrm>
          <a:prstGeom prst="rect">
            <a:avLst/>
          </a:prstGeom>
          <a:noFill/>
          <a:ln w="12700" cap="flat">
            <a:solidFill>
              <a:srgbClr val="0068B5">
                <a:alpha val="20000"/>
              </a:srgb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a:spcBef>
                <a:spcPts val="200"/>
              </a:spcBef>
            </a:pPr>
            <a:endParaRPr lang="en-US" sz="1800" dirty="0">
              <a:solidFill>
                <a:srgbClr val="0068B5"/>
              </a:solidFill>
              <a:latin typeface="+mj-lt"/>
            </a:endParaRPr>
          </a:p>
        </p:txBody>
      </p:sp>
    </p:spTree>
    <p:extLst>
      <p:ext uri="{BB962C8B-B14F-4D97-AF65-F5344CB8AC3E}">
        <p14:creationId xmlns:p14="http://schemas.microsoft.com/office/powerpoint/2010/main" val="2444118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F1C59-9F37-45D0-988D-8249FA39E828}"/>
              </a:ext>
            </a:extLst>
          </p:cNvPr>
          <p:cNvSpPr>
            <a:spLocks noGrp="1"/>
          </p:cNvSpPr>
          <p:nvPr>
            <p:ph type="title"/>
          </p:nvPr>
        </p:nvSpPr>
        <p:spPr>
          <a:xfrm>
            <a:off x="607484" y="64663"/>
            <a:ext cx="10972800" cy="575463"/>
          </a:xfrm>
        </p:spPr>
        <p:txBody>
          <a:bodyPr>
            <a:normAutofit/>
          </a:bodyPr>
          <a:lstStyle/>
          <a:p>
            <a:pPr algn="ctr"/>
            <a:r>
              <a:rPr lang="en-US" dirty="0"/>
              <a:t>2020 Desktop Customer Landscape</a:t>
            </a:r>
          </a:p>
        </p:txBody>
      </p:sp>
      <p:sp>
        <p:nvSpPr>
          <p:cNvPr id="4" name="TextBox 3">
            <a:extLst>
              <a:ext uri="{FF2B5EF4-FFF2-40B4-BE49-F238E27FC236}">
                <a16:creationId xmlns:a16="http://schemas.microsoft.com/office/drawing/2014/main" id="{B56C78B9-9AC1-4B29-B1CD-962A75A21B35}"/>
              </a:ext>
            </a:extLst>
          </p:cNvPr>
          <p:cNvSpPr txBox="1"/>
          <p:nvPr/>
        </p:nvSpPr>
        <p:spPr>
          <a:xfrm>
            <a:off x="363989" y="4254766"/>
            <a:ext cx="2637683" cy="1323439"/>
          </a:xfrm>
          <a:prstGeom prst="rect">
            <a:avLst/>
          </a:prstGeom>
          <a:noFill/>
          <a:ln>
            <a:noFill/>
          </a:ln>
        </p:spPr>
        <p:txBody>
          <a:bodyPr wrap="square" rtlCol="0">
            <a:spAutoFit/>
          </a:bodyPr>
          <a:lstStyle/>
          <a:p>
            <a:pPr>
              <a:lnSpc>
                <a:spcPct val="100000"/>
              </a:lnSpc>
              <a:spcBef>
                <a:spcPts val="0"/>
              </a:spcBef>
            </a:pPr>
            <a:r>
              <a:rPr lang="en-US" sz="1600" dirty="0"/>
              <a:t>For Example:</a:t>
            </a:r>
          </a:p>
          <a:p>
            <a:pPr marL="285750" indent="-285750">
              <a:lnSpc>
                <a:spcPct val="100000"/>
              </a:lnSpc>
              <a:spcBef>
                <a:spcPts val="0"/>
              </a:spcBef>
              <a:buFont typeface="Arial" panose="020B0604020202020204" pitchFamily="34" charset="0"/>
              <a:buChar char="•"/>
            </a:pPr>
            <a:r>
              <a:rPr lang="en-US" sz="1600" dirty="0">
                <a:solidFill>
                  <a:schemeClr val="tx1"/>
                </a:solidFill>
              </a:rPr>
              <a:t>Gigabyte (1.8Mu/</a:t>
            </a:r>
            <a:r>
              <a:rPr lang="en-US" sz="1600" dirty="0" err="1">
                <a:solidFill>
                  <a:schemeClr val="tx1"/>
                </a:solidFill>
              </a:rPr>
              <a:t>qtr</a:t>
            </a:r>
            <a:r>
              <a:rPr lang="en-US" sz="1600" dirty="0">
                <a:solidFill>
                  <a:schemeClr val="tx1"/>
                </a:solidFill>
              </a:rPr>
              <a:t>)</a:t>
            </a:r>
          </a:p>
          <a:p>
            <a:pPr marL="285750" indent="-285750">
              <a:lnSpc>
                <a:spcPct val="100000"/>
              </a:lnSpc>
              <a:spcBef>
                <a:spcPts val="0"/>
              </a:spcBef>
              <a:buFont typeface="Arial" panose="020B0604020202020204" pitchFamily="34" charset="0"/>
              <a:buChar char="•"/>
            </a:pPr>
            <a:r>
              <a:rPr lang="en-US" sz="1600" dirty="0">
                <a:solidFill>
                  <a:schemeClr val="tx1"/>
                </a:solidFill>
              </a:rPr>
              <a:t>MSI (1Mu/</a:t>
            </a:r>
            <a:r>
              <a:rPr lang="en-US" sz="1600" dirty="0" err="1">
                <a:solidFill>
                  <a:schemeClr val="tx1"/>
                </a:solidFill>
              </a:rPr>
              <a:t>qtr</a:t>
            </a:r>
            <a:r>
              <a:rPr lang="en-US" sz="1600" dirty="0">
                <a:solidFill>
                  <a:schemeClr val="tx1"/>
                </a:solidFill>
              </a:rPr>
              <a:t>)</a:t>
            </a:r>
          </a:p>
          <a:p>
            <a:pPr marL="285750" indent="-285750">
              <a:lnSpc>
                <a:spcPct val="100000"/>
              </a:lnSpc>
              <a:spcBef>
                <a:spcPts val="0"/>
              </a:spcBef>
              <a:buFont typeface="Arial" panose="020B0604020202020204" pitchFamily="34" charset="0"/>
              <a:buChar char="•"/>
            </a:pPr>
            <a:r>
              <a:rPr lang="en-US" sz="1600" dirty="0"/>
              <a:t>AS Rock (600Ku/</a:t>
            </a:r>
            <a:r>
              <a:rPr lang="en-US" sz="1600" dirty="0" err="1"/>
              <a:t>qtr</a:t>
            </a:r>
            <a:r>
              <a:rPr lang="en-US" sz="1600" dirty="0"/>
              <a:t>)</a:t>
            </a:r>
          </a:p>
          <a:p>
            <a:pPr marL="285750" indent="-285750">
              <a:lnSpc>
                <a:spcPct val="100000"/>
              </a:lnSpc>
              <a:spcBef>
                <a:spcPts val="0"/>
              </a:spcBef>
              <a:buFont typeface="Arial" panose="020B0604020202020204" pitchFamily="34" charset="0"/>
              <a:buChar char="•"/>
            </a:pPr>
            <a:r>
              <a:rPr lang="en-US" sz="1600" dirty="0"/>
              <a:t>SuperMicro</a:t>
            </a:r>
          </a:p>
        </p:txBody>
      </p:sp>
      <p:sp>
        <p:nvSpPr>
          <p:cNvPr id="7" name="TextBox 6">
            <a:extLst>
              <a:ext uri="{FF2B5EF4-FFF2-40B4-BE49-F238E27FC236}">
                <a16:creationId xmlns:a16="http://schemas.microsoft.com/office/drawing/2014/main" id="{624111CA-E33C-433E-9B41-67CAA06B142A}"/>
              </a:ext>
            </a:extLst>
          </p:cNvPr>
          <p:cNvSpPr txBox="1"/>
          <p:nvPr/>
        </p:nvSpPr>
        <p:spPr>
          <a:xfrm>
            <a:off x="423993" y="613871"/>
            <a:ext cx="2508427" cy="647485"/>
          </a:xfrm>
          <a:prstGeom prst="rect">
            <a:avLst/>
          </a:prstGeom>
          <a:solidFill>
            <a:schemeClr val="accent2">
              <a:lumMod val="40000"/>
              <a:lumOff val="60000"/>
            </a:schemeClr>
          </a:solidFill>
          <a:ln>
            <a:solidFill>
              <a:schemeClr val="tx1"/>
            </a:solidFill>
          </a:ln>
        </p:spPr>
        <p:txBody>
          <a:bodyPr wrap="square" rtlCol="0">
            <a:spAutoFit/>
          </a:bodyPr>
          <a:lstStyle/>
          <a:p>
            <a:pPr algn="ctr"/>
            <a:r>
              <a:rPr lang="en-US" sz="2000" dirty="0"/>
              <a:t>Q1 2020 DESKTOP OEM MSS%</a:t>
            </a:r>
          </a:p>
        </p:txBody>
      </p:sp>
      <p:sp>
        <p:nvSpPr>
          <p:cNvPr id="9" name="TextBox 8">
            <a:extLst>
              <a:ext uri="{FF2B5EF4-FFF2-40B4-BE49-F238E27FC236}">
                <a16:creationId xmlns:a16="http://schemas.microsoft.com/office/drawing/2014/main" id="{414F4869-B2E5-41BC-A2D3-3BFD6BD54AF4}"/>
              </a:ext>
            </a:extLst>
          </p:cNvPr>
          <p:cNvSpPr txBox="1"/>
          <p:nvPr/>
        </p:nvSpPr>
        <p:spPr>
          <a:xfrm>
            <a:off x="4951420" y="887166"/>
            <a:ext cx="4505845" cy="370486"/>
          </a:xfrm>
          <a:prstGeom prst="rect">
            <a:avLst/>
          </a:prstGeom>
          <a:solidFill>
            <a:schemeClr val="accent2">
              <a:lumMod val="40000"/>
              <a:lumOff val="60000"/>
            </a:schemeClr>
          </a:solidFill>
          <a:ln>
            <a:solidFill>
              <a:schemeClr val="tx1"/>
            </a:solidFill>
          </a:ln>
        </p:spPr>
        <p:txBody>
          <a:bodyPr wrap="square" rtlCol="0">
            <a:spAutoFit/>
          </a:bodyPr>
          <a:lstStyle/>
          <a:p>
            <a:r>
              <a:rPr lang="en-US" sz="2000" dirty="0"/>
              <a:t>Customers Providing Survey Results       </a:t>
            </a:r>
          </a:p>
        </p:txBody>
      </p:sp>
      <p:graphicFrame>
        <p:nvGraphicFramePr>
          <p:cNvPr id="8" name="Table 9">
            <a:extLst>
              <a:ext uri="{FF2B5EF4-FFF2-40B4-BE49-F238E27FC236}">
                <a16:creationId xmlns:a16="http://schemas.microsoft.com/office/drawing/2014/main" id="{DB3D16B7-E766-4579-A4E8-015885706D10}"/>
              </a:ext>
            </a:extLst>
          </p:cNvPr>
          <p:cNvGraphicFramePr>
            <a:graphicFrameLocks noGrp="1"/>
          </p:cNvGraphicFramePr>
          <p:nvPr>
            <p:extLst>
              <p:ext uri="{D42A27DB-BD31-4B8C-83A1-F6EECF244321}">
                <p14:modId xmlns:p14="http://schemas.microsoft.com/office/powerpoint/2010/main" val="3832090390"/>
              </p:ext>
            </p:extLst>
          </p:nvPr>
        </p:nvGraphicFramePr>
        <p:xfrm>
          <a:off x="488946" y="1311361"/>
          <a:ext cx="2379556" cy="2682240"/>
        </p:xfrm>
        <a:graphic>
          <a:graphicData uri="http://schemas.openxmlformats.org/drawingml/2006/table">
            <a:tbl>
              <a:tblPr firstRow="1" bandRow="1">
                <a:tableStyleId>{B301B821-A1FF-4177-AEE7-76D212191A09}</a:tableStyleId>
              </a:tblPr>
              <a:tblGrid>
                <a:gridCol w="1261956">
                  <a:extLst>
                    <a:ext uri="{9D8B030D-6E8A-4147-A177-3AD203B41FA5}">
                      <a16:colId xmlns:a16="http://schemas.microsoft.com/office/drawing/2014/main" val="2340178451"/>
                    </a:ext>
                  </a:extLst>
                </a:gridCol>
                <a:gridCol w="1117600">
                  <a:extLst>
                    <a:ext uri="{9D8B030D-6E8A-4147-A177-3AD203B41FA5}">
                      <a16:colId xmlns:a16="http://schemas.microsoft.com/office/drawing/2014/main" val="4198428851"/>
                    </a:ext>
                  </a:extLst>
                </a:gridCol>
              </a:tblGrid>
              <a:tr h="216021">
                <a:tc gridSpan="2">
                  <a:txBody>
                    <a:bodyPr/>
                    <a:lstStyle/>
                    <a:p>
                      <a:pPr algn="ctr"/>
                      <a:r>
                        <a:rPr lang="en-US" sz="1600" dirty="0"/>
                        <a:t>Q1 ’20</a:t>
                      </a:r>
                      <a:endParaRPr lang="en-MY" sz="1600" dirty="0"/>
                    </a:p>
                  </a:txBody>
                  <a:tcPr anchor="ctr">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905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tcPr>
                </a:tc>
                <a:tc hMerge="1">
                  <a:txBody>
                    <a:bodyPr/>
                    <a:lstStyle/>
                    <a:p>
                      <a:pPr algn="l"/>
                      <a:endParaRPr lang="en-MY" dirty="0"/>
                    </a:p>
                  </a:txBody>
                  <a:tcPr anchor="ctr"/>
                </a:tc>
                <a:extLst>
                  <a:ext uri="{0D108BD9-81ED-4DB2-BD59-A6C34878D82A}">
                    <a16:rowId xmlns:a16="http://schemas.microsoft.com/office/drawing/2014/main" val="373925082"/>
                  </a:ext>
                </a:extLst>
              </a:tr>
              <a:tr h="216021">
                <a:tc>
                  <a:txBody>
                    <a:bodyPr/>
                    <a:lstStyle/>
                    <a:p>
                      <a:pPr marL="91440" algn="l"/>
                      <a:r>
                        <a:rPr lang="en-US" sz="1600" dirty="0"/>
                        <a:t>Lenovo</a:t>
                      </a:r>
                      <a:endParaRPr lang="en-MY" sz="1600" dirty="0"/>
                    </a:p>
                  </a:txBody>
                  <a:tcPr anchor="ctr">
                    <a:lnL w="19050" cap="flat" cmpd="sng" algn="ctr">
                      <a:solidFill>
                        <a:schemeClr val="accent1">
                          <a:lumMod val="75000"/>
                        </a:schemeClr>
                      </a:solidFill>
                      <a:prstDash val="solid"/>
                      <a:round/>
                      <a:headEnd type="none" w="med" len="med"/>
                      <a:tailEnd type="none" w="med" len="med"/>
                    </a:lnL>
                    <a:lnR>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600" dirty="0"/>
                        <a:t>24.4%</a:t>
                      </a:r>
                      <a:endParaRPr lang="en-MY" sz="1600" dirty="0"/>
                    </a:p>
                  </a:txBody>
                  <a:tcPr anchor="ctr">
                    <a:lnL>
                      <a:noFill/>
                    </a:lnL>
                    <a:lnR w="1905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54016197"/>
                  </a:ext>
                </a:extLst>
              </a:tr>
              <a:tr h="216021">
                <a:tc>
                  <a:txBody>
                    <a:bodyPr/>
                    <a:lstStyle/>
                    <a:p>
                      <a:pPr marL="91440" algn="l"/>
                      <a:r>
                        <a:rPr lang="en-US" sz="1600" dirty="0"/>
                        <a:t>HP Inc</a:t>
                      </a:r>
                      <a:endParaRPr lang="en-MY" sz="1600" dirty="0"/>
                    </a:p>
                  </a:txBody>
                  <a:tcPr anchor="ctr">
                    <a:lnL w="19050" cap="flat" cmpd="sng" algn="ctr">
                      <a:solidFill>
                        <a:schemeClr val="accent1">
                          <a:lumMod val="75000"/>
                        </a:schemeClr>
                      </a:solid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600" dirty="0"/>
                        <a:t>21.5%</a:t>
                      </a:r>
                      <a:endParaRPr lang="en-MY" sz="1600" dirty="0"/>
                    </a:p>
                  </a:txBody>
                  <a:tcPr anchor="ctr">
                    <a:lnL>
                      <a:noFill/>
                    </a:lnL>
                    <a:lnR w="19050" cap="flat" cmpd="sng" algn="ctr">
                      <a:solidFill>
                        <a:schemeClr val="accent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7798798"/>
                  </a:ext>
                </a:extLst>
              </a:tr>
              <a:tr h="216021">
                <a:tc>
                  <a:txBody>
                    <a:bodyPr/>
                    <a:lstStyle/>
                    <a:p>
                      <a:pPr marL="91440" algn="l"/>
                      <a:r>
                        <a:rPr lang="en-US" sz="1600" dirty="0"/>
                        <a:t>Dell Inc</a:t>
                      </a:r>
                      <a:endParaRPr lang="en-MY" sz="1600" dirty="0"/>
                    </a:p>
                  </a:txBody>
                  <a:tcPr anchor="ctr">
                    <a:lnL w="19050" cap="flat" cmpd="sng" algn="ctr">
                      <a:solidFill>
                        <a:schemeClr val="accent1">
                          <a:lumMod val="75000"/>
                        </a:schemeClr>
                      </a:solid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600" dirty="0"/>
                        <a:t>19.7%</a:t>
                      </a:r>
                      <a:endParaRPr lang="en-MY" sz="1600" dirty="0"/>
                    </a:p>
                  </a:txBody>
                  <a:tcPr anchor="ctr">
                    <a:lnL>
                      <a:noFill/>
                    </a:lnL>
                    <a:lnR w="19050" cap="flat" cmpd="sng" algn="ctr">
                      <a:solidFill>
                        <a:schemeClr val="accent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83805280"/>
                  </a:ext>
                </a:extLst>
              </a:tr>
              <a:tr h="216021">
                <a:tc>
                  <a:txBody>
                    <a:bodyPr/>
                    <a:lstStyle/>
                    <a:p>
                      <a:pPr marL="91440" algn="l"/>
                      <a:r>
                        <a:rPr lang="en-US" sz="1600" dirty="0"/>
                        <a:t>Apple</a:t>
                      </a:r>
                      <a:endParaRPr lang="en-MY" sz="1600" dirty="0"/>
                    </a:p>
                  </a:txBody>
                  <a:tcPr anchor="ctr">
                    <a:lnL w="19050" cap="flat" cmpd="sng" algn="ctr">
                      <a:solidFill>
                        <a:schemeClr val="accent1">
                          <a:lumMod val="75000"/>
                        </a:schemeClr>
                      </a:solid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600" dirty="0"/>
                        <a:t>6.9%</a:t>
                      </a:r>
                      <a:endParaRPr lang="en-MY" sz="1600" dirty="0"/>
                    </a:p>
                  </a:txBody>
                  <a:tcPr anchor="ctr">
                    <a:lnL>
                      <a:noFill/>
                    </a:lnL>
                    <a:lnR w="19050" cap="flat" cmpd="sng" algn="ctr">
                      <a:solidFill>
                        <a:schemeClr val="accent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7339434"/>
                  </a:ext>
                </a:extLst>
              </a:tr>
              <a:tr h="216021">
                <a:tc>
                  <a:txBody>
                    <a:bodyPr/>
                    <a:lstStyle/>
                    <a:p>
                      <a:pPr marL="91440" algn="l"/>
                      <a:r>
                        <a:rPr lang="en-US" sz="1600" dirty="0"/>
                        <a:t>Acer</a:t>
                      </a:r>
                      <a:endParaRPr lang="en-MY" sz="1600" dirty="0"/>
                    </a:p>
                  </a:txBody>
                  <a:tcPr anchor="ctr">
                    <a:lnL w="19050" cap="flat" cmpd="sng" algn="ctr">
                      <a:solidFill>
                        <a:schemeClr val="accent1">
                          <a:lumMod val="75000"/>
                        </a:schemeClr>
                      </a:solid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600" dirty="0"/>
                        <a:t>5.6%</a:t>
                      </a:r>
                      <a:endParaRPr lang="en-MY" sz="1600" dirty="0"/>
                    </a:p>
                  </a:txBody>
                  <a:tcPr anchor="ctr">
                    <a:lnL>
                      <a:noFill/>
                    </a:lnL>
                    <a:lnR w="19050" cap="flat" cmpd="sng" algn="ctr">
                      <a:solidFill>
                        <a:schemeClr val="accent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30740636"/>
                  </a:ext>
                </a:extLst>
              </a:tr>
              <a:tr h="216021">
                <a:tc>
                  <a:txBody>
                    <a:bodyPr/>
                    <a:lstStyle/>
                    <a:p>
                      <a:pPr marL="91440" algn="l"/>
                      <a:r>
                        <a:rPr lang="en-US" sz="1600" dirty="0"/>
                        <a:t>Asus</a:t>
                      </a:r>
                      <a:endParaRPr lang="en-MY" sz="1600" dirty="0"/>
                    </a:p>
                  </a:txBody>
                  <a:tcPr anchor="ctr">
                    <a:lnL w="19050" cap="flat" cmpd="sng" algn="ctr">
                      <a:solidFill>
                        <a:schemeClr val="accent1">
                          <a:lumMod val="75000"/>
                        </a:schemeClr>
                      </a:solid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600" dirty="0"/>
                        <a:t>5%</a:t>
                      </a:r>
                      <a:endParaRPr lang="en-MY" sz="1600" dirty="0"/>
                    </a:p>
                  </a:txBody>
                  <a:tcPr anchor="ctr">
                    <a:lnL>
                      <a:noFill/>
                    </a:lnL>
                    <a:lnR w="19050" cap="flat" cmpd="sng" algn="ctr">
                      <a:solidFill>
                        <a:schemeClr val="accent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52358177"/>
                  </a:ext>
                </a:extLst>
              </a:tr>
              <a:tr h="216021">
                <a:tc>
                  <a:txBody>
                    <a:bodyPr/>
                    <a:lstStyle/>
                    <a:p>
                      <a:pPr marL="91440" algn="l"/>
                      <a:r>
                        <a:rPr lang="en-US" sz="1600" dirty="0"/>
                        <a:t>Others</a:t>
                      </a:r>
                      <a:endParaRPr lang="en-MY" sz="1600" dirty="0"/>
                    </a:p>
                  </a:txBody>
                  <a:tcPr anchor="ctr">
                    <a:lnL w="19050" cap="flat" cmpd="sng" algn="ctr">
                      <a:solidFill>
                        <a:schemeClr val="accent1">
                          <a:lumMod val="75000"/>
                        </a:schemeClr>
                      </a:solidFill>
                      <a:prstDash val="solid"/>
                      <a:round/>
                      <a:headEnd type="none" w="med" len="med"/>
                      <a:tailEnd type="none" w="med" len="med"/>
                    </a:lnL>
                    <a:lnR>
                      <a:noFill/>
                    </a:lnR>
                    <a:lnT w="12700" cmpd="sng">
                      <a:noFill/>
                    </a:lnT>
                    <a:lnB w="1905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16.8%</a:t>
                      </a:r>
                      <a:endParaRPr lang="en-MY" sz="1600" dirty="0"/>
                    </a:p>
                  </a:txBody>
                  <a:tcPr anchor="ctr">
                    <a:lnL>
                      <a:noFill/>
                    </a:lnL>
                    <a:lnR w="19050" cap="flat" cmpd="sng" algn="ctr">
                      <a:solidFill>
                        <a:schemeClr val="accent1">
                          <a:lumMod val="75000"/>
                        </a:schemeClr>
                      </a:solidFill>
                      <a:prstDash val="solid"/>
                      <a:round/>
                      <a:headEnd type="none" w="med" len="med"/>
                      <a:tailEnd type="none" w="med" len="med"/>
                    </a:lnR>
                    <a:lnT w="12700" cmpd="sng">
                      <a:noFill/>
                    </a:lnT>
                    <a:lnB w="1905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4110916"/>
                  </a:ext>
                </a:extLst>
              </a:tr>
            </a:tbl>
          </a:graphicData>
        </a:graphic>
      </p:graphicFrame>
      <p:graphicFrame>
        <p:nvGraphicFramePr>
          <p:cNvPr id="12" name="Table 9">
            <a:extLst>
              <a:ext uri="{FF2B5EF4-FFF2-40B4-BE49-F238E27FC236}">
                <a16:creationId xmlns:a16="http://schemas.microsoft.com/office/drawing/2014/main" id="{48D6D95A-FEEA-4910-B62F-00D9AA164B45}"/>
              </a:ext>
            </a:extLst>
          </p:cNvPr>
          <p:cNvGraphicFramePr>
            <a:graphicFrameLocks noGrp="1"/>
          </p:cNvGraphicFramePr>
          <p:nvPr>
            <p:extLst>
              <p:ext uri="{D42A27DB-BD31-4B8C-83A1-F6EECF244321}">
                <p14:modId xmlns:p14="http://schemas.microsoft.com/office/powerpoint/2010/main" val="2510246022"/>
              </p:ext>
            </p:extLst>
          </p:nvPr>
        </p:nvGraphicFramePr>
        <p:xfrm>
          <a:off x="3115729" y="1311361"/>
          <a:ext cx="8407400" cy="4517040"/>
        </p:xfrm>
        <a:graphic>
          <a:graphicData uri="http://schemas.openxmlformats.org/drawingml/2006/table">
            <a:tbl>
              <a:tblPr firstRow="1" bandRow="1">
                <a:tableStyleId>{B301B821-A1FF-4177-AEE7-76D212191A09}</a:tableStyleId>
              </a:tblPr>
              <a:tblGrid>
                <a:gridCol w="1032933">
                  <a:extLst>
                    <a:ext uri="{9D8B030D-6E8A-4147-A177-3AD203B41FA5}">
                      <a16:colId xmlns:a16="http://schemas.microsoft.com/office/drawing/2014/main" val="2340178451"/>
                    </a:ext>
                  </a:extLst>
                </a:gridCol>
                <a:gridCol w="999067">
                  <a:extLst>
                    <a:ext uri="{9D8B030D-6E8A-4147-A177-3AD203B41FA5}">
                      <a16:colId xmlns:a16="http://schemas.microsoft.com/office/drawing/2014/main" val="1496274989"/>
                    </a:ext>
                  </a:extLst>
                </a:gridCol>
                <a:gridCol w="2667000">
                  <a:extLst>
                    <a:ext uri="{9D8B030D-6E8A-4147-A177-3AD203B41FA5}">
                      <a16:colId xmlns:a16="http://schemas.microsoft.com/office/drawing/2014/main" val="4198428851"/>
                    </a:ext>
                  </a:extLst>
                </a:gridCol>
                <a:gridCol w="1998133">
                  <a:extLst>
                    <a:ext uri="{9D8B030D-6E8A-4147-A177-3AD203B41FA5}">
                      <a16:colId xmlns:a16="http://schemas.microsoft.com/office/drawing/2014/main" val="2504252529"/>
                    </a:ext>
                  </a:extLst>
                </a:gridCol>
                <a:gridCol w="1710267">
                  <a:extLst>
                    <a:ext uri="{9D8B030D-6E8A-4147-A177-3AD203B41FA5}">
                      <a16:colId xmlns:a16="http://schemas.microsoft.com/office/drawing/2014/main" val="18217052"/>
                    </a:ext>
                  </a:extLst>
                </a:gridCol>
              </a:tblGrid>
              <a:tr h="301136">
                <a:tc>
                  <a:txBody>
                    <a:bodyPr/>
                    <a:lstStyle/>
                    <a:p>
                      <a:pPr algn="ctr" fontAlgn="t"/>
                      <a:r>
                        <a:rPr lang="en-US" sz="1600" b="1" i="0" u="none" strike="noStrike" dirty="0">
                          <a:solidFill>
                            <a:schemeClr val="bg1"/>
                          </a:solidFill>
                          <a:effectLst/>
                          <a:latin typeface="Intel Clear" panose="020B0604020203020204" pitchFamily="34" charset="0"/>
                        </a:rPr>
                        <a:t>OEM</a:t>
                      </a:r>
                    </a:p>
                  </a:txBody>
                  <a:tcPr marL="7620" marR="7620" marT="7620" marB="0" anchor="ctr">
                    <a:lnL w="9525" cap="flat" cmpd="sng" algn="ctr">
                      <a:solidFill>
                        <a:schemeClr val="accent1"/>
                      </a:solidFill>
                      <a:prstDash val="solid"/>
                      <a:round/>
                      <a:headEnd type="none" w="med" len="med"/>
                      <a:tailEnd type="none" w="med" len="med"/>
                    </a:lnL>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ctr" fontAlgn="t"/>
                      <a:r>
                        <a:rPr lang="en-US" sz="1600" b="1" i="0" u="none" strike="noStrike" dirty="0">
                          <a:solidFill>
                            <a:schemeClr val="bg1"/>
                          </a:solidFill>
                          <a:effectLst/>
                          <a:latin typeface="Intel Clear" panose="020B0604020203020204" pitchFamily="34" charset="0"/>
                        </a:rPr>
                        <a:t>ODM</a:t>
                      </a:r>
                    </a:p>
                  </a:txBody>
                  <a:tcPr marL="7620" marR="7620" marT="7620" marB="0" anchor="ct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ctr" fontAlgn="t"/>
                      <a:r>
                        <a:rPr lang="en-US" sz="1600" b="1" i="0" u="none" strike="noStrike" dirty="0">
                          <a:solidFill>
                            <a:schemeClr val="bg1"/>
                          </a:solidFill>
                          <a:effectLst/>
                          <a:latin typeface="Intel Clear" panose="020B0604020203020204" pitchFamily="34" charset="0"/>
                        </a:rPr>
                        <a:t>Site</a:t>
                      </a:r>
                    </a:p>
                  </a:txBody>
                  <a:tcPr marL="7620" marR="7620" marT="7620" marB="0" anchor="ct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ctr" fontAlgn="t"/>
                      <a:r>
                        <a:rPr lang="en-US" sz="1600" b="1" i="0" u="none" strike="noStrike" dirty="0">
                          <a:solidFill>
                            <a:schemeClr val="bg1"/>
                          </a:solidFill>
                          <a:effectLst/>
                          <a:latin typeface="Intel Clear" panose="020B0604020203020204" pitchFamily="34" charset="0"/>
                        </a:rPr>
                        <a:t>Design / SMT  / SI</a:t>
                      </a:r>
                    </a:p>
                  </a:txBody>
                  <a:tcPr marL="7620" marR="7620" marT="7620" marB="0" anchor="ct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ctr" fontAlgn="t"/>
                      <a:r>
                        <a:rPr lang="en-US" sz="1600" b="1" i="0" u="none" strike="noStrike" dirty="0">
                          <a:solidFill>
                            <a:schemeClr val="bg1"/>
                          </a:solidFill>
                          <a:effectLst/>
                          <a:latin typeface="Intel Clear" panose="020B0604020203020204" pitchFamily="34" charset="0"/>
                        </a:rPr>
                        <a:t>Qty/</a:t>
                      </a:r>
                      <a:r>
                        <a:rPr lang="en-US" sz="1600" b="1" i="0" u="none" strike="noStrike" dirty="0" err="1">
                          <a:solidFill>
                            <a:schemeClr val="bg1"/>
                          </a:solidFill>
                          <a:effectLst/>
                          <a:latin typeface="Intel Clear" panose="020B0604020203020204" pitchFamily="34" charset="0"/>
                        </a:rPr>
                        <a:t>Qtr</a:t>
                      </a:r>
                      <a:endParaRPr lang="en-US" sz="1600" b="1" i="0" u="none" strike="noStrike" dirty="0">
                        <a:solidFill>
                          <a:schemeClr val="bg1"/>
                        </a:solidFill>
                        <a:effectLst/>
                        <a:latin typeface="Intel Clear" panose="020B0604020203020204" pitchFamily="34" charset="0"/>
                      </a:endParaRPr>
                    </a:p>
                  </a:txBody>
                  <a:tcPr marL="7620" marR="7620" marT="7620" marB="0" anchor="ctr">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73925082"/>
                  </a:ext>
                </a:extLst>
              </a:tr>
              <a:tr h="301136">
                <a:tc>
                  <a:txBody>
                    <a:bodyPr/>
                    <a:lstStyle/>
                    <a:p>
                      <a:pPr algn="ctr" fontAlgn="t"/>
                      <a:r>
                        <a:rPr lang="en-US" sz="1600" b="0" i="0" u="none" strike="noStrike" dirty="0">
                          <a:solidFill>
                            <a:srgbClr val="000000"/>
                          </a:solidFill>
                          <a:effectLst/>
                          <a:latin typeface="Intel Clear" panose="020B0604020203020204" pitchFamily="34" charset="0"/>
                        </a:rPr>
                        <a:t>Acer</a:t>
                      </a:r>
                    </a:p>
                  </a:txBody>
                  <a:tcPr marL="7620" marR="7620" marT="7620" marB="0" anchor="ctr">
                    <a:lnL w="9525" cap="flat" cmpd="sng" algn="ctr">
                      <a:solidFill>
                        <a:schemeClr val="accent1"/>
                      </a:solidFill>
                      <a:prstDash val="solid"/>
                      <a:round/>
                      <a:headEnd type="none" w="med" len="med"/>
                      <a:tailEnd type="none" w="med" len="med"/>
                    </a:lnL>
                    <a:lnR>
                      <a:noFill/>
                    </a:lnR>
                    <a:lnT w="952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fontAlgn="t"/>
                      <a:r>
                        <a:rPr lang="en-US" sz="1600" b="0" i="0" u="none" strike="noStrike" dirty="0">
                          <a:solidFill>
                            <a:srgbClr val="000000"/>
                          </a:solidFill>
                          <a:effectLst/>
                          <a:latin typeface="Intel Clear" panose="020B0604020203020204" pitchFamily="34" charset="0"/>
                        </a:rPr>
                        <a:t>Wistron </a:t>
                      </a:r>
                    </a:p>
                  </a:txBody>
                  <a:tcPr marL="7620" marR="7620" marT="7620" marB="0" anchor="ctr">
                    <a:lnL>
                      <a:noFill/>
                    </a:lnL>
                    <a:lnR>
                      <a:noFill/>
                    </a:lnR>
                    <a:lnT w="952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fontAlgn="t"/>
                      <a:r>
                        <a:rPr lang="en-US" sz="1600" b="0" i="0" u="none" strike="noStrike" dirty="0">
                          <a:solidFill>
                            <a:srgbClr val="000000"/>
                          </a:solidFill>
                          <a:effectLst/>
                          <a:latin typeface="Intel Clear" panose="020B0604020203020204" pitchFamily="34" charset="0"/>
                        </a:rPr>
                        <a:t> </a:t>
                      </a:r>
                    </a:p>
                  </a:txBody>
                  <a:tcPr marL="7620" marR="7620" marT="7620" marB="0" anchor="ctr">
                    <a:lnL>
                      <a:noFill/>
                    </a:lnL>
                    <a:lnR>
                      <a:noFill/>
                    </a:lnR>
                    <a:lnT w="952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fontAlgn="t"/>
                      <a:r>
                        <a:rPr lang="en-US" sz="1600" b="0" i="0" u="none" strike="noStrike" dirty="0">
                          <a:solidFill>
                            <a:srgbClr val="000000"/>
                          </a:solidFill>
                          <a:effectLst/>
                          <a:latin typeface="Intel Clear" panose="020B0604020203020204" pitchFamily="34" charset="0"/>
                        </a:rPr>
                        <a:t>DESIGN</a:t>
                      </a:r>
                    </a:p>
                  </a:txBody>
                  <a:tcPr marL="7620" marR="7620" marT="7620" marB="0" anchor="ctr">
                    <a:lnL>
                      <a:noFill/>
                    </a:lnL>
                    <a:lnR>
                      <a:noFill/>
                    </a:lnR>
                    <a:lnT w="952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fontAlgn="t"/>
                      <a:endParaRPr lang="en-US" sz="1600" b="0" i="0" u="none" strike="noStrike" dirty="0">
                        <a:solidFill>
                          <a:srgbClr val="000000"/>
                        </a:solidFill>
                        <a:effectLst/>
                        <a:latin typeface="Intel Clear" panose="020B0604020203020204" pitchFamily="34" charset="0"/>
                      </a:endParaRPr>
                    </a:p>
                  </a:txBody>
                  <a:tcPr marL="7620" marR="7620" marT="7620" marB="0" anchor="ctr">
                    <a:lnL>
                      <a:noFill/>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1510060073"/>
                  </a:ext>
                </a:extLst>
              </a:tr>
              <a:tr h="301136">
                <a:tc>
                  <a:txBody>
                    <a:bodyPr/>
                    <a:lstStyle/>
                    <a:p>
                      <a:pPr algn="ctr" fontAlgn="t"/>
                      <a:r>
                        <a:rPr lang="en-US" sz="1600" b="0" i="0" u="none" strike="noStrike" dirty="0">
                          <a:solidFill>
                            <a:srgbClr val="000000"/>
                          </a:solidFill>
                          <a:effectLst/>
                          <a:latin typeface="Intel Clear" panose="020B0604020203020204" pitchFamily="34" charset="0"/>
                        </a:rPr>
                        <a:t>AS Rock</a:t>
                      </a:r>
                    </a:p>
                  </a:txBody>
                  <a:tcPr marL="7620" marR="7620" marT="7620" marB="0" anchor="ctr">
                    <a:lnL w="9525" cap="flat" cmpd="sng" algn="ctr">
                      <a:solidFill>
                        <a:schemeClr val="accent1"/>
                      </a:solidFill>
                      <a:prstDash val="solid"/>
                      <a:round/>
                      <a:headEnd type="none" w="med" len="med"/>
                      <a:tailEnd type="none" w="med" len="med"/>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lumMod val="20000"/>
                        <a:lumOff val="80000"/>
                      </a:schemeClr>
                    </a:solidFill>
                  </a:tcPr>
                </a:tc>
                <a:tc>
                  <a:txBody>
                    <a:bodyPr/>
                    <a:lstStyle/>
                    <a:p>
                      <a:pPr algn="ctr" fontAlgn="t"/>
                      <a:r>
                        <a:rPr lang="en-US" sz="1600" b="0" i="0" u="none" strike="noStrike" dirty="0">
                          <a:solidFill>
                            <a:srgbClr val="000000"/>
                          </a:solidFill>
                          <a:effectLst/>
                          <a:latin typeface="Intel Clear" panose="020B0604020203020204" pitchFamily="34" charset="0"/>
                        </a:rPr>
                        <a:t> </a:t>
                      </a:r>
                    </a:p>
                  </a:txBody>
                  <a:tcPr marL="7620" marR="7620" marT="7620" marB="0" anchor="ctr">
                    <a:lnL>
                      <a:noFill/>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lumMod val="20000"/>
                        <a:lumOff val="80000"/>
                      </a:schemeClr>
                    </a:solidFill>
                  </a:tcPr>
                </a:tc>
                <a:tc>
                  <a:txBody>
                    <a:bodyPr/>
                    <a:lstStyle/>
                    <a:p>
                      <a:pPr algn="ctr" fontAlgn="t"/>
                      <a:r>
                        <a:rPr lang="en-US" sz="1600" b="0" i="0" u="none" strike="noStrike" dirty="0">
                          <a:solidFill>
                            <a:srgbClr val="000000"/>
                          </a:solidFill>
                          <a:effectLst/>
                          <a:latin typeface="Intel Clear" panose="020B0604020203020204" pitchFamily="34" charset="0"/>
                        </a:rPr>
                        <a:t> </a:t>
                      </a:r>
                    </a:p>
                  </a:txBody>
                  <a:tcPr marL="7620" marR="7620" marT="7620" marB="0" anchor="ctr">
                    <a:lnL>
                      <a:noFill/>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lumMod val="20000"/>
                        <a:lumOff val="80000"/>
                      </a:schemeClr>
                    </a:solidFill>
                  </a:tcPr>
                </a:tc>
                <a:tc>
                  <a:txBody>
                    <a:bodyPr/>
                    <a:lstStyle/>
                    <a:p>
                      <a:pPr algn="ctr" fontAlgn="t"/>
                      <a:r>
                        <a:rPr lang="en-US" sz="1600" b="0" i="0" u="none" strike="noStrike" dirty="0">
                          <a:solidFill>
                            <a:srgbClr val="000000"/>
                          </a:solidFill>
                          <a:effectLst/>
                          <a:latin typeface="Intel Clear" panose="020B0604020203020204" pitchFamily="34" charset="0"/>
                        </a:rPr>
                        <a:t>DESIGN</a:t>
                      </a:r>
                    </a:p>
                  </a:txBody>
                  <a:tcPr marL="7620" marR="7620" marT="7620" marB="0" anchor="ctr">
                    <a:lnL>
                      <a:noFill/>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lumMod val="20000"/>
                        <a:lumOff val="80000"/>
                      </a:schemeClr>
                    </a:solidFill>
                  </a:tcPr>
                </a:tc>
                <a:tc>
                  <a:txBody>
                    <a:bodyPr/>
                    <a:lstStyle/>
                    <a:p>
                      <a:pPr algn="ctr" fontAlgn="t"/>
                      <a:r>
                        <a:rPr lang="en-US" sz="1600" b="0" i="0" u="none" strike="noStrike" dirty="0">
                          <a:solidFill>
                            <a:srgbClr val="000000"/>
                          </a:solidFill>
                          <a:effectLst/>
                          <a:latin typeface="Intel Clear" panose="020B0604020203020204" pitchFamily="34" charset="0"/>
                        </a:rPr>
                        <a:t> </a:t>
                      </a:r>
                    </a:p>
                  </a:txBody>
                  <a:tcPr marL="7620" marR="7620" marT="7620" marB="0" anchor="ctr">
                    <a:lnL>
                      <a:noFill/>
                    </a:lnL>
                    <a:lnR w="9525"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2254016197"/>
                  </a:ext>
                </a:extLst>
              </a:tr>
              <a:tr h="301136">
                <a:tc>
                  <a:txBody>
                    <a:bodyPr/>
                    <a:lstStyle/>
                    <a:p>
                      <a:pPr algn="ctr" fontAlgn="t"/>
                      <a:r>
                        <a:rPr lang="en-US" sz="1600" b="0" i="0" u="none" strike="noStrike" dirty="0">
                          <a:solidFill>
                            <a:srgbClr val="000000"/>
                          </a:solidFill>
                          <a:effectLst/>
                          <a:latin typeface="Intel Clear" panose="020B0604020203020204" pitchFamily="34" charset="0"/>
                        </a:rPr>
                        <a:t>Asus</a:t>
                      </a:r>
                    </a:p>
                  </a:txBody>
                  <a:tcPr marL="7620" marR="7620" marT="7620" marB="0" anchor="ctr">
                    <a:lnL w="9525" cap="flat" cmpd="sng" algn="ctr">
                      <a:solidFill>
                        <a:schemeClr val="accent1"/>
                      </a:solid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solidFill>
                      <a:schemeClr val="bg2">
                        <a:lumMod val="20000"/>
                        <a:lumOff val="80000"/>
                      </a:schemeClr>
                    </a:solidFill>
                  </a:tcPr>
                </a:tc>
                <a:tc>
                  <a:txBody>
                    <a:bodyPr/>
                    <a:lstStyle/>
                    <a:p>
                      <a:pPr algn="ctr" fontAlgn="t"/>
                      <a:r>
                        <a:rPr lang="en-US" sz="1600" b="0" i="0" u="none" strike="noStrike" dirty="0">
                          <a:solidFill>
                            <a:srgbClr val="000000"/>
                          </a:solidFill>
                          <a:effectLst/>
                          <a:latin typeface="Intel Clear" panose="020B0604020203020204" pitchFamily="34" charset="0"/>
                        </a:rPr>
                        <a:t> </a:t>
                      </a:r>
                    </a:p>
                  </a:txBody>
                  <a:tcPr marL="7620" marR="7620" marT="7620" marB="0" anchor="ctr">
                    <a:lnL>
                      <a:noFill/>
                    </a:lnL>
                    <a:lnR>
                      <a:noFill/>
                    </a:lnR>
                    <a:lnT w="12700" cmpd="sng">
                      <a:noFill/>
                    </a:lnT>
                    <a:lnB w="12700" cmpd="sng">
                      <a:noFill/>
                    </a:lnB>
                    <a:lnTlToBr w="12700" cmpd="sng">
                      <a:noFill/>
                      <a:prstDash val="solid"/>
                    </a:lnTlToBr>
                    <a:lnBlToTr w="12700" cmpd="sng">
                      <a:noFill/>
                      <a:prstDash val="solid"/>
                    </a:lnBlToTr>
                    <a:solidFill>
                      <a:schemeClr val="bg2">
                        <a:lumMod val="20000"/>
                        <a:lumOff val="80000"/>
                      </a:schemeClr>
                    </a:solidFill>
                  </a:tcPr>
                </a:tc>
                <a:tc>
                  <a:txBody>
                    <a:bodyPr/>
                    <a:lstStyle/>
                    <a:p>
                      <a:pPr algn="ctr" fontAlgn="t"/>
                      <a:r>
                        <a:rPr lang="en-US" sz="1600" b="0" i="0" u="none" strike="noStrike" dirty="0">
                          <a:solidFill>
                            <a:srgbClr val="000000"/>
                          </a:solidFill>
                          <a:effectLst/>
                          <a:latin typeface="Intel Clear" panose="020B0604020203020204" pitchFamily="34" charset="0"/>
                        </a:rPr>
                        <a:t> </a:t>
                      </a:r>
                    </a:p>
                  </a:txBody>
                  <a:tcPr marL="7620" marR="7620" marT="7620" marB="0" anchor="ctr">
                    <a:lnL>
                      <a:noFill/>
                    </a:lnL>
                    <a:lnR>
                      <a:noFill/>
                    </a:lnR>
                    <a:lnT w="12700" cmpd="sng">
                      <a:noFill/>
                    </a:lnT>
                    <a:lnB w="12700" cmpd="sng">
                      <a:noFill/>
                    </a:lnB>
                    <a:lnTlToBr w="12700" cmpd="sng">
                      <a:noFill/>
                      <a:prstDash val="solid"/>
                    </a:lnTlToBr>
                    <a:lnBlToTr w="12700" cmpd="sng">
                      <a:noFill/>
                      <a:prstDash val="solid"/>
                    </a:lnBlToTr>
                    <a:solidFill>
                      <a:schemeClr val="bg2">
                        <a:lumMod val="20000"/>
                        <a:lumOff val="80000"/>
                      </a:schemeClr>
                    </a:solidFill>
                  </a:tcPr>
                </a:tc>
                <a:tc>
                  <a:txBody>
                    <a:bodyPr/>
                    <a:lstStyle/>
                    <a:p>
                      <a:pPr algn="ctr" fontAlgn="t"/>
                      <a:r>
                        <a:rPr lang="en-US" sz="1600" b="0" i="0" u="none" strike="noStrike" dirty="0">
                          <a:solidFill>
                            <a:srgbClr val="000000"/>
                          </a:solidFill>
                          <a:effectLst/>
                          <a:latin typeface="Intel Clear" panose="020B0604020203020204" pitchFamily="34" charset="0"/>
                        </a:rPr>
                        <a:t>DESIGN</a:t>
                      </a:r>
                    </a:p>
                  </a:txBody>
                  <a:tcPr marL="7620" marR="7620" marT="7620" marB="0" anchor="ctr">
                    <a:lnL>
                      <a:noFill/>
                    </a:lnL>
                    <a:lnR>
                      <a:noFill/>
                    </a:lnR>
                    <a:lnT w="12700" cmpd="sng">
                      <a:noFill/>
                    </a:lnT>
                    <a:lnB w="12700" cmpd="sng">
                      <a:noFill/>
                    </a:lnB>
                    <a:lnTlToBr w="12700" cmpd="sng">
                      <a:noFill/>
                      <a:prstDash val="solid"/>
                    </a:lnTlToBr>
                    <a:lnBlToTr w="12700" cmpd="sng">
                      <a:noFill/>
                      <a:prstDash val="solid"/>
                    </a:lnBlToTr>
                    <a:solidFill>
                      <a:schemeClr val="bg2">
                        <a:lumMod val="20000"/>
                        <a:lumOff val="80000"/>
                      </a:schemeClr>
                    </a:solidFill>
                  </a:tcPr>
                </a:tc>
                <a:tc>
                  <a:txBody>
                    <a:bodyPr/>
                    <a:lstStyle/>
                    <a:p>
                      <a:pPr algn="ctr" fontAlgn="t"/>
                      <a:r>
                        <a:rPr lang="en-US" sz="1600" b="0" i="0" u="none" strike="noStrike" dirty="0">
                          <a:solidFill>
                            <a:srgbClr val="000000"/>
                          </a:solidFill>
                          <a:effectLst/>
                          <a:latin typeface="Intel Clear" panose="020B0604020203020204" pitchFamily="34" charset="0"/>
                        </a:rPr>
                        <a:t> </a:t>
                      </a:r>
                    </a:p>
                  </a:txBody>
                  <a:tcPr marL="7620" marR="7620" marT="7620" marB="0" anchor="ctr">
                    <a:lnL>
                      <a:noFill/>
                    </a:lnL>
                    <a:lnR w="9525" cap="flat" cmpd="sng" algn="ctr">
                      <a:solidFill>
                        <a:schemeClr val="accent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177798798"/>
                  </a:ext>
                </a:extLst>
              </a:tr>
              <a:tr h="301136">
                <a:tc>
                  <a:txBody>
                    <a:bodyPr/>
                    <a:lstStyle/>
                    <a:p>
                      <a:pPr marL="0" marR="0" lvl="0" indent="0" algn="ctr" defTabSz="609600" eaLnBrk="1" fontAlgn="t"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Intel Clear" panose="020B0604020203020204" pitchFamily="34" charset="0"/>
                        </a:rPr>
                        <a:t>Dell Inc</a:t>
                      </a:r>
                    </a:p>
                  </a:txBody>
                  <a:tcPr marL="7620" marR="7620" marT="7620" marB="0" anchor="ctr">
                    <a:lnL w="9525" cap="flat" cmpd="sng" algn="ctr">
                      <a:solidFill>
                        <a:schemeClr val="accent1"/>
                      </a:solid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solidFill>
                      <a:schemeClr val="bg2">
                        <a:lumMod val="20000"/>
                        <a:lumOff val="80000"/>
                      </a:schemeClr>
                    </a:solidFill>
                  </a:tcPr>
                </a:tc>
                <a:tc>
                  <a:txBody>
                    <a:bodyPr/>
                    <a:lstStyle/>
                    <a:p>
                      <a:pPr algn="ctr" fontAlgn="t"/>
                      <a:endParaRPr lang="en-US" sz="1600" b="0" i="0" u="none" strike="noStrike" dirty="0">
                        <a:solidFill>
                          <a:srgbClr val="000000"/>
                        </a:solidFill>
                        <a:effectLst/>
                        <a:latin typeface="Intel Clear" panose="020B0604020203020204" pitchFamily="34" charset="0"/>
                      </a:endParaRPr>
                    </a:p>
                  </a:txBody>
                  <a:tcPr marL="7620" marR="7620" marT="7620" marB="0" anchor="ctr">
                    <a:lnL>
                      <a:noFill/>
                    </a:lnL>
                    <a:lnR>
                      <a:noFill/>
                    </a:lnR>
                    <a:lnT w="12700" cmpd="sng">
                      <a:noFill/>
                    </a:lnT>
                    <a:lnB w="12700" cmpd="sng">
                      <a:noFill/>
                    </a:lnB>
                    <a:lnTlToBr w="12700" cmpd="sng">
                      <a:noFill/>
                      <a:prstDash val="solid"/>
                    </a:lnTlToBr>
                    <a:lnBlToTr w="12700" cmpd="sng">
                      <a:noFill/>
                      <a:prstDash val="solid"/>
                    </a:lnBlToTr>
                    <a:solidFill>
                      <a:schemeClr val="bg2">
                        <a:lumMod val="20000"/>
                        <a:lumOff val="80000"/>
                      </a:schemeClr>
                    </a:solidFill>
                  </a:tcPr>
                </a:tc>
                <a:tc>
                  <a:txBody>
                    <a:bodyPr/>
                    <a:lstStyle/>
                    <a:p>
                      <a:pPr algn="ctr" fontAlgn="t"/>
                      <a:endParaRPr lang="en-US" sz="1600" b="0" i="0" u="none" strike="noStrike" dirty="0">
                        <a:solidFill>
                          <a:srgbClr val="000000"/>
                        </a:solidFill>
                        <a:effectLst/>
                        <a:latin typeface="Intel Clear" panose="020B0604020203020204" pitchFamily="34" charset="0"/>
                      </a:endParaRPr>
                    </a:p>
                  </a:txBody>
                  <a:tcPr marL="7620" marR="7620" marT="7620" marB="0" anchor="ctr">
                    <a:lnL>
                      <a:noFill/>
                    </a:lnL>
                    <a:lnR>
                      <a:noFill/>
                    </a:lnR>
                    <a:lnT w="12700" cmpd="sng">
                      <a:noFill/>
                    </a:lnT>
                    <a:lnB w="12700" cmpd="sng">
                      <a:noFill/>
                    </a:lnB>
                    <a:lnTlToBr w="12700" cmpd="sng">
                      <a:noFill/>
                      <a:prstDash val="solid"/>
                    </a:lnTlToBr>
                    <a:lnBlToTr w="12700" cmpd="sng">
                      <a:noFill/>
                      <a:prstDash val="solid"/>
                    </a:lnBlToTr>
                    <a:solidFill>
                      <a:schemeClr val="bg2">
                        <a:lumMod val="20000"/>
                        <a:lumOff val="80000"/>
                      </a:schemeClr>
                    </a:solidFill>
                  </a:tcPr>
                </a:tc>
                <a:tc>
                  <a:txBody>
                    <a:bodyPr/>
                    <a:lstStyle/>
                    <a:p>
                      <a:pPr marL="0" marR="0" lvl="0" indent="0" algn="ctr" defTabSz="609600" eaLnBrk="1" fontAlgn="t"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Intel Clear" panose="020B0604020203020204" pitchFamily="34" charset="0"/>
                        </a:rPr>
                        <a:t>DESIGN</a:t>
                      </a:r>
                    </a:p>
                  </a:txBody>
                  <a:tcPr marL="7620" marR="7620" marT="7620" marB="0" anchor="ctr">
                    <a:lnL>
                      <a:noFill/>
                    </a:lnL>
                    <a:lnR>
                      <a:noFill/>
                    </a:lnR>
                    <a:lnT w="12700" cmpd="sng">
                      <a:noFill/>
                    </a:lnT>
                    <a:lnB w="12700" cmpd="sng">
                      <a:noFill/>
                    </a:lnB>
                    <a:lnTlToBr w="12700" cmpd="sng">
                      <a:noFill/>
                      <a:prstDash val="solid"/>
                    </a:lnTlToBr>
                    <a:lnBlToTr w="12700" cmpd="sng">
                      <a:noFill/>
                      <a:prstDash val="solid"/>
                    </a:lnBlToTr>
                    <a:solidFill>
                      <a:schemeClr val="bg2">
                        <a:lumMod val="20000"/>
                        <a:lumOff val="80000"/>
                      </a:schemeClr>
                    </a:solidFill>
                  </a:tcPr>
                </a:tc>
                <a:tc>
                  <a:txBody>
                    <a:bodyPr/>
                    <a:lstStyle/>
                    <a:p>
                      <a:pPr algn="ctr" fontAlgn="t"/>
                      <a:r>
                        <a:rPr lang="en-US" sz="1600" b="0" i="0" u="none" strike="noStrike" dirty="0">
                          <a:solidFill>
                            <a:srgbClr val="000000"/>
                          </a:solidFill>
                          <a:effectLst/>
                          <a:latin typeface="Intel Clear" panose="020B0604020203020204" pitchFamily="34" charset="0"/>
                        </a:rPr>
                        <a:t> </a:t>
                      </a:r>
                    </a:p>
                  </a:txBody>
                  <a:tcPr marL="7620" marR="7620" marT="7620" marB="0" anchor="ctr">
                    <a:lnL>
                      <a:noFill/>
                    </a:lnL>
                    <a:lnR w="9525" cap="flat" cmpd="sng" algn="ctr">
                      <a:solidFill>
                        <a:schemeClr val="accent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2983805280"/>
                  </a:ext>
                </a:extLst>
              </a:tr>
              <a:tr h="301136">
                <a:tc>
                  <a:txBody>
                    <a:bodyPr/>
                    <a:lstStyle/>
                    <a:p>
                      <a:pPr algn="ctr" fontAlgn="t"/>
                      <a:r>
                        <a:rPr lang="en-US" sz="1600" b="0" i="0" u="none" strike="noStrike" dirty="0">
                          <a:solidFill>
                            <a:srgbClr val="000000"/>
                          </a:solidFill>
                          <a:effectLst/>
                          <a:latin typeface="Intel Clear" panose="020B0604020203020204" pitchFamily="34" charset="0"/>
                        </a:rPr>
                        <a:t>Lenovo</a:t>
                      </a:r>
                    </a:p>
                  </a:txBody>
                  <a:tcPr marL="7620" marR="7620" marT="7620" marB="0" anchor="ctr">
                    <a:lnL w="9525" cap="flat" cmpd="sng" algn="ctr">
                      <a:solidFill>
                        <a:schemeClr val="accent1"/>
                      </a:solid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solidFill>
                      <a:schemeClr val="bg2">
                        <a:lumMod val="20000"/>
                        <a:lumOff val="80000"/>
                      </a:schemeClr>
                    </a:solidFill>
                  </a:tcPr>
                </a:tc>
                <a:tc>
                  <a:txBody>
                    <a:bodyPr/>
                    <a:lstStyle/>
                    <a:p>
                      <a:pPr algn="ctr" fontAlgn="t"/>
                      <a:r>
                        <a:rPr lang="en-US" sz="1600" b="0" i="0" u="none" strike="noStrike" dirty="0">
                          <a:solidFill>
                            <a:srgbClr val="000000"/>
                          </a:solidFill>
                          <a:effectLst/>
                          <a:latin typeface="Intel Clear" panose="020B0604020203020204" pitchFamily="34" charset="0"/>
                        </a:rPr>
                        <a:t>MSI </a:t>
                      </a:r>
                    </a:p>
                  </a:txBody>
                  <a:tcPr marL="7620" marR="7620" marT="7620" marB="0" anchor="ctr">
                    <a:lnL>
                      <a:noFill/>
                    </a:lnL>
                    <a:lnR>
                      <a:noFill/>
                    </a:lnR>
                    <a:lnT w="12700" cmpd="sng">
                      <a:noFill/>
                    </a:lnT>
                    <a:lnB w="12700" cmpd="sng">
                      <a:noFill/>
                    </a:lnB>
                    <a:lnTlToBr w="12700" cmpd="sng">
                      <a:noFill/>
                      <a:prstDash val="solid"/>
                    </a:lnTlToBr>
                    <a:lnBlToTr w="12700" cmpd="sng">
                      <a:noFill/>
                      <a:prstDash val="solid"/>
                    </a:lnBlToTr>
                    <a:solidFill>
                      <a:schemeClr val="bg2">
                        <a:lumMod val="20000"/>
                        <a:lumOff val="80000"/>
                      </a:schemeClr>
                    </a:solidFill>
                  </a:tcPr>
                </a:tc>
                <a:tc>
                  <a:txBody>
                    <a:bodyPr/>
                    <a:lstStyle/>
                    <a:p>
                      <a:pPr algn="ctr" fontAlgn="t"/>
                      <a:r>
                        <a:rPr lang="en-US" sz="1600" b="0" i="0" u="none" strike="noStrike" dirty="0">
                          <a:solidFill>
                            <a:srgbClr val="000000"/>
                          </a:solidFill>
                          <a:effectLst/>
                          <a:latin typeface="Intel Clear" panose="020B0604020203020204" pitchFamily="34" charset="0"/>
                        </a:rPr>
                        <a:t> </a:t>
                      </a:r>
                    </a:p>
                  </a:txBody>
                  <a:tcPr marL="7620" marR="7620" marT="7620" marB="0" anchor="ctr">
                    <a:lnL>
                      <a:noFill/>
                    </a:lnL>
                    <a:lnR>
                      <a:noFill/>
                    </a:lnR>
                    <a:lnT w="12700" cmpd="sng">
                      <a:noFill/>
                    </a:lnT>
                    <a:lnB w="12700" cmpd="sng">
                      <a:noFill/>
                    </a:lnB>
                    <a:lnTlToBr w="12700" cmpd="sng">
                      <a:noFill/>
                      <a:prstDash val="solid"/>
                    </a:lnTlToBr>
                    <a:lnBlToTr w="12700" cmpd="sng">
                      <a:noFill/>
                      <a:prstDash val="solid"/>
                    </a:lnBlToTr>
                    <a:solidFill>
                      <a:schemeClr val="bg2">
                        <a:lumMod val="20000"/>
                        <a:lumOff val="80000"/>
                      </a:schemeClr>
                    </a:solidFill>
                  </a:tcPr>
                </a:tc>
                <a:tc>
                  <a:txBody>
                    <a:bodyPr/>
                    <a:lstStyle/>
                    <a:p>
                      <a:pPr algn="ctr" fontAlgn="t"/>
                      <a:r>
                        <a:rPr lang="en-US" sz="1600" b="0" i="0" u="none" strike="noStrike" dirty="0">
                          <a:solidFill>
                            <a:srgbClr val="000000"/>
                          </a:solidFill>
                          <a:effectLst/>
                          <a:latin typeface="Intel Clear" panose="020B0604020203020204" pitchFamily="34" charset="0"/>
                        </a:rPr>
                        <a:t>DESIGN</a:t>
                      </a:r>
                    </a:p>
                  </a:txBody>
                  <a:tcPr marL="7620" marR="7620" marT="7620" marB="0" anchor="ctr">
                    <a:lnL>
                      <a:noFill/>
                    </a:lnL>
                    <a:lnR>
                      <a:noFill/>
                    </a:lnR>
                    <a:lnT w="12700" cmpd="sng">
                      <a:noFill/>
                    </a:lnT>
                    <a:lnB w="12700" cmpd="sng">
                      <a:noFill/>
                    </a:lnB>
                    <a:lnTlToBr w="12700" cmpd="sng">
                      <a:noFill/>
                      <a:prstDash val="solid"/>
                    </a:lnTlToBr>
                    <a:lnBlToTr w="12700" cmpd="sng">
                      <a:noFill/>
                      <a:prstDash val="solid"/>
                    </a:lnBlToTr>
                    <a:solidFill>
                      <a:schemeClr val="bg2">
                        <a:lumMod val="20000"/>
                        <a:lumOff val="80000"/>
                      </a:schemeClr>
                    </a:solidFill>
                  </a:tcPr>
                </a:tc>
                <a:tc>
                  <a:txBody>
                    <a:bodyPr/>
                    <a:lstStyle/>
                    <a:p>
                      <a:pPr algn="ctr" fontAlgn="t"/>
                      <a:r>
                        <a:rPr lang="en-US" sz="1600" b="0" i="0" u="none" strike="noStrike" dirty="0">
                          <a:solidFill>
                            <a:srgbClr val="000000"/>
                          </a:solidFill>
                          <a:effectLst/>
                          <a:latin typeface="Intel Clear" panose="020B0604020203020204" pitchFamily="34" charset="0"/>
                        </a:rPr>
                        <a:t> </a:t>
                      </a:r>
                    </a:p>
                  </a:txBody>
                  <a:tcPr marL="7620" marR="7620" marT="7620" marB="0" anchor="ctr">
                    <a:lnL>
                      <a:noFill/>
                    </a:lnL>
                    <a:lnR w="9525" cap="flat" cmpd="sng" algn="ctr">
                      <a:solidFill>
                        <a:schemeClr val="accent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317339434"/>
                  </a:ext>
                </a:extLst>
              </a:tr>
              <a:tr h="301136">
                <a:tc>
                  <a:txBody>
                    <a:bodyPr/>
                    <a:lstStyle/>
                    <a:p>
                      <a:pPr algn="ctr" fontAlgn="t"/>
                      <a:r>
                        <a:rPr lang="en-US" sz="1600" b="0" i="0" u="none" strike="noStrike" dirty="0">
                          <a:solidFill>
                            <a:srgbClr val="000000"/>
                          </a:solidFill>
                          <a:effectLst/>
                          <a:latin typeface="Intel Clear" panose="020B0604020203020204" pitchFamily="34" charset="0"/>
                        </a:rPr>
                        <a:t>MSI</a:t>
                      </a:r>
                    </a:p>
                  </a:txBody>
                  <a:tcPr marL="7620" marR="7620" marT="7620" marB="0" anchor="ctr">
                    <a:lnL w="9525" cap="flat" cmpd="sng" algn="ctr">
                      <a:solidFill>
                        <a:schemeClr val="accent1"/>
                      </a:solidFill>
                      <a:prstDash val="solid"/>
                      <a:round/>
                      <a:headEnd type="none" w="med" len="med"/>
                      <a:tailEnd type="none" w="med" len="med"/>
                    </a:lnL>
                    <a:lnR>
                      <a:noFill/>
                    </a:lnR>
                    <a:lnT w="12700" cmpd="sng">
                      <a:noFill/>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fontAlgn="t"/>
                      <a:r>
                        <a:rPr lang="en-US" sz="1600" b="0" i="0" u="none" strike="noStrike" dirty="0">
                          <a:solidFill>
                            <a:srgbClr val="000000"/>
                          </a:solidFill>
                          <a:effectLst/>
                          <a:latin typeface="Intel Clear" panose="020B0604020203020204" pitchFamily="34" charset="0"/>
                        </a:rPr>
                        <a:t> </a:t>
                      </a:r>
                    </a:p>
                  </a:txBody>
                  <a:tcPr marL="7620" marR="7620" marT="7620" marB="0" anchor="ctr">
                    <a:lnL>
                      <a:noFill/>
                    </a:lnL>
                    <a:lnR>
                      <a:noFill/>
                    </a:lnR>
                    <a:lnT w="12700" cmpd="sng">
                      <a:noFill/>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fontAlgn="t"/>
                      <a:r>
                        <a:rPr lang="en-US" sz="1600" b="0" i="0" u="none" strike="noStrike" dirty="0">
                          <a:solidFill>
                            <a:srgbClr val="000000"/>
                          </a:solidFill>
                          <a:effectLst/>
                          <a:latin typeface="Intel Clear" panose="020B0604020203020204" pitchFamily="34" charset="0"/>
                        </a:rPr>
                        <a:t> </a:t>
                      </a:r>
                    </a:p>
                  </a:txBody>
                  <a:tcPr marL="7620" marR="7620" marT="7620" marB="0" anchor="ctr">
                    <a:lnL>
                      <a:noFill/>
                    </a:lnL>
                    <a:lnR>
                      <a:noFill/>
                    </a:lnR>
                    <a:lnT w="12700" cmpd="sng">
                      <a:noFill/>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fontAlgn="t"/>
                      <a:r>
                        <a:rPr lang="en-US" sz="1600" b="0" i="0" u="none" strike="noStrike" dirty="0">
                          <a:solidFill>
                            <a:srgbClr val="000000"/>
                          </a:solidFill>
                          <a:effectLst/>
                          <a:latin typeface="Intel Clear" panose="020B0604020203020204" pitchFamily="34" charset="0"/>
                        </a:rPr>
                        <a:t>DESIGN</a:t>
                      </a:r>
                    </a:p>
                  </a:txBody>
                  <a:tcPr marL="7620" marR="7620" marT="7620" marB="0" anchor="ctr">
                    <a:lnL>
                      <a:noFill/>
                    </a:lnL>
                    <a:lnR>
                      <a:noFill/>
                    </a:lnR>
                    <a:lnT w="12700" cmpd="sng">
                      <a:noFill/>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fontAlgn="t"/>
                      <a:r>
                        <a:rPr lang="en-US" sz="1600" b="0" i="0" u="none" strike="noStrike" dirty="0">
                          <a:solidFill>
                            <a:srgbClr val="000000"/>
                          </a:solidFill>
                          <a:effectLst/>
                          <a:latin typeface="Intel Clear" panose="020B0604020203020204" pitchFamily="34" charset="0"/>
                        </a:rPr>
                        <a:t> </a:t>
                      </a:r>
                    </a:p>
                  </a:txBody>
                  <a:tcPr marL="7620" marR="7620" marT="7620" marB="0" anchor="ctr">
                    <a:lnL>
                      <a:noFill/>
                    </a:lnL>
                    <a:lnR w="9525" cap="flat" cmpd="sng" algn="ctr">
                      <a:solidFill>
                        <a:schemeClr val="accent1"/>
                      </a:solidFill>
                      <a:prstDash val="solid"/>
                      <a:round/>
                      <a:headEnd type="none" w="med" len="med"/>
                      <a:tailEnd type="none" w="med" len="med"/>
                    </a:lnR>
                    <a:lnT w="12700" cmpd="sng">
                      <a:noFill/>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3230740636"/>
                  </a:ext>
                </a:extLst>
              </a:tr>
              <a:tr h="301136">
                <a:tc rowSpan="2">
                  <a:txBody>
                    <a:bodyPr/>
                    <a:lstStyle/>
                    <a:p>
                      <a:pPr algn="ctr" fontAlgn="t"/>
                      <a:r>
                        <a:rPr lang="en-US" sz="1600" b="0" i="0" u="none" strike="noStrike" dirty="0">
                          <a:solidFill>
                            <a:srgbClr val="000000"/>
                          </a:solidFill>
                          <a:effectLst/>
                          <a:latin typeface="Intel Clear" panose="020B0604020203020204" pitchFamily="34" charset="0"/>
                        </a:rPr>
                        <a:t>Dell Inc</a:t>
                      </a:r>
                    </a:p>
                  </a:txBody>
                  <a:tcPr marL="7620" marR="7620" marT="7620" marB="0" anchor="ctr">
                    <a:lnL w="9525" cap="flat" cmpd="sng" algn="ctr">
                      <a:solidFill>
                        <a:schemeClr val="accent1"/>
                      </a:solidFill>
                      <a:prstDash val="solid"/>
                      <a:round/>
                      <a:headEnd type="none" w="med" len="med"/>
                      <a:tailEnd type="none" w="med" len="med"/>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Foxconn</a:t>
                      </a:r>
                    </a:p>
                  </a:txBody>
                  <a:tcPr marL="7620" marR="7620" marT="7620" marB="0" anchor="ctr">
                    <a:lnL>
                      <a:noFill/>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Mexico - Juarez</a:t>
                      </a:r>
                    </a:p>
                  </a:txBody>
                  <a:tcPr marL="7620" marR="7620" marT="7620" marB="0" anchor="ctr">
                    <a:lnL>
                      <a:noFill/>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SI</a:t>
                      </a:r>
                    </a:p>
                  </a:txBody>
                  <a:tcPr marL="7620" marR="7620" marT="7620" marB="0" anchor="ctr">
                    <a:lnL>
                      <a:noFill/>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400ku/qtr</a:t>
                      </a:r>
                    </a:p>
                  </a:txBody>
                  <a:tcPr marL="7620" marR="7620" marT="7620" marB="0" anchor="ctr">
                    <a:lnL>
                      <a:noFill/>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364149"/>
                  </a:ext>
                </a:extLst>
              </a:tr>
              <a:tr h="301136">
                <a:tc vMerge="1">
                  <a:txBody>
                    <a:bodyPr/>
                    <a:lstStyle/>
                    <a:p>
                      <a:pPr algn="ctr" fontAlgn="t"/>
                      <a:endParaRPr lang="en-US" sz="1600" b="0" i="0" u="none" strike="noStrike" dirty="0">
                        <a:solidFill>
                          <a:srgbClr val="000000"/>
                        </a:solidFill>
                        <a:effectLst/>
                        <a:latin typeface="Intel Clear" panose="020B0604020203020204" pitchFamily="34" charset="0"/>
                      </a:endParaRPr>
                    </a:p>
                  </a:txBody>
                  <a:tcPr marL="7620" marR="7620" marT="7620" marB="0" anchor="ctr">
                    <a:lnL w="9525" cap="flat" cmpd="sng" algn="ctr">
                      <a:solidFill>
                        <a:schemeClr val="accent1"/>
                      </a:solid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68B5"/>
                          </a:solidFill>
                          <a:effectLst/>
                          <a:latin typeface="Intel Clear" panose="020B0604020203020204" pitchFamily="34" charset="0"/>
                        </a:rPr>
                        <a:t>Foxconn</a:t>
                      </a:r>
                    </a:p>
                  </a:txBody>
                  <a:tcPr marL="7620" marR="7620" marT="7620" marB="0" anchor="ctr">
                    <a:lnL>
                      <a:noFill/>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Wuhan</a:t>
                      </a:r>
                    </a:p>
                  </a:txBody>
                  <a:tcPr marL="7620" marR="7620" marT="7620" marB="0" anchor="ctr">
                    <a:lnL>
                      <a:noFill/>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SMT &amp; SI</a:t>
                      </a:r>
                    </a:p>
                  </a:txBody>
                  <a:tcPr marL="7620" marR="7620" marT="7620" marB="0" anchor="ctr">
                    <a:lnL>
                      <a:noFill/>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7030A0"/>
                          </a:solidFill>
                          <a:effectLst/>
                          <a:latin typeface="Intel Clear" panose="020B0604020203020204" pitchFamily="34" charset="0"/>
                        </a:rPr>
                        <a:t>Unknown</a:t>
                      </a:r>
                    </a:p>
                  </a:txBody>
                  <a:tcPr marL="7620" marR="7620" marT="7620" marB="0" anchor="ctr">
                    <a:lnL>
                      <a:noFill/>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2419977"/>
                  </a:ext>
                </a:extLst>
              </a:tr>
              <a:tr h="301136">
                <a:tc rowSpan="2">
                  <a:txBody>
                    <a:bodyPr/>
                    <a:lstStyle/>
                    <a:p>
                      <a:pPr algn="ctr" fontAlgn="t"/>
                      <a:r>
                        <a:rPr lang="en-US" sz="1600" b="0" i="0" u="none" strike="noStrike" dirty="0">
                          <a:solidFill>
                            <a:srgbClr val="000000"/>
                          </a:solidFill>
                          <a:effectLst/>
                          <a:latin typeface="Intel Clear" panose="020B0604020203020204" pitchFamily="34" charset="0"/>
                        </a:rPr>
                        <a:t>HP Inc</a:t>
                      </a:r>
                    </a:p>
                  </a:txBody>
                  <a:tcPr marL="7620" marR="7620" marT="7620" marB="0" anchor="ctr">
                    <a:lnL w="9525" cap="flat" cmpd="sng" algn="ctr">
                      <a:solidFill>
                        <a:schemeClr val="accent1"/>
                      </a:solidFill>
                      <a:prstDash val="solid"/>
                      <a:round/>
                      <a:headEnd type="none" w="med" len="med"/>
                      <a:tailEnd type="none" w="med" len="med"/>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Foxconn</a:t>
                      </a:r>
                    </a:p>
                  </a:txBody>
                  <a:tcPr marL="7620" marR="7620" marT="7620" marB="0" anchor="ctr">
                    <a:lnL>
                      <a:noFill/>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Wuhan</a:t>
                      </a:r>
                    </a:p>
                  </a:txBody>
                  <a:tcPr marL="7620" marR="7620" marT="7620" marB="0" anchor="ctr">
                    <a:lnL>
                      <a:noFill/>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SMT &amp; SI</a:t>
                      </a:r>
                    </a:p>
                  </a:txBody>
                  <a:tcPr marL="7620" marR="7620" marT="7620" marB="0" anchor="ctr">
                    <a:lnL>
                      <a:noFill/>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600ku/</a:t>
                      </a:r>
                      <a:r>
                        <a:rPr lang="en-US" sz="1600" b="0" i="0" u="none" strike="noStrike" dirty="0" err="1">
                          <a:solidFill>
                            <a:srgbClr val="000000"/>
                          </a:solidFill>
                          <a:effectLst/>
                          <a:latin typeface="Intel Clear" panose="020B0604020203020204" pitchFamily="34" charset="0"/>
                        </a:rPr>
                        <a:t>qtr</a:t>
                      </a:r>
                      <a:endParaRPr lang="en-US" sz="1600" b="0" i="0" u="none" strike="noStrike" dirty="0">
                        <a:solidFill>
                          <a:srgbClr val="000000"/>
                        </a:solidFill>
                        <a:effectLst/>
                        <a:latin typeface="Intel Clear" panose="020B0604020203020204" pitchFamily="34" charset="0"/>
                      </a:endParaRPr>
                    </a:p>
                  </a:txBody>
                  <a:tcPr marL="7620" marR="7620" marT="7620" marB="0" anchor="ctr">
                    <a:lnL>
                      <a:noFill/>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3462759"/>
                  </a:ext>
                </a:extLst>
              </a:tr>
              <a:tr h="301136">
                <a:tc vMerge="1">
                  <a:txBody>
                    <a:bodyPr/>
                    <a:lstStyle/>
                    <a:p>
                      <a:pPr algn="ctr" fontAlgn="t"/>
                      <a:endParaRPr lang="en-US" sz="1600" b="0" i="0" u="none" strike="noStrike" dirty="0">
                        <a:solidFill>
                          <a:srgbClr val="000000"/>
                        </a:solidFill>
                        <a:effectLst/>
                        <a:latin typeface="Intel Clear" panose="020B0604020203020204" pitchFamily="34" charset="0"/>
                      </a:endParaRPr>
                    </a:p>
                  </a:txBody>
                  <a:tcPr marL="7620" marR="7620" marT="7620" marB="0" anchor="ctr">
                    <a:lnL w="9525" cap="flat" cmpd="sng" algn="ctr">
                      <a:solidFill>
                        <a:schemeClr val="accent1"/>
                      </a:solid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Foxconn</a:t>
                      </a:r>
                    </a:p>
                  </a:txBody>
                  <a:tcPr marL="7620" marR="7620" marT="7620" marB="0" anchor="ctr">
                    <a:lnL>
                      <a:noFill/>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Czech Republic -Pardubice</a:t>
                      </a:r>
                    </a:p>
                  </a:txBody>
                  <a:tcPr marL="7620" marR="7620" marT="7620" marB="0" anchor="ctr">
                    <a:lnL>
                      <a:noFill/>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SI</a:t>
                      </a:r>
                    </a:p>
                  </a:txBody>
                  <a:tcPr marL="7620" marR="7620" marT="7620" marB="0" anchor="ctr">
                    <a:lnL>
                      <a:noFill/>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600ku/</a:t>
                      </a:r>
                      <a:r>
                        <a:rPr lang="en-US" sz="1600" b="0" i="0" u="none" strike="noStrike" dirty="0" err="1">
                          <a:solidFill>
                            <a:srgbClr val="000000"/>
                          </a:solidFill>
                          <a:effectLst/>
                          <a:latin typeface="Intel Clear" panose="020B0604020203020204" pitchFamily="34" charset="0"/>
                        </a:rPr>
                        <a:t>qtr</a:t>
                      </a:r>
                      <a:endParaRPr lang="en-US" sz="1600" b="0" i="0" u="none" strike="noStrike" dirty="0">
                        <a:solidFill>
                          <a:srgbClr val="000000"/>
                        </a:solidFill>
                        <a:effectLst/>
                        <a:latin typeface="Intel Clear" panose="020B0604020203020204" pitchFamily="34" charset="0"/>
                      </a:endParaRPr>
                    </a:p>
                  </a:txBody>
                  <a:tcPr marL="7620" marR="7620" marT="7620" marB="0" anchor="ctr">
                    <a:lnL>
                      <a:noFill/>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9172959"/>
                  </a:ext>
                </a:extLst>
              </a:tr>
              <a:tr h="301136">
                <a:tc rowSpan="4">
                  <a:txBody>
                    <a:bodyPr/>
                    <a:lstStyle/>
                    <a:p>
                      <a:pPr algn="ctr" fontAlgn="t"/>
                      <a:r>
                        <a:rPr lang="en-US" sz="1600" b="0" i="0" u="none" strike="noStrike" dirty="0">
                          <a:solidFill>
                            <a:srgbClr val="000000"/>
                          </a:solidFill>
                          <a:effectLst/>
                          <a:latin typeface="Intel Clear" panose="020B0604020203020204" pitchFamily="34" charset="0"/>
                        </a:rPr>
                        <a:t>Lenovo</a:t>
                      </a:r>
                    </a:p>
                  </a:txBody>
                  <a:tcPr marL="7620" marR="7620" marT="7620" marB="0" anchor="ctr">
                    <a:lnL w="9525" cap="flat" cmpd="sng" algn="ctr">
                      <a:solidFill>
                        <a:schemeClr val="accent1"/>
                      </a:solidFill>
                      <a:prstDash val="solid"/>
                      <a:round/>
                      <a:headEnd type="none" w="med" len="med"/>
                      <a:tailEnd type="none" w="med" len="med"/>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Liteon</a:t>
                      </a:r>
                    </a:p>
                  </a:txBody>
                  <a:tcPr marL="7620" marR="7620" marT="7620" marB="0" anchor="ctr">
                    <a:lnL>
                      <a:noFill/>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Dongguan</a:t>
                      </a:r>
                    </a:p>
                  </a:txBody>
                  <a:tcPr marL="7620" marR="7620" marT="7620" marB="0" anchor="ctr">
                    <a:lnL>
                      <a:noFill/>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SMT</a:t>
                      </a:r>
                    </a:p>
                  </a:txBody>
                  <a:tcPr marL="7620" marR="7620" marT="7620" marB="0" anchor="ctr">
                    <a:lnL>
                      <a:noFill/>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400ku/</a:t>
                      </a:r>
                      <a:r>
                        <a:rPr lang="en-US" sz="1600" b="0" i="0" u="none" strike="noStrike" dirty="0" err="1">
                          <a:solidFill>
                            <a:srgbClr val="000000"/>
                          </a:solidFill>
                          <a:effectLst/>
                          <a:latin typeface="Intel Clear" panose="020B0604020203020204" pitchFamily="34" charset="0"/>
                        </a:rPr>
                        <a:t>qtr</a:t>
                      </a:r>
                      <a:endParaRPr lang="en-US" sz="1600" b="0" i="0" u="none" strike="noStrike" dirty="0">
                        <a:solidFill>
                          <a:srgbClr val="000000"/>
                        </a:solidFill>
                        <a:effectLst/>
                        <a:latin typeface="Intel Clear" panose="020B0604020203020204" pitchFamily="34" charset="0"/>
                      </a:endParaRPr>
                    </a:p>
                  </a:txBody>
                  <a:tcPr marL="7620" marR="7620" marT="7620" marB="0" anchor="ctr">
                    <a:lnL>
                      <a:noFill/>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64110916"/>
                  </a:ext>
                </a:extLst>
              </a:tr>
              <a:tr h="301136">
                <a:tc vMerge="1">
                  <a:txBody>
                    <a:bodyPr/>
                    <a:lstStyle/>
                    <a:p>
                      <a:pPr algn="ctr" fontAlgn="t"/>
                      <a:endParaRPr lang="en-US" sz="1600" b="0" i="0" u="none" strike="noStrike" dirty="0">
                        <a:solidFill>
                          <a:srgbClr val="000000"/>
                        </a:solidFill>
                        <a:effectLst/>
                        <a:latin typeface="Intel Clear" panose="020B0604020203020204" pitchFamily="34" charset="0"/>
                      </a:endParaRPr>
                    </a:p>
                  </a:txBody>
                  <a:tcPr marL="7620" marR="7620" marT="7620" marB="0" anchor="ctr">
                    <a:lnL w="9525" cap="flat" cmpd="sng" algn="ctr">
                      <a:solidFill>
                        <a:schemeClr val="accent1"/>
                      </a:solid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LCFC</a:t>
                      </a:r>
                    </a:p>
                  </a:txBody>
                  <a:tcPr marL="7620" marR="7620" marT="7620" marB="0" anchor="ctr">
                    <a:lnL>
                      <a:noFill/>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Hefei</a:t>
                      </a:r>
                    </a:p>
                  </a:txBody>
                  <a:tcPr marL="7620" marR="7620" marT="7620" marB="0" anchor="ctr">
                    <a:lnL>
                      <a:noFill/>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SMT</a:t>
                      </a:r>
                    </a:p>
                  </a:txBody>
                  <a:tcPr marL="7620" marR="7620" marT="7620" marB="0" anchor="ctr">
                    <a:lnL>
                      <a:noFill/>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230ku/</a:t>
                      </a:r>
                      <a:r>
                        <a:rPr lang="en-US" sz="1600" b="0" i="0" u="none" strike="noStrike" dirty="0" err="1">
                          <a:solidFill>
                            <a:srgbClr val="000000"/>
                          </a:solidFill>
                          <a:effectLst/>
                          <a:latin typeface="Intel Clear" panose="020B0604020203020204" pitchFamily="34" charset="0"/>
                        </a:rPr>
                        <a:t>qtr</a:t>
                      </a:r>
                      <a:endParaRPr lang="en-US" sz="1600" b="0" i="0" u="none" strike="noStrike" dirty="0">
                        <a:solidFill>
                          <a:srgbClr val="000000"/>
                        </a:solidFill>
                        <a:effectLst/>
                        <a:latin typeface="Intel Clear" panose="020B0604020203020204" pitchFamily="34" charset="0"/>
                      </a:endParaRPr>
                    </a:p>
                  </a:txBody>
                  <a:tcPr marL="7620" marR="7620" marT="7620" marB="0" anchor="ctr">
                    <a:lnL>
                      <a:noFill/>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5997469"/>
                  </a:ext>
                </a:extLst>
              </a:tr>
              <a:tr h="301136">
                <a:tc vMerge="1">
                  <a:txBody>
                    <a:bodyPr/>
                    <a:lstStyle/>
                    <a:p>
                      <a:endParaRPr lang="en-US"/>
                    </a:p>
                  </a:txBody>
                  <a:tcPr/>
                </a:tc>
                <a:tc>
                  <a:txBody>
                    <a:bodyPr/>
                    <a:lstStyle/>
                    <a:p>
                      <a:pPr algn="ctr" fontAlgn="t"/>
                      <a:r>
                        <a:rPr lang="en-US" sz="1600" b="0" i="0" u="none" strike="noStrike" dirty="0">
                          <a:solidFill>
                            <a:srgbClr val="0068B5"/>
                          </a:solidFill>
                          <a:effectLst/>
                          <a:latin typeface="Intel Clear" panose="020B0604020203020204" pitchFamily="34" charset="0"/>
                        </a:rPr>
                        <a:t>MSI</a:t>
                      </a:r>
                    </a:p>
                  </a:txBody>
                  <a:tcPr marL="7620" marR="7620" marT="7620" marB="0" anchor="ctr">
                    <a:lnL>
                      <a:noFill/>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09600" eaLnBrk="1" fontAlgn="t" latinLnBrk="0" hangingPunct="1">
                        <a:lnSpc>
                          <a:spcPct val="100000"/>
                        </a:lnSpc>
                        <a:spcBef>
                          <a:spcPts val="0"/>
                        </a:spcBef>
                        <a:spcAft>
                          <a:spcPts val="0"/>
                        </a:spcAft>
                        <a:buClrTx/>
                        <a:buSzTx/>
                        <a:buFontTx/>
                        <a:buNone/>
                        <a:tabLst/>
                        <a:defRPr/>
                      </a:pPr>
                      <a:r>
                        <a:rPr lang="en-US" sz="1600" b="0" i="0" u="none" strike="noStrike" dirty="0">
                          <a:solidFill>
                            <a:srgbClr val="7030A0"/>
                          </a:solidFill>
                          <a:effectLst/>
                          <a:latin typeface="Intel Clear" panose="020B0604020203020204" pitchFamily="34" charset="0"/>
                        </a:rPr>
                        <a:t>Unknown</a:t>
                      </a:r>
                    </a:p>
                  </a:txBody>
                  <a:tcPr marL="7620" marR="7620" marT="7620" marB="0" anchor="ctr">
                    <a:lnL>
                      <a:noFill/>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SMT</a:t>
                      </a:r>
                    </a:p>
                  </a:txBody>
                  <a:tcPr marL="7620" marR="7620" marT="7620" marB="0" anchor="ctr">
                    <a:lnL>
                      <a:noFill/>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09600" eaLnBrk="1" fontAlgn="t" latinLnBrk="0" hangingPunct="1">
                        <a:lnSpc>
                          <a:spcPct val="100000"/>
                        </a:lnSpc>
                        <a:spcBef>
                          <a:spcPts val="0"/>
                        </a:spcBef>
                        <a:spcAft>
                          <a:spcPts val="0"/>
                        </a:spcAft>
                        <a:buClrTx/>
                        <a:buSzTx/>
                        <a:buFontTx/>
                        <a:buNone/>
                        <a:tabLst/>
                        <a:defRPr/>
                      </a:pPr>
                      <a:r>
                        <a:rPr lang="en-US" sz="1600" b="0" i="0" u="none" strike="noStrike" dirty="0">
                          <a:solidFill>
                            <a:srgbClr val="7030A0"/>
                          </a:solidFill>
                          <a:effectLst/>
                          <a:latin typeface="Intel Clear" panose="020B0604020203020204" pitchFamily="34" charset="0"/>
                        </a:rPr>
                        <a:t>Unknown</a:t>
                      </a:r>
                    </a:p>
                  </a:txBody>
                  <a:tcPr marL="7620" marR="7620" marT="7620" marB="0" anchor="ctr">
                    <a:lnL>
                      <a:noFill/>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8646687"/>
                  </a:ext>
                </a:extLst>
              </a:tr>
              <a:tr h="301136">
                <a:tc vMerge="1">
                  <a:txBody>
                    <a:bodyPr/>
                    <a:lstStyle/>
                    <a:p>
                      <a:pPr algn="ctr" fontAlgn="t"/>
                      <a:endParaRPr lang="en-US" sz="1600" b="0" i="0" u="none" strike="noStrike" dirty="0">
                        <a:solidFill>
                          <a:srgbClr val="000000"/>
                        </a:solidFill>
                        <a:effectLst/>
                        <a:latin typeface="Intel Clear" panose="020B0604020203020204" pitchFamily="34" charset="0"/>
                      </a:endParaRPr>
                    </a:p>
                  </a:txBody>
                  <a:tcPr marL="7620" marR="7620" marT="7620" marB="0" anchor="ctr">
                    <a:lnL w="9525" cap="flat" cmpd="sng" algn="ctr">
                      <a:solidFill>
                        <a:schemeClr val="accent1"/>
                      </a:solidFill>
                      <a:prstDash val="solid"/>
                      <a:round/>
                      <a:headEnd type="none" w="med" len="med"/>
                      <a:tailEnd type="none" w="med" len="med"/>
                    </a:lnL>
                    <a:lnR>
                      <a:noFill/>
                    </a:lnR>
                    <a:lnT w="12700" cmpd="sng">
                      <a:noFill/>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ECS</a:t>
                      </a:r>
                    </a:p>
                  </a:txBody>
                  <a:tcPr marL="7620" marR="7620" marT="7620" marB="0" anchor="ctr">
                    <a:lnL>
                      <a:noFill/>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Shenzhen</a:t>
                      </a:r>
                    </a:p>
                  </a:txBody>
                  <a:tcPr marL="7620" marR="7620" marT="7620" marB="0" anchor="ctr">
                    <a:lnL>
                      <a:noFill/>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SMT &amp; SI</a:t>
                      </a:r>
                    </a:p>
                  </a:txBody>
                  <a:tcPr marL="7620" marR="7620" marT="7620" marB="0" anchor="ctr">
                    <a:lnL>
                      <a:noFill/>
                    </a:lnL>
                    <a:lnR>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600" b="0" i="0" u="none" strike="noStrike" dirty="0">
                          <a:solidFill>
                            <a:srgbClr val="000000"/>
                          </a:solidFill>
                          <a:effectLst/>
                          <a:latin typeface="Intel Clear" panose="020B0604020203020204" pitchFamily="34" charset="0"/>
                        </a:rPr>
                        <a:t>200ku/</a:t>
                      </a:r>
                      <a:r>
                        <a:rPr lang="en-US" sz="1600" b="0" i="0" u="none" strike="noStrike" dirty="0" err="1">
                          <a:solidFill>
                            <a:srgbClr val="000000"/>
                          </a:solidFill>
                          <a:effectLst/>
                          <a:latin typeface="Intel Clear" panose="020B0604020203020204" pitchFamily="34" charset="0"/>
                        </a:rPr>
                        <a:t>qtr</a:t>
                      </a:r>
                      <a:endParaRPr lang="en-US" sz="1600" b="0" i="0" u="none" strike="noStrike" dirty="0">
                        <a:solidFill>
                          <a:srgbClr val="000000"/>
                        </a:solidFill>
                        <a:effectLst/>
                        <a:latin typeface="Intel Clear" panose="020B0604020203020204" pitchFamily="34" charset="0"/>
                      </a:endParaRPr>
                    </a:p>
                  </a:txBody>
                  <a:tcPr marL="7620" marR="7620" marT="7620" marB="0" anchor="ctr">
                    <a:lnL>
                      <a:noFill/>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9628434"/>
                  </a:ext>
                </a:extLst>
              </a:tr>
            </a:tbl>
          </a:graphicData>
        </a:graphic>
      </p:graphicFrame>
      <p:sp>
        <p:nvSpPr>
          <p:cNvPr id="5" name="Right Brace 4">
            <a:extLst>
              <a:ext uri="{FF2B5EF4-FFF2-40B4-BE49-F238E27FC236}">
                <a16:creationId xmlns:a16="http://schemas.microsoft.com/office/drawing/2014/main" id="{002AEECC-9934-40EA-A18C-31EB2F4C36EA}"/>
              </a:ext>
            </a:extLst>
          </p:cNvPr>
          <p:cNvSpPr/>
          <p:nvPr/>
        </p:nvSpPr>
        <p:spPr>
          <a:xfrm rot="5400000">
            <a:off x="751168" y="3689263"/>
            <a:ext cx="442249" cy="74044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TextBox 2">
            <a:extLst>
              <a:ext uri="{FF2B5EF4-FFF2-40B4-BE49-F238E27FC236}">
                <a16:creationId xmlns:a16="http://schemas.microsoft.com/office/drawing/2014/main" id="{C8760C7C-7B9A-4FD6-8031-6237BE8F0779}"/>
              </a:ext>
            </a:extLst>
          </p:cNvPr>
          <p:cNvSpPr txBox="1"/>
          <p:nvPr/>
        </p:nvSpPr>
        <p:spPr>
          <a:xfrm>
            <a:off x="3271919" y="6068378"/>
            <a:ext cx="7383431"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68B5"/>
                </a:solidFill>
                <a:uFillTx/>
                <a:latin typeface="+mn-lt"/>
                <a:ea typeface="+mn-ea"/>
                <a:cs typeface="+mn-cs"/>
                <a:sym typeface="Helvetica Neue"/>
              </a:rPr>
              <a:t>Note: For ODMs shown in blue, some limited MV/factory info was also collected </a:t>
            </a:r>
          </a:p>
        </p:txBody>
      </p:sp>
      <p:sp>
        <p:nvSpPr>
          <p:cNvPr id="6" name="Action Button: Go Home 5">
            <a:hlinkClick r:id="rId2" action="ppaction://hlinksldjump" highlightClick="1"/>
            <a:extLst>
              <a:ext uri="{FF2B5EF4-FFF2-40B4-BE49-F238E27FC236}">
                <a16:creationId xmlns:a16="http://schemas.microsoft.com/office/drawing/2014/main" id="{E9DFC179-DD5D-4622-B276-7A848B44B9C0}"/>
              </a:ext>
            </a:extLst>
          </p:cNvPr>
          <p:cNvSpPr/>
          <p:nvPr/>
        </p:nvSpPr>
        <p:spPr>
          <a:xfrm>
            <a:off x="11399520" y="162560"/>
            <a:ext cx="487680" cy="451311"/>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043661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270901-69DC-460A-8030-B801479675AB}"/>
              </a:ext>
            </a:extLst>
          </p:cNvPr>
          <p:cNvSpPr>
            <a:spLocks noGrp="1"/>
          </p:cNvSpPr>
          <p:nvPr>
            <p:ph type="title"/>
          </p:nvPr>
        </p:nvSpPr>
        <p:spPr/>
        <p:txBody>
          <a:bodyPr/>
          <a:lstStyle/>
          <a:p>
            <a:r>
              <a:rPr lang="en-US" dirty="0"/>
              <a:t>Key Takeaway (1)</a:t>
            </a:r>
            <a:endParaRPr lang="en-MY" dirty="0"/>
          </a:p>
        </p:txBody>
      </p:sp>
      <p:sp>
        <p:nvSpPr>
          <p:cNvPr id="5" name="Content Placeholder 4">
            <a:extLst>
              <a:ext uri="{FF2B5EF4-FFF2-40B4-BE49-F238E27FC236}">
                <a16:creationId xmlns:a16="http://schemas.microsoft.com/office/drawing/2014/main" id="{1C2428F7-09AB-4293-8309-5CC745E5ED88}"/>
              </a:ext>
            </a:extLst>
          </p:cNvPr>
          <p:cNvSpPr>
            <a:spLocks noGrp="1"/>
          </p:cNvSpPr>
          <p:nvPr>
            <p:ph sz="quarter" idx="13"/>
          </p:nvPr>
        </p:nvSpPr>
        <p:spPr>
          <a:xfrm>
            <a:off x="607484" y="1248900"/>
            <a:ext cx="10970683" cy="4821701"/>
          </a:xfrm>
        </p:spPr>
        <p:txBody>
          <a:bodyPr>
            <a:normAutofit fontScale="85000" lnSpcReduction="20000"/>
          </a:bodyPr>
          <a:lstStyle/>
          <a:p>
            <a:r>
              <a:rPr lang="en-US" dirty="0"/>
              <a:t>PCB Design</a:t>
            </a:r>
          </a:p>
          <a:p>
            <a:pPr lvl="1"/>
            <a:r>
              <a:rPr lang="en-US" dirty="0"/>
              <a:t>OEMs have design ownership of PCB, System and Thermal Solution.</a:t>
            </a:r>
          </a:p>
          <a:p>
            <a:pPr lvl="1"/>
            <a:r>
              <a:rPr lang="en-US" dirty="0"/>
              <a:t>OSP is the most common PCB surface finish with 62 mils board thickness, followed by ~47/48mil thickness and minimum via drill diameter of 8-10mil.</a:t>
            </a:r>
          </a:p>
          <a:p>
            <a:pPr lvl="1"/>
            <a:r>
              <a:rPr lang="en-US" dirty="0"/>
              <a:t>Most customer choose Type 3 board with 4/6/8 layer and 140-150°C </a:t>
            </a:r>
            <a:r>
              <a:rPr lang="en-US" dirty="0" err="1"/>
              <a:t>Tg</a:t>
            </a:r>
            <a:r>
              <a:rPr lang="en-US" dirty="0"/>
              <a:t> PCB lamination.</a:t>
            </a:r>
          </a:p>
          <a:p>
            <a:pPr lvl="1"/>
            <a:r>
              <a:rPr lang="en-US" dirty="0"/>
              <a:t>ATX is the most common form factor design, there are also other form factors used.</a:t>
            </a:r>
          </a:p>
          <a:p>
            <a:pPr lvl="1"/>
            <a:r>
              <a:rPr lang="en-US" dirty="0"/>
              <a:t>Majority of the customers have capability to support double sided assembly process.</a:t>
            </a:r>
          </a:p>
          <a:p>
            <a:pPr lvl="2"/>
            <a:r>
              <a:rPr lang="en-US" dirty="0"/>
              <a:t>Backside (secondary side) assembly process is fully automated for SMD components and capability constraints/limitations vary by customer.</a:t>
            </a:r>
          </a:p>
          <a:p>
            <a:pPr lvl="2"/>
            <a:r>
              <a:rPr lang="en-US" dirty="0"/>
              <a:t>0201 is the smallest chip component size supported, across all board designs.</a:t>
            </a:r>
          </a:p>
          <a:p>
            <a:pPr lvl="2"/>
            <a:r>
              <a:rPr lang="en-US" dirty="0"/>
              <a:t>Component spacing rules vary by customer.</a:t>
            </a:r>
          </a:p>
          <a:p>
            <a:pPr lvl="1"/>
            <a:r>
              <a:rPr lang="en-US" dirty="0"/>
              <a:t>Approximately 60% of the surveyed customers allow for trace routing between chip component pads.</a:t>
            </a:r>
          </a:p>
          <a:p>
            <a:pPr lvl="1"/>
            <a:r>
              <a:rPr lang="en-US" dirty="0"/>
              <a:t>Customers have more concerns and paying more cautious for large SMT connectors, </a:t>
            </a:r>
            <a:r>
              <a:rPr lang="en-US" dirty="0" err="1"/>
              <a:t>eg.</a:t>
            </a:r>
            <a:r>
              <a:rPr lang="en-US" dirty="0"/>
              <a:t> include </a:t>
            </a:r>
            <a:r>
              <a:rPr lang="en-US" dirty="0" err="1"/>
              <a:t>soldermask</a:t>
            </a:r>
            <a:r>
              <a:rPr lang="en-US" dirty="0"/>
              <a:t> between the pins in their design to mitigate SMT risk.</a:t>
            </a:r>
          </a:p>
          <a:p>
            <a:pPr lvl="1"/>
            <a:r>
              <a:rPr lang="en-US" dirty="0"/>
              <a:t>Customers perform reliability testing in board level and some in system level, the reliability tests are different among all.</a:t>
            </a:r>
          </a:p>
          <a:p>
            <a:pPr lvl="1"/>
            <a:r>
              <a:rPr lang="en-US" dirty="0"/>
              <a:t>Customers use both their proprietary and Intel designs for thermal solutions. They do follow thermal relief rules.</a:t>
            </a:r>
          </a:p>
          <a:p>
            <a:pPr lvl="1"/>
            <a:endParaRPr lang="en-US" dirty="0"/>
          </a:p>
          <a:p>
            <a:pPr lvl="1"/>
            <a:endParaRPr lang="en-US" dirty="0"/>
          </a:p>
        </p:txBody>
      </p:sp>
    </p:spTree>
    <p:extLst>
      <p:ext uri="{BB962C8B-B14F-4D97-AF65-F5344CB8AC3E}">
        <p14:creationId xmlns:p14="http://schemas.microsoft.com/office/powerpoint/2010/main" val="2451812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270901-69DC-460A-8030-B801479675AB}"/>
              </a:ext>
            </a:extLst>
          </p:cNvPr>
          <p:cNvSpPr>
            <a:spLocks noGrp="1"/>
          </p:cNvSpPr>
          <p:nvPr>
            <p:ph type="title"/>
          </p:nvPr>
        </p:nvSpPr>
        <p:spPr/>
        <p:txBody>
          <a:bodyPr/>
          <a:lstStyle/>
          <a:p>
            <a:r>
              <a:rPr lang="en-US" dirty="0"/>
              <a:t>Key Takeaway (2)</a:t>
            </a:r>
            <a:endParaRPr lang="en-MY" dirty="0"/>
          </a:p>
        </p:txBody>
      </p:sp>
      <p:sp>
        <p:nvSpPr>
          <p:cNvPr id="5" name="Content Placeholder 4">
            <a:extLst>
              <a:ext uri="{FF2B5EF4-FFF2-40B4-BE49-F238E27FC236}">
                <a16:creationId xmlns:a16="http://schemas.microsoft.com/office/drawing/2014/main" id="{1C2428F7-09AB-4293-8309-5CC745E5ED88}"/>
              </a:ext>
            </a:extLst>
          </p:cNvPr>
          <p:cNvSpPr>
            <a:spLocks noGrp="1"/>
          </p:cNvSpPr>
          <p:nvPr>
            <p:ph sz="quarter" idx="13"/>
          </p:nvPr>
        </p:nvSpPr>
        <p:spPr>
          <a:xfrm>
            <a:off x="607484" y="1248900"/>
            <a:ext cx="10970683" cy="5037511"/>
          </a:xfrm>
        </p:spPr>
        <p:txBody>
          <a:bodyPr>
            <a:normAutofit lnSpcReduction="10000"/>
          </a:bodyPr>
          <a:lstStyle/>
          <a:p>
            <a:r>
              <a:rPr lang="en-US" sz="2400" dirty="0"/>
              <a:t>ODM PCBA Process &amp; Rework</a:t>
            </a:r>
          </a:p>
          <a:p>
            <a:pPr lvl="1"/>
            <a:r>
              <a:rPr lang="en-US" sz="1800" dirty="0"/>
              <a:t>Customer is trending to full automation for SMT  assembly with in-line traceability capability set-up. Approx. 50% of the surveyed customer achieved full automation while others are partial automation.</a:t>
            </a:r>
          </a:p>
          <a:p>
            <a:pPr lvl="1"/>
            <a:r>
              <a:rPr lang="en-US" sz="1800" dirty="0"/>
              <a:t>Pin and vacuum PCB support are used at paste print process.  </a:t>
            </a:r>
            <a:r>
              <a:rPr lang="en-US" sz="1800" dirty="0" err="1"/>
              <a:t>Approx</a:t>
            </a:r>
            <a:r>
              <a:rPr lang="en-US" sz="1800" dirty="0"/>
              <a:t> 50% of the surveyed customer choosing pin type , while the remainder are using both pin and vacuum support.</a:t>
            </a:r>
          </a:p>
          <a:p>
            <a:pPr lvl="1"/>
            <a:r>
              <a:rPr lang="en-US" sz="1800" dirty="0"/>
              <a:t>Customer preferred stencil thicknesses: 0.10, 0.12, 0.13 &amp; 0.15mm for both SMT and rework. </a:t>
            </a:r>
          </a:p>
          <a:p>
            <a:pPr lvl="1"/>
            <a:r>
              <a:rPr lang="en-US" sz="1800" dirty="0"/>
              <a:t>Pallets are generally used for board support during SMT reflow and rework. Most customers directly applied solder paste on PCB pads for rework. Few customers also print solder paste onto the solder balls.</a:t>
            </a:r>
          </a:p>
          <a:p>
            <a:pPr lvl="1"/>
            <a:r>
              <a:rPr lang="en-US" sz="1800" dirty="0" err="1"/>
              <a:t>Approx</a:t>
            </a:r>
            <a:r>
              <a:rPr lang="en-US" sz="1800" dirty="0"/>
              <a:t> 80% of the surveyed customers reflow with purging N2 (O2 ppm range between 1K-3K) and other reflow @ Air environment.</a:t>
            </a:r>
          </a:p>
          <a:p>
            <a:pPr lvl="1"/>
            <a:r>
              <a:rPr lang="en-US" sz="1800" dirty="0"/>
              <a:t>No O2 ppm control for wave soldering process for most customers and PCBA rework process mostly performed at air environment. </a:t>
            </a:r>
          </a:p>
          <a:p>
            <a:pPr lvl="1"/>
            <a:r>
              <a:rPr lang="en-US" sz="1800" dirty="0"/>
              <a:t>Many customers are not sharing their paste vendor info and machine/equipment model with Intel.</a:t>
            </a:r>
          </a:p>
          <a:p>
            <a:pPr lvl="1"/>
            <a:r>
              <a:rPr lang="en-US" sz="1800" dirty="0"/>
              <a:t>PnP minimum ball pitch recognition capability is 0.3mm.</a:t>
            </a:r>
          </a:p>
          <a:p>
            <a:pPr lvl="1"/>
            <a:r>
              <a:rPr lang="en-US" sz="1800" dirty="0">
                <a:solidFill>
                  <a:srgbClr val="FF0000"/>
                </a:solidFill>
                <a:effectLst>
                  <a:outerShdw blurRad="38100" dist="38100" dir="2700000" algn="tl">
                    <a:srgbClr val="000000">
                      <a:alpha val="43137"/>
                    </a:srgbClr>
                  </a:outerShdw>
                </a:effectLst>
              </a:rPr>
              <a:t>Customer prefer peak reflow temp range from 230-250°C.</a:t>
            </a:r>
          </a:p>
          <a:p>
            <a:pPr lvl="1"/>
            <a:r>
              <a:rPr lang="en-US" sz="1800" dirty="0"/>
              <a:t>Customers are not using adhesives for sockets but using it for BGAs. Customer common practice is to apply adhesives before board testing.</a:t>
            </a:r>
          </a:p>
        </p:txBody>
      </p:sp>
    </p:spTree>
    <p:extLst>
      <p:ext uri="{BB962C8B-B14F-4D97-AF65-F5344CB8AC3E}">
        <p14:creationId xmlns:p14="http://schemas.microsoft.com/office/powerpoint/2010/main" val="2068830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270901-69DC-460A-8030-B801479675AB}"/>
              </a:ext>
            </a:extLst>
          </p:cNvPr>
          <p:cNvSpPr>
            <a:spLocks noGrp="1"/>
          </p:cNvSpPr>
          <p:nvPr>
            <p:ph type="title"/>
          </p:nvPr>
        </p:nvSpPr>
        <p:spPr/>
        <p:txBody>
          <a:bodyPr/>
          <a:lstStyle/>
          <a:p>
            <a:r>
              <a:rPr lang="en-US" dirty="0"/>
              <a:t>Key Takeaway (3)</a:t>
            </a:r>
            <a:endParaRPr lang="en-MY" dirty="0"/>
          </a:p>
        </p:txBody>
      </p:sp>
      <p:sp>
        <p:nvSpPr>
          <p:cNvPr id="5" name="Content Placeholder 4">
            <a:extLst>
              <a:ext uri="{FF2B5EF4-FFF2-40B4-BE49-F238E27FC236}">
                <a16:creationId xmlns:a16="http://schemas.microsoft.com/office/drawing/2014/main" id="{1C2428F7-09AB-4293-8309-5CC745E5ED88}"/>
              </a:ext>
            </a:extLst>
          </p:cNvPr>
          <p:cNvSpPr>
            <a:spLocks noGrp="1"/>
          </p:cNvSpPr>
          <p:nvPr>
            <p:ph sz="quarter" idx="13"/>
          </p:nvPr>
        </p:nvSpPr>
        <p:spPr>
          <a:xfrm>
            <a:off x="607484" y="1350500"/>
            <a:ext cx="10970683" cy="5037511"/>
          </a:xfrm>
        </p:spPr>
        <p:txBody>
          <a:bodyPr>
            <a:normAutofit lnSpcReduction="10000"/>
          </a:bodyPr>
          <a:lstStyle/>
          <a:p>
            <a:r>
              <a:rPr lang="en-US" sz="2400" dirty="0"/>
              <a:t>Inspection/Test/ILM/Others</a:t>
            </a:r>
          </a:p>
          <a:p>
            <a:pPr lvl="1"/>
            <a:r>
              <a:rPr lang="en-US" sz="1800" dirty="0"/>
              <a:t>SPI is generally performed 100% and control limits range target between 60%-180%.</a:t>
            </a:r>
          </a:p>
          <a:p>
            <a:pPr lvl="1"/>
            <a:r>
              <a:rPr lang="en-US" sz="1800" dirty="0"/>
              <a:t>AOI is performed on 100% of components and located after reflow.</a:t>
            </a:r>
          </a:p>
          <a:p>
            <a:pPr lvl="1"/>
            <a:r>
              <a:rPr lang="en-US" sz="1800" dirty="0"/>
              <a:t>PCBA x-ray inspections is typically performed offline by sampling, no common sampling rate. Most customers are performing bed of nails and functional tests</a:t>
            </a:r>
          </a:p>
          <a:p>
            <a:pPr lvl="1"/>
            <a:r>
              <a:rPr lang="en-US" sz="1800" dirty="0"/>
              <a:t>Customers prefer the ILM cover to “pop off” with CPU inside socket &amp; ILM cover closed.  </a:t>
            </a:r>
          </a:p>
          <a:p>
            <a:pPr lvl="1"/>
            <a:r>
              <a:rPr lang="en-US" sz="1800" dirty="0"/>
              <a:t>Beat rate to install or remove an Intel LGA CPU from the socket ranges between 12-15 seconds, they are concerns with socket-V lever latching at opposite direction and manufacturing run rate impact due to  ILM assembly for socket-V (4-screw, 2-pcs top-plate) vs socket-H (3-screw, 1-pcs top-plate)</a:t>
            </a:r>
          </a:p>
          <a:p>
            <a:pPr lvl="1"/>
            <a:r>
              <a:rPr lang="en-US" sz="1800" dirty="0"/>
              <a:t>Customers have not experienced any ESD issue related to the ILM cover for socket-H.</a:t>
            </a:r>
          </a:p>
          <a:p>
            <a:pPr lvl="1"/>
            <a:r>
              <a:rPr lang="en-US" sz="1800" dirty="0"/>
              <a:t>Customers find the Desktop MAS helpful and think a System Assembly video is required. CPU assembly and PnP tool video played during Intro meeting is customers’ favorite. </a:t>
            </a:r>
          </a:p>
          <a:p>
            <a:pPr lvl="1"/>
            <a:r>
              <a:rPr lang="en-US" sz="1800" dirty="0"/>
              <a:t>Customer is looking for solution/tool that is “executable” for manufacturing process/variation (</a:t>
            </a:r>
            <a:r>
              <a:rPr lang="en-US" sz="1800" dirty="0" err="1"/>
              <a:t>eg.</a:t>
            </a:r>
            <a:r>
              <a:rPr lang="en-US" sz="1800" dirty="0"/>
              <a:t> ILM) and design fungibility (</a:t>
            </a:r>
            <a:r>
              <a:rPr lang="en-US" sz="1800" dirty="0" err="1"/>
              <a:t>eg.</a:t>
            </a:r>
            <a:r>
              <a:rPr lang="en-US" sz="1800" dirty="0"/>
              <a:t> thermal solutions)</a:t>
            </a:r>
          </a:p>
          <a:p>
            <a:pPr lvl="1"/>
            <a:r>
              <a:rPr lang="en-US" sz="1800" dirty="0"/>
              <a:t>SJQ concerns for potential insufficient total solder volume (~10% lesser?) in solder joint formation. LOTES (0.45mm ball size) vs FIT/</a:t>
            </a:r>
            <a:r>
              <a:rPr lang="en-US" sz="1800" dirty="0" err="1"/>
              <a:t>Deren</a:t>
            </a:r>
            <a:r>
              <a:rPr lang="en-US" sz="1800" dirty="0"/>
              <a:t> (0.5mm ball size) but MAS recommended the same solder paste volume. </a:t>
            </a:r>
            <a:endParaRPr lang="en-MY" sz="1800" dirty="0"/>
          </a:p>
        </p:txBody>
      </p:sp>
      <p:sp>
        <p:nvSpPr>
          <p:cNvPr id="6" name="Action Button: Go Home 5">
            <a:hlinkClick r:id="rId2" action="ppaction://hlinksldjump" highlightClick="1"/>
            <a:extLst>
              <a:ext uri="{FF2B5EF4-FFF2-40B4-BE49-F238E27FC236}">
                <a16:creationId xmlns:a16="http://schemas.microsoft.com/office/drawing/2014/main" id="{66E8C305-B2C8-43A5-8E59-B4BC909B5913}"/>
              </a:ext>
            </a:extLst>
          </p:cNvPr>
          <p:cNvSpPr/>
          <p:nvPr/>
        </p:nvSpPr>
        <p:spPr>
          <a:xfrm>
            <a:off x="11399520" y="162560"/>
            <a:ext cx="487680" cy="451311"/>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802499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84DF0-0AB4-412D-BCC7-DB90DE1C0161}"/>
              </a:ext>
            </a:extLst>
          </p:cNvPr>
          <p:cNvSpPr>
            <a:spLocks noGrp="1"/>
          </p:cNvSpPr>
          <p:nvPr>
            <p:ph type="title"/>
          </p:nvPr>
        </p:nvSpPr>
        <p:spPr>
          <a:xfrm>
            <a:off x="607484" y="46037"/>
            <a:ext cx="10972800" cy="1158240"/>
          </a:xfrm>
        </p:spPr>
        <p:txBody>
          <a:bodyPr/>
          <a:lstStyle/>
          <a:p>
            <a:r>
              <a:rPr lang="en-US" dirty="0"/>
              <a:t>Additional Feedback/ Concerns (1)</a:t>
            </a:r>
            <a:endParaRPr lang="en-MY" dirty="0"/>
          </a:p>
        </p:txBody>
      </p:sp>
      <p:graphicFrame>
        <p:nvGraphicFramePr>
          <p:cNvPr id="4" name="Table 4">
            <a:extLst>
              <a:ext uri="{FF2B5EF4-FFF2-40B4-BE49-F238E27FC236}">
                <a16:creationId xmlns:a16="http://schemas.microsoft.com/office/drawing/2014/main" id="{6168C7AE-7D1D-418C-ADFC-4FEC77C3EF26}"/>
              </a:ext>
            </a:extLst>
          </p:cNvPr>
          <p:cNvGraphicFramePr>
            <a:graphicFrameLocks noGrp="1"/>
          </p:cNvGraphicFramePr>
          <p:nvPr>
            <p:ph sz="quarter" idx="13"/>
            <p:extLst>
              <p:ext uri="{D42A27DB-BD31-4B8C-83A1-F6EECF244321}">
                <p14:modId xmlns:p14="http://schemas.microsoft.com/office/powerpoint/2010/main" val="3176615256"/>
              </p:ext>
            </p:extLst>
          </p:nvPr>
        </p:nvGraphicFramePr>
        <p:xfrm>
          <a:off x="496251" y="652517"/>
          <a:ext cx="11299509" cy="5638800"/>
        </p:xfrm>
        <a:graphic>
          <a:graphicData uri="http://schemas.openxmlformats.org/drawingml/2006/table">
            <a:tbl>
              <a:tblPr firstRow="1" bandRow="1">
                <a:tableStyleId>{69012ECD-51FC-41F1-AA8D-1B2483CD663E}</a:tableStyleId>
              </a:tblPr>
              <a:tblGrid>
                <a:gridCol w="1211923">
                  <a:extLst>
                    <a:ext uri="{9D8B030D-6E8A-4147-A177-3AD203B41FA5}">
                      <a16:colId xmlns:a16="http://schemas.microsoft.com/office/drawing/2014/main" val="1586605508"/>
                    </a:ext>
                  </a:extLst>
                </a:gridCol>
                <a:gridCol w="10087586">
                  <a:extLst>
                    <a:ext uri="{9D8B030D-6E8A-4147-A177-3AD203B41FA5}">
                      <a16:colId xmlns:a16="http://schemas.microsoft.com/office/drawing/2014/main" val="1582096203"/>
                    </a:ext>
                  </a:extLst>
                </a:gridCol>
              </a:tblGrid>
              <a:tr h="265855">
                <a:tc>
                  <a:txBody>
                    <a:bodyPr/>
                    <a:lstStyle/>
                    <a:p>
                      <a:pPr algn="l"/>
                      <a:r>
                        <a:rPr lang="en-US" sz="1600" dirty="0"/>
                        <a:t>Customer</a:t>
                      </a:r>
                      <a:endParaRPr lang="en-MY" sz="1600" dirty="0"/>
                    </a:p>
                  </a:txBody>
                  <a:tcPr/>
                </a:tc>
                <a:tc>
                  <a:txBody>
                    <a:bodyPr/>
                    <a:lstStyle/>
                    <a:p>
                      <a:pPr algn="l"/>
                      <a:r>
                        <a:rPr lang="en-US" sz="1600" dirty="0"/>
                        <a:t>Area of Concerns</a:t>
                      </a:r>
                      <a:endParaRPr lang="en-MY" sz="1600" dirty="0"/>
                    </a:p>
                  </a:txBody>
                  <a:tcPr/>
                </a:tc>
                <a:extLst>
                  <a:ext uri="{0D108BD9-81ED-4DB2-BD59-A6C34878D82A}">
                    <a16:rowId xmlns:a16="http://schemas.microsoft.com/office/drawing/2014/main" val="4040346990"/>
                  </a:ext>
                </a:extLst>
              </a:tr>
              <a:tr h="668677">
                <a:tc>
                  <a:txBody>
                    <a:bodyPr/>
                    <a:lstStyle/>
                    <a:p>
                      <a:pPr algn="l"/>
                      <a:r>
                        <a:rPr lang="en-US" sz="1350" dirty="0">
                          <a:solidFill>
                            <a:schemeClr val="tx1"/>
                          </a:solidFill>
                        </a:rPr>
                        <a:t>AS Rock</a:t>
                      </a:r>
                      <a:endParaRPr lang="en-MY" sz="1350" dirty="0">
                        <a:solidFill>
                          <a:schemeClr val="tx1"/>
                        </a:solidFill>
                      </a:endParaRPr>
                    </a:p>
                  </a:txBody>
                  <a:tcPr/>
                </a:tc>
                <a:tc>
                  <a:txBody>
                    <a:bodyPr/>
                    <a:lstStyle/>
                    <a:p>
                      <a:pPr algn="l"/>
                      <a:r>
                        <a:rPr lang="en-US" sz="1350" b="1" dirty="0">
                          <a:solidFill>
                            <a:schemeClr val="tx1"/>
                          </a:solidFill>
                        </a:rPr>
                        <a:t>Mixing &amp; fungibility concerns</a:t>
                      </a:r>
                      <a:r>
                        <a:rPr lang="en-US" sz="1350" dirty="0">
                          <a:solidFill>
                            <a:schemeClr val="tx1"/>
                          </a:solidFill>
                        </a:rPr>
                        <a:t>, expects socket-H vs </a:t>
                      </a:r>
                      <a:r>
                        <a:rPr lang="en-US" sz="1350" dirty="0" err="1">
                          <a:solidFill>
                            <a:schemeClr val="tx1"/>
                          </a:solidFill>
                        </a:rPr>
                        <a:t>skt</a:t>
                      </a:r>
                      <a:r>
                        <a:rPr lang="en-US" sz="1350" dirty="0">
                          <a:solidFill>
                            <a:schemeClr val="tx1"/>
                          </a:solidFill>
                        </a:rPr>
                        <a:t>-V Thermal Solution </a:t>
                      </a:r>
                      <a:r>
                        <a:rPr lang="en-US" sz="1350" b="1" dirty="0">
                          <a:solidFill>
                            <a:schemeClr val="tx1"/>
                          </a:solidFill>
                        </a:rPr>
                        <a:t>is interchangeable</a:t>
                      </a:r>
                      <a:r>
                        <a:rPr lang="en-US" sz="1350" dirty="0">
                          <a:solidFill>
                            <a:schemeClr val="tx1"/>
                          </a:solidFill>
                        </a:rPr>
                        <a:t>. The hole pattern looks alike to CML-S, with distance between hole </a:t>
                      </a:r>
                      <a:r>
                        <a:rPr lang="en-US" sz="1350" b="1" dirty="0">
                          <a:solidFill>
                            <a:schemeClr val="tx1"/>
                          </a:solidFill>
                        </a:rPr>
                        <a:t>75mm</a:t>
                      </a:r>
                      <a:r>
                        <a:rPr lang="en-US" sz="1350" dirty="0">
                          <a:solidFill>
                            <a:schemeClr val="tx1"/>
                          </a:solidFill>
                        </a:rPr>
                        <a:t> vs ADL-S  is </a:t>
                      </a:r>
                      <a:r>
                        <a:rPr lang="en-US" sz="1350" b="1" dirty="0">
                          <a:solidFill>
                            <a:schemeClr val="tx1"/>
                          </a:solidFill>
                        </a:rPr>
                        <a:t>78mm</a:t>
                      </a:r>
                      <a:r>
                        <a:rPr lang="en-US" sz="1350" dirty="0">
                          <a:solidFill>
                            <a:schemeClr val="tx1"/>
                          </a:solidFill>
                        </a:rPr>
                        <a:t>. There are additional cost and manufacturing mixing concerns when there are 2 different solutions for DT tooling, need to  make it fungible due to the dimension is ~3mm delta that not noticeable by operator.</a:t>
                      </a:r>
                      <a:endParaRPr lang="en-MY" sz="1350" dirty="0">
                        <a:solidFill>
                          <a:schemeClr val="tx1"/>
                        </a:solidFill>
                      </a:endParaRPr>
                    </a:p>
                  </a:txBody>
                  <a:tcPr/>
                </a:tc>
                <a:extLst>
                  <a:ext uri="{0D108BD9-81ED-4DB2-BD59-A6C34878D82A}">
                    <a16:rowId xmlns:a16="http://schemas.microsoft.com/office/drawing/2014/main" val="2130833942"/>
                  </a:ext>
                </a:extLst>
              </a:tr>
              <a:tr h="485403">
                <a:tc>
                  <a:txBody>
                    <a:bodyPr/>
                    <a:lstStyle/>
                    <a:p>
                      <a:pPr algn="l"/>
                      <a:r>
                        <a:rPr lang="en-US" sz="1350" dirty="0" err="1">
                          <a:solidFill>
                            <a:schemeClr val="tx1"/>
                          </a:solidFill>
                        </a:rPr>
                        <a:t>LiteON</a:t>
                      </a:r>
                      <a:endParaRPr lang="en-MY" sz="1350" dirty="0">
                        <a:solidFill>
                          <a:schemeClr val="tx1"/>
                        </a:solidFill>
                      </a:endParaRPr>
                    </a:p>
                  </a:txBody>
                  <a:tcPr/>
                </a:tc>
                <a:tc>
                  <a:txBody>
                    <a:bodyPr/>
                    <a:lstStyle/>
                    <a:p>
                      <a:pPr marL="0" marR="0" lvl="0" indent="0" algn="l" defTabSz="609600" eaLnBrk="1" fontAlgn="auto" latinLnBrk="0" hangingPunct="1">
                        <a:lnSpc>
                          <a:spcPct val="100000"/>
                        </a:lnSpc>
                        <a:spcBef>
                          <a:spcPts val="0"/>
                        </a:spcBef>
                        <a:spcAft>
                          <a:spcPts val="0"/>
                        </a:spcAft>
                        <a:buClrTx/>
                        <a:buSzTx/>
                        <a:buFontTx/>
                        <a:buNone/>
                        <a:tabLst/>
                        <a:defRPr/>
                      </a:pPr>
                      <a:r>
                        <a:rPr lang="en-MY" sz="1350" b="1" i="0" u="none" strike="noStrike" cap="none" spc="0" baseline="0" dirty="0">
                          <a:solidFill>
                            <a:schemeClr val="tx1"/>
                          </a:solidFill>
                          <a:effectLst/>
                          <a:uFillTx/>
                          <a:latin typeface="+mn-lt"/>
                          <a:ea typeface="+mn-ea"/>
                          <a:cs typeface="+mn-cs"/>
                          <a:sym typeface="Intel Clear"/>
                        </a:rPr>
                        <a:t>Processor PnP tool /Stage &gt; </a:t>
                      </a:r>
                      <a:r>
                        <a:rPr lang="en-MY" sz="1350" b="0" i="0" u="none" strike="noStrike" cap="none" spc="0" baseline="0" dirty="0" err="1">
                          <a:solidFill>
                            <a:schemeClr val="tx1"/>
                          </a:solidFill>
                          <a:effectLst/>
                          <a:uFillTx/>
                          <a:latin typeface="+mn-lt"/>
                          <a:ea typeface="+mn-ea"/>
                          <a:cs typeface="+mn-cs"/>
                          <a:sym typeface="Intel Clear"/>
                        </a:rPr>
                        <a:t>LiteON</a:t>
                      </a:r>
                      <a:r>
                        <a:rPr lang="en-MY" sz="1350" b="0" i="0" u="none" strike="noStrike" cap="none" spc="0" baseline="0" dirty="0">
                          <a:solidFill>
                            <a:schemeClr val="tx1"/>
                          </a:solidFill>
                          <a:effectLst/>
                          <a:uFillTx/>
                          <a:latin typeface="+mn-lt"/>
                          <a:ea typeface="+mn-ea"/>
                          <a:cs typeface="+mn-cs"/>
                          <a:sym typeface="Intel Clear"/>
                        </a:rPr>
                        <a:t> will be converting to automation, the PnP/assembly tool may not helpful. Automation assessment is in progress (</a:t>
                      </a:r>
                      <a:r>
                        <a:rPr lang="en-MY" sz="1350" b="0" i="0" u="none" strike="noStrike" cap="none" spc="0" baseline="0" dirty="0" err="1">
                          <a:solidFill>
                            <a:schemeClr val="tx1"/>
                          </a:solidFill>
                          <a:effectLst/>
                          <a:uFillTx/>
                          <a:latin typeface="+mn-lt"/>
                          <a:ea typeface="+mn-ea"/>
                          <a:cs typeface="+mn-cs"/>
                          <a:sym typeface="Intel Clear"/>
                        </a:rPr>
                        <a:t>eg.</a:t>
                      </a:r>
                      <a:r>
                        <a:rPr lang="en-MY" sz="1350" b="0" i="0" u="none" strike="noStrike" cap="none" spc="0" baseline="0" dirty="0">
                          <a:solidFill>
                            <a:schemeClr val="tx1"/>
                          </a:solidFill>
                          <a:effectLst/>
                          <a:uFillTx/>
                          <a:latin typeface="+mn-lt"/>
                          <a:ea typeface="+mn-ea"/>
                          <a:cs typeface="+mn-cs"/>
                          <a:sym typeface="Intel Clear"/>
                        </a:rPr>
                        <a:t> assess utilizing </a:t>
                      </a:r>
                      <a:r>
                        <a:rPr lang="en-MY" sz="1350" b="0" i="0" u="none" strike="noStrike" cap="none" spc="0" baseline="0" dirty="0" err="1">
                          <a:solidFill>
                            <a:schemeClr val="tx1"/>
                          </a:solidFill>
                          <a:effectLst/>
                          <a:uFillTx/>
                          <a:latin typeface="+mn-lt"/>
                          <a:ea typeface="+mn-ea"/>
                          <a:cs typeface="+mn-cs"/>
                          <a:sym typeface="Intel Clear"/>
                          <a:hlinkClick r:id="rId2"/>
                        </a:rPr>
                        <a:t>Cobot</a:t>
                      </a:r>
                      <a:r>
                        <a:rPr lang="en-MY" sz="1350" b="0" i="0" u="none" strike="noStrike" cap="none" spc="0" baseline="0" dirty="0">
                          <a:solidFill>
                            <a:schemeClr val="tx1"/>
                          </a:solidFill>
                          <a:effectLst/>
                          <a:uFillTx/>
                          <a:latin typeface="+mn-lt"/>
                          <a:ea typeface="+mn-ea"/>
                          <a:cs typeface="+mn-cs"/>
                          <a:sym typeface="Intel Clear"/>
                        </a:rPr>
                        <a:t> with tool/fixture ). They plan to perform some SMT build in Oct/Nov. </a:t>
                      </a:r>
                      <a:endParaRPr lang="en-MY" sz="1350" dirty="0">
                        <a:solidFill>
                          <a:schemeClr val="tx1"/>
                        </a:solidFill>
                      </a:endParaRPr>
                    </a:p>
                  </a:txBody>
                  <a:tcPr/>
                </a:tc>
                <a:extLst>
                  <a:ext uri="{0D108BD9-81ED-4DB2-BD59-A6C34878D82A}">
                    <a16:rowId xmlns:a16="http://schemas.microsoft.com/office/drawing/2014/main" val="4285382588"/>
                  </a:ext>
                </a:extLst>
              </a:tr>
              <a:tr h="0">
                <a:tc>
                  <a:txBody>
                    <a:bodyPr/>
                    <a:lstStyle/>
                    <a:p>
                      <a:pPr algn="l"/>
                      <a:r>
                        <a:rPr lang="en-US" sz="1350" dirty="0">
                          <a:solidFill>
                            <a:schemeClr val="tx1"/>
                          </a:solidFill>
                        </a:rPr>
                        <a:t>Acer</a:t>
                      </a:r>
                      <a:endParaRPr lang="en-MY" sz="1350" dirty="0">
                        <a:solidFill>
                          <a:schemeClr val="tx1"/>
                        </a:solidFill>
                      </a:endParaRPr>
                    </a:p>
                  </a:txBody>
                  <a:tcPr/>
                </a:tc>
                <a:tc>
                  <a:txBody>
                    <a:bodyPr/>
                    <a:lstStyle/>
                    <a:p>
                      <a:pPr algn="l"/>
                      <a:r>
                        <a:rPr lang="en-US" sz="1350" b="1" dirty="0">
                          <a:solidFill>
                            <a:schemeClr val="tx1"/>
                          </a:solidFill>
                        </a:rPr>
                        <a:t>SJQ concern&gt; </a:t>
                      </a:r>
                      <a:r>
                        <a:rPr lang="en-US" sz="1350" dirty="0">
                          <a:solidFill>
                            <a:schemeClr val="tx1"/>
                          </a:solidFill>
                        </a:rPr>
                        <a:t>LOTES socket with smaller solder ball (0.45mm, 10% smaller), compare to </a:t>
                      </a:r>
                      <a:r>
                        <a:rPr lang="en-US" sz="1350" dirty="0" err="1">
                          <a:solidFill>
                            <a:schemeClr val="tx1"/>
                          </a:solidFill>
                        </a:rPr>
                        <a:t>Deren</a:t>
                      </a:r>
                      <a:r>
                        <a:rPr lang="en-US" sz="1350" dirty="0">
                          <a:solidFill>
                            <a:schemeClr val="tx1"/>
                          </a:solidFill>
                        </a:rPr>
                        <a:t>/FIT (0.5mm) but MAS recommended paste are same for FIT/</a:t>
                      </a:r>
                      <a:r>
                        <a:rPr lang="en-US" sz="1350" dirty="0" err="1">
                          <a:solidFill>
                            <a:schemeClr val="tx1"/>
                          </a:solidFill>
                        </a:rPr>
                        <a:t>Deren</a:t>
                      </a:r>
                      <a:r>
                        <a:rPr lang="en-US" sz="1350" dirty="0">
                          <a:solidFill>
                            <a:schemeClr val="tx1"/>
                          </a:solidFill>
                        </a:rPr>
                        <a:t>/LOTES. Need intel to perform more data collection to ensure the same amount paste volume recommended in MAS is good for LOTES HVM. Meantime, need Intel technical explanation of why mechanical ball attached in LOTES need smaller ball &amp; still OK to use the same paste volume &amp; etc. </a:t>
                      </a:r>
                    </a:p>
                    <a:p>
                      <a:pPr algn="l"/>
                      <a:r>
                        <a:rPr lang="en-US" sz="1350" b="1" dirty="0">
                          <a:solidFill>
                            <a:schemeClr val="tx1"/>
                          </a:solidFill>
                        </a:rPr>
                        <a:t>Pin 1 indicator error&gt; </a:t>
                      </a:r>
                      <a:r>
                        <a:rPr lang="en-US" sz="1350" dirty="0">
                          <a:solidFill>
                            <a:schemeClr val="tx1"/>
                          </a:solidFill>
                        </a:rPr>
                        <a:t>Different pin 1 indicator on PnP stage vs PnP tool vs PCB, ILM. Need Intel to ensure final design is correct. </a:t>
                      </a:r>
                    </a:p>
                  </a:txBody>
                  <a:tcPr/>
                </a:tc>
                <a:extLst>
                  <a:ext uri="{0D108BD9-81ED-4DB2-BD59-A6C34878D82A}">
                    <a16:rowId xmlns:a16="http://schemas.microsoft.com/office/drawing/2014/main" val="4206089442"/>
                  </a:ext>
                </a:extLst>
              </a:tr>
              <a:tr h="1725617">
                <a:tc>
                  <a:txBody>
                    <a:bodyPr/>
                    <a:lstStyle/>
                    <a:p>
                      <a:pPr algn="l"/>
                      <a:r>
                        <a:rPr lang="en-US" sz="1350" dirty="0">
                          <a:solidFill>
                            <a:schemeClr val="tx1"/>
                          </a:solidFill>
                        </a:rPr>
                        <a:t>Lenovo SZ (LIPC)</a:t>
                      </a:r>
                      <a:endParaRPr lang="en-MY" sz="1350" dirty="0">
                        <a:solidFill>
                          <a:schemeClr val="tx1"/>
                        </a:solidFill>
                      </a:endParaRPr>
                    </a:p>
                  </a:txBody>
                  <a:tcPr/>
                </a:tc>
                <a:tc>
                  <a:txBody>
                    <a:bodyPr/>
                    <a:lstStyle/>
                    <a:p>
                      <a:pPr marL="171450" marR="0" lvl="0" indent="-171450" algn="l" defTabSz="6096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50" b="1" dirty="0">
                          <a:solidFill>
                            <a:schemeClr val="tx1"/>
                          </a:solidFill>
                        </a:rPr>
                        <a:t>Interchangeable for backplate/load plate/screw/lever &amp; </a:t>
                      </a:r>
                      <a:r>
                        <a:rPr lang="en-US" sz="1350" b="1" dirty="0" err="1">
                          <a:solidFill>
                            <a:schemeClr val="tx1"/>
                          </a:solidFill>
                        </a:rPr>
                        <a:t>etc</a:t>
                      </a:r>
                      <a:r>
                        <a:rPr lang="en-US" sz="1350" b="1" dirty="0">
                          <a:solidFill>
                            <a:schemeClr val="tx1"/>
                          </a:solidFill>
                        </a:rPr>
                        <a:t> &gt; </a:t>
                      </a:r>
                      <a:r>
                        <a:rPr lang="en-US" sz="1350" dirty="0">
                          <a:solidFill>
                            <a:schemeClr val="tx1"/>
                          </a:solidFill>
                        </a:rPr>
                        <a:t>Need to allow mixed vendor to ease </a:t>
                      </a:r>
                      <a:r>
                        <a:rPr lang="en-US" sz="1350" dirty="0" err="1">
                          <a:solidFill>
                            <a:schemeClr val="tx1"/>
                          </a:solidFill>
                        </a:rPr>
                        <a:t>mfg</a:t>
                      </a:r>
                      <a:r>
                        <a:rPr lang="en-US" sz="1350" dirty="0">
                          <a:solidFill>
                            <a:schemeClr val="tx1"/>
                          </a:solidFill>
                        </a:rPr>
                        <a:t> process, due to there are more pieces for socket-V (</a:t>
                      </a:r>
                      <a:r>
                        <a:rPr lang="en-US" sz="1350" dirty="0" err="1">
                          <a:solidFill>
                            <a:schemeClr val="tx1"/>
                          </a:solidFill>
                        </a:rPr>
                        <a:t>eg.</a:t>
                      </a:r>
                      <a:r>
                        <a:rPr lang="en-US" sz="1350" dirty="0">
                          <a:solidFill>
                            <a:schemeClr val="tx1"/>
                          </a:solidFill>
                        </a:rPr>
                        <a:t> allow mixed 2 vendor for lever and top plate due to 2 separate pcs). Need Intel to confirm the 4 mounting screws/nuts PN# are same.</a:t>
                      </a:r>
                    </a:p>
                    <a:p>
                      <a:pPr marL="171450" indent="-171450" algn="l">
                        <a:buFont typeface="Arial" panose="020B0604020202020204" pitchFamily="34" charset="0"/>
                        <a:buChar char="•"/>
                      </a:pPr>
                      <a:r>
                        <a:rPr lang="en-US" sz="1350" b="1" dirty="0">
                          <a:solidFill>
                            <a:schemeClr val="tx1"/>
                          </a:solidFill>
                        </a:rPr>
                        <a:t>CPU installation to socket/ILM &gt;</a:t>
                      </a:r>
                      <a:r>
                        <a:rPr lang="en-US" sz="1350" dirty="0">
                          <a:solidFill>
                            <a:schemeClr val="tx1"/>
                          </a:solidFill>
                        </a:rPr>
                        <a:t> Need Intel to confirm any error in step,  and when the cover pop-up. </a:t>
                      </a:r>
                    </a:p>
                    <a:p>
                      <a:pPr marL="171450" indent="-171450" algn="l">
                        <a:buFont typeface="Arial" panose="020B0604020202020204" pitchFamily="34" charset="0"/>
                        <a:buChar char="•"/>
                      </a:pPr>
                      <a:r>
                        <a:rPr lang="en-US" sz="1350" b="1" dirty="0">
                          <a:solidFill>
                            <a:schemeClr val="tx1"/>
                          </a:solidFill>
                        </a:rPr>
                        <a:t>“Error Free” design requirement for backplate and ILM dimension for HVM assembly&gt;</a:t>
                      </a:r>
                      <a:r>
                        <a:rPr lang="en-US" sz="1350" dirty="0">
                          <a:solidFill>
                            <a:schemeClr val="tx1"/>
                          </a:solidFill>
                        </a:rPr>
                        <a:t> Need Intel to provide back plate dimension whether it is effective for LIPC can design an automation/fixture for backplate assembly to prevent 180° orientation (the chamfer look insignificant in picture and looks symmetrical), also potential operator installing the load plate + lever frame wrong side (vs </a:t>
                      </a:r>
                      <a:r>
                        <a:rPr lang="en-US" sz="1350" dirty="0" err="1">
                          <a:solidFill>
                            <a:schemeClr val="tx1"/>
                          </a:solidFill>
                        </a:rPr>
                        <a:t>skt</a:t>
                      </a:r>
                      <a:r>
                        <a:rPr lang="en-US" sz="1350" dirty="0">
                          <a:solidFill>
                            <a:schemeClr val="tx1"/>
                          </a:solidFill>
                        </a:rPr>
                        <a:t>-H, 3 screw, no way to install at wrong side).    </a:t>
                      </a:r>
                    </a:p>
                    <a:p>
                      <a:pPr marL="171450" indent="-171450" algn="l">
                        <a:buFont typeface="Arial" panose="020B0604020202020204" pitchFamily="34" charset="0"/>
                        <a:buChar char="•"/>
                      </a:pPr>
                      <a:r>
                        <a:rPr lang="en-US" sz="1350" b="1" dirty="0">
                          <a:solidFill>
                            <a:schemeClr val="tx1"/>
                          </a:solidFill>
                        </a:rPr>
                        <a:t>Socket Pin contact dimension&gt; </a:t>
                      </a:r>
                      <a:r>
                        <a:rPr kumimoji="0" lang="en-US" sz="1350" b="0" i="0" u="none" strike="noStrike" cap="none" spc="0" normalizeH="0" baseline="0" dirty="0">
                          <a:ln>
                            <a:noFill/>
                          </a:ln>
                          <a:solidFill>
                            <a:schemeClr val="tx1"/>
                          </a:solidFill>
                          <a:effectLst/>
                          <a:uFillTx/>
                          <a:latin typeface="+mn-lt"/>
                          <a:ea typeface="+mn-ea"/>
                          <a:cs typeface="+mn-cs"/>
                          <a:sym typeface="Helvetica Neue"/>
                        </a:rPr>
                        <a:t>Due to tighter pitch in </a:t>
                      </a:r>
                      <a:r>
                        <a:rPr kumimoji="0" lang="en-US" sz="1350" b="0" i="0" u="none" strike="noStrike" cap="none" spc="0" normalizeH="0" baseline="0" dirty="0" err="1">
                          <a:ln>
                            <a:noFill/>
                          </a:ln>
                          <a:solidFill>
                            <a:schemeClr val="tx1"/>
                          </a:solidFill>
                          <a:effectLst/>
                          <a:uFillTx/>
                          <a:latin typeface="+mn-lt"/>
                          <a:ea typeface="+mn-ea"/>
                          <a:cs typeface="+mn-cs"/>
                          <a:sym typeface="Helvetica Neue"/>
                        </a:rPr>
                        <a:t>skt</a:t>
                      </a:r>
                      <a:r>
                        <a:rPr kumimoji="0" lang="en-US" sz="1350" b="0" i="0" u="none" strike="noStrike" cap="none" spc="0" normalizeH="0" baseline="0" dirty="0">
                          <a:ln>
                            <a:noFill/>
                          </a:ln>
                          <a:solidFill>
                            <a:schemeClr val="tx1"/>
                          </a:solidFill>
                          <a:effectLst/>
                          <a:uFillTx/>
                          <a:latin typeface="+mn-lt"/>
                          <a:ea typeface="+mn-ea"/>
                          <a:cs typeface="+mn-cs"/>
                          <a:sym typeface="Helvetica Neue"/>
                        </a:rPr>
                        <a:t>-V (0.8mm), need Intel to provide pin dimension &amp; ensure type 3 x-y axis shift always making “good” contact to the LGA pad center. </a:t>
                      </a:r>
                      <a:endParaRPr lang="en-US" sz="1350" b="1" dirty="0">
                        <a:solidFill>
                          <a:schemeClr val="tx1"/>
                        </a:solidFill>
                      </a:endParaRPr>
                    </a:p>
                    <a:p>
                      <a:pPr marL="171450" indent="-171450" algn="l">
                        <a:buFont typeface="Arial" panose="020B0604020202020204" pitchFamily="34" charset="0"/>
                        <a:buChar char="•"/>
                      </a:pPr>
                      <a:r>
                        <a:rPr lang="en-US" sz="1350" b="1" dirty="0">
                          <a:solidFill>
                            <a:schemeClr val="tx1"/>
                          </a:solidFill>
                        </a:rPr>
                        <a:t>SJQ concern&gt; </a:t>
                      </a:r>
                      <a:r>
                        <a:rPr lang="en-US" sz="1350" dirty="0">
                          <a:solidFill>
                            <a:schemeClr val="tx1"/>
                          </a:solidFill>
                        </a:rPr>
                        <a:t>Need intel to perform more validation data collection to ensure 5 mils stencil is working for LOTES HVM.</a:t>
                      </a:r>
                    </a:p>
                    <a:p>
                      <a:pPr marL="171450" indent="-171450" algn="l">
                        <a:buFont typeface="Arial" panose="020B0604020202020204" pitchFamily="34" charset="0"/>
                        <a:buChar char="•"/>
                      </a:pPr>
                      <a:r>
                        <a:rPr lang="en-US" sz="1350" b="1" dirty="0">
                          <a:solidFill>
                            <a:schemeClr val="tx1"/>
                          </a:solidFill>
                        </a:rPr>
                        <a:t>Socket &amp; Tray&gt; </a:t>
                      </a:r>
                      <a:r>
                        <a:rPr lang="en-US" sz="1350" b="0" dirty="0">
                          <a:solidFill>
                            <a:schemeClr val="tx1"/>
                          </a:solidFill>
                        </a:rPr>
                        <a:t>Need to ensure CTF dimension are same across all vendors, so that PnP only need to set-up 1 recipe. </a:t>
                      </a:r>
                    </a:p>
                    <a:p>
                      <a:pPr marL="171450" indent="-171450" algn="l">
                        <a:buFont typeface="Arial" panose="020B0604020202020204" pitchFamily="34" charset="0"/>
                        <a:buChar char="•"/>
                      </a:pPr>
                      <a:r>
                        <a:rPr lang="en-US" sz="1350" b="0" dirty="0">
                          <a:solidFill>
                            <a:schemeClr val="tx1"/>
                          </a:solidFill>
                        </a:rPr>
                        <a:t>Confusing Pin 1 indicator for PCB/ILM vs PnP tool/stage. </a:t>
                      </a:r>
                    </a:p>
                  </a:txBody>
                  <a:tcPr/>
                </a:tc>
                <a:extLst>
                  <a:ext uri="{0D108BD9-81ED-4DB2-BD59-A6C34878D82A}">
                    <a16:rowId xmlns:a16="http://schemas.microsoft.com/office/drawing/2014/main" val="768753374"/>
                  </a:ext>
                </a:extLst>
              </a:tr>
            </a:tbl>
          </a:graphicData>
        </a:graphic>
      </p:graphicFrame>
      <p:sp>
        <p:nvSpPr>
          <p:cNvPr id="10" name="Action Button: Go Forward or Next 9">
            <a:hlinkClick r:id="rId3" action="ppaction://hlinksldjump" highlightClick="1"/>
            <a:extLst>
              <a:ext uri="{FF2B5EF4-FFF2-40B4-BE49-F238E27FC236}">
                <a16:creationId xmlns:a16="http://schemas.microsoft.com/office/drawing/2014/main" id="{E59629A1-4BC8-415F-80C6-F351E80F8335}"/>
              </a:ext>
            </a:extLst>
          </p:cNvPr>
          <p:cNvSpPr/>
          <p:nvPr/>
        </p:nvSpPr>
        <p:spPr>
          <a:xfrm>
            <a:off x="11494900" y="2471155"/>
            <a:ext cx="264602" cy="191381"/>
          </a:xfrm>
          <a:prstGeom prst="actionButtonForwardNex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Action Button: Go Forward or Next 12">
            <a:hlinkClick r:id="rId4" action="ppaction://hlinksldjump" highlightClick="1"/>
            <a:extLst>
              <a:ext uri="{FF2B5EF4-FFF2-40B4-BE49-F238E27FC236}">
                <a16:creationId xmlns:a16="http://schemas.microsoft.com/office/drawing/2014/main" id="{DC1A5D59-5616-4960-9D2C-0707E7064FD4}"/>
              </a:ext>
            </a:extLst>
          </p:cNvPr>
          <p:cNvSpPr/>
          <p:nvPr/>
        </p:nvSpPr>
        <p:spPr>
          <a:xfrm>
            <a:off x="11490041" y="1526276"/>
            <a:ext cx="264602" cy="191381"/>
          </a:xfrm>
          <a:prstGeom prst="actionButtonForwardNex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Action Button: Go Forward or Next 6">
            <a:hlinkClick r:id="rId5" action="ppaction://hlinksldjump" highlightClick="1"/>
            <a:extLst>
              <a:ext uri="{FF2B5EF4-FFF2-40B4-BE49-F238E27FC236}">
                <a16:creationId xmlns:a16="http://schemas.microsoft.com/office/drawing/2014/main" id="{DF020DCA-120D-4093-A81E-9B839947446E}"/>
              </a:ext>
            </a:extLst>
          </p:cNvPr>
          <p:cNvSpPr/>
          <p:nvPr/>
        </p:nvSpPr>
        <p:spPr>
          <a:xfrm>
            <a:off x="11470959" y="4195465"/>
            <a:ext cx="264602" cy="191381"/>
          </a:xfrm>
          <a:prstGeom prst="actionButtonForwardNex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512674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84DF0-0AB4-412D-BCC7-DB90DE1C0161}"/>
              </a:ext>
            </a:extLst>
          </p:cNvPr>
          <p:cNvSpPr>
            <a:spLocks noGrp="1"/>
          </p:cNvSpPr>
          <p:nvPr>
            <p:ph type="title"/>
          </p:nvPr>
        </p:nvSpPr>
        <p:spPr>
          <a:xfrm>
            <a:off x="607484" y="46037"/>
            <a:ext cx="10972800" cy="1158240"/>
          </a:xfrm>
        </p:spPr>
        <p:txBody>
          <a:bodyPr/>
          <a:lstStyle/>
          <a:p>
            <a:r>
              <a:rPr lang="en-US" dirty="0"/>
              <a:t>Additional Feedback/ Concerns (2)</a:t>
            </a:r>
            <a:endParaRPr lang="en-MY" dirty="0"/>
          </a:p>
        </p:txBody>
      </p:sp>
      <p:graphicFrame>
        <p:nvGraphicFramePr>
          <p:cNvPr id="4" name="Table 4">
            <a:extLst>
              <a:ext uri="{FF2B5EF4-FFF2-40B4-BE49-F238E27FC236}">
                <a16:creationId xmlns:a16="http://schemas.microsoft.com/office/drawing/2014/main" id="{6168C7AE-7D1D-418C-ADFC-4FEC77C3EF26}"/>
              </a:ext>
            </a:extLst>
          </p:cNvPr>
          <p:cNvGraphicFramePr>
            <a:graphicFrameLocks noGrp="1"/>
          </p:cNvGraphicFramePr>
          <p:nvPr>
            <p:ph sz="quarter" idx="13"/>
            <p:extLst>
              <p:ext uri="{D42A27DB-BD31-4B8C-83A1-F6EECF244321}">
                <p14:modId xmlns:p14="http://schemas.microsoft.com/office/powerpoint/2010/main" val="3076510097"/>
              </p:ext>
            </p:extLst>
          </p:nvPr>
        </p:nvGraphicFramePr>
        <p:xfrm>
          <a:off x="607483" y="581397"/>
          <a:ext cx="11215352" cy="4157248"/>
        </p:xfrm>
        <a:graphic>
          <a:graphicData uri="http://schemas.openxmlformats.org/drawingml/2006/table">
            <a:tbl>
              <a:tblPr firstRow="1" bandRow="1">
                <a:tableStyleId>{69012ECD-51FC-41F1-AA8D-1B2483CD663E}</a:tableStyleId>
              </a:tblPr>
              <a:tblGrid>
                <a:gridCol w="1103612">
                  <a:extLst>
                    <a:ext uri="{9D8B030D-6E8A-4147-A177-3AD203B41FA5}">
                      <a16:colId xmlns:a16="http://schemas.microsoft.com/office/drawing/2014/main" val="1586605508"/>
                    </a:ext>
                  </a:extLst>
                </a:gridCol>
                <a:gridCol w="10111740">
                  <a:extLst>
                    <a:ext uri="{9D8B030D-6E8A-4147-A177-3AD203B41FA5}">
                      <a16:colId xmlns:a16="http://schemas.microsoft.com/office/drawing/2014/main" val="1582096203"/>
                    </a:ext>
                  </a:extLst>
                </a:gridCol>
              </a:tblGrid>
              <a:tr h="291472">
                <a:tc>
                  <a:txBody>
                    <a:bodyPr/>
                    <a:lstStyle/>
                    <a:p>
                      <a:pPr algn="l"/>
                      <a:r>
                        <a:rPr lang="en-US" sz="1600" dirty="0"/>
                        <a:t>Customer</a:t>
                      </a:r>
                      <a:endParaRPr lang="en-MY" sz="1600" dirty="0"/>
                    </a:p>
                  </a:txBody>
                  <a:tcPr/>
                </a:tc>
                <a:tc>
                  <a:txBody>
                    <a:bodyPr/>
                    <a:lstStyle/>
                    <a:p>
                      <a:pPr algn="l"/>
                      <a:r>
                        <a:rPr lang="en-US" sz="1600" dirty="0"/>
                        <a:t>Area of Concerns</a:t>
                      </a:r>
                      <a:endParaRPr lang="en-MY" sz="1600" dirty="0"/>
                    </a:p>
                  </a:txBody>
                  <a:tcPr/>
                </a:tc>
                <a:extLst>
                  <a:ext uri="{0D108BD9-81ED-4DB2-BD59-A6C34878D82A}">
                    <a16:rowId xmlns:a16="http://schemas.microsoft.com/office/drawing/2014/main" val="4040346990"/>
                  </a:ext>
                </a:extLst>
              </a:tr>
              <a:tr h="616067">
                <a:tc>
                  <a:txBody>
                    <a:bodyPr/>
                    <a:lstStyle/>
                    <a:p>
                      <a:pPr algn="l"/>
                      <a:r>
                        <a:rPr lang="en-US" sz="1350" dirty="0">
                          <a:solidFill>
                            <a:schemeClr val="tx1"/>
                          </a:solidFill>
                        </a:rPr>
                        <a:t>LCFC </a:t>
                      </a:r>
                      <a:endParaRPr lang="en-MY" sz="1350" dirty="0">
                        <a:solidFill>
                          <a:schemeClr val="tx1"/>
                        </a:solidFill>
                      </a:endParaRPr>
                    </a:p>
                  </a:txBody>
                  <a:tcPr/>
                </a:tc>
                <a:tc>
                  <a:txBody>
                    <a:bodyPr/>
                    <a:lstStyle/>
                    <a:p>
                      <a:pPr algn="l"/>
                      <a:r>
                        <a:rPr lang="en-US" sz="1350" b="1" dirty="0">
                          <a:solidFill>
                            <a:schemeClr val="tx1"/>
                          </a:solidFill>
                        </a:rPr>
                        <a:t>Run rate impact&gt;</a:t>
                      </a:r>
                      <a:r>
                        <a:rPr lang="en-US" sz="1350" dirty="0">
                          <a:solidFill>
                            <a:schemeClr val="tx1"/>
                          </a:solidFill>
                        </a:rPr>
                        <a:t>  Additional 1 screw (</a:t>
                      </a:r>
                      <a:r>
                        <a:rPr lang="en-US" sz="1350" dirty="0" err="1">
                          <a:solidFill>
                            <a:schemeClr val="tx1"/>
                          </a:solidFill>
                        </a:rPr>
                        <a:t>Skt</a:t>
                      </a:r>
                      <a:r>
                        <a:rPr lang="en-US" sz="1350" dirty="0">
                          <a:solidFill>
                            <a:schemeClr val="tx1"/>
                          </a:solidFill>
                        </a:rPr>
                        <a:t>-H 3-screw to </a:t>
                      </a:r>
                      <a:r>
                        <a:rPr lang="en-US" sz="1350" dirty="0" err="1">
                          <a:solidFill>
                            <a:schemeClr val="tx1"/>
                          </a:solidFill>
                        </a:rPr>
                        <a:t>skt</a:t>
                      </a:r>
                      <a:r>
                        <a:rPr lang="en-US" sz="1350" dirty="0">
                          <a:solidFill>
                            <a:schemeClr val="tx1"/>
                          </a:solidFill>
                        </a:rPr>
                        <a:t>-V 4-screw) and assemble 2-pcs </a:t>
                      </a:r>
                      <a:r>
                        <a:rPr lang="en-US" sz="1350" dirty="0" err="1">
                          <a:solidFill>
                            <a:schemeClr val="tx1"/>
                          </a:solidFill>
                        </a:rPr>
                        <a:t>topplate</a:t>
                      </a:r>
                      <a:r>
                        <a:rPr lang="en-US" sz="1350" dirty="0">
                          <a:solidFill>
                            <a:schemeClr val="tx1"/>
                          </a:solidFill>
                        </a:rPr>
                        <a:t> (vs </a:t>
                      </a:r>
                      <a:r>
                        <a:rPr lang="en-US" sz="1350" dirty="0" err="1">
                          <a:solidFill>
                            <a:schemeClr val="tx1"/>
                          </a:solidFill>
                        </a:rPr>
                        <a:t>skt</a:t>
                      </a:r>
                      <a:r>
                        <a:rPr lang="en-US" sz="1350" dirty="0">
                          <a:solidFill>
                            <a:schemeClr val="tx1"/>
                          </a:solidFill>
                        </a:rPr>
                        <a:t>-H 1-pcs </a:t>
                      </a:r>
                      <a:r>
                        <a:rPr lang="en-US" sz="1350" dirty="0" err="1">
                          <a:solidFill>
                            <a:schemeClr val="tx1"/>
                          </a:solidFill>
                        </a:rPr>
                        <a:t>topplate</a:t>
                      </a:r>
                      <a:r>
                        <a:rPr lang="en-US" sz="1350" dirty="0">
                          <a:solidFill>
                            <a:schemeClr val="tx1"/>
                          </a:solidFill>
                        </a:rPr>
                        <a:t>)</a:t>
                      </a:r>
                    </a:p>
                    <a:p>
                      <a:pPr algn="l"/>
                      <a:r>
                        <a:rPr lang="en-US" sz="1350" b="1" dirty="0">
                          <a:solidFill>
                            <a:schemeClr val="tx1"/>
                          </a:solidFill>
                        </a:rPr>
                        <a:t>ILM lever latch direction &gt; </a:t>
                      </a:r>
                      <a:r>
                        <a:rPr lang="en-US" sz="1350" b="0" dirty="0" err="1">
                          <a:solidFill>
                            <a:schemeClr val="tx1"/>
                          </a:solidFill>
                        </a:rPr>
                        <a:t>Skt</a:t>
                      </a:r>
                      <a:r>
                        <a:rPr lang="en-US" sz="1350" b="0" dirty="0">
                          <a:solidFill>
                            <a:schemeClr val="tx1"/>
                          </a:solidFill>
                        </a:rPr>
                        <a:t>-H is pulling the lever inward, but </a:t>
                      </a:r>
                      <a:r>
                        <a:rPr lang="en-US" sz="1350" b="0" dirty="0" err="1">
                          <a:solidFill>
                            <a:schemeClr val="tx1"/>
                          </a:solidFill>
                        </a:rPr>
                        <a:t>Skt</a:t>
                      </a:r>
                      <a:r>
                        <a:rPr lang="en-US" sz="1350" b="0" dirty="0">
                          <a:solidFill>
                            <a:schemeClr val="tx1"/>
                          </a:solidFill>
                        </a:rPr>
                        <a:t>-V is pushing the lever outward. This is not manufacturing friendly as the same operator will be processing </a:t>
                      </a:r>
                      <a:r>
                        <a:rPr lang="en-US" sz="1350" b="0" dirty="0" err="1">
                          <a:solidFill>
                            <a:schemeClr val="tx1"/>
                          </a:solidFill>
                        </a:rPr>
                        <a:t>skt</a:t>
                      </a:r>
                      <a:r>
                        <a:rPr lang="en-US" sz="1350" b="0" dirty="0">
                          <a:solidFill>
                            <a:schemeClr val="tx1"/>
                          </a:solidFill>
                        </a:rPr>
                        <a:t>-H and </a:t>
                      </a:r>
                      <a:r>
                        <a:rPr lang="en-US" sz="1350" b="0" dirty="0" err="1">
                          <a:solidFill>
                            <a:schemeClr val="tx1"/>
                          </a:solidFill>
                        </a:rPr>
                        <a:t>skt</a:t>
                      </a:r>
                      <a:r>
                        <a:rPr lang="en-US" sz="1350" b="0" dirty="0">
                          <a:solidFill>
                            <a:schemeClr val="tx1"/>
                          </a:solidFill>
                        </a:rPr>
                        <a:t>-V. </a:t>
                      </a:r>
                      <a:endParaRPr lang="en-MY" sz="1350" b="0" dirty="0">
                        <a:solidFill>
                          <a:schemeClr val="tx1"/>
                        </a:solidFill>
                      </a:endParaRPr>
                    </a:p>
                  </a:txBody>
                  <a:tcPr/>
                </a:tc>
                <a:extLst>
                  <a:ext uri="{0D108BD9-81ED-4DB2-BD59-A6C34878D82A}">
                    <a16:rowId xmlns:a16="http://schemas.microsoft.com/office/drawing/2014/main" val="1823027358"/>
                  </a:ext>
                </a:extLst>
              </a:tr>
              <a:tr h="2404648">
                <a:tc>
                  <a:txBody>
                    <a:bodyPr/>
                    <a:lstStyle/>
                    <a:p>
                      <a:pPr algn="l"/>
                      <a:r>
                        <a:rPr lang="en-US" sz="1350" dirty="0">
                          <a:solidFill>
                            <a:schemeClr val="tx1"/>
                          </a:solidFill>
                        </a:rPr>
                        <a:t>FXWH</a:t>
                      </a:r>
                      <a:endParaRPr lang="en-MY" sz="1350" dirty="0">
                        <a:solidFill>
                          <a:schemeClr val="tx1"/>
                        </a:solidFill>
                      </a:endParaRPr>
                    </a:p>
                  </a:txBody>
                  <a:tcPr/>
                </a:tc>
                <a:tc>
                  <a:txBody>
                    <a:bodyPr/>
                    <a:lstStyle/>
                    <a:p>
                      <a:pPr marL="171450" indent="-171450" algn="l">
                        <a:buFont typeface="Arial" panose="020B0604020202020204" pitchFamily="34" charset="0"/>
                        <a:buChar char="•"/>
                      </a:pPr>
                      <a:r>
                        <a:rPr lang="en-US" sz="1350" b="1" dirty="0">
                          <a:solidFill>
                            <a:schemeClr val="tx1"/>
                          </a:solidFill>
                        </a:rPr>
                        <a:t>ILM &gt; </a:t>
                      </a:r>
                      <a:r>
                        <a:rPr lang="en-US" sz="1350" dirty="0">
                          <a:solidFill>
                            <a:schemeClr val="tx1"/>
                          </a:solidFill>
                        </a:rPr>
                        <a:t>Quality control for the screw &amp; nut thread tolerance among different vendors, variation by batch/</a:t>
                      </a:r>
                      <a:r>
                        <a:rPr lang="en-US" sz="1350" dirty="0" err="1">
                          <a:solidFill>
                            <a:schemeClr val="tx1"/>
                          </a:solidFill>
                        </a:rPr>
                        <a:t>datecode</a:t>
                      </a:r>
                      <a:r>
                        <a:rPr lang="en-US" sz="1350" dirty="0">
                          <a:solidFill>
                            <a:schemeClr val="tx1"/>
                          </a:solidFill>
                        </a:rPr>
                        <a:t> for individual vendors.</a:t>
                      </a:r>
                    </a:p>
                    <a:p>
                      <a:pPr marL="171450" indent="-171450" algn="l">
                        <a:buFont typeface="Arial" panose="020B0604020202020204" pitchFamily="34" charset="0"/>
                        <a:buChar char="•"/>
                      </a:pPr>
                      <a:r>
                        <a:rPr lang="en-US" sz="1350" b="1" dirty="0">
                          <a:solidFill>
                            <a:schemeClr val="tx1"/>
                          </a:solidFill>
                        </a:rPr>
                        <a:t>Backplate/load plate/screw/lever &amp; </a:t>
                      </a:r>
                      <a:r>
                        <a:rPr lang="en-US" sz="1350" b="1" dirty="0" err="1">
                          <a:solidFill>
                            <a:schemeClr val="tx1"/>
                          </a:solidFill>
                        </a:rPr>
                        <a:t>etc</a:t>
                      </a:r>
                      <a:r>
                        <a:rPr lang="en-US" sz="1350" b="1" dirty="0">
                          <a:solidFill>
                            <a:schemeClr val="tx1"/>
                          </a:solidFill>
                        </a:rPr>
                        <a:t> &gt; </a:t>
                      </a:r>
                      <a:r>
                        <a:rPr lang="en-US" sz="1350" dirty="0">
                          <a:solidFill>
                            <a:schemeClr val="tx1"/>
                          </a:solidFill>
                        </a:rPr>
                        <a:t>Need to allow mixed vendor to ease </a:t>
                      </a:r>
                      <a:r>
                        <a:rPr lang="en-US" sz="1350" dirty="0" err="1">
                          <a:solidFill>
                            <a:schemeClr val="tx1"/>
                          </a:solidFill>
                        </a:rPr>
                        <a:t>mfg</a:t>
                      </a:r>
                      <a:r>
                        <a:rPr lang="en-US" sz="1350" dirty="0">
                          <a:solidFill>
                            <a:schemeClr val="tx1"/>
                          </a:solidFill>
                        </a:rPr>
                        <a:t> process, due to there are more pieces for socket-V (</a:t>
                      </a:r>
                      <a:r>
                        <a:rPr lang="en-US" sz="1350" dirty="0" err="1">
                          <a:solidFill>
                            <a:schemeClr val="tx1"/>
                          </a:solidFill>
                        </a:rPr>
                        <a:t>eg.</a:t>
                      </a:r>
                      <a:r>
                        <a:rPr lang="en-US" sz="1350" dirty="0">
                          <a:solidFill>
                            <a:schemeClr val="tx1"/>
                          </a:solidFill>
                        </a:rPr>
                        <a:t> allow mixed 2 vendor for lever and top plate due to 2 separate pcs). </a:t>
                      </a:r>
                    </a:p>
                    <a:p>
                      <a:pPr marL="171450" indent="-171450" algn="l">
                        <a:buFont typeface="Arial" panose="020B0604020202020204" pitchFamily="34" charset="0"/>
                        <a:buChar char="•"/>
                      </a:pPr>
                      <a:r>
                        <a:rPr lang="en-US" sz="1350" b="1" dirty="0">
                          <a:solidFill>
                            <a:schemeClr val="tx1"/>
                          </a:solidFill>
                        </a:rPr>
                        <a:t>ILM gap to PCB (Warpage?) &gt; </a:t>
                      </a:r>
                      <a:r>
                        <a:rPr lang="en-US" sz="1350" dirty="0">
                          <a:solidFill>
                            <a:schemeClr val="tx1"/>
                          </a:solidFill>
                        </a:rPr>
                        <a:t>Per </a:t>
                      </a:r>
                      <a:r>
                        <a:rPr lang="en-US" sz="1350" dirty="0" err="1">
                          <a:solidFill>
                            <a:schemeClr val="tx1"/>
                          </a:solidFill>
                        </a:rPr>
                        <a:t>skt</a:t>
                      </a:r>
                      <a:r>
                        <a:rPr lang="en-US" sz="1350" dirty="0">
                          <a:solidFill>
                            <a:schemeClr val="tx1"/>
                          </a:solidFill>
                        </a:rPr>
                        <a:t>-H experience, FXWH observed gap/</a:t>
                      </a:r>
                      <a:r>
                        <a:rPr lang="en-US" sz="1350" dirty="0" err="1">
                          <a:solidFill>
                            <a:schemeClr val="tx1"/>
                          </a:solidFill>
                        </a:rPr>
                        <a:t>seperation</a:t>
                      </a:r>
                      <a:r>
                        <a:rPr lang="en-US" sz="1350" dirty="0">
                          <a:solidFill>
                            <a:schemeClr val="tx1"/>
                          </a:solidFill>
                        </a:rPr>
                        <a:t> between the ILM vs PCB. Worried if </a:t>
                      </a:r>
                      <a:r>
                        <a:rPr lang="en-US" sz="1350" dirty="0" err="1">
                          <a:solidFill>
                            <a:schemeClr val="tx1"/>
                          </a:solidFill>
                        </a:rPr>
                        <a:t>skt</a:t>
                      </a:r>
                      <a:r>
                        <a:rPr lang="en-US" sz="1350" dirty="0">
                          <a:solidFill>
                            <a:schemeClr val="tx1"/>
                          </a:solidFill>
                        </a:rPr>
                        <a:t>-V ILM will </a:t>
                      </a:r>
                      <a:r>
                        <a:rPr lang="en-US" sz="1350" dirty="0" err="1">
                          <a:solidFill>
                            <a:schemeClr val="tx1"/>
                          </a:solidFill>
                        </a:rPr>
                        <a:t>hv</a:t>
                      </a:r>
                      <a:r>
                        <a:rPr lang="en-US" sz="1350" dirty="0">
                          <a:solidFill>
                            <a:schemeClr val="tx1"/>
                          </a:solidFill>
                        </a:rPr>
                        <a:t> similar issue especially there are 2 pcs for top plate and lever pcs, if there are PCB warpage, will the situation get worsen ? And resulting poor socket contact pin to LGA pad.  (</a:t>
                      </a:r>
                      <a:r>
                        <a:rPr lang="en-US" sz="1350" dirty="0" err="1">
                          <a:solidFill>
                            <a:schemeClr val="tx1"/>
                          </a:solidFill>
                        </a:rPr>
                        <a:t>eg.</a:t>
                      </a:r>
                      <a:r>
                        <a:rPr lang="en-US" sz="1350" dirty="0">
                          <a:solidFill>
                            <a:schemeClr val="tx1"/>
                          </a:solidFill>
                        </a:rPr>
                        <a:t> potential scenario with package tilted in socket, and not all pin/package unable to get the similar compressive load resulting poor or marginal contact)</a:t>
                      </a:r>
                    </a:p>
                    <a:p>
                      <a:pPr marL="171450" indent="-171450" algn="l">
                        <a:buFont typeface="Arial" panose="020B0604020202020204" pitchFamily="34" charset="0"/>
                        <a:buChar char="•"/>
                      </a:pPr>
                      <a:r>
                        <a:rPr lang="en-US" sz="1350" b="1" i="0" u="none" strike="noStrike" cap="none" spc="0" baseline="0" dirty="0">
                          <a:solidFill>
                            <a:schemeClr val="tx1"/>
                          </a:solidFill>
                          <a:effectLst/>
                          <a:uFillTx/>
                          <a:latin typeface="+mn-lt"/>
                          <a:ea typeface="+mn-ea"/>
                          <a:cs typeface="+mn-cs"/>
                          <a:sym typeface="Intel Clear"/>
                        </a:rPr>
                        <a:t>Torque setting requirement and expectation &gt; </a:t>
                      </a:r>
                      <a:r>
                        <a:rPr lang="en-US" sz="1350" b="0" i="0" u="none" strike="noStrike" cap="none" spc="0" baseline="0" dirty="0">
                          <a:solidFill>
                            <a:schemeClr val="tx1"/>
                          </a:solidFill>
                          <a:effectLst/>
                          <a:uFillTx/>
                          <a:latin typeface="+mn-lt"/>
                          <a:ea typeface="+mn-ea"/>
                          <a:cs typeface="+mn-cs"/>
                          <a:sym typeface="Intel Clear"/>
                        </a:rPr>
                        <a:t>Need to “</a:t>
                      </a:r>
                      <a:r>
                        <a:rPr lang="en-MY" sz="1350" b="0" i="0" u="none" strike="noStrike" cap="none" spc="0" baseline="0" dirty="0">
                          <a:solidFill>
                            <a:schemeClr val="tx1"/>
                          </a:solidFill>
                          <a:effectLst/>
                          <a:uFillTx/>
                          <a:latin typeface="+mn-lt"/>
                          <a:ea typeface="+mn-ea"/>
                          <a:cs typeface="+mn-cs"/>
                          <a:sym typeface="Intel Clear"/>
                        </a:rPr>
                        <a:t>range” for manufacturing process, (</a:t>
                      </a:r>
                      <a:r>
                        <a:rPr lang="en-MY" sz="1350" b="0" i="0" u="none" strike="noStrike" cap="none" spc="0" baseline="0" dirty="0" err="1">
                          <a:solidFill>
                            <a:schemeClr val="tx1"/>
                          </a:solidFill>
                          <a:effectLst/>
                          <a:uFillTx/>
                          <a:latin typeface="+mn-lt"/>
                          <a:ea typeface="+mn-ea"/>
                          <a:cs typeface="+mn-cs"/>
                          <a:sym typeface="Intel Clear"/>
                        </a:rPr>
                        <a:t>eg.</a:t>
                      </a:r>
                      <a:r>
                        <a:rPr lang="en-MY" sz="1350" b="0" i="0" u="none" strike="noStrike" cap="none" spc="0" baseline="0" dirty="0">
                          <a:solidFill>
                            <a:schemeClr val="tx1"/>
                          </a:solidFill>
                          <a:effectLst/>
                          <a:uFillTx/>
                          <a:latin typeface="+mn-lt"/>
                          <a:ea typeface="+mn-ea"/>
                          <a:cs typeface="+mn-cs"/>
                          <a:sym typeface="Intel Clear"/>
                        </a:rPr>
                        <a:t> 8-in-lbf </a:t>
                      </a:r>
                      <a:r>
                        <a:rPr lang="en-US" sz="1350" b="0" i="0" u="none" strike="noStrike" cap="none" spc="0" baseline="0" dirty="0">
                          <a:solidFill>
                            <a:schemeClr val="tx1"/>
                          </a:solidFill>
                          <a:effectLst/>
                          <a:uFillTx/>
                          <a:latin typeface="+mn-lt"/>
                          <a:ea typeface="+mn-ea"/>
                          <a:cs typeface="+mn-cs"/>
                          <a:sym typeface="Intel Clear"/>
                        </a:rPr>
                        <a:t>±</a:t>
                      </a:r>
                      <a:r>
                        <a:rPr lang="en-MY" sz="1350" b="0" i="0" u="none" strike="noStrike" cap="none" spc="0" baseline="0" dirty="0">
                          <a:solidFill>
                            <a:schemeClr val="tx1"/>
                          </a:solidFill>
                          <a:effectLst/>
                          <a:uFillTx/>
                          <a:latin typeface="+mn-lt"/>
                          <a:ea typeface="+mn-ea"/>
                          <a:cs typeface="+mn-cs"/>
                          <a:sym typeface="Intel Clear"/>
                        </a:rPr>
                        <a:t> xx %) due to in actual process/production there are no way for absolute value 8-in-lbf, there are variation between batches/vendor for the screw/nuts, torque driver capability &amp; etc.</a:t>
                      </a:r>
                      <a:endParaRPr lang="en-MY" sz="1350" b="0" dirty="0">
                        <a:solidFill>
                          <a:schemeClr val="tx1"/>
                        </a:solidFill>
                      </a:endParaRPr>
                    </a:p>
                  </a:txBody>
                  <a:tcPr/>
                </a:tc>
                <a:extLst>
                  <a:ext uri="{0D108BD9-81ED-4DB2-BD59-A6C34878D82A}">
                    <a16:rowId xmlns:a16="http://schemas.microsoft.com/office/drawing/2014/main" val="1117650749"/>
                  </a:ext>
                </a:extLst>
              </a:tr>
              <a:tr h="616067">
                <a:tc>
                  <a:txBody>
                    <a:bodyPr/>
                    <a:lstStyle/>
                    <a:p>
                      <a:pPr algn="l"/>
                      <a:r>
                        <a:rPr lang="en-US" sz="1350" dirty="0">
                          <a:solidFill>
                            <a:schemeClr val="tx1"/>
                          </a:solidFill>
                        </a:rPr>
                        <a:t>Intel FAE</a:t>
                      </a:r>
                      <a:endParaRPr lang="en-MY" sz="1350" dirty="0">
                        <a:solidFill>
                          <a:schemeClr val="tx1"/>
                        </a:solidFill>
                      </a:endParaRPr>
                    </a:p>
                  </a:txBody>
                  <a:tcPr/>
                </a:tc>
                <a:tc>
                  <a:txBody>
                    <a:bodyPr/>
                    <a:lstStyle/>
                    <a:p>
                      <a:pPr marL="0" marR="0" lvl="0" indent="0" algn="l" defTabSz="609600" rtl="0" eaLnBrk="1" fontAlgn="auto" latinLnBrk="0" hangingPunct="1">
                        <a:lnSpc>
                          <a:spcPct val="100000"/>
                        </a:lnSpc>
                        <a:spcBef>
                          <a:spcPts val="0"/>
                        </a:spcBef>
                        <a:spcAft>
                          <a:spcPts val="0"/>
                        </a:spcAft>
                        <a:buClrTx/>
                        <a:buSzTx/>
                        <a:buFontTx/>
                        <a:buNone/>
                        <a:tabLst/>
                        <a:defRPr/>
                      </a:pPr>
                      <a:r>
                        <a:rPr kumimoji="0" lang="en-US" sz="1350" b="1" i="0" u="none" strike="noStrike" cap="none" spc="0" normalizeH="0" baseline="0" dirty="0">
                          <a:ln>
                            <a:noFill/>
                          </a:ln>
                          <a:solidFill>
                            <a:schemeClr val="tx1"/>
                          </a:solidFill>
                          <a:effectLst/>
                          <a:uFillTx/>
                          <a:latin typeface="+mn-lt"/>
                          <a:ea typeface="+mn-ea"/>
                          <a:cs typeface="+mn-cs"/>
                          <a:sym typeface="Helvetica Neue"/>
                        </a:rPr>
                        <a:t>Socket bend pin pass/fail criteria in MAS&gt;</a:t>
                      </a:r>
                      <a:r>
                        <a:rPr kumimoji="0" lang="en-US" sz="1350" b="0" i="0" u="none" strike="noStrike" cap="none" spc="0" normalizeH="0" baseline="0" dirty="0">
                          <a:ln>
                            <a:noFill/>
                          </a:ln>
                          <a:solidFill>
                            <a:schemeClr val="tx1"/>
                          </a:solidFill>
                          <a:effectLst/>
                          <a:uFillTx/>
                          <a:latin typeface="+mn-lt"/>
                          <a:ea typeface="+mn-ea"/>
                          <a:cs typeface="+mn-cs"/>
                          <a:sym typeface="Helvetica Neue"/>
                        </a:rPr>
                        <a:t>  Need to re-assess the type 3 x-y axis shift visual criteria for ±0.125mm, due to tighter pitch in </a:t>
                      </a:r>
                      <a:r>
                        <a:rPr kumimoji="0" lang="en-US" sz="1350" b="0" i="0" u="none" strike="noStrike" cap="none" spc="0" normalizeH="0" baseline="0" dirty="0" err="1">
                          <a:ln>
                            <a:noFill/>
                          </a:ln>
                          <a:solidFill>
                            <a:schemeClr val="tx1"/>
                          </a:solidFill>
                          <a:effectLst/>
                          <a:uFillTx/>
                          <a:latin typeface="+mn-lt"/>
                          <a:ea typeface="+mn-ea"/>
                          <a:cs typeface="+mn-cs"/>
                          <a:sym typeface="Helvetica Neue"/>
                        </a:rPr>
                        <a:t>skt</a:t>
                      </a:r>
                      <a:r>
                        <a:rPr kumimoji="0" lang="en-US" sz="1350" b="0" i="0" u="none" strike="noStrike" cap="none" spc="0" normalizeH="0" baseline="0" dirty="0">
                          <a:ln>
                            <a:noFill/>
                          </a:ln>
                          <a:solidFill>
                            <a:schemeClr val="tx1"/>
                          </a:solidFill>
                          <a:effectLst/>
                          <a:uFillTx/>
                          <a:latin typeface="+mn-lt"/>
                          <a:ea typeface="+mn-ea"/>
                          <a:cs typeface="+mn-cs"/>
                          <a:sym typeface="Helvetica Neue"/>
                        </a:rPr>
                        <a:t>-V (0.8mm) vs </a:t>
                      </a:r>
                      <a:r>
                        <a:rPr kumimoji="0" lang="en-US" sz="1350" b="0" i="0" u="none" strike="noStrike" cap="none" spc="0" normalizeH="0" baseline="0" dirty="0" err="1">
                          <a:ln>
                            <a:noFill/>
                          </a:ln>
                          <a:solidFill>
                            <a:schemeClr val="tx1"/>
                          </a:solidFill>
                          <a:effectLst/>
                          <a:uFillTx/>
                          <a:latin typeface="+mn-lt"/>
                          <a:ea typeface="+mn-ea"/>
                          <a:cs typeface="+mn-cs"/>
                          <a:sym typeface="Helvetica Neue"/>
                        </a:rPr>
                        <a:t>skt</a:t>
                      </a:r>
                      <a:r>
                        <a:rPr kumimoji="0" lang="en-US" sz="1350" b="0" i="0" u="none" strike="noStrike" cap="none" spc="0" normalizeH="0" baseline="0" dirty="0">
                          <a:ln>
                            <a:noFill/>
                          </a:ln>
                          <a:solidFill>
                            <a:schemeClr val="tx1"/>
                          </a:solidFill>
                          <a:effectLst/>
                          <a:uFillTx/>
                          <a:latin typeface="+mn-lt"/>
                          <a:ea typeface="+mn-ea"/>
                          <a:cs typeface="+mn-cs"/>
                          <a:sym typeface="Helvetica Neue"/>
                        </a:rPr>
                        <a:t>-H pitch 0.914mm. Is the contact pin always making contact to the LGA pad center ? Will the contact pin that passing 0.125mm still passing electrical test ?  as the pin may be touching/ too close to the adjacent CPU LGA.</a:t>
                      </a:r>
                      <a:endParaRPr lang="en-MY" sz="1350" dirty="0">
                        <a:solidFill>
                          <a:schemeClr val="tx1"/>
                        </a:solidFill>
                      </a:endParaRPr>
                    </a:p>
                  </a:txBody>
                  <a:tcPr/>
                </a:tc>
                <a:extLst>
                  <a:ext uri="{0D108BD9-81ED-4DB2-BD59-A6C34878D82A}">
                    <a16:rowId xmlns:a16="http://schemas.microsoft.com/office/drawing/2014/main" val="223903287"/>
                  </a:ext>
                </a:extLst>
              </a:tr>
            </a:tbl>
          </a:graphicData>
        </a:graphic>
      </p:graphicFrame>
      <p:sp>
        <p:nvSpPr>
          <p:cNvPr id="7" name="Rectangle: Rounded Corners 6">
            <a:extLst>
              <a:ext uri="{FF2B5EF4-FFF2-40B4-BE49-F238E27FC236}">
                <a16:creationId xmlns:a16="http://schemas.microsoft.com/office/drawing/2014/main" id="{34723EF9-C3D3-4F07-9412-0035609C309D}"/>
              </a:ext>
            </a:extLst>
          </p:cNvPr>
          <p:cNvSpPr/>
          <p:nvPr/>
        </p:nvSpPr>
        <p:spPr>
          <a:xfrm>
            <a:off x="500934" y="4795772"/>
            <a:ext cx="11314704" cy="1705431"/>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outerShdw blurRad="114300" dist="101600" dir="2700000" algn="tl" rotWithShape="0">
              <a:srgbClr val="77FF33">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60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 (combined both slides)</a:t>
            </a:r>
          </a:p>
          <a:p>
            <a:pPr marL="182880" indent="-182880" defTabSz="825500">
              <a:lnSpc>
                <a:spcPct val="100000"/>
              </a:lnSpc>
              <a:spcBef>
                <a:spcPts val="0"/>
              </a:spcBef>
              <a:buFont typeface="Arial" panose="020B0604020202020204" pitchFamily="34" charset="0"/>
              <a:buChar char="•"/>
            </a:pPr>
            <a:r>
              <a:rPr lang="en-US" sz="1550" dirty="0">
                <a:solidFill>
                  <a:srgbClr val="FFFFFF"/>
                </a:solidFill>
                <a:latin typeface="Helvetica Neue Medium"/>
                <a:ea typeface="Helvetica Neue Medium"/>
                <a:cs typeface="Helvetica Neue Medium"/>
                <a:sym typeface="Helvetica Neue Medium"/>
              </a:rPr>
              <a:t>Customer is looking for solution/tool, with design fungibility that is “error free“, “executable” for HVM process transparency or variation, (</a:t>
            </a:r>
            <a:r>
              <a:rPr lang="en-US" sz="1550" dirty="0" err="1">
                <a:solidFill>
                  <a:srgbClr val="FFFFFF"/>
                </a:solidFill>
                <a:latin typeface="Helvetica Neue Medium"/>
                <a:ea typeface="Helvetica Neue Medium"/>
                <a:cs typeface="Helvetica Neue Medium"/>
                <a:sym typeface="Helvetica Neue Medium"/>
              </a:rPr>
              <a:t>eg.</a:t>
            </a:r>
            <a:r>
              <a:rPr lang="en-US" sz="1550" dirty="0">
                <a:solidFill>
                  <a:srgbClr val="FFFFFF"/>
                </a:solidFill>
                <a:latin typeface="Helvetica Neue Medium"/>
                <a:ea typeface="Helvetica Neue Medium"/>
                <a:cs typeface="Helvetica Neue Medium"/>
                <a:sym typeface="Helvetica Neue Medium"/>
              </a:rPr>
              <a:t> opposite lever latching direction, thermal solution design, orientation control, allow mixing piece parts &amp; </a:t>
            </a:r>
            <a:r>
              <a:rPr lang="en-US" sz="1550" dirty="0" err="1">
                <a:solidFill>
                  <a:srgbClr val="FFFFFF"/>
                </a:solidFill>
                <a:latin typeface="Helvetica Neue Medium"/>
                <a:ea typeface="Helvetica Neue Medium"/>
                <a:cs typeface="Helvetica Neue Medium"/>
                <a:sym typeface="Helvetica Neue Medium"/>
              </a:rPr>
              <a:t>etc</a:t>
            </a:r>
            <a:r>
              <a:rPr lang="en-US" sz="1550" dirty="0">
                <a:solidFill>
                  <a:srgbClr val="FFFFFF"/>
                </a:solidFill>
                <a:latin typeface="Helvetica Neue Medium"/>
                <a:ea typeface="Helvetica Neue Medium"/>
                <a:cs typeface="Helvetica Neue Medium"/>
                <a:sym typeface="Helvetica Neue Medium"/>
              </a:rPr>
              <a:t>) </a:t>
            </a:r>
          </a:p>
          <a:p>
            <a:pPr marL="182880" indent="-182880" defTabSz="825500">
              <a:lnSpc>
                <a:spcPct val="100000"/>
              </a:lnSpc>
              <a:spcBef>
                <a:spcPts val="0"/>
              </a:spcBef>
              <a:buFont typeface="Arial" panose="020B0604020202020204" pitchFamily="34" charset="0"/>
              <a:buChar char="•"/>
            </a:pPr>
            <a:r>
              <a:rPr lang="en-US" sz="1550" dirty="0">
                <a:solidFill>
                  <a:srgbClr val="FFFFFF"/>
                </a:solidFill>
                <a:latin typeface="Helvetica Neue Medium"/>
                <a:ea typeface="Helvetica Neue Medium"/>
                <a:cs typeface="Helvetica Neue Medium"/>
                <a:sym typeface="Helvetica Neue Medium"/>
              </a:rPr>
              <a:t>Concerns is manufacturing run rate impact for socket-V for ILM assembly (additional top plate and screw)</a:t>
            </a:r>
          </a:p>
          <a:p>
            <a:pPr marL="182880" indent="-182880" defTabSz="825500">
              <a:lnSpc>
                <a:spcPct val="100000"/>
              </a:lnSpc>
              <a:spcBef>
                <a:spcPts val="0"/>
              </a:spcBef>
              <a:buFont typeface="Arial" panose="020B0604020202020204" pitchFamily="34" charset="0"/>
              <a:buChar char="•"/>
            </a:pPr>
            <a:r>
              <a:rPr lang="en-US" sz="1550" dirty="0">
                <a:solidFill>
                  <a:srgbClr val="FFFFFF"/>
                </a:solidFill>
                <a:latin typeface="Helvetica Neue Medium"/>
                <a:ea typeface="Helvetica Neue Medium"/>
                <a:cs typeface="Helvetica Neue Medium"/>
                <a:sym typeface="Helvetica Neue Medium"/>
              </a:rPr>
              <a:t>SJQ concerns due to potential insufficient total solder volume for solder joint formation</a:t>
            </a:r>
          </a:p>
          <a:p>
            <a:pPr marL="274320" lvl="8" indent="182880" defTabSz="825500">
              <a:lnSpc>
                <a:spcPct val="100000"/>
              </a:lnSpc>
              <a:spcBef>
                <a:spcPts val="0"/>
              </a:spcBef>
              <a:buFont typeface="Courier New" panose="02070309020205020404" pitchFamily="49" charset="0"/>
              <a:buChar char="o"/>
            </a:pPr>
            <a:r>
              <a:rPr lang="en-US" sz="1550" dirty="0">
                <a:solidFill>
                  <a:srgbClr val="FFFFFF"/>
                </a:solidFill>
                <a:latin typeface="Helvetica Neue Medium"/>
                <a:ea typeface="Helvetica Neue Medium"/>
                <a:cs typeface="Helvetica Neue Medium"/>
                <a:sym typeface="Helvetica Neue Medium"/>
              </a:rPr>
              <a:t>LOTES (0.45mm solder ball) vs FIT/</a:t>
            </a:r>
            <a:r>
              <a:rPr lang="en-US" sz="1550" dirty="0" err="1">
                <a:solidFill>
                  <a:srgbClr val="FFFFFF"/>
                </a:solidFill>
                <a:latin typeface="Helvetica Neue Medium"/>
                <a:ea typeface="Helvetica Neue Medium"/>
                <a:cs typeface="Helvetica Neue Medium"/>
                <a:sym typeface="Helvetica Neue Medium"/>
              </a:rPr>
              <a:t>Deren</a:t>
            </a:r>
            <a:r>
              <a:rPr lang="en-US" sz="1550" dirty="0">
                <a:solidFill>
                  <a:srgbClr val="FFFFFF"/>
                </a:solidFill>
                <a:latin typeface="Helvetica Neue Medium"/>
                <a:ea typeface="Helvetica Neue Medium"/>
                <a:cs typeface="Helvetica Neue Medium"/>
                <a:sym typeface="Helvetica Neue Medium"/>
              </a:rPr>
              <a:t> (0.5mm solder ball) but MAS recommended same solder paste volume</a:t>
            </a:r>
          </a:p>
        </p:txBody>
      </p:sp>
      <p:sp>
        <p:nvSpPr>
          <p:cNvPr id="8" name="Action Button: Go Forward or Next 7">
            <a:hlinkClick r:id="rId3" action="ppaction://hlinksldjump" highlightClick="1"/>
            <a:extLst>
              <a:ext uri="{FF2B5EF4-FFF2-40B4-BE49-F238E27FC236}">
                <a16:creationId xmlns:a16="http://schemas.microsoft.com/office/drawing/2014/main" id="{2D8DEE74-4746-416D-99CC-750778957C53}"/>
              </a:ext>
            </a:extLst>
          </p:cNvPr>
          <p:cNvSpPr/>
          <p:nvPr/>
        </p:nvSpPr>
        <p:spPr>
          <a:xfrm>
            <a:off x="11444578" y="4081560"/>
            <a:ext cx="264602" cy="191381"/>
          </a:xfrm>
          <a:prstGeom prst="actionButtonForwardNex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Action Button: Go Forward or Next 8">
            <a:hlinkClick r:id="rId4" action="ppaction://hlinksldjump" highlightClick="1"/>
            <a:extLst>
              <a:ext uri="{FF2B5EF4-FFF2-40B4-BE49-F238E27FC236}">
                <a16:creationId xmlns:a16="http://schemas.microsoft.com/office/drawing/2014/main" id="{BE696F74-8FB4-41A0-A5F1-EE26373BDC79}"/>
              </a:ext>
            </a:extLst>
          </p:cNvPr>
          <p:cNvSpPr/>
          <p:nvPr/>
        </p:nvSpPr>
        <p:spPr>
          <a:xfrm>
            <a:off x="11456854" y="1369725"/>
            <a:ext cx="264602" cy="191381"/>
          </a:xfrm>
          <a:prstGeom prst="actionButtonForwardNex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Action Button: Go Home 10">
            <a:hlinkClick r:id="rId5" action="ppaction://hlinksldjump" highlightClick="1"/>
            <a:extLst>
              <a:ext uri="{FF2B5EF4-FFF2-40B4-BE49-F238E27FC236}">
                <a16:creationId xmlns:a16="http://schemas.microsoft.com/office/drawing/2014/main" id="{6D9420D9-80C8-447C-BCB8-8A7C3E2CBD7D}"/>
              </a:ext>
            </a:extLst>
          </p:cNvPr>
          <p:cNvSpPr/>
          <p:nvPr/>
        </p:nvSpPr>
        <p:spPr>
          <a:xfrm>
            <a:off x="11399520" y="91440"/>
            <a:ext cx="487680" cy="451311"/>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930238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39358-26AF-4C7D-86BB-3F6FCA8C5B7C}"/>
              </a:ext>
            </a:extLst>
          </p:cNvPr>
          <p:cNvSpPr>
            <a:spLocks noGrp="1"/>
          </p:cNvSpPr>
          <p:nvPr>
            <p:ph type="title"/>
          </p:nvPr>
        </p:nvSpPr>
        <p:spPr/>
        <p:txBody>
          <a:bodyPr/>
          <a:lstStyle/>
          <a:p>
            <a:r>
              <a:rPr lang="en-US" dirty="0"/>
              <a:t>Observation &amp; Next Step</a:t>
            </a:r>
            <a:endParaRPr lang="en-MY" dirty="0"/>
          </a:p>
        </p:txBody>
      </p:sp>
      <p:sp>
        <p:nvSpPr>
          <p:cNvPr id="3" name="Content Placeholder 2">
            <a:extLst>
              <a:ext uri="{FF2B5EF4-FFF2-40B4-BE49-F238E27FC236}">
                <a16:creationId xmlns:a16="http://schemas.microsoft.com/office/drawing/2014/main" id="{1B9A7CA8-C9B3-46D7-9DB3-0753843309BD}"/>
              </a:ext>
            </a:extLst>
          </p:cNvPr>
          <p:cNvSpPr>
            <a:spLocks noGrp="1"/>
          </p:cNvSpPr>
          <p:nvPr>
            <p:ph sz="quarter" idx="13"/>
          </p:nvPr>
        </p:nvSpPr>
        <p:spPr/>
        <p:txBody>
          <a:bodyPr/>
          <a:lstStyle/>
          <a:p>
            <a:pPr algn="just"/>
            <a:r>
              <a:rPr lang="en-US" dirty="0"/>
              <a:t>Observation</a:t>
            </a:r>
          </a:p>
          <a:p>
            <a:pPr marL="548640" lvl="1" algn="just"/>
            <a:r>
              <a:rPr lang="en-US" sz="2000" dirty="0"/>
              <a:t>Few customers were not excited about Intro meeting (</a:t>
            </a:r>
            <a:r>
              <a:rPr lang="en-US" sz="2000" dirty="0" err="1"/>
              <a:t>eg.</a:t>
            </a:r>
            <a:r>
              <a:rPr lang="en-US" sz="2000" dirty="0"/>
              <a:t> ECS, MSI, HPI, QCMC) or participate in CRD survey (</a:t>
            </a:r>
            <a:r>
              <a:rPr lang="en-US" sz="2000" dirty="0" err="1"/>
              <a:t>eg.</a:t>
            </a:r>
            <a:r>
              <a:rPr lang="en-US" sz="2000" dirty="0"/>
              <a:t> QCMC, Gigabyte, MSFT)</a:t>
            </a:r>
          </a:p>
          <a:p>
            <a:pPr marL="822960" lvl="2" algn="just"/>
            <a:r>
              <a:rPr lang="en-US" sz="1800" dirty="0"/>
              <a:t>Customers already get used with the working model with Field Engineer/account team for ~10 years without CQR/CME enabling</a:t>
            </a:r>
          </a:p>
          <a:p>
            <a:pPr marL="822960" lvl="2" algn="just"/>
            <a:endParaRPr lang="en-US" dirty="0"/>
          </a:p>
          <a:p>
            <a:pPr algn="just"/>
            <a:r>
              <a:rPr lang="en-US" dirty="0"/>
              <a:t>Next Step</a:t>
            </a:r>
          </a:p>
          <a:p>
            <a:pPr lvl="1" algn="just"/>
            <a:r>
              <a:rPr lang="en-US" sz="2000" dirty="0"/>
              <a:t>Demonstrate our values and collaborate with Field Engineer/account team for future customer enabling in DT segment</a:t>
            </a:r>
          </a:p>
          <a:p>
            <a:pPr lvl="1" algn="just"/>
            <a:r>
              <a:rPr lang="en-US" sz="2000" dirty="0"/>
              <a:t>Proactively follow-up with customer for their development activities/NPI for Socket-V and offer help to re-build customer relation </a:t>
            </a:r>
          </a:p>
          <a:p>
            <a:pPr lvl="1" algn="just"/>
            <a:r>
              <a:rPr lang="en-US" sz="2000" dirty="0"/>
              <a:t>Follow-up with </a:t>
            </a:r>
            <a:r>
              <a:rPr lang="en-US" sz="2000" dirty="0" err="1"/>
              <a:t>LiteON</a:t>
            </a:r>
            <a:r>
              <a:rPr lang="en-US" sz="2000" dirty="0"/>
              <a:t> for their Oct/Nov SMT build result and automation assessment</a:t>
            </a:r>
          </a:p>
          <a:p>
            <a:pPr lvl="1" algn="just"/>
            <a:r>
              <a:rPr lang="en-US" sz="2000" dirty="0"/>
              <a:t>To seek clarification from customers for items label in </a:t>
            </a:r>
            <a:r>
              <a:rPr lang="en-US" sz="2000" dirty="0">
                <a:solidFill>
                  <a:srgbClr val="FF0000"/>
                </a:solidFill>
                <a:effectLst>
                  <a:outerShdw blurRad="38100" dist="38100" dir="2700000" algn="tl">
                    <a:srgbClr val="000000">
                      <a:alpha val="43137"/>
                    </a:srgbClr>
                  </a:outerShdw>
                </a:effectLst>
              </a:rPr>
              <a:t>this color</a:t>
            </a:r>
          </a:p>
          <a:p>
            <a:pPr lvl="1" algn="just"/>
            <a:endParaRPr lang="en-MY" dirty="0"/>
          </a:p>
        </p:txBody>
      </p:sp>
      <p:sp>
        <p:nvSpPr>
          <p:cNvPr id="4" name="Action Button: Go Home 3">
            <a:hlinkClick r:id="rId2" action="ppaction://hlinksldjump" highlightClick="1"/>
            <a:extLst>
              <a:ext uri="{FF2B5EF4-FFF2-40B4-BE49-F238E27FC236}">
                <a16:creationId xmlns:a16="http://schemas.microsoft.com/office/drawing/2014/main" id="{E7C0C063-432B-47C9-910C-3F7EDF637624}"/>
              </a:ext>
            </a:extLst>
          </p:cNvPr>
          <p:cNvSpPr/>
          <p:nvPr/>
        </p:nvSpPr>
        <p:spPr>
          <a:xfrm>
            <a:off x="11399520" y="162560"/>
            <a:ext cx="487680" cy="451311"/>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472131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EB36E-9B1B-4E83-8006-57B3048425BA}"/>
              </a:ext>
            </a:extLst>
          </p:cNvPr>
          <p:cNvSpPr>
            <a:spLocks noGrp="1"/>
          </p:cNvSpPr>
          <p:nvPr>
            <p:ph type="title"/>
          </p:nvPr>
        </p:nvSpPr>
        <p:spPr/>
        <p:txBody>
          <a:bodyPr/>
          <a:lstStyle/>
          <a:p>
            <a:r>
              <a:rPr lang="en-US" dirty="0"/>
              <a:t>Acknowledgment </a:t>
            </a:r>
            <a:endParaRPr lang="en-MY" dirty="0"/>
          </a:p>
        </p:txBody>
      </p:sp>
      <p:graphicFrame>
        <p:nvGraphicFramePr>
          <p:cNvPr id="5" name="Table 9">
            <a:extLst>
              <a:ext uri="{FF2B5EF4-FFF2-40B4-BE49-F238E27FC236}">
                <a16:creationId xmlns:a16="http://schemas.microsoft.com/office/drawing/2014/main" id="{FA641DFA-6E42-47BB-A91B-6C0E4461398B}"/>
              </a:ext>
            </a:extLst>
          </p:cNvPr>
          <p:cNvGraphicFramePr>
            <a:graphicFrameLocks noGrp="1"/>
          </p:cNvGraphicFramePr>
          <p:nvPr>
            <p:ph sz="quarter" idx="13"/>
            <p:extLst>
              <p:ext uri="{D42A27DB-BD31-4B8C-83A1-F6EECF244321}">
                <p14:modId xmlns:p14="http://schemas.microsoft.com/office/powerpoint/2010/main" val="2209163790"/>
              </p:ext>
            </p:extLst>
          </p:nvPr>
        </p:nvGraphicFramePr>
        <p:xfrm>
          <a:off x="608013" y="1350963"/>
          <a:ext cx="6345680" cy="3268980"/>
        </p:xfrm>
        <a:graphic>
          <a:graphicData uri="http://schemas.openxmlformats.org/drawingml/2006/table">
            <a:tbl>
              <a:tblPr firstRow="1" bandRow="1">
                <a:tableStyleId>{B301B821-A1FF-4177-AEE7-76D212191A09}</a:tableStyleId>
              </a:tblPr>
              <a:tblGrid>
                <a:gridCol w="1632198">
                  <a:extLst>
                    <a:ext uri="{9D8B030D-6E8A-4147-A177-3AD203B41FA5}">
                      <a16:colId xmlns:a16="http://schemas.microsoft.com/office/drawing/2014/main" val="2340178451"/>
                    </a:ext>
                  </a:extLst>
                </a:gridCol>
                <a:gridCol w="4713482">
                  <a:extLst>
                    <a:ext uri="{9D8B030D-6E8A-4147-A177-3AD203B41FA5}">
                      <a16:colId xmlns:a16="http://schemas.microsoft.com/office/drawing/2014/main" val="1496274989"/>
                    </a:ext>
                  </a:extLst>
                </a:gridCol>
              </a:tblGrid>
              <a:tr h="191525">
                <a:tc>
                  <a:txBody>
                    <a:bodyPr/>
                    <a:lstStyle/>
                    <a:p>
                      <a:pPr marL="91440" algn="l" fontAlgn="t"/>
                      <a:r>
                        <a:rPr lang="en-US" sz="1600" u="none" strike="noStrike" dirty="0">
                          <a:solidFill>
                            <a:schemeClr val="bg1"/>
                          </a:solidFill>
                          <a:effectLst/>
                        </a:rPr>
                        <a:t>Customer</a:t>
                      </a:r>
                      <a:endParaRPr lang="en-US" sz="1600" b="1" i="0" u="none" strike="noStrike" dirty="0">
                        <a:solidFill>
                          <a:schemeClr val="bg1"/>
                        </a:solidFill>
                        <a:effectLst/>
                        <a:latin typeface="Intel Clear" panose="020B0604020203020204" pitchFamily="34" charset="0"/>
                      </a:endParaRPr>
                    </a:p>
                  </a:txBody>
                  <a:tcPr marL="7620" marR="7620" marT="7620" marB="0" anchor="ctr">
                    <a:lnL w="12700" cap="flat" cmpd="sng" algn="ctr">
                      <a:solidFill>
                        <a:srgbClr val="0068B5"/>
                      </a:solidFill>
                      <a:prstDash val="solid"/>
                      <a:round/>
                      <a:headEnd type="none" w="med" len="med"/>
                      <a:tailEnd type="none" w="med" len="med"/>
                    </a:lnL>
                    <a:lnT w="12700" cap="flat" cmpd="sng" algn="ctr">
                      <a:solidFill>
                        <a:srgbClr val="0068B5"/>
                      </a:solidFill>
                      <a:prstDash val="solid"/>
                      <a:round/>
                      <a:headEnd type="none" w="med" len="med"/>
                      <a:tailEnd type="none" w="med" len="med"/>
                    </a:lnT>
                    <a:lnB w="12700" cmpd="sng">
                      <a:noFill/>
                    </a:lnB>
                  </a:tcPr>
                </a:tc>
                <a:tc>
                  <a:txBody>
                    <a:bodyPr/>
                    <a:lstStyle/>
                    <a:p>
                      <a:pPr marL="91440" algn="l" fontAlgn="t"/>
                      <a:r>
                        <a:rPr lang="en-US" sz="1600" u="none" strike="noStrike" dirty="0">
                          <a:solidFill>
                            <a:schemeClr val="bg1"/>
                          </a:solidFill>
                          <a:effectLst/>
                        </a:rPr>
                        <a:t>Account CQE</a:t>
                      </a:r>
                      <a:endParaRPr lang="en-US" sz="1600" b="1" i="0" u="none" strike="noStrike" dirty="0">
                        <a:solidFill>
                          <a:schemeClr val="bg1"/>
                        </a:solidFill>
                        <a:effectLst/>
                        <a:latin typeface="Intel Clear" panose="020B0604020203020204" pitchFamily="34" charset="0"/>
                      </a:endParaRPr>
                    </a:p>
                  </a:txBody>
                  <a:tcPr marL="7620" marR="7620" marT="7620" marB="0" anchor="ctr">
                    <a:lnR w="12700" cap="flat" cmpd="sng" algn="ctr">
                      <a:solidFill>
                        <a:srgbClr val="0068B5"/>
                      </a:solidFill>
                      <a:prstDash val="solid"/>
                      <a:round/>
                      <a:headEnd type="none" w="med" len="med"/>
                      <a:tailEnd type="none" w="med" len="med"/>
                    </a:lnR>
                    <a:lnT w="12700" cap="flat" cmpd="sng" algn="ctr">
                      <a:solidFill>
                        <a:srgbClr val="0068B5"/>
                      </a:solidFill>
                      <a:prstDash val="solid"/>
                      <a:round/>
                      <a:headEnd type="none" w="med" len="med"/>
                      <a:tailEnd type="none" w="med" len="med"/>
                    </a:lnT>
                    <a:lnB w="12700" cmpd="sng">
                      <a:noFill/>
                    </a:lnB>
                  </a:tcPr>
                </a:tc>
                <a:extLst>
                  <a:ext uri="{0D108BD9-81ED-4DB2-BD59-A6C34878D82A}">
                    <a16:rowId xmlns:a16="http://schemas.microsoft.com/office/drawing/2014/main" val="373925082"/>
                  </a:ext>
                </a:extLst>
              </a:tr>
              <a:tr h="191525">
                <a:tc>
                  <a:txBody>
                    <a:bodyPr/>
                    <a:lstStyle/>
                    <a:p>
                      <a:pPr marL="91440" algn="l" fontAlgn="t"/>
                      <a:r>
                        <a:rPr lang="en-US" sz="1600" u="none" strike="noStrike" dirty="0">
                          <a:solidFill>
                            <a:schemeClr val="bg2"/>
                          </a:solidFill>
                          <a:effectLst/>
                        </a:rPr>
                        <a:t>Acer</a:t>
                      </a:r>
                      <a:endParaRPr lang="en-US" sz="1600" b="0" i="0" u="none" strike="noStrike" dirty="0">
                        <a:solidFill>
                          <a:schemeClr val="bg2"/>
                        </a:solidFill>
                        <a:effectLst/>
                        <a:latin typeface="Intel Clear" panose="020B0604020203020204" pitchFamily="34" charset="0"/>
                      </a:endParaRPr>
                    </a:p>
                  </a:txBody>
                  <a:tcPr marL="7620" marR="7620" marT="7620" marB="0" anchor="ctr">
                    <a:lnL w="12700" cap="flat" cmpd="sng" algn="ctr">
                      <a:solidFill>
                        <a:srgbClr val="0068B5"/>
                      </a:solid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noFill/>
                  </a:tcPr>
                </a:tc>
                <a:tc>
                  <a:txBody>
                    <a:bodyPr/>
                    <a:lstStyle/>
                    <a:p>
                      <a:pPr marL="91440" algn="l" fontAlgn="t"/>
                      <a:r>
                        <a:rPr lang="en-US" sz="1600" u="none" strike="noStrike" dirty="0">
                          <a:solidFill>
                            <a:schemeClr val="bg2"/>
                          </a:solidFill>
                          <a:effectLst/>
                        </a:rPr>
                        <a:t>Jeremy Chang </a:t>
                      </a:r>
                      <a:endParaRPr lang="en-US" sz="1600" b="0" i="0" u="none" strike="noStrike" dirty="0">
                        <a:solidFill>
                          <a:schemeClr val="bg2"/>
                        </a:solidFill>
                        <a:effectLst/>
                        <a:latin typeface="Intel Clear" panose="020B0604020203020204" pitchFamily="34" charset="0"/>
                      </a:endParaRPr>
                    </a:p>
                  </a:txBody>
                  <a:tcPr marL="7620" marR="7620" marT="7620" marB="0" anchor="ctr">
                    <a:lnL>
                      <a:noFill/>
                    </a:lnL>
                    <a:lnR w="12700" cap="flat" cmpd="sng" algn="ctr">
                      <a:solidFill>
                        <a:srgbClr val="0068B5"/>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65722738"/>
                  </a:ext>
                </a:extLst>
              </a:tr>
              <a:tr h="191525">
                <a:tc>
                  <a:txBody>
                    <a:bodyPr/>
                    <a:lstStyle/>
                    <a:p>
                      <a:pPr marL="91440" algn="l" fontAlgn="t"/>
                      <a:r>
                        <a:rPr lang="en-US" sz="1600" u="none" strike="noStrike" dirty="0">
                          <a:solidFill>
                            <a:schemeClr val="bg2"/>
                          </a:solidFill>
                          <a:effectLst/>
                        </a:rPr>
                        <a:t>AS Rock</a:t>
                      </a:r>
                      <a:endParaRPr lang="en-US" sz="1600" b="0" i="0" u="none" strike="noStrike" dirty="0">
                        <a:solidFill>
                          <a:schemeClr val="bg2"/>
                        </a:solidFill>
                        <a:effectLst/>
                        <a:latin typeface="Intel Clear" panose="020B0604020203020204" pitchFamily="34" charset="0"/>
                      </a:endParaRPr>
                    </a:p>
                  </a:txBody>
                  <a:tcPr marL="7620" marR="7620" marT="7620" marB="0" anchor="ctr">
                    <a:lnL w="12700" cap="flat" cmpd="sng" algn="ctr">
                      <a:solidFill>
                        <a:srgbClr val="0068B5"/>
                      </a:solid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noFill/>
                  </a:tcPr>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lang="en-US" sz="1600" b="0" i="0" u="none" strike="noStrike" dirty="0">
                          <a:solidFill>
                            <a:schemeClr val="bg2"/>
                          </a:solidFill>
                          <a:effectLst/>
                          <a:latin typeface="Intel Clear" panose="020B0604020203020204" pitchFamily="34" charset="0"/>
                        </a:rPr>
                        <a:t>Sean Bao</a:t>
                      </a:r>
                    </a:p>
                  </a:txBody>
                  <a:tcPr marL="7620" marR="7620" marT="7620" marB="0" anchor="ctr">
                    <a:lnL>
                      <a:noFill/>
                    </a:lnL>
                    <a:lnR w="12700" cap="flat" cmpd="sng" algn="ctr">
                      <a:solidFill>
                        <a:srgbClr val="0068B5"/>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40043974"/>
                  </a:ext>
                </a:extLst>
              </a:tr>
              <a:tr h="191525">
                <a:tc>
                  <a:txBody>
                    <a:bodyPr/>
                    <a:lstStyle/>
                    <a:p>
                      <a:pPr marL="91440" algn="l" fontAlgn="t"/>
                      <a:r>
                        <a:rPr lang="en-US" sz="1600" u="none" strike="noStrike" dirty="0">
                          <a:solidFill>
                            <a:schemeClr val="bg2"/>
                          </a:solidFill>
                          <a:effectLst/>
                        </a:rPr>
                        <a:t>Asus</a:t>
                      </a:r>
                      <a:endParaRPr lang="en-US" sz="1600" b="0" i="0" u="none" strike="noStrike" dirty="0">
                        <a:solidFill>
                          <a:schemeClr val="bg2"/>
                        </a:solidFill>
                        <a:effectLst/>
                        <a:latin typeface="Intel Clear" panose="020B0604020203020204" pitchFamily="34" charset="0"/>
                      </a:endParaRPr>
                    </a:p>
                  </a:txBody>
                  <a:tcPr marL="7620" marR="7620" marT="7620" marB="0" anchor="ctr">
                    <a:lnL w="12700" cap="flat" cmpd="sng" algn="ctr">
                      <a:solidFill>
                        <a:srgbClr val="0068B5"/>
                      </a:solid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noFill/>
                  </a:tcPr>
                </a:tc>
                <a:tc>
                  <a:txBody>
                    <a:bodyPr/>
                    <a:lstStyle/>
                    <a:p>
                      <a:pPr marL="91440" algn="l" fontAlgn="t"/>
                      <a:r>
                        <a:rPr lang="en-US" sz="1600" u="none" strike="noStrike" dirty="0">
                          <a:solidFill>
                            <a:schemeClr val="bg2"/>
                          </a:solidFill>
                          <a:effectLst/>
                        </a:rPr>
                        <a:t>David Wang</a:t>
                      </a:r>
                      <a:endParaRPr lang="en-US" sz="1600" b="0" i="0" u="none" strike="noStrike" dirty="0">
                        <a:solidFill>
                          <a:schemeClr val="bg2"/>
                        </a:solidFill>
                        <a:effectLst/>
                        <a:latin typeface="Intel Clear" panose="020B0604020203020204" pitchFamily="34" charset="0"/>
                      </a:endParaRPr>
                    </a:p>
                  </a:txBody>
                  <a:tcPr marL="7620" marR="7620" marT="7620" marB="0" anchor="ctr">
                    <a:lnL>
                      <a:noFill/>
                    </a:lnL>
                    <a:lnR w="12700" cap="flat" cmpd="sng" algn="ctr">
                      <a:solidFill>
                        <a:srgbClr val="0068B5"/>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28994551"/>
                  </a:ext>
                </a:extLst>
              </a:tr>
              <a:tr h="191525">
                <a:tc>
                  <a:txBody>
                    <a:bodyPr/>
                    <a:lstStyle/>
                    <a:p>
                      <a:pPr marL="91440" algn="l" fontAlgn="t"/>
                      <a:r>
                        <a:rPr lang="en-US" sz="1600" u="none" strike="noStrike" dirty="0">
                          <a:solidFill>
                            <a:schemeClr val="bg2"/>
                          </a:solidFill>
                          <a:effectLst/>
                        </a:rPr>
                        <a:t>Dell Inc</a:t>
                      </a:r>
                      <a:endParaRPr lang="en-US" sz="1600" b="0" i="0" u="none" strike="noStrike" dirty="0">
                        <a:solidFill>
                          <a:schemeClr val="bg2"/>
                        </a:solidFill>
                        <a:effectLst/>
                        <a:latin typeface="Intel Clear" panose="020B0604020203020204" pitchFamily="34" charset="0"/>
                      </a:endParaRPr>
                    </a:p>
                  </a:txBody>
                  <a:tcPr marL="7620" marR="7620" marT="7620" marB="0" anchor="ctr">
                    <a:lnL w="12700" cap="flat" cmpd="sng" algn="ctr">
                      <a:solidFill>
                        <a:srgbClr val="0068B5"/>
                      </a:solid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noFill/>
                  </a:tcPr>
                </a:tc>
                <a:tc>
                  <a:txBody>
                    <a:bodyPr/>
                    <a:lstStyle/>
                    <a:p>
                      <a:pPr marL="91440" algn="l" fontAlgn="t"/>
                      <a:r>
                        <a:rPr lang="en-US" sz="1600" u="none" strike="noStrike" dirty="0">
                          <a:solidFill>
                            <a:schemeClr val="bg2"/>
                          </a:solidFill>
                          <a:effectLst/>
                        </a:rPr>
                        <a:t>Allan Leal,</a:t>
                      </a:r>
                      <a:r>
                        <a:rPr lang="pt-BR" sz="1600" u="none" strike="noStrike" dirty="0">
                          <a:solidFill>
                            <a:schemeClr val="bg2"/>
                          </a:solidFill>
                          <a:effectLst/>
                        </a:rPr>
                        <a:t> Samer Alaiyoubi, Arturo Rios</a:t>
                      </a:r>
                      <a:endParaRPr lang="en-US" sz="1600" b="0" i="0" u="none" strike="noStrike" dirty="0">
                        <a:solidFill>
                          <a:schemeClr val="bg2"/>
                        </a:solidFill>
                        <a:effectLst/>
                        <a:latin typeface="Intel Clear" panose="020B0604020203020204" pitchFamily="34" charset="0"/>
                      </a:endParaRPr>
                    </a:p>
                  </a:txBody>
                  <a:tcPr marL="7620" marR="7620" marT="7620" marB="0" anchor="ctr">
                    <a:lnL>
                      <a:noFill/>
                    </a:lnL>
                    <a:lnR w="12700" cap="flat" cmpd="sng" algn="ctr">
                      <a:solidFill>
                        <a:srgbClr val="0068B5"/>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54016197"/>
                  </a:ext>
                </a:extLst>
              </a:tr>
              <a:tr h="191525">
                <a:tc>
                  <a:txBody>
                    <a:bodyPr/>
                    <a:lstStyle/>
                    <a:p>
                      <a:pPr marL="91440" algn="l" fontAlgn="t"/>
                      <a:r>
                        <a:rPr lang="en-US" sz="1600" u="none" strike="noStrike" dirty="0">
                          <a:solidFill>
                            <a:schemeClr val="bg2"/>
                          </a:solidFill>
                          <a:effectLst/>
                        </a:rPr>
                        <a:t>ECS</a:t>
                      </a:r>
                      <a:endParaRPr lang="en-US" sz="1600" b="0" i="0" u="none" strike="noStrike" dirty="0">
                        <a:solidFill>
                          <a:schemeClr val="bg2"/>
                        </a:solidFill>
                        <a:effectLst/>
                        <a:latin typeface="Intel Clear" panose="020B0604020203020204" pitchFamily="34" charset="0"/>
                      </a:endParaRPr>
                    </a:p>
                  </a:txBody>
                  <a:tcPr marL="7620" marR="7620" marT="7620" marB="0" anchor="ctr">
                    <a:lnL w="12700" cap="flat" cmpd="sng" algn="ctr">
                      <a:solidFill>
                        <a:srgbClr val="0068B5"/>
                      </a:solid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noFill/>
                  </a:tcPr>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lang="en-US" sz="1600" b="0" i="0" u="none" strike="noStrike" dirty="0">
                          <a:solidFill>
                            <a:schemeClr val="bg2"/>
                          </a:solidFill>
                          <a:effectLst/>
                          <a:latin typeface="Intel Clear" panose="020B0604020203020204" pitchFamily="34" charset="0"/>
                        </a:rPr>
                        <a:t>Sean Bao</a:t>
                      </a:r>
                    </a:p>
                  </a:txBody>
                  <a:tcPr marL="7620" marR="7620" marT="7620" marB="0" anchor="ctr">
                    <a:lnL>
                      <a:noFill/>
                    </a:lnL>
                    <a:lnR w="12700" cap="flat" cmpd="sng" algn="ctr">
                      <a:solidFill>
                        <a:srgbClr val="0068B5"/>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61102414"/>
                  </a:ext>
                </a:extLst>
              </a:tr>
              <a:tr h="191525">
                <a:tc>
                  <a:txBody>
                    <a:bodyPr/>
                    <a:lstStyle/>
                    <a:p>
                      <a:pPr marL="91440" algn="l" fontAlgn="t"/>
                      <a:r>
                        <a:rPr lang="en-US" sz="1600" u="none" strike="noStrike" dirty="0">
                          <a:solidFill>
                            <a:schemeClr val="bg2"/>
                          </a:solidFill>
                          <a:effectLst/>
                        </a:rPr>
                        <a:t>Foxconn WH</a:t>
                      </a:r>
                      <a:endParaRPr lang="en-US" sz="1600" b="0" i="0" u="none" strike="noStrike" dirty="0">
                        <a:solidFill>
                          <a:schemeClr val="bg2"/>
                        </a:solidFill>
                        <a:effectLst/>
                        <a:latin typeface="Intel Clear" panose="020B0604020203020204" pitchFamily="34" charset="0"/>
                      </a:endParaRPr>
                    </a:p>
                  </a:txBody>
                  <a:tcPr marL="7620" marR="7620" marT="7620" marB="0" anchor="ctr">
                    <a:lnL w="12700" cap="flat" cmpd="sng" algn="ctr">
                      <a:solidFill>
                        <a:srgbClr val="0068B5"/>
                      </a:solid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noFill/>
                  </a:tcPr>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lang="en-US" sz="1600" b="0" i="0" u="none" strike="noStrike" dirty="0">
                          <a:solidFill>
                            <a:schemeClr val="bg2"/>
                          </a:solidFill>
                          <a:effectLst/>
                          <a:latin typeface="Intel Clear" panose="020B0604020203020204" pitchFamily="34" charset="0"/>
                        </a:rPr>
                        <a:t>Sean Bao</a:t>
                      </a:r>
                    </a:p>
                  </a:txBody>
                  <a:tcPr marL="7620" marR="7620" marT="7620" marB="0" anchor="ctr">
                    <a:lnL>
                      <a:noFill/>
                    </a:lnL>
                    <a:lnR w="12700" cap="flat" cmpd="sng" algn="ctr">
                      <a:solidFill>
                        <a:srgbClr val="0068B5"/>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26814738"/>
                  </a:ext>
                </a:extLst>
              </a:tr>
              <a:tr h="191525">
                <a:tc>
                  <a:txBody>
                    <a:bodyPr/>
                    <a:lstStyle/>
                    <a:p>
                      <a:pPr marL="91440" algn="l" fontAlgn="t"/>
                      <a:r>
                        <a:rPr lang="en-US" sz="1600" b="0" i="0" u="none" strike="noStrike" dirty="0">
                          <a:solidFill>
                            <a:schemeClr val="bg2"/>
                          </a:solidFill>
                          <a:effectLst/>
                          <a:latin typeface="Intel Clear" panose="020B0604020203020204" pitchFamily="34" charset="0"/>
                        </a:rPr>
                        <a:t>HP Inc</a:t>
                      </a:r>
                    </a:p>
                  </a:txBody>
                  <a:tcPr marL="7620" marR="7620" marT="7620" marB="0" anchor="ctr">
                    <a:lnL w="12700" cap="flat" cmpd="sng" algn="ctr">
                      <a:solidFill>
                        <a:srgbClr val="0068B5"/>
                      </a:solid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noFill/>
                  </a:tcPr>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lang="en-US" sz="1600" b="0" i="0" u="none" strike="noStrike" dirty="0">
                          <a:solidFill>
                            <a:schemeClr val="bg2"/>
                          </a:solidFill>
                          <a:effectLst/>
                          <a:latin typeface="Intel Clear" panose="020B0604020203020204" pitchFamily="34" charset="0"/>
                        </a:rPr>
                        <a:t>John </a:t>
                      </a:r>
                      <a:r>
                        <a:rPr lang="en-US" sz="1600" b="0" i="0" u="none" strike="noStrike" dirty="0" err="1">
                          <a:solidFill>
                            <a:schemeClr val="bg2"/>
                          </a:solidFill>
                          <a:effectLst/>
                          <a:latin typeface="Intel Clear" panose="020B0604020203020204" pitchFamily="34" charset="0"/>
                        </a:rPr>
                        <a:t>Burtchaell</a:t>
                      </a:r>
                      <a:endParaRPr lang="en-US" sz="1600" b="0" i="0" u="none" strike="noStrike" dirty="0">
                        <a:solidFill>
                          <a:schemeClr val="bg2"/>
                        </a:solidFill>
                        <a:effectLst/>
                        <a:latin typeface="Intel Clear" panose="020B0604020203020204" pitchFamily="34" charset="0"/>
                      </a:endParaRPr>
                    </a:p>
                  </a:txBody>
                  <a:tcPr marL="7620" marR="7620" marT="7620" marB="0" anchor="ctr">
                    <a:lnL>
                      <a:noFill/>
                    </a:lnL>
                    <a:lnR w="12700" cap="flat" cmpd="sng" algn="ctr">
                      <a:solidFill>
                        <a:srgbClr val="0068B5"/>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39984680"/>
                  </a:ext>
                </a:extLst>
              </a:tr>
              <a:tr h="191525">
                <a:tc>
                  <a:txBody>
                    <a:bodyPr/>
                    <a:lstStyle/>
                    <a:p>
                      <a:pPr marL="91440" algn="l" fontAlgn="t"/>
                      <a:r>
                        <a:rPr lang="en-US" sz="1600" u="none" strike="noStrike" dirty="0">
                          <a:solidFill>
                            <a:schemeClr val="bg2"/>
                          </a:solidFill>
                          <a:effectLst/>
                        </a:rPr>
                        <a:t>LCFC</a:t>
                      </a:r>
                      <a:endParaRPr lang="en-US" sz="1600" b="0" i="0" u="none" strike="noStrike" dirty="0">
                        <a:solidFill>
                          <a:schemeClr val="bg2"/>
                        </a:solidFill>
                        <a:effectLst/>
                        <a:latin typeface="Intel Clear" panose="020B0604020203020204" pitchFamily="34" charset="0"/>
                      </a:endParaRPr>
                    </a:p>
                  </a:txBody>
                  <a:tcPr marL="7620" marR="7620" marT="7620" marB="0" anchor="ctr">
                    <a:lnL w="12700" cap="flat" cmpd="sng" algn="ctr">
                      <a:solidFill>
                        <a:srgbClr val="0068B5"/>
                      </a:solid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noFill/>
                  </a:tcPr>
                </a:tc>
                <a:tc>
                  <a:txBody>
                    <a:bodyPr/>
                    <a:lstStyle/>
                    <a:p>
                      <a:pPr marL="91440" algn="l" fontAlgn="t"/>
                      <a:r>
                        <a:rPr lang="en-US" sz="1600" b="0" i="0" u="none" strike="noStrike" dirty="0">
                          <a:solidFill>
                            <a:schemeClr val="bg2"/>
                          </a:solidFill>
                          <a:effectLst/>
                          <a:latin typeface="Intel Clear" panose="020B0604020203020204" pitchFamily="34" charset="0"/>
                        </a:rPr>
                        <a:t>Shirley Zhang</a:t>
                      </a:r>
                    </a:p>
                  </a:txBody>
                  <a:tcPr marL="7620" marR="7620" marT="7620" marB="0" anchor="ctr">
                    <a:lnL>
                      <a:noFill/>
                    </a:lnL>
                    <a:lnR w="12700" cap="flat" cmpd="sng" algn="ctr">
                      <a:solidFill>
                        <a:srgbClr val="0068B5"/>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88671004"/>
                  </a:ext>
                </a:extLst>
              </a:tr>
              <a:tr h="191525">
                <a:tc>
                  <a:txBody>
                    <a:bodyPr/>
                    <a:lstStyle/>
                    <a:p>
                      <a:pPr marL="91440" algn="l" fontAlgn="t"/>
                      <a:r>
                        <a:rPr lang="en-US" sz="1600" u="none" strike="noStrike" dirty="0">
                          <a:solidFill>
                            <a:schemeClr val="bg2"/>
                          </a:solidFill>
                          <a:effectLst/>
                        </a:rPr>
                        <a:t>Lenovo</a:t>
                      </a:r>
                      <a:endParaRPr lang="en-US" sz="1600" b="0" i="0" u="none" strike="noStrike" dirty="0">
                        <a:solidFill>
                          <a:schemeClr val="bg2"/>
                        </a:solidFill>
                        <a:effectLst/>
                        <a:latin typeface="Intel Clear" panose="020B0604020203020204" pitchFamily="34" charset="0"/>
                      </a:endParaRPr>
                    </a:p>
                  </a:txBody>
                  <a:tcPr marL="7620" marR="7620" marT="7620" marB="0" anchor="ctr">
                    <a:lnL w="12700" cap="flat" cmpd="sng" algn="ctr">
                      <a:solidFill>
                        <a:srgbClr val="0068B5"/>
                      </a:solid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noFill/>
                  </a:tcPr>
                </a:tc>
                <a:tc>
                  <a:txBody>
                    <a:bodyPr/>
                    <a:lstStyle/>
                    <a:p>
                      <a:pPr marL="91440" algn="l" fontAlgn="t"/>
                      <a:r>
                        <a:rPr lang="en-US" sz="1600" u="none" strike="noStrike" dirty="0">
                          <a:solidFill>
                            <a:schemeClr val="bg2"/>
                          </a:solidFill>
                          <a:effectLst/>
                        </a:rPr>
                        <a:t>Jiang Art,  Albert Tsai</a:t>
                      </a:r>
                      <a:endParaRPr lang="en-US" sz="1600" b="0" i="0" u="none" strike="noStrike" dirty="0">
                        <a:solidFill>
                          <a:srgbClr val="FC6467"/>
                        </a:solidFill>
                        <a:effectLst/>
                        <a:latin typeface="Intel Clear" panose="020B0604020203020204" pitchFamily="34" charset="0"/>
                      </a:endParaRPr>
                    </a:p>
                  </a:txBody>
                  <a:tcPr marL="7620" marR="7620" marT="7620" marB="0" anchor="ctr">
                    <a:lnL>
                      <a:noFill/>
                    </a:lnL>
                    <a:lnR w="12700" cap="flat" cmpd="sng" algn="ctr">
                      <a:solidFill>
                        <a:srgbClr val="0068B5"/>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83805280"/>
                  </a:ext>
                </a:extLst>
              </a:tr>
              <a:tr h="191525">
                <a:tc>
                  <a:txBody>
                    <a:bodyPr/>
                    <a:lstStyle/>
                    <a:p>
                      <a:pPr marL="91440" algn="l" fontAlgn="t"/>
                      <a:r>
                        <a:rPr lang="en-US" sz="1600" u="none" strike="noStrike" dirty="0">
                          <a:solidFill>
                            <a:schemeClr val="bg2"/>
                          </a:solidFill>
                          <a:effectLst/>
                        </a:rPr>
                        <a:t>Liteon</a:t>
                      </a:r>
                      <a:endParaRPr lang="en-US" sz="1600" b="0" i="0" u="none" strike="noStrike" dirty="0">
                        <a:solidFill>
                          <a:schemeClr val="bg2"/>
                        </a:solidFill>
                        <a:effectLst/>
                        <a:latin typeface="Intel Clear" panose="020B0604020203020204" pitchFamily="34" charset="0"/>
                      </a:endParaRPr>
                    </a:p>
                  </a:txBody>
                  <a:tcPr marL="7620" marR="7620" marT="7620" marB="0" anchor="ctr">
                    <a:lnL w="12700" cap="flat" cmpd="sng" algn="ctr">
                      <a:solidFill>
                        <a:srgbClr val="0068B5"/>
                      </a:solid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noFill/>
                  </a:tcPr>
                </a:tc>
                <a:tc>
                  <a:txBody>
                    <a:bodyPr/>
                    <a:lstStyle/>
                    <a:p>
                      <a:pPr marL="91440" algn="l" fontAlgn="t"/>
                      <a:r>
                        <a:rPr lang="en-US" sz="1600" b="0" i="0" u="none" strike="noStrike" dirty="0">
                          <a:solidFill>
                            <a:schemeClr val="bg2"/>
                          </a:solidFill>
                          <a:effectLst/>
                          <a:latin typeface="Intel Clear" panose="020B0604020203020204" pitchFamily="34" charset="0"/>
                        </a:rPr>
                        <a:t>Sean Bao</a:t>
                      </a:r>
                    </a:p>
                  </a:txBody>
                  <a:tcPr marL="7620" marR="7620" marT="7620" marB="0" anchor="ctr">
                    <a:lnL>
                      <a:noFill/>
                    </a:lnL>
                    <a:lnR w="12700" cap="flat" cmpd="sng" algn="ctr">
                      <a:solidFill>
                        <a:srgbClr val="0068B5"/>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7339434"/>
                  </a:ext>
                </a:extLst>
              </a:tr>
              <a:tr h="86698">
                <a:tc>
                  <a:txBody>
                    <a:bodyPr/>
                    <a:lstStyle/>
                    <a:p>
                      <a:pPr marL="91440" algn="l" fontAlgn="t"/>
                      <a:r>
                        <a:rPr lang="en-US" sz="1600" u="none" strike="noStrike" dirty="0">
                          <a:solidFill>
                            <a:schemeClr val="bg2"/>
                          </a:solidFill>
                          <a:effectLst/>
                        </a:rPr>
                        <a:t>MSI</a:t>
                      </a:r>
                      <a:endParaRPr lang="en-US" sz="1600" b="0" i="0" u="none" strike="noStrike" dirty="0">
                        <a:solidFill>
                          <a:schemeClr val="bg2"/>
                        </a:solidFill>
                        <a:effectLst/>
                        <a:latin typeface="Intel Clear" panose="020B0604020203020204" pitchFamily="34" charset="0"/>
                      </a:endParaRPr>
                    </a:p>
                  </a:txBody>
                  <a:tcPr marL="7620" marR="7620" marT="7620" marB="0" anchor="ctr">
                    <a:lnL w="12700" cap="flat" cmpd="sng" algn="ctr">
                      <a:solidFill>
                        <a:srgbClr val="0068B5"/>
                      </a:solidFill>
                      <a:prstDash val="solid"/>
                      <a:round/>
                      <a:headEnd type="none" w="med" len="med"/>
                      <a:tailEnd type="none" w="med" len="med"/>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1440" algn="l" fontAlgn="t"/>
                      <a:r>
                        <a:rPr lang="en-US" sz="1600" u="none" strike="noStrike" dirty="0">
                          <a:solidFill>
                            <a:schemeClr val="bg2"/>
                          </a:solidFill>
                          <a:effectLst/>
                        </a:rPr>
                        <a:t>David Wang, William Pan</a:t>
                      </a:r>
                      <a:endParaRPr lang="en-US" sz="1600" b="0" i="0" u="none" strike="noStrike" dirty="0">
                        <a:solidFill>
                          <a:schemeClr val="bg2"/>
                        </a:solidFill>
                        <a:effectLst/>
                        <a:latin typeface="Intel Clear" panose="020B0604020203020204" pitchFamily="34" charset="0"/>
                      </a:endParaRPr>
                    </a:p>
                  </a:txBody>
                  <a:tcPr marL="7620" marR="7620" marT="7620" marB="0" anchor="ctr">
                    <a:lnL>
                      <a:noFill/>
                    </a:lnL>
                    <a:lnR w="12700" cap="flat" cmpd="sng" algn="ctr">
                      <a:solidFill>
                        <a:srgbClr val="0068B5"/>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0740636"/>
                  </a:ext>
                </a:extLst>
              </a:tr>
              <a:tr h="86698">
                <a:tc>
                  <a:txBody>
                    <a:bodyPr/>
                    <a:lstStyle/>
                    <a:p>
                      <a:pPr marL="91440" algn="l" fontAlgn="t"/>
                      <a:r>
                        <a:rPr lang="en-US" sz="1600" b="0" i="0" u="none" strike="noStrike" dirty="0">
                          <a:solidFill>
                            <a:schemeClr val="bg2"/>
                          </a:solidFill>
                          <a:effectLst/>
                          <a:latin typeface="Intel Clear" panose="020B0604020203020204" pitchFamily="34" charset="0"/>
                        </a:rPr>
                        <a:t>QCMC</a:t>
                      </a:r>
                    </a:p>
                  </a:txBody>
                  <a:tcPr marL="7620" marR="7620" marT="7620" marB="0" anchor="ctr">
                    <a:lnL w="12700" cap="flat" cmpd="sng" algn="ctr">
                      <a:solidFill>
                        <a:srgbClr val="0068B5"/>
                      </a:solidFill>
                      <a:prstDash val="solid"/>
                      <a:round/>
                      <a:headEnd type="none" w="med" len="med"/>
                      <a:tailEnd type="none" w="med" len="med"/>
                    </a:lnL>
                    <a:lnR>
                      <a:noFill/>
                    </a:lnR>
                    <a:lnT w="12700" cmpd="sng">
                      <a:noFill/>
                    </a:lnT>
                    <a:lnB w="12700" cap="flat" cmpd="sng" algn="ctr">
                      <a:solidFill>
                        <a:srgbClr val="0068B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1440" algn="l" fontAlgn="t"/>
                      <a:r>
                        <a:rPr lang="en-US" sz="1600" b="0" i="0" u="none" strike="noStrike" dirty="0">
                          <a:solidFill>
                            <a:schemeClr val="bg2"/>
                          </a:solidFill>
                          <a:effectLst/>
                          <a:latin typeface="Intel Clear" panose="020B0604020203020204" pitchFamily="34" charset="0"/>
                        </a:rPr>
                        <a:t>Juanita Ren</a:t>
                      </a:r>
                    </a:p>
                  </a:txBody>
                  <a:tcPr marL="7620" marR="7620" marT="7620" marB="0" anchor="ctr">
                    <a:lnL>
                      <a:noFill/>
                    </a:lnL>
                    <a:lnR w="12700" cap="flat" cmpd="sng" algn="ctr">
                      <a:solidFill>
                        <a:srgbClr val="0068B5"/>
                      </a:solidFill>
                      <a:prstDash val="solid"/>
                      <a:round/>
                      <a:headEnd type="none" w="med" len="med"/>
                      <a:tailEnd type="none" w="med" len="med"/>
                    </a:lnR>
                    <a:lnT w="12700" cmpd="sng">
                      <a:noFill/>
                    </a:lnT>
                    <a:lnB w="12700" cap="flat" cmpd="sng" algn="ctr">
                      <a:solidFill>
                        <a:srgbClr val="0068B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7768090"/>
                  </a:ext>
                </a:extLst>
              </a:tr>
            </a:tbl>
          </a:graphicData>
        </a:graphic>
      </p:graphicFrame>
      <p:sp>
        <p:nvSpPr>
          <p:cNvPr id="4" name="Action Button: Go Home 3">
            <a:hlinkClick r:id="rId2" action="ppaction://hlinksldjump" highlightClick="1"/>
            <a:extLst>
              <a:ext uri="{FF2B5EF4-FFF2-40B4-BE49-F238E27FC236}">
                <a16:creationId xmlns:a16="http://schemas.microsoft.com/office/drawing/2014/main" id="{D87F1E3D-A342-4EF9-AE7D-3F281DBC25A0}"/>
              </a:ext>
            </a:extLst>
          </p:cNvPr>
          <p:cNvSpPr/>
          <p:nvPr/>
        </p:nvSpPr>
        <p:spPr>
          <a:xfrm>
            <a:off x="11399520" y="162560"/>
            <a:ext cx="487680" cy="451311"/>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41381204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9F6D9-5552-4368-8819-E885444ADB11}"/>
              </a:ext>
            </a:extLst>
          </p:cNvPr>
          <p:cNvSpPr>
            <a:spLocks noGrp="1"/>
          </p:cNvSpPr>
          <p:nvPr>
            <p:ph type="title"/>
          </p:nvPr>
        </p:nvSpPr>
        <p:spPr/>
        <p:txBody>
          <a:bodyPr/>
          <a:lstStyle/>
          <a:p>
            <a:r>
              <a:rPr lang="en-US" dirty="0"/>
              <a:t>Back Up</a:t>
            </a:r>
            <a:endParaRPr lang="en-MY" dirty="0"/>
          </a:p>
        </p:txBody>
      </p:sp>
      <p:sp>
        <p:nvSpPr>
          <p:cNvPr id="3" name="Text Placeholder 2">
            <a:extLst>
              <a:ext uri="{FF2B5EF4-FFF2-40B4-BE49-F238E27FC236}">
                <a16:creationId xmlns:a16="http://schemas.microsoft.com/office/drawing/2014/main" id="{4EB03393-AC31-4FD0-8D2F-F94B9740DA20}"/>
              </a:ext>
            </a:extLst>
          </p:cNvPr>
          <p:cNvSpPr>
            <a:spLocks noGrp="1"/>
          </p:cNvSpPr>
          <p:nvPr>
            <p:ph type="body" sz="quarter" idx="29"/>
          </p:nvPr>
        </p:nvSpPr>
        <p:spPr/>
        <p:txBody>
          <a:bodyPr/>
          <a:lstStyle/>
          <a:p>
            <a:endParaRPr lang="en-MY"/>
          </a:p>
        </p:txBody>
      </p:sp>
    </p:spTree>
    <p:extLst>
      <p:ext uri="{BB962C8B-B14F-4D97-AF65-F5344CB8AC3E}">
        <p14:creationId xmlns:p14="http://schemas.microsoft.com/office/powerpoint/2010/main" val="4189832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A9707-5156-41F3-9BD6-83853633F13F}"/>
              </a:ext>
            </a:extLst>
          </p:cNvPr>
          <p:cNvSpPr>
            <a:spLocks noGrp="1"/>
          </p:cNvSpPr>
          <p:nvPr>
            <p:ph type="title"/>
          </p:nvPr>
        </p:nvSpPr>
        <p:spPr>
          <a:xfrm>
            <a:off x="607484" y="81595"/>
            <a:ext cx="10972800" cy="616256"/>
          </a:xfrm>
        </p:spPr>
        <p:txBody>
          <a:bodyPr/>
          <a:lstStyle/>
          <a:p>
            <a:r>
              <a:rPr lang="en-US" dirty="0"/>
              <a:t>Printed Circuit Board Design (1)</a:t>
            </a:r>
            <a:endParaRPr lang="en-MY" dirty="0"/>
          </a:p>
        </p:txBody>
      </p:sp>
      <p:graphicFrame>
        <p:nvGraphicFramePr>
          <p:cNvPr id="4" name="Content Placeholder 3">
            <a:extLst>
              <a:ext uri="{FF2B5EF4-FFF2-40B4-BE49-F238E27FC236}">
                <a16:creationId xmlns:a16="http://schemas.microsoft.com/office/drawing/2014/main" id="{F4C4F9EE-9506-4C4C-B40C-F4271BBF6041}"/>
              </a:ext>
            </a:extLst>
          </p:cNvPr>
          <p:cNvGraphicFramePr>
            <a:graphicFrameLocks noGrp="1"/>
          </p:cNvGraphicFramePr>
          <p:nvPr>
            <p:ph sz="quarter" idx="13"/>
            <p:extLst>
              <p:ext uri="{D42A27DB-BD31-4B8C-83A1-F6EECF244321}">
                <p14:modId xmlns:p14="http://schemas.microsoft.com/office/powerpoint/2010/main" val="4107207232"/>
              </p:ext>
            </p:extLst>
          </p:nvPr>
        </p:nvGraphicFramePr>
        <p:xfrm>
          <a:off x="607484" y="632157"/>
          <a:ext cx="10913955" cy="4488180"/>
        </p:xfrm>
        <a:graphic>
          <a:graphicData uri="http://schemas.openxmlformats.org/drawingml/2006/table">
            <a:tbl>
              <a:tblPr firstRow="1" bandRow="1">
                <a:tableStyleId>{69012ECD-51FC-41F1-AA8D-1B2483CD663E}</a:tableStyleId>
              </a:tblPr>
              <a:tblGrid>
                <a:gridCol w="1686983">
                  <a:extLst>
                    <a:ext uri="{9D8B030D-6E8A-4147-A177-3AD203B41FA5}">
                      <a16:colId xmlns:a16="http://schemas.microsoft.com/office/drawing/2014/main" val="1692685995"/>
                    </a:ext>
                  </a:extLst>
                </a:gridCol>
                <a:gridCol w="1292013">
                  <a:extLst>
                    <a:ext uri="{9D8B030D-6E8A-4147-A177-3AD203B41FA5}">
                      <a16:colId xmlns:a16="http://schemas.microsoft.com/office/drawing/2014/main" val="1788829243"/>
                    </a:ext>
                  </a:extLst>
                </a:gridCol>
                <a:gridCol w="2204720">
                  <a:extLst>
                    <a:ext uri="{9D8B030D-6E8A-4147-A177-3AD203B41FA5}">
                      <a16:colId xmlns:a16="http://schemas.microsoft.com/office/drawing/2014/main" val="914312967"/>
                    </a:ext>
                  </a:extLst>
                </a:gridCol>
                <a:gridCol w="2275840">
                  <a:extLst>
                    <a:ext uri="{9D8B030D-6E8A-4147-A177-3AD203B41FA5}">
                      <a16:colId xmlns:a16="http://schemas.microsoft.com/office/drawing/2014/main" val="1362813313"/>
                    </a:ext>
                  </a:extLst>
                </a:gridCol>
                <a:gridCol w="1199898">
                  <a:extLst>
                    <a:ext uri="{9D8B030D-6E8A-4147-A177-3AD203B41FA5}">
                      <a16:colId xmlns:a16="http://schemas.microsoft.com/office/drawing/2014/main" val="3296549446"/>
                    </a:ext>
                  </a:extLst>
                </a:gridCol>
                <a:gridCol w="1045462">
                  <a:extLst>
                    <a:ext uri="{9D8B030D-6E8A-4147-A177-3AD203B41FA5}">
                      <a16:colId xmlns:a16="http://schemas.microsoft.com/office/drawing/2014/main" val="2579843292"/>
                    </a:ext>
                  </a:extLst>
                </a:gridCol>
                <a:gridCol w="1209039">
                  <a:extLst>
                    <a:ext uri="{9D8B030D-6E8A-4147-A177-3AD203B41FA5}">
                      <a16:colId xmlns:a16="http://schemas.microsoft.com/office/drawing/2014/main" val="3841248342"/>
                    </a:ext>
                  </a:extLst>
                </a:gridCol>
              </a:tblGrid>
              <a:tr h="92950">
                <a:tc>
                  <a:txBody>
                    <a:bodyPr/>
                    <a:lstStyle/>
                    <a:p>
                      <a:pPr marL="91440" algn="l" fontAlgn="t"/>
                      <a:r>
                        <a:rPr lang="en-MY" sz="1100" u="none" strike="noStrike" dirty="0">
                          <a:effectLst/>
                          <a:latin typeface="+mn-lt"/>
                        </a:rPr>
                        <a:t>Area of Interest</a:t>
                      </a:r>
                      <a:endParaRPr lang="en-MY" sz="1100" b="1" i="0" u="none" strike="noStrike" dirty="0">
                        <a:solidFill>
                          <a:srgbClr val="000000"/>
                        </a:solidFill>
                        <a:effectLst/>
                        <a:latin typeface="+mn-lt"/>
                      </a:endParaRPr>
                    </a:p>
                  </a:txBody>
                  <a:tcPr marL="0" marR="0" marT="0" marB="0" anchor="ctr"/>
                </a:tc>
                <a:tc>
                  <a:txBody>
                    <a:bodyPr/>
                    <a:lstStyle/>
                    <a:p>
                      <a:pPr marL="91440" algn="l" fontAlgn="t"/>
                      <a:r>
                        <a:rPr lang="en-MY" sz="1100" u="none" strike="noStrike" dirty="0">
                          <a:effectLst/>
                          <a:latin typeface="+mn-lt"/>
                        </a:rPr>
                        <a:t>LENOVO (MSI)</a:t>
                      </a:r>
                      <a:endParaRPr lang="en-MY" sz="1100" b="1" i="0" u="none" strike="noStrike" dirty="0">
                        <a:solidFill>
                          <a:srgbClr val="000000"/>
                        </a:solidFill>
                        <a:effectLst/>
                        <a:latin typeface="+mn-lt"/>
                      </a:endParaRPr>
                    </a:p>
                  </a:txBody>
                  <a:tcPr marL="0" marR="0" marT="0" marB="0" anchor="ctr"/>
                </a:tc>
                <a:tc>
                  <a:txBody>
                    <a:bodyPr/>
                    <a:lstStyle/>
                    <a:p>
                      <a:pPr marL="91440" algn="l" fontAlgn="t"/>
                      <a:r>
                        <a:rPr lang="en-MY" sz="1100" u="none" strike="noStrike" dirty="0">
                          <a:effectLst/>
                          <a:latin typeface="+mn-lt"/>
                        </a:rPr>
                        <a:t>DELL</a:t>
                      </a:r>
                      <a:endParaRPr lang="en-MY" sz="1100" b="1" i="0" u="none" strike="noStrike" dirty="0">
                        <a:solidFill>
                          <a:srgbClr val="000000"/>
                        </a:solidFill>
                        <a:effectLst/>
                        <a:latin typeface="+mn-lt"/>
                      </a:endParaRPr>
                    </a:p>
                  </a:txBody>
                  <a:tcPr marL="0" marR="0" marT="0" marB="0" anchor="ctr"/>
                </a:tc>
                <a:tc>
                  <a:txBody>
                    <a:bodyPr/>
                    <a:lstStyle/>
                    <a:p>
                      <a:pPr marL="91440" algn="l" fontAlgn="t"/>
                      <a:r>
                        <a:rPr lang="en-MY" sz="1100" u="none" strike="noStrike" dirty="0">
                          <a:effectLst/>
                          <a:latin typeface="+mn-lt"/>
                        </a:rPr>
                        <a:t>ACER (WISTRON)</a:t>
                      </a:r>
                      <a:endParaRPr lang="en-MY" sz="1100" b="1" i="0" u="none" strike="noStrike" dirty="0">
                        <a:solidFill>
                          <a:srgbClr val="000000"/>
                        </a:solidFill>
                        <a:effectLst/>
                        <a:latin typeface="+mn-lt"/>
                      </a:endParaRPr>
                    </a:p>
                  </a:txBody>
                  <a:tcPr marL="0" marR="0" marT="0" marB="0" anchor="ctr"/>
                </a:tc>
                <a:tc>
                  <a:txBody>
                    <a:bodyPr/>
                    <a:lstStyle/>
                    <a:p>
                      <a:pPr marL="91440" algn="l" fontAlgn="t"/>
                      <a:r>
                        <a:rPr lang="en-MY" sz="1100" u="none" strike="noStrike" dirty="0">
                          <a:effectLst/>
                          <a:latin typeface="+mn-lt"/>
                        </a:rPr>
                        <a:t>ASUSTEK</a:t>
                      </a:r>
                      <a:endParaRPr lang="en-MY" sz="1100" b="1" i="0" u="none" strike="noStrike" dirty="0">
                        <a:solidFill>
                          <a:srgbClr val="000000"/>
                        </a:solidFill>
                        <a:effectLst/>
                        <a:latin typeface="+mn-lt"/>
                      </a:endParaRPr>
                    </a:p>
                  </a:txBody>
                  <a:tcPr marL="0" marR="0" marT="0" marB="0" anchor="ctr"/>
                </a:tc>
                <a:tc>
                  <a:txBody>
                    <a:bodyPr/>
                    <a:lstStyle/>
                    <a:p>
                      <a:pPr marL="91440" algn="l" fontAlgn="t"/>
                      <a:r>
                        <a:rPr lang="en-MY" sz="1100" u="none" strike="noStrike" dirty="0">
                          <a:effectLst/>
                          <a:latin typeface="+mn-lt"/>
                        </a:rPr>
                        <a:t>MSI</a:t>
                      </a:r>
                      <a:endParaRPr lang="en-MY" sz="1100" b="1" i="0" u="none" strike="noStrike" dirty="0">
                        <a:solidFill>
                          <a:srgbClr val="000000"/>
                        </a:solidFill>
                        <a:effectLst/>
                        <a:latin typeface="+mn-lt"/>
                      </a:endParaRPr>
                    </a:p>
                  </a:txBody>
                  <a:tcPr marL="0" marR="0" marT="0" marB="0" anchor="ctr"/>
                </a:tc>
                <a:tc>
                  <a:txBody>
                    <a:bodyPr/>
                    <a:lstStyle/>
                    <a:p>
                      <a:pPr marL="91440" algn="l" fontAlgn="t"/>
                      <a:r>
                        <a:rPr lang="en-MY" sz="1100" u="none" strike="noStrike" dirty="0">
                          <a:effectLst/>
                          <a:latin typeface="+mn-lt"/>
                        </a:rPr>
                        <a:t>ASROCK</a:t>
                      </a:r>
                      <a:endParaRPr lang="en-MY" sz="1100" b="1" i="0" u="none" strike="noStrike" dirty="0">
                        <a:solidFill>
                          <a:srgbClr val="000000"/>
                        </a:solidFill>
                        <a:effectLst/>
                        <a:latin typeface="+mn-lt"/>
                      </a:endParaRPr>
                    </a:p>
                  </a:txBody>
                  <a:tcPr marL="0" marR="0" marT="0" marB="0" anchor="ctr"/>
                </a:tc>
                <a:extLst>
                  <a:ext uri="{0D108BD9-81ED-4DB2-BD59-A6C34878D82A}">
                    <a16:rowId xmlns:a16="http://schemas.microsoft.com/office/drawing/2014/main" val="3852518198"/>
                  </a:ext>
                </a:extLst>
              </a:tr>
              <a:tr h="124985">
                <a:tc>
                  <a:txBody>
                    <a:bodyPr/>
                    <a:lstStyle/>
                    <a:p>
                      <a:pPr marL="91440" algn="l" fontAlgn="t"/>
                      <a:r>
                        <a:rPr lang="en-US" sz="1050" u="none" strike="noStrike" dirty="0">
                          <a:effectLst/>
                          <a:latin typeface="+mn-lt"/>
                        </a:rPr>
                        <a:t>Do you have PCB design ownership</a:t>
                      </a:r>
                      <a:endParaRPr lang="en-US" sz="1050" b="0" i="0" u="none" strike="noStrike" dirty="0">
                        <a:effectLst/>
                        <a:latin typeface="+mn-lt"/>
                      </a:endParaRPr>
                    </a:p>
                  </a:txBody>
                  <a:tcPr marL="0" marR="0" marT="0" marB="0"/>
                </a:tc>
                <a:tc>
                  <a:txBody>
                    <a:bodyPr/>
                    <a:lstStyle/>
                    <a:p>
                      <a:pPr marL="91440" algn="l" fontAlgn="t"/>
                      <a:r>
                        <a:rPr lang="en-MY" sz="1050" u="none" strike="noStrike">
                          <a:effectLst/>
                          <a:latin typeface="+mn-lt"/>
                        </a:rPr>
                        <a:t>Yes</a:t>
                      </a:r>
                      <a:endParaRPr lang="en-MY" sz="1050" b="0" i="0" u="none" strike="noStrike">
                        <a:solidFill>
                          <a:srgbClr val="000000"/>
                        </a:solidFill>
                        <a:effectLst/>
                        <a:latin typeface="+mn-lt"/>
                      </a:endParaRPr>
                    </a:p>
                  </a:txBody>
                  <a:tcPr marL="0" marR="0" marT="0" marB="0"/>
                </a:tc>
                <a:tc>
                  <a:txBody>
                    <a:bodyPr/>
                    <a:lstStyle/>
                    <a:p>
                      <a:pPr marL="91440" algn="l" fontAlgn="t"/>
                      <a:r>
                        <a:rPr lang="en-MY" sz="1050" u="none" strike="noStrike">
                          <a:effectLst/>
                          <a:latin typeface="+mn-lt"/>
                        </a:rPr>
                        <a:t>Yes</a:t>
                      </a:r>
                      <a:endParaRPr lang="en-MY" sz="1050" b="0" i="0" u="none" strike="noStrike">
                        <a:solidFill>
                          <a:srgbClr val="000000"/>
                        </a:solidFill>
                        <a:effectLst/>
                        <a:latin typeface="+mn-lt"/>
                      </a:endParaRPr>
                    </a:p>
                  </a:txBody>
                  <a:tcPr marL="0" marR="0" marT="0" marB="0"/>
                </a:tc>
                <a:tc>
                  <a:txBody>
                    <a:bodyPr/>
                    <a:lstStyle/>
                    <a:p>
                      <a:pPr marL="91440" algn="l" fontAlgn="t"/>
                      <a:r>
                        <a:rPr lang="en-MY" sz="1050" u="none" strike="noStrike">
                          <a:effectLst/>
                          <a:latin typeface="+mn-lt"/>
                        </a:rPr>
                        <a:t>Yes</a:t>
                      </a:r>
                      <a:endParaRPr lang="en-MY" sz="1050" b="0" i="0" u="none" strike="noStrike">
                        <a:solidFill>
                          <a:srgbClr val="000000"/>
                        </a:solidFill>
                        <a:effectLst/>
                        <a:latin typeface="+mn-lt"/>
                      </a:endParaRPr>
                    </a:p>
                  </a:txBody>
                  <a:tcPr marL="0" marR="0" marT="0" marB="0"/>
                </a:tc>
                <a:tc>
                  <a:txBody>
                    <a:bodyPr/>
                    <a:lstStyle/>
                    <a:p>
                      <a:pPr marL="91440" algn="l" fontAlgn="t"/>
                      <a:r>
                        <a:rPr lang="en-MY" sz="1050" u="none" strike="noStrike" dirty="0">
                          <a:effectLst/>
                          <a:latin typeface="+mn-lt"/>
                        </a:rPr>
                        <a:t>Yes</a:t>
                      </a:r>
                      <a:endParaRPr lang="en-MY" sz="1050" b="0" i="0" u="none" strike="noStrike" dirty="0">
                        <a:solidFill>
                          <a:srgbClr val="000000"/>
                        </a:solidFill>
                        <a:effectLst/>
                        <a:latin typeface="+mn-lt"/>
                      </a:endParaRPr>
                    </a:p>
                  </a:txBody>
                  <a:tcPr marL="0" marR="0" marT="0" marB="0"/>
                </a:tc>
                <a:tc>
                  <a:txBody>
                    <a:bodyPr/>
                    <a:lstStyle/>
                    <a:p>
                      <a:pPr marL="91440" algn="l" fontAlgn="t"/>
                      <a:r>
                        <a:rPr lang="en-MY" sz="1050" u="none" strike="noStrike" dirty="0">
                          <a:effectLst/>
                          <a:latin typeface="+mn-lt"/>
                        </a:rPr>
                        <a:t>Yes</a:t>
                      </a:r>
                      <a:endParaRPr lang="en-MY" sz="1050" b="0" i="0" u="none" strike="noStrike" dirty="0">
                        <a:solidFill>
                          <a:srgbClr val="000000"/>
                        </a:solidFill>
                        <a:effectLst/>
                        <a:latin typeface="+mn-lt"/>
                      </a:endParaRPr>
                    </a:p>
                  </a:txBody>
                  <a:tcPr marL="0" marR="0" marT="0" marB="0"/>
                </a:tc>
                <a:tc>
                  <a:txBody>
                    <a:bodyPr/>
                    <a:lstStyle/>
                    <a:p>
                      <a:pPr marL="91440" algn="l" fontAlgn="t"/>
                      <a:r>
                        <a:rPr lang="en-MY" sz="1050" u="none" strike="noStrike" dirty="0">
                          <a:effectLst/>
                          <a:latin typeface="+mn-lt"/>
                        </a:rPr>
                        <a:t>Yes</a:t>
                      </a:r>
                      <a:endParaRPr lang="en-MY" sz="1050" b="0" i="0" u="none" strike="noStrike" dirty="0">
                        <a:solidFill>
                          <a:srgbClr val="000000"/>
                        </a:solidFill>
                        <a:effectLst/>
                        <a:latin typeface="+mn-lt"/>
                      </a:endParaRPr>
                    </a:p>
                  </a:txBody>
                  <a:tcPr marL="0" marR="0" marT="0" marB="0"/>
                </a:tc>
                <a:extLst>
                  <a:ext uri="{0D108BD9-81ED-4DB2-BD59-A6C34878D82A}">
                    <a16:rowId xmlns:a16="http://schemas.microsoft.com/office/drawing/2014/main" val="4178550123"/>
                  </a:ext>
                </a:extLst>
              </a:tr>
              <a:tr h="124985">
                <a:tc>
                  <a:txBody>
                    <a:bodyPr/>
                    <a:lstStyle/>
                    <a:p>
                      <a:pPr marL="91440" algn="l" fontAlgn="t"/>
                      <a:r>
                        <a:rPr lang="en-US" sz="1050" u="none" strike="noStrike" dirty="0">
                          <a:effectLst/>
                          <a:latin typeface="+mn-lt"/>
                        </a:rPr>
                        <a:t>Do you have Full System Design Ownership</a:t>
                      </a:r>
                      <a:endParaRPr lang="en-US" sz="1050" b="0" i="0" u="none" strike="noStrike" dirty="0">
                        <a:effectLst/>
                        <a:latin typeface="+mn-lt"/>
                      </a:endParaRPr>
                    </a:p>
                  </a:txBody>
                  <a:tcPr marL="0" marR="0" marT="0" marB="0"/>
                </a:tc>
                <a:tc>
                  <a:txBody>
                    <a:bodyPr/>
                    <a:lstStyle/>
                    <a:p>
                      <a:pPr marL="91440" algn="l" fontAlgn="t"/>
                      <a:r>
                        <a:rPr lang="en-MY" sz="1050" u="none" strike="noStrike">
                          <a:effectLst/>
                          <a:latin typeface="+mn-lt"/>
                        </a:rPr>
                        <a:t>Yes</a:t>
                      </a:r>
                      <a:endParaRPr lang="en-MY" sz="1050" b="0" i="0" u="none" strike="noStrike">
                        <a:solidFill>
                          <a:srgbClr val="000000"/>
                        </a:solidFill>
                        <a:effectLst/>
                        <a:latin typeface="+mn-lt"/>
                      </a:endParaRPr>
                    </a:p>
                  </a:txBody>
                  <a:tcPr marL="0" marR="0" marT="0" marB="0"/>
                </a:tc>
                <a:tc>
                  <a:txBody>
                    <a:bodyPr/>
                    <a:lstStyle/>
                    <a:p>
                      <a:pPr marL="91440" algn="l" fontAlgn="t"/>
                      <a:r>
                        <a:rPr lang="en-MY" sz="1050" u="none" strike="noStrike" dirty="0">
                          <a:effectLst/>
                          <a:latin typeface="+mn-lt"/>
                        </a:rPr>
                        <a:t>Yes</a:t>
                      </a:r>
                      <a:endParaRPr lang="en-MY" sz="1050" b="0" i="0" u="none" strike="noStrike" dirty="0">
                        <a:solidFill>
                          <a:srgbClr val="000000"/>
                        </a:solidFill>
                        <a:effectLst/>
                        <a:latin typeface="+mn-lt"/>
                      </a:endParaRPr>
                    </a:p>
                  </a:txBody>
                  <a:tcPr marL="0" marR="0" marT="0" marB="0"/>
                </a:tc>
                <a:tc>
                  <a:txBody>
                    <a:bodyPr/>
                    <a:lstStyle/>
                    <a:p>
                      <a:pPr marL="91440" algn="l" fontAlgn="t"/>
                      <a:r>
                        <a:rPr lang="en-MY" sz="1050" u="none" strike="noStrike">
                          <a:effectLst/>
                          <a:latin typeface="+mn-lt"/>
                        </a:rPr>
                        <a:t>Yes</a:t>
                      </a:r>
                      <a:endParaRPr lang="en-MY" sz="1050" b="0" i="0" u="none" strike="noStrike">
                        <a:solidFill>
                          <a:srgbClr val="000000"/>
                        </a:solidFill>
                        <a:effectLst/>
                        <a:latin typeface="+mn-lt"/>
                      </a:endParaRPr>
                    </a:p>
                  </a:txBody>
                  <a:tcPr marL="0" marR="0" marT="0" marB="0"/>
                </a:tc>
                <a:tc>
                  <a:txBody>
                    <a:bodyPr/>
                    <a:lstStyle/>
                    <a:p>
                      <a:pPr marL="91440" algn="l" fontAlgn="t"/>
                      <a:r>
                        <a:rPr lang="en-MY" sz="1050" u="none" strike="noStrike">
                          <a:effectLst/>
                          <a:latin typeface="+mn-lt"/>
                        </a:rPr>
                        <a:t>Yes</a:t>
                      </a:r>
                      <a:endParaRPr lang="en-MY" sz="1050" b="0" i="0" u="none" strike="noStrike">
                        <a:solidFill>
                          <a:srgbClr val="000000"/>
                        </a:solidFill>
                        <a:effectLst/>
                        <a:latin typeface="+mn-lt"/>
                      </a:endParaRPr>
                    </a:p>
                  </a:txBody>
                  <a:tcPr marL="0" marR="0" marT="0" marB="0"/>
                </a:tc>
                <a:tc>
                  <a:txBody>
                    <a:bodyPr/>
                    <a:lstStyle/>
                    <a:p>
                      <a:pPr marL="91440" algn="l" fontAlgn="t"/>
                      <a:r>
                        <a:rPr lang="en-US" sz="1050" u="none" strike="noStrike">
                          <a:effectLst/>
                          <a:latin typeface="+mn-lt"/>
                        </a:rPr>
                        <a:t>No, only for channel MB</a:t>
                      </a:r>
                      <a:endParaRPr lang="en-US" sz="1050" b="0" i="0" u="none" strike="noStrike">
                        <a:solidFill>
                          <a:srgbClr val="000000"/>
                        </a:solidFill>
                        <a:effectLst/>
                        <a:latin typeface="+mn-lt"/>
                      </a:endParaRPr>
                    </a:p>
                  </a:txBody>
                  <a:tcPr marL="0" marR="0" marT="0" marB="0"/>
                </a:tc>
                <a:tc>
                  <a:txBody>
                    <a:bodyPr/>
                    <a:lstStyle/>
                    <a:p>
                      <a:pPr marL="91440" algn="l" fontAlgn="t"/>
                      <a:r>
                        <a:rPr lang="en-MY" sz="1050" u="none" strike="noStrike">
                          <a:effectLst/>
                          <a:latin typeface="+mn-lt"/>
                        </a:rPr>
                        <a:t>No, Motherboard only</a:t>
                      </a:r>
                      <a:endParaRPr lang="en-MY" sz="1050" b="0" i="0" u="none" strike="noStrike">
                        <a:solidFill>
                          <a:srgbClr val="000000"/>
                        </a:solidFill>
                        <a:effectLst/>
                        <a:latin typeface="+mn-lt"/>
                      </a:endParaRPr>
                    </a:p>
                  </a:txBody>
                  <a:tcPr marL="0" marR="0" marT="0" marB="0"/>
                </a:tc>
                <a:extLst>
                  <a:ext uri="{0D108BD9-81ED-4DB2-BD59-A6C34878D82A}">
                    <a16:rowId xmlns:a16="http://schemas.microsoft.com/office/drawing/2014/main" val="691040990"/>
                  </a:ext>
                </a:extLst>
              </a:tr>
              <a:tr h="124985">
                <a:tc>
                  <a:txBody>
                    <a:bodyPr/>
                    <a:lstStyle/>
                    <a:p>
                      <a:pPr marL="91440" algn="l" fontAlgn="t"/>
                      <a:r>
                        <a:rPr lang="en-US" sz="1050" u="none" strike="noStrike" dirty="0">
                          <a:effectLst/>
                          <a:latin typeface="+mn-lt"/>
                        </a:rPr>
                        <a:t>Do you have Thermal Solution Design ownership</a:t>
                      </a:r>
                      <a:endParaRPr lang="en-US" sz="1050" b="0" i="0" u="none" strike="noStrike" dirty="0">
                        <a:effectLst/>
                        <a:latin typeface="+mn-lt"/>
                      </a:endParaRPr>
                    </a:p>
                  </a:txBody>
                  <a:tcPr marL="0" marR="0" marT="0" marB="0"/>
                </a:tc>
                <a:tc>
                  <a:txBody>
                    <a:bodyPr/>
                    <a:lstStyle/>
                    <a:p>
                      <a:pPr marL="91440" algn="l" fontAlgn="t"/>
                      <a:r>
                        <a:rPr lang="en-MY" sz="1050" u="none" strike="noStrike" dirty="0">
                          <a:effectLst/>
                          <a:latin typeface="+mn-lt"/>
                        </a:rPr>
                        <a:t>Yes</a:t>
                      </a:r>
                      <a:endParaRPr lang="en-MY" sz="1050" b="0" i="0" u="none" strike="noStrike" dirty="0">
                        <a:solidFill>
                          <a:srgbClr val="000000"/>
                        </a:solidFill>
                        <a:effectLst/>
                        <a:latin typeface="+mn-lt"/>
                      </a:endParaRPr>
                    </a:p>
                  </a:txBody>
                  <a:tcPr marL="0" marR="0" marT="0" marB="0"/>
                </a:tc>
                <a:tc>
                  <a:txBody>
                    <a:bodyPr/>
                    <a:lstStyle/>
                    <a:p>
                      <a:pPr marL="91440" algn="l" fontAlgn="t"/>
                      <a:r>
                        <a:rPr lang="en-MY" sz="1050" u="none" strike="noStrike">
                          <a:effectLst/>
                          <a:latin typeface="+mn-lt"/>
                        </a:rPr>
                        <a:t>Yes</a:t>
                      </a:r>
                      <a:endParaRPr lang="en-MY" sz="1050" b="0" i="0" u="none" strike="noStrike">
                        <a:solidFill>
                          <a:srgbClr val="000000"/>
                        </a:solidFill>
                        <a:effectLst/>
                        <a:latin typeface="+mn-lt"/>
                      </a:endParaRPr>
                    </a:p>
                  </a:txBody>
                  <a:tcPr marL="0" marR="0" marT="0" marB="0"/>
                </a:tc>
                <a:tc>
                  <a:txBody>
                    <a:bodyPr/>
                    <a:lstStyle/>
                    <a:p>
                      <a:pPr marL="91440" algn="l" fontAlgn="t"/>
                      <a:r>
                        <a:rPr lang="en-US" sz="1050" u="none" strike="noStrike" dirty="0">
                          <a:effectLst/>
                          <a:latin typeface="+mn-lt"/>
                        </a:rPr>
                        <a:t>Yes, for AIO/</a:t>
                      </a:r>
                      <a:r>
                        <a:rPr lang="en-US" sz="1050" u="none" strike="noStrike" dirty="0" err="1">
                          <a:effectLst/>
                          <a:latin typeface="+mn-lt"/>
                        </a:rPr>
                        <a:t>miniPC</a:t>
                      </a:r>
                      <a:r>
                        <a:rPr lang="en-US" sz="1050" u="none" strike="noStrike" dirty="0">
                          <a:effectLst/>
                          <a:latin typeface="+mn-lt"/>
                        </a:rPr>
                        <a:t>, </a:t>
                      </a:r>
                    </a:p>
                    <a:p>
                      <a:pPr marL="91440" algn="l" fontAlgn="t"/>
                      <a:r>
                        <a:rPr lang="en-US" sz="1050" u="none" strike="noStrike" dirty="0">
                          <a:effectLst/>
                          <a:latin typeface="+mn-lt"/>
                        </a:rPr>
                        <a:t>No, for Tower (Owned by Acer)</a:t>
                      </a:r>
                      <a:endParaRPr lang="en-US" sz="1050" b="0" i="0" u="none" strike="noStrike" dirty="0">
                        <a:solidFill>
                          <a:srgbClr val="000000"/>
                        </a:solidFill>
                        <a:effectLst/>
                        <a:latin typeface="+mn-lt"/>
                      </a:endParaRPr>
                    </a:p>
                  </a:txBody>
                  <a:tcPr marL="0" marR="0" marT="0" marB="0"/>
                </a:tc>
                <a:tc>
                  <a:txBody>
                    <a:bodyPr/>
                    <a:lstStyle/>
                    <a:p>
                      <a:pPr marL="91440" algn="l" fontAlgn="t"/>
                      <a:r>
                        <a:rPr lang="en-MY" sz="1050" u="none" strike="noStrike">
                          <a:effectLst/>
                          <a:latin typeface="+mn-lt"/>
                        </a:rPr>
                        <a:t>Yes</a:t>
                      </a:r>
                      <a:endParaRPr lang="en-MY" sz="1050" b="0" i="0" u="none" strike="noStrike">
                        <a:solidFill>
                          <a:srgbClr val="000000"/>
                        </a:solidFill>
                        <a:effectLst/>
                        <a:latin typeface="+mn-lt"/>
                      </a:endParaRPr>
                    </a:p>
                  </a:txBody>
                  <a:tcPr marL="0" marR="0" marT="0" marB="0"/>
                </a:tc>
                <a:tc>
                  <a:txBody>
                    <a:bodyPr/>
                    <a:lstStyle/>
                    <a:p>
                      <a:pPr marL="91440" algn="l" fontAlgn="t"/>
                      <a:r>
                        <a:rPr lang="en-MY" sz="1050" u="none" strike="noStrike" dirty="0">
                          <a:effectLst/>
                          <a:latin typeface="+mn-lt"/>
                        </a:rPr>
                        <a:t>Yes</a:t>
                      </a:r>
                      <a:endParaRPr lang="en-MY" sz="1050" b="0" i="0" u="none" strike="noStrike" dirty="0">
                        <a:solidFill>
                          <a:srgbClr val="000000"/>
                        </a:solidFill>
                        <a:effectLst/>
                        <a:latin typeface="+mn-lt"/>
                      </a:endParaRPr>
                    </a:p>
                  </a:txBody>
                  <a:tcPr marL="0" marR="0" marT="0" marB="0"/>
                </a:tc>
                <a:tc>
                  <a:txBody>
                    <a:bodyPr/>
                    <a:lstStyle/>
                    <a:p>
                      <a:pPr marL="91440" algn="l" fontAlgn="t"/>
                      <a:r>
                        <a:rPr lang="en-US" sz="1050" u="none" strike="noStrike">
                          <a:effectLst/>
                          <a:latin typeface="+mn-lt"/>
                        </a:rPr>
                        <a:t>Yes, but only for PCH and Vore MOS heatsink</a:t>
                      </a:r>
                      <a:endParaRPr lang="en-US" sz="1050" b="0" i="0" u="none" strike="noStrike">
                        <a:solidFill>
                          <a:srgbClr val="000000"/>
                        </a:solidFill>
                        <a:effectLst/>
                        <a:latin typeface="+mn-lt"/>
                      </a:endParaRPr>
                    </a:p>
                  </a:txBody>
                  <a:tcPr marL="0" marR="0" marT="0" marB="0"/>
                </a:tc>
                <a:extLst>
                  <a:ext uri="{0D108BD9-81ED-4DB2-BD59-A6C34878D82A}">
                    <a16:rowId xmlns:a16="http://schemas.microsoft.com/office/drawing/2014/main" val="3913651276"/>
                  </a:ext>
                </a:extLst>
              </a:tr>
              <a:tr h="187478">
                <a:tc>
                  <a:txBody>
                    <a:bodyPr/>
                    <a:lstStyle/>
                    <a:p>
                      <a:pPr marL="91440" algn="l" fontAlgn="t"/>
                      <a:r>
                        <a:rPr lang="en-US" sz="1050" u="none" strike="noStrike" dirty="0">
                          <a:effectLst/>
                          <a:latin typeface="+mn-lt"/>
                        </a:rPr>
                        <a:t>Please list the PCB suppliers used by %</a:t>
                      </a:r>
                      <a:endParaRPr lang="en-US" sz="1050" b="0" i="0" u="none" strike="noStrike" dirty="0">
                        <a:effectLst/>
                        <a:latin typeface="+mn-lt"/>
                      </a:endParaRPr>
                    </a:p>
                  </a:txBody>
                  <a:tcPr marL="0" marR="0" marT="0" marB="0"/>
                </a:tc>
                <a:tc>
                  <a:txBody>
                    <a:bodyPr/>
                    <a:lstStyle/>
                    <a:p>
                      <a:pPr marL="91440" algn="l" fontAlgn="t"/>
                      <a:r>
                        <a:rPr lang="en-MY" sz="1050" u="none" strike="noStrike" dirty="0">
                          <a:effectLst/>
                          <a:latin typeface="+mn-lt"/>
                        </a:rPr>
                        <a:t>GBM, APCB,  </a:t>
                      </a:r>
                      <a:r>
                        <a:rPr lang="en-MY" sz="1050" u="none" strike="noStrike" dirty="0" err="1">
                          <a:effectLst/>
                          <a:latin typeface="+mn-lt"/>
                        </a:rPr>
                        <a:t>Hanstar</a:t>
                      </a:r>
                      <a:r>
                        <a:rPr lang="en-MY" sz="1050" u="none" strike="noStrike" dirty="0">
                          <a:effectLst/>
                          <a:latin typeface="+mn-lt"/>
                        </a:rPr>
                        <a:t>, </a:t>
                      </a:r>
                      <a:r>
                        <a:rPr lang="en-MY" sz="1050" u="none" strike="noStrike" dirty="0" err="1">
                          <a:effectLst/>
                          <a:latin typeface="+mn-lt"/>
                        </a:rPr>
                        <a:t>Junya</a:t>
                      </a:r>
                      <a:r>
                        <a:rPr lang="en-MY" sz="1050" u="none" strike="noStrike" dirty="0">
                          <a:effectLst/>
                          <a:latin typeface="+mn-lt"/>
                        </a:rPr>
                        <a:t> (</a:t>
                      </a:r>
                      <a:r>
                        <a:rPr lang="zh-TW" altLang="en-US" sz="1050" u="none" strike="noStrike" dirty="0">
                          <a:effectLst/>
                          <a:latin typeface="+mn-lt"/>
                        </a:rPr>
                        <a:t>骏亚</a:t>
                      </a:r>
                      <a:r>
                        <a:rPr lang="en-US" altLang="zh-TW" sz="1050" u="none" strike="noStrike" dirty="0">
                          <a:effectLst/>
                          <a:latin typeface="+mn-lt"/>
                        </a:rPr>
                        <a:t>),</a:t>
                      </a:r>
                      <a:r>
                        <a:rPr lang="en-MY" sz="1050" u="none" strike="noStrike" dirty="0">
                          <a:effectLst/>
                          <a:latin typeface="+mn-lt"/>
                        </a:rPr>
                        <a:t> ECS (15%), </a:t>
                      </a:r>
                    </a:p>
                    <a:p>
                      <a:pPr marL="91440" algn="l" fontAlgn="t"/>
                      <a:r>
                        <a:rPr lang="en-MY" sz="1050" u="none" strike="noStrike" dirty="0" err="1">
                          <a:effectLst/>
                          <a:latin typeface="+mn-lt"/>
                        </a:rPr>
                        <a:t>Palwonn</a:t>
                      </a:r>
                      <a:r>
                        <a:rPr lang="en-MY" sz="1050" u="none" strike="noStrike" dirty="0">
                          <a:effectLst/>
                          <a:latin typeface="+mn-lt"/>
                        </a:rPr>
                        <a:t>,  VGA, etc…</a:t>
                      </a:r>
                      <a:endParaRPr lang="en-MY" sz="1050" b="0" i="0" u="none" strike="noStrike" dirty="0">
                        <a:solidFill>
                          <a:srgbClr val="000000"/>
                        </a:solidFill>
                        <a:effectLst/>
                        <a:latin typeface="+mn-lt"/>
                      </a:endParaRPr>
                    </a:p>
                  </a:txBody>
                  <a:tcPr marL="0" marR="0" marT="0" marB="0"/>
                </a:tc>
                <a:tc>
                  <a:txBody>
                    <a:bodyPr/>
                    <a:lstStyle/>
                    <a:p>
                      <a:pPr marL="91440" algn="l" fontAlgn="t"/>
                      <a:r>
                        <a:rPr lang="en-MY" sz="1050" u="none" strike="noStrike" dirty="0">
                          <a:effectLst/>
                          <a:latin typeface="+mn-lt"/>
                        </a:rPr>
                        <a:t>Not Answered</a:t>
                      </a:r>
                      <a:endParaRPr lang="en-MY" sz="1050" b="0" i="0" u="none" strike="noStrike" dirty="0">
                        <a:solidFill>
                          <a:srgbClr val="0000FF"/>
                        </a:solidFill>
                        <a:effectLst/>
                        <a:latin typeface="+mn-lt"/>
                      </a:endParaRPr>
                    </a:p>
                  </a:txBody>
                  <a:tcPr marL="0" marR="0" marT="0" marB="0"/>
                </a:tc>
                <a:tc>
                  <a:txBody>
                    <a:bodyPr/>
                    <a:lstStyle/>
                    <a:p>
                      <a:pPr marL="91440" algn="l" fontAlgn="t"/>
                      <a:r>
                        <a:rPr lang="en-US" sz="1050" u="sng" strike="noStrike" dirty="0">
                          <a:effectLst/>
                          <a:latin typeface="+mn-lt"/>
                        </a:rPr>
                        <a:t>4 Layer</a:t>
                      </a:r>
                      <a:r>
                        <a:rPr lang="en-US" sz="1050" u="none" strike="noStrike" dirty="0">
                          <a:effectLst/>
                          <a:latin typeface="+mn-lt"/>
                        </a:rPr>
                        <a:t>: CEE(1st) / GLOBALBRAN(2nd) / VICTORY(3rd)</a:t>
                      </a:r>
                      <a:br>
                        <a:rPr lang="en-US" sz="1050" u="none" strike="noStrike" dirty="0">
                          <a:effectLst/>
                          <a:latin typeface="+mn-lt"/>
                        </a:rPr>
                      </a:br>
                      <a:r>
                        <a:rPr lang="en-US" sz="1050" u="sng" strike="noStrike" dirty="0">
                          <a:effectLst/>
                          <a:latin typeface="+mn-lt"/>
                        </a:rPr>
                        <a:t>6 Layer</a:t>
                      </a:r>
                      <a:r>
                        <a:rPr lang="en-US" sz="1050" u="none" strike="noStrike" dirty="0">
                          <a:effectLst/>
                          <a:latin typeface="+mn-lt"/>
                        </a:rPr>
                        <a:t>: </a:t>
                      </a:r>
                      <a:r>
                        <a:rPr lang="en-US" sz="1050" u="none" strike="noStrike" dirty="0" err="1">
                          <a:effectLst/>
                          <a:latin typeface="+mn-lt"/>
                        </a:rPr>
                        <a:t>Hannstar</a:t>
                      </a:r>
                      <a:r>
                        <a:rPr lang="en-US" sz="1050" u="none" strike="noStrike" dirty="0">
                          <a:effectLst/>
                          <a:latin typeface="+mn-lt"/>
                        </a:rPr>
                        <a:t>(1st) / CEE(2nd) / GLOBALBRAN(3rd)</a:t>
                      </a:r>
                      <a:br>
                        <a:rPr lang="en-US" sz="1050" u="none" strike="noStrike" dirty="0">
                          <a:effectLst/>
                          <a:latin typeface="+mn-lt"/>
                        </a:rPr>
                      </a:br>
                      <a:r>
                        <a:rPr lang="en-US" sz="1050" u="sng" strike="noStrike" dirty="0">
                          <a:effectLst/>
                          <a:latin typeface="+mn-lt"/>
                        </a:rPr>
                        <a:t>8 Layer</a:t>
                      </a:r>
                      <a:r>
                        <a:rPr lang="en-US" sz="1050" u="none" strike="noStrike" dirty="0">
                          <a:effectLst/>
                          <a:latin typeface="+mn-lt"/>
                        </a:rPr>
                        <a:t>: </a:t>
                      </a:r>
                      <a:r>
                        <a:rPr lang="en-US" sz="1050" u="none" strike="noStrike" dirty="0" err="1">
                          <a:effectLst/>
                          <a:latin typeface="+mn-lt"/>
                        </a:rPr>
                        <a:t>Hannstar</a:t>
                      </a:r>
                      <a:r>
                        <a:rPr lang="en-US" sz="1050" u="none" strike="noStrike" dirty="0">
                          <a:effectLst/>
                          <a:latin typeface="+mn-lt"/>
                        </a:rPr>
                        <a:t>(1st) / GLOBALBRAN(2nd)</a:t>
                      </a:r>
                      <a:endParaRPr lang="en-US" sz="1050" b="0" i="0" u="none" strike="noStrike" dirty="0">
                        <a:solidFill>
                          <a:srgbClr val="000000"/>
                        </a:solidFill>
                        <a:effectLst/>
                        <a:latin typeface="+mn-lt"/>
                      </a:endParaRPr>
                    </a:p>
                  </a:txBody>
                  <a:tcPr marL="0" marR="0" marT="0" marB="0"/>
                </a:tc>
                <a:tc>
                  <a:txBody>
                    <a:bodyPr/>
                    <a:lstStyle/>
                    <a:p>
                      <a:pPr marL="91440" algn="l" fontAlgn="t"/>
                      <a:r>
                        <a:rPr lang="en-US" sz="1050" u="none" strike="noStrike" dirty="0">
                          <a:effectLst/>
                          <a:latin typeface="+mn-lt"/>
                        </a:rPr>
                        <a:t>TRUSTECH(40%), GECS(30%), </a:t>
                      </a:r>
                    </a:p>
                    <a:p>
                      <a:pPr marL="91440" algn="l" fontAlgn="t"/>
                      <a:r>
                        <a:rPr lang="en-US" sz="1050" u="none" strike="noStrike" dirty="0">
                          <a:effectLst/>
                          <a:latin typeface="+mn-lt"/>
                        </a:rPr>
                        <a:t>DF(15%), </a:t>
                      </a:r>
                    </a:p>
                    <a:p>
                      <a:pPr marL="91440" algn="l" fontAlgn="t"/>
                      <a:r>
                        <a:rPr lang="en-US" sz="1050" u="none" strike="noStrike" dirty="0">
                          <a:effectLst/>
                          <a:latin typeface="+mn-lt"/>
                        </a:rPr>
                        <a:t>DYEC(15%)</a:t>
                      </a:r>
                      <a:endParaRPr lang="en-US" sz="1050" b="0" i="0" u="none" strike="noStrike" dirty="0">
                        <a:solidFill>
                          <a:srgbClr val="000000"/>
                        </a:solidFill>
                        <a:effectLst/>
                        <a:latin typeface="+mn-lt"/>
                      </a:endParaRPr>
                    </a:p>
                  </a:txBody>
                  <a:tcPr marL="0" marR="0" marT="0" marB="0"/>
                </a:tc>
                <a:tc>
                  <a:txBody>
                    <a:bodyPr/>
                    <a:lstStyle/>
                    <a:p>
                      <a:pPr marL="91440" algn="l" fontAlgn="t"/>
                      <a:r>
                        <a:rPr lang="en-MY" sz="1050" u="none" strike="noStrike" dirty="0">
                          <a:effectLst/>
                          <a:latin typeface="+mn-lt"/>
                        </a:rPr>
                        <a:t>Vendor A(30%), </a:t>
                      </a:r>
                      <a:r>
                        <a:rPr lang="en-MY" sz="1050" u="none" strike="noStrike" dirty="0" err="1">
                          <a:effectLst/>
                          <a:latin typeface="+mn-lt"/>
                        </a:rPr>
                        <a:t>VendorB</a:t>
                      </a:r>
                      <a:r>
                        <a:rPr lang="en-MY" sz="1050" u="none" strike="noStrike" dirty="0">
                          <a:effectLst/>
                          <a:latin typeface="+mn-lt"/>
                        </a:rPr>
                        <a:t>(70%)</a:t>
                      </a:r>
                      <a:endParaRPr lang="en-MY" sz="1050" b="0" i="0" u="none" strike="noStrike" dirty="0">
                        <a:solidFill>
                          <a:srgbClr val="000000"/>
                        </a:solidFill>
                        <a:effectLst/>
                        <a:latin typeface="+mn-lt"/>
                      </a:endParaRPr>
                    </a:p>
                  </a:txBody>
                  <a:tcPr marL="0" marR="0" marT="0" marB="0"/>
                </a:tc>
                <a:tc>
                  <a:txBody>
                    <a:bodyPr/>
                    <a:lstStyle/>
                    <a:p>
                      <a:pPr marL="91440" algn="l" fontAlgn="t"/>
                      <a:r>
                        <a:rPr lang="en-MY" sz="1050" u="none" strike="noStrike" dirty="0" err="1">
                          <a:effectLst/>
                          <a:latin typeface="+mn-lt"/>
                        </a:rPr>
                        <a:t>Trustech</a:t>
                      </a:r>
                      <a:r>
                        <a:rPr lang="en-MY" sz="1050" u="none" strike="noStrike" dirty="0">
                          <a:effectLst/>
                          <a:latin typeface="+mn-lt"/>
                        </a:rPr>
                        <a:t>(50%), </a:t>
                      </a:r>
                      <a:r>
                        <a:rPr lang="en-MY" sz="1050" u="none" strike="noStrike" dirty="0" err="1">
                          <a:effectLst/>
                          <a:latin typeface="+mn-lt"/>
                        </a:rPr>
                        <a:t>Dingfu</a:t>
                      </a:r>
                      <a:r>
                        <a:rPr lang="zh-TW" altLang="en-US" sz="1050" u="none" strike="noStrike" dirty="0">
                          <a:effectLst/>
                          <a:latin typeface="+mn-lt"/>
                        </a:rPr>
                        <a:t>鼎富</a:t>
                      </a:r>
                      <a:r>
                        <a:rPr lang="en-US" altLang="zh-TW" sz="1050" u="none" strike="noStrike" dirty="0">
                          <a:effectLst/>
                          <a:latin typeface="+mn-lt"/>
                        </a:rPr>
                        <a:t>(50%)</a:t>
                      </a:r>
                      <a:endParaRPr lang="en-US" altLang="zh-TW" sz="1050" b="0" i="0" u="none" strike="noStrike" dirty="0">
                        <a:solidFill>
                          <a:srgbClr val="000000"/>
                        </a:solidFill>
                        <a:effectLst/>
                        <a:latin typeface="+mn-lt"/>
                      </a:endParaRPr>
                    </a:p>
                  </a:txBody>
                  <a:tcPr marL="0" marR="0" marT="0" marB="0"/>
                </a:tc>
                <a:extLst>
                  <a:ext uri="{0D108BD9-81ED-4DB2-BD59-A6C34878D82A}">
                    <a16:rowId xmlns:a16="http://schemas.microsoft.com/office/drawing/2014/main" val="2076378246"/>
                  </a:ext>
                </a:extLst>
              </a:tr>
              <a:tr h="124985">
                <a:tc>
                  <a:txBody>
                    <a:bodyPr/>
                    <a:lstStyle/>
                    <a:p>
                      <a:pPr marL="91440" algn="l" fontAlgn="t"/>
                      <a:r>
                        <a:rPr lang="en-US" sz="1050" u="none" strike="noStrike">
                          <a:effectLst/>
                          <a:latin typeface="+mn-lt"/>
                        </a:rPr>
                        <a:t>Please list the PCB surface finishes used by %</a:t>
                      </a:r>
                      <a:endParaRPr lang="en-US" sz="1050" b="0" i="0" u="none" strike="noStrike">
                        <a:effectLst/>
                        <a:latin typeface="+mn-lt"/>
                      </a:endParaRPr>
                    </a:p>
                  </a:txBody>
                  <a:tcPr marL="0" marR="0" marT="0" marB="0"/>
                </a:tc>
                <a:tc>
                  <a:txBody>
                    <a:bodyPr/>
                    <a:lstStyle/>
                    <a:p>
                      <a:pPr marL="91440" algn="l" fontAlgn="t"/>
                      <a:r>
                        <a:rPr lang="en-MY" sz="1050" u="none" strike="noStrike">
                          <a:effectLst/>
                          <a:latin typeface="+mn-lt"/>
                        </a:rPr>
                        <a:t>OSP</a:t>
                      </a:r>
                      <a:endParaRPr lang="en-MY" sz="1050" b="0" i="0" u="none" strike="noStrike">
                        <a:solidFill>
                          <a:srgbClr val="000000"/>
                        </a:solidFill>
                        <a:effectLst/>
                        <a:latin typeface="+mn-lt"/>
                      </a:endParaRPr>
                    </a:p>
                  </a:txBody>
                  <a:tcPr marL="0" marR="0" marT="0" marB="0"/>
                </a:tc>
                <a:tc>
                  <a:txBody>
                    <a:bodyPr/>
                    <a:lstStyle/>
                    <a:p>
                      <a:pPr marL="91440" algn="l" fontAlgn="t"/>
                      <a:r>
                        <a:rPr lang="en-MY" sz="1050" u="none" strike="noStrike">
                          <a:effectLst/>
                          <a:latin typeface="+mn-lt"/>
                        </a:rPr>
                        <a:t>OSP(100%)</a:t>
                      </a:r>
                      <a:endParaRPr lang="en-MY" sz="1050" b="0" i="0" u="none" strike="noStrike">
                        <a:solidFill>
                          <a:srgbClr val="000000"/>
                        </a:solidFill>
                        <a:effectLst/>
                        <a:latin typeface="+mn-lt"/>
                      </a:endParaRPr>
                    </a:p>
                  </a:txBody>
                  <a:tcPr marL="0" marR="0" marT="0" marB="0"/>
                </a:tc>
                <a:tc>
                  <a:txBody>
                    <a:bodyPr/>
                    <a:lstStyle/>
                    <a:p>
                      <a:pPr marL="91440" algn="l" fontAlgn="t"/>
                      <a:r>
                        <a:rPr lang="en-MY" sz="1050" u="none" strike="noStrike" dirty="0">
                          <a:effectLst/>
                          <a:latin typeface="+mn-lt"/>
                        </a:rPr>
                        <a:t>OSP(100%)</a:t>
                      </a:r>
                      <a:endParaRPr lang="en-MY" sz="1050" b="0" i="0" u="none" strike="noStrike" dirty="0">
                        <a:solidFill>
                          <a:srgbClr val="000000"/>
                        </a:solidFill>
                        <a:effectLst/>
                        <a:latin typeface="+mn-lt"/>
                      </a:endParaRPr>
                    </a:p>
                  </a:txBody>
                  <a:tcPr marL="0" marR="0" marT="0" marB="0"/>
                </a:tc>
                <a:tc>
                  <a:txBody>
                    <a:bodyPr/>
                    <a:lstStyle/>
                    <a:p>
                      <a:pPr marL="91440" algn="l" fontAlgn="t"/>
                      <a:r>
                        <a:rPr lang="en-MY" sz="1050" u="none" strike="noStrike">
                          <a:effectLst/>
                          <a:latin typeface="+mn-lt"/>
                        </a:rPr>
                        <a:t>OSP(100%)</a:t>
                      </a:r>
                      <a:endParaRPr lang="en-MY" sz="1050" b="0" i="0" u="none" strike="noStrike">
                        <a:solidFill>
                          <a:srgbClr val="000000"/>
                        </a:solidFill>
                        <a:effectLst/>
                        <a:latin typeface="+mn-lt"/>
                      </a:endParaRPr>
                    </a:p>
                  </a:txBody>
                  <a:tcPr marL="0" marR="0" marT="0" marB="0"/>
                </a:tc>
                <a:tc>
                  <a:txBody>
                    <a:bodyPr/>
                    <a:lstStyle/>
                    <a:p>
                      <a:pPr marL="91440" algn="l" fontAlgn="t"/>
                      <a:r>
                        <a:rPr lang="en-MY" sz="1050" u="none" strike="noStrike" dirty="0">
                          <a:effectLst/>
                          <a:latin typeface="+mn-lt"/>
                        </a:rPr>
                        <a:t>OSP(100%)</a:t>
                      </a:r>
                      <a:endParaRPr lang="en-MY" sz="1050" b="0" i="0" u="none" strike="noStrike" dirty="0">
                        <a:solidFill>
                          <a:srgbClr val="000000"/>
                        </a:solidFill>
                        <a:effectLst/>
                        <a:latin typeface="+mn-lt"/>
                      </a:endParaRPr>
                    </a:p>
                  </a:txBody>
                  <a:tcPr marL="0" marR="0" marT="0" marB="0"/>
                </a:tc>
                <a:tc>
                  <a:txBody>
                    <a:bodyPr/>
                    <a:lstStyle/>
                    <a:p>
                      <a:pPr marL="91440" algn="l" fontAlgn="t"/>
                      <a:r>
                        <a:rPr lang="en-MY" sz="1050" u="none" strike="noStrike">
                          <a:effectLst/>
                          <a:latin typeface="+mn-lt"/>
                        </a:rPr>
                        <a:t>OSP(100%)</a:t>
                      </a:r>
                      <a:endParaRPr lang="en-MY" sz="1050" b="0" i="0" u="none" strike="noStrike">
                        <a:solidFill>
                          <a:srgbClr val="000000"/>
                        </a:solidFill>
                        <a:effectLst/>
                        <a:latin typeface="+mn-lt"/>
                      </a:endParaRPr>
                    </a:p>
                  </a:txBody>
                  <a:tcPr marL="0" marR="0" marT="0" marB="0"/>
                </a:tc>
                <a:extLst>
                  <a:ext uri="{0D108BD9-81ED-4DB2-BD59-A6C34878D82A}">
                    <a16:rowId xmlns:a16="http://schemas.microsoft.com/office/drawing/2014/main" val="2627658710"/>
                  </a:ext>
                </a:extLst>
              </a:tr>
              <a:tr h="499942">
                <a:tc>
                  <a:txBody>
                    <a:bodyPr/>
                    <a:lstStyle/>
                    <a:p>
                      <a:pPr marL="91440" algn="l" fontAlgn="t"/>
                      <a:r>
                        <a:rPr lang="en-US" sz="1050" u="none" strike="noStrike">
                          <a:effectLst/>
                          <a:latin typeface="+mn-lt"/>
                        </a:rPr>
                        <a:t>Please list the PCB board thicknesses used by %</a:t>
                      </a:r>
                      <a:endParaRPr lang="en-US" sz="1050" b="0" i="0" u="none" strike="noStrike">
                        <a:effectLst/>
                        <a:latin typeface="+mn-lt"/>
                      </a:endParaRPr>
                    </a:p>
                  </a:txBody>
                  <a:tcPr marL="0" marR="0" marT="0" marB="0"/>
                </a:tc>
                <a:tc>
                  <a:txBody>
                    <a:bodyPr/>
                    <a:lstStyle/>
                    <a:p>
                      <a:pPr marL="91440" algn="l" fontAlgn="t"/>
                      <a:r>
                        <a:rPr lang="en-MY" sz="1050" u="none" strike="noStrike" dirty="0">
                          <a:effectLst/>
                          <a:latin typeface="+mn-lt"/>
                        </a:rPr>
                        <a:t>62mil(90%), </a:t>
                      </a:r>
                    </a:p>
                    <a:p>
                      <a:pPr marL="91440" algn="l" fontAlgn="t"/>
                      <a:r>
                        <a:rPr lang="en-MY" sz="1050" u="none" strike="noStrike" dirty="0">
                          <a:effectLst/>
                          <a:latin typeface="+mn-lt"/>
                        </a:rPr>
                        <a:t>48mil(10%)</a:t>
                      </a:r>
                      <a:endParaRPr lang="en-MY" sz="1050" b="0" i="0" u="none" strike="noStrike" dirty="0">
                        <a:solidFill>
                          <a:srgbClr val="000000"/>
                        </a:solidFill>
                        <a:effectLst/>
                        <a:latin typeface="+mn-lt"/>
                      </a:endParaRPr>
                    </a:p>
                  </a:txBody>
                  <a:tcPr marL="0" marR="0" marT="0" marB="0"/>
                </a:tc>
                <a:tc>
                  <a:txBody>
                    <a:bodyPr/>
                    <a:lstStyle/>
                    <a:p>
                      <a:pPr marL="91440" algn="l" fontAlgn="t"/>
                      <a:r>
                        <a:rPr lang="en-MY" sz="1050" u="none" strike="noStrike" dirty="0">
                          <a:effectLst/>
                          <a:latin typeface="+mn-lt"/>
                        </a:rPr>
                        <a:t>62mil(70%), </a:t>
                      </a:r>
                    </a:p>
                    <a:p>
                      <a:pPr marL="91440" algn="l" fontAlgn="t"/>
                      <a:r>
                        <a:rPr lang="en-MY" sz="1050" u="none" strike="noStrike" dirty="0">
                          <a:effectLst/>
                          <a:latin typeface="+mn-lt"/>
                        </a:rPr>
                        <a:t>47mil (30%)</a:t>
                      </a:r>
                      <a:br>
                        <a:rPr lang="en-MY" sz="1050" u="none" strike="noStrike" dirty="0">
                          <a:effectLst/>
                          <a:latin typeface="+mn-lt"/>
                        </a:rPr>
                      </a:br>
                      <a:br>
                        <a:rPr lang="en-MY" sz="1050" u="none" strike="noStrike" dirty="0">
                          <a:effectLst/>
                          <a:latin typeface="+mn-lt"/>
                        </a:rPr>
                      </a:br>
                      <a:r>
                        <a:rPr lang="en-MY" sz="1050" u="none" strike="noStrike" dirty="0">
                          <a:effectLst/>
                          <a:latin typeface="+mn-lt"/>
                        </a:rPr>
                        <a:t>All of the "Micro" form factors in Dell's Desktop portfolio use 47 mil (1.2mm) thick PCBs. This equates to ~4-5 million units of volume and ~30% of their Desktop volume.  All other Dell Desktop products use 62 mil (1.6mm) thick PCBs, which equates to ~70% of their Desktop volume. </a:t>
                      </a:r>
                      <a:endParaRPr lang="en-MY" sz="1050" b="0" i="0" u="none" strike="noStrike" dirty="0">
                        <a:solidFill>
                          <a:srgbClr val="000000"/>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lang="en-MY" sz="1050" u="none" strike="noStrike" dirty="0">
                          <a:effectLst/>
                          <a:latin typeface="+mn-lt"/>
                        </a:rPr>
                        <a:t>62mil(75%), </a:t>
                      </a:r>
                    </a:p>
                    <a:p>
                      <a:pPr marL="91440" marR="0" lvl="0" indent="0" algn="l" defTabSz="609600" eaLnBrk="1" fontAlgn="t" latinLnBrk="0" hangingPunct="1">
                        <a:lnSpc>
                          <a:spcPct val="100000"/>
                        </a:lnSpc>
                        <a:spcBef>
                          <a:spcPts val="0"/>
                        </a:spcBef>
                        <a:spcAft>
                          <a:spcPts val="0"/>
                        </a:spcAft>
                        <a:buClrTx/>
                        <a:buSzTx/>
                        <a:buFontTx/>
                        <a:buNone/>
                        <a:tabLst/>
                        <a:defRPr/>
                      </a:pPr>
                      <a:r>
                        <a:rPr lang="en-MY" sz="1050" u="none" strike="noStrike" dirty="0">
                          <a:effectLst/>
                          <a:latin typeface="+mn-lt"/>
                        </a:rPr>
                        <a:t>47mil(25%) </a:t>
                      </a:r>
                    </a:p>
                  </a:txBody>
                  <a:tcPr marL="0" marR="0" marT="0" marB="0"/>
                </a:tc>
                <a:tc>
                  <a:txBody>
                    <a:bodyPr/>
                    <a:lstStyle/>
                    <a:p>
                      <a:pPr marL="91440" algn="l" fontAlgn="t"/>
                      <a:r>
                        <a:rPr lang="en-MY" sz="1050" u="none" strike="noStrike" dirty="0">
                          <a:effectLst/>
                          <a:latin typeface="+mn-lt"/>
                        </a:rPr>
                        <a:t>62mil(100%)</a:t>
                      </a:r>
                      <a:endParaRPr lang="en-MY" sz="1050" b="0" i="0" u="none" strike="noStrike" dirty="0">
                        <a:solidFill>
                          <a:srgbClr val="000000"/>
                        </a:solidFill>
                        <a:effectLst/>
                        <a:latin typeface="+mn-lt"/>
                      </a:endParaRPr>
                    </a:p>
                  </a:txBody>
                  <a:tcPr marL="0" marR="0" marT="0" marB="0"/>
                </a:tc>
                <a:tc>
                  <a:txBody>
                    <a:bodyPr/>
                    <a:lstStyle/>
                    <a:p>
                      <a:pPr marL="91440" algn="l" fontAlgn="t"/>
                      <a:r>
                        <a:rPr lang="en-MY" sz="1050" u="none" strike="noStrike">
                          <a:effectLst/>
                          <a:latin typeface="+mn-lt"/>
                        </a:rPr>
                        <a:t>62mil(80%), 59mil(20%)</a:t>
                      </a:r>
                      <a:endParaRPr lang="en-MY" sz="1050" b="0" i="0" u="none" strike="noStrike">
                        <a:solidFill>
                          <a:srgbClr val="000000"/>
                        </a:solidFill>
                        <a:effectLst/>
                        <a:latin typeface="+mn-lt"/>
                      </a:endParaRPr>
                    </a:p>
                  </a:txBody>
                  <a:tcPr marL="0" marR="0" marT="0" marB="0"/>
                </a:tc>
                <a:tc>
                  <a:txBody>
                    <a:bodyPr/>
                    <a:lstStyle/>
                    <a:p>
                      <a:pPr marL="91440" algn="l" fontAlgn="t"/>
                      <a:r>
                        <a:rPr lang="pt-BR" sz="1050" u="none" strike="noStrike" dirty="0">
                          <a:effectLst/>
                          <a:latin typeface="+mn-lt"/>
                        </a:rPr>
                        <a:t>62 mil(90%), </a:t>
                      </a:r>
                    </a:p>
                    <a:p>
                      <a:pPr marL="91440" algn="l" fontAlgn="t"/>
                      <a:r>
                        <a:rPr lang="pt-BR" sz="1050" u="none" strike="noStrike" dirty="0">
                          <a:effectLst/>
                          <a:latin typeface="+mn-lt"/>
                        </a:rPr>
                        <a:t>59 mil(10%)</a:t>
                      </a:r>
                      <a:endParaRPr lang="pt-BR" sz="1050" b="0" i="0" u="none" strike="noStrike" dirty="0">
                        <a:solidFill>
                          <a:srgbClr val="000000"/>
                        </a:solidFill>
                        <a:effectLst/>
                        <a:latin typeface="+mn-lt"/>
                      </a:endParaRPr>
                    </a:p>
                  </a:txBody>
                  <a:tcPr marL="0" marR="0" marT="0" marB="0"/>
                </a:tc>
                <a:extLst>
                  <a:ext uri="{0D108BD9-81ED-4DB2-BD59-A6C34878D82A}">
                    <a16:rowId xmlns:a16="http://schemas.microsoft.com/office/drawing/2014/main" val="1476538635"/>
                  </a:ext>
                </a:extLst>
              </a:tr>
            </a:tbl>
          </a:graphicData>
        </a:graphic>
      </p:graphicFrame>
      <p:sp>
        <p:nvSpPr>
          <p:cNvPr id="3" name="Rectangle: Rounded Corners 2">
            <a:extLst>
              <a:ext uri="{FF2B5EF4-FFF2-40B4-BE49-F238E27FC236}">
                <a16:creationId xmlns:a16="http://schemas.microsoft.com/office/drawing/2014/main" id="{D20F4163-8A1D-4686-BCE3-D4646787A5A9}"/>
              </a:ext>
            </a:extLst>
          </p:cNvPr>
          <p:cNvSpPr/>
          <p:nvPr/>
        </p:nvSpPr>
        <p:spPr>
          <a:xfrm>
            <a:off x="648545" y="5255008"/>
            <a:ext cx="10595187" cy="1203166"/>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6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marR="0" indent="-182880" defTabSz="825500" rtl="0" fontAlgn="auto" latinLnBrk="0" hangingPunct="0">
              <a:lnSpc>
                <a:spcPct val="100000"/>
              </a:lnSpc>
              <a:spcBef>
                <a:spcPts val="0"/>
              </a:spcBef>
              <a:spcAft>
                <a:spcPts val="0"/>
              </a:spcAft>
              <a:buClrTx/>
              <a:buSzTx/>
              <a:buFont typeface="Arial" panose="020B0604020202020204" pitchFamily="34" charset="0"/>
              <a:buChar char="•"/>
              <a:tabLst/>
            </a:pPr>
            <a:r>
              <a:rPr lang="en-US" sz="1600" dirty="0">
                <a:solidFill>
                  <a:srgbClr val="FFFFFF"/>
                </a:solidFill>
                <a:latin typeface="Helvetica Neue Medium"/>
                <a:ea typeface="Helvetica Neue Medium"/>
                <a:cs typeface="Helvetica Neue Medium"/>
                <a:sym typeface="Helvetica Neue Medium"/>
              </a:rPr>
              <a:t>OEMs have design ownership of PCB, System and Thermal Solution</a:t>
            </a:r>
          </a:p>
          <a:p>
            <a:pPr marL="182880" marR="0" indent="-182880" defTabSz="8255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rPr>
              <a:t>OSP is the most </a:t>
            </a:r>
            <a:r>
              <a:rPr lang="en-US" sz="1600" dirty="0">
                <a:solidFill>
                  <a:srgbClr val="FFFFFF"/>
                </a:solidFill>
                <a:latin typeface="Helvetica Neue Medium"/>
                <a:ea typeface="Helvetica Neue Medium"/>
                <a:cs typeface="Helvetica Neue Medium"/>
                <a:sym typeface="Helvetica Neue Medium"/>
              </a:rPr>
              <a:t>common PCB surface finish</a:t>
            </a:r>
          </a:p>
          <a:p>
            <a:pPr marL="182880" marR="0" indent="-182880" defTabSz="8255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rPr>
              <a:t>While 62</a:t>
            </a:r>
            <a:r>
              <a:rPr lang="en-US" sz="1600" dirty="0">
                <a:solidFill>
                  <a:srgbClr val="FFFFFF"/>
                </a:solidFill>
                <a:latin typeface="Helvetica Neue Medium"/>
                <a:ea typeface="Helvetica Neue Medium"/>
                <a:cs typeface="Helvetica Neue Medium"/>
                <a:sym typeface="Helvetica Neue Medium"/>
              </a:rPr>
              <a:t>mil is the most common PCB thickness, ~47/48mil are also commonly used by 3 customers </a:t>
            </a:r>
            <a:endParaRPr kumimoji="0" lang="en-US" sz="16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884784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A9707-5156-41F3-9BD6-83853633F13F}"/>
              </a:ext>
            </a:extLst>
          </p:cNvPr>
          <p:cNvSpPr>
            <a:spLocks noGrp="1"/>
          </p:cNvSpPr>
          <p:nvPr>
            <p:ph type="title"/>
          </p:nvPr>
        </p:nvSpPr>
        <p:spPr>
          <a:xfrm>
            <a:off x="607484" y="149328"/>
            <a:ext cx="10972800" cy="633269"/>
          </a:xfrm>
        </p:spPr>
        <p:txBody>
          <a:bodyPr/>
          <a:lstStyle/>
          <a:p>
            <a:r>
              <a:rPr lang="en-US" dirty="0"/>
              <a:t>Printed Circuit Board Design (2)</a:t>
            </a:r>
            <a:endParaRPr lang="en-MY" dirty="0"/>
          </a:p>
        </p:txBody>
      </p:sp>
      <p:graphicFrame>
        <p:nvGraphicFramePr>
          <p:cNvPr id="4" name="Content Placeholder 3">
            <a:extLst>
              <a:ext uri="{FF2B5EF4-FFF2-40B4-BE49-F238E27FC236}">
                <a16:creationId xmlns:a16="http://schemas.microsoft.com/office/drawing/2014/main" id="{F4C4F9EE-9506-4C4C-B40C-F4271BBF6041}"/>
              </a:ext>
            </a:extLst>
          </p:cNvPr>
          <p:cNvGraphicFramePr>
            <a:graphicFrameLocks noGrp="1"/>
          </p:cNvGraphicFramePr>
          <p:nvPr>
            <p:ph sz="quarter" idx="13"/>
            <p:extLst>
              <p:ext uri="{D42A27DB-BD31-4B8C-83A1-F6EECF244321}">
                <p14:modId xmlns:p14="http://schemas.microsoft.com/office/powerpoint/2010/main" val="2176042572"/>
              </p:ext>
            </p:extLst>
          </p:nvPr>
        </p:nvGraphicFramePr>
        <p:xfrm>
          <a:off x="338668" y="788483"/>
          <a:ext cx="11286065" cy="4095316"/>
        </p:xfrm>
        <a:graphic>
          <a:graphicData uri="http://schemas.openxmlformats.org/drawingml/2006/table">
            <a:tbl>
              <a:tblPr firstRow="1" bandRow="1">
                <a:tableStyleId>{69012ECD-51FC-41F1-AA8D-1B2483CD663E}</a:tableStyleId>
              </a:tblPr>
              <a:tblGrid>
                <a:gridCol w="2099732">
                  <a:extLst>
                    <a:ext uri="{9D8B030D-6E8A-4147-A177-3AD203B41FA5}">
                      <a16:colId xmlns:a16="http://schemas.microsoft.com/office/drawing/2014/main" val="1692685995"/>
                    </a:ext>
                  </a:extLst>
                </a:gridCol>
                <a:gridCol w="1420305">
                  <a:extLst>
                    <a:ext uri="{9D8B030D-6E8A-4147-A177-3AD203B41FA5}">
                      <a16:colId xmlns:a16="http://schemas.microsoft.com/office/drawing/2014/main" val="1788829243"/>
                    </a:ext>
                  </a:extLst>
                </a:gridCol>
                <a:gridCol w="1332211">
                  <a:extLst>
                    <a:ext uri="{9D8B030D-6E8A-4147-A177-3AD203B41FA5}">
                      <a16:colId xmlns:a16="http://schemas.microsoft.com/office/drawing/2014/main" val="914312967"/>
                    </a:ext>
                  </a:extLst>
                </a:gridCol>
                <a:gridCol w="1480817">
                  <a:extLst>
                    <a:ext uri="{9D8B030D-6E8A-4147-A177-3AD203B41FA5}">
                      <a16:colId xmlns:a16="http://schemas.microsoft.com/office/drawing/2014/main" val="1362813313"/>
                    </a:ext>
                  </a:extLst>
                </a:gridCol>
                <a:gridCol w="1517227">
                  <a:extLst>
                    <a:ext uri="{9D8B030D-6E8A-4147-A177-3AD203B41FA5}">
                      <a16:colId xmlns:a16="http://schemas.microsoft.com/office/drawing/2014/main" val="3296549446"/>
                    </a:ext>
                  </a:extLst>
                </a:gridCol>
                <a:gridCol w="1466946">
                  <a:extLst>
                    <a:ext uri="{9D8B030D-6E8A-4147-A177-3AD203B41FA5}">
                      <a16:colId xmlns:a16="http://schemas.microsoft.com/office/drawing/2014/main" val="2579843292"/>
                    </a:ext>
                  </a:extLst>
                </a:gridCol>
                <a:gridCol w="1968827">
                  <a:extLst>
                    <a:ext uri="{9D8B030D-6E8A-4147-A177-3AD203B41FA5}">
                      <a16:colId xmlns:a16="http://schemas.microsoft.com/office/drawing/2014/main" val="3841248342"/>
                    </a:ext>
                  </a:extLst>
                </a:gridCol>
              </a:tblGrid>
              <a:tr h="172117">
                <a:tc>
                  <a:txBody>
                    <a:bodyPr/>
                    <a:lstStyle/>
                    <a:p>
                      <a:pPr marL="91440" algn="l" fontAlgn="t"/>
                      <a:r>
                        <a:rPr lang="en-MY" sz="1400" u="none" strike="noStrike" dirty="0">
                          <a:effectLst/>
                          <a:latin typeface="+mn-lt"/>
                        </a:rPr>
                        <a:t>Area of Interest</a:t>
                      </a:r>
                      <a:endParaRPr lang="en-MY" sz="1400" b="1" i="0" u="none" strike="noStrike" dirty="0">
                        <a:solidFill>
                          <a:srgbClr val="000000"/>
                        </a:solidFill>
                        <a:effectLst/>
                        <a:latin typeface="+mn-lt"/>
                      </a:endParaRPr>
                    </a:p>
                  </a:txBody>
                  <a:tcPr marL="0" marR="0" marT="0" marB="0" anchor="ctr"/>
                </a:tc>
                <a:tc>
                  <a:txBody>
                    <a:bodyPr/>
                    <a:lstStyle/>
                    <a:p>
                      <a:pPr marL="91440" algn="l" fontAlgn="t"/>
                      <a:r>
                        <a:rPr lang="en-MY" sz="1050" u="none" strike="noStrike" dirty="0">
                          <a:effectLst/>
                          <a:latin typeface="+mn-lt"/>
                        </a:rPr>
                        <a:t>LENOVO (MSI)</a:t>
                      </a:r>
                      <a:endParaRPr lang="en-MY" sz="1050" b="1" i="0" u="none" strike="noStrike" dirty="0">
                        <a:solidFill>
                          <a:srgbClr val="000000"/>
                        </a:solidFill>
                        <a:effectLst/>
                        <a:latin typeface="+mn-lt"/>
                      </a:endParaRPr>
                    </a:p>
                  </a:txBody>
                  <a:tcPr marL="0" marR="0" marT="0" marB="0" anchor="ctr"/>
                </a:tc>
                <a:tc>
                  <a:txBody>
                    <a:bodyPr/>
                    <a:lstStyle/>
                    <a:p>
                      <a:pPr marL="91440" algn="l" fontAlgn="t"/>
                      <a:r>
                        <a:rPr lang="en-MY" sz="1050" u="none" strike="noStrike" dirty="0">
                          <a:effectLst/>
                          <a:latin typeface="+mn-lt"/>
                        </a:rPr>
                        <a:t>DELL</a:t>
                      </a:r>
                      <a:endParaRPr lang="en-MY" sz="1050" b="1" i="0" u="none" strike="noStrike" dirty="0">
                        <a:solidFill>
                          <a:srgbClr val="000000"/>
                        </a:solidFill>
                        <a:effectLst/>
                        <a:latin typeface="+mn-lt"/>
                      </a:endParaRPr>
                    </a:p>
                  </a:txBody>
                  <a:tcPr marL="0" marR="0" marT="0" marB="0" anchor="ctr"/>
                </a:tc>
                <a:tc>
                  <a:txBody>
                    <a:bodyPr/>
                    <a:lstStyle/>
                    <a:p>
                      <a:pPr marL="91440" algn="l" fontAlgn="t"/>
                      <a:r>
                        <a:rPr lang="en-MY" sz="1050" u="none" strike="noStrike" dirty="0">
                          <a:effectLst/>
                          <a:latin typeface="+mn-lt"/>
                        </a:rPr>
                        <a:t>ACER (WISTRON)</a:t>
                      </a:r>
                      <a:endParaRPr lang="en-MY" sz="1050" b="1" i="0" u="none" strike="noStrike" dirty="0">
                        <a:solidFill>
                          <a:srgbClr val="000000"/>
                        </a:solidFill>
                        <a:effectLst/>
                        <a:latin typeface="+mn-lt"/>
                      </a:endParaRPr>
                    </a:p>
                  </a:txBody>
                  <a:tcPr marL="0" marR="0" marT="0" marB="0" anchor="ctr"/>
                </a:tc>
                <a:tc>
                  <a:txBody>
                    <a:bodyPr/>
                    <a:lstStyle/>
                    <a:p>
                      <a:pPr marL="91440" algn="l" fontAlgn="t"/>
                      <a:r>
                        <a:rPr lang="en-MY" sz="1050" u="none" strike="noStrike" dirty="0">
                          <a:effectLst/>
                          <a:latin typeface="+mn-lt"/>
                        </a:rPr>
                        <a:t>ASUSTEK</a:t>
                      </a:r>
                      <a:endParaRPr lang="en-MY" sz="1050" b="1" i="0" u="none" strike="noStrike" dirty="0">
                        <a:solidFill>
                          <a:srgbClr val="000000"/>
                        </a:solidFill>
                        <a:effectLst/>
                        <a:latin typeface="+mn-lt"/>
                      </a:endParaRPr>
                    </a:p>
                  </a:txBody>
                  <a:tcPr marL="0" marR="0" marT="0" marB="0" anchor="ctr"/>
                </a:tc>
                <a:tc>
                  <a:txBody>
                    <a:bodyPr/>
                    <a:lstStyle/>
                    <a:p>
                      <a:pPr marL="91440" algn="l" fontAlgn="t"/>
                      <a:r>
                        <a:rPr lang="en-MY" sz="1050" u="none" strike="noStrike" dirty="0">
                          <a:effectLst/>
                          <a:latin typeface="+mn-lt"/>
                        </a:rPr>
                        <a:t>MSI</a:t>
                      </a:r>
                      <a:endParaRPr lang="en-MY" sz="1050" b="1" i="0" u="none" strike="noStrike" dirty="0">
                        <a:solidFill>
                          <a:srgbClr val="000000"/>
                        </a:solidFill>
                        <a:effectLst/>
                        <a:latin typeface="+mn-lt"/>
                      </a:endParaRPr>
                    </a:p>
                  </a:txBody>
                  <a:tcPr marL="0" marR="0" marT="0" marB="0" anchor="ctr"/>
                </a:tc>
                <a:tc>
                  <a:txBody>
                    <a:bodyPr/>
                    <a:lstStyle/>
                    <a:p>
                      <a:pPr marL="91440" algn="l" fontAlgn="t"/>
                      <a:r>
                        <a:rPr lang="en-MY" sz="1050" u="none" strike="noStrike" dirty="0">
                          <a:effectLst/>
                          <a:latin typeface="+mn-lt"/>
                        </a:rPr>
                        <a:t>ASROCK</a:t>
                      </a:r>
                      <a:endParaRPr lang="en-MY" sz="1050" b="1" i="0" u="none" strike="noStrike" dirty="0">
                        <a:solidFill>
                          <a:srgbClr val="000000"/>
                        </a:solidFill>
                        <a:effectLst/>
                        <a:latin typeface="+mn-lt"/>
                      </a:endParaRPr>
                    </a:p>
                  </a:txBody>
                  <a:tcPr marL="0" marR="0" marT="0" marB="0" anchor="ctr"/>
                </a:tc>
                <a:extLst>
                  <a:ext uri="{0D108BD9-81ED-4DB2-BD59-A6C34878D82A}">
                    <a16:rowId xmlns:a16="http://schemas.microsoft.com/office/drawing/2014/main" val="3852518198"/>
                  </a:ext>
                </a:extLst>
              </a:tr>
              <a:tr h="442587">
                <a:tc>
                  <a:txBody>
                    <a:bodyPr/>
                    <a:lstStyle/>
                    <a:p>
                      <a:pPr marL="91440" algn="l" fontAlgn="t"/>
                      <a:r>
                        <a:rPr lang="en-US" sz="1200" u="none" strike="noStrike" dirty="0">
                          <a:effectLst/>
                          <a:latin typeface="+mn-lt"/>
                        </a:rPr>
                        <a:t>Please list the PCB Laminate </a:t>
                      </a:r>
                      <a:r>
                        <a:rPr lang="en-US" sz="1200" u="none" strike="noStrike" dirty="0" err="1">
                          <a:effectLst/>
                          <a:latin typeface="+mn-lt"/>
                        </a:rPr>
                        <a:t>Tg</a:t>
                      </a:r>
                      <a:r>
                        <a:rPr lang="en-US" sz="1200" u="none" strike="noStrike" dirty="0">
                          <a:effectLst/>
                          <a:latin typeface="+mn-lt"/>
                        </a:rPr>
                        <a:t> used by %</a:t>
                      </a:r>
                      <a:endParaRPr lang="en-US" sz="1200" b="0" i="0" u="none" strike="noStrike" dirty="0">
                        <a:effectLst/>
                        <a:latin typeface="+mn-lt"/>
                      </a:endParaRPr>
                    </a:p>
                  </a:txBody>
                  <a:tcPr marL="0" marR="0" marT="0" marB="0"/>
                </a:tc>
                <a:tc>
                  <a:txBody>
                    <a:bodyPr/>
                    <a:lstStyle/>
                    <a:p>
                      <a:pPr marL="91440" algn="l" fontAlgn="t"/>
                      <a:r>
                        <a:rPr lang="nn-NO" sz="1200" u="none" strike="noStrike" dirty="0">
                          <a:effectLst/>
                          <a:latin typeface="+mn-lt"/>
                        </a:rPr>
                        <a:t>150°C Tg(50%), </a:t>
                      </a:r>
                    </a:p>
                    <a:p>
                      <a:pPr marL="91440" algn="l" fontAlgn="t"/>
                      <a:r>
                        <a:rPr lang="nn-NO" sz="1200" u="none" strike="noStrike" dirty="0">
                          <a:effectLst/>
                          <a:latin typeface="+mn-lt"/>
                        </a:rPr>
                        <a:t>140°C Tg(50%)</a:t>
                      </a:r>
                      <a:endParaRPr lang="nn-NO" sz="1200" b="0" i="0" u="none" strike="noStrike" dirty="0">
                        <a:solidFill>
                          <a:srgbClr val="000000"/>
                        </a:solidFill>
                        <a:effectLst/>
                        <a:latin typeface="+mn-lt"/>
                      </a:endParaRPr>
                    </a:p>
                  </a:txBody>
                  <a:tcPr marL="0" marR="0" marT="0" marB="0"/>
                </a:tc>
                <a:tc>
                  <a:txBody>
                    <a:bodyPr/>
                    <a:lstStyle/>
                    <a:p>
                      <a:pPr marL="91440" algn="l" fontAlgn="t"/>
                      <a:r>
                        <a:rPr lang="en-MY" sz="1200" u="none" strike="noStrike" dirty="0">
                          <a:effectLst/>
                          <a:latin typeface="+mn-lt"/>
                        </a:rPr>
                        <a:t>150°C </a:t>
                      </a:r>
                      <a:r>
                        <a:rPr lang="en-MY" sz="1200" u="none" strike="noStrike" dirty="0" err="1">
                          <a:effectLst/>
                          <a:latin typeface="+mn-lt"/>
                        </a:rPr>
                        <a:t>Tg</a:t>
                      </a:r>
                      <a:r>
                        <a:rPr lang="en-MY" sz="1200" u="none" strike="noStrike" dirty="0">
                          <a:effectLst/>
                          <a:latin typeface="+mn-lt"/>
                        </a:rPr>
                        <a:t>(100%)</a:t>
                      </a:r>
                      <a:endParaRPr lang="en-MY" sz="1200" b="0" i="0" u="none" strike="noStrike" dirty="0">
                        <a:solidFill>
                          <a:srgbClr val="000000"/>
                        </a:solidFill>
                        <a:effectLst/>
                        <a:latin typeface="+mn-lt"/>
                      </a:endParaRPr>
                    </a:p>
                  </a:txBody>
                  <a:tcPr marL="0" marR="0" marT="0" marB="0"/>
                </a:tc>
                <a:tc>
                  <a:txBody>
                    <a:bodyPr/>
                    <a:lstStyle/>
                    <a:p>
                      <a:pPr marL="91440" algn="l" fontAlgn="t"/>
                      <a:r>
                        <a:rPr lang="en-MY" sz="1200" u="none" strike="noStrike" dirty="0">
                          <a:effectLst/>
                          <a:latin typeface="+mn-lt"/>
                        </a:rPr>
                        <a:t>145°C </a:t>
                      </a:r>
                      <a:r>
                        <a:rPr lang="en-MY" sz="1200" u="none" strike="noStrike" dirty="0" err="1">
                          <a:effectLst/>
                          <a:latin typeface="+mn-lt"/>
                        </a:rPr>
                        <a:t>Tg</a:t>
                      </a:r>
                      <a:r>
                        <a:rPr lang="en-MY" sz="1200" u="none" strike="noStrike" dirty="0">
                          <a:effectLst/>
                          <a:latin typeface="+mn-lt"/>
                        </a:rPr>
                        <a:t>(100%)</a:t>
                      </a:r>
                      <a:endParaRPr lang="en-MY" sz="1200" b="0" i="0" u="none" strike="noStrike" dirty="0">
                        <a:solidFill>
                          <a:srgbClr val="000000"/>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lang="nn-NO" sz="1200" u="none" strike="noStrike" dirty="0">
                          <a:effectLst/>
                          <a:latin typeface="+mn-lt"/>
                        </a:rPr>
                        <a:t>150°C Tg(50%), </a:t>
                      </a:r>
                    </a:p>
                    <a:p>
                      <a:pPr marL="91440" algn="l" fontAlgn="t"/>
                      <a:r>
                        <a:rPr lang="nn-NO" sz="1200" u="none" strike="noStrike" dirty="0">
                          <a:effectLst/>
                          <a:latin typeface="+mn-lt"/>
                        </a:rPr>
                        <a:t>140°C Tg(30%),</a:t>
                      </a:r>
                    </a:p>
                    <a:p>
                      <a:pPr marL="91440" marR="0" lvl="0" indent="0" algn="l" defTabSz="609600" eaLnBrk="1" fontAlgn="t" latinLnBrk="0" hangingPunct="1">
                        <a:lnSpc>
                          <a:spcPct val="100000"/>
                        </a:lnSpc>
                        <a:spcBef>
                          <a:spcPts val="0"/>
                        </a:spcBef>
                        <a:spcAft>
                          <a:spcPts val="0"/>
                        </a:spcAft>
                        <a:buClrTx/>
                        <a:buSzTx/>
                        <a:buFontTx/>
                        <a:buNone/>
                        <a:tabLst/>
                        <a:defRPr/>
                      </a:pPr>
                      <a:r>
                        <a:rPr lang="nn-NO" sz="1200" u="none" strike="noStrike" dirty="0">
                          <a:effectLst/>
                          <a:latin typeface="+mn-lt"/>
                        </a:rPr>
                        <a:t>170°C Tg(20%)</a:t>
                      </a:r>
                    </a:p>
                  </a:txBody>
                  <a:tcPr marL="0" marR="0" marT="0" marB="0"/>
                </a:tc>
                <a:tc>
                  <a:txBody>
                    <a:bodyPr/>
                    <a:lstStyle/>
                    <a:p>
                      <a:pPr marL="91440" algn="l" fontAlgn="t"/>
                      <a:r>
                        <a:rPr lang="en-MY" sz="1200" u="none" strike="noStrike" dirty="0">
                          <a:effectLst/>
                          <a:latin typeface="+mn-lt"/>
                        </a:rPr>
                        <a:t>150°C Tg(100%)</a:t>
                      </a:r>
                      <a:endParaRPr lang="en-MY" sz="1200" b="0" i="0" u="none" strike="noStrike" dirty="0">
                        <a:solidFill>
                          <a:srgbClr val="000000"/>
                        </a:solidFill>
                        <a:effectLst/>
                        <a:latin typeface="+mn-lt"/>
                      </a:endParaRPr>
                    </a:p>
                  </a:txBody>
                  <a:tcPr marL="0" marR="0" marT="0" marB="0"/>
                </a:tc>
                <a:tc>
                  <a:txBody>
                    <a:bodyPr/>
                    <a:lstStyle/>
                    <a:p>
                      <a:pPr marL="91440" algn="l" fontAlgn="t"/>
                      <a:r>
                        <a:rPr lang="nn-NO" sz="1200" u="none" strike="noStrike" dirty="0">
                          <a:effectLst/>
                          <a:latin typeface="+mn-lt"/>
                        </a:rPr>
                        <a:t>140°C Tg(80%), </a:t>
                      </a:r>
                    </a:p>
                    <a:p>
                      <a:pPr marL="91440" algn="l" fontAlgn="t"/>
                      <a:r>
                        <a:rPr lang="nn-NO" sz="1200" u="none" strike="noStrike" dirty="0">
                          <a:effectLst/>
                          <a:latin typeface="+mn-lt"/>
                        </a:rPr>
                        <a:t>150°C Tg(20%)</a:t>
                      </a:r>
                      <a:endParaRPr lang="nn-NO" sz="1200" b="0" i="0" u="none" strike="noStrike" dirty="0">
                        <a:solidFill>
                          <a:srgbClr val="000000"/>
                        </a:solidFill>
                        <a:effectLst/>
                        <a:latin typeface="+mn-lt"/>
                      </a:endParaRPr>
                    </a:p>
                  </a:txBody>
                  <a:tcPr marL="0" marR="0" marT="0" marB="0"/>
                </a:tc>
                <a:extLst>
                  <a:ext uri="{0D108BD9-81ED-4DB2-BD59-A6C34878D82A}">
                    <a16:rowId xmlns:a16="http://schemas.microsoft.com/office/drawing/2014/main" val="161112178"/>
                  </a:ext>
                </a:extLst>
              </a:tr>
              <a:tr h="442587">
                <a:tc>
                  <a:txBody>
                    <a:bodyPr/>
                    <a:lstStyle/>
                    <a:p>
                      <a:pPr marL="91440" algn="l" fontAlgn="t"/>
                      <a:r>
                        <a:rPr lang="en-US" sz="1200" u="none" strike="noStrike" dirty="0">
                          <a:effectLst/>
                          <a:latin typeface="+mn-lt"/>
                        </a:rPr>
                        <a:t>Please list the PCB type that is used by %?</a:t>
                      </a:r>
                      <a:endParaRPr lang="en-US" sz="1200" b="0" i="0" u="none" strike="noStrike" dirty="0">
                        <a:solidFill>
                          <a:srgbClr val="000000"/>
                        </a:solidFill>
                        <a:effectLst/>
                        <a:latin typeface="+mn-lt"/>
                      </a:endParaRPr>
                    </a:p>
                  </a:txBody>
                  <a:tcPr marL="0" marR="0" marT="0" marB="0"/>
                </a:tc>
                <a:tc>
                  <a:txBody>
                    <a:bodyPr/>
                    <a:lstStyle/>
                    <a:p>
                      <a:pPr marL="91440" algn="l" fontAlgn="t"/>
                      <a:r>
                        <a:rPr lang="en-MY" sz="1200" u="none" strike="noStrike">
                          <a:effectLst/>
                          <a:latin typeface="+mn-lt"/>
                        </a:rPr>
                        <a:t>Type 3(100%)</a:t>
                      </a:r>
                      <a:endParaRPr lang="en-MY" sz="1200" b="0" i="0" u="none" strike="noStrike">
                        <a:solidFill>
                          <a:srgbClr val="000000"/>
                        </a:solidFill>
                        <a:effectLst/>
                        <a:latin typeface="+mn-lt"/>
                      </a:endParaRPr>
                    </a:p>
                  </a:txBody>
                  <a:tcPr marL="0" marR="0" marT="0" marB="0"/>
                </a:tc>
                <a:tc>
                  <a:txBody>
                    <a:bodyPr/>
                    <a:lstStyle/>
                    <a:p>
                      <a:pPr marL="91440" algn="l" fontAlgn="t"/>
                      <a:r>
                        <a:rPr lang="en-MY" sz="1200" u="none" strike="noStrike" dirty="0">
                          <a:effectLst/>
                          <a:latin typeface="+mn-lt"/>
                        </a:rPr>
                        <a:t>Type 3(100%)</a:t>
                      </a:r>
                      <a:endParaRPr lang="en-MY" sz="1200" b="0" i="0" u="none" strike="noStrike" dirty="0">
                        <a:solidFill>
                          <a:srgbClr val="000000"/>
                        </a:solidFill>
                        <a:effectLst/>
                        <a:latin typeface="+mn-lt"/>
                      </a:endParaRPr>
                    </a:p>
                  </a:txBody>
                  <a:tcPr marL="0" marR="0" marT="0" marB="0"/>
                </a:tc>
                <a:tc>
                  <a:txBody>
                    <a:bodyPr/>
                    <a:lstStyle/>
                    <a:p>
                      <a:pPr marL="91440" algn="l" fontAlgn="t"/>
                      <a:r>
                        <a:rPr lang="en-MY" sz="1200" u="none" strike="noStrike" dirty="0">
                          <a:effectLst/>
                          <a:latin typeface="+mn-lt"/>
                        </a:rPr>
                        <a:t>Type 3(100%)</a:t>
                      </a:r>
                      <a:endParaRPr lang="en-MY" sz="1200" b="0" i="0" u="none" strike="noStrike" dirty="0">
                        <a:solidFill>
                          <a:srgbClr val="000000"/>
                        </a:solidFill>
                        <a:effectLst/>
                        <a:latin typeface="+mn-lt"/>
                      </a:endParaRPr>
                    </a:p>
                  </a:txBody>
                  <a:tcPr marL="0" marR="0" marT="0" marB="0"/>
                </a:tc>
                <a:tc>
                  <a:txBody>
                    <a:bodyPr/>
                    <a:lstStyle/>
                    <a:p>
                      <a:pPr marL="91440" algn="l" fontAlgn="t"/>
                      <a:r>
                        <a:rPr lang="en-MY" sz="1200" u="none" strike="noStrike">
                          <a:effectLst/>
                          <a:latin typeface="+mn-lt"/>
                        </a:rPr>
                        <a:t>Type 3(100%)</a:t>
                      </a:r>
                      <a:endParaRPr lang="en-MY" sz="1200" b="0" i="0" u="none" strike="noStrike">
                        <a:solidFill>
                          <a:srgbClr val="000000"/>
                        </a:solidFill>
                        <a:effectLst/>
                        <a:latin typeface="+mn-lt"/>
                      </a:endParaRPr>
                    </a:p>
                  </a:txBody>
                  <a:tcPr marL="0" marR="0" marT="0" marB="0"/>
                </a:tc>
                <a:tc>
                  <a:txBody>
                    <a:bodyPr/>
                    <a:lstStyle/>
                    <a:p>
                      <a:pPr marL="91440" algn="l" fontAlgn="t"/>
                      <a:r>
                        <a:rPr lang="en-MY" sz="1200" u="none" strike="noStrike">
                          <a:effectLst/>
                          <a:latin typeface="+mn-lt"/>
                        </a:rPr>
                        <a:t>Type 3(100%)</a:t>
                      </a:r>
                      <a:endParaRPr lang="en-MY" sz="1200" b="0" i="0" u="none" strike="noStrike">
                        <a:solidFill>
                          <a:srgbClr val="000000"/>
                        </a:solidFill>
                        <a:effectLst/>
                        <a:latin typeface="+mn-lt"/>
                      </a:endParaRPr>
                    </a:p>
                  </a:txBody>
                  <a:tcPr marL="0" marR="0" marT="0" marB="0"/>
                </a:tc>
                <a:tc>
                  <a:txBody>
                    <a:bodyPr/>
                    <a:lstStyle/>
                    <a:p>
                      <a:pPr marL="91440" algn="l" fontAlgn="t"/>
                      <a:r>
                        <a:rPr lang="en-US" sz="1200" u="none" strike="noStrike" dirty="0">
                          <a:effectLst/>
                          <a:latin typeface="+mn-lt"/>
                        </a:rPr>
                        <a:t>Currently use Type 3(100%), but we will validate type 4 for PCIE5</a:t>
                      </a:r>
                      <a:endParaRPr lang="en-US" sz="1200" b="0" i="0" u="none" strike="noStrike" dirty="0">
                        <a:solidFill>
                          <a:srgbClr val="000000"/>
                        </a:solidFill>
                        <a:effectLst/>
                        <a:latin typeface="+mn-lt"/>
                      </a:endParaRPr>
                    </a:p>
                  </a:txBody>
                  <a:tcPr marL="0" marR="0" marT="0" marB="0"/>
                </a:tc>
                <a:extLst>
                  <a:ext uri="{0D108BD9-81ED-4DB2-BD59-A6C34878D82A}">
                    <a16:rowId xmlns:a16="http://schemas.microsoft.com/office/drawing/2014/main" val="4048944144"/>
                  </a:ext>
                </a:extLst>
              </a:tr>
              <a:tr h="442587">
                <a:tc>
                  <a:txBody>
                    <a:bodyPr/>
                    <a:lstStyle/>
                    <a:p>
                      <a:pPr marL="91440" algn="l" fontAlgn="t"/>
                      <a:r>
                        <a:rPr lang="en-US" sz="1200" u="none" strike="noStrike">
                          <a:effectLst/>
                          <a:latin typeface="+mn-lt"/>
                        </a:rPr>
                        <a:t>Please list the PCB layer count that is used by %  </a:t>
                      </a:r>
                      <a:endParaRPr lang="en-US" sz="1200" b="0" i="0" u="none" strike="noStrike">
                        <a:effectLst/>
                        <a:latin typeface="+mn-lt"/>
                      </a:endParaRPr>
                    </a:p>
                  </a:txBody>
                  <a:tcPr marL="0" marR="0" marT="0" marB="0"/>
                </a:tc>
                <a:tc>
                  <a:txBody>
                    <a:bodyPr/>
                    <a:lstStyle/>
                    <a:p>
                      <a:pPr marL="91440" algn="l" fontAlgn="t"/>
                      <a:r>
                        <a:rPr lang="en-US" sz="1200" u="none" strike="noStrike" dirty="0">
                          <a:effectLst/>
                          <a:latin typeface="+mn-lt"/>
                        </a:rPr>
                        <a:t>4 Layer(65%), </a:t>
                      </a:r>
                    </a:p>
                    <a:p>
                      <a:pPr marL="91440" algn="l" fontAlgn="t"/>
                      <a:r>
                        <a:rPr lang="en-US" sz="1200" u="none" strike="noStrike" dirty="0">
                          <a:effectLst/>
                          <a:latin typeface="+mn-lt"/>
                        </a:rPr>
                        <a:t>6 Layer(30%), </a:t>
                      </a:r>
                    </a:p>
                    <a:p>
                      <a:pPr marL="91440" algn="l" fontAlgn="t"/>
                      <a:r>
                        <a:rPr lang="en-US" sz="1200" u="none" strike="noStrike" dirty="0">
                          <a:effectLst/>
                          <a:latin typeface="+mn-lt"/>
                        </a:rPr>
                        <a:t>8 Layer(5%)</a:t>
                      </a:r>
                      <a:endParaRPr lang="en-US" sz="1200" b="0" i="0" u="none" strike="noStrike" dirty="0">
                        <a:solidFill>
                          <a:srgbClr val="000000"/>
                        </a:solidFill>
                        <a:effectLst/>
                        <a:latin typeface="+mn-lt"/>
                      </a:endParaRPr>
                    </a:p>
                  </a:txBody>
                  <a:tcPr marL="0" marR="0" marT="0" marB="0"/>
                </a:tc>
                <a:tc>
                  <a:txBody>
                    <a:bodyPr/>
                    <a:lstStyle/>
                    <a:p>
                      <a:pPr marL="91440" algn="l" fontAlgn="t"/>
                      <a:r>
                        <a:rPr lang="en-US" sz="1200" u="none" strike="noStrike" dirty="0">
                          <a:effectLst/>
                          <a:latin typeface="+mn-lt"/>
                        </a:rPr>
                        <a:t>4 Layer(60%), </a:t>
                      </a:r>
                    </a:p>
                    <a:p>
                      <a:pPr marL="91440" algn="l" fontAlgn="t"/>
                      <a:r>
                        <a:rPr lang="en-US" sz="1200" u="none" strike="noStrike" dirty="0">
                          <a:effectLst/>
                          <a:latin typeface="+mn-lt"/>
                        </a:rPr>
                        <a:t>6 Layer(25%), </a:t>
                      </a:r>
                    </a:p>
                    <a:p>
                      <a:pPr marL="91440" algn="l" fontAlgn="t"/>
                      <a:r>
                        <a:rPr lang="en-US" sz="1200" u="none" strike="noStrike" dirty="0">
                          <a:effectLst/>
                          <a:latin typeface="+mn-lt"/>
                        </a:rPr>
                        <a:t>8 Layer(15%)</a:t>
                      </a:r>
                      <a:endParaRPr lang="en-US" sz="1200" b="0" i="0" u="none" strike="noStrike" dirty="0">
                        <a:solidFill>
                          <a:srgbClr val="000000"/>
                        </a:solidFill>
                        <a:effectLst/>
                        <a:latin typeface="+mn-lt"/>
                      </a:endParaRPr>
                    </a:p>
                  </a:txBody>
                  <a:tcPr marL="0" marR="0" marT="0" marB="0"/>
                </a:tc>
                <a:tc>
                  <a:txBody>
                    <a:bodyPr/>
                    <a:lstStyle/>
                    <a:p>
                      <a:pPr marL="91440" algn="l" fontAlgn="t"/>
                      <a:r>
                        <a:rPr lang="en-US" sz="1200" u="none" strike="noStrike" dirty="0">
                          <a:effectLst/>
                          <a:latin typeface="+mn-lt"/>
                        </a:rPr>
                        <a:t>6 layers(50%),</a:t>
                      </a:r>
                    </a:p>
                    <a:p>
                      <a:pPr marL="91440" algn="l" fontAlgn="t"/>
                      <a:r>
                        <a:rPr lang="en-US" sz="1200" u="none" strike="noStrike" dirty="0">
                          <a:effectLst/>
                          <a:latin typeface="+mn-lt"/>
                        </a:rPr>
                        <a:t>4 layers(25%),  </a:t>
                      </a:r>
                    </a:p>
                    <a:p>
                      <a:pPr marL="91440" algn="l" fontAlgn="t"/>
                      <a:r>
                        <a:rPr lang="en-US" sz="1200" u="none" strike="noStrike" dirty="0">
                          <a:effectLst/>
                          <a:latin typeface="+mn-lt"/>
                        </a:rPr>
                        <a:t>8 layers(25%)</a:t>
                      </a:r>
                      <a:endParaRPr lang="en-US" sz="1200" b="0" i="0" u="none" strike="noStrike" dirty="0">
                        <a:solidFill>
                          <a:srgbClr val="000000"/>
                        </a:solidFill>
                        <a:effectLst/>
                        <a:latin typeface="+mn-lt"/>
                      </a:endParaRPr>
                    </a:p>
                  </a:txBody>
                  <a:tcPr marL="0" marR="0" marT="0" marB="0"/>
                </a:tc>
                <a:tc>
                  <a:txBody>
                    <a:bodyPr/>
                    <a:lstStyle/>
                    <a:p>
                      <a:pPr marL="91440" algn="l" fontAlgn="t"/>
                      <a:r>
                        <a:rPr lang="en-US" sz="1200" u="none" strike="noStrike" dirty="0">
                          <a:effectLst/>
                          <a:latin typeface="+mn-lt"/>
                        </a:rPr>
                        <a:t>6 Layer(40%),</a:t>
                      </a:r>
                    </a:p>
                    <a:p>
                      <a:pPr marL="91440" algn="l" fontAlgn="t"/>
                      <a:r>
                        <a:rPr lang="en-US" sz="1200" u="none" strike="noStrike" dirty="0">
                          <a:effectLst/>
                          <a:latin typeface="+mn-lt"/>
                        </a:rPr>
                        <a:t>4 Layer(30%), </a:t>
                      </a:r>
                    </a:p>
                    <a:p>
                      <a:pPr marL="91440" algn="l" fontAlgn="t"/>
                      <a:r>
                        <a:rPr lang="en-US" sz="1200" u="none" strike="noStrike" dirty="0">
                          <a:effectLst/>
                          <a:latin typeface="+mn-lt"/>
                        </a:rPr>
                        <a:t>8 Layer(30%)</a:t>
                      </a:r>
                      <a:endParaRPr lang="en-US" sz="1200" b="0" i="0" u="none" strike="noStrike" dirty="0">
                        <a:solidFill>
                          <a:srgbClr val="000000"/>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lang="en-US" sz="1200" u="none" strike="noStrike" dirty="0">
                          <a:effectLst/>
                          <a:latin typeface="+mn-lt"/>
                        </a:rPr>
                        <a:t>6 Layers(70%),</a:t>
                      </a:r>
                      <a:endParaRPr lang="en-US" sz="1200" b="0" i="0" u="none" strike="noStrike" dirty="0">
                        <a:solidFill>
                          <a:srgbClr val="000000"/>
                        </a:solidFill>
                        <a:effectLst/>
                        <a:latin typeface="+mn-lt"/>
                      </a:endParaRPr>
                    </a:p>
                    <a:p>
                      <a:pPr marL="91440" algn="l" fontAlgn="t"/>
                      <a:r>
                        <a:rPr lang="en-US" sz="1200" u="none" strike="noStrike" dirty="0">
                          <a:effectLst/>
                          <a:latin typeface="+mn-lt"/>
                        </a:rPr>
                        <a:t>4 Layers(20%),</a:t>
                      </a:r>
                    </a:p>
                    <a:p>
                      <a:pPr marL="91440" algn="l" fontAlgn="t"/>
                      <a:r>
                        <a:rPr lang="en-US" sz="1200" u="none" strike="noStrike" dirty="0">
                          <a:effectLst/>
                          <a:latin typeface="+mn-lt"/>
                        </a:rPr>
                        <a:t>8 Layer(10%) </a:t>
                      </a:r>
                    </a:p>
                  </a:txBody>
                  <a:tcPr marL="0" marR="0" marT="0" marB="0"/>
                </a:tc>
                <a:tc>
                  <a:txBody>
                    <a:bodyPr/>
                    <a:lstStyle/>
                    <a:p>
                      <a:pPr marL="91440" algn="l" fontAlgn="t"/>
                      <a:r>
                        <a:rPr lang="en-US" sz="1200" u="none" strike="noStrike" dirty="0">
                          <a:effectLst/>
                          <a:latin typeface="+mn-lt"/>
                        </a:rPr>
                        <a:t>Currently use 6 Layer(100%), but we will validate 4 Layer PCB</a:t>
                      </a:r>
                      <a:endParaRPr lang="en-US" sz="1200" b="0" i="0" u="none" strike="noStrike" dirty="0">
                        <a:solidFill>
                          <a:srgbClr val="000000"/>
                        </a:solidFill>
                        <a:effectLst/>
                        <a:latin typeface="+mn-lt"/>
                      </a:endParaRPr>
                    </a:p>
                  </a:txBody>
                  <a:tcPr marL="0" marR="0" marT="0" marB="0"/>
                </a:tc>
                <a:extLst>
                  <a:ext uri="{0D108BD9-81ED-4DB2-BD59-A6C34878D82A}">
                    <a16:rowId xmlns:a16="http://schemas.microsoft.com/office/drawing/2014/main" val="504902122"/>
                  </a:ext>
                </a:extLst>
              </a:tr>
              <a:tr h="737645">
                <a:tc>
                  <a:txBody>
                    <a:bodyPr/>
                    <a:lstStyle/>
                    <a:p>
                      <a:pPr marL="91440" algn="l" fontAlgn="t"/>
                      <a:r>
                        <a:rPr lang="en-US" sz="1200" u="none" strike="noStrike">
                          <a:effectLst/>
                          <a:latin typeface="+mn-lt"/>
                        </a:rPr>
                        <a:t>Please list the PCB board form factor that is used (by %)?</a:t>
                      </a:r>
                      <a:endParaRPr lang="en-US" sz="1200" b="0" i="0" u="none" strike="noStrike">
                        <a:solidFill>
                          <a:srgbClr val="000000"/>
                        </a:solidFill>
                        <a:effectLst/>
                        <a:latin typeface="+mn-lt"/>
                      </a:endParaRPr>
                    </a:p>
                  </a:txBody>
                  <a:tcPr marL="0" marR="0" marT="0" marB="0"/>
                </a:tc>
                <a:tc>
                  <a:txBody>
                    <a:bodyPr/>
                    <a:lstStyle/>
                    <a:p>
                      <a:pPr marL="91440" algn="l" fontAlgn="t"/>
                      <a:r>
                        <a:rPr lang="en-MY" sz="1200" u="none" strike="noStrike" dirty="0">
                          <a:effectLst/>
                          <a:latin typeface="+mn-lt"/>
                        </a:rPr>
                        <a:t>Non-standard sizes, e.g. 267mm x 245mm, 267mm x 220mm, 170mm x 170mm, etc...</a:t>
                      </a:r>
                      <a:endParaRPr lang="en-MY" sz="1200" b="0" i="0" u="none" strike="noStrike" dirty="0">
                        <a:solidFill>
                          <a:srgbClr val="000000"/>
                        </a:solidFill>
                        <a:effectLst/>
                        <a:latin typeface="+mn-lt"/>
                      </a:endParaRPr>
                    </a:p>
                  </a:txBody>
                  <a:tcPr marL="0" marR="0" marT="0" marB="0"/>
                </a:tc>
                <a:tc>
                  <a:txBody>
                    <a:bodyPr/>
                    <a:lstStyle/>
                    <a:p>
                      <a:pPr marL="91440" algn="l" fontAlgn="t"/>
                      <a:r>
                        <a:rPr lang="en-MY" sz="1200" u="none" strike="noStrike" dirty="0">
                          <a:effectLst/>
                          <a:latin typeface="+mn-lt"/>
                        </a:rPr>
                        <a:t>Custom(100%)</a:t>
                      </a:r>
                      <a:endParaRPr lang="en-MY" sz="1200" b="0" i="0" u="none" strike="noStrike" dirty="0">
                        <a:solidFill>
                          <a:srgbClr val="000000"/>
                        </a:solidFill>
                        <a:effectLst/>
                        <a:latin typeface="+mn-lt"/>
                      </a:endParaRPr>
                    </a:p>
                  </a:txBody>
                  <a:tcPr marL="0" marR="0" marT="0" marB="0"/>
                </a:tc>
                <a:tc>
                  <a:txBody>
                    <a:bodyPr/>
                    <a:lstStyle/>
                    <a:p>
                      <a:pPr marL="91440" algn="l" fontAlgn="t"/>
                      <a:r>
                        <a:rPr lang="en-MY" sz="1200" u="none" strike="noStrike" dirty="0" err="1">
                          <a:effectLst/>
                          <a:latin typeface="+mn-lt"/>
                        </a:rPr>
                        <a:t>mATX</a:t>
                      </a:r>
                      <a:r>
                        <a:rPr lang="en-MY" sz="1200" u="none" strike="noStrike" dirty="0">
                          <a:effectLst/>
                          <a:latin typeface="+mn-lt"/>
                        </a:rPr>
                        <a:t>(25%), </a:t>
                      </a:r>
                    </a:p>
                    <a:p>
                      <a:pPr marL="91440" algn="l" fontAlgn="t"/>
                      <a:r>
                        <a:rPr lang="en-MY" sz="1200" u="none" strike="noStrike" dirty="0">
                          <a:effectLst/>
                          <a:latin typeface="+mn-lt"/>
                        </a:rPr>
                        <a:t>DTX(25%), </a:t>
                      </a:r>
                    </a:p>
                    <a:p>
                      <a:pPr marL="91440" algn="l" fontAlgn="t"/>
                      <a:r>
                        <a:rPr lang="en-MY" sz="1200" u="none" strike="noStrike" dirty="0">
                          <a:effectLst/>
                          <a:latin typeface="+mn-lt"/>
                        </a:rPr>
                        <a:t>AIO(25%), </a:t>
                      </a:r>
                    </a:p>
                    <a:p>
                      <a:pPr marL="91440" algn="l" fontAlgn="t"/>
                      <a:r>
                        <a:rPr lang="en-MY" sz="1200" u="none" strike="noStrike" dirty="0" err="1">
                          <a:effectLst/>
                          <a:latin typeface="+mn-lt"/>
                        </a:rPr>
                        <a:t>miniPC</a:t>
                      </a:r>
                      <a:r>
                        <a:rPr lang="en-MY" sz="1200" u="none" strike="noStrike" dirty="0">
                          <a:effectLst/>
                          <a:latin typeface="+mn-lt"/>
                        </a:rPr>
                        <a:t>(25%)</a:t>
                      </a:r>
                      <a:endParaRPr lang="en-MY" sz="1200" b="0" i="0" u="none" strike="noStrike" dirty="0">
                        <a:solidFill>
                          <a:srgbClr val="000000"/>
                        </a:solidFill>
                        <a:effectLst/>
                        <a:latin typeface="+mn-lt"/>
                      </a:endParaRPr>
                    </a:p>
                  </a:txBody>
                  <a:tcPr marL="0" marR="0" marT="0" marB="0"/>
                </a:tc>
                <a:tc>
                  <a:txBody>
                    <a:bodyPr/>
                    <a:lstStyle/>
                    <a:p>
                      <a:pPr marL="91440" algn="l" fontAlgn="t"/>
                      <a:r>
                        <a:rPr lang="en-MY" sz="1200" u="none" strike="noStrike" dirty="0">
                          <a:effectLst/>
                          <a:latin typeface="+mn-lt"/>
                        </a:rPr>
                        <a:t>ATX(80%), </a:t>
                      </a:r>
                    </a:p>
                    <a:p>
                      <a:pPr marL="91440" algn="l" fontAlgn="t"/>
                      <a:r>
                        <a:rPr lang="en-MY" sz="1200" u="none" strike="noStrike" dirty="0" err="1">
                          <a:effectLst/>
                          <a:latin typeface="+mn-lt"/>
                        </a:rPr>
                        <a:t>uATX</a:t>
                      </a:r>
                      <a:r>
                        <a:rPr lang="en-MY" sz="1200" u="none" strike="noStrike" dirty="0">
                          <a:effectLst/>
                          <a:latin typeface="+mn-lt"/>
                        </a:rPr>
                        <a:t>(20%)</a:t>
                      </a:r>
                      <a:endParaRPr lang="en-MY" sz="1200" b="0" i="0" u="none" strike="noStrike" dirty="0">
                        <a:solidFill>
                          <a:srgbClr val="000000"/>
                        </a:solidFill>
                        <a:effectLst/>
                        <a:latin typeface="+mn-lt"/>
                      </a:endParaRPr>
                    </a:p>
                  </a:txBody>
                  <a:tcPr marL="0" marR="0" marT="0" marB="0"/>
                </a:tc>
                <a:tc>
                  <a:txBody>
                    <a:bodyPr/>
                    <a:lstStyle/>
                    <a:p>
                      <a:pPr marL="91440" algn="l" fontAlgn="t"/>
                      <a:r>
                        <a:rPr lang="en-MY" sz="1200" u="none" strike="noStrike" dirty="0">
                          <a:effectLst/>
                          <a:latin typeface="+mn-lt"/>
                        </a:rPr>
                        <a:t>ATX(43%), MATX(33%), ITX(19%), EATX(5%)</a:t>
                      </a:r>
                      <a:endParaRPr lang="en-MY" sz="1200" b="0" i="0" u="none" strike="noStrike" dirty="0">
                        <a:solidFill>
                          <a:srgbClr val="000000"/>
                        </a:solidFill>
                        <a:effectLst/>
                        <a:latin typeface="+mn-lt"/>
                      </a:endParaRPr>
                    </a:p>
                  </a:txBody>
                  <a:tcPr marL="0" marR="0" marT="0" marB="0"/>
                </a:tc>
                <a:tc>
                  <a:txBody>
                    <a:bodyPr/>
                    <a:lstStyle/>
                    <a:p>
                      <a:pPr marL="91440" algn="l" fontAlgn="t"/>
                      <a:r>
                        <a:rPr lang="en-US" sz="1200" u="none" strike="noStrike" dirty="0">
                          <a:effectLst/>
                          <a:latin typeface="+mn-lt"/>
                        </a:rPr>
                        <a:t>Our first project is ATX. Usually we might have ATX(40%), </a:t>
                      </a:r>
                      <a:r>
                        <a:rPr lang="en-US" sz="1200" u="none" strike="noStrike" dirty="0" err="1">
                          <a:effectLst/>
                          <a:latin typeface="+mn-lt"/>
                        </a:rPr>
                        <a:t>uATX</a:t>
                      </a:r>
                      <a:r>
                        <a:rPr lang="en-US" sz="1200" u="none" strike="noStrike" dirty="0">
                          <a:effectLst/>
                          <a:latin typeface="+mn-lt"/>
                        </a:rPr>
                        <a:t>(30%), mini-ITX(15%), and AIO(15%) in the future. </a:t>
                      </a:r>
                      <a:endParaRPr lang="en-US" sz="1200" b="0" i="0" u="none" strike="noStrike" dirty="0">
                        <a:solidFill>
                          <a:srgbClr val="000000"/>
                        </a:solidFill>
                        <a:effectLst/>
                        <a:latin typeface="+mn-lt"/>
                      </a:endParaRPr>
                    </a:p>
                  </a:txBody>
                  <a:tcPr marL="0" marR="0" marT="0" marB="0"/>
                </a:tc>
                <a:extLst>
                  <a:ext uri="{0D108BD9-81ED-4DB2-BD59-A6C34878D82A}">
                    <a16:rowId xmlns:a16="http://schemas.microsoft.com/office/drawing/2014/main" val="2963251170"/>
                  </a:ext>
                </a:extLst>
              </a:tr>
              <a:tr h="590116">
                <a:tc>
                  <a:txBody>
                    <a:bodyPr/>
                    <a:lstStyle/>
                    <a:p>
                      <a:pPr marL="91440" algn="l" fontAlgn="t"/>
                      <a:r>
                        <a:rPr lang="en-US" sz="1200" u="none" strike="noStrike" dirty="0">
                          <a:effectLst/>
                          <a:latin typeface="+mn-lt"/>
                        </a:rPr>
                        <a:t>What % of your designs are double sided assembly ?</a:t>
                      </a:r>
                      <a:endParaRPr lang="en-US" sz="1200" b="0" i="0" u="none" strike="noStrike" dirty="0">
                        <a:solidFill>
                          <a:srgbClr val="000000"/>
                        </a:solidFill>
                        <a:effectLst/>
                        <a:latin typeface="+mn-lt"/>
                      </a:endParaRPr>
                    </a:p>
                  </a:txBody>
                  <a:tcPr marL="0" marR="0" marT="0" marB="0"/>
                </a:tc>
                <a:tc>
                  <a:txBody>
                    <a:bodyPr/>
                    <a:lstStyle/>
                    <a:p>
                      <a:pPr marL="91440" algn="l" fontAlgn="t"/>
                      <a:r>
                        <a:rPr lang="en-US" sz="1200" u="none" strike="noStrike" dirty="0">
                          <a:effectLst/>
                          <a:latin typeface="+mn-lt"/>
                        </a:rPr>
                        <a:t>Double sided(90%),</a:t>
                      </a:r>
                      <a:br>
                        <a:rPr lang="en-US" sz="1200" u="none" strike="noStrike" dirty="0">
                          <a:effectLst/>
                          <a:latin typeface="+mn-lt"/>
                        </a:rPr>
                      </a:br>
                      <a:r>
                        <a:rPr lang="en-US" sz="1200" u="none" strike="noStrike" dirty="0">
                          <a:effectLst/>
                          <a:latin typeface="+mn-lt"/>
                        </a:rPr>
                        <a:t>Single sided(10%)</a:t>
                      </a:r>
                      <a:endParaRPr lang="en-US" sz="1200" b="0" i="0" u="none" strike="noStrike" dirty="0">
                        <a:solidFill>
                          <a:srgbClr val="000000"/>
                        </a:solidFill>
                        <a:effectLst/>
                        <a:latin typeface="+mn-lt"/>
                      </a:endParaRPr>
                    </a:p>
                  </a:txBody>
                  <a:tcPr marL="0" marR="0" marT="0" marB="0"/>
                </a:tc>
                <a:tc>
                  <a:txBody>
                    <a:bodyPr/>
                    <a:lstStyle/>
                    <a:p>
                      <a:pPr marL="91440" algn="l" fontAlgn="t"/>
                      <a:r>
                        <a:rPr lang="en-US" sz="1200" u="none" strike="noStrike" dirty="0">
                          <a:effectLst/>
                          <a:latin typeface="+mn-lt"/>
                        </a:rPr>
                        <a:t>Double sided(90%),</a:t>
                      </a:r>
                      <a:br>
                        <a:rPr lang="en-US" sz="1200" u="none" strike="noStrike" dirty="0">
                          <a:effectLst/>
                          <a:latin typeface="+mn-lt"/>
                        </a:rPr>
                      </a:br>
                      <a:r>
                        <a:rPr lang="en-US" sz="1200" u="none" strike="noStrike" dirty="0">
                          <a:effectLst/>
                          <a:latin typeface="+mn-lt"/>
                        </a:rPr>
                        <a:t>Single sided(10%)</a:t>
                      </a:r>
                      <a:endParaRPr lang="en-US" sz="1200" b="0" i="0" u="none" strike="noStrike" dirty="0">
                        <a:solidFill>
                          <a:srgbClr val="000000"/>
                        </a:solidFill>
                        <a:effectLst/>
                        <a:latin typeface="+mn-lt"/>
                      </a:endParaRPr>
                    </a:p>
                  </a:txBody>
                  <a:tcPr marL="0" marR="0" marT="0" marB="0"/>
                </a:tc>
                <a:tc>
                  <a:txBody>
                    <a:bodyPr/>
                    <a:lstStyle/>
                    <a:p>
                      <a:pPr marL="91440" algn="l" fontAlgn="t"/>
                      <a:r>
                        <a:rPr lang="en-US" sz="1200" u="none" strike="noStrike" dirty="0">
                          <a:effectLst/>
                          <a:latin typeface="+mn-lt"/>
                        </a:rPr>
                        <a:t>Single Sided(90%),</a:t>
                      </a:r>
                    </a:p>
                    <a:p>
                      <a:pPr marL="91440" algn="l" fontAlgn="t"/>
                      <a:r>
                        <a:rPr lang="en-US" sz="1200" u="none" strike="noStrike" dirty="0">
                          <a:effectLst/>
                          <a:latin typeface="+mn-lt"/>
                        </a:rPr>
                        <a:t>Double sided(10%)</a:t>
                      </a:r>
                    </a:p>
                  </a:txBody>
                  <a:tcPr marL="0" marR="0" marT="0" marB="0"/>
                </a:tc>
                <a:tc>
                  <a:txBody>
                    <a:bodyPr/>
                    <a:lstStyle/>
                    <a:p>
                      <a:pPr marL="91440" algn="l" fontAlgn="t"/>
                      <a:r>
                        <a:rPr lang="en-US" sz="1200" u="none" strike="noStrike" dirty="0">
                          <a:effectLst/>
                          <a:latin typeface="+mn-lt"/>
                        </a:rPr>
                        <a:t>Double Sided(80%),</a:t>
                      </a:r>
                      <a:br>
                        <a:rPr lang="en-US" sz="1200" u="none" strike="noStrike" dirty="0">
                          <a:effectLst/>
                          <a:latin typeface="+mn-lt"/>
                        </a:rPr>
                      </a:br>
                      <a:r>
                        <a:rPr lang="en-US" sz="1200" u="none" strike="noStrike" dirty="0">
                          <a:effectLst/>
                          <a:latin typeface="+mn-lt"/>
                        </a:rPr>
                        <a:t>Single Sided(20%)</a:t>
                      </a:r>
                      <a:endParaRPr lang="en-US" sz="1200" b="0" i="0" u="none" strike="noStrike" dirty="0">
                        <a:solidFill>
                          <a:srgbClr val="000000"/>
                        </a:solidFill>
                        <a:effectLst/>
                        <a:latin typeface="+mn-lt"/>
                      </a:endParaRPr>
                    </a:p>
                  </a:txBody>
                  <a:tcPr marL="0" marR="0" marT="0" marB="0"/>
                </a:tc>
                <a:tc>
                  <a:txBody>
                    <a:bodyPr/>
                    <a:lstStyle/>
                    <a:p>
                      <a:pPr marL="91440" algn="l" fontAlgn="t"/>
                      <a:r>
                        <a:rPr lang="en-US" sz="1200" u="none" strike="noStrike" dirty="0">
                          <a:effectLst/>
                          <a:latin typeface="+mn-lt"/>
                        </a:rPr>
                        <a:t>Double Sided(100%),</a:t>
                      </a:r>
                      <a:br>
                        <a:rPr lang="en-US" sz="1200" u="none" strike="noStrike" dirty="0">
                          <a:effectLst/>
                          <a:latin typeface="+mn-lt"/>
                        </a:rPr>
                      </a:br>
                      <a:r>
                        <a:rPr lang="en-US" sz="1200" u="none" strike="noStrike" dirty="0">
                          <a:effectLst/>
                          <a:latin typeface="+mn-lt"/>
                        </a:rPr>
                        <a:t>Single Sided(0%)</a:t>
                      </a:r>
                      <a:endParaRPr lang="en-US" sz="1200" b="0" i="0" u="none" strike="noStrike" dirty="0">
                        <a:solidFill>
                          <a:srgbClr val="000000"/>
                        </a:solidFill>
                        <a:effectLst/>
                        <a:latin typeface="+mn-lt"/>
                      </a:endParaRPr>
                    </a:p>
                  </a:txBody>
                  <a:tcPr marL="0" marR="0" marT="0" marB="0"/>
                </a:tc>
                <a:tc>
                  <a:txBody>
                    <a:bodyPr/>
                    <a:lstStyle/>
                    <a:p>
                      <a:pPr marL="91440" algn="l" fontAlgn="t"/>
                      <a:r>
                        <a:rPr lang="en-US" sz="1200" u="none" strike="noStrike" dirty="0">
                          <a:effectLst/>
                          <a:latin typeface="+mn-lt"/>
                        </a:rPr>
                        <a:t>Single Sided(70%),</a:t>
                      </a:r>
                    </a:p>
                    <a:p>
                      <a:pPr marL="91440" algn="l" fontAlgn="t"/>
                      <a:r>
                        <a:rPr lang="en-US" sz="1200" u="none" strike="noStrike" dirty="0">
                          <a:effectLst/>
                          <a:latin typeface="+mn-lt"/>
                        </a:rPr>
                        <a:t>Double Sided(30%),</a:t>
                      </a:r>
                      <a:endParaRPr lang="en-US" sz="1200" b="0" i="0" u="none" strike="noStrike" dirty="0">
                        <a:solidFill>
                          <a:srgbClr val="000000"/>
                        </a:solidFill>
                        <a:effectLst/>
                        <a:latin typeface="+mn-lt"/>
                      </a:endParaRPr>
                    </a:p>
                  </a:txBody>
                  <a:tcPr marL="0" marR="0" marT="0" marB="0"/>
                </a:tc>
                <a:extLst>
                  <a:ext uri="{0D108BD9-81ED-4DB2-BD59-A6C34878D82A}">
                    <a16:rowId xmlns:a16="http://schemas.microsoft.com/office/drawing/2014/main" val="3493957544"/>
                  </a:ext>
                </a:extLst>
              </a:tr>
              <a:tr h="590116">
                <a:tc>
                  <a:txBody>
                    <a:bodyPr/>
                    <a:lstStyle/>
                    <a:p>
                      <a:pPr marL="91440" algn="l" fontAlgn="t"/>
                      <a:r>
                        <a:rPr lang="en-US" sz="1200" u="none" strike="noStrike">
                          <a:effectLst/>
                          <a:latin typeface="+mn-lt"/>
                        </a:rPr>
                        <a:t>Is there capability to support 100% of your volume with double sided components?</a:t>
                      </a:r>
                      <a:endParaRPr lang="en-US" sz="1200" b="0" i="0" u="none" strike="noStrike">
                        <a:solidFill>
                          <a:srgbClr val="000000"/>
                        </a:solidFill>
                        <a:effectLst/>
                        <a:latin typeface="+mn-lt"/>
                      </a:endParaRPr>
                    </a:p>
                  </a:txBody>
                  <a:tcPr marL="0" marR="0" marT="0" marB="0"/>
                </a:tc>
                <a:tc>
                  <a:txBody>
                    <a:bodyPr/>
                    <a:lstStyle/>
                    <a:p>
                      <a:pPr marL="91440" algn="l" fontAlgn="t"/>
                      <a:r>
                        <a:rPr lang="en-MY" sz="1200" u="none" strike="noStrike">
                          <a:effectLst/>
                          <a:latin typeface="+mn-lt"/>
                        </a:rPr>
                        <a:t>Should be OK</a:t>
                      </a:r>
                      <a:endParaRPr lang="en-MY" sz="1200" b="0" i="0" u="none" strike="noStrike">
                        <a:solidFill>
                          <a:srgbClr val="000000"/>
                        </a:solidFill>
                        <a:effectLst/>
                        <a:latin typeface="+mn-lt"/>
                      </a:endParaRPr>
                    </a:p>
                  </a:txBody>
                  <a:tcPr marL="0" marR="0" marT="0" marB="0"/>
                </a:tc>
                <a:tc>
                  <a:txBody>
                    <a:bodyPr/>
                    <a:lstStyle/>
                    <a:p>
                      <a:pPr marL="91440" algn="l" fontAlgn="t"/>
                      <a:r>
                        <a:rPr lang="en-MY" sz="1200" u="none" strike="noStrike">
                          <a:effectLst/>
                          <a:latin typeface="+mn-lt"/>
                        </a:rPr>
                        <a:t> Yes</a:t>
                      </a:r>
                      <a:endParaRPr lang="en-MY" sz="1200" b="0" i="0" u="none" strike="noStrike">
                        <a:solidFill>
                          <a:srgbClr val="000000"/>
                        </a:solidFill>
                        <a:effectLst/>
                        <a:latin typeface="+mn-lt"/>
                      </a:endParaRPr>
                    </a:p>
                  </a:txBody>
                  <a:tcPr marL="0" marR="0" marT="0" marB="0"/>
                </a:tc>
                <a:tc>
                  <a:txBody>
                    <a:bodyPr/>
                    <a:lstStyle/>
                    <a:p>
                      <a:pPr marL="91440" algn="l" fontAlgn="t"/>
                      <a:r>
                        <a:rPr lang="en-MY" sz="1200" u="none" strike="noStrike">
                          <a:effectLst/>
                          <a:latin typeface="+mn-lt"/>
                        </a:rPr>
                        <a:t>Yes</a:t>
                      </a:r>
                      <a:endParaRPr lang="en-MY" sz="1200" b="0" i="0" u="none" strike="noStrike">
                        <a:solidFill>
                          <a:srgbClr val="000000"/>
                        </a:solidFill>
                        <a:effectLst/>
                        <a:latin typeface="+mn-lt"/>
                      </a:endParaRPr>
                    </a:p>
                  </a:txBody>
                  <a:tcPr marL="0" marR="0" marT="0" marB="0"/>
                </a:tc>
                <a:tc>
                  <a:txBody>
                    <a:bodyPr/>
                    <a:lstStyle/>
                    <a:p>
                      <a:pPr marL="91440" algn="l" fontAlgn="t"/>
                      <a:r>
                        <a:rPr lang="en-MY" sz="1200" u="none" strike="noStrike">
                          <a:effectLst/>
                          <a:latin typeface="+mn-lt"/>
                        </a:rPr>
                        <a:t>Yes</a:t>
                      </a:r>
                      <a:endParaRPr lang="en-MY" sz="1200" b="0" i="0" u="none" strike="noStrike">
                        <a:solidFill>
                          <a:srgbClr val="000000"/>
                        </a:solidFill>
                        <a:effectLst/>
                        <a:latin typeface="+mn-lt"/>
                      </a:endParaRPr>
                    </a:p>
                  </a:txBody>
                  <a:tcPr marL="0" marR="0" marT="0" marB="0"/>
                </a:tc>
                <a:tc>
                  <a:txBody>
                    <a:bodyPr/>
                    <a:lstStyle/>
                    <a:p>
                      <a:pPr marL="91440" algn="l" fontAlgn="t"/>
                      <a:r>
                        <a:rPr lang="en-MY" sz="1200" u="none" strike="noStrike">
                          <a:effectLst/>
                          <a:latin typeface="+mn-lt"/>
                        </a:rPr>
                        <a:t>Yes</a:t>
                      </a:r>
                      <a:endParaRPr lang="en-MY" sz="1200" b="0" i="0" u="none" strike="noStrike">
                        <a:solidFill>
                          <a:srgbClr val="000000"/>
                        </a:solidFill>
                        <a:effectLst/>
                        <a:latin typeface="+mn-lt"/>
                      </a:endParaRPr>
                    </a:p>
                  </a:txBody>
                  <a:tcPr marL="0" marR="0" marT="0" marB="0"/>
                </a:tc>
                <a:tc>
                  <a:txBody>
                    <a:bodyPr/>
                    <a:lstStyle/>
                    <a:p>
                      <a:pPr marL="91440" algn="l" fontAlgn="t"/>
                      <a:r>
                        <a:rPr lang="en-US" sz="1200" u="none" strike="noStrike" dirty="0">
                          <a:effectLst/>
                          <a:latin typeface="+mn-lt"/>
                        </a:rPr>
                        <a:t>Yes, we can support 100% double sided components</a:t>
                      </a:r>
                      <a:endParaRPr lang="en-US" sz="1200" b="0" i="0" u="none" strike="noStrike" dirty="0">
                        <a:solidFill>
                          <a:srgbClr val="000000"/>
                        </a:solidFill>
                        <a:effectLst/>
                        <a:latin typeface="+mn-lt"/>
                      </a:endParaRPr>
                    </a:p>
                  </a:txBody>
                  <a:tcPr marL="0" marR="0" marT="0" marB="0"/>
                </a:tc>
                <a:extLst>
                  <a:ext uri="{0D108BD9-81ED-4DB2-BD59-A6C34878D82A}">
                    <a16:rowId xmlns:a16="http://schemas.microsoft.com/office/drawing/2014/main" val="2448030881"/>
                  </a:ext>
                </a:extLst>
              </a:tr>
            </a:tbl>
          </a:graphicData>
        </a:graphic>
      </p:graphicFrame>
      <p:sp>
        <p:nvSpPr>
          <p:cNvPr id="5" name="Rectangle: Rounded Corners 4">
            <a:extLst>
              <a:ext uri="{FF2B5EF4-FFF2-40B4-BE49-F238E27FC236}">
                <a16:creationId xmlns:a16="http://schemas.microsoft.com/office/drawing/2014/main" id="{5EAE96D6-959B-4BB4-A2B4-93686BBC1247}"/>
              </a:ext>
            </a:extLst>
          </p:cNvPr>
          <p:cNvSpPr/>
          <p:nvPr/>
        </p:nvSpPr>
        <p:spPr>
          <a:xfrm>
            <a:off x="582082" y="4888508"/>
            <a:ext cx="10678583" cy="1475581"/>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6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140-150°C Tg PCB laminate are the most common</a:t>
            </a:r>
          </a:p>
          <a:p>
            <a:pPr marL="182880" marR="0" indent="-182880" defTabSz="825500" rtl="0" fontAlgn="auto" latinLnBrk="0" hangingPunct="0">
              <a:lnSpc>
                <a:spcPct val="100000"/>
              </a:lnSpc>
              <a:spcBef>
                <a:spcPts val="0"/>
              </a:spcBef>
              <a:spcAft>
                <a:spcPts val="0"/>
              </a:spcAft>
              <a:buClrTx/>
              <a:buSzTx/>
              <a:buFont typeface="Arial" panose="020B0604020202020204" pitchFamily="34" charset="0"/>
              <a:buChar char="•"/>
              <a:tabLst/>
            </a:pPr>
            <a:r>
              <a:rPr lang="en-US" sz="1600" dirty="0">
                <a:solidFill>
                  <a:srgbClr val="FFFFFF"/>
                </a:solidFill>
                <a:latin typeface="Helvetica Neue Medium"/>
                <a:ea typeface="Helvetica Neue Medium"/>
                <a:cs typeface="Helvetica Neue Medium"/>
                <a:sym typeface="Helvetica Neue Medium"/>
              </a:rPr>
              <a:t>Type 3 and 4/6/8 layer PCB designs are the most common</a:t>
            </a:r>
          </a:p>
          <a:p>
            <a:pPr marL="182880" marR="0" indent="-182880" defTabSz="825500" rtl="0" fontAlgn="auto" latinLnBrk="0" hangingPunct="0">
              <a:lnSpc>
                <a:spcPct val="100000"/>
              </a:lnSpc>
              <a:spcBef>
                <a:spcPts val="0"/>
              </a:spcBef>
              <a:spcAft>
                <a:spcPts val="0"/>
              </a:spcAft>
              <a:buClrTx/>
              <a:buSzTx/>
              <a:buFont typeface="Arial" panose="020B0604020202020204" pitchFamily="34" charset="0"/>
              <a:buChar char="•"/>
              <a:tabLst/>
            </a:pPr>
            <a:r>
              <a:rPr lang="en-US" sz="1600" dirty="0">
                <a:solidFill>
                  <a:srgbClr val="FFFFFF"/>
                </a:solidFill>
                <a:latin typeface="Helvetica Neue Medium"/>
                <a:ea typeface="Helvetica Neue Medium"/>
                <a:cs typeface="Helvetica Neue Medium"/>
                <a:sym typeface="Helvetica Neue Medium"/>
              </a:rPr>
              <a:t>While ATX is the most common form factor design, many other various form factors are also used</a:t>
            </a:r>
          </a:p>
          <a:p>
            <a:pPr marL="182880" marR="0" indent="-182880" defTabSz="825500" rtl="0" fontAlgn="auto" latinLnBrk="0" hangingPunct="0">
              <a:lnSpc>
                <a:spcPct val="100000"/>
              </a:lnSpc>
              <a:spcBef>
                <a:spcPts val="0"/>
              </a:spcBef>
              <a:spcAft>
                <a:spcPts val="0"/>
              </a:spcAft>
              <a:buClrTx/>
              <a:buSzTx/>
              <a:buFont typeface="Arial" panose="020B0604020202020204" pitchFamily="34" charset="0"/>
              <a:buChar char="•"/>
              <a:tabLst/>
            </a:pPr>
            <a:r>
              <a:rPr lang="en-US" sz="1600" dirty="0">
                <a:solidFill>
                  <a:srgbClr val="FFFFFF"/>
                </a:solidFill>
                <a:latin typeface="Helvetica Neue Medium"/>
                <a:ea typeface="Helvetica Neue Medium"/>
                <a:cs typeface="Helvetica Neue Medium"/>
                <a:sym typeface="Helvetica Neue Medium"/>
              </a:rPr>
              <a:t>It is most common for customers to have the capability to support double sided assembly</a:t>
            </a:r>
          </a:p>
        </p:txBody>
      </p:sp>
    </p:spTree>
    <p:extLst>
      <p:ext uri="{BB962C8B-B14F-4D97-AF65-F5344CB8AC3E}">
        <p14:creationId xmlns:p14="http://schemas.microsoft.com/office/powerpoint/2010/main" val="2548086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A9707-5156-41F3-9BD6-83853633F13F}"/>
              </a:ext>
            </a:extLst>
          </p:cNvPr>
          <p:cNvSpPr>
            <a:spLocks noGrp="1"/>
          </p:cNvSpPr>
          <p:nvPr>
            <p:ph type="title"/>
          </p:nvPr>
        </p:nvSpPr>
        <p:spPr>
          <a:xfrm>
            <a:off x="607484" y="31901"/>
            <a:ext cx="10972800" cy="576162"/>
          </a:xfrm>
        </p:spPr>
        <p:txBody>
          <a:bodyPr/>
          <a:lstStyle/>
          <a:p>
            <a:r>
              <a:rPr lang="en-US" dirty="0"/>
              <a:t>Printed Circuit Board Design (3)</a:t>
            </a:r>
            <a:endParaRPr lang="en-MY" dirty="0"/>
          </a:p>
        </p:txBody>
      </p:sp>
      <p:graphicFrame>
        <p:nvGraphicFramePr>
          <p:cNvPr id="4" name="Content Placeholder 3">
            <a:extLst>
              <a:ext uri="{FF2B5EF4-FFF2-40B4-BE49-F238E27FC236}">
                <a16:creationId xmlns:a16="http://schemas.microsoft.com/office/drawing/2014/main" id="{F4C4F9EE-9506-4C4C-B40C-F4271BBF6041}"/>
              </a:ext>
            </a:extLst>
          </p:cNvPr>
          <p:cNvGraphicFramePr>
            <a:graphicFrameLocks noGrp="1"/>
          </p:cNvGraphicFramePr>
          <p:nvPr>
            <p:ph sz="quarter" idx="13"/>
            <p:extLst>
              <p:ext uri="{D42A27DB-BD31-4B8C-83A1-F6EECF244321}">
                <p14:modId xmlns:p14="http://schemas.microsoft.com/office/powerpoint/2010/main" val="649156496"/>
              </p:ext>
            </p:extLst>
          </p:nvPr>
        </p:nvGraphicFramePr>
        <p:xfrm>
          <a:off x="346712" y="627402"/>
          <a:ext cx="11233572" cy="4367931"/>
        </p:xfrm>
        <a:graphic>
          <a:graphicData uri="http://schemas.openxmlformats.org/drawingml/2006/table">
            <a:tbl>
              <a:tblPr firstRow="1" bandRow="1">
                <a:tableStyleId>{69012ECD-51FC-41F1-AA8D-1B2483CD663E}</a:tableStyleId>
              </a:tblPr>
              <a:tblGrid>
                <a:gridCol w="1298004">
                  <a:extLst>
                    <a:ext uri="{9D8B030D-6E8A-4147-A177-3AD203B41FA5}">
                      <a16:colId xmlns:a16="http://schemas.microsoft.com/office/drawing/2014/main" val="1692685995"/>
                    </a:ext>
                  </a:extLst>
                </a:gridCol>
                <a:gridCol w="2064686">
                  <a:extLst>
                    <a:ext uri="{9D8B030D-6E8A-4147-A177-3AD203B41FA5}">
                      <a16:colId xmlns:a16="http://schemas.microsoft.com/office/drawing/2014/main" val="982294365"/>
                    </a:ext>
                  </a:extLst>
                </a:gridCol>
                <a:gridCol w="1412723">
                  <a:extLst>
                    <a:ext uri="{9D8B030D-6E8A-4147-A177-3AD203B41FA5}">
                      <a16:colId xmlns:a16="http://schemas.microsoft.com/office/drawing/2014/main" val="1788829243"/>
                    </a:ext>
                  </a:extLst>
                </a:gridCol>
                <a:gridCol w="1282070">
                  <a:extLst>
                    <a:ext uri="{9D8B030D-6E8A-4147-A177-3AD203B41FA5}">
                      <a16:colId xmlns:a16="http://schemas.microsoft.com/office/drawing/2014/main" val="914312967"/>
                    </a:ext>
                  </a:extLst>
                </a:gridCol>
                <a:gridCol w="1562938">
                  <a:extLst>
                    <a:ext uri="{9D8B030D-6E8A-4147-A177-3AD203B41FA5}">
                      <a16:colId xmlns:a16="http://schemas.microsoft.com/office/drawing/2014/main" val="1362813313"/>
                    </a:ext>
                  </a:extLst>
                </a:gridCol>
                <a:gridCol w="1261534">
                  <a:extLst>
                    <a:ext uri="{9D8B030D-6E8A-4147-A177-3AD203B41FA5}">
                      <a16:colId xmlns:a16="http://schemas.microsoft.com/office/drawing/2014/main" val="3296549446"/>
                    </a:ext>
                  </a:extLst>
                </a:gridCol>
                <a:gridCol w="1109133">
                  <a:extLst>
                    <a:ext uri="{9D8B030D-6E8A-4147-A177-3AD203B41FA5}">
                      <a16:colId xmlns:a16="http://schemas.microsoft.com/office/drawing/2014/main" val="2579843292"/>
                    </a:ext>
                  </a:extLst>
                </a:gridCol>
                <a:gridCol w="1242484">
                  <a:extLst>
                    <a:ext uri="{9D8B030D-6E8A-4147-A177-3AD203B41FA5}">
                      <a16:colId xmlns:a16="http://schemas.microsoft.com/office/drawing/2014/main" val="3841248342"/>
                    </a:ext>
                  </a:extLst>
                </a:gridCol>
              </a:tblGrid>
              <a:tr h="174441">
                <a:tc>
                  <a:txBody>
                    <a:bodyPr/>
                    <a:lstStyle/>
                    <a:p>
                      <a:pPr marL="91440" algn="l" fontAlgn="t"/>
                      <a:r>
                        <a:rPr lang="en-MY" sz="1200" u="none" strike="noStrike" dirty="0">
                          <a:effectLst/>
                        </a:rPr>
                        <a:t>Area of Interest</a:t>
                      </a:r>
                      <a:endParaRPr lang="en-MY" sz="1200" b="1" i="0" u="none" strike="noStrike" dirty="0">
                        <a:solidFill>
                          <a:srgbClr val="000000"/>
                        </a:solidFill>
                        <a:effectLst/>
                        <a:latin typeface="+mn-lt"/>
                      </a:endParaRPr>
                    </a:p>
                  </a:txBody>
                  <a:tcPr marL="0" marR="0" marT="0" marB="0"/>
                </a:tc>
                <a:tc>
                  <a:txBody>
                    <a:bodyPr/>
                    <a:lstStyle/>
                    <a:p>
                      <a:pPr marL="91440" algn="l" fontAlgn="t"/>
                      <a:endParaRPr lang="en-MY" sz="12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LENOVO (MSI)</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DELL</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ACER (WISTRON)</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ASUSTEK</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MSI</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ASROCK</a:t>
                      </a:r>
                      <a:endParaRPr lang="en-MY" sz="1000" b="1" i="0" u="none" strike="noStrike" dirty="0">
                        <a:solidFill>
                          <a:srgbClr val="000000"/>
                        </a:solidFill>
                        <a:effectLst/>
                        <a:latin typeface="+mn-lt"/>
                      </a:endParaRPr>
                    </a:p>
                  </a:txBody>
                  <a:tcPr marL="0" marR="0" marT="0" marB="0"/>
                </a:tc>
                <a:extLst>
                  <a:ext uri="{0D108BD9-81ED-4DB2-BD59-A6C34878D82A}">
                    <a16:rowId xmlns:a16="http://schemas.microsoft.com/office/drawing/2014/main" val="3852518198"/>
                  </a:ext>
                </a:extLst>
              </a:tr>
              <a:tr h="847146">
                <a:tc rowSpan="2">
                  <a:txBody>
                    <a:bodyPr/>
                    <a:lstStyle/>
                    <a:p>
                      <a:pPr marL="91440" algn="l" fontAlgn="t"/>
                      <a:r>
                        <a:rPr lang="en-MY" sz="1200" u="none" strike="noStrike" dirty="0">
                          <a:effectLst/>
                        </a:rPr>
                        <a:t>Via &amp; Pad</a:t>
                      </a:r>
                    </a:p>
                    <a:p>
                      <a:pPr marL="91440" algn="l" fontAlgn="t"/>
                      <a:r>
                        <a:rPr lang="en-MY" sz="1200" u="none" strike="noStrike" dirty="0">
                          <a:effectLst/>
                        </a:rPr>
                        <a:t> </a:t>
                      </a:r>
                      <a:endParaRPr lang="en-MY" sz="1200" b="0" i="0" u="none" strike="noStrike" dirty="0">
                        <a:effectLst/>
                        <a:latin typeface="+mn-lt"/>
                      </a:endParaRPr>
                    </a:p>
                  </a:txBody>
                  <a:tcPr marL="0" marR="0" marT="0" marB="0"/>
                </a:tc>
                <a:tc>
                  <a:txBody>
                    <a:bodyPr/>
                    <a:lstStyle/>
                    <a:p>
                      <a:pPr marL="91440" algn="l" fontAlgn="t"/>
                      <a:r>
                        <a:rPr lang="en-MY" sz="1200" u="none" strike="noStrike" dirty="0">
                          <a:effectLst/>
                        </a:rPr>
                        <a:t>What is the minimum via pad stack (drill diameter / via pad diameter / </a:t>
                      </a:r>
                      <a:r>
                        <a:rPr lang="en-MY" sz="1200" u="none" strike="noStrike" dirty="0" err="1">
                          <a:effectLst/>
                        </a:rPr>
                        <a:t>antipad</a:t>
                      </a:r>
                      <a:r>
                        <a:rPr lang="en-MY" sz="1200" u="none" strike="noStrike" dirty="0">
                          <a:effectLst/>
                        </a:rPr>
                        <a:t> diameter)?</a:t>
                      </a:r>
                      <a:endParaRPr lang="en-MY" sz="1200" b="0" i="0" u="none" strike="noStrike" dirty="0">
                        <a:solidFill>
                          <a:srgbClr val="000000"/>
                        </a:solidFill>
                        <a:effectLst/>
                        <a:latin typeface="+mn-lt"/>
                      </a:endParaRPr>
                    </a:p>
                  </a:txBody>
                  <a:tcPr marL="0" marR="0" marT="0" marB="0"/>
                </a:tc>
                <a:tc>
                  <a:txBody>
                    <a:bodyPr/>
                    <a:lstStyle/>
                    <a:p>
                      <a:pPr marL="91440" algn="l" fontAlgn="t"/>
                      <a:r>
                        <a:rPr lang="es-ES" sz="1200" u="none" strike="noStrike" dirty="0">
                          <a:effectLst/>
                        </a:rPr>
                        <a:t>10mil drill / </a:t>
                      </a:r>
                    </a:p>
                    <a:p>
                      <a:pPr marL="91440" algn="l" fontAlgn="t"/>
                      <a:r>
                        <a:rPr lang="es-ES" sz="1200" u="none" strike="noStrike" dirty="0">
                          <a:effectLst/>
                        </a:rPr>
                        <a:t>20mil </a:t>
                      </a:r>
                      <a:r>
                        <a:rPr lang="es-ES" sz="1200" u="none" strike="noStrike" dirty="0" err="1">
                          <a:effectLst/>
                        </a:rPr>
                        <a:t>pad</a:t>
                      </a:r>
                      <a:r>
                        <a:rPr lang="es-ES" sz="1200" u="none" strike="noStrike" dirty="0">
                          <a:effectLst/>
                        </a:rPr>
                        <a:t> / </a:t>
                      </a:r>
                    </a:p>
                    <a:p>
                      <a:pPr marL="91440" algn="l" fontAlgn="t"/>
                      <a:r>
                        <a:rPr lang="es-ES" sz="1200" u="none" strike="noStrike" dirty="0">
                          <a:effectLst/>
                        </a:rPr>
                        <a:t>31mil </a:t>
                      </a:r>
                      <a:r>
                        <a:rPr lang="es-ES" sz="1200" u="none" strike="noStrike" dirty="0" err="1">
                          <a:effectLst/>
                        </a:rPr>
                        <a:t>antipad</a:t>
                      </a:r>
                      <a:endParaRPr lang="es-ES" sz="1200" b="0" i="0" u="none" strike="noStrike" dirty="0">
                        <a:solidFill>
                          <a:srgbClr val="000000"/>
                        </a:solidFill>
                        <a:effectLst/>
                        <a:latin typeface="+mn-lt"/>
                      </a:endParaRPr>
                    </a:p>
                  </a:txBody>
                  <a:tcPr marL="0" marR="0" marT="0" marB="0"/>
                </a:tc>
                <a:tc>
                  <a:txBody>
                    <a:bodyPr/>
                    <a:lstStyle/>
                    <a:p>
                      <a:pPr marL="91440" algn="l" fontAlgn="t"/>
                      <a:r>
                        <a:rPr lang="es-ES" sz="1200" u="none" strike="noStrike" dirty="0">
                          <a:effectLst/>
                        </a:rPr>
                        <a:t>8~10mil drill / 18mil </a:t>
                      </a:r>
                      <a:r>
                        <a:rPr lang="es-ES" sz="1200" u="none" strike="noStrike" dirty="0" err="1">
                          <a:effectLst/>
                        </a:rPr>
                        <a:t>pad</a:t>
                      </a:r>
                      <a:r>
                        <a:rPr lang="es-ES" sz="1200" u="none" strike="noStrike" dirty="0">
                          <a:effectLst/>
                        </a:rPr>
                        <a:t> / 28mil </a:t>
                      </a:r>
                      <a:r>
                        <a:rPr lang="es-ES" sz="1200" u="none" strike="noStrike" dirty="0" err="1">
                          <a:effectLst/>
                        </a:rPr>
                        <a:t>antipad</a:t>
                      </a:r>
                      <a:endParaRPr lang="es-ES" sz="1200" b="0" i="0" u="none" strike="noStrike" dirty="0">
                        <a:solidFill>
                          <a:srgbClr val="000000"/>
                        </a:solidFill>
                        <a:effectLst/>
                        <a:latin typeface="+mn-lt"/>
                      </a:endParaRPr>
                    </a:p>
                  </a:txBody>
                  <a:tcPr marL="0" marR="0" marT="0" marB="0"/>
                </a:tc>
                <a:tc>
                  <a:txBody>
                    <a:bodyPr/>
                    <a:lstStyle/>
                    <a:p>
                      <a:pPr marL="91440" algn="l" fontAlgn="t"/>
                      <a:r>
                        <a:rPr lang="en-MY" sz="1200" u="none" strike="noStrike" dirty="0">
                          <a:effectLst/>
                        </a:rPr>
                        <a:t>8mil drill (Finish hole size) / </a:t>
                      </a:r>
                    </a:p>
                    <a:p>
                      <a:pPr marL="91440" algn="l" fontAlgn="t"/>
                      <a:r>
                        <a:rPr lang="en-MY" sz="1200" u="none" strike="noStrike" dirty="0">
                          <a:effectLst/>
                        </a:rPr>
                        <a:t>18mil pad / </a:t>
                      </a:r>
                    </a:p>
                    <a:p>
                      <a:pPr marL="91440" algn="l" fontAlgn="t"/>
                      <a:r>
                        <a:rPr lang="en-MY" sz="1200" u="none" strike="noStrike" dirty="0">
                          <a:effectLst/>
                        </a:rPr>
                        <a:t>28mil </a:t>
                      </a:r>
                      <a:r>
                        <a:rPr lang="en-MY" sz="1200" u="none" strike="noStrike" dirty="0" err="1">
                          <a:effectLst/>
                        </a:rPr>
                        <a:t>antipad</a:t>
                      </a:r>
                      <a:endParaRPr lang="en-MY" sz="1200" b="0" i="0" u="none" strike="noStrike" dirty="0">
                        <a:solidFill>
                          <a:srgbClr val="000000"/>
                        </a:solidFill>
                        <a:effectLst/>
                        <a:latin typeface="+mn-lt"/>
                      </a:endParaRPr>
                    </a:p>
                  </a:txBody>
                  <a:tcPr marL="0" marR="0" marT="0" marB="0"/>
                </a:tc>
                <a:tc>
                  <a:txBody>
                    <a:bodyPr/>
                    <a:lstStyle/>
                    <a:p>
                      <a:pPr marL="91440" algn="l" fontAlgn="t"/>
                      <a:r>
                        <a:rPr lang="es-ES" sz="1200" u="none" strike="noStrike" dirty="0">
                          <a:effectLst/>
                        </a:rPr>
                        <a:t>10mil drill / </a:t>
                      </a:r>
                    </a:p>
                    <a:p>
                      <a:pPr marL="91440" algn="l" fontAlgn="t"/>
                      <a:r>
                        <a:rPr lang="es-ES" sz="1200" u="none" strike="noStrike" dirty="0">
                          <a:effectLst/>
                        </a:rPr>
                        <a:t>20mil </a:t>
                      </a:r>
                      <a:r>
                        <a:rPr lang="es-ES" sz="1200" u="none" strike="noStrike" dirty="0" err="1">
                          <a:effectLst/>
                        </a:rPr>
                        <a:t>pad</a:t>
                      </a:r>
                      <a:r>
                        <a:rPr lang="es-ES" sz="1200" u="none" strike="noStrike" dirty="0">
                          <a:effectLst/>
                        </a:rPr>
                        <a:t> / </a:t>
                      </a:r>
                    </a:p>
                    <a:p>
                      <a:pPr marL="91440" algn="l" fontAlgn="t"/>
                      <a:r>
                        <a:rPr lang="es-ES" sz="1200" u="none" strike="noStrike" dirty="0">
                          <a:effectLst/>
                        </a:rPr>
                        <a:t>30mil </a:t>
                      </a:r>
                      <a:r>
                        <a:rPr lang="es-ES" sz="1200" u="none" strike="noStrike" dirty="0" err="1">
                          <a:effectLst/>
                        </a:rPr>
                        <a:t>antipad</a:t>
                      </a:r>
                      <a:endParaRPr lang="es-ES" sz="1200" b="0" i="0" u="none" strike="noStrike" dirty="0">
                        <a:solidFill>
                          <a:srgbClr val="000000"/>
                        </a:solidFill>
                        <a:effectLst/>
                        <a:latin typeface="+mn-lt"/>
                      </a:endParaRPr>
                    </a:p>
                  </a:txBody>
                  <a:tcPr marL="0" marR="0" marT="0" marB="0"/>
                </a:tc>
                <a:tc>
                  <a:txBody>
                    <a:bodyPr/>
                    <a:lstStyle/>
                    <a:p>
                      <a:pPr marL="91440" algn="l" fontAlgn="t"/>
                      <a:r>
                        <a:rPr lang="es-ES" sz="1200" u="none" strike="noStrike" dirty="0">
                          <a:effectLst/>
                        </a:rPr>
                        <a:t>12mil drill / 22mil </a:t>
                      </a:r>
                      <a:r>
                        <a:rPr lang="es-ES" sz="1200" u="none" strike="noStrike" dirty="0" err="1">
                          <a:effectLst/>
                        </a:rPr>
                        <a:t>pad</a:t>
                      </a:r>
                      <a:r>
                        <a:rPr lang="es-ES" sz="1200" u="none" strike="noStrike" dirty="0">
                          <a:effectLst/>
                        </a:rPr>
                        <a:t> / 32mil </a:t>
                      </a:r>
                      <a:r>
                        <a:rPr lang="es-ES" sz="1200" u="none" strike="noStrike" dirty="0" err="1">
                          <a:effectLst/>
                        </a:rPr>
                        <a:t>antipad</a:t>
                      </a:r>
                      <a:r>
                        <a:rPr lang="es-ES" sz="1200" u="none" strike="noStrike" dirty="0">
                          <a:effectLst/>
                        </a:rPr>
                        <a:t> </a:t>
                      </a:r>
                      <a:endParaRPr lang="es-ES" sz="1200" b="0" i="0" u="none" strike="noStrike" dirty="0">
                        <a:solidFill>
                          <a:srgbClr val="000000"/>
                        </a:solidFill>
                        <a:effectLst/>
                        <a:latin typeface="+mn-lt"/>
                      </a:endParaRPr>
                    </a:p>
                  </a:txBody>
                  <a:tcPr marL="0" marR="0" marT="0" marB="0"/>
                </a:tc>
                <a:tc>
                  <a:txBody>
                    <a:bodyPr/>
                    <a:lstStyle/>
                    <a:p>
                      <a:pPr marL="91440" algn="l" fontAlgn="t"/>
                      <a:r>
                        <a:rPr lang="es-ES" sz="1200" u="none" strike="noStrike">
                          <a:effectLst/>
                        </a:rPr>
                        <a:t>10mil drill / 18mil pad / 28mil antipad</a:t>
                      </a:r>
                      <a:endParaRPr lang="es-ES" sz="1200" b="0" i="0" u="none" strike="noStrike">
                        <a:solidFill>
                          <a:srgbClr val="000000"/>
                        </a:solidFill>
                        <a:effectLst/>
                        <a:latin typeface="+mn-lt"/>
                      </a:endParaRPr>
                    </a:p>
                  </a:txBody>
                  <a:tcPr marL="0" marR="0" marT="0" marB="0"/>
                </a:tc>
                <a:extLst>
                  <a:ext uri="{0D108BD9-81ED-4DB2-BD59-A6C34878D82A}">
                    <a16:rowId xmlns:a16="http://schemas.microsoft.com/office/drawing/2014/main" val="161112178"/>
                  </a:ext>
                </a:extLst>
              </a:tr>
              <a:tr h="1186005">
                <a:tc vMerge="1">
                  <a:txBody>
                    <a:bodyPr/>
                    <a:lstStyle/>
                    <a:p>
                      <a:pPr algn="ctr" fontAlgn="t"/>
                      <a:endParaRPr lang="en-MY" sz="1200" b="0" i="0" u="none" strike="noStrike" dirty="0">
                        <a:effectLst/>
                        <a:latin typeface="+mn-lt"/>
                      </a:endParaRPr>
                    </a:p>
                  </a:txBody>
                  <a:tcPr marL="0" marR="0" marT="0" marB="0"/>
                </a:tc>
                <a:tc>
                  <a:txBody>
                    <a:bodyPr/>
                    <a:lstStyle/>
                    <a:p>
                      <a:pPr marL="91440" algn="l" fontAlgn="t"/>
                      <a:r>
                        <a:rPr lang="en-US" sz="1200" u="none" strike="noStrike" dirty="0">
                          <a:effectLst/>
                        </a:rPr>
                        <a:t>Are the BGA land area vias not covered with soldermask, or are they capped / plugged / covered with soldermask (no exposed vias)?</a:t>
                      </a:r>
                      <a:endParaRPr lang="en-US" sz="1200" b="0" i="0" u="none" strike="noStrike" dirty="0">
                        <a:solidFill>
                          <a:srgbClr val="000000"/>
                        </a:solidFill>
                        <a:effectLst/>
                        <a:latin typeface="+mn-lt"/>
                      </a:endParaRPr>
                    </a:p>
                  </a:txBody>
                  <a:tcPr marL="0" marR="0" marT="0" marB="0"/>
                </a:tc>
                <a:tc>
                  <a:txBody>
                    <a:bodyPr/>
                    <a:lstStyle/>
                    <a:p>
                      <a:pPr marL="91440" algn="l" fontAlgn="t"/>
                      <a:r>
                        <a:rPr lang="en-MY" sz="1200" u="none" strike="noStrike" dirty="0">
                          <a:effectLst/>
                        </a:rPr>
                        <a:t>covered with </a:t>
                      </a:r>
                      <a:r>
                        <a:rPr lang="en-MY" sz="1200" u="none" strike="noStrike" dirty="0" err="1">
                          <a:effectLst/>
                        </a:rPr>
                        <a:t>soldermask</a:t>
                      </a:r>
                      <a:endParaRPr lang="en-MY" sz="1200" b="0" i="0" u="none" strike="noStrike" dirty="0">
                        <a:solidFill>
                          <a:srgbClr val="000000"/>
                        </a:solidFill>
                        <a:effectLst/>
                        <a:latin typeface="+mn-lt"/>
                      </a:endParaRPr>
                    </a:p>
                  </a:txBody>
                  <a:tcPr marL="0" marR="0" marT="0" marB="0"/>
                </a:tc>
                <a:tc>
                  <a:txBody>
                    <a:bodyPr/>
                    <a:lstStyle/>
                    <a:p>
                      <a:pPr marL="91440" algn="l" fontAlgn="t"/>
                      <a:r>
                        <a:rPr lang="en-US" sz="1200" u="none" strike="noStrike" dirty="0">
                          <a:effectLst/>
                        </a:rPr>
                        <a:t>both are used (covered &amp; not covered with </a:t>
                      </a:r>
                      <a:r>
                        <a:rPr lang="en-US" sz="1200" u="none" strike="noStrike" dirty="0" err="1">
                          <a:effectLst/>
                        </a:rPr>
                        <a:t>soldermask</a:t>
                      </a:r>
                      <a:r>
                        <a:rPr lang="en-US" sz="1200" u="none" strike="noStrike" dirty="0">
                          <a:effectLst/>
                        </a:rPr>
                        <a:t>)</a:t>
                      </a:r>
                      <a:endParaRPr lang="en-US" sz="1200" b="0" i="0" u="none" strike="noStrike" dirty="0">
                        <a:solidFill>
                          <a:srgbClr val="000000"/>
                        </a:solidFill>
                        <a:effectLst/>
                        <a:latin typeface="+mn-lt"/>
                      </a:endParaRPr>
                    </a:p>
                  </a:txBody>
                  <a:tcPr marL="0" marR="0" marT="0" marB="0"/>
                </a:tc>
                <a:tc>
                  <a:txBody>
                    <a:bodyPr/>
                    <a:lstStyle/>
                    <a:p>
                      <a:pPr marL="91440" algn="l" fontAlgn="t"/>
                      <a:r>
                        <a:rPr lang="en-MY" sz="1200" u="none" strike="noStrike" dirty="0">
                          <a:effectLst/>
                        </a:rPr>
                        <a:t>covered with </a:t>
                      </a:r>
                      <a:r>
                        <a:rPr lang="en-MY" sz="1200" u="none" strike="noStrike" dirty="0" err="1">
                          <a:effectLst/>
                        </a:rPr>
                        <a:t>soldermask</a:t>
                      </a:r>
                      <a:endParaRPr lang="en-MY" sz="1200" b="0" i="0" u="none" strike="noStrike" dirty="0">
                        <a:solidFill>
                          <a:srgbClr val="000000"/>
                        </a:solidFill>
                        <a:effectLst/>
                        <a:latin typeface="+mn-lt"/>
                      </a:endParaRPr>
                    </a:p>
                  </a:txBody>
                  <a:tcPr marL="0" marR="0" marT="0" marB="0"/>
                </a:tc>
                <a:tc>
                  <a:txBody>
                    <a:bodyPr/>
                    <a:lstStyle/>
                    <a:p>
                      <a:pPr marL="91440" algn="l" fontAlgn="t"/>
                      <a:r>
                        <a:rPr lang="en-MY" sz="1200" u="none" strike="noStrike" dirty="0">
                          <a:effectLst/>
                        </a:rPr>
                        <a:t>covered with </a:t>
                      </a:r>
                      <a:r>
                        <a:rPr lang="en-MY" sz="1200" u="none" strike="noStrike" dirty="0" err="1">
                          <a:effectLst/>
                        </a:rPr>
                        <a:t>soldermask</a:t>
                      </a:r>
                      <a:endParaRPr lang="en-MY" sz="1200" b="0" i="0" u="none" strike="noStrike" dirty="0">
                        <a:solidFill>
                          <a:srgbClr val="000000"/>
                        </a:solidFill>
                        <a:effectLst/>
                        <a:latin typeface="+mn-lt"/>
                      </a:endParaRPr>
                    </a:p>
                  </a:txBody>
                  <a:tcPr marL="0" marR="0" marT="0" marB="0"/>
                </a:tc>
                <a:tc>
                  <a:txBody>
                    <a:bodyPr/>
                    <a:lstStyle/>
                    <a:p>
                      <a:pPr marL="91440" algn="l" fontAlgn="t"/>
                      <a:r>
                        <a:rPr lang="en-MY" sz="1200" u="none" strike="noStrike">
                          <a:effectLst/>
                        </a:rPr>
                        <a:t>plugged / covered with soldermask</a:t>
                      </a:r>
                      <a:endParaRPr lang="en-MY" sz="1200" b="0" i="0" u="none" strike="noStrike">
                        <a:solidFill>
                          <a:srgbClr val="000000"/>
                        </a:solidFill>
                        <a:effectLst/>
                        <a:latin typeface="+mn-lt"/>
                      </a:endParaRPr>
                    </a:p>
                  </a:txBody>
                  <a:tcPr marL="0" marR="0" marT="0" marB="0"/>
                </a:tc>
                <a:tc>
                  <a:txBody>
                    <a:bodyPr/>
                    <a:lstStyle/>
                    <a:p>
                      <a:pPr marL="91440" algn="l" fontAlgn="t"/>
                      <a:r>
                        <a:rPr lang="en-MY" sz="1200" u="none" strike="noStrike" dirty="0">
                          <a:effectLst/>
                        </a:rPr>
                        <a:t>Full covered with </a:t>
                      </a:r>
                      <a:r>
                        <a:rPr lang="en-MY" sz="1200" u="none" strike="noStrike" dirty="0" err="1">
                          <a:effectLst/>
                        </a:rPr>
                        <a:t>soldermask</a:t>
                      </a:r>
                      <a:r>
                        <a:rPr lang="en-MY" sz="1200" u="none" strike="noStrike" dirty="0">
                          <a:effectLst/>
                        </a:rPr>
                        <a:t> ( </a:t>
                      </a:r>
                      <a:r>
                        <a:rPr lang="zh-TW" altLang="en-US" sz="1200" u="none" strike="noStrike" dirty="0">
                          <a:effectLst/>
                        </a:rPr>
                        <a:t>全塞孔</a:t>
                      </a:r>
                      <a:r>
                        <a:rPr lang="en-US" altLang="zh-TW" sz="1200" u="none" strike="noStrike" dirty="0">
                          <a:effectLst/>
                        </a:rPr>
                        <a:t>)</a:t>
                      </a:r>
                      <a:endParaRPr lang="en-US" altLang="zh-TW" sz="1200" b="0" i="0" u="none" strike="noStrike" dirty="0">
                        <a:solidFill>
                          <a:srgbClr val="000000"/>
                        </a:solidFill>
                        <a:effectLst/>
                        <a:latin typeface="+mn-lt"/>
                      </a:endParaRPr>
                    </a:p>
                  </a:txBody>
                  <a:tcPr marL="0" marR="0" marT="0" marB="0"/>
                </a:tc>
                <a:extLst>
                  <a:ext uri="{0D108BD9-81ED-4DB2-BD59-A6C34878D82A}">
                    <a16:rowId xmlns:a16="http://schemas.microsoft.com/office/drawing/2014/main" val="4048944144"/>
                  </a:ext>
                </a:extLst>
              </a:tr>
              <a:tr h="847146">
                <a:tc rowSpan="2">
                  <a:txBody>
                    <a:bodyPr/>
                    <a:lstStyle/>
                    <a:p>
                      <a:pPr marL="91440" algn="l" fontAlgn="t"/>
                      <a:r>
                        <a:rPr lang="en-MY" sz="1200" u="none" strike="noStrike" dirty="0">
                          <a:effectLst/>
                        </a:rPr>
                        <a:t>Component Sizes</a:t>
                      </a:r>
                      <a:endParaRPr lang="en-MY" sz="1200" b="0" i="0" u="none" strike="noStrike" dirty="0">
                        <a:effectLst/>
                        <a:latin typeface="+mn-lt"/>
                      </a:endParaRPr>
                    </a:p>
                  </a:txBody>
                  <a:tcPr marL="0" marR="0" marT="0" marB="0"/>
                </a:tc>
                <a:tc>
                  <a:txBody>
                    <a:bodyPr/>
                    <a:lstStyle/>
                    <a:p>
                      <a:pPr marL="91440" algn="l" fontAlgn="t"/>
                      <a:r>
                        <a:rPr lang="en-US" sz="1200" u="none" strike="noStrike" dirty="0">
                          <a:effectLst/>
                        </a:rPr>
                        <a:t>What is the smallest chip component size that is supported for your desktop board designs?</a:t>
                      </a:r>
                      <a:endParaRPr lang="en-US" sz="1200" b="0" i="0" u="none" strike="noStrike" dirty="0">
                        <a:effectLst/>
                        <a:latin typeface="+mn-lt"/>
                      </a:endParaRPr>
                    </a:p>
                  </a:txBody>
                  <a:tcPr marL="0" marR="0" marT="0" marB="0"/>
                </a:tc>
                <a:tc>
                  <a:txBody>
                    <a:bodyPr/>
                    <a:lstStyle/>
                    <a:p>
                      <a:pPr marL="91440" algn="l" fontAlgn="t"/>
                      <a:r>
                        <a:rPr lang="en-US" sz="1200" u="none" strike="noStrike" dirty="0">
                          <a:effectLst/>
                        </a:rPr>
                        <a:t>some are 0201 and some are 0402</a:t>
                      </a:r>
                      <a:endParaRPr lang="en-US" sz="1200" b="0" i="0" u="none" strike="noStrike" dirty="0">
                        <a:solidFill>
                          <a:srgbClr val="000000"/>
                        </a:solidFill>
                        <a:effectLst/>
                        <a:latin typeface="+mn-lt"/>
                      </a:endParaRPr>
                    </a:p>
                  </a:txBody>
                  <a:tcPr marL="0" marR="0" marT="0" marB="0"/>
                </a:tc>
                <a:tc>
                  <a:txBody>
                    <a:bodyPr/>
                    <a:lstStyle/>
                    <a:p>
                      <a:pPr marL="91440" algn="l" fontAlgn="t"/>
                      <a:r>
                        <a:rPr lang="en-MY" sz="1200" u="none" strike="noStrike" dirty="0">
                          <a:effectLst/>
                        </a:rPr>
                        <a:t>0201</a:t>
                      </a:r>
                      <a:endParaRPr lang="en-MY" sz="1200" b="0" i="0" u="none" strike="noStrike" dirty="0">
                        <a:solidFill>
                          <a:srgbClr val="000000"/>
                        </a:solidFill>
                        <a:effectLst/>
                        <a:latin typeface="+mn-lt"/>
                      </a:endParaRPr>
                    </a:p>
                  </a:txBody>
                  <a:tcPr marL="0" marR="0" marT="0" marB="0"/>
                </a:tc>
                <a:tc>
                  <a:txBody>
                    <a:bodyPr/>
                    <a:lstStyle/>
                    <a:p>
                      <a:pPr marL="91440" algn="l" fontAlgn="t"/>
                      <a:r>
                        <a:rPr lang="en-MY" sz="1200" u="none" strike="noStrike" dirty="0">
                          <a:effectLst/>
                        </a:rPr>
                        <a:t>0201</a:t>
                      </a:r>
                      <a:endParaRPr lang="en-MY" sz="1200" b="0" i="0" u="none" strike="noStrike" dirty="0">
                        <a:solidFill>
                          <a:srgbClr val="000000"/>
                        </a:solidFill>
                        <a:effectLst/>
                        <a:latin typeface="+mn-lt"/>
                      </a:endParaRPr>
                    </a:p>
                  </a:txBody>
                  <a:tcPr marL="0" marR="0" marT="0" marB="0"/>
                </a:tc>
                <a:tc>
                  <a:txBody>
                    <a:bodyPr/>
                    <a:lstStyle/>
                    <a:p>
                      <a:pPr marL="91440" algn="l" fontAlgn="t"/>
                      <a:r>
                        <a:rPr lang="en-MY" sz="1200" u="none" strike="noStrike" dirty="0">
                          <a:effectLst/>
                        </a:rPr>
                        <a:t>0201</a:t>
                      </a:r>
                      <a:endParaRPr lang="en-MY" sz="1200" b="0" i="0" u="none" strike="noStrike" dirty="0">
                        <a:solidFill>
                          <a:srgbClr val="000000"/>
                        </a:solidFill>
                        <a:effectLst/>
                        <a:latin typeface="+mn-lt"/>
                      </a:endParaRPr>
                    </a:p>
                  </a:txBody>
                  <a:tcPr marL="0" marR="0" marT="0" marB="0"/>
                </a:tc>
                <a:tc>
                  <a:txBody>
                    <a:bodyPr/>
                    <a:lstStyle/>
                    <a:p>
                      <a:pPr marL="91440" algn="l" fontAlgn="t"/>
                      <a:r>
                        <a:rPr lang="en-MY" sz="1200" u="none" strike="noStrike">
                          <a:effectLst/>
                        </a:rPr>
                        <a:t>0201</a:t>
                      </a:r>
                      <a:endParaRPr lang="en-MY" sz="1200" b="0" i="0" u="none" strike="noStrike">
                        <a:solidFill>
                          <a:srgbClr val="000000"/>
                        </a:solidFill>
                        <a:effectLst/>
                        <a:latin typeface="+mn-lt"/>
                      </a:endParaRPr>
                    </a:p>
                  </a:txBody>
                  <a:tcPr marL="0" marR="0" marT="0" marB="0"/>
                </a:tc>
                <a:tc>
                  <a:txBody>
                    <a:bodyPr/>
                    <a:lstStyle/>
                    <a:p>
                      <a:pPr marL="91440" algn="l" fontAlgn="t"/>
                      <a:r>
                        <a:rPr lang="en-MY" sz="1200" u="none" strike="noStrike">
                          <a:effectLst/>
                        </a:rPr>
                        <a:t>0201 is OK</a:t>
                      </a:r>
                      <a:endParaRPr lang="en-MY" sz="1200" b="0" i="0" u="none" strike="noStrike">
                        <a:solidFill>
                          <a:srgbClr val="000000"/>
                        </a:solidFill>
                        <a:effectLst/>
                        <a:latin typeface="+mn-lt"/>
                      </a:endParaRPr>
                    </a:p>
                  </a:txBody>
                  <a:tcPr marL="0" marR="0" marT="0" marB="0"/>
                </a:tc>
                <a:extLst>
                  <a:ext uri="{0D108BD9-81ED-4DB2-BD59-A6C34878D82A}">
                    <a16:rowId xmlns:a16="http://schemas.microsoft.com/office/drawing/2014/main" val="504902122"/>
                  </a:ext>
                </a:extLst>
              </a:tr>
              <a:tr h="1304754">
                <a:tc vMerge="1">
                  <a:txBody>
                    <a:bodyPr/>
                    <a:lstStyle/>
                    <a:p>
                      <a:endParaRPr lang="en-MY"/>
                    </a:p>
                  </a:txBody>
                  <a:tcPr/>
                </a:tc>
                <a:tc>
                  <a:txBody>
                    <a:bodyPr/>
                    <a:lstStyle/>
                    <a:p>
                      <a:pPr marL="91440" algn="l" fontAlgn="t"/>
                      <a:r>
                        <a:rPr lang="en-US" sz="1200" u="none" strike="noStrike" dirty="0">
                          <a:effectLst/>
                        </a:rPr>
                        <a:t>Regarding the above question, is this true across all board designs (for example, across all 4 or 6 layer board designs, and across all Type 3</a:t>
                      </a:r>
                      <a:br>
                        <a:rPr lang="en-US" sz="1200" u="none" strike="noStrike" dirty="0">
                          <a:effectLst/>
                        </a:rPr>
                      </a:br>
                      <a:r>
                        <a:rPr lang="en-US" sz="1200" u="none" strike="noStrike" dirty="0">
                          <a:effectLst/>
                        </a:rPr>
                        <a:t>and Type 4 designs)?</a:t>
                      </a:r>
                      <a:endParaRPr lang="en-US" sz="1200" b="0" i="0" u="none" strike="noStrike" dirty="0">
                        <a:effectLst/>
                        <a:latin typeface="+mn-lt"/>
                      </a:endParaRPr>
                    </a:p>
                  </a:txBody>
                  <a:tcPr marL="0" marR="0" marT="0" marB="0"/>
                </a:tc>
                <a:tc>
                  <a:txBody>
                    <a:bodyPr/>
                    <a:lstStyle/>
                    <a:p>
                      <a:pPr marL="91440" algn="l" fontAlgn="t"/>
                      <a:r>
                        <a:rPr lang="en-US" sz="1200" u="none" strike="noStrike" dirty="0">
                          <a:effectLst/>
                        </a:rPr>
                        <a:t>Yes, across all board designs</a:t>
                      </a:r>
                      <a:endParaRPr lang="en-US" sz="1200" b="0" i="0" u="none" strike="noStrike" dirty="0">
                        <a:solidFill>
                          <a:srgbClr val="000000"/>
                        </a:solidFill>
                        <a:effectLst/>
                        <a:latin typeface="+mn-lt"/>
                      </a:endParaRPr>
                    </a:p>
                  </a:txBody>
                  <a:tcPr marL="0" marR="0" marT="0" marB="0"/>
                </a:tc>
                <a:tc>
                  <a:txBody>
                    <a:bodyPr/>
                    <a:lstStyle/>
                    <a:p>
                      <a:pPr marL="91440" algn="l" fontAlgn="t"/>
                      <a:r>
                        <a:rPr lang="en-US" sz="1200" u="none" strike="noStrike" dirty="0">
                          <a:effectLst/>
                        </a:rPr>
                        <a:t>Yes, across all board designs</a:t>
                      </a:r>
                      <a:endParaRPr lang="en-US" sz="1200" b="0" i="0" u="none" strike="noStrike" dirty="0">
                        <a:solidFill>
                          <a:srgbClr val="000000"/>
                        </a:solidFill>
                        <a:effectLst/>
                        <a:latin typeface="+mn-lt"/>
                      </a:endParaRPr>
                    </a:p>
                  </a:txBody>
                  <a:tcPr marL="0" marR="0" marT="0" marB="0"/>
                </a:tc>
                <a:tc>
                  <a:txBody>
                    <a:bodyPr/>
                    <a:lstStyle/>
                    <a:p>
                      <a:pPr marL="91440" algn="l" fontAlgn="t"/>
                      <a:r>
                        <a:rPr lang="en-US" sz="1200" u="none" strike="noStrike" dirty="0">
                          <a:effectLst/>
                        </a:rPr>
                        <a:t>Yes, across all board designs</a:t>
                      </a:r>
                      <a:endParaRPr lang="en-US" sz="1200" b="0" i="0" u="none" strike="noStrike" dirty="0">
                        <a:solidFill>
                          <a:srgbClr val="000000"/>
                        </a:solidFill>
                        <a:effectLst/>
                        <a:latin typeface="+mn-lt"/>
                      </a:endParaRPr>
                    </a:p>
                  </a:txBody>
                  <a:tcPr marL="0" marR="0" marT="0" marB="0"/>
                </a:tc>
                <a:tc>
                  <a:txBody>
                    <a:bodyPr/>
                    <a:lstStyle/>
                    <a:p>
                      <a:pPr marL="91440" algn="l" fontAlgn="t"/>
                      <a:r>
                        <a:rPr lang="en-US" sz="1200" u="none" strike="noStrike" dirty="0">
                          <a:effectLst/>
                        </a:rPr>
                        <a:t>Yes, across all board designs</a:t>
                      </a:r>
                      <a:endParaRPr lang="en-US" sz="1200" b="0" i="0" u="none" strike="noStrike" dirty="0">
                        <a:solidFill>
                          <a:srgbClr val="000000"/>
                        </a:solidFill>
                        <a:effectLst/>
                        <a:latin typeface="+mn-lt"/>
                      </a:endParaRPr>
                    </a:p>
                  </a:txBody>
                  <a:tcPr marL="0" marR="0" marT="0" marB="0"/>
                </a:tc>
                <a:tc>
                  <a:txBody>
                    <a:bodyPr/>
                    <a:lstStyle/>
                    <a:p>
                      <a:pPr marL="91440" algn="l" fontAlgn="t"/>
                      <a:r>
                        <a:rPr lang="en-US" sz="1200" u="none" strike="noStrike" dirty="0">
                          <a:effectLst/>
                        </a:rPr>
                        <a:t>Yes, across all board designs</a:t>
                      </a:r>
                      <a:endParaRPr lang="en-US" sz="1200" b="0" i="0" u="none" strike="noStrike" dirty="0">
                        <a:solidFill>
                          <a:srgbClr val="000000"/>
                        </a:solidFill>
                        <a:effectLst/>
                        <a:latin typeface="+mn-lt"/>
                      </a:endParaRPr>
                    </a:p>
                  </a:txBody>
                  <a:tcPr marL="0" marR="0" marT="0" marB="0"/>
                </a:tc>
                <a:tc>
                  <a:txBody>
                    <a:bodyPr/>
                    <a:lstStyle/>
                    <a:p>
                      <a:pPr marL="91440" algn="l" fontAlgn="t"/>
                      <a:r>
                        <a:rPr lang="en-US" sz="1200" u="none" strike="noStrike" dirty="0">
                          <a:effectLst/>
                        </a:rPr>
                        <a:t>Yes, across all board designs</a:t>
                      </a:r>
                      <a:endParaRPr lang="en-US" sz="1200" b="0" i="0" u="none" strike="noStrike" dirty="0">
                        <a:solidFill>
                          <a:srgbClr val="000000"/>
                        </a:solidFill>
                        <a:effectLst/>
                        <a:latin typeface="+mn-lt"/>
                      </a:endParaRPr>
                    </a:p>
                  </a:txBody>
                  <a:tcPr marL="0" marR="0" marT="0" marB="0"/>
                </a:tc>
                <a:extLst>
                  <a:ext uri="{0D108BD9-81ED-4DB2-BD59-A6C34878D82A}">
                    <a16:rowId xmlns:a16="http://schemas.microsoft.com/office/drawing/2014/main" val="2963251170"/>
                  </a:ext>
                </a:extLst>
              </a:tr>
            </a:tbl>
          </a:graphicData>
        </a:graphic>
      </p:graphicFrame>
      <p:sp>
        <p:nvSpPr>
          <p:cNvPr id="5" name="Rectangle: Rounded Corners 4">
            <a:extLst>
              <a:ext uri="{FF2B5EF4-FFF2-40B4-BE49-F238E27FC236}">
                <a16:creationId xmlns:a16="http://schemas.microsoft.com/office/drawing/2014/main" id="{2ADA442A-7DF3-443C-A548-AB2144C53222}"/>
              </a:ext>
            </a:extLst>
          </p:cNvPr>
          <p:cNvSpPr/>
          <p:nvPr/>
        </p:nvSpPr>
        <p:spPr>
          <a:xfrm>
            <a:off x="754592" y="5211515"/>
            <a:ext cx="10678583"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a:ln>
                  <a:noFill/>
                </a:ln>
                <a:solidFill>
                  <a:srgbClr val="FFFF00"/>
                </a:solidFill>
                <a:effectLst/>
                <a:uFillTx/>
                <a:latin typeface="Helvetica Neue Medium"/>
                <a:ea typeface="Helvetica Neue Medium"/>
                <a:cs typeface="Helvetica Neue Medium"/>
                <a:sym typeface="Helvetica Neue Medium"/>
              </a:rPr>
              <a:t>Key Message</a:t>
            </a:r>
            <a:endPar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endParaRP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8-10mil is the most common minimum via drill diameter</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0201 is the smallest chip component size supported, across all board designs</a:t>
            </a:r>
          </a:p>
        </p:txBody>
      </p:sp>
    </p:spTree>
    <p:extLst>
      <p:ext uri="{BB962C8B-B14F-4D97-AF65-F5344CB8AC3E}">
        <p14:creationId xmlns:p14="http://schemas.microsoft.com/office/powerpoint/2010/main" val="1606885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A9707-5156-41F3-9BD6-83853633F13F}"/>
              </a:ext>
            </a:extLst>
          </p:cNvPr>
          <p:cNvSpPr>
            <a:spLocks noGrp="1"/>
          </p:cNvSpPr>
          <p:nvPr>
            <p:ph type="title"/>
          </p:nvPr>
        </p:nvSpPr>
        <p:spPr>
          <a:xfrm>
            <a:off x="607484" y="64663"/>
            <a:ext cx="10972800" cy="536470"/>
          </a:xfrm>
        </p:spPr>
        <p:txBody>
          <a:bodyPr/>
          <a:lstStyle/>
          <a:p>
            <a:r>
              <a:rPr lang="en-US" dirty="0"/>
              <a:t>Printed Circuit Board Design (4)</a:t>
            </a:r>
            <a:endParaRPr lang="en-MY" dirty="0"/>
          </a:p>
        </p:txBody>
      </p:sp>
      <p:graphicFrame>
        <p:nvGraphicFramePr>
          <p:cNvPr id="4" name="Content Placeholder 3">
            <a:extLst>
              <a:ext uri="{FF2B5EF4-FFF2-40B4-BE49-F238E27FC236}">
                <a16:creationId xmlns:a16="http://schemas.microsoft.com/office/drawing/2014/main" id="{F4C4F9EE-9506-4C4C-B40C-F4271BBF6041}"/>
              </a:ext>
            </a:extLst>
          </p:cNvPr>
          <p:cNvGraphicFramePr>
            <a:graphicFrameLocks noGrp="1"/>
          </p:cNvGraphicFramePr>
          <p:nvPr>
            <p:ph sz="quarter" idx="13"/>
            <p:extLst>
              <p:ext uri="{D42A27DB-BD31-4B8C-83A1-F6EECF244321}">
                <p14:modId xmlns:p14="http://schemas.microsoft.com/office/powerpoint/2010/main" val="395052440"/>
              </p:ext>
            </p:extLst>
          </p:nvPr>
        </p:nvGraphicFramePr>
        <p:xfrm>
          <a:off x="127000" y="706102"/>
          <a:ext cx="11394437" cy="4373880"/>
        </p:xfrm>
        <a:graphic>
          <a:graphicData uri="http://schemas.openxmlformats.org/drawingml/2006/table">
            <a:tbl>
              <a:tblPr firstRow="1" bandRow="1">
                <a:tableStyleId>{69012ECD-51FC-41F1-AA8D-1B2483CD663E}</a:tableStyleId>
              </a:tblPr>
              <a:tblGrid>
                <a:gridCol w="1383748">
                  <a:extLst>
                    <a:ext uri="{9D8B030D-6E8A-4147-A177-3AD203B41FA5}">
                      <a16:colId xmlns:a16="http://schemas.microsoft.com/office/drawing/2014/main" val="1692685995"/>
                    </a:ext>
                  </a:extLst>
                </a:gridCol>
                <a:gridCol w="792185">
                  <a:extLst>
                    <a:ext uri="{9D8B030D-6E8A-4147-A177-3AD203B41FA5}">
                      <a16:colId xmlns:a16="http://schemas.microsoft.com/office/drawing/2014/main" val="4062741993"/>
                    </a:ext>
                  </a:extLst>
                </a:gridCol>
                <a:gridCol w="1261534">
                  <a:extLst>
                    <a:ext uri="{9D8B030D-6E8A-4147-A177-3AD203B41FA5}">
                      <a16:colId xmlns:a16="http://schemas.microsoft.com/office/drawing/2014/main" val="1788829243"/>
                    </a:ext>
                  </a:extLst>
                </a:gridCol>
                <a:gridCol w="821266">
                  <a:extLst>
                    <a:ext uri="{9D8B030D-6E8A-4147-A177-3AD203B41FA5}">
                      <a16:colId xmlns:a16="http://schemas.microsoft.com/office/drawing/2014/main" val="914312967"/>
                    </a:ext>
                  </a:extLst>
                </a:gridCol>
                <a:gridCol w="1701800">
                  <a:extLst>
                    <a:ext uri="{9D8B030D-6E8A-4147-A177-3AD203B41FA5}">
                      <a16:colId xmlns:a16="http://schemas.microsoft.com/office/drawing/2014/main" val="1362813313"/>
                    </a:ext>
                  </a:extLst>
                </a:gridCol>
                <a:gridCol w="999067">
                  <a:extLst>
                    <a:ext uri="{9D8B030D-6E8A-4147-A177-3AD203B41FA5}">
                      <a16:colId xmlns:a16="http://schemas.microsoft.com/office/drawing/2014/main" val="3296549446"/>
                    </a:ext>
                  </a:extLst>
                </a:gridCol>
                <a:gridCol w="2868433">
                  <a:extLst>
                    <a:ext uri="{9D8B030D-6E8A-4147-A177-3AD203B41FA5}">
                      <a16:colId xmlns:a16="http://schemas.microsoft.com/office/drawing/2014/main" val="2579843292"/>
                    </a:ext>
                  </a:extLst>
                </a:gridCol>
                <a:gridCol w="1566404">
                  <a:extLst>
                    <a:ext uri="{9D8B030D-6E8A-4147-A177-3AD203B41FA5}">
                      <a16:colId xmlns:a16="http://schemas.microsoft.com/office/drawing/2014/main" val="3841248342"/>
                    </a:ext>
                  </a:extLst>
                </a:gridCol>
              </a:tblGrid>
              <a:tr h="0">
                <a:tc gridSpan="2">
                  <a:txBody>
                    <a:bodyPr/>
                    <a:lstStyle/>
                    <a:p>
                      <a:pPr marL="91440" algn="l" fontAlgn="t"/>
                      <a:r>
                        <a:rPr lang="en-MY" sz="1400" u="none" strike="noStrike" dirty="0">
                          <a:effectLst/>
                          <a:latin typeface="+mn-lt"/>
                        </a:rPr>
                        <a:t>Area of Interest</a:t>
                      </a:r>
                      <a:endParaRPr lang="en-MY" sz="1400" b="1" i="0" u="none" strike="noStrike" dirty="0">
                        <a:solidFill>
                          <a:srgbClr val="000000"/>
                        </a:solidFill>
                        <a:effectLst/>
                        <a:latin typeface="+mn-lt"/>
                      </a:endParaRPr>
                    </a:p>
                  </a:txBody>
                  <a:tcPr marL="0" marR="0" marT="0" marB="0"/>
                </a:tc>
                <a:tc hMerge="1">
                  <a:txBody>
                    <a:bodyPr/>
                    <a:lstStyle/>
                    <a:p>
                      <a:pPr algn="l" fontAlgn="t"/>
                      <a:endParaRPr lang="en-MY" sz="105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LENOVO (MSI)</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DELL</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ACER (WISTRON)</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ASUSTEK</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MSI</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ASROCK</a:t>
                      </a:r>
                      <a:endParaRPr lang="en-MY" sz="1000" b="1" i="0" u="none" strike="noStrike" dirty="0">
                        <a:solidFill>
                          <a:srgbClr val="000000"/>
                        </a:solidFill>
                        <a:effectLst/>
                        <a:latin typeface="+mn-lt"/>
                      </a:endParaRPr>
                    </a:p>
                  </a:txBody>
                  <a:tcPr marL="0" marR="0" marT="0" marB="0"/>
                </a:tc>
                <a:extLst>
                  <a:ext uri="{0D108BD9-81ED-4DB2-BD59-A6C34878D82A}">
                    <a16:rowId xmlns:a16="http://schemas.microsoft.com/office/drawing/2014/main" val="3852518198"/>
                  </a:ext>
                </a:extLst>
              </a:tr>
              <a:tr h="124985">
                <a:tc rowSpan="2">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lang="en-MY" sz="1050" u="none" strike="noStrike" dirty="0">
                          <a:effectLst/>
                          <a:latin typeface="+mn-lt"/>
                        </a:rPr>
                        <a:t>Component Placements</a:t>
                      </a:r>
                      <a:endParaRPr lang="en-MY" sz="1050" b="0" i="0" u="none" strike="noStrike" dirty="0">
                        <a:effectLst/>
                        <a:latin typeface="+mn-lt"/>
                      </a:endParaRPr>
                    </a:p>
                    <a:p>
                      <a:pPr marL="91440" algn="l" fontAlgn="t"/>
                      <a:endParaRPr lang="en-US" sz="1050" b="0" i="0" u="none" strike="noStrike" dirty="0">
                        <a:effectLst/>
                        <a:latin typeface="+mn-lt"/>
                      </a:endParaRPr>
                    </a:p>
                  </a:txBody>
                  <a:tcPr marL="0" marR="0" marT="0" marB="0"/>
                </a:tc>
                <a:tc>
                  <a:txBody>
                    <a:bodyPr/>
                    <a:lstStyle/>
                    <a:p>
                      <a:pPr marL="91440" algn="l" fontAlgn="t"/>
                      <a:r>
                        <a:rPr lang="en-US" sz="1050" u="none" strike="noStrike" dirty="0">
                          <a:effectLst/>
                          <a:latin typeface="+mn-lt"/>
                        </a:rPr>
                        <a:t>Is </a:t>
                      </a:r>
                      <a:r>
                        <a:rPr lang="en-US" sz="1050" b="1" u="none" strike="noStrike" dirty="0">
                          <a:effectLst/>
                          <a:latin typeface="+mn-lt"/>
                        </a:rPr>
                        <a:t>backside</a:t>
                      </a:r>
                      <a:r>
                        <a:rPr lang="en-US" sz="1050" u="none" strike="noStrike" dirty="0">
                          <a:effectLst/>
                          <a:latin typeface="+mn-lt"/>
                        </a:rPr>
                        <a:t> assembly a fully automated process</a:t>
                      </a:r>
                      <a:endParaRPr lang="en-US" sz="1050" b="0" i="0" u="none" strike="noStrike" dirty="0">
                        <a:solidFill>
                          <a:srgbClr val="000000"/>
                        </a:solidFill>
                        <a:effectLst/>
                        <a:latin typeface="+mn-lt"/>
                      </a:endParaRPr>
                    </a:p>
                  </a:txBody>
                  <a:tcPr marL="0" marR="0" marT="0" marB="0"/>
                </a:tc>
                <a:tc>
                  <a:txBody>
                    <a:bodyPr/>
                    <a:lstStyle/>
                    <a:p>
                      <a:pPr marL="91440" algn="l" fontAlgn="t"/>
                      <a:r>
                        <a:rPr lang="en-MY" sz="1050" u="none" strike="noStrike" dirty="0">
                          <a:effectLst/>
                          <a:latin typeface="+mn-lt"/>
                        </a:rPr>
                        <a:t>Fully automated process</a:t>
                      </a:r>
                      <a:endParaRPr lang="en-MY" sz="1050" b="0" i="0" u="none" strike="noStrike" dirty="0">
                        <a:solidFill>
                          <a:srgbClr val="000000"/>
                        </a:solidFill>
                        <a:effectLst/>
                        <a:latin typeface="+mn-lt"/>
                      </a:endParaRPr>
                    </a:p>
                  </a:txBody>
                  <a:tcPr marL="0" marR="0" marT="0" marB="0"/>
                </a:tc>
                <a:tc>
                  <a:txBody>
                    <a:bodyPr/>
                    <a:lstStyle/>
                    <a:p>
                      <a:pPr marL="91440" algn="l" fontAlgn="t"/>
                      <a:r>
                        <a:rPr lang="en-MY" sz="1050" u="none" strike="noStrike" dirty="0">
                          <a:effectLst/>
                          <a:latin typeface="+mn-lt"/>
                        </a:rPr>
                        <a:t>Fully automated process</a:t>
                      </a:r>
                      <a:endParaRPr lang="en-MY" sz="1050" b="0" i="0" u="none" strike="noStrike" dirty="0">
                        <a:solidFill>
                          <a:srgbClr val="000000"/>
                        </a:solidFill>
                        <a:effectLst/>
                        <a:latin typeface="+mn-lt"/>
                      </a:endParaRPr>
                    </a:p>
                  </a:txBody>
                  <a:tcPr marL="0" marR="0" marT="0" marB="0"/>
                </a:tc>
                <a:tc>
                  <a:txBody>
                    <a:bodyPr/>
                    <a:lstStyle/>
                    <a:p>
                      <a:pPr marL="91440" algn="l" fontAlgn="t"/>
                      <a:r>
                        <a:rPr lang="en-MY" sz="1050" u="none" strike="noStrike">
                          <a:effectLst/>
                          <a:latin typeface="+mn-lt"/>
                        </a:rPr>
                        <a:t>Fully automated process</a:t>
                      </a:r>
                      <a:endParaRPr lang="en-MY" sz="1050" b="0" i="0" u="none" strike="noStrike">
                        <a:solidFill>
                          <a:srgbClr val="000000"/>
                        </a:solidFill>
                        <a:effectLst/>
                        <a:latin typeface="+mn-lt"/>
                      </a:endParaRPr>
                    </a:p>
                  </a:txBody>
                  <a:tcPr marL="0" marR="0" marT="0" marB="0"/>
                </a:tc>
                <a:tc>
                  <a:txBody>
                    <a:bodyPr/>
                    <a:lstStyle/>
                    <a:p>
                      <a:pPr marL="91440" algn="l" fontAlgn="t"/>
                      <a:r>
                        <a:rPr lang="en-MY" sz="1050" u="none" strike="noStrike" dirty="0">
                          <a:effectLst/>
                          <a:latin typeface="+mn-lt"/>
                        </a:rPr>
                        <a:t>Fully automated process</a:t>
                      </a:r>
                      <a:endParaRPr lang="en-MY" sz="1050" b="0" i="0" u="none" strike="noStrike" dirty="0">
                        <a:solidFill>
                          <a:srgbClr val="000000"/>
                        </a:solidFill>
                        <a:effectLst/>
                        <a:latin typeface="+mn-lt"/>
                      </a:endParaRPr>
                    </a:p>
                  </a:txBody>
                  <a:tcPr marL="0" marR="0" marT="0" marB="0"/>
                </a:tc>
                <a:tc>
                  <a:txBody>
                    <a:bodyPr/>
                    <a:lstStyle/>
                    <a:p>
                      <a:pPr marL="91440" algn="l" fontAlgn="t"/>
                      <a:r>
                        <a:rPr lang="en-MY" sz="1050" u="none" strike="noStrike" dirty="0">
                          <a:effectLst/>
                          <a:latin typeface="+mn-lt"/>
                        </a:rPr>
                        <a:t>Fully automated process</a:t>
                      </a:r>
                      <a:endParaRPr lang="en-MY" sz="1050" b="0" i="0" u="none" strike="noStrike" dirty="0">
                        <a:solidFill>
                          <a:srgbClr val="000000"/>
                        </a:solidFill>
                        <a:effectLst/>
                        <a:latin typeface="+mn-lt"/>
                      </a:endParaRPr>
                    </a:p>
                  </a:txBody>
                  <a:tcPr marL="0" marR="0" marT="0" marB="0"/>
                </a:tc>
                <a:tc>
                  <a:txBody>
                    <a:bodyPr/>
                    <a:lstStyle/>
                    <a:p>
                      <a:pPr marL="91440" algn="l" fontAlgn="t"/>
                      <a:r>
                        <a:rPr lang="en-MY" sz="1050" u="none" strike="noStrike" dirty="0">
                          <a:effectLst/>
                          <a:latin typeface="+mn-lt"/>
                        </a:rPr>
                        <a:t>Fully automated process</a:t>
                      </a:r>
                      <a:endParaRPr lang="en-MY" sz="1050" b="0" i="0" u="none" strike="noStrike" dirty="0">
                        <a:solidFill>
                          <a:srgbClr val="000000"/>
                        </a:solidFill>
                        <a:effectLst/>
                        <a:latin typeface="+mn-lt"/>
                      </a:endParaRPr>
                    </a:p>
                  </a:txBody>
                  <a:tcPr marL="0" marR="0" marT="0" marB="0"/>
                </a:tc>
                <a:extLst>
                  <a:ext uri="{0D108BD9-81ED-4DB2-BD59-A6C34878D82A}">
                    <a16:rowId xmlns:a16="http://schemas.microsoft.com/office/drawing/2014/main" val="161112178"/>
                  </a:ext>
                </a:extLst>
              </a:tr>
              <a:tr h="187478">
                <a:tc vMerge="1">
                  <a:txBody>
                    <a:bodyPr/>
                    <a:lstStyle/>
                    <a:p>
                      <a:pPr algn="ctr" fontAlgn="t"/>
                      <a:endParaRPr lang="en-MY" sz="1050" b="0" i="0" u="none" strike="noStrike" dirty="0">
                        <a:effectLst/>
                        <a:latin typeface="+mn-lt"/>
                      </a:endParaRPr>
                    </a:p>
                  </a:txBody>
                  <a:tcPr marL="0" marR="0" marT="0" marB="0"/>
                </a:tc>
                <a:tc>
                  <a:txBody>
                    <a:bodyPr/>
                    <a:lstStyle/>
                    <a:p>
                      <a:pPr marL="91440" algn="l" fontAlgn="t"/>
                      <a:r>
                        <a:rPr lang="en-MY" sz="1050" u="none" strike="noStrike" dirty="0">
                          <a:effectLst/>
                          <a:latin typeface="+mn-lt"/>
                        </a:rPr>
                        <a:t>Any limitations on </a:t>
                      </a:r>
                      <a:r>
                        <a:rPr lang="en-MY" sz="1050" b="1" u="none" strike="noStrike" dirty="0">
                          <a:effectLst/>
                          <a:latin typeface="+mn-lt"/>
                        </a:rPr>
                        <a:t>backside</a:t>
                      </a:r>
                      <a:r>
                        <a:rPr lang="en-MY" sz="1050" u="none" strike="noStrike" dirty="0">
                          <a:effectLst/>
                          <a:latin typeface="+mn-lt"/>
                        </a:rPr>
                        <a:t> SMT component placement (quantity, chip size)?  </a:t>
                      </a:r>
                      <a:endParaRPr lang="en-MY" sz="1050" b="0" i="0" u="none" strike="noStrike" dirty="0">
                        <a:solidFill>
                          <a:srgbClr val="000000"/>
                        </a:solidFill>
                        <a:effectLst/>
                        <a:latin typeface="+mn-lt"/>
                      </a:endParaRPr>
                    </a:p>
                  </a:txBody>
                  <a:tcPr marL="0" marR="0" marT="0" marB="0"/>
                </a:tc>
                <a:tc>
                  <a:txBody>
                    <a:bodyPr/>
                    <a:lstStyle/>
                    <a:p>
                      <a:pPr marL="91440" algn="l" fontAlgn="t"/>
                      <a:r>
                        <a:rPr lang="en-US" sz="1050" u="sng" strike="noStrike" dirty="0">
                          <a:effectLst/>
                          <a:latin typeface="+mn-lt"/>
                        </a:rPr>
                        <a:t>Part Height:</a:t>
                      </a:r>
                      <a:r>
                        <a:rPr lang="en-US" sz="1050" u="none" strike="noStrike" dirty="0">
                          <a:effectLst/>
                          <a:latin typeface="+mn-lt"/>
                        </a:rPr>
                        <a:t> Needs to be less than 3.5mm. </a:t>
                      </a:r>
                    </a:p>
                    <a:p>
                      <a:pPr marL="91440" algn="l" fontAlgn="t"/>
                      <a:endParaRPr lang="en-US" sz="1050" u="none" strike="noStrike" dirty="0">
                        <a:effectLst/>
                        <a:latin typeface="+mn-lt"/>
                      </a:endParaRPr>
                    </a:p>
                    <a:p>
                      <a:pPr marL="91440" algn="l" fontAlgn="t"/>
                      <a:r>
                        <a:rPr lang="en-US" sz="1050" u="sng" strike="noStrike" dirty="0">
                          <a:effectLst/>
                          <a:latin typeface="+mn-lt"/>
                        </a:rPr>
                        <a:t>Constraints</a:t>
                      </a:r>
                      <a:r>
                        <a:rPr lang="en-US" sz="1050" u="none" strike="noStrike" dirty="0">
                          <a:effectLst/>
                          <a:latin typeface="+mn-lt"/>
                        </a:rPr>
                        <a:t>: Cannot put connector / socket for most product, need to be far away from the PCB edge (more than 6mm).</a:t>
                      </a:r>
                      <a:endParaRPr lang="en-US" sz="1050" b="0" i="0" u="none" strike="noStrike" dirty="0">
                        <a:solidFill>
                          <a:srgbClr val="000000"/>
                        </a:solidFill>
                        <a:effectLst/>
                        <a:latin typeface="+mn-lt"/>
                      </a:endParaRPr>
                    </a:p>
                  </a:txBody>
                  <a:tcPr marL="0" marR="0" marT="0" marB="0"/>
                </a:tc>
                <a:tc>
                  <a:txBody>
                    <a:bodyPr/>
                    <a:lstStyle/>
                    <a:p>
                      <a:pPr marL="91440" algn="l" fontAlgn="t"/>
                      <a:r>
                        <a:rPr lang="en-US" sz="1050" u="sng" strike="noStrike" dirty="0">
                          <a:effectLst/>
                          <a:latin typeface="+mn-lt"/>
                        </a:rPr>
                        <a:t>Quantity</a:t>
                      </a:r>
                      <a:r>
                        <a:rPr lang="en-US" sz="1050" u="none" strike="noStrike" dirty="0">
                          <a:effectLst/>
                          <a:latin typeface="+mn-lt"/>
                        </a:rPr>
                        <a:t>:</a:t>
                      </a:r>
                    </a:p>
                    <a:p>
                      <a:pPr marL="91440" algn="l" fontAlgn="t"/>
                      <a:r>
                        <a:rPr lang="en-US" sz="1050" u="none" strike="noStrike" dirty="0">
                          <a:effectLst/>
                          <a:latin typeface="+mn-lt"/>
                        </a:rPr>
                        <a:t>Balance component quantity for top and bottom side</a:t>
                      </a:r>
                      <a:endParaRPr lang="en-US" sz="1050" b="0" i="0" u="none" strike="noStrike" dirty="0">
                        <a:solidFill>
                          <a:srgbClr val="000000"/>
                        </a:solidFill>
                        <a:effectLst/>
                        <a:latin typeface="+mn-lt"/>
                      </a:endParaRPr>
                    </a:p>
                  </a:txBody>
                  <a:tcPr marL="0" marR="0" marT="0" marB="0"/>
                </a:tc>
                <a:tc>
                  <a:txBody>
                    <a:bodyPr/>
                    <a:lstStyle/>
                    <a:p>
                      <a:pPr marL="91440" algn="l" fontAlgn="t"/>
                      <a:r>
                        <a:rPr lang="en-MY" sz="1050" u="sng" strike="noStrike" dirty="0">
                          <a:effectLst/>
                          <a:latin typeface="+mn-lt"/>
                        </a:rPr>
                        <a:t>Chip Min</a:t>
                      </a:r>
                      <a:r>
                        <a:rPr lang="en-MY" sz="1050" u="none" strike="noStrike" dirty="0">
                          <a:effectLst/>
                          <a:latin typeface="+mn-lt"/>
                        </a:rPr>
                        <a:t>: 0201 </a:t>
                      </a:r>
                      <a:br>
                        <a:rPr lang="en-MY" sz="1050" u="none" strike="noStrike" dirty="0">
                          <a:effectLst/>
                          <a:latin typeface="+mn-lt"/>
                        </a:rPr>
                      </a:br>
                      <a:endParaRPr lang="en-MY" sz="1050" u="none" strike="noStrike" dirty="0">
                        <a:effectLst/>
                        <a:latin typeface="+mn-lt"/>
                      </a:endParaRPr>
                    </a:p>
                    <a:p>
                      <a:pPr marL="91440" algn="l" fontAlgn="t"/>
                      <a:r>
                        <a:rPr lang="en-MY" sz="1050" u="sng" strike="noStrike" dirty="0">
                          <a:effectLst/>
                          <a:latin typeface="+mn-lt"/>
                        </a:rPr>
                        <a:t>Component Max size</a:t>
                      </a:r>
                      <a:r>
                        <a:rPr lang="en-MY" sz="1050" u="none" strike="noStrike" dirty="0">
                          <a:effectLst/>
                          <a:latin typeface="+mn-lt"/>
                        </a:rPr>
                        <a:t>: 100mm*90mm</a:t>
                      </a:r>
                      <a:br>
                        <a:rPr lang="en-MY" sz="1050" u="none" strike="noStrike" dirty="0">
                          <a:effectLst/>
                          <a:latin typeface="+mn-lt"/>
                        </a:rPr>
                      </a:br>
                      <a:endParaRPr lang="en-MY" sz="1050" u="none" strike="noStrike" dirty="0">
                        <a:effectLst/>
                        <a:latin typeface="+mn-lt"/>
                      </a:endParaRPr>
                    </a:p>
                    <a:p>
                      <a:pPr marL="91440" algn="l" fontAlgn="t"/>
                      <a:r>
                        <a:rPr lang="en-MY" sz="1050" u="sng" strike="noStrike" dirty="0">
                          <a:effectLst/>
                          <a:latin typeface="+mn-lt"/>
                        </a:rPr>
                        <a:t>BGA</a:t>
                      </a:r>
                      <a:r>
                        <a:rPr lang="en-MY" sz="1050" u="none" strike="noStrike" dirty="0">
                          <a:effectLst/>
                          <a:latin typeface="+mn-lt"/>
                        </a:rPr>
                        <a:t>: </a:t>
                      </a:r>
                    </a:p>
                    <a:p>
                      <a:pPr marL="91440" algn="l" fontAlgn="t"/>
                      <a:r>
                        <a:rPr lang="en-MY" sz="1050" u="sng" strike="noStrike" dirty="0">
                          <a:effectLst/>
                          <a:latin typeface="+mn-lt"/>
                        </a:rPr>
                        <a:t>Max pitch</a:t>
                      </a:r>
                      <a:r>
                        <a:rPr lang="en-MY" sz="1050" u="none" strike="noStrike" dirty="0">
                          <a:effectLst/>
                          <a:latin typeface="+mn-lt"/>
                        </a:rPr>
                        <a:t>: 0.5mm</a:t>
                      </a:r>
                      <a:br>
                        <a:rPr lang="en-MY" sz="1050" u="none" strike="noStrike" dirty="0">
                          <a:effectLst/>
                          <a:latin typeface="+mn-lt"/>
                        </a:rPr>
                      </a:br>
                      <a:r>
                        <a:rPr lang="en-MY" sz="1050" u="sng" strike="noStrike" dirty="0">
                          <a:effectLst/>
                          <a:latin typeface="+mn-lt"/>
                        </a:rPr>
                        <a:t>Size</a:t>
                      </a:r>
                      <a:r>
                        <a:rPr lang="en-MY" sz="1050" u="none" strike="noStrike" dirty="0">
                          <a:effectLst/>
                          <a:latin typeface="+mn-lt"/>
                        </a:rPr>
                        <a:t>: 5x5mm to 45x45mm</a:t>
                      </a:r>
                      <a:br>
                        <a:rPr lang="en-MY" sz="1050" u="none" strike="noStrike" dirty="0">
                          <a:effectLst/>
                          <a:latin typeface="+mn-lt"/>
                        </a:rPr>
                      </a:br>
                      <a:r>
                        <a:rPr lang="en-MY" sz="1050" u="sng" strike="noStrike" dirty="0">
                          <a:effectLst/>
                          <a:latin typeface="+mn-lt"/>
                        </a:rPr>
                        <a:t>Smallest Diameter</a:t>
                      </a:r>
                      <a:r>
                        <a:rPr lang="en-MY" sz="1050" u="none" strike="noStrike" dirty="0">
                          <a:effectLst/>
                          <a:latin typeface="+mn-lt"/>
                        </a:rPr>
                        <a:t>: 0.25mm </a:t>
                      </a:r>
                      <a:br>
                        <a:rPr lang="en-MY" sz="1050" u="none" strike="noStrike" dirty="0">
                          <a:effectLst/>
                          <a:latin typeface="+mn-lt"/>
                        </a:rPr>
                      </a:br>
                      <a:endParaRPr lang="en-MY" sz="1050" u="none" strike="noStrike" dirty="0">
                        <a:effectLst/>
                        <a:latin typeface="+mn-lt"/>
                      </a:endParaRPr>
                    </a:p>
                    <a:p>
                      <a:pPr marL="91440" algn="l" fontAlgn="t"/>
                      <a:r>
                        <a:rPr lang="en-MY" sz="1050" u="sng" strike="noStrike" dirty="0">
                          <a:effectLst/>
                          <a:latin typeface="+mn-lt"/>
                        </a:rPr>
                        <a:t>QFP</a:t>
                      </a:r>
                      <a:r>
                        <a:rPr lang="en-MY" sz="1050" u="none" strike="noStrike" dirty="0">
                          <a:effectLst/>
                          <a:latin typeface="+mn-lt"/>
                        </a:rPr>
                        <a:t>: </a:t>
                      </a:r>
                    </a:p>
                    <a:p>
                      <a:pPr marL="91440" algn="l" fontAlgn="t"/>
                      <a:r>
                        <a:rPr lang="en-MY" sz="1050" u="sng" strike="noStrike" dirty="0">
                          <a:effectLst/>
                          <a:latin typeface="+mn-lt"/>
                        </a:rPr>
                        <a:t>Size</a:t>
                      </a:r>
                      <a:r>
                        <a:rPr lang="en-MY" sz="1050" u="none" strike="noStrike" dirty="0">
                          <a:effectLst/>
                          <a:latin typeface="+mn-lt"/>
                        </a:rPr>
                        <a:t>: 5x5mm to 45x45mm</a:t>
                      </a:r>
                      <a:br>
                        <a:rPr lang="en-MY" sz="1050" u="none" strike="noStrike" dirty="0">
                          <a:effectLst/>
                          <a:latin typeface="+mn-lt"/>
                        </a:rPr>
                      </a:br>
                      <a:r>
                        <a:rPr lang="en-MY" sz="1050" u="sng" strike="noStrike" dirty="0">
                          <a:effectLst/>
                          <a:latin typeface="+mn-lt"/>
                        </a:rPr>
                        <a:t>Smallest Spacing</a:t>
                      </a:r>
                      <a:r>
                        <a:rPr lang="en-MY" sz="1050" u="none" strike="noStrike" dirty="0">
                          <a:effectLst/>
                          <a:latin typeface="+mn-lt"/>
                        </a:rPr>
                        <a:t>: 0.4mm</a:t>
                      </a:r>
                      <a:br>
                        <a:rPr lang="en-MY" sz="1050" u="none" strike="noStrike" dirty="0">
                          <a:effectLst/>
                          <a:latin typeface="+mn-lt"/>
                        </a:rPr>
                      </a:br>
                      <a:r>
                        <a:rPr lang="en-MY" sz="1050" u="sng" strike="noStrike" dirty="0">
                          <a:effectLst/>
                          <a:latin typeface="+mn-lt"/>
                        </a:rPr>
                        <a:t>Smallest Lead Width</a:t>
                      </a:r>
                      <a:r>
                        <a:rPr lang="en-MY" sz="1050" u="none" strike="noStrike" dirty="0">
                          <a:effectLst/>
                          <a:latin typeface="+mn-lt"/>
                        </a:rPr>
                        <a:t>: 0.2mm</a:t>
                      </a:r>
                      <a:br>
                        <a:rPr lang="en-MY" sz="1050" u="none" strike="noStrike" dirty="0">
                          <a:effectLst/>
                          <a:latin typeface="+mn-lt"/>
                        </a:rPr>
                      </a:br>
                      <a:endParaRPr lang="en-MY" sz="1050" b="0" i="0" u="none" strike="noStrike" dirty="0">
                        <a:solidFill>
                          <a:srgbClr val="000000"/>
                        </a:solidFill>
                        <a:effectLst/>
                        <a:latin typeface="+mn-lt"/>
                      </a:endParaRPr>
                    </a:p>
                  </a:txBody>
                  <a:tcPr marL="0" marR="0" marT="0" marB="0"/>
                </a:tc>
                <a:tc>
                  <a:txBody>
                    <a:bodyPr/>
                    <a:lstStyle/>
                    <a:p>
                      <a:pPr marL="91440" algn="l" fontAlgn="t"/>
                      <a:r>
                        <a:rPr lang="en-US" sz="1050" u="sng" strike="noStrike" dirty="0">
                          <a:effectLst/>
                          <a:latin typeface="+mn-lt"/>
                        </a:rPr>
                        <a:t>Part Height</a:t>
                      </a:r>
                      <a:r>
                        <a:rPr lang="en-US" sz="1050" u="none" strike="noStrike" dirty="0">
                          <a:effectLst/>
                          <a:latin typeface="+mn-lt"/>
                        </a:rPr>
                        <a:t>: Only the part height is limited to 6mm on backside</a:t>
                      </a:r>
                    </a:p>
                    <a:p>
                      <a:pPr marL="91440" algn="l" fontAlgn="t"/>
                      <a:endParaRPr lang="en-US" sz="1050" u="none" strike="noStrike" dirty="0">
                        <a:effectLst/>
                        <a:latin typeface="+mn-lt"/>
                      </a:endParaRPr>
                    </a:p>
                    <a:p>
                      <a:pPr marL="91440" algn="l" fontAlgn="t"/>
                      <a:r>
                        <a:rPr lang="en-US" sz="1050" u="sng" strike="noStrike" dirty="0">
                          <a:effectLst/>
                          <a:latin typeface="+mn-lt"/>
                        </a:rPr>
                        <a:t>Quantity</a:t>
                      </a:r>
                      <a:r>
                        <a:rPr lang="en-US" sz="1050" u="none" strike="noStrike" dirty="0">
                          <a:effectLst/>
                          <a:latin typeface="+mn-lt"/>
                        </a:rPr>
                        <a:t>:</a:t>
                      </a:r>
                    </a:p>
                    <a:p>
                      <a:pPr marL="91440" algn="l" fontAlgn="t"/>
                      <a:r>
                        <a:rPr lang="en-US" sz="1050" u="none" strike="noStrike" dirty="0">
                          <a:effectLst/>
                          <a:latin typeface="+mn-lt"/>
                        </a:rPr>
                        <a:t>The quantity is not limited</a:t>
                      </a:r>
                      <a:endParaRPr lang="en-US" sz="1050" b="0" i="0" u="none" strike="noStrike" dirty="0">
                        <a:solidFill>
                          <a:srgbClr val="000000"/>
                        </a:solidFill>
                        <a:effectLst/>
                        <a:latin typeface="+mn-lt"/>
                      </a:endParaRPr>
                    </a:p>
                  </a:txBody>
                  <a:tcPr marL="0" marR="0" marT="0" marB="0"/>
                </a:tc>
                <a:tc>
                  <a:txBody>
                    <a:bodyPr/>
                    <a:lstStyle/>
                    <a:p>
                      <a:pPr marL="91440" algn="l" fontAlgn="t"/>
                      <a:r>
                        <a:rPr lang="en-US" sz="1050" u="sng" strike="noStrike" dirty="0">
                          <a:effectLst/>
                          <a:latin typeface="+mn-lt"/>
                        </a:rPr>
                        <a:t>Placement</a:t>
                      </a:r>
                      <a:r>
                        <a:rPr lang="en-US" sz="1050" u="none" strike="noStrike" dirty="0">
                          <a:effectLst/>
                          <a:latin typeface="+mn-lt"/>
                        </a:rPr>
                        <a:t>: Backside SMT components must be placed away from the edge of board by at least 200mil (5mm) </a:t>
                      </a:r>
                      <a:br>
                        <a:rPr lang="en-US" sz="1050" u="none" strike="noStrike" dirty="0">
                          <a:effectLst/>
                          <a:latin typeface="+mn-lt"/>
                        </a:rPr>
                      </a:br>
                      <a:r>
                        <a:rPr lang="en-US" sz="1050" u="sng" strike="noStrike" dirty="0">
                          <a:effectLst/>
                          <a:latin typeface="+mn-lt"/>
                        </a:rPr>
                        <a:t>Via/Through Hole</a:t>
                      </a:r>
                      <a:r>
                        <a:rPr lang="en-US" sz="1050" u="none" strike="noStrike" dirty="0">
                          <a:effectLst/>
                          <a:latin typeface="+mn-lt"/>
                        </a:rPr>
                        <a:t>: Distance between "VIA &amp; Through hole (PTH &amp; NPTH)" and SMD PAD must be equal or greater than 6mil (0.15mm)</a:t>
                      </a:r>
                      <a:br>
                        <a:rPr lang="en-US" sz="1050" u="none" strike="noStrike" dirty="0">
                          <a:effectLst/>
                          <a:latin typeface="+mn-lt"/>
                        </a:rPr>
                      </a:br>
                      <a:r>
                        <a:rPr lang="en-US" sz="1050" u="sng" strike="noStrike" dirty="0">
                          <a:effectLst/>
                          <a:latin typeface="+mn-lt"/>
                        </a:rPr>
                        <a:t>Vias</a:t>
                      </a:r>
                      <a:r>
                        <a:rPr lang="en-US" sz="1050" u="none" strike="noStrike" dirty="0">
                          <a:effectLst/>
                          <a:latin typeface="+mn-lt"/>
                        </a:rPr>
                        <a:t>: It is strictly prohibited to lay VIA hole (including PTH) beneath SMT component</a:t>
                      </a:r>
                      <a:br>
                        <a:rPr lang="en-US" sz="1050" u="none" strike="noStrike" dirty="0">
                          <a:effectLst/>
                          <a:latin typeface="+mn-lt"/>
                        </a:rPr>
                      </a:br>
                      <a:r>
                        <a:rPr lang="en-US" sz="1050" u="sng" strike="noStrike" dirty="0">
                          <a:effectLst/>
                          <a:latin typeface="+mn-lt"/>
                        </a:rPr>
                        <a:t>Part Height</a:t>
                      </a:r>
                      <a:r>
                        <a:rPr lang="en-US" sz="1050" u="none" strike="noStrike" dirty="0">
                          <a:effectLst/>
                          <a:latin typeface="+mn-lt"/>
                        </a:rPr>
                        <a:t>: </a:t>
                      </a:r>
                    </a:p>
                    <a:p>
                      <a:pPr marL="91440" algn="l" fontAlgn="t"/>
                      <a:r>
                        <a:rPr lang="en-US" sz="1050" u="none" strike="noStrike" dirty="0">
                          <a:effectLst/>
                          <a:latin typeface="+mn-lt"/>
                        </a:rPr>
                        <a:t>-Backside component height must be equal or less than 12mm for double-sided process board </a:t>
                      </a:r>
                      <a:br>
                        <a:rPr lang="en-US" sz="1050" u="none" strike="noStrike" dirty="0">
                          <a:effectLst/>
                          <a:latin typeface="+mn-lt"/>
                        </a:rPr>
                      </a:br>
                      <a:r>
                        <a:rPr lang="en-US" sz="1050" u="none" strike="noStrike" dirty="0">
                          <a:effectLst/>
                          <a:latin typeface="+mn-lt"/>
                        </a:rPr>
                        <a:t>-If SMT component height (t) ≦2mm, distance between backside DIP pin and SMD component (x) must ≧3mm. </a:t>
                      </a:r>
                    </a:p>
                    <a:p>
                      <a:pPr marL="91440" algn="l" fontAlgn="t"/>
                      <a:r>
                        <a:rPr lang="en-US" sz="1050" u="none" strike="noStrike" dirty="0">
                          <a:effectLst/>
                          <a:latin typeface="+mn-lt"/>
                        </a:rPr>
                        <a:t>-If SMT component height (t) ≧2mm (The height can't over 12mm), distance between backside DIP pin and SMD component (x) must ≧4mm.</a:t>
                      </a:r>
                      <a:br>
                        <a:rPr lang="en-US" sz="1050" u="none" strike="noStrike" dirty="0">
                          <a:effectLst/>
                          <a:latin typeface="+mn-lt"/>
                        </a:rPr>
                      </a:br>
                      <a:r>
                        <a:rPr lang="en-US" sz="1050" u="sng" strike="noStrike" dirty="0">
                          <a:effectLst/>
                          <a:latin typeface="+mn-lt"/>
                        </a:rPr>
                        <a:t>Quantity</a:t>
                      </a:r>
                      <a:r>
                        <a:rPr lang="en-US" sz="1050" u="none" strike="noStrike" dirty="0">
                          <a:effectLst/>
                          <a:latin typeface="+mn-lt"/>
                        </a:rPr>
                        <a:t>: And the component Q'ty should be ≦ 1000pcs</a:t>
                      </a:r>
                      <a:endParaRPr lang="en-US" sz="1050" b="0" i="0" u="none" strike="noStrike" dirty="0">
                        <a:solidFill>
                          <a:srgbClr val="000000"/>
                        </a:solidFill>
                        <a:effectLst/>
                        <a:latin typeface="+mn-lt"/>
                      </a:endParaRPr>
                    </a:p>
                  </a:txBody>
                  <a:tcPr marL="0" marR="0" marT="0" marB="0"/>
                </a:tc>
                <a:tc>
                  <a:txBody>
                    <a:bodyPr/>
                    <a:lstStyle/>
                    <a:p>
                      <a:pPr marL="91440" algn="l" fontAlgn="t"/>
                      <a:r>
                        <a:rPr lang="en-US" sz="1050" u="sng" strike="noStrike" dirty="0">
                          <a:effectLst/>
                          <a:latin typeface="+mn-lt"/>
                        </a:rPr>
                        <a:t>Quantity</a:t>
                      </a:r>
                      <a:r>
                        <a:rPr lang="en-US" sz="1050" u="none" strike="noStrike" dirty="0">
                          <a:effectLst/>
                          <a:latin typeface="+mn-lt"/>
                        </a:rPr>
                        <a:t>: No rule, so far the maximum backside component quantity is 1243</a:t>
                      </a:r>
                      <a:br>
                        <a:rPr lang="en-US" sz="1050" u="none" strike="noStrike" dirty="0">
                          <a:effectLst/>
                          <a:latin typeface="+mn-lt"/>
                        </a:rPr>
                      </a:br>
                      <a:br>
                        <a:rPr lang="en-US" sz="1050" u="none" strike="noStrike" dirty="0">
                          <a:effectLst/>
                          <a:latin typeface="+mn-lt"/>
                        </a:rPr>
                      </a:br>
                      <a:r>
                        <a:rPr lang="en-US" sz="1050" u="sng" strike="noStrike" dirty="0">
                          <a:effectLst/>
                          <a:latin typeface="+mn-lt"/>
                        </a:rPr>
                        <a:t>Chip size</a:t>
                      </a:r>
                      <a:r>
                        <a:rPr lang="en-US" sz="1050" u="none" strike="noStrike" dirty="0">
                          <a:effectLst/>
                          <a:latin typeface="+mn-lt"/>
                        </a:rPr>
                        <a:t>: No rule, so far the maximum backside component is Intel LGA1200 socket</a:t>
                      </a:r>
                      <a:br>
                        <a:rPr lang="en-US" sz="1050" u="none" strike="noStrike" dirty="0">
                          <a:effectLst/>
                          <a:latin typeface="+mn-lt"/>
                        </a:rPr>
                      </a:br>
                      <a:br>
                        <a:rPr lang="en-US" sz="1050" u="none" strike="noStrike" dirty="0">
                          <a:effectLst/>
                          <a:latin typeface="+mn-lt"/>
                        </a:rPr>
                      </a:br>
                      <a:r>
                        <a:rPr lang="en-US" sz="1050" u="sng" strike="noStrike" dirty="0">
                          <a:effectLst/>
                          <a:latin typeface="+mn-lt"/>
                        </a:rPr>
                        <a:t>Beat rate</a:t>
                      </a:r>
                      <a:r>
                        <a:rPr lang="en-US" sz="1050" u="none" strike="noStrike" dirty="0">
                          <a:effectLst/>
                          <a:latin typeface="+mn-lt"/>
                        </a:rPr>
                        <a:t>: The backside SMT will use a slower pick &amp; place machine.</a:t>
                      </a:r>
                      <a:endParaRPr lang="en-US" sz="1050" b="0" i="0" u="none" strike="noStrike" dirty="0">
                        <a:effectLst/>
                        <a:latin typeface="+mn-lt"/>
                      </a:endParaRPr>
                    </a:p>
                  </a:txBody>
                  <a:tcPr marL="0" marR="0" marT="0" marB="0"/>
                </a:tc>
                <a:extLst>
                  <a:ext uri="{0D108BD9-81ED-4DB2-BD59-A6C34878D82A}">
                    <a16:rowId xmlns:a16="http://schemas.microsoft.com/office/drawing/2014/main" val="560315913"/>
                  </a:ext>
                </a:extLst>
              </a:tr>
            </a:tbl>
          </a:graphicData>
        </a:graphic>
      </p:graphicFrame>
      <p:sp>
        <p:nvSpPr>
          <p:cNvPr id="5" name="Rectangle: Rounded Corners 4">
            <a:extLst>
              <a:ext uri="{FF2B5EF4-FFF2-40B4-BE49-F238E27FC236}">
                <a16:creationId xmlns:a16="http://schemas.microsoft.com/office/drawing/2014/main" id="{DDE35501-AAB6-4BA3-9565-E14C57035461}"/>
              </a:ext>
            </a:extLst>
          </p:cNvPr>
          <p:cNvSpPr/>
          <p:nvPr/>
        </p:nvSpPr>
        <p:spPr>
          <a:xfrm>
            <a:off x="755230" y="5402581"/>
            <a:ext cx="10678583"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a:ln>
                  <a:noFill/>
                </a:ln>
                <a:solidFill>
                  <a:srgbClr val="FFFF00"/>
                </a:solidFill>
                <a:effectLst/>
                <a:uFillTx/>
                <a:latin typeface="Helvetica Neue Medium"/>
                <a:ea typeface="Helvetica Neue Medium"/>
                <a:cs typeface="Helvetica Neue Medium"/>
                <a:sym typeface="Helvetica Neue Medium"/>
              </a:rPr>
              <a:t>Key Message</a:t>
            </a:r>
            <a:endPar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endParaRP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The backside assembly process is fully automated for all customers</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Backside component constraints &amp; limitations vary by customer</a:t>
            </a:r>
          </a:p>
        </p:txBody>
      </p:sp>
    </p:spTree>
    <p:extLst>
      <p:ext uri="{BB962C8B-B14F-4D97-AF65-F5344CB8AC3E}">
        <p14:creationId xmlns:p14="http://schemas.microsoft.com/office/powerpoint/2010/main" val="30264329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A9707-5156-41F3-9BD6-83853633F13F}"/>
              </a:ext>
            </a:extLst>
          </p:cNvPr>
          <p:cNvSpPr>
            <a:spLocks noGrp="1"/>
          </p:cNvSpPr>
          <p:nvPr>
            <p:ph type="title"/>
          </p:nvPr>
        </p:nvSpPr>
        <p:spPr>
          <a:xfrm>
            <a:off x="607484" y="73130"/>
            <a:ext cx="10972800" cy="629603"/>
          </a:xfrm>
        </p:spPr>
        <p:txBody>
          <a:bodyPr/>
          <a:lstStyle/>
          <a:p>
            <a:r>
              <a:rPr lang="en-US" dirty="0"/>
              <a:t>Printed Circuit Board Design (5)</a:t>
            </a:r>
            <a:endParaRPr lang="en-MY" dirty="0"/>
          </a:p>
        </p:txBody>
      </p:sp>
      <p:graphicFrame>
        <p:nvGraphicFramePr>
          <p:cNvPr id="4" name="Content Placeholder 3">
            <a:extLst>
              <a:ext uri="{FF2B5EF4-FFF2-40B4-BE49-F238E27FC236}">
                <a16:creationId xmlns:a16="http://schemas.microsoft.com/office/drawing/2014/main" id="{F4C4F9EE-9506-4C4C-B40C-F4271BBF6041}"/>
              </a:ext>
            </a:extLst>
          </p:cNvPr>
          <p:cNvGraphicFramePr>
            <a:graphicFrameLocks noGrp="1"/>
          </p:cNvGraphicFramePr>
          <p:nvPr>
            <p:ph sz="quarter" idx="13"/>
            <p:extLst>
              <p:ext uri="{D42A27DB-BD31-4B8C-83A1-F6EECF244321}">
                <p14:modId xmlns:p14="http://schemas.microsoft.com/office/powerpoint/2010/main" val="3300454436"/>
              </p:ext>
            </p:extLst>
          </p:nvPr>
        </p:nvGraphicFramePr>
        <p:xfrm>
          <a:off x="194734" y="670448"/>
          <a:ext cx="11489266" cy="4979916"/>
        </p:xfrm>
        <a:graphic>
          <a:graphicData uri="http://schemas.openxmlformats.org/drawingml/2006/table">
            <a:tbl>
              <a:tblPr firstRow="1" bandRow="1">
                <a:tableStyleId>{69012ECD-51FC-41F1-AA8D-1B2483CD663E}</a:tableStyleId>
              </a:tblPr>
              <a:tblGrid>
                <a:gridCol w="1095415">
                  <a:extLst>
                    <a:ext uri="{9D8B030D-6E8A-4147-A177-3AD203B41FA5}">
                      <a16:colId xmlns:a16="http://schemas.microsoft.com/office/drawing/2014/main" val="1692685995"/>
                    </a:ext>
                  </a:extLst>
                </a:gridCol>
                <a:gridCol w="1867918">
                  <a:extLst>
                    <a:ext uri="{9D8B030D-6E8A-4147-A177-3AD203B41FA5}">
                      <a16:colId xmlns:a16="http://schemas.microsoft.com/office/drawing/2014/main" val="2623064430"/>
                    </a:ext>
                  </a:extLst>
                </a:gridCol>
                <a:gridCol w="1413933">
                  <a:extLst>
                    <a:ext uri="{9D8B030D-6E8A-4147-A177-3AD203B41FA5}">
                      <a16:colId xmlns:a16="http://schemas.microsoft.com/office/drawing/2014/main" val="1788829243"/>
                    </a:ext>
                  </a:extLst>
                </a:gridCol>
                <a:gridCol w="1320800">
                  <a:extLst>
                    <a:ext uri="{9D8B030D-6E8A-4147-A177-3AD203B41FA5}">
                      <a16:colId xmlns:a16="http://schemas.microsoft.com/office/drawing/2014/main" val="914312967"/>
                    </a:ext>
                  </a:extLst>
                </a:gridCol>
                <a:gridCol w="1379979">
                  <a:extLst>
                    <a:ext uri="{9D8B030D-6E8A-4147-A177-3AD203B41FA5}">
                      <a16:colId xmlns:a16="http://schemas.microsoft.com/office/drawing/2014/main" val="1362813313"/>
                    </a:ext>
                  </a:extLst>
                </a:gridCol>
                <a:gridCol w="1422975">
                  <a:extLst>
                    <a:ext uri="{9D8B030D-6E8A-4147-A177-3AD203B41FA5}">
                      <a16:colId xmlns:a16="http://schemas.microsoft.com/office/drawing/2014/main" val="3296549446"/>
                    </a:ext>
                  </a:extLst>
                </a:gridCol>
                <a:gridCol w="1540162">
                  <a:extLst>
                    <a:ext uri="{9D8B030D-6E8A-4147-A177-3AD203B41FA5}">
                      <a16:colId xmlns:a16="http://schemas.microsoft.com/office/drawing/2014/main" val="2579843292"/>
                    </a:ext>
                  </a:extLst>
                </a:gridCol>
                <a:gridCol w="1448084">
                  <a:extLst>
                    <a:ext uri="{9D8B030D-6E8A-4147-A177-3AD203B41FA5}">
                      <a16:colId xmlns:a16="http://schemas.microsoft.com/office/drawing/2014/main" val="3841248342"/>
                    </a:ext>
                  </a:extLst>
                </a:gridCol>
              </a:tblGrid>
              <a:tr h="114818">
                <a:tc gridSpan="2">
                  <a:txBody>
                    <a:bodyPr/>
                    <a:lstStyle/>
                    <a:p>
                      <a:pPr marL="91440" algn="l" fontAlgn="t"/>
                      <a:r>
                        <a:rPr lang="en-MY" sz="1200" u="none" strike="noStrike" dirty="0">
                          <a:effectLst/>
                          <a:latin typeface="+mn-lt"/>
                        </a:rPr>
                        <a:t>Area of Interest</a:t>
                      </a:r>
                      <a:endParaRPr lang="en-MY" sz="1200" b="1" i="0" u="none" strike="noStrike" dirty="0">
                        <a:solidFill>
                          <a:srgbClr val="000000"/>
                        </a:solidFill>
                        <a:effectLst/>
                        <a:latin typeface="+mn-lt"/>
                      </a:endParaRPr>
                    </a:p>
                  </a:txBody>
                  <a:tcPr marL="0" marR="0" marT="0" marB="0"/>
                </a:tc>
                <a:tc hMerge="1">
                  <a:txBody>
                    <a:bodyPr/>
                    <a:lstStyle/>
                    <a:p>
                      <a:pPr marL="91440" algn="l" fontAlgn="t"/>
                      <a:endParaRPr lang="en-MY" sz="105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LENOVO (MSI)</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DELL</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ACER (WISTRON)</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ASUSTEK</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MSI</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ASROCK</a:t>
                      </a:r>
                      <a:endParaRPr lang="en-MY" sz="1000" b="1" i="0" u="none" strike="noStrike" dirty="0">
                        <a:solidFill>
                          <a:srgbClr val="000000"/>
                        </a:solidFill>
                        <a:effectLst/>
                        <a:latin typeface="+mn-lt"/>
                      </a:endParaRPr>
                    </a:p>
                  </a:txBody>
                  <a:tcPr marL="0" marR="0" marT="0" marB="0"/>
                </a:tc>
                <a:extLst>
                  <a:ext uri="{0D108BD9-81ED-4DB2-BD59-A6C34878D82A}">
                    <a16:rowId xmlns:a16="http://schemas.microsoft.com/office/drawing/2014/main" val="3852518198"/>
                  </a:ext>
                </a:extLst>
              </a:tr>
              <a:tr h="438396">
                <a:tc rowSpan="7">
                  <a:txBody>
                    <a:bodyPr/>
                    <a:lstStyle/>
                    <a:p>
                      <a:pPr marL="91440" algn="l" fontAlgn="t"/>
                      <a:r>
                        <a:rPr lang="en-MY" sz="1100" u="none" strike="noStrike" dirty="0">
                          <a:effectLst/>
                          <a:latin typeface="+mn-lt"/>
                        </a:rPr>
                        <a:t>Component Spacing</a:t>
                      </a:r>
                      <a:endParaRPr lang="en-MY" sz="1100" b="0" i="0" u="none" strike="noStrike" dirty="0">
                        <a:effectLst/>
                        <a:latin typeface="+mn-lt"/>
                      </a:endParaRPr>
                    </a:p>
                  </a:txBody>
                  <a:tcPr marL="0" marR="0" marT="0" marB="0"/>
                </a:tc>
                <a:tc>
                  <a:txBody>
                    <a:bodyPr/>
                    <a:lstStyle/>
                    <a:p>
                      <a:pPr marL="91440" algn="l" fontAlgn="t"/>
                      <a:r>
                        <a:rPr lang="en-MY" sz="1100" u="none" strike="noStrike" dirty="0">
                          <a:effectLst/>
                          <a:latin typeface="+mn-lt"/>
                        </a:rPr>
                        <a:t>Min spacing for 0402 to 0402</a:t>
                      </a:r>
                      <a:endParaRPr lang="en-MY" sz="1100" b="0" i="0" u="none" strike="noStrike" dirty="0">
                        <a:effectLst/>
                        <a:latin typeface="+mn-lt"/>
                      </a:endParaRPr>
                    </a:p>
                  </a:txBody>
                  <a:tcPr marL="0" marR="0" marT="0" marB="0"/>
                </a:tc>
                <a:tc>
                  <a:txBody>
                    <a:bodyPr/>
                    <a:lstStyle/>
                    <a:p>
                      <a:pPr marL="91440" algn="l" fontAlgn="t"/>
                      <a:r>
                        <a:rPr lang="en-US" sz="1100" u="none" strike="noStrike" dirty="0">
                          <a:effectLst/>
                          <a:latin typeface="+mn-lt"/>
                        </a:rPr>
                        <a:t>Min spacing: 1.5mm, 2mm is better </a:t>
                      </a:r>
                      <a:endParaRPr lang="en-US" sz="1100" b="0" i="0" u="none" strike="noStrike" dirty="0">
                        <a:solidFill>
                          <a:srgbClr val="000000"/>
                        </a:solidFill>
                        <a:effectLst/>
                        <a:latin typeface="+mn-lt"/>
                      </a:endParaRPr>
                    </a:p>
                  </a:txBody>
                  <a:tcPr marL="0" marR="0" marT="0" marB="0"/>
                </a:tc>
                <a:tc>
                  <a:txBody>
                    <a:bodyPr/>
                    <a:lstStyle/>
                    <a:p>
                      <a:pPr marL="91440" algn="l" fontAlgn="t"/>
                      <a:r>
                        <a:rPr lang="en-MY" sz="1100" u="none" strike="noStrike" dirty="0">
                          <a:effectLst/>
                          <a:latin typeface="+mn-lt"/>
                        </a:rPr>
                        <a:t>pad-pad ≥0.3mm (12mils)</a:t>
                      </a:r>
                      <a:endParaRPr lang="en-MY" sz="1100" b="0" i="0" u="none" strike="noStrike" dirty="0">
                        <a:solidFill>
                          <a:srgbClr val="000000"/>
                        </a:solidFill>
                        <a:effectLst/>
                        <a:latin typeface="+mn-lt"/>
                      </a:endParaRPr>
                    </a:p>
                  </a:txBody>
                  <a:tcPr marL="0" marR="0" marT="0" marB="0"/>
                </a:tc>
                <a:tc>
                  <a:txBody>
                    <a:bodyPr/>
                    <a:lstStyle/>
                    <a:p>
                      <a:pPr marL="91440" algn="l" fontAlgn="t"/>
                      <a:r>
                        <a:rPr lang="en-MY" sz="1100" u="none" strike="noStrike" dirty="0">
                          <a:effectLst/>
                          <a:latin typeface="+mn-lt"/>
                        </a:rPr>
                        <a:t>0.25mm</a:t>
                      </a:r>
                      <a:endParaRPr lang="en-MY" sz="1100" b="0" i="0" u="none" strike="noStrike" dirty="0">
                        <a:solidFill>
                          <a:srgbClr val="000000"/>
                        </a:solidFill>
                        <a:effectLst/>
                        <a:latin typeface="+mn-lt"/>
                      </a:endParaRPr>
                    </a:p>
                  </a:txBody>
                  <a:tcPr marL="0" marR="0" marT="0" marB="0"/>
                </a:tc>
                <a:tc>
                  <a:txBody>
                    <a:bodyPr/>
                    <a:lstStyle/>
                    <a:p>
                      <a:pPr marL="91440" algn="l" fontAlgn="ctr"/>
                      <a:r>
                        <a:rPr lang="en-MY" sz="1100" u="none" strike="noStrike" dirty="0">
                          <a:effectLst/>
                          <a:latin typeface="+mn-lt"/>
                        </a:rPr>
                        <a:t>0.3mm (12mils)</a:t>
                      </a:r>
                      <a:endParaRPr lang="en-MY" sz="1100" b="0" i="0" u="none" strike="noStrike" dirty="0">
                        <a:solidFill>
                          <a:srgbClr val="000000"/>
                        </a:solidFill>
                        <a:effectLst/>
                        <a:latin typeface="+mn-lt"/>
                      </a:endParaRPr>
                    </a:p>
                  </a:txBody>
                  <a:tcPr marL="0" marR="0" marT="0" marB="0"/>
                </a:tc>
                <a:tc>
                  <a:txBody>
                    <a:bodyPr/>
                    <a:lstStyle/>
                    <a:p>
                      <a:pPr marL="91440" algn="l" fontAlgn="t"/>
                      <a:r>
                        <a:rPr lang="en-MY" sz="1100" u="none" strike="noStrike" dirty="0">
                          <a:solidFill>
                            <a:srgbClr val="FF0000"/>
                          </a:solidFill>
                          <a:effectLst>
                            <a:outerShdw blurRad="38100" dist="38100" dir="2700000" algn="tl">
                              <a:srgbClr val="000000">
                                <a:alpha val="43137"/>
                              </a:srgbClr>
                            </a:outerShdw>
                          </a:effectLst>
                          <a:latin typeface="+mn-lt"/>
                        </a:rPr>
                        <a:t>0.05mm</a:t>
                      </a:r>
                      <a:endParaRPr lang="en-MY" sz="1100" b="0" i="0" u="none" strike="noStrike" dirty="0">
                        <a:solidFill>
                          <a:srgbClr val="FF0000"/>
                        </a:solidFill>
                        <a:effectLst>
                          <a:outerShdw blurRad="38100" dist="38100" dir="2700000" algn="tl">
                            <a:srgbClr val="000000">
                              <a:alpha val="43137"/>
                            </a:srgbClr>
                          </a:outerShdw>
                        </a:effectLst>
                        <a:latin typeface="+mn-lt"/>
                      </a:endParaRPr>
                    </a:p>
                  </a:txBody>
                  <a:tcPr marL="0" marR="0" marT="0" marB="0"/>
                </a:tc>
                <a:tc>
                  <a:txBody>
                    <a:bodyPr/>
                    <a:lstStyle/>
                    <a:p>
                      <a:pPr marL="91440" algn="l" fontAlgn="t"/>
                      <a:r>
                        <a:rPr lang="en-MY" sz="1100" b="0" i="0" u="none" strike="noStrike" dirty="0">
                          <a:effectLst/>
                          <a:latin typeface="+mn-lt"/>
                        </a:rPr>
                        <a:t>0.15mm</a:t>
                      </a:r>
                    </a:p>
                  </a:txBody>
                  <a:tcPr marL="0" marR="0" marT="0" marB="0"/>
                </a:tc>
                <a:extLst>
                  <a:ext uri="{0D108BD9-81ED-4DB2-BD59-A6C34878D82A}">
                    <a16:rowId xmlns:a16="http://schemas.microsoft.com/office/drawing/2014/main" val="161112178"/>
                  </a:ext>
                </a:extLst>
              </a:tr>
              <a:tr h="219198">
                <a:tc vMerge="1">
                  <a:txBody>
                    <a:bodyPr/>
                    <a:lstStyle/>
                    <a:p>
                      <a:endParaRPr lang="en-MY"/>
                    </a:p>
                  </a:txBody>
                  <a:tcPr/>
                </a:tc>
                <a:tc>
                  <a:txBody>
                    <a:bodyPr/>
                    <a:lstStyle/>
                    <a:p>
                      <a:pPr marL="91440" algn="l" fontAlgn="t"/>
                      <a:r>
                        <a:rPr lang="en-MY" sz="1100" u="none" strike="noStrike" dirty="0">
                          <a:effectLst/>
                          <a:latin typeface="+mn-lt"/>
                        </a:rPr>
                        <a:t>Min spacing for  0603 to 0603</a:t>
                      </a:r>
                      <a:endParaRPr lang="en-MY" sz="1100" b="0" i="0" u="none" strike="noStrike" dirty="0">
                        <a:solidFill>
                          <a:srgbClr val="000000"/>
                        </a:solidFill>
                        <a:effectLst/>
                        <a:latin typeface="+mn-lt"/>
                      </a:endParaRPr>
                    </a:p>
                  </a:txBody>
                  <a:tcPr marL="0" marR="0" marT="0" marB="0"/>
                </a:tc>
                <a:tc>
                  <a:txBody>
                    <a:bodyPr/>
                    <a:lstStyle/>
                    <a:p>
                      <a:pPr marL="91440" algn="l" fontAlgn="t"/>
                      <a:r>
                        <a:rPr lang="en-MY" sz="1100" u="none" strike="noStrike" dirty="0">
                          <a:effectLst/>
                          <a:latin typeface="+mn-lt"/>
                        </a:rPr>
                        <a:t>1.5mm</a:t>
                      </a:r>
                      <a:endParaRPr lang="en-MY" sz="1100" b="0" i="0" u="none" strike="noStrike" dirty="0">
                        <a:solidFill>
                          <a:srgbClr val="000000"/>
                        </a:solidFill>
                        <a:effectLst/>
                        <a:latin typeface="+mn-lt"/>
                      </a:endParaRPr>
                    </a:p>
                  </a:txBody>
                  <a:tcPr marL="0" marR="0" marT="0" marB="0"/>
                </a:tc>
                <a:tc>
                  <a:txBody>
                    <a:bodyPr/>
                    <a:lstStyle/>
                    <a:p>
                      <a:pPr marL="91440" algn="l" fontAlgn="t"/>
                      <a:r>
                        <a:rPr lang="en-MY" sz="1100" u="none" strike="noStrike">
                          <a:effectLst/>
                          <a:latin typeface="+mn-lt"/>
                        </a:rPr>
                        <a:t>pad-pad≥0.3mm (12mils)</a:t>
                      </a:r>
                      <a:endParaRPr lang="en-MY" sz="1100" b="0" i="0" u="none" strike="noStrike">
                        <a:solidFill>
                          <a:srgbClr val="000000"/>
                        </a:solidFill>
                        <a:effectLst/>
                        <a:latin typeface="+mn-lt"/>
                      </a:endParaRPr>
                    </a:p>
                  </a:txBody>
                  <a:tcPr marL="0" marR="0" marT="0" marB="0"/>
                </a:tc>
                <a:tc>
                  <a:txBody>
                    <a:bodyPr/>
                    <a:lstStyle/>
                    <a:p>
                      <a:pPr marL="91440" algn="l" fontAlgn="t"/>
                      <a:r>
                        <a:rPr lang="en-MY" sz="1100" u="none" strike="noStrike">
                          <a:effectLst/>
                          <a:latin typeface="+mn-lt"/>
                        </a:rPr>
                        <a:t>0.30mm</a:t>
                      </a:r>
                      <a:endParaRPr lang="en-MY" sz="1100" b="0" i="0" u="none" strike="noStrike">
                        <a:solidFill>
                          <a:srgbClr val="000000"/>
                        </a:solidFill>
                        <a:effectLst/>
                        <a:latin typeface="+mn-lt"/>
                      </a:endParaRPr>
                    </a:p>
                  </a:txBody>
                  <a:tcPr marL="0" marR="0" marT="0" marB="0"/>
                </a:tc>
                <a:tc>
                  <a:txBody>
                    <a:bodyPr/>
                    <a:lstStyle/>
                    <a:p>
                      <a:pPr marL="91440" algn="l" fontAlgn="ctr"/>
                      <a:r>
                        <a:rPr lang="en-MY" sz="1100" u="none" strike="noStrike">
                          <a:effectLst/>
                          <a:latin typeface="+mn-lt"/>
                        </a:rPr>
                        <a:t>0.3mm (12mils)</a:t>
                      </a:r>
                      <a:endParaRPr lang="en-MY" sz="1100" b="0" i="0" u="none" strike="noStrike">
                        <a:solidFill>
                          <a:srgbClr val="000000"/>
                        </a:solidFill>
                        <a:effectLst/>
                        <a:latin typeface="+mn-lt"/>
                      </a:endParaRPr>
                    </a:p>
                  </a:txBody>
                  <a:tcPr marL="0" marR="0" marT="0" marB="0"/>
                </a:tc>
                <a:tc>
                  <a:txBody>
                    <a:bodyPr/>
                    <a:lstStyle/>
                    <a:p>
                      <a:pPr marL="91440" algn="l" fontAlgn="t"/>
                      <a:r>
                        <a:rPr lang="en-MY" sz="1100" u="none" strike="noStrike" dirty="0">
                          <a:solidFill>
                            <a:srgbClr val="FF0000"/>
                          </a:solidFill>
                          <a:effectLst>
                            <a:outerShdw blurRad="38100" dist="38100" dir="2700000" algn="tl">
                              <a:srgbClr val="000000">
                                <a:alpha val="43137"/>
                              </a:srgbClr>
                            </a:outerShdw>
                          </a:effectLst>
                          <a:latin typeface="+mn-lt"/>
                        </a:rPr>
                        <a:t>0.05mm</a:t>
                      </a:r>
                      <a:endParaRPr lang="en-MY" sz="1100" b="0" i="0" u="none" strike="noStrike" dirty="0">
                        <a:solidFill>
                          <a:srgbClr val="FF0000"/>
                        </a:solidFill>
                        <a:effectLst>
                          <a:outerShdw blurRad="38100" dist="38100" dir="2700000" algn="tl">
                            <a:srgbClr val="000000">
                              <a:alpha val="43137"/>
                            </a:srgbClr>
                          </a:outerShdw>
                        </a:effectLst>
                        <a:latin typeface="+mn-lt"/>
                      </a:endParaRPr>
                    </a:p>
                  </a:txBody>
                  <a:tcPr marL="0" marR="0" marT="0" marB="0"/>
                </a:tc>
                <a:tc>
                  <a:txBody>
                    <a:bodyPr/>
                    <a:lstStyle/>
                    <a:p>
                      <a:pPr marL="91440" algn="l" fontAlgn="t"/>
                      <a:r>
                        <a:rPr lang="en-MY" sz="1100" b="0" i="0" u="none" strike="noStrike" dirty="0">
                          <a:effectLst/>
                          <a:latin typeface="+mn-lt"/>
                        </a:rPr>
                        <a:t>0.18mm</a:t>
                      </a:r>
                    </a:p>
                  </a:txBody>
                  <a:tcPr marL="0" marR="0" marT="0" marB="0"/>
                </a:tc>
                <a:extLst>
                  <a:ext uri="{0D108BD9-81ED-4DB2-BD59-A6C34878D82A}">
                    <a16:rowId xmlns:a16="http://schemas.microsoft.com/office/drawing/2014/main" val="504902122"/>
                  </a:ext>
                </a:extLst>
              </a:tr>
              <a:tr h="328797">
                <a:tc vMerge="1">
                  <a:txBody>
                    <a:bodyPr/>
                    <a:lstStyle/>
                    <a:p>
                      <a:endParaRPr lang="en-MY"/>
                    </a:p>
                  </a:txBody>
                  <a:tcPr/>
                </a:tc>
                <a:tc>
                  <a:txBody>
                    <a:bodyPr/>
                    <a:lstStyle/>
                    <a:p>
                      <a:pPr marL="91440" algn="l" fontAlgn="t"/>
                      <a:r>
                        <a:rPr lang="en-MY" sz="1100" u="none" strike="noStrike" dirty="0">
                          <a:effectLst/>
                          <a:latin typeface="+mn-lt"/>
                        </a:rPr>
                        <a:t>Min spacing for 0805 to 0805 </a:t>
                      </a:r>
                      <a:endParaRPr lang="en-MY" sz="1100" b="0" i="0" u="none" strike="noStrike" dirty="0">
                        <a:solidFill>
                          <a:srgbClr val="000000"/>
                        </a:solidFill>
                        <a:effectLst/>
                        <a:latin typeface="+mn-lt"/>
                      </a:endParaRPr>
                    </a:p>
                  </a:txBody>
                  <a:tcPr marL="0" marR="0" marT="0" marB="0"/>
                </a:tc>
                <a:tc>
                  <a:txBody>
                    <a:bodyPr/>
                    <a:lstStyle/>
                    <a:p>
                      <a:pPr marL="91440" algn="l" fontAlgn="t"/>
                      <a:r>
                        <a:rPr lang="en-MY" sz="1100" u="none" strike="noStrike" dirty="0">
                          <a:effectLst/>
                          <a:latin typeface="+mn-lt"/>
                        </a:rPr>
                        <a:t>1.5mm</a:t>
                      </a:r>
                      <a:endParaRPr lang="en-MY" sz="1100" b="0" i="0" u="none" strike="noStrike" dirty="0">
                        <a:solidFill>
                          <a:srgbClr val="000000"/>
                        </a:solidFill>
                        <a:effectLst/>
                        <a:latin typeface="+mn-lt"/>
                      </a:endParaRPr>
                    </a:p>
                  </a:txBody>
                  <a:tcPr marL="0" marR="0" marT="0" marB="0"/>
                </a:tc>
                <a:tc>
                  <a:txBody>
                    <a:bodyPr/>
                    <a:lstStyle/>
                    <a:p>
                      <a:pPr marL="91440" algn="l" fontAlgn="t"/>
                      <a:r>
                        <a:rPr lang="en-MY" sz="1100" u="none" strike="noStrike">
                          <a:effectLst/>
                          <a:latin typeface="+mn-lt"/>
                        </a:rPr>
                        <a:t>pad-pad≥0.3mm (12mils)</a:t>
                      </a:r>
                      <a:endParaRPr lang="en-MY" sz="1100" b="0" i="0" u="none" strike="noStrike">
                        <a:solidFill>
                          <a:srgbClr val="000000"/>
                        </a:solidFill>
                        <a:effectLst/>
                        <a:latin typeface="+mn-lt"/>
                      </a:endParaRPr>
                    </a:p>
                  </a:txBody>
                  <a:tcPr marL="0" marR="0" marT="0" marB="0"/>
                </a:tc>
                <a:tc>
                  <a:txBody>
                    <a:bodyPr/>
                    <a:lstStyle/>
                    <a:p>
                      <a:pPr marL="91440" algn="l" fontAlgn="t"/>
                      <a:r>
                        <a:rPr lang="en-MY" sz="1100" u="none" strike="noStrike">
                          <a:effectLst/>
                          <a:latin typeface="+mn-lt"/>
                        </a:rPr>
                        <a:t>0.40mm</a:t>
                      </a:r>
                      <a:endParaRPr lang="en-MY" sz="1100" b="0" i="0" u="none" strike="noStrike">
                        <a:solidFill>
                          <a:srgbClr val="000000"/>
                        </a:solidFill>
                        <a:effectLst/>
                        <a:latin typeface="+mn-lt"/>
                      </a:endParaRPr>
                    </a:p>
                  </a:txBody>
                  <a:tcPr marL="0" marR="0" marT="0" marB="0"/>
                </a:tc>
                <a:tc>
                  <a:txBody>
                    <a:bodyPr/>
                    <a:lstStyle/>
                    <a:p>
                      <a:pPr marL="91440" algn="l" fontAlgn="ctr"/>
                      <a:r>
                        <a:rPr lang="en-MY" sz="1100" u="none" strike="noStrike">
                          <a:effectLst/>
                          <a:latin typeface="+mn-lt"/>
                        </a:rPr>
                        <a:t>0.3mm (12mils)</a:t>
                      </a:r>
                      <a:endParaRPr lang="en-MY" sz="1100" b="0" i="0" u="none" strike="noStrike">
                        <a:solidFill>
                          <a:srgbClr val="000000"/>
                        </a:solidFill>
                        <a:effectLst/>
                        <a:latin typeface="+mn-lt"/>
                      </a:endParaRPr>
                    </a:p>
                  </a:txBody>
                  <a:tcPr marL="0" marR="0" marT="0" marB="0"/>
                </a:tc>
                <a:tc>
                  <a:txBody>
                    <a:bodyPr/>
                    <a:lstStyle/>
                    <a:p>
                      <a:pPr marL="91440" algn="l" fontAlgn="t"/>
                      <a:r>
                        <a:rPr lang="en-MY" sz="1100" u="none" strike="noStrike" dirty="0">
                          <a:solidFill>
                            <a:srgbClr val="FF0000"/>
                          </a:solidFill>
                          <a:effectLst>
                            <a:outerShdw blurRad="38100" dist="38100" dir="2700000" algn="tl">
                              <a:srgbClr val="000000">
                                <a:alpha val="43137"/>
                              </a:srgbClr>
                            </a:outerShdw>
                          </a:effectLst>
                          <a:latin typeface="+mn-lt"/>
                        </a:rPr>
                        <a:t>0.05mm</a:t>
                      </a:r>
                      <a:endParaRPr lang="en-MY" sz="1100" b="0" i="0" u="none" strike="noStrike" dirty="0">
                        <a:solidFill>
                          <a:srgbClr val="FF0000"/>
                        </a:solidFill>
                        <a:effectLst>
                          <a:outerShdw blurRad="38100" dist="38100" dir="2700000" algn="tl">
                            <a:srgbClr val="000000">
                              <a:alpha val="43137"/>
                            </a:srgbClr>
                          </a:outerShdw>
                        </a:effectLst>
                        <a:latin typeface="+mn-lt"/>
                      </a:endParaRPr>
                    </a:p>
                  </a:txBody>
                  <a:tcPr marL="0" marR="0" marT="0" marB="0"/>
                </a:tc>
                <a:tc>
                  <a:txBody>
                    <a:bodyPr/>
                    <a:lstStyle/>
                    <a:p>
                      <a:pPr marL="91440" algn="l" fontAlgn="t"/>
                      <a:r>
                        <a:rPr lang="en-MY" sz="1100" b="0" i="0" u="none" strike="noStrike">
                          <a:effectLst/>
                          <a:latin typeface="+mn-lt"/>
                        </a:rPr>
                        <a:t>0.18mm</a:t>
                      </a:r>
                    </a:p>
                  </a:txBody>
                  <a:tcPr marL="0" marR="0" marT="0" marB="0"/>
                </a:tc>
                <a:extLst>
                  <a:ext uri="{0D108BD9-81ED-4DB2-BD59-A6C34878D82A}">
                    <a16:rowId xmlns:a16="http://schemas.microsoft.com/office/drawing/2014/main" val="2963251170"/>
                  </a:ext>
                </a:extLst>
              </a:tr>
              <a:tr h="547995">
                <a:tc vMerge="1">
                  <a:txBody>
                    <a:bodyPr/>
                    <a:lstStyle/>
                    <a:p>
                      <a:endParaRPr lang="en-MY"/>
                    </a:p>
                  </a:txBody>
                  <a:tcPr/>
                </a:tc>
                <a:tc>
                  <a:txBody>
                    <a:bodyPr/>
                    <a:lstStyle/>
                    <a:p>
                      <a:pPr marL="91440" algn="l" fontAlgn="t"/>
                      <a:r>
                        <a:rPr lang="en-US" sz="1100" u="none" strike="noStrike" dirty="0">
                          <a:effectLst/>
                          <a:latin typeface="+mn-lt"/>
                        </a:rPr>
                        <a:t>For through-hole components (e.g. leaded caps), what is the minimum body-to-body spacing requirements for assembly?</a:t>
                      </a:r>
                      <a:endParaRPr lang="en-US" sz="1100" b="0" i="0" u="none" strike="noStrike" dirty="0">
                        <a:solidFill>
                          <a:srgbClr val="000000"/>
                        </a:solidFill>
                        <a:effectLst/>
                        <a:latin typeface="+mn-lt"/>
                      </a:endParaRPr>
                    </a:p>
                  </a:txBody>
                  <a:tcPr marL="0" marR="0" marT="0" marB="0"/>
                </a:tc>
                <a:tc>
                  <a:txBody>
                    <a:bodyPr/>
                    <a:lstStyle/>
                    <a:p>
                      <a:pPr marL="91440" algn="l" fontAlgn="t"/>
                      <a:r>
                        <a:rPr lang="en-MY" sz="1100" u="none" strike="noStrike" dirty="0">
                          <a:effectLst/>
                          <a:latin typeface="+mn-lt"/>
                        </a:rPr>
                        <a:t>≧0.5mm (20mil)</a:t>
                      </a:r>
                      <a:endParaRPr lang="en-MY" sz="1100" b="0" i="0" u="none" strike="noStrike" dirty="0">
                        <a:solidFill>
                          <a:srgbClr val="000000"/>
                        </a:solidFill>
                        <a:effectLst/>
                        <a:latin typeface="+mn-lt"/>
                      </a:endParaRPr>
                    </a:p>
                  </a:txBody>
                  <a:tcPr marL="0" marR="0" marT="0" marB="0"/>
                </a:tc>
                <a:tc>
                  <a:txBody>
                    <a:bodyPr/>
                    <a:lstStyle/>
                    <a:p>
                      <a:pPr marL="91440" algn="l" fontAlgn="t"/>
                      <a:r>
                        <a:rPr lang="en-MY" sz="1100" u="none" strike="noStrike">
                          <a:effectLst/>
                          <a:latin typeface="+mn-lt"/>
                        </a:rPr>
                        <a:t>2.54mm to 3.0mm (100 to 120mils), ODM depedant</a:t>
                      </a:r>
                      <a:endParaRPr lang="en-MY" sz="1100" b="0" i="0" u="none" strike="noStrike">
                        <a:solidFill>
                          <a:srgbClr val="000000"/>
                        </a:solidFill>
                        <a:effectLst/>
                        <a:latin typeface="+mn-lt"/>
                      </a:endParaRPr>
                    </a:p>
                  </a:txBody>
                  <a:tcPr marL="0" marR="0" marT="0" marB="0"/>
                </a:tc>
                <a:tc>
                  <a:txBody>
                    <a:bodyPr/>
                    <a:lstStyle/>
                    <a:p>
                      <a:pPr marL="91440" algn="l" fontAlgn="t"/>
                      <a:r>
                        <a:rPr lang="en-MY" sz="1100" u="none" strike="noStrike">
                          <a:effectLst/>
                          <a:latin typeface="+mn-lt"/>
                        </a:rPr>
                        <a:t>2mm</a:t>
                      </a:r>
                      <a:endParaRPr lang="en-MY" sz="1100" b="0" i="0" u="none" strike="noStrike">
                        <a:solidFill>
                          <a:srgbClr val="000000"/>
                        </a:solidFill>
                        <a:effectLst/>
                        <a:latin typeface="+mn-lt"/>
                      </a:endParaRPr>
                    </a:p>
                  </a:txBody>
                  <a:tcPr marL="0" marR="0" marT="0" marB="0"/>
                </a:tc>
                <a:tc>
                  <a:txBody>
                    <a:bodyPr/>
                    <a:lstStyle/>
                    <a:p>
                      <a:pPr marL="91440" algn="l" fontAlgn="ctr"/>
                      <a:r>
                        <a:rPr lang="en-US" sz="1100" u="none" strike="noStrike">
                          <a:effectLst/>
                          <a:latin typeface="+mn-lt"/>
                        </a:rPr>
                        <a:t>minimum body-to-body spacing requirements is 0.61mm (24 mil)</a:t>
                      </a:r>
                      <a:endParaRPr lang="en-US" sz="1100" b="0" i="0" u="none" strike="noStrike">
                        <a:solidFill>
                          <a:srgbClr val="000000"/>
                        </a:solidFill>
                        <a:effectLst/>
                        <a:latin typeface="+mn-lt"/>
                      </a:endParaRPr>
                    </a:p>
                  </a:txBody>
                  <a:tcPr marL="0" marR="0" marT="0" marB="0"/>
                </a:tc>
                <a:tc>
                  <a:txBody>
                    <a:bodyPr/>
                    <a:lstStyle/>
                    <a:p>
                      <a:pPr marL="91440" algn="l" fontAlgn="t"/>
                      <a:r>
                        <a:rPr lang="en-US" sz="1100" u="none" strike="noStrike" dirty="0">
                          <a:effectLst/>
                          <a:latin typeface="+mn-lt"/>
                        </a:rPr>
                        <a:t>0.50mm each cap frame spacing (≧0.5mm (20mil)</a:t>
                      </a:r>
                      <a:endParaRPr lang="en-US" sz="1100" b="0" i="0" u="none" strike="noStrike" dirty="0">
                        <a:solidFill>
                          <a:srgbClr val="000000"/>
                        </a:solidFill>
                        <a:effectLst/>
                        <a:latin typeface="+mn-lt"/>
                      </a:endParaRPr>
                    </a:p>
                  </a:txBody>
                  <a:tcPr marL="0" marR="0" marT="0" marB="0"/>
                </a:tc>
                <a:tc>
                  <a:txBody>
                    <a:bodyPr/>
                    <a:lstStyle/>
                    <a:p>
                      <a:pPr marL="91440" algn="l" fontAlgn="t"/>
                      <a:r>
                        <a:rPr lang="en-US" sz="1100" b="0" i="0" u="none" strike="noStrike" dirty="0">
                          <a:solidFill>
                            <a:srgbClr val="000000"/>
                          </a:solidFill>
                          <a:effectLst/>
                          <a:latin typeface="+mn-lt"/>
                        </a:rPr>
                        <a:t>0mm between component allegro symbol outline</a:t>
                      </a:r>
                    </a:p>
                  </a:txBody>
                  <a:tcPr marL="0" marR="0" marT="0" marB="0"/>
                </a:tc>
                <a:extLst>
                  <a:ext uri="{0D108BD9-81ED-4DB2-BD59-A6C34878D82A}">
                    <a16:rowId xmlns:a16="http://schemas.microsoft.com/office/drawing/2014/main" val="3493957544"/>
                  </a:ext>
                </a:extLst>
              </a:tr>
              <a:tr h="547995">
                <a:tc vMerge="1">
                  <a:txBody>
                    <a:bodyPr/>
                    <a:lstStyle/>
                    <a:p>
                      <a:endParaRPr lang="en-MY"/>
                    </a:p>
                  </a:txBody>
                  <a:tcPr/>
                </a:tc>
                <a:tc>
                  <a:txBody>
                    <a:bodyPr/>
                    <a:lstStyle/>
                    <a:p>
                      <a:pPr marL="91440" algn="l" fontAlgn="t"/>
                      <a:r>
                        <a:rPr lang="en-US" sz="1100" u="none" strike="noStrike" dirty="0">
                          <a:effectLst/>
                          <a:latin typeface="+mn-lt"/>
                        </a:rPr>
                        <a:t>For large SMT components (e.g. inductors), what is the minimum body-to-body spacing requirements for assembly?</a:t>
                      </a:r>
                      <a:endParaRPr lang="en-US" sz="1100" b="0" i="0" u="none" strike="noStrike" dirty="0">
                        <a:solidFill>
                          <a:srgbClr val="000000"/>
                        </a:solidFill>
                        <a:effectLst/>
                        <a:latin typeface="+mn-lt"/>
                      </a:endParaRPr>
                    </a:p>
                  </a:txBody>
                  <a:tcPr marL="0" marR="0" marT="0" marB="0"/>
                </a:tc>
                <a:tc>
                  <a:txBody>
                    <a:bodyPr/>
                    <a:lstStyle/>
                    <a:p>
                      <a:pPr marL="91440" algn="l" fontAlgn="t"/>
                      <a:r>
                        <a:rPr lang="en-MY" sz="1100" u="none" strike="noStrike" dirty="0">
                          <a:effectLst/>
                          <a:latin typeface="+mn-lt"/>
                        </a:rPr>
                        <a:t>≧0.5mm (20mil)</a:t>
                      </a:r>
                      <a:endParaRPr lang="en-MY" sz="1100" b="0" i="0" u="none" strike="noStrike" dirty="0">
                        <a:solidFill>
                          <a:srgbClr val="000000"/>
                        </a:solidFill>
                        <a:effectLst/>
                        <a:latin typeface="+mn-lt"/>
                      </a:endParaRPr>
                    </a:p>
                  </a:txBody>
                  <a:tcPr marL="0" marR="0" marT="0" marB="0"/>
                </a:tc>
                <a:tc>
                  <a:txBody>
                    <a:bodyPr/>
                    <a:lstStyle/>
                    <a:p>
                      <a:pPr marL="91440" algn="l" fontAlgn="t"/>
                      <a:r>
                        <a:rPr lang="en-MY" sz="1100" u="none" strike="noStrike" dirty="0">
                          <a:effectLst/>
                          <a:latin typeface="+mn-lt"/>
                        </a:rPr>
                        <a:t>1.0mm to 2.54mm (40 to 100mils), ODM dependant</a:t>
                      </a:r>
                      <a:endParaRPr lang="en-MY" sz="1100" b="0" i="0" u="none" strike="noStrike" dirty="0">
                        <a:solidFill>
                          <a:srgbClr val="000000"/>
                        </a:solidFill>
                        <a:effectLst/>
                        <a:latin typeface="+mn-lt"/>
                      </a:endParaRPr>
                    </a:p>
                  </a:txBody>
                  <a:tcPr marL="0" marR="0" marT="0" marB="0"/>
                </a:tc>
                <a:tc>
                  <a:txBody>
                    <a:bodyPr/>
                    <a:lstStyle/>
                    <a:p>
                      <a:pPr marL="91440" algn="l" fontAlgn="t"/>
                      <a:r>
                        <a:rPr lang="en-MY" sz="1100" u="none" strike="noStrike">
                          <a:effectLst/>
                          <a:latin typeface="+mn-lt"/>
                        </a:rPr>
                        <a:t>2mm</a:t>
                      </a:r>
                      <a:endParaRPr lang="en-MY" sz="1100" b="0" i="0" u="none" strike="noStrike">
                        <a:solidFill>
                          <a:srgbClr val="000000"/>
                        </a:solidFill>
                        <a:effectLst/>
                        <a:latin typeface="+mn-lt"/>
                      </a:endParaRPr>
                    </a:p>
                  </a:txBody>
                  <a:tcPr marL="0" marR="0" marT="0" marB="0"/>
                </a:tc>
                <a:tc>
                  <a:txBody>
                    <a:bodyPr/>
                    <a:lstStyle/>
                    <a:p>
                      <a:pPr marL="91440" algn="l" fontAlgn="ctr"/>
                      <a:r>
                        <a:rPr lang="en-US" sz="1100" u="none" strike="noStrike">
                          <a:effectLst/>
                          <a:latin typeface="+mn-lt"/>
                        </a:rPr>
                        <a:t>minimum body-to-body spacing requirements is 0.30mm (12 mil)</a:t>
                      </a:r>
                      <a:endParaRPr lang="en-US" sz="1100" b="0" i="0" u="none" strike="noStrike">
                        <a:solidFill>
                          <a:srgbClr val="000000"/>
                        </a:solidFill>
                        <a:effectLst/>
                        <a:latin typeface="+mn-lt"/>
                      </a:endParaRPr>
                    </a:p>
                  </a:txBody>
                  <a:tcPr marL="0" marR="0" marT="0" marB="0"/>
                </a:tc>
                <a:tc>
                  <a:txBody>
                    <a:bodyPr/>
                    <a:lstStyle/>
                    <a:p>
                      <a:pPr marL="91440" algn="l" fontAlgn="t"/>
                      <a:r>
                        <a:rPr lang="en-MY" sz="1100" u="none" strike="noStrike">
                          <a:effectLst/>
                          <a:latin typeface="+mn-lt"/>
                        </a:rPr>
                        <a:t>Not answered</a:t>
                      </a:r>
                      <a:endParaRPr lang="en-MY" sz="1100" b="0" i="0" u="none" strike="noStrike">
                        <a:solidFill>
                          <a:srgbClr val="0000FF"/>
                        </a:solidFill>
                        <a:effectLst/>
                        <a:latin typeface="+mn-lt"/>
                      </a:endParaRPr>
                    </a:p>
                  </a:txBody>
                  <a:tcPr marL="0" marR="0" marT="0" marB="0"/>
                </a:tc>
                <a:tc>
                  <a:txBody>
                    <a:bodyPr/>
                    <a:lstStyle/>
                    <a:p>
                      <a:pPr marL="91440" algn="l" fontAlgn="t"/>
                      <a:r>
                        <a:rPr lang="en-US" sz="1100" b="0" i="0" u="none" strike="noStrike" dirty="0">
                          <a:solidFill>
                            <a:srgbClr val="000000"/>
                          </a:solidFill>
                          <a:effectLst/>
                          <a:latin typeface="+mn-lt"/>
                        </a:rPr>
                        <a:t>0mm between component allegro symbol outline</a:t>
                      </a:r>
                    </a:p>
                  </a:txBody>
                  <a:tcPr marL="0" marR="0" marT="0" marB="0"/>
                </a:tc>
                <a:extLst>
                  <a:ext uri="{0D108BD9-81ED-4DB2-BD59-A6C34878D82A}">
                    <a16:rowId xmlns:a16="http://schemas.microsoft.com/office/drawing/2014/main" val="2448030881"/>
                  </a:ext>
                </a:extLst>
              </a:tr>
              <a:tr h="547995">
                <a:tc vMerge="1">
                  <a:txBody>
                    <a:bodyPr/>
                    <a:lstStyle/>
                    <a:p>
                      <a:endParaRPr lang="en-MY"/>
                    </a:p>
                  </a:txBody>
                  <a:tcPr/>
                </a:tc>
                <a:tc>
                  <a:txBody>
                    <a:bodyPr/>
                    <a:lstStyle/>
                    <a:p>
                      <a:pPr marL="91440" algn="l" fontAlgn="t"/>
                      <a:r>
                        <a:rPr lang="en-US" sz="1100" u="none" strike="noStrike">
                          <a:effectLst/>
                          <a:latin typeface="+mn-lt"/>
                        </a:rPr>
                        <a:t>For components inside the socket cavity, what is the minimum chip-to-socket cavity-wall spacing requirements for assembly?</a:t>
                      </a:r>
                      <a:endParaRPr lang="en-US" sz="1100" b="0" i="0" u="none" strike="noStrike">
                        <a:solidFill>
                          <a:srgbClr val="000000"/>
                        </a:solidFill>
                        <a:effectLst/>
                        <a:latin typeface="+mn-lt"/>
                      </a:endParaRPr>
                    </a:p>
                  </a:txBody>
                  <a:tcPr marL="0" marR="0" marT="0" marB="0"/>
                </a:tc>
                <a:tc>
                  <a:txBody>
                    <a:bodyPr/>
                    <a:lstStyle/>
                    <a:p>
                      <a:pPr marL="91440" algn="l" fontAlgn="t"/>
                      <a:r>
                        <a:rPr lang="en-MY" sz="1100" u="none" strike="noStrike" dirty="0">
                          <a:effectLst/>
                          <a:latin typeface="+mn-lt"/>
                        </a:rPr>
                        <a:t>≧0.5mm (20mil)</a:t>
                      </a:r>
                      <a:endParaRPr lang="en-MY" sz="1100" b="0" i="0" u="none" strike="noStrike" dirty="0">
                        <a:solidFill>
                          <a:srgbClr val="000000"/>
                        </a:solidFill>
                        <a:effectLst/>
                        <a:latin typeface="+mn-lt"/>
                      </a:endParaRPr>
                    </a:p>
                  </a:txBody>
                  <a:tcPr marL="0" marR="0" marT="0" marB="0"/>
                </a:tc>
                <a:tc>
                  <a:txBody>
                    <a:bodyPr/>
                    <a:lstStyle/>
                    <a:p>
                      <a:pPr marL="91440" algn="l" fontAlgn="t"/>
                      <a:r>
                        <a:rPr lang="en-MY" sz="1100" u="none" strike="noStrike" dirty="0">
                          <a:effectLst/>
                          <a:latin typeface="+mn-lt"/>
                        </a:rPr>
                        <a:t>2mm</a:t>
                      </a:r>
                      <a:endParaRPr lang="en-MY" sz="1100" b="0" i="0" u="none" strike="noStrike" dirty="0">
                        <a:solidFill>
                          <a:srgbClr val="000000"/>
                        </a:solidFill>
                        <a:effectLst/>
                        <a:latin typeface="+mn-lt"/>
                      </a:endParaRPr>
                    </a:p>
                  </a:txBody>
                  <a:tcPr marL="0" marR="0" marT="0" marB="0"/>
                </a:tc>
                <a:tc>
                  <a:txBody>
                    <a:bodyPr/>
                    <a:lstStyle/>
                    <a:p>
                      <a:pPr marL="91440" algn="l" fontAlgn="t"/>
                      <a:r>
                        <a:rPr lang="en-MY" sz="1100" u="none" strike="noStrike" dirty="0">
                          <a:effectLst/>
                          <a:latin typeface="+mn-lt"/>
                        </a:rPr>
                        <a:t>1mm</a:t>
                      </a:r>
                      <a:endParaRPr lang="en-MY" sz="1100" b="0" i="0" u="none" strike="noStrike" dirty="0">
                        <a:effectLst/>
                        <a:latin typeface="+mn-lt"/>
                      </a:endParaRPr>
                    </a:p>
                  </a:txBody>
                  <a:tcPr marL="0" marR="0" marT="0" marB="0"/>
                </a:tc>
                <a:tc>
                  <a:txBody>
                    <a:bodyPr/>
                    <a:lstStyle/>
                    <a:p>
                      <a:pPr marL="91440" algn="l" fontAlgn="ctr"/>
                      <a:r>
                        <a:rPr lang="en-US" sz="1100" u="none" strike="noStrike">
                          <a:effectLst/>
                          <a:latin typeface="+mn-lt"/>
                        </a:rPr>
                        <a:t>minimum chip-to-socket cavity-wall spacing is 1.0mm (40 mil)</a:t>
                      </a:r>
                      <a:endParaRPr lang="en-US" sz="1100" b="0" i="0" u="none" strike="noStrike">
                        <a:solidFill>
                          <a:srgbClr val="000000"/>
                        </a:solidFill>
                        <a:effectLst/>
                        <a:latin typeface="+mn-lt"/>
                      </a:endParaRPr>
                    </a:p>
                  </a:txBody>
                  <a:tcPr marL="0" marR="0" marT="0" marB="0"/>
                </a:tc>
                <a:tc>
                  <a:txBody>
                    <a:bodyPr/>
                    <a:lstStyle/>
                    <a:p>
                      <a:pPr marL="91440" algn="l" fontAlgn="t"/>
                      <a:r>
                        <a:rPr lang="en-US" sz="1100" u="none" strike="noStrike">
                          <a:effectLst/>
                          <a:latin typeface="+mn-lt"/>
                        </a:rPr>
                        <a:t>All the caps around the CPU SKT should be &gt;0.2mm</a:t>
                      </a:r>
                      <a:endParaRPr lang="en-US" sz="1100" b="0" i="0" u="none" strike="noStrike">
                        <a:solidFill>
                          <a:srgbClr val="000000"/>
                        </a:solidFill>
                        <a:effectLst/>
                        <a:latin typeface="+mn-lt"/>
                      </a:endParaRPr>
                    </a:p>
                  </a:txBody>
                  <a:tcPr marL="0" marR="0" marT="0" marB="0"/>
                </a:tc>
                <a:tc>
                  <a:txBody>
                    <a:bodyPr/>
                    <a:lstStyle/>
                    <a:p>
                      <a:pPr marL="91440" algn="l" fontAlgn="t"/>
                      <a:r>
                        <a:rPr lang="en-US" sz="1100" b="0" i="0" u="none" strike="noStrike" dirty="0">
                          <a:solidFill>
                            <a:srgbClr val="000000"/>
                          </a:solidFill>
                          <a:effectLst/>
                          <a:latin typeface="+mn-lt"/>
                        </a:rPr>
                        <a:t>0mm between component allegro symbol outline</a:t>
                      </a:r>
                    </a:p>
                  </a:txBody>
                  <a:tcPr marL="0" marR="0" marT="0" marB="0"/>
                </a:tc>
                <a:extLst>
                  <a:ext uri="{0D108BD9-81ED-4DB2-BD59-A6C34878D82A}">
                    <a16:rowId xmlns:a16="http://schemas.microsoft.com/office/drawing/2014/main" val="1187878461"/>
                  </a:ext>
                </a:extLst>
              </a:tr>
              <a:tr h="767192">
                <a:tc vMerge="1">
                  <a:txBody>
                    <a:bodyPr/>
                    <a:lstStyle/>
                    <a:p>
                      <a:endParaRPr lang="en-MY"/>
                    </a:p>
                  </a:txBody>
                  <a:tcPr/>
                </a:tc>
                <a:tc>
                  <a:txBody>
                    <a:bodyPr/>
                    <a:lstStyle/>
                    <a:p>
                      <a:pPr marL="91440" algn="l" fontAlgn="t"/>
                      <a:r>
                        <a:rPr lang="en-US" sz="1100" u="none" strike="noStrike" dirty="0">
                          <a:effectLst/>
                          <a:latin typeface="+mn-lt"/>
                        </a:rPr>
                        <a:t>For the above question, is this minimum spacing set for rework reasons or for other assembly considerations? (please explain)</a:t>
                      </a:r>
                      <a:endParaRPr lang="en-US" sz="1100" b="0" i="0" u="none" strike="noStrike" dirty="0">
                        <a:solidFill>
                          <a:srgbClr val="000000"/>
                        </a:solidFill>
                        <a:effectLst/>
                        <a:latin typeface="+mn-lt"/>
                      </a:endParaRPr>
                    </a:p>
                  </a:txBody>
                  <a:tcPr marL="0" marR="0" marT="0" marB="0"/>
                </a:tc>
                <a:tc>
                  <a:txBody>
                    <a:bodyPr/>
                    <a:lstStyle/>
                    <a:p>
                      <a:pPr marL="91440" algn="l" fontAlgn="t"/>
                      <a:r>
                        <a:rPr lang="en-US" sz="1100" u="none" strike="noStrike" dirty="0">
                          <a:effectLst/>
                          <a:latin typeface="+mn-lt"/>
                        </a:rPr>
                        <a:t>Above spacing is set for request for rework limitation and progress assembly in MFG</a:t>
                      </a:r>
                      <a:endParaRPr lang="en-US" sz="1100" b="0" i="0" u="none" strike="noStrike" dirty="0">
                        <a:solidFill>
                          <a:srgbClr val="000000"/>
                        </a:solidFill>
                        <a:effectLst/>
                        <a:latin typeface="+mn-lt"/>
                      </a:endParaRPr>
                    </a:p>
                  </a:txBody>
                  <a:tcPr marL="0" marR="0" marT="0" marB="0"/>
                </a:tc>
                <a:tc>
                  <a:txBody>
                    <a:bodyPr/>
                    <a:lstStyle/>
                    <a:p>
                      <a:pPr marL="91440" algn="l" fontAlgn="t"/>
                      <a:r>
                        <a:rPr lang="en-US" sz="1100" u="none" strike="noStrike" dirty="0">
                          <a:effectLst/>
                          <a:latin typeface="+mn-lt"/>
                        </a:rPr>
                        <a:t>Above spacing is set for both rework and assembly considerations</a:t>
                      </a:r>
                      <a:endParaRPr lang="en-US" sz="1100" b="0" i="0" u="none" strike="noStrike" dirty="0">
                        <a:solidFill>
                          <a:srgbClr val="000000"/>
                        </a:solidFill>
                        <a:effectLst/>
                        <a:latin typeface="+mn-lt"/>
                      </a:endParaRPr>
                    </a:p>
                  </a:txBody>
                  <a:tcPr marL="0" marR="0" marT="0" marB="0"/>
                </a:tc>
                <a:tc>
                  <a:txBody>
                    <a:bodyPr/>
                    <a:lstStyle/>
                    <a:p>
                      <a:pPr marL="91440" algn="l" fontAlgn="t"/>
                      <a:r>
                        <a:rPr lang="en-US" sz="1100" u="none" strike="noStrike" dirty="0">
                          <a:effectLst/>
                          <a:latin typeface="+mn-lt"/>
                        </a:rPr>
                        <a:t>Above spacing is set for Chip to BGA 2mm</a:t>
                      </a:r>
                      <a:endParaRPr lang="en-US" sz="1100" b="0" i="0" u="none" strike="noStrike" dirty="0">
                        <a:effectLst/>
                        <a:latin typeface="+mn-lt"/>
                      </a:endParaRPr>
                    </a:p>
                  </a:txBody>
                  <a:tcPr marL="0" marR="0" marT="0" marB="0"/>
                </a:tc>
                <a:tc>
                  <a:txBody>
                    <a:bodyPr/>
                    <a:lstStyle/>
                    <a:p>
                      <a:pPr marL="91440" algn="l" fontAlgn="t"/>
                      <a:r>
                        <a:rPr lang="en-US" sz="1100" u="none" strike="noStrike" dirty="0">
                          <a:effectLst/>
                          <a:latin typeface="+mn-lt"/>
                        </a:rPr>
                        <a:t>Above spacing is set for rework reasons</a:t>
                      </a:r>
                      <a:endParaRPr lang="en-US" sz="1100" b="0" i="0" u="none" strike="noStrike" dirty="0">
                        <a:solidFill>
                          <a:srgbClr val="000000"/>
                        </a:solidFill>
                        <a:effectLst/>
                        <a:latin typeface="+mn-lt"/>
                      </a:endParaRPr>
                    </a:p>
                  </a:txBody>
                  <a:tcPr marL="0" marR="0" marT="0" marB="0"/>
                </a:tc>
                <a:tc>
                  <a:txBody>
                    <a:bodyPr/>
                    <a:lstStyle/>
                    <a:p>
                      <a:pPr marL="91440" algn="l" fontAlgn="t"/>
                      <a:r>
                        <a:rPr lang="en-US" sz="1100" u="none" strike="noStrike" dirty="0">
                          <a:effectLst/>
                          <a:latin typeface="+mn-lt"/>
                        </a:rPr>
                        <a:t>Above spacing is set for: Component Placement, Assembly, Installing, Crashworthiness and maintenance considerations</a:t>
                      </a:r>
                      <a:endParaRPr lang="en-US" sz="1100" b="0" i="0" u="none" strike="noStrike" dirty="0">
                        <a:solidFill>
                          <a:srgbClr val="000000"/>
                        </a:solidFill>
                        <a:effectLst/>
                        <a:latin typeface="+mn-lt"/>
                      </a:endParaRPr>
                    </a:p>
                  </a:txBody>
                  <a:tcPr marL="0" marR="0" marT="0" marB="0"/>
                </a:tc>
                <a:tc>
                  <a:txBody>
                    <a:bodyPr/>
                    <a:lstStyle/>
                    <a:p>
                      <a:pPr marL="91440" algn="l" fontAlgn="t"/>
                      <a:r>
                        <a:rPr lang="en-US" sz="1100" b="0" i="0" u="none" strike="noStrike" dirty="0">
                          <a:solidFill>
                            <a:srgbClr val="000000"/>
                          </a:solidFill>
                          <a:effectLst/>
                          <a:latin typeface="+mn-lt"/>
                        </a:rPr>
                        <a:t>Above spacing is set for factory assembly </a:t>
                      </a:r>
                    </a:p>
                  </a:txBody>
                  <a:tcPr marL="0" marR="0" marT="0" marB="0"/>
                </a:tc>
                <a:extLst>
                  <a:ext uri="{0D108BD9-81ED-4DB2-BD59-A6C34878D82A}">
                    <a16:rowId xmlns:a16="http://schemas.microsoft.com/office/drawing/2014/main" val="2352911991"/>
                  </a:ext>
                </a:extLst>
              </a:tr>
            </a:tbl>
          </a:graphicData>
        </a:graphic>
      </p:graphicFrame>
      <p:sp>
        <p:nvSpPr>
          <p:cNvPr id="5" name="Rectangle: Rounded Corners 4">
            <a:extLst>
              <a:ext uri="{FF2B5EF4-FFF2-40B4-BE49-F238E27FC236}">
                <a16:creationId xmlns:a16="http://schemas.microsoft.com/office/drawing/2014/main" id="{78253D4C-76D3-4222-A7F7-75A69CF37C76}"/>
              </a:ext>
            </a:extLst>
          </p:cNvPr>
          <p:cNvSpPr/>
          <p:nvPr/>
        </p:nvSpPr>
        <p:spPr>
          <a:xfrm>
            <a:off x="662095" y="5742081"/>
            <a:ext cx="10678583" cy="726440"/>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a:ln>
                  <a:noFill/>
                </a:ln>
                <a:solidFill>
                  <a:srgbClr val="FFFF00"/>
                </a:solidFill>
                <a:effectLst/>
                <a:uFillTx/>
                <a:latin typeface="Helvetica Neue Medium"/>
                <a:ea typeface="Helvetica Neue Medium"/>
                <a:cs typeface="Helvetica Neue Medium"/>
                <a:sym typeface="Helvetica Neue Medium"/>
              </a:rPr>
              <a:t>Key Message</a:t>
            </a:r>
            <a:endPar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endParaRP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Component spacing rules vary by customer</a:t>
            </a:r>
          </a:p>
        </p:txBody>
      </p:sp>
    </p:spTree>
    <p:extLst>
      <p:ext uri="{BB962C8B-B14F-4D97-AF65-F5344CB8AC3E}">
        <p14:creationId xmlns:p14="http://schemas.microsoft.com/office/powerpoint/2010/main" val="3998108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A9707-5156-41F3-9BD6-83853633F13F}"/>
              </a:ext>
            </a:extLst>
          </p:cNvPr>
          <p:cNvSpPr>
            <a:spLocks noGrp="1"/>
          </p:cNvSpPr>
          <p:nvPr>
            <p:ph type="title"/>
          </p:nvPr>
        </p:nvSpPr>
        <p:spPr>
          <a:xfrm>
            <a:off x="607484" y="101058"/>
            <a:ext cx="10972800" cy="579120"/>
          </a:xfrm>
        </p:spPr>
        <p:txBody>
          <a:bodyPr/>
          <a:lstStyle/>
          <a:p>
            <a:r>
              <a:rPr lang="en-US" dirty="0"/>
              <a:t>Printed Circuit Board Design (6)</a:t>
            </a:r>
            <a:endParaRPr lang="en-MY" dirty="0"/>
          </a:p>
        </p:txBody>
      </p:sp>
      <p:graphicFrame>
        <p:nvGraphicFramePr>
          <p:cNvPr id="4" name="Content Placeholder 3">
            <a:extLst>
              <a:ext uri="{FF2B5EF4-FFF2-40B4-BE49-F238E27FC236}">
                <a16:creationId xmlns:a16="http://schemas.microsoft.com/office/drawing/2014/main" id="{F4C4F9EE-9506-4C4C-B40C-F4271BBF6041}"/>
              </a:ext>
            </a:extLst>
          </p:cNvPr>
          <p:cNvGraphicFramePr>
            <a:graphicFrameLocks noGrp="1"/>
          </p:cNvGraphicFramePr>
          <p:nvPr>
            <p:ph sz="quarter" idx="13"/>
            <p:extLst>
              <p:ext uri="{D42A27DB-BD31-4B8C-83A1-F6EECF244321}">
                <p14:modId xmlns:p14="http://schemas.microsoft.com/office/powerpoint/2010/main" val="4251375032"/>
              </p:ext>
            </p:extLst>
          </p:nvPr>
        </p:nvGraphicFramePr>
        <p:xfrm>
          <a:off x="607484" y="664326"/>
          <a:ext cx="10913953" cy="4693920"/>
        </p:xfrm>
        <a:graphic>
          <a:graphicData uri="http://schemas.openxmlformats.org/drawingml/2006/table">
            <a:tbl>
              <a:tblPr firstRow="1" bandRow="1">
                <a:tableStyleId>{69012ECD-51FC-41F1-AA8D-1B2483CD663E}</a:tableStyleId>
              </a:tblPr>
              <a:tblGrid>
                <a:gridCol w="1030485">
                  <a:extLst>
                    <a:ext uri="{9D8B030D-6E8A-4147-A177-3AD203B41FA5}">
                      <a16:colId xmlns:a16="http://schemas.microsoft.com/office/drawing/2014/main" val="1692685995"/>
                    </a:ext>
                  </a:extLst>
                </a:gridCol>
                <a:gridCol w="1335819">
                  <a:extLst>
                    <a:ext uri="{9D8B030D-6E8A-4147-A177-3AD203B41FA5}">
                      <a16:colId xmlns:a16="http://schemas.microsoft.com/office/drawing/2014/main" val="2070043562"/>
                    </a:ext>
                  </a:extLst>
                </a:gridCol>
                <a:gridCol w="1550504">
                  <a:extLst>
                    <a:ext uri="{9D8B030D-6E8A-4147-A177-3AD203B41FA5}">
                      <a16:colId xmlns:a16="http://schemas.microsoft.com/office/drawing/2014/main" val="1788829243"/>
                    </a:ext>
                  </a:extLst>
                </a:gridCol>
                <a:gridCol w="530308">
                  <a:extLst>
                    <a:ext uri="{9D8B030D-6E8A-4147-A177-3AD203B41FA5}">
                      <a16:colId xmlns:a16="http://schemas.microsoft.com/office/drawing/2014/main" val="914312967"/>
                    </a:ext>
                  </a:extLst>
                </a:gridCol>
                <a:gridCol w="1583267">
                  <a:extLst>
                    <a:ext uri="{9D8B030D-6E8A-4147-A177-3AD203B41FA5}">
                      <a16:colId xmlns:a16="http://schemas.microsoft.com/office/drawing/2014/main" val="1362813313"/>
                    </a:ext>
                  </a:extLst>
                </a:gridCol>
                <a:gridCol w="995385">
                  <a:extLst>
                    <a:ext uri="{9D8B030D-6E8A-4147-A177-3AD203B41FA5}">
                      <a16:colId xmlns:a16="http://schemas.microsoft.com/office/drawing/2014/main" val="3296549446"/>
                    </a:ext>
                  </a:extLst>
                </a:gridCol>
                <a:gridCol w="1017767">
                  <a:extLst>
                    <a:ext uri="{9D8B030D-6E8A-4147-A177-3AD203B41FA5}">
                      <a16:colId xmlns:a16="http://schemas.microsoft.com/office/drawing/2014/main" val="2579843292"/>
                    </a:ext>
                  </a:extLst>
                </a:gridCol>
                <a:gridCol w="2870418">
                  <a:extLst>
                    <a:ext uri="{9D8B030D-6E8A-4147-A177-3AD203B41FA5}">
                      <a16:colId xmlns:a16="http://schemas.microsoft.com/office/drawing/2014/main" val="3841248342"/>
                    </a:ext>
                  </a:extLst>
                </a:gridCol>
              </a:tblGrid>
              <a:tr h="92950">
                <a:tc gridSpan="2">
                  <a:txBody>
                    <a:bodyPr/>
                    <a:lstStyle/>
                    <a:p>
                      <a:pPr marL="91440" algn="l" fontAlgn="t"/>
                      <a:r>
                        <a:rPr lang="en-MY" sz="1100" u="none" strike="noStrike" dirty="0">
                          <a:effectLst/>
                          <a:latin typeface="+mn-lt"/>
                        </a:rPr>
                        <a:t>Area of Interest</a:t>
                      </a:r>
                      <a:endParaRPr lang="en-MY" sz="1100" b="1" i="0" u="none" strike="noStrike" dirty="0">
                        <a:solidFill>
                          <a:srgbClr val="000000"/>
                        </a:solidFill>
                        <a:effectLst/>
                        <a:latin typeface="+mn-lt"/>
                      </a:endParaRPr>
                    </a:p>
                  </a:txBody>
                  <a:tcPr marL="0" marR="0" marT="0" marB="0"/>
                </a:tc>
                <a:tc hMerge="1">
                  <a:txBody>
                    <a:bodyPr/>
                    <a:lstStyle/>
                    <a:p>
                      <a:pPr marL="91440" algn="l" fontAlgn="t"/>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LENOVO (MSI)</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DELL</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ACER (WISTRON)</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ASUSTEK</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MSI</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ASROCK</a:t>
                      </a:r>
                      <a:endParaRPr lang="en-MY" sz="1000" b="1" i="0" u="none" strike="noStrike" dirty="0">
                        <a:solidFill>
                          <a:srgbClr val="000000"/>
                        </a:solidFill>
                        <a:effectLst/>
                        <a:latin typeface="+mn-lt"/>
                      </a:endParaRPr>
                    </a:p>
                  </a:txBody>
                  <a:tcPr marL="0" marR="0" marT="0" marB="0"/>
                </a:tc>
                <a:extLst>
                  <a:ext uri="{0D108BD9-81ED-4DB2-BD59-A6C34878D82A}">
                    <a16:rowId xmlns:a16="http://schemas.microsoft.com/office/drawing/2014/main" val="3852518198"/>
                  </a:ext>
                </a:extLst>
              </a:tr>
              <a:tr h="187478">
                <a:tc>
                  <a:txBody>
                    <a:bodyPr/>
                    <a:lstStyle/>
                    <a:p>
                      <a:pPr marL="91440" algn="l" fontAlgn="t"/>
                      <a:r>
                        <a:rPr lang="en-MY" sz="1100" u="none" strike="noStrike" dirty="0">
                          <a:effectLst/>
                          <a:latin typeface="+mn-lt"/>
                        </a:rPr>
                        <a:t>Thermal Reliefs</a:t>
                      </a:r>
                      <a:endParaRPr lang="en-MY" sz="1100" b="0" i="0" u="none" strike="noStrike" dirty="0">
                        <a:effectLst/>
                        <a:latin typeface="+mn-lt"/>
                      </a:endParaRPr>
                    </a:p>
                  </a:txBody>
                  <a:tcPr marL="0" marR="0" marT="0" marB="0"/>
                </a:tc>
                <a:tc>
                  <a:txBody>
                    <a:bodyPr/>
                    <a:lstStyle/>
                    <a:p>
                      <a:pPr marL="91440" algn="l" fontAlgn="t"/>
                      <a:r>
                        <a:rPr lang="en-US" sz="1100" u="none" strike="noStrike" dirty="0">
                          <a:effectLst/>
                          <a:latin typeface="+mn-lt"/>
                        </a:rPr>
                        <a:t>Do you follow any rules / requirements for thermal reliefs?  </a:t>
                      </a:r>
                      <a:endParaRPr lang="en-US" sz="1100" b="0" i="0" u="none" strike="noStrike" dirty="0">
                        <a:solidFill>
                          <a:srgbClr val="000000"/>
                        </a:solidFill>
                        <a:effectLst/>
                        <a:latin typeface="+mn-lt"/>
                      </a:endParaRPr>
                    </a:p>
                  </a:txBody>
                  <a:tcPr marL="0" marR="0" marT="0" marB="0"/>
                </a:tc>
                <a:tc>
                  <a:txBody>
                    <a:bodyPr/>
                    <a:lstStyle/>
                    <a:p>
                      <a:pPr marL="91440" algn="l" fontAlgn="t"/>
                      <a:r>
                        <a:rPr lang="en-MY" sz="1100" u="none" strike="noStrike" dirty="0">
                          <a:effectLst/>
                          <a:latin typeface="+mn-lt"/>
                        </a:rPr>
                        <a:t>Yes</a:t>
                      </a:r>
                      <a:endParaRPr lang="en-MY" sz="1100" b="0" i="0" u="none" strike="noStrike" dirty="0">
                        <a:solidFill>
                          <a:srgbClr val="000000"/>
                        </a:solidFill>
                        <a:effectLst/>
                        <a:latin typeface="+mn-lt"/>
                      </a:endParaRPr>
                    </a:p>
                  </a:txBody>
                  <a:tcPr marL="0" marR="0" marT="0" marB="0"/>
                </a:tc>
                <a:tc>
                  <a:txBody>
                    <a:bodyPr/>
                    <a:lstStyle/>
                    <a:p>
                      <a:pPr marL="91440" algn="l" fontAlgn="t"/>
                      <a:r>
                        <a:rPr lang="en-MY" sz="1100" u="none" strike="noStrike" dirty="0">
                          <a:effectLst/>
                          <a:latin typeface="+mn-lt"/>
                        </a:rPr>
                        <a:t>Yes</a:t>
                      </a:r>
                      <a:endParaRPr lang="en-MY" sz="1100" b="0" i="0" u="none" strike="noStrike" dirty="0">
                        <a:solidFill>
                          <a:srgbClr val="000000"/>
                        </a:solidFill>
                        <a:effectLst/>
                        <a:latin typeface="+mn-lt"/>
                      </a:endParaRPr>
                    </a:p>
                  </a:txBody>
                  <a:tcPr marL="0" marR="0" marT="0" marB="0"/>
                </a:tc>
                <a:tc>
                  <a:txBody>
                    <a:bodyPr/>
                    <a:lstStyle/>
                    <a:p>
                      <a:pPr marL="91440" algn="l" fontAlgn="t"/>
                      <a:r>
                        <a:rPr lang="en-MY" sz="1100" u="none" strike="noStrike" dirty="0">
                          <a:effectLst/>
                          <a:latin typeface="+mn-lt"/>
                        </a:rPr>
                        <a:t>Not Answered</a:t>
                      </a:r>
                      <a:endParaRPr lang="en-MY" sz="1100" b="0" i="0" u="none" strike="noStrike" dirty="0">
                        <a:solidFill>
                          <a:srgbClr val="0000FF"/>
                        </a:solidFill>
                        <a:effectLst/>
                        <a:latin typeface="+mn-lt"/>
                      </a:endParaRPr>
                    </a:p>
                  </a:txBody>
                  <a:tcPr marL="0" marR="0" marT="0" marB="0"/>
                </a:tc>
                <a:tc>
                  <a:txBody>
                    <a:bodyPr/>
                    <a:lstStyle/>
                    <a:p>
                      <a:pPr marL="91440" algn="l" fontAlgn="t"/>
                      <a:r>
                        <a:rPr lang="en-US" sz="1100" u="none" strike="noStrike" dirty="0">
                          <a:effectLst/>
                          <a:latin typeface="+mn-lt"/>
                        </a:rPr>
                        <a:t>Yes, we follow Intel's KOZ Limit, and by model (Mass / Height, etc...) </a:t>
                      </a:r>
                      <a:endParaRPr lang="en-US" sz="1100" b="0" i="0" u="none" strike="noStrike" dirty="0">
                        <a:solidFill>
                          <a:srgbClr val="000000"/>
                        </a:solidFill>
                        <a:effectLst/>
                        <a:latin typeface="+mn-lt"/>
                      </a:endParaRPr>
                    </a:p>
                  </a:txBody>
                  <a:tcPr marL="0" marR="0" marT="0" marB="0"/>
                </a:tc>
                <a:tc>
                  <a:txBody>
                    <a:bodyPr/>
                    <a:lstStyle/>
                    <a:p>
                      <a:pPr marL="91440" algn="l" fontAlgn="t"/>
                      <a:r>
                        <a:rPr lang="en-MY" sz="1100" u="none" strike="noStrike" dirty="0">
                          <a:effectLst/>
                          <a:latin typeface="+mn-lt"/>
                        </a:rPr>
                        <a:t>Yes</a:t>
                      </a:r>
                      <a:endParaRPr lang="en-MY" sz="1100" b="0" i="0" u="none" strike="noStrike" dirty="0">
                        <a:solidFill>
                          <a:srgbClr val="000000"/>
                        </a:solidFill>
                        <a:effectLst/>
                        <a:latin typeface="+mn-lt"/>
                      </a:endParaRPr>
                    </a:p>
                  </a:txBody>
                  <a:tcPr marL="0" marR="0" marT="0" marB="0"/>
                </a:tc>
                <a:tc>
                  <a:txBody>
                    <a:bodyPr/>
                    <a:lstStyle/>
                    <a:p>
                      <a:pPr marL="91440" algn="l" fontAlgn="t"/>
                      <a:r>
                        <a:rPr lang="en-US" sz="1100" u="none" strike="noStrike" dirty="0">
                          <a:effectLst/>
                          <a:latin typeface="+mn-lt"/>
                        </a:rPr>
                        <a:t>Please refer to the graphic below</a:t>
                      </a:r>
                    </a:p>
                    <a:p>
                      <a:pPr marL="91440" algn="l" fontAlgn="t"/>
                      <a:endParaRPr lang="en-US" sz="1100" u="none" strike="noStrike" dirty="0">
                        <a:effectLst/>
                        <a:latin typeface="+mn-lt"/>
                      </a:endParaRPr>
                    </a:p>
                    <a:p>
                      <a:pPr marL="91440" algn="l" fontAlgn="t"/>
                      <a:endParaRPr lang="en-US" sz="1100" u="none" strike="noStrike" dirty="0">
                        <a:effectLst/>
                        <a:latin typeface="+mn-lt"/>
                      </a:endParaRPr>
                    </a:p>
                    <a:p>
                      <a:pPr marL="91440" algn="l" fontAlgn="t"/>
                      <a:endParaRPr lang="en-US" sz="1100" b="0" i="0" u="none" strike="noStrike" dirty="0">
                        <a:solidFill>
                          <a:srgbClr val="000000"/>
                        </a:solidFill>
                        <a:effectLst/>
                        <a:latin typeface="+mn-lt"/>
                      </a:endParaRPr>
                    </a:p>
                    <a:p>
                      <a:pPr marL="91440" algn="l" fontAlgn="t"/>
                      <a:endParaRPr lang="en-US" sz="1100" b="0" i="0" u="none" strike="noStrike" dirty="0">
                        <a:solidFill>
                          <a:srgbClr val="000000"/>
                        </a:solidFill>
                        <a:effectLst/>
                        <a:latin typeface="+mn-lt"/>
                      </a:endParaRPr>
                    </a:p>
                    <a:p>
                      <a:pPr marL="91440" algn="l" fontAlgn="t"/>
                      <a:endParaRPr lang="en-US" sz="1100" b="0" i="0" u="none" strike="noStrike" dirty="0">
                        <a:solidFill>
                          <a:srgbClr val="000000"/>
                        </a:solidFill>
                        <a:effectLst/>
                        <a:latin typeface="+mn-lt"/>
                      </a:endParaRPr>
                    </a:p>
                    <a:p>
                      <a:pPr marL="91440" algn="l" fontAlgn="t"/>
                      <a:endParaRPr lang="en-US" sz="1100" b="0" i="0" u="none" strike="noStrike" dirty="0">
                        <a:solidFill>
                          <a:srgbClr val="000000"/>
                        </a:solidFill>
                        <a:effectLst/>
                        <a:latin typeface="+mn-lt"/>
                      </a:endParaRPr>
                    </a:p>
                    <a:p>
                      <a:pPr marL="91440" algn="l" fontAlgn="t"/>
                      <a:endParaRPr lang="en-US" sz="1100" b="0" i="0" u="none" strike="noStrike" dirty="0">
                        <a:solidFill>
                          <a:srgbClr val="000000"/>
                        </a:solidFill>
                        <a:effectLst/>
                        <a:latin typeface="+mn-lt"/>
                      </a:endParaRPr>
                    </a:p>
                    <a:p>
                      <a:pPr marL="91440" algn="l" fontAlgn="t"/>
                      <a:endParaRPr lang="en-US" sz="1100" b="0" i="0" u="none" strike="noStrike" dirty="0">
                        <a:solidFill>
                          <a:srgbClr val="000000"/>
                        </a:solidFill>
                        <a:effectLst/>
                        <a:latin typeface="+mn-lt"/>
                      </a:endParaRPr>
                    </a:p>
                    <a:p>
                      <a:pPr marL="91440" algn="l" fontAlgn="t"/>
                      <a:endParaRPr lang="en-US" sz="1100" b="0" i="0" u="none" strike="noStrike" dirty="0">
                        <a:solidFill>
                          <a:srgbClr val="000000"/>
                        </a:solidFill>
                        <a:effectLst/>
                        <a:latin typeface="+mn-lt"/>
                      </a:endParaRPr>
                    </a:p>
                    <a:p>
                      <a:pPr marL="91440" algn="l" fontAlgn="t"/>
                      <a:endParaRPr lang="en-US" sz="1100" b="0" i="0" u="none" strike="noStrike" dirty="0">
                        <a:solidFill>
                          <a:srgbClr val="000000"/>
                        </a:solidFill>
                        <a:effectLst/>
                        <a:latin typeface="+mn-lt"/>
                      </a:endParaRPr>
                    </a:p>
                    <a:p>
                      <a:pPr marL="91440" algn="l" fontAlgn="t"/>
                      <a:endParaRPr lang="en-US" sz="1100" b="0" i="0" u="none" strike="noStrike" dirty="0">
                        <a:solidFill>
                          <a:srgbClr val="000000"/>
                        </a:solidFill>
                        <a:effectLst/>
                        <a:latin typeface="+mn-lt"/>
                      </a:endParaRPr>
                    </a:p>
                    <a:p>
                      <a:pPr marL="91440" algn="l" fontAlgn="t"/>
                      <a:endParaRPr lang="en-US" sz="1100" b="0" i="0" u="none" strike="noStrike" dirty="0">
                        <a:solidFill>
                          <a:srgbClr val="000000"/>
                        </a:solidFill>
                        <a:effectLst/>
                        <a:latin typeface="+mn-lt"/>
                      </a:endParaRPr>
                    </a:p>
                    <a:p>
                      <a:pPr marL="91440" algn="l" fontAlgn="t"/>
                      <a:endParaRPr lang="en-US" sz="1100" b="0" i="0" u="none" strike="noStrike" dirty="0">
                        <a:solidFill>
                          <a:srgbClr val="000000"/>
                        </a:solidFill>
                        <a:effectLst/>
                        <a:latin typeface="+mn-lt"/>
                      </a:endParaRPr>
                    </a:p>
                    <a:p>
                      <a:pPr marL="91440" algn="l" fontAlgn="t"/>
                      <a:endParaRPr lang="en-US" sz="1100" b="0" i="0" u="none" strike="noStrike" dirty="0">
                        <a:solidFill>
                          <a:srgbClr val="000000"/>
                        </a:solidFill>
                        <a:effectLst/>
                        <a:latin typeface="+mn-lt"/>
                      </a:endParaRPr>
                    </a:p>
                    <a:p>
                      <a:pPr marL="91440" algn="l" fontAlgn="t"/>
                      <a:endParaRPr lang="en-US" sz="1100" b="0" i="0" u="none" strike="noStrike" dirty="0">
                        <a:solidFill>
                          <a:srgbClr val="000000"/>
                        </a:solidFill>
                        <a:effectLst/>
                        <a:latin typeface="+mn-lt"/>
                      </a:endParaRPr>
                    </a:p>
                  </a:txBody>
                  <a:tcPr marL="0" marR="0" marT="0" marB="0"/>
                </a:tc>
                <a:extLst>
                  <a:ext uri="{0D108BD9-81ED-4DB2-BD59-A6C34878D82A}">
                    <a16:rowId xmlns:a16="http://schemas.microsoft.com/office/drawing/2014/main" val="4048944144"/>
                  </a:ext>
                </a:extLst>
              </a:tr>
              <a:tr h="187478">
                <a:tc>
                  <a:txBody>
                    <a:bodyPr/>
                    <a:lstStyle/>
                    <a:p>
                      <a:pPr marL="91440" algn="l" fontAlgn="t"/>
                      <a:r>
                        <a:rPr lang="en-US" sz="1100" u="none" strike="noStrike" dirty="0">
                          <a:effectLst/>
                          <a:latin typeface="+mn-lt"/>
                        </a:rPr>
                        <a:t>Trace Routing for Passive Components</a:t>
                      </a:r>
                      <a:endParaRPr lang="en-US" sz="1100" b="0" i="0" u="none" strike="noStrike" dirty="0">
                        <a:effectLst/>
                        <a:latin typeface="+mn-lt"/>
                      </a:endParaRPr>
                    </a:p>
                  </a:txBody>
                  <a:tcPr marL="0" marR="0" marT="0" marB="0"/>
                </a:tc>
                <a:tc>
                  <a:txBody>
                    <a:bodyPr/>
                    <a:lstStyle/>
                    <a:p>
                      <a:pPr marL="91440" algn="l" fontAlgn="t"/>
                      <a:r>
                        <a:rPr lang="en-US" sz="1100" u="none" strike="noStrike" dirty="0">
                          <a:effectLst/>
                          <a:latin typeface="+mn-lt"/>
                        </a:rPr>
                        <a:t>Do you allow for trace routing between the pads, or underneath the pads, of chip components, such as 0603 and 0805, etc...?</a:t>
                      </a:r>
                      <a:endParaRPr lang="en-US" sz="1100" b="0" i="0" u="none" strike="noStrike" dirty="0">
                        <a:effectLst/>
                        <a:latin typeface="+mn-lt"/>
                      </a:endParaRPr>
                    </a:p>
                  </a:txBody>
                  <a:tcPr marL="0" marR="0" marT="0" marB="0"/>
                </a:tc>
                <a:tc>
                  <a:txBody>
                    <a:bodyPr/>
                    <a:lstStyle/>
                    <a:p>
                      <a:pPr marL="91440" algn="l" fontAlgn="t"/>
                      <a:r>
                        <a:rPr lang="en-US" sz="1100" u="none" strike="noStrike" dirty="0">
                          <a:effectLst/>
                          <a:latin typeface="+mn-lt"/>
                        </a:rPr>
                        <a:t>No, not suggested, because of the layout solution, due to interference problems. If were to modify the trace width to through the pad, the impedance may not meet the SPEC.</a:t>
                      </a:r>
                      <a:endParaRPr lang="en-US" sz="1100" b="0" i="0" u="none" strike="noStrike" dirty="0">
                        <a:effectLst/>
                        <a:latin typeface="+mn-lt"/>
                      </a:endParaRPr>
                    </a:p>
                  </a:txBody>
                  <a:tcPr marL="0" marR="0" marT="0" marB="0"/>
                </a:tc>
                <a:tc>
                  <a:txBody>
                    <a:bodyPr/>
                    <a:lstStyle/>
                    <a:p>
                      <a:pPr marL="91440" algn="l" fontAlgn="t"/>
                      <a:r>
                        <a:rPr lang="en-MY" sz="1100" u="none" strike="noStrike" dirty="0">
                          <a:effectLst/>
                          <a:latin typeface="+mn-lt"/>
                        </a:rPr>
                        <a:t>Yes</a:t>
                      </a:r>
                      <a:endParaRPr lang="en-MY" sz="1100" b="0" i="0" u="none" strike="noStrike" dirty="0">
                        <a:solidFill>
                          <a:srgbClr val="000000"/>
                        </a:solidFill>
                        <a:effectLst/>
                        <a:latin typeface="+mn-lt"/>
                      </a:endParaRPr>
                    </a:p>
                  </a:txBody>
                  <a:tcPr marL="0" marR="0" marT="0" marB="0"/>
                </a:tc>
                <a:tc>
                  <a:txBody>
                    <a:bodyPr/>
                    <a:lstStyle/>
                    <a:p>
                      <a:pPr marL="91440" algn="l" fontAlgn="t"/>
                      <a:r>
                        <a:rPr lang="en-US" sz="1100" u="none" strike="noStrike" dirty="0">
                          <a:effectLst/>
                          <a:latin typeface="+mn-lt"/>
                        </a:rPr>
                        <a:t>No, concerns:</a:t>
                      </a:r>
                      <a:br>
                        <a:rPr lang="en-US" sz="1100" u="none" strike="noStrike" dirty="0">
                          <a:effectLst/>
                          <a:latin typeface="+mn-lt"/>
                        </a:rPr>
                      </a:br>
                      <a:r>
                        <a:rPr lang="en-US" sz="1100" u="none" strike="noStrike" dirty="0">
                          <a:effectLst/>
                          <a:latin typeface="+mn-lt"/>
                        </a:rPr>
                        <a:t>1. The signal performance will be poor.</a:t>
                      </a:r>
                      <a:br>
                        <a:rPr lang="en-US" sz="1100" u="none" strike="noStrike" dirty="0">
                          <a:effectLst/>
                          <a:latin typeface="+mn-lt"/>
                        </a:rPr>
                      </a:br>
                      <a:r>
                        <a:rPr lang="en-US" sz="1100" u="none" strike="noStrike" dirty="0">
                          <a:effectLst/>
                          <a:latin typeface="+mn-lt"/>
                        </a:rPr>
                        <a:t>2. It will cause a short issue due to poor soldermask coverage</a:t>
                      </a:r>
                      <a:br>
                        <a:rPr lang="en-US" sz="1100" u="none" strike="noStrike" dirty="0">
                          <a:effectLst/>
                          <a:latin typeface="+mn-lt"/>
                        </a:rPr>
                      </a:br>
                      <a:r>
                        <a:rPr lang="en-US" sz="1100" u="none" strike="noStrike" dirty="0">
                          <a:effectLst/>
                          <a:latin typeface="+mn-lt"/>
                        </a:rPr>
                        <a:t>3. It will cause poor solderability due to trace thickness is higher than the pin</a:t>
                      </a:r>
                      <a:endParaRPr lang="en-US" sz="1100" b="0" i="0" u="none" strike="noStrike" dirty="0">
                        <a:solidFill>
                          <a:srgbClr val="000000"/>
                        </a:solidFill>
                        <a:effectLst/>
                        <a:latin typeface="+mn-lt"/>
                      </a:endParaRPr>
                    </a:p>
                  </a:txBody>
                  <a:tcPr marL="0" marR="0" marT="0" marB="0"/>
                </a:tc>
                <a:tc>
                  <a:txBody>
                    <a:bodyPr/>
                    <a:lstStyle/>
                    <a:p>
                      <a:pPr marL="91440" algn="l" fontAlgn="t"/>
                      <a:r>
                        <a:rPr lang="en-MY" sz="1100" u="none" strike="noStrike" dirty="0">
                          <a:effectLst/>
                          <a:latin typeface="+mn-lt"/>
                        </a:rPr>
                        <a:t>Yes</a:t>
                      </a:r>
                      <a:endParaRPr lang="en-MY" sz="1100" b="0" i="0" u="none" strike="noStrike" dirty="0">
                        <a:solidFill>
                          <a:srgbClr val="000000"/>
                        </a:solidFill>
                        <a:effectLst/>
                        <a:latin typeface="+mn-lt"/>
                      </a:endParaRPr>
                    </a:p>
                  </a:txBody>
                  <a:tcPr marL="0" marR="0" marT="0" marB="0"/>
                </a:tc>
                <a:tc>
                  <a:txBody>
                    <a:bodyPr/>
                    <a:lstStyle/>
                    <a:p>
                      <a:pPr marL="91440" algn="l" fontAlgn="t"/>
                      <a:r>
                        <a:rPr lang="en-US" sz="1100" u="none" strike="noStrike" dirty="0">
                          <a:effectLst/>
                          <a:latin typeface="+mn-lt"/>
                        </a:rPr>
                        <a:t>No, must consider soldermask application, especially in the dark soldermask / registration</a:t>
                      </a:r>
                      <a:endParaRPr lang="en-US" sz="1100" b="0" i="0" u="none" strike="noStrike" dirty="0">
                        <a:solidFill>
                          <a:srgbClr val="000000"/>
                        </a:solidFill>
                        <a:effectLst/>
                        <a:latin typeface="+mn-lt"/>
                      </a:endParaRPr>
                    </a:p>
                  </a:txBody>
                  <a:tcPr marL="0" marR="0" marT="0" marB="0"/>
                </a:tc>
                <a:tc>
                  <a:txBody>
                    <a:bodyPr/>
                    <a:lstStyle/>
                    <a:p>
                      <a:pPr marL="91440" algn="l" fontAlgn="t"/>
                      <a:r>
                        <a:rPr lang="en-US" sz="1100" u="none" strike="noStrike" dirty="0">
                          <a:effectLst/>
                          <a:latin typeface="+mn-lt"/>
                        </a:rPr>
                        <a:t>Yes, but only when there is not other solution</a:t>
                      </a:r>
                      <a:endParaRPr lang="en-US" sz="1100" b="0" i="0" u="none" strike="noStrike" dirty="0">
                        <a:solidFill>
                          <a:srgbClr val="000000"/>
                        </a:solidFill>
                        <a:effectLst/>
                        <a:latin typeface="+mn-lt"/>
                      </a:endParaRPr>
                    </a:p>
                  </a:txBody>
                  <a:tcPr marL="0" marR="0" marT="0" marB="0"/>
                </a:tc>
                <a:extLst>
                  <a:ext uri="{0D108BD9-81ED-4DB2-BD59-A6C34878D82A}">
                    <a16:rowId xmlns:a16="http://schemas.microsoft.com/office/drawing/2014/main" val="2448030881"/>
                  </a:ext>
                </a:extLst>
              </a:tr>
            </a:tbl>
          </a:graphicData>
        </a:graphic>
      </p:graphicFrame>
      <p:grpSp>
        <p:nvGrpSpPr>
          <p:cNvPr id="10" name="Group 9">
            <a:extLst>
              <a:ext uri="{FF2B5EF4-FFF2-40B4-BE49-F238E27FC236}">
                <a16:creationId xmlns:a16="http://schemas.microsoft.com/office/drawing/2014/main" id="{F133FCBA-0E7A-414D-BD14-45393912CE5D}"/>
              </a:ext>
            </a:extLst>
          </p:cNvPr>
          <p:cNvGrpSpPr/>
          <p:nvPr/>
        </p:nvGrpSpPr>
        <p:grpSpPr>
          <a:xfrm>
            <a:off x="8450127" y="1054383"/>
            <a:ext cx="2452981" cy="1856772"/>
            <a:chOff x="7827396" y="1696285"/>
            <a:chExt cx="3093724" cy="1856772"/>
          </a:xfrm>
        </p:grpSpPr>
        <p:pic>
          <p:nvPicPr>
            <p:cNvPr id="5" name="Picture 4">
              <a:extLst>
                <a:ext uri="{FF2B5EF4-FFF2-40B4-BE49-F238E27FC236}">
                  <a16:creationId xmlns:a16="http://schemas.microsoft.com/office/drawing/2014/main" id="{3F7ED65A-C36C-4140-B75A-EC5F109A30D5}"/>
                </a:ext>
              </a:extLst>
            </p:cNvPr>
            <p:cNvPicPr>
              <a:picLocks noChangeAspect="1"/>
            </p:cNvPicPr>
            <p:nvPr/>
          </p:nvPicPr>
          <p:blipFill>
            <a:blip r:embed="rId2"/>
            <a:stretch>
              <a:fillRect/>
            </a:stretch>
          </p:blipFill>
          <p:spPr>
            <a:xfrm>
              <a:off x="7827396" y="1696285"/>
              <a:ext cx="2938670" cy="1856772"/>
            </a:xfrm>
            <a:prstGeom prst="rect">
              <a:avLst/>
            </a:prstGeom>
          </p:spPr>
        </p:pic>
        <p:sp>
          <p:nvSpPr>
            <p:cNvPr id="9" name="TextBox 8">
              <a:extLst>
                <a:ext uri="{FF2B5EF4-FFF2-40B4-BE49-F238E27FC236}">
                  <a16:creationId xmlns:a16="http://schemas.microsoft.com/office/drawing/2014/main" id="{E5B2C529-98CC-42F1-B7E3-0AB1A17141AE}"/>
                </a:ext>
              </a:extLst>
            </p:cNvPr>
            <p:cNvSpPr txBox="1"/>
            <p:nvPr/>
          </p:nvSpPr>
          <p:spPr>
            <a:xfrm>
              <a:off x="10420187" y="1860605"/>
              <a:ext cx="500933"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0000"/>
                  </a:solidFill>
                  <a:effectLst/>
                  <a:uFillTx/>
                  <a:latin typeface="+mn-lt"/>
                  <a:ea typeface="+mn-ea"/>
                  <a:cs typeface="+mn-cs"/>
                  <a:sym typeface="Helvetica Neue"/>
                </a:rPr>
                <a:t>*</a:t>
              </a:r>
              <a:endParaRPr kumimoji="0" lang="en-MY" b="0" i="0" u="none" strike="noStrike" cap="none" spc="0" normalizeH="0" baseline="0" dirty="0" err="1">
                <a:ln>
                  <a:noFill/>
                </a:ln>
                <a:solidFill>
                  <a:srgbClr val="FF0000"/>
                </a:solidFill>
                <a:effectLst/>
                <a:uFillTx/>
                <a:latin typeface="+mn-lt"/>
                <a:ea typeface="+mn-ea"/>
                <a:cs typeface="+mn-cs"/>
                <a:sym typeface="Helvetica Neue"/>
              </a:endParaRPr>
            </a:p>
          </p:txBody>
        </p:sp>
      </p:grpSp>
      <p:grpSp>
        <p:nvGrpSpPr>
          <p:cNvPr id="17" name="Group 16">
            <a:extLst>
              <a:ext uri="{FF2B5EF4-FFF2-40B4-BE49-F238E27FC236}">
                <a16:creationId xmlns:a16="http://schemas.microsoft.com/office/drawing/2014/main" id="{B39C8F0F-DEE6-46C9-A035-DB9F5DC205ED}"/>
              </a:ext>
            </a:extLst>
          </p:cNvPr>
          <p:cNvGrpSpPr/>
          <p:nvPr/>
        </p:nvGrpSpPr>
        <p:grpSpPr>
          <a:xfrm>
            <a:off x="9994279" y="1687118"/>
            <a:ext cx="1419968" cy="1741882"/>
            <a:chOff x="9725768" y="2115047"/>
            <a:chExt cx="1625379" cy="1998862"/>
          </a:xfrm>
        </p:grpSpPr>
        <p:pic>
          <p:nvPicPr>
            <p:cNvPr id="8" name="Picture 7">
              <a:extLst>
                <a:ext uri="{FF2B5EF4-FFF2-40B4-BE49-F238E27FC236}">
                  <a16:creationId xmlns:a16="http://schemas.microsoft.com/office/drawing/2014/main" id="{1BA49172-66AC-42FC-A9F3-CFD80DF15CAA}"/>
                </a:ext>
              </a:extLst>
            </p:cNvPr>
            <p:cNvPicPr>
              <a:picLocks noChangeAspect="1"/>
            </p:cNvPicPr>
            <p:nvPr/>
          </p:nvPicPr>
          <p:blipFill>
            <a:blip r:embed="rId3"/>
            <a:stretch>
              <a:fillRect/>
            </a:stretch>
          </p:blipFill>
          <p:spPr>
            <a:xfrm>
              <a:off x="9725768" y="2769967"/>
              <a:ext cx="1625379" cy="1343942"/>
            </a:xfrm>
            <a:prstGeom prst="rect">
              <a:avLst/>
            </a:prstGeom>
          </p:spPr>
        </p:pic>
        <p:sp>
          <p:nvSpPr>
            <p:cNvPr id="12" name="TextBox 11">
              <a:extLst>
                <a:ext uri="{FF2B5EF4-FFF2-40B4-BE49-F238E27FC236}">
                  <a16:creationId xmlns:a16="http://schemas.microsoft.com/office/drawing/2014/main" id="{B9A79BC9-43BD-4F91-BAA4-EA301327FDDB}"/>
                </a:ext>
              </a:extLst>
            </p:cNvPr>
            <p:cNvSpPr txBox="1"/>
            <p:nvPr/>
          </p:nvSpPr>
          <p:spPr>
            <a:xfrm>
              <a:off x="9797996" y="2897188"/>
              <a:ext cx="500933"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0000"/>
                  </a:solidFill>
                  <a:effectLst/>
                  <a:uFillTx/>
                  <a:latin typeface="+mn-lt"/>
                  <a:ea typeface="+mn-ea"/>
                  <a:cs typeface="+mn-cs"/>
                  <a:sym typeface="Helvetica Neue"/>
                </a:rPr>
                <a:t>*</a:t>
              </a:r>
              <a:endParaRPr kumimoji="0" lang="en-MY" b="0" i="0" u="none" strike="noStrike" cap="none" spc="0" normalizeH="0" baseline="0" dirty="0" err="1">
                <a:ln>
                  <a:noFill/>
                </a:ln>
                <a:solidFill>
                  <a:srgbClr val="FF0000"/>
                </a:solidFill>
                <a:effectLst/>
                <a:uFillTx/>
                <a:latin typeface="+mn-lt"/>
                <a:ea typeface="+mn-ea"/>
                <a:cs typeface="+mn-cs"/>
                <a:sym typeface="Helvetica Neue"/>
              </a:endParaRPr>
            </a:p>
          </p:txBody>
        </p:sp>
        <p:cxnSp>
          <p:nvCxnSpPr>
            <p:cNvPr id="14" name="Straight Arrow Connector 13">
              <a:extLst>
                <a:ext uri="{FF2B5EF4-FFF2-40B4-BE49-F238E27FC236}">
                  <a16:creationId xmlns:a16="http://schemas.microsoft.com/office/drawing/2014/main" id="{D5626414-8E36-4491-AA97-9AC7AD22A54E}"/>
                </a:ext>
              </a:extLst>
            </p:cNvPr>
            <p:cNvCxnSpPr>
              <a:cxnSpLocks/>
            </p:cNvCxnSpPr>
            <p:nvPr/>
          </p:nvCxnSpPr>
          <p:spPr>
            <a:xfrm flipH="1" flipV="1">
              <a:off x="10622550" y="2115047"/>
              <a:ext cx="143517" cy="65492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grpSp>
      <p:sp>
        <p:nvSpPr>
          <p:cNvPr id="11" name="Rectangle: Rounded Corners 10">
            <a:extLst>
              <a:ext uri="{FF2B5EF4-FFF2-40B4-BE49-F238E27FC236}">
                <a16:creationId xmlns:a16="http://schemas.microsoft.com/office/drawing/2014/main" id="{AF26A18E-6CE7-4707-9ADD-4FC6D3D3FD20}"/>
              </a:ext>
            </a:extLst>
          </p:cNvPr>
          <p:cNvSpPr/>
          <p:nvPr/>
        </p:nvSpPr>
        <p:spPr>
          <a:xfrm>
            <a:off x="662095" y="5427981"/>
            <a:ext cx="10678583"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a:ln>
                  <a:noFill/>
                </a:ln>
                <a:solidFill>
                  <a:srgbClr val="FFFF00"/>
                </a:solidFill>
                <a:effectLst/>
                <a:uFillTx/>
                <a:latin typeface="Helvetica Neue Medium"/>
                <a:ea typeface="Helvetica Neue Medium"/>
                <a:cs typeface="Helvetica Neue Medium"/>
                <a:sym typeface="Helvetica Neue Medium"/>
              </a:rPr>
              <a:t>Key Message</a:t>
            </a:r>
            <a:endPar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endParaRP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Customers do follow thermal relief rules</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3 customers allow and 2 customers don’t allow for trace routing between chip component pads</a:t>
            </a:r>
          </a:p>
        </p:txBody>
      </p:sp>
    </p:spTree>
    <p:extLst>
      <p:ext uri="{BB962C8B-B14F-4D97-AF65-F5344CB8AC3E}">
        <p14:creationId xmlns:p14="http://schemas.microsoft.com/office/powerpoint/2010/main" val="8981502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A9707-5156-41F3-9BD6-83853633F13F}"/>
              </a:ext>
            </a:extLst>
          </p:cNvPr>
          <p:cNvSpPr>
            <a:spLocks noGrp="1"/>
          </p:cNvSpPr>
          <p:nvPr>
            <p:ph type="title"/>
          </p:nvPr>
        </p:nvSpPr>
        <p:spPr>
          <a:xfrm>
            <a:off x="578060" y="13864"/>
            <a:ext cx="10972800" cy="612669"/>
          </a:xfrm>
        </p:spPr>
        <p:txBody>
          <a:bodyPr/>
          <a:lstStyle/>
          <a:p>
            <a:r>
              <a:rPr lang="en-US" dirty="0"/>
              <a:t>Printed Circuit Board Design (7)</a:t>
            </a:r>
            <a:endParaRPr lang="en-MY" dirty="0"/>
          </a:p>
        </p:txBody>
      </p:sp>
      <p:graphicFrame>
        <p:nvGraphicFramePr>
          <p:cNvPr id="4" name="Content Placeholder 3">
            <a:extLst>
              <a:ext uri="{FF2B5EF4-FFF2-40B4-BE49-F238E27FC236}">
                <a16:creationId xmlns:a16="http://schemas.microsoft.com/office/drawing/2014/main" id="{F4C4F9EE-9506-4C4C-B40C-F4271BBF6041}"/>
              </a:ext>
            </a:extLst>
          </p:cNvPr>
          <p:cNvGraphicFramePr>
            <a:graphicFrameLocks noGrp="1"/>
          </p:cNvGraphicFramePr>
          <p:nvPr>
            <p:ph sz="quarter" idx="13"/>
            <p:extLst>
              <p:ext uri="{D42A27DB-BD31-4B8C-83A1-F6EECF244321}">
                <p14:modId xmlns:p14="http://schemas.microsoft.com/office/powerpoint/2010/main" val="135498606"/>
              </p:ext>
            </p:extLst>
          </p:nvPr>
        </p:nvGraphicFramePr>
        <p:xfrm>
          <a:off x="194733" y="635685"/>
          <a:ext cx="11446935" cy="4419600"/>
        </p:xfrm>
        <a:graphic>
          <a:graphicData uri="http://schemas.openxmlformats.org/drawingml/2006/table">
            <a:tbl>
              <a:tblPr firstRow="1" bandRow="1">
                <a:tableStyleId>{69012ECD-51FC-41F1-AA8D-1B2483CD663E}</a:tableStyleId>
              </a:tblPr>
              <a:tblGrid>
                <a:gridCol w="1055790">
                  <a:extLst>
                    <a:ext uri="{9D8B030D-6E8A-4147-A177-3AD203B41FA5}">
                      <a16:colId xmlns:a16="http://schemas.microsoft.com/office/drawing/2014/main" val="1692685995"/>
                    </a:ext>
                  </a:extLst>
                </a:gridCol>
                <a:gridCol w="1501129">
                  <a:extLst>
                    <a:ext uri="{9D8B030D-6E8A-4147-A177-3AD203B41FA5}">
                      <a16:colId xmlns:a16="http://schemas.microsoft.com/office/drawing/2014/main" val="2070043562"/>
                    </a:ext>
                  </a:extLst>
                </a:gridCol>
                <a:gridCol w="1342676">
                  <a:extLst>
                    <a:ext uri="{9D8B030D-6E8A-4147-A177-3AD203B41FA5}">
                      <a16:colId xmlns:a16="http://schemas.microsoft.com/office/drawing/2014/main" val="1788829243"/>
                    </a:ext>
                  </a:extLst>
                </a:gridCol>
                <a:gridCol w="967394">
                  <a:extLst>
                    <a:ext uri="{9D8B030D-6E8A-4147-A177-3AD203B41FA5}">
                      <a16:colId xmlns:a16="http://schemas.microsoft.com/office/drawing/2014/main" val="914312967"/>
                    </a:ext>
                  </a:extLst>
                </a:gridCol>
                <a:gridCol w="1567846">
                  <a:extLst>
                    <a:ext uri="{9D8B030D-6E8A-4147-A177-3AD203B41FA5}">
                      <a16:colId xmlns:a16="http://schemas.microsoft.com/office/drawing/2014/main" val="1362813313"/>
                    </a:ext>
                  </a:extLst>
                </a:gridCol>
                <a:gridCol w="1784676">
                  <a:extLst>
                    <a:ext uri="{9D8B030D-6E8A-4147-A177-3AD203B41FA5}">
                      <a16:colId xmlns:a16="http://schemas.microsoft.com/office/drawing/2014/main" val="3296549446"/>
                    </a:ext>
                  </a:extLst>
                </a:gridCol>
                <a:gridCol w="1059130">
                  <a:extLst>
                    <a:ext uri="{9D8B030D-6E8A-4147-A177-3AD203B41FA5}">
                      <a16:colId xmlns:a16="http://schemas.microsoft.com/office/drawing/2014/main" val="2579843292"/>
                    </a:ext>
                  </a:extLst>
                </a:gridCol>
                <a:gridCol w="2168294">
                  <a:extLst>
                    <a:ext uri="{9D8B030D-6E8A-4147-A177-3AD203B41FA5}">
                      <a16:colId xmlns:a16="http://schemas.microsoft.com/office/drawing/2014/main" val="3841248342"/>
                    </a:ext>
                  </a:extLst>
                </a:gridCol>
              </a:tblGrid>
              <a:tr h="92950">
                <a:tc gridSpan="2">
                  <a:txBody>
                    <a:bodyPr/>
                    <a:lstStyle/>
                    <a:p>
                      <a:pPr marL="91440" algn="l" fontAlgn="t"/>
                      <a:r>
                        <a:rPr lang="en-MY" sz="1200" u="none" strike="noStrike" dirty="0">
                          <a:effectLst/>
                        </a:rPr>
                        <a:t>Area of Interest</a:t>
                      </a:r>
                      <a:endParaRPr lang="en-MY" sz="1200" b="1" i="0" u="none" strike="noStrike" dirty="0">
                        <a:solidFill>
                          <a:srgbClr val="000000"/>
                        </a:solidFill>
                        <a:effectLst/>
                        <a:latin typeface="+mn-lt"/>
                      </a:endParaRPr>
                    </a:p>
                  </a:txBody>
                  <a:tcPr marL="0" marR="0" marT="0" marB="0"/>
                </a:tc>
                <a:tc hMerge="1">
                  <a:txBody>
                    <a:bodyPr/>
                    <a:lstStyle/>
                    <a:p>
                      <a:pPr marL="91440" algn="l" fontAlgn="t"/>
                      <a:endParaRPr lang="en-MY" sz="105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LENOVO (MSI)</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DELL</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ACER (WISTRON)</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ASUSTEK</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MSI</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ASROCK</a:t>
                      </a:r>
                      <a:endParaRPr lang="en-MY" sz="1000" b="1" i="0" u="none" strike="noStrike" dirty="0">
                        <a:solidFill>
                          <a:srgbClr val="000000"/>
                        </a:solidFill>
                        <a:effectLst/>
                        <a:latin typeface="+mn-lt"/>
                      </a:endParaRPr>
                    </a:p>
                  </a:txBody>
                  <a:tcPr marL="0" marR="0" marT="0" marB="0"/>
                </a:tc>
                <a:extLst>
                  <a:ext uri="{0D108BD9-81ED-4DB2-BD59-A6C34878D82A}">
                    <a16:rowId xmlns:a16="http://schemas.microsoft.com/office/drawing/2014/main" val="3852518198"/>
                  </a:ext>
                </a:extLst>
              </a:tr>
              <a:tr h="187478">
                <a:tc rowSpan="3">
                  <a:txBody>
                    <a:bodyPr/>
                    <a:lstStyle/>
                    <a:p>
                      <a:pPr marL="91440" algn="l" fontAlgn="t"/>
                      <a:r>
                        <a:rPr lang="en-US" sz="1050" u="none" strike="noStrike" dirty="0">
                          <a:effectLst/>
                        </a:rPr>
                        <a:t>Trace Routing for Large SMT Connectors</a:t>
                      </a:r>
                      <a:endParaRPr lang="en-US" sz="1050" b="0" i="0" u="none" strike="noStrike" dirty="0">
                        <a:effectLst/>
                        <a:latin typeface="+mn-lt"/>
                      </a:endParaRPr>
                    </a:p>
                  </a:txBody>
                  <a:tcPr marL="0" marR="0" marT="0" marB="0"/>
                </a:tc>
                <a:tc>
                  <a:txBody>
                    <a:bodyPr/>
                    <a:lstStyle/>
                    <a:p>
                      <a:pPr marL="91440" algn="l" fontAlgn="t"/>
                      <a:r>
                        <a:rPr lang="en-US" sz="1050" u="none" strike="noStrike" dirty="0">
                          <a:effectLst/>
                        </a:rPr>
                        <a:t>We see a trend with higher speed IO to move to large SMT connectors (e.g. PCIe, DDR UDIMMs). Do you see any issues or concerns with these types of connectors?</a:t>
                      </a:r>
                      <a:endParaRPr lang="en-US" sz="1050" b="0" i="0" u="none" strike="noStrike" dirty="0">
                        <a:solidFill>
                          <a:srgbClr val="000000"/>
                        </a:solidFill>
                        <a:effectLst/>
                        <a:latin typeface="+mn-lt"/>
                      </a:endParaRPr>
                    </a:p>
                  </a:txBody>
                  <a:tcPr marL="0" marR="0" marT="0" marB="0"/>
                </a:tc>
                <a:tc>
                  <a:txBody>
                    <a:bodyPr/>
                    <a:lstStyle/>
                    <a:p>
                      <a:pPr marL="91440" algn="l" fontAlgn="t"/>
                      <a:r>
                        <a:rPr lang="en-US" sz="1000" u="none" strike="noStrike">
                          <a:effectLst/>
                        </a:rPr>
                        <a:t>Yes, reliability is a concern for a long slot, such as PCIe Gen5 and DIMM DDR5. Another concern is that it will add more VIAs and layers. </a:t>
                      </a:r>
                      <a:endParaRPr lang="en-US" sz="1000" b="0" i="0" u="none" strike="noStrike">
                        <a:solidFill>
                          <a:srgbClr val="000000"/>
                        </a:solidFill>
                        <a:effectLst/>
                        <a:latin typeface="Arial" panose="020B0604020202020204" pitchFamily="34" charset="0"/>
                      </a:endParaRPr>
                    </a:p>
                  </a:txBody>
                  <a:tcPr marL="0" marR="0" marT="0" marB="0"/>
                </a:tc>
                <a:tc>
                  <a:txBody>
                    <a:bodyPr/>
                    <a:lstStyle/>
                    <a:p>
                      <a:pPr marL="91440" algn="l" fontAlgn="t"/>
                      <a:r>
                        <a:rPr lang="en-US" sz="1000" u="none" strike="noStrike" dirty="0">
                          <a:effectLst/>
                        </a:rPr>
                        <a:t>Need to evaluate case by case</a:t>
                      </a:r>
                      <a:endParaRPr lang="en-US" sz="1000" b="0" i="0" u="none" strike="noStrike" dirty="0">
                        <a:solidFill>
                          <a:srgbClr val="000000"/>
                        </a:solidFill>
                        <a:effectLst/>
                        <a:latin typeface="Arial" panose="020B0604020202020204" pitchFamily="34" charset="0"/>
                      </a:endParaRPr>
                    </a:p>
                  </a:txBody>
                  <a:tcPr marL="0" marR="0" marT="0" marB="0"/>
                </a:tc>
                <a:tc>
                  <a:txBody>
                    <a:bodyPr/>
                    <a:lstStyle/>
                    <a:p>
                      <a:pPr marL="91440" algn="l" fontAlgn="t"/>
                      <a:r>
                        <a:rPr lang="en-US" sz="1000" u="none" strike="noStrike" dirty="0">
                          <a:effectLst/>
                        </a:rPr>
                        <a:t>There are no concerns for Desktop, this concern should be for Server. Basically, we will follow Intel's Demo board design. Meanwhile, we will check with our EE and ODM.</a:t>
                      </a:r>
                      <a:endParaRPr lang="en-US" sz="1000" b="0" i="0" u="none" strike="noStrike" dirty="0">
                        <a:solidFill>
                          <a:srgbClr val="000000"/>
                        </a:solidFill>
                        <a:effectLst/>
                        <a:latin typeface="Arial" panose="020B0604020202020204" pitchFamily="34" charset="0"/>
                      </a:endParaRPr>
                    </a:p>
                  </a:txBody>
                  <a:tcPr marL="0" marR="0" marT="0" marB="0"/>
                </a:tc>
                <a:tc>
                  <a:txBody>
                    <a:bodyPr/>
                    <a:lstStyle/>
                    <a:p>
                      <a:pPr marL="91440" algn="l" fontAlgn="t"/>
                      <a:r>
                        <a:rPr lang="en-US" sz="1000" u="none" strike="noStrike" dirty="0">
                          <a:effectLst/>
                        </a:rPr>
                        <a:t>Need extra VIA for routing trace to TOP layer</a:t>
                      </a:r>
                      <a:endParaRPr lang="en-US" sz="1000" b="0" i="0" u="none" strike="noStrike" dirty="0">
                        <a:solidFill>
                          <a:srgbClr val="000000"/>
                        </a:solidFill>
                        <a:effectLst/>
                        <a:latin typeface="Arial" panose="020B0604020202020204" pitchFamily="34" charset="0"/>
                      </a:endParaRPr>
                    </a:p>
                  </a:txBody>
                  <a:tcPr marL="0" marR="0" marT="0" marB="0"/>
                </a:tc>
                <a:tc>
                  <a:txBody>
                    <a:bodyPr/>
                    <a:lstStyle/>
                    <a:p>
                      <a:pPr marL="91440" algn="l" fontAlgn="t"/>
                      <a:r>
                        <a:rPr lang="en-MY" sz="1000" u="none" strike="noStrike">
                          <a:effectLst/>
                        </a:rPr>
                        <a:t>Yes, wait for test</a:t>
                      </a:r>
                      <a:endParaRPr lang="en-MY" sz="1000" b="0" i="0" u="none" strike="noStrike">
                        <a:solidFill>
                          <a:srgbClr val="000000"/>
                        </a:solidFill>
                        <a:effectLst/>
                        <a:latin typeface="Arial" panose="020B0604020202020204" pitchFamily="34" charset="0"/>
                      </a:endParaRPr>
                    </a:p>
                  </a:txBody>
                  <a:tcPr marL="0" marR="0" marT="0" marB="0"/>
                </a:tc>
                <a:tc>
                  <a:txBody>
                    <a:bodyPr/>
                    <a:lstStyle/>
                    <a:p>
                      <a:pPr marL="91440" algn="l" fontAlgn="t"/>
                      <a:r>
                        <a:rPr lang="en-US" sz="1000" u="none" strike="noStrike" dirty="0">
                          <a:effectLst/>
                        </a:rPr>
                        <a:t>Yes. 1) The factory assembly failure rate is much higher than DIP type slot, and 2) SMD type is difficult to rework / repair.</a:t>
                      </a:r>
                      <a:endParaRPr lang="en-US" sz="1000" b="0" i="0" u="none" strike="noStrike" dirty="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504902122"/>
                  </a:ext>
                </a:extLst>
              </a:tr>
              <a:tr h="0">
                <a:tc vMerge="1">
                  <a:txBody>
                    <a:bodyPr/>
                    <a:lstStyle/>
                    <a:p>
                      <a:endParaRPr lang="en-MY"/>
                    </a:p>
                  </a:txBody>
                  <a:tcPr/>
                </a:tc>
                <a:tc>
                  <a:txBody>
                    <a:bodyPr/>
                    <a:lstStyle/>
                    <a:p>
                      <a:pPr marL="91440" algn="l" fontAlgn="t"/>
                      <a:r>
                        <a:rPr lang="en-US" sz="1050" u="none" strike="noStrike" dirty="0">
                          <a:effectLst/>
                        </a:rPr>
                        <a:t>For large SMT connectors (e.g. PCIe, DDR UDIMMS, etc…) with pitch ~0.85mm to 1.0mm, do you allow for soldermask between the pins or are ganged soldermask openings a requirement? (see pic)</a:t>
                      </a:r>
                      <a:endParaRPr lang="en-US" sz="1050" b="0" i="0" u="none" strike="noStrike" dirty="0">
                        <a:solidFill>
                          <a:srgbClr val="000000"/>
                        </a:solidFill>
                        <a:effectLst/>
                        <a:latin typeface="+mn-lt"/>
                      </a:endParaRPr>
                    </a:p>
                  </a:txBody>
                  <a:tcPr marL="0" marR="0" marT="0" marB="0"/>
                </a:tc>
                <a:tc>
                  <a:txBody>
                    <a:bodyPr/>
                    <a:lstStyle/>
                    <a:p>
                      <a:pPr marL="91440" algn="l" fontAlgn="t"/>
                      <a:r>
                        <a:rPr lang="en-US" sz="1000" u="none" strike="noStrike">
                          <a:effectLst/>
                        </a:rPr>
                        <a:t>We are forbidden to do this type of design. </a:t>
                      </a:r>
                      <a:endParaRPr lang="en-US" sz="1000" b="0" i="0" u="none" strike="noStrike">
                        <a:solidFill>
                          <a:srgbClr val="000000"/>
                        </a:solidFill>
                        <a:effectLst/>
                        <a:latin typeface="Arial" panose="020B0604020202020204" pitchFamily="34" charset="0"/>
                      </a:endParaRPr>
                    </a:p>
                  </a:txBody>
                  <a:tcPr marL="0" marR="0" marT="0" marB="0"/>
                </a:tc>
                <a:tc>
                  <a:txBody>
                    <a:bodyPr/>
                    <a:lstStyle/>
                    <a:p>
                      <a:pPr marL="91440" algn="l" fontAlgn="t"/>
                      <a:r>
                        <a:rPr lang="en-US" sz="1000" u="none" strike="noStrike">
                          <a:effectLst/>
                        </a:rPr>
                        <a:t>Need to have 0.20mm (8 mils) air gap from trace to adjecent pin pad</a:t>
                      </a:r>
                      <a:endParaRPr lang="en-US" sz="1000" b="0" i="0" u="none" strike="noStrike">
                        <a:solidFill>
                          <a:srgbClr val="000000"/>
                        </a:solidFill>
                        <a:effectLst/>
                        <a:latin typeface="Arial" panose="020B0604020202020204" pitchFamily="34" charset="0"/>
                      </a:endParaRPr>
                    </a:p>
                  </a:txBody>
                  <a:tcPr marL="0" marR="0" marT="0" marB="0"/>
                </a:tc>
                <a:tc>
                  <a:txBody>
                    <a:bodyPr/>
                    <a:lstStyle/>
                    <a:p>
                      <a:pPr marL="91440" algn="l" fontAlgn="t"/>
                      <a:r>
                        <a:rPr lang="en-US" sz="1000" u="none" strike="noStrike">
                          <a:effectLst/>
                        </a:rPr>
                        <a:t>Trace between pins must be covered with soldermask to prevent short issue</a:t>
                      </a:r>
                      <a:endParaRPr lang="en-US" sz="1000" b="0" i="0" u="none" strike="noStrike">
                        <a:solidFill>
                          <a:srgbClr val="000000"/>
                        </a:solidFill>
                        <a:effectLst/>
                        <a:latin typeface="Arial" panose="020B0604020202020204" pitchFamily="34" charset="0"/>
                      </a:endParaRPr>
                    </a:p>
                  </a:txBody>
                  <a:tcPr marL="0" marR="0" marT="0" marB="0"/>
                </a:tc>
                <a:tc>
                  <a:txBody>
                    <a:bodyPr/>
                    <a:lstStyle/>
                    <a:p>
                      <a:pPr marL="91440" algn="l" fontAlgn="t"/>
                      <a:r>
                        <a:rPr lang="en-US" sz="1000" u="none" strike="noStrike" dirty="0">
                          <a:effectLst/>
                        </a:rPr>
                        <a:t>Need to allow for </a:t>
                      </a:r>
                      <a:r>
                        <a:rPr lang="en-US" sz="1000" u="none" strike="noStrike" dirty="0" err="1">
                          <a:effectLst/>
                        </a:rPr>
                        <a:t>soldermask</a:t>
                      </a:r>
                      <a:r>
                        <a:rPr lang="en-US" sz="1000" u="none" strike="noStrike" dirty="0">
                          <a:effectLst/>
                        </a:rPr>
                        <a:t> between the pins</a:t>
                      </a:r>
                      <a:endParaRPr lang="en-US" sz="1000" b="0" i="0" u="none" strike="noStrike" dirty="0">
                        <a:solidFill>
                          <a:srgbClr val="000000"/>
                        </a:solidFill>
                        <a:effectLst/>
                        <a:latin typeface="Arial" panose="020B0604020202020204" pitchFamily="34" charset="0"/>
                      </a:endParaRPr>
                    </a:p>
                  </a:txBody>
                  <a:tcPr marL="0" marR="0" marT="0" marB="0"/>
                </a:tc>
                <a:tc>
                  <a:txBody>
                    <a:bodyPr/>
                    <a:lstStyle/>
                    <a:p>
                      <a:pPr marL="91440" algn="l" fontAlgn="t"/>
                      <a:r>
                        <a:rPr lang="en-US" sz="1000" u="none" strike="noStrike" dirty="0">
                          <a:effectLst/>
                        </a:rPr>
                        <a:t>Need to cover between the pins with </a:t>
                      </a:r>
                      <a:r>
                        <a:rPr lang="en-US" sz="1000" u="none" strike="noStrike" dirty="0" err="1">
                          <a:effectLst/>
                        </a:rPr>
                        <a:t>soldermask</a:t>
                      </a:r>
                      <a:r>
                        <a:rPr lang="en-US" sz="1000" u="none" strike="noStrike" dirty="0">
                          <a:effectLst/>
                        </a:rPr>
                        <a:t> </a:t>
                      </a:r>
                      <a:endParaRPr lang="en-US" sz="1000" b="0" i="0" u="none" strike="noStrike" dirty="0">
                        <a:solidFill>
                          <a:srgbClr val="000000"/>
                        </a:solidFill>
                        <a:effectLst/>
                        <a:latin typeface="Arial" panose="020B0604020202020204" pitchFamily="34" charset="0"/>
                      </a:endParaRPr>
                    </a:p>
                  </a:txBody>
                  <a:tcPr marL="0" marR="0" marT="0" marB="0"/>
                </a:tc>
                <a:tc>
                  <a:txBody>
                    <a:bodyPr/>
                    <a:lstStyle/>
                    <a:p>
                      <a:pPr marL="91440" algn="l" fontAlgn="t"/>
                      <a:r>
                        <a:rPr lang="en-US" sz="1000" u="none" strike="noStrike" dirty="0">
                          <a:effectLst/>
                        </a:rPr>
                        <a:t>Alder Lake design is still in Layout process, but we think </a:t>
                      </a:r>
                      <a:r>
                        <a:rPr lang="en-US" sz="1000" u="none" strike="noStrike" dirty="0" err="1">
                          <a:effectLst/>
                        </a:rPr>
                        <a:t>soldermask</a:t>
                      </a:r>
                      <a:r>
                        <a:rPr lang="en-US" sz="1000" u="none" strike="noStrike" dirty="0">
                          <a:effectLst/>
                        </a:rPr>
                        <a:t> is a must for production quality control. </a:t>
                      </a:r>
                      <a:br>
                        <a:rPr lang="en-US" sz="1000" u="none" strike="noStrike" dirty="0">
                          <a:effectLst/>
                        </a:rPr>
                      </a:br>
                      <a:br>
                        <a:rPr lang="en-US" sz="1000" u="none" strike="noStrike" dirty="0">
                          <a:effectLst/>
                        </a:rPr>
                      </a:br>
                      <a:r>
                        <a:rPr lang="en-US" sz="1000" u="none" strike="noStrike" dirty="0">
                          <a:effectLst/>
                        </a:rPr>
                        <a:t>We can route between the pins with minimum  </a:t>
                      </a:r>
                      <a:br>
                        <a:rPr lang="en-US" sz="1000" u="none" strike="noStrike" dirty="0">
                          <a:effectLst/>
                        </a:rPr>
                      </a:br>
                      <a:r>
                        <a:rPr lang="en-US" sz="1000" u="none" strike="noStrike" dirty="0">
                          <a:effectLst/>
                        </a:rPr>
                        <a:t>1. Trace width = 0.0889mm (3.5mil)                                    </a:t>
                      </a:r>
                      <a:br>
                        <a:rPr lang="en-US" sz="1000" u="none" strike="noStrike" dirty="0">
                          <a:effectLst/>
                        </a:rPr>
                      </a:br>
                      <a:r>
                        <a:rPr lang="en-US" sz="1000" u="none" strike="noStrike" dirty="0">
                          <a:effectLst/>
                        </a:rPr>
                        <a:t>2. Pad width = 0.1778mm (7mil)                                         </a:t>
                      </a:r>
                      <a:br>
                        <a:rPr lang="en-US" sz="1000" u="none" strike="noStrike" dirty="0">
                          <a:effectLst/>
                        </a:rPr>
                      </a:br>
                      <a:r>
                        <a:rPr lang="en-US" sz="1000" u="none" strike="noStrike" dirty="0">
                          <a:effectLst/>
                        </a:rPr>
                        <a:t>3. Pad to trace = 0.12065mm (4.75mil)</a:t>
                      </a:r>
                      <a:endParaRPr lang="en-US" sz="1000" b="0" i="0" u="none" strike="noStrike" dirty="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2963251170"/>
                  </a:ext>
                </a:extLst>
              </a:tr>
              <a:tr h="124985">
                <a:tc vMerge="1">
                  <a:txBody>
                    <a:bodyPr/>
                    <a:lstStyle/>
                    <a:p>
                      <a:endParaRPr lang="en-MY"/>
                    </a:p>
                  </a:txBody>
                  <a:tcPr/>
                </a:tc>
                <a:tc>
                  <a:txBody>
                    <a:bodyPr/>
                    <a:lstStyle/>
                    <a:p>
                      <a:pPr marL="91440" algn="l" fontAlgn="t"/>
                      <a:r>
                        <a:rPr lang="en-US" sz="1050" u="none" strike="noStrike" dirty="0">
                          <a:effectLst/>
                        </a:rPr>
                        <a:t>For the above question, Intel</a:t>
                      </a:r>
                      <a:br>
                        <a:rPr lang="en-US" sz="1050" u="none" strike="noStrike" dirty="0">
                          <a:effectLst/>
                        </a:rPr>
                      </a:br>
                      <a:r>
                        <a:rPr lang="en-US" sz="1050" u="none" strike="noStrike" dirty="0">
                          <a:effectLst/>
                        </a:rPr>
                        <a:t> is planning to route traces between</a:t>
                      </a:r>
                      <a:br>
                        <a:rPr lang="en-US" sz="1050" u="none" strike="noStrike" dirty="0">
                          <a:effectLst/>
                        </a:rPr>
                      </a:br>
                      <a:r>
                        <a:rPr lang="en-US" sz="1050" u="none" strike="noStrike" dirty="0">
                          <a:effectLst/>
                        </a:rPr>
                        <a:t> these pins (please refer to graphic</a:t>
                      </a:r>
                      <a:br>
                        <a:rPr lang="en-US" sz="1050" u="none" strike="noStrike" dirty="0">
                          <a:effectLst/>
                        </a:rPr>
                      </a:br>
                      <a:r>
                        <a:rPr lang="en-US" sz="1050" u="none" strike="noStrike" dirty="0">
                          <a:effectLst/>
                        </a:rPr>
                        <a:t> on the right), do you have any concerns? </a:t>
                      </a:r>
                      <a:endParaRPr lang="en-US" sz="1050" b="0" i="0" u="none" strike="noStrike" dirty="0">
                        <a:solidFill>
                          <a:srgbClr val="000000"/>
                        </a:solidFill>
                        <a:effectLst/>
                        <a:latin typeface="+mn-lt"/>
                      </a:endParaRPr>
                    </a:p>
                  </a:txBody>
                  <a:tcPr marL="0" marR="0" marT="0" marB="0"/>
                </a:tc>
                <a:tc>
                  <a:txBody>
                    <a:bodyPr/>
                    <a:lstStyle/>
                    <a:p>
                      <a:pPr marL="91440" algn="l" fontAlgn="t"/>
                      <a:r>
                        <a:rPr lang="en-US" sz="1000" u="none" strike="noStrike">
                          <a:effectLst/>
                        </a:rPr>
                        <a:t>We are forbidden to do this type of design. </a:t>
                      </a:r>
                      <a:endParaRPr lang="en-US" sz="1000" b="0" i="0" u="none" strike="noStrike">
                        <a:solidFill>
                          <a:srgbClr val="000000"/>
                        </a:solidFill>
                        <a:effectLst/>
                        <a:latin typeface="Arial" panose="020B0604020202020204" pitchFamily="34" charset="0"/>
                      </a:endParaRPr>
                    </a:p>
                  </a:txBody>
                  <a:tcPr marL="0" marR="0" marT="0" marB="0"/>
                </a:tc>
                <a:tc>
                  <a:txBody>
                    <a:bodyPr/>
                    <a:lstStyle/>
                    <a:p>
                      <a:pPr marL="91440" algn="l" fontAlgn="t"/>
                      <a:r>
                        <a:rPr lang="en-US" sz="1000" u="none" strike="noStrike">
                          <a:effectLst/>
                        </a:rPr>
                        <a:t>Soldermask is required to prevent short during assembly process</a:t>
                      </a:r>
                      <a:endParaRPr lang="en-US" sz="1000" b="0" i="0" u="none" strike="noStrike">
                        <a:solidFill>
                          <a:srgbClr val="000000"/>
                        </a:solidFill>
                        <a:effectLst/>
                        <a:latin typeface="Arial" panose="020B0604020202020204" pitchFamily="34" charset="0"/>
                      </a:endParaRPr>
                    </a:p>
                  </a:txBody>
                  <a:tcPr marL="0" marR="0" marT="0" marB="0"/>
                </a:tc>
                <a:tc>
                  <a:txBody>
                    <a:bodyPr/>
                    <a:lstStyle/>
                    <a:p>
                      <a:pPr marL="91440" algn="l" fontAlgn="t"/>
                      <a:r>
                        <a:rPr lang="en-US" sz="1000" u="none" strike="noStrike">
                          <a:effectLst/>
                        </a:rPr>
                        <a:t>The spacing between the pin and trace must be larger than 0.1143mm (4.5mil), and the minimum trace width must be at least 0.0889mm (3.5mil) at least </a:t>
                      </a:r>
                      <a:endParaRPr lang="en-US" sz="1000" b="0" i="0" u="none" strike="noStrike">
                        <a:solidFill>
                          <a:srgbClr val="000000"/>
                        </a:solidFill>
                        <a:effectLst/>
                        <a:latin typeface="Arial" panose="020B0604020202020204" pitchFamily="34" charset="0"/>
                      </a:endParaRPr>
                    </a:p>
                  </a:txBody>
                  <a:tcPr marL="0" marR="0" marT="0" marB="0"/>
                </a:tc>
                <a:tc>
                  <a:txBody>
                    <a:bodyPr/>
                    <a:lstStyle/>
                    <a:p>
                      <a:pPr marL="91440" algn="l" fontAlgn="t"/>
                      <a:r>
                        <a:rPr lang="en-US" sz="1000" u="none" strike="noStrike">
                          <a:effectLst/>
                        </a:rPr>
                        <a:t>Yes, It's more challenging to routing the DDR5 trace for 4 Layer PCB designs</a:t>
                      </a:r>
                      <a:endParaRPr lang="en-US" sz="1000" b="0" i="0" u="none" strike="noStrike">
                        <a:solidFill>
                          <a:srgbClr val="000000"/>
                        </a:solidFill>
                        <a:effectLst/>
                        <a:latin typeface="Arial" panose="020B0604020202020204" pitchFamily="34" charset="0"/>
                      </a:endParaRPr>
                    </a:p>
                  </a:txBody>
                  <a:tcPr marL="0" marR="0" marT="0" marB="0"/>
                </a:tc>
                <a:tc>
                  <a:txBody>
                    <a:bodyPr/>
                    <a:lstStyle/>
                    <a:p>
                      <a:pPr marL="91440" algn="l" fontAlgn="t"/>
                      <a:r>
                        <a:rPr lang="en-US" sz="1000" u="none" strike="noStrike">
                          <a:effectLst/>
                        </a:rPr>
                        <a:t>Pin to line gap must be 0.127mm (5mil) minimum to avoid shorting risk</a:t>
                      </a:r>
                      <a:endParaRPr lang="en-US" sz="1000" b="0" i="0" u="none" strike="noStrike">
                        <a:solidFill>
                          <a:srgbClr val="000000"/>
                        </a:solidFill>
                        <a:effectLst/>
                        <a:latin typeface="Arial" panose="020B0604020202020204" pitchFamily="34" charset="0"/>
                      </a:endParaRPr>
                    </a:p>
                  </a:txBody>
                  <a:tcPr marL="0" marR="0" marT="0" marB="0"/>
                </a:tc>
                <a:tc>
                  <a:txBody>
                    <a:bodyPr/>
                    <a:lstStyle/>
                    <a:p>
                      <a:pPr marL="91440" algn="l" fontAlgn="t"/>
                      <a:r>
                        <a:rPr lang="en-US" sz="1000" u="none" strike="noStrike" dirty="0">
                          <a:effectLst/>
                        </a:rPr>
                        <a:t>For 2DPC DDR5 design, Intel PDG still shows TBD and no RVP board file available for us to download. We will need to try this routing by ourselves. From Intel's documentation: "DDR5 UDIMM 2DPC Design Guidelines are TBD"</a:t>
                      </a:r>
                      <a:endParaRPr lang="en-US" sz="1000" b="0" i="0" u="none" strike="noStrike" dirty="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3493957544"/>
                  </a:ext>
                </a:extLst>
              </a:tr>
            </a:tbl>
          </a:graphicData>
        </a:graphic>
      </p:graphicFrame>
      <p:sp>
        <p:nvSpPr>
          <p:cNvPr id="5" name="Rectangle: Rounded Corners 4">
            <a:extLst>
              <a:ext uri="{FF2B5EF4-FFF2-40B4-BE49-F238E27FC236}">
                <a16:creationId xmlns:a16="http://schemas.microsoft.com/office/drawing/2014/main" id="{008E03E7-3F1B-43D0-9527-253C3F649716}"/>
              </a:ext>
            </a:extLst>
          </p:cNvPr>
          <p:cNvSpPr/>
          <p:nvPr/>
        </p:nvSpPr>
        <p:spPr>
          <a:xfrm>
            <a:off x="662095" y="5181789"/>
            <a:ext cx="10678583"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a:ln>
                  <a:noFill/>
                </a:ln>
                <a:solidFill>
                  <a:srgbClr val="FFFF00"/>
                </a:solidFill>
                <a:effectLst/>
                <a:uFillTx/>
                <a:latin typeface="Helvetica Neue Medium"/>
                <a:ea typeface="Helvetica Neue Medium"/>
                <a:cs typeface="Helvetica Neue Medium"/>
                <a:sym typeface="Helvetica Neue Medium"/>
              </a:rPr>
              <a:t>Key Message</a:t>
            </a:r>
            <a:endPar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endParaRP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Customers tend to be cautious and have some concerns with large SMT connectors</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If large SMT connector pins are used, Customers need to have soldermask present between the pins</a:t>
            </a:r>
          </a:p>
        </p:txBody>
      </p:sp>
    </p:spTree>
    <p:extLst>
      <p:ext uri="{BB962C8B-B14F-4D97-AF65-F5344CB8AC3E}">
        <p14:creationId xmlns:p14="http://schemas.microsoft.com/office/powerpoint/2010/main" val="553299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A9707-5156-41F3-9BD6-83853633F13F}"/>
              </a:ext>
            </a:extLst>
          </p:cNvPr>
          <p:cNvSpPr>
            <a:spLocks noGrp="1"/>
          </p:cNvSpPr>
          <p:nvPr>
            <p:ph type="title"/>
          </p:nvPr>
        </p:nvSpPr>
        <p:spPr>
          <a:xfrm>
            <a:off x="607484" y="47729"/>
            <a:ext cx="10972800" cy="587271"/>
          </a:xfrm>
        </p:spPr>
        <p:txBody>
          <a:bodyPr/>
          <a:lstStyle/>
          <a:p>
            <a:r>
              <a:rPr lang="en-US" dirty="0"/>
              <a:t>Printed Circuit Board Design (8)</a:t>
            </a:r>
            <a:endParaRPr lang="en-MY" dirty="0"/>
          </a:p>
        </p:txBody>
      </p:sp>
      <p:graphicFrame>
        <p:nvGraphicFramePr>
          <p:cNvPr id="4" name="Content Placeholder 3">
            <a:extLst>
              <a:ext uri="{FF2B5EF4-FFF2-40B4-BE49-F238E27FC236}">
                <a16:creationId xmlns:a16="http://schemas.microsoft.com/office/drawing/2014/main" id="{F4C4F9EE-9506-4C4C-B40C-F4271BBF6041}"/>
              </a:ext>
            </a:extLst>
          </p:cNvPr>
          <p:cNvGraphicFramePr>
            <a:graphicFrameLocks noGrp="1"/>
          </p:cNvGraphicFramePr>
          <p:nvPr>
            <p:ph sz="quarter" idx="13"/>
            <p:extLst>
              <p:ext uri="{D42A27DB-BD31-4B8C-83A1-F6EECF244321}">
                <p14:modId xmlns:p14="http://schemas.microsoft.com/office/powerpoint/2010/main" val="620086257"/>
              </p:ext>
            </p:extLst>
          </p:nvPr>
        </p:nvGraphicFramePr>
        <p:xfrm>
          <a:off x="548637" y="721615"/>
          <a:ext cx="10913953" cy="4343400"/>
        </p:xfrm>
        <a:graphic>
          <a:graphicData uri="http://schemas.openxmlformats.org/drawingml/2006/table">
            <a:tbl>
              <a:tblPr firstRow="1" bandRow="1">
                <a:tableStyleId>{69012ECD-51FC-41F1-AA8D-1B2483CD663E}</a:tableStyleId>
              </a:tblPr>
              <a:tblGrid>
                <a:gridCol w="768092">
                  <a:extLst>
                    <a:ext uri="{9D8B030D-6E8A-4147-A177-3AD203B41FA5}">
                      <a16:colId xmlns:a16="http://schemas.microsoft.com/office/drawing/2014/main" val="1692685995"/>
                    </a:ext>
                  </a:extLst>
                </a:gridCol>
                <a:gridCol w="1463040">
                  <a:extLst>
                    <a:ext uri="{9D8B030D-6E8A-4147-A177-3AD203B41FA5}">
                      <a16:colId xmlns:a16="http://schemas.microsoft.com/office/drawing/2014/main" val="784874761"/>
                    </a:ext>
                  </a:extLst>
                </a:gridCol>
                <a:gridCol w="1319916">
                  <a:extLst>
                    <a:ext uri="{9D8B030D-6E8A-4147-A177-3AD203B41FA5}">
                      <a16:colId xmlns:a16="http://schemas.microsoft.com/office/drawing/2014/main" val="1788829243"/>
                    </a:ext>
                  </a:extLst>
                </a:gridCol>
                <a:gridCol w="1868557">
                  <a:extLst>
                    <a:ext uri="{9D8B030D-6E8A-4147-A177-3AD203B41FA5}">
                      <a16:colId xmlns:a16="http://schemas.microsoft.com/office/drawing/2014/main" val="914312967"/>
                    </a:ext>
                  </a:extLst>
                </a:gridCol>
                <a:gridCol w="1645920">
                  <a:extLst>
                    <a:ext uri="{9D8B030D-6E8A-4147-A177-3AD203B41FA5}">
                      <a16:colId xmlns:a16="http://schemas.microsoft.com/office/drawing/2014/main" val="1362813313"/>
                    </a:ext>
                  </a:extLst>
                </a:gridCol>
                <a:gridCol w="1809238">
                  <a:extLst>
                    <a:ext uri="{9D8B030D-6E8A-4147-A177-3AD203B41FA5}">
                      <a16:colId xmlns:a16="http://schemas.microsoft.com/office/drawing/2014/main" val="3296549446"/>
                    </a:ext>
                  </a:extLst>
                </a:gridCol>
                <a:gridCol w="1114726">
                  <a:extLst>
                    <a:ext uri="{9D8B030D-6E8A-4147-A177-3AD203B41FA5}">
                      <a16:colId xmlns:a16="http://schemas.microsoft.com/office/drawing/2014/main" val="2579843292"/>
                    </a:ext>
                  </a:extLst>
                </a:gridCol>
                <a:gridCol w="924464">
                  <a:extLst>
                    <a:ext uri="{9D8B030D-6E8A-4147-A177-3AD203B41FA5}">
                      <a16:colId xmlns:a16="http://schemas.microsoft.com/office/drawing/2014/main" val="3841248342"/>
                    </a:ext>
                  </a:extLst>
                </a:gridCol>
              </a:tblGrid>
              <a:tr h="92950">
                <a:tc gridSpan="2">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lang="en-MY" sz="1200" u="none" strike="noStrike" dirty="0">
                          <a:effectLst/>
                        </a:rPr>
                        <a:t>Area of Interest</a:t>
                      </a:r>
                      <a:endParaRPr lang="en-MY" sz="1200" b="1" i="0" u="none" strike="noStrike" dirty="0">
                        <a:solidFill>
                          <a:srgbClr val="000000"/>
                        </a:solidFill>
                        <a:effectLst/>
                        <a:latin typeface="+mn-lt"/>
                      </a:endParaRPr>
                    </a:p>
                  </a:txBody>
                  <a:tcPr marL="0" marR="0" marT="0" marB="0"/>
                </a:tc>
                <a:tc hMerge="1">
                  <a:txBody>
                    <a:bodyPr/>
                    <a:lstStyle/>
                    <a:p>
                      <a:pPr marL="91440" algn="l" fontAlgn="t"/>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LENOVO (MSI)</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DELL</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ACER (WISTRON)</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ASUSTEK</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MSI</a:t>
                      </a:r>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ASROCK</a:t>
                      </a:r>
                      <a:endParaRPr lang="en-MY" sz="1000" b="1" i="0" u="none" strike="noStrike" dirty="0">
                        <a:solidFill>
                          <a:srgbClr val="000000"/>
                        </a:solidFill>
                        <a:effectLst/>
                        <a:latin typeface="+mn-lt"/>
                      </a:endParaRPr>
                    </a:p>
                  </a:txBody>
                  <a:tcPr marL="0" marR="0" marT="0" marB="0"/>
                </a:tc>
                <a:extLst>
                  <a:ext uri="{0D108BD9-81ED-4DB2-BD59-A6C34878D82A}">
                    <a16:rowId xmlns:a16="http://schemas.microsoft.com/office/drawing/2014/main" val="3852518198"/>
                  </a:ext>
                </a:extLst>
              </a:tr>
              <a:tr h="124985">
                <a:tc rowSpan="4">
                  <a:txBody>
                    <a:bodyPr/>
                    <a:lstStyle/>
                    <a:p>
                      <a:pPr marL="91440" algn="l" fontAlgn="t"/>
                      <a:r>
                        <a:rPr lang="en-MY" sz="1050" u="none" strike="noStrike" dirty="0">
                          <a:effectLst/>
                        </a:rPr>
                        <a:t>Reliability</a:t>
                      </a:r>
                      <a:endParaRPr lang="en-MY" sz="1050" b="0" i="0" u="none" strike="noStrike" dirty="0">
                        <a:effectLst/>
                        <a:latin typeface="Arial" panose="020B0604020202020204" pitchFamily="34" charset="0"/>
                      </a:endParaRPr>
                    </a:p>
                  </a:txBody>
                  <a:tcPr marL="0" marR="0" marT="0" marB="0"/>
                </a:tc>
                <a:tc>
                  <a:txBody>
                    <a:bodyPr/>
                    <a:lstStyle/>
                    <a:p>
                      <a:pPr marL="91440" algn="l" fontAlgn="t"/>
                      <a:r>
                        <a:rPr lang="en-US" sz="1050" u="none" strike="noStrike">
                          <a:effectLst/>
                        </a:rPr>
                        <a:t>Do you perform any reliability validation on your sockets? </a:t>
                      </a:r>
                      <a:endParaRPr lang="en-US" sz="1050" b="0" i="0" u="none" strike="noStrike">
                        <a:effectLst/>
                        <a:latin typeface="Arial" panose="020B0604020202020204" pitchFamily="34" charset="0"/>
                      </a:endParaRPr>
                    </a:p>
                  </a:txBody>
                  <a:tcPr marL="0" marR="0" marT="0" marB="0"/>
                </a:tc>
                <a:tc>
                  <a:txBody>
                    <a:bodyPr/>
                    <a:lstStyle/>
                    <a:p>
                      <a:pPr marL="91440" algn="l" fontAlgn="t"/>
                      <a:r>
                        <a:rPr lang="en-MY" sz="1050" u="none" strike="noStrike">
                          <a:effectLst/>
                        </a:rPr>
                        <a:t>Yes</a:t>
                      </a:r>
                      <a:endParaRPr lang="en-MY" sz="1050" b="0" i="0" u="none" strike="noStrike">
                        <a:solidFill>
                          <a:srgbClr val="000000"/>
                        </a:solidFill>
                        <a:effectLst/>
                        <a:latin typeface="Arial" panose="020B0604020202020204" pitchFamily="34" charset="0"/>
                      </a:endParaRPr>
                    </a:p>
                  </a:txBody>
                  <a:tcPr marL="0" marR="0" marT="0" marB="0"/>
                </a:tc>
                <a:tc>
                  <a:txBody>
                    <a:bodyPr/>
                    <a:lstStyle/>
                    <a:p>
                      <a:pPr marL="91440" algn="l" fontAlgn="t"/>
                      <a:r>
                        <a:rPr lang="en-MY" sz="1050" u="none" strike="noStrike">
                          <a:effectLst/>
                        </a:rPr>
                        <a:t>Yes</a:t>
                      </a:r>
                      <a:endParaRPr lang="en-MY" sz="1050" b="0" i="0" u="none" strike="noStrike">
                        <a:solidFill>
                          <a:srgbClr val="000000"/>
                        </a:solidFill>
                        <a:effectLst/>
                        <a:latin typeface="Arial" panose="020B0604020202020204" pitchFamily="34" charset="0"/>
                      </a:endParaRPr>
                    </a:p>
                  </a:txBody>
                  <a:tcPr marL="0" marR="0" marT="0" marB="0"/>
                </a:tc>
                <a:tc>
                  <a:txBody>
                    <a:bodyPr/>
                    <a:lstStyle/>
                    <a:p>
                      <a:pPr marL="91440" algn="l" fontAlgn="t"/>
                      <a:r>
                        <a:rPr lang="en-MY" sz="1050" u="none" strike="noStrike">
                          <a:effectLst/>
                        </a:rPr>
                        <a:t>Yes</a:t>
                      </a:r>
                      <a:endParaRPr lang="en-MY" sz="1050" b="0" i="0" u="none" strike="noStrike">
                        <a:solidFill>
                          <a:srgbClr val="000000"/>
                        </a:solidFill>
                        <a:effectLst/>
                        <a:latin typeface="Arial" panose="020B0604020202020204" pitchFamily="34" charset="0"/>
                      </a:endParaRPr>
                    </a:p>
                  </a:txBody>
                  <a:tcPr marL="0" marR="0" marT="0" marB="0"/>
                </a:tc>
                <a:tc>
                  <a:txBody>
                    <a:bodyPr/>
                    <a:lstStyle/>
                    <a:p>
                      <a:pPr marL="91440" algn="l" fontAlgn="t"/>
                      <a:r>
                        <a:rPr lang="en-MY" sz="1050" u="none" strike="noStrike">
                          <a:effectLst/>
                        </a:rPr>
                        <a:t>Yes</a:t>
                      </a:r>
                      <a:endParaRPr lang="en-MY" sz="1050" b="0" i="0" u="none" strike="noStrike">
                        <a:solidFill>
                          <a:srgbClr val="000000"/>
                        </a:solidFill>
                        <a:effectLst/>
                        <a:latin typeface="Arial" panose="020B0604020202020204" pitchFamily="34" charset="0"/>
                      </a:endParaRPr>
                    </a:p>
                  </a:txBody>
                  <a:tcPr marL="0" marR="0" marT="0" marB="0"/>
                </a:tc>
                <a:tc>
                  <a:txBody>
                    <a:bodyPr/>
                    <a:lstStyle/>
                    <a:p>
                      <a:pPr marL="91440" algn="l" fontAlgn="t"/>
                      <a:r>
                        <a:rPr lang="en-MY" sz="1050" u="none" strike="noStrike">
                          <a:effectLst/>
                        </a:rPr>
                        <a:t>Yes</a:t>
                      </a:r>
                      <a:endParaRPr lang="en-MY" sz="1050" b="0" i="0" u="none" strike="noStrike">
                        <a:solidFill>
                          <a:srgbClr val="000000"/>
                        </a:solidFill>
                        <a:effectLst/>
                        <a:latin typeface="Arial" panose="020B0604020202020204" pitchFamily="34" charset="0"/>
                      </a:endParaRPr>
                    </a:p>
                  </a:txBody>
                  <a:tcPr marL="0" marR="0" marT="0" marB="0"/>
                </a:tc>
                <a:tc>
                  <a:txBody>
                    <a:bodyPr/>
                    <a:lstStyle/>
                    <a:p>
                      <a:pPr marL="91440" algn="l" fontAlgn="t"/>
                      <a:r>
                        <a:rPr lang="en-MY" sz="1050" u="none" strike="noStrike">
                          <a:effectLst/>
                        </a:rPr>
                        <a:t>Yes</a:t>
                      </a:r>
                      <a:endParaRPr lang="en-MY" sz="1050" b="0"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161112178"/>
                  </a:ext>
                </a:extLst>
              </a:tr>
              <a:tr h="187478">
                <a:tc vMerge="1">
                  <a:txBody>
                    <a:bodyPr/>
                    <a:lstStyle/>
                    <a:p>
                      <a:pPr marL="91440" algn="l"/>
                      <a:endParaRPr lang="en-MY" dirty="0"/>
                    </a:p>
                  </a:txBody>
                  <a:tcPr/>
                </a:tc>
                <a:tc>
                  <a:txBody>
                    <a:bodyPr/>
                    <a:lstStyle/>
                    <a:p>
                      <a:pPr marL="91440" algn="l" fontAlgn="t"/>
                      <a:r>
                        <a:rPr lang="en-US" sz="1050" u="none" strike="noStrike" dirty="0">
                          <a:effectLst/>
                        </a:rPr>
                        <a:t>Are your reliability tests performed at a board and/or system level?</a:t>
                      </a:r>
                      <a:endParaRPr lang="en-US" sz="1050" b="0" i="0" u="none" strike="noStrike" dirty="0">
                        <a:effectLst/>
                        <a:latin typeface="Arial" panose="020B0604020202020204" pitchFamily="34" charset="0"/>
                      </a:endParaRPr>
                    </a:p>
                  </a:txBody>
                  <a:tcPr marL="0" marR="0" marT="0" marB="0"/>
                </a:tc>
                <a:tc>
                  <a:txBody>
                    <a:bodyPr/>
                    <a:lstStyle/>
                    <a:p>
                      <a:pPr marL="91440" algn="l" fontAlgn="t"/>
                      <a:r>
                        <a:rPr lang="en-MY" sz="1050" u="none" strike="noStrike" dirty="0">
                          <a:effectLst/>
                        </a:rPr>
                        <a:t>Both Board &amp; System Level</a:t>
                      </a:r>
                      <a:endParaRPr lang="en-MY" sz="1050" b="0" i="0" u="none" strike="noStrike" dirty="0">
                        <a:solidFill>
                          <a:srgbClr val="000000"/>
                        </a:solidFill>
                        <a:effectLst/>
                        <a:latin typeface="Arial" panose="020B0604020202020204" pitchFamily="34" charset="0"/>
                      </a:endParaRPr>
                    </a:p>
                  </a:txBody>
                  <a:tcPr marL="0" marR="0" marT="0" marB="0"/>
                </a:tc>
                <a:tc>
                  <a:txBody>
                    <a:bodyPr/>
                    <a:lstStyle/>
                    <a:p>
                      <a:pPr marL="91440" algn="l" fontAlgn="t"/>
                      <a:r>
                        <a:rPr lang="en-US" sz="1050" u="none" strike="noStrike">
                          <a:effectLst/>
                        </a:rPr>
                        <a:t>Both Board &amp; System Level</a:t>
                      </a:r>
                      <a:br>
                        <a:rPr lang="en-US" sz="1050" u="none" strike="noStrike">
                          <a:effectLst/>
                        </a:rPr>
                      </a:br>
                      <a:r>
                        <a:rPr lang="en-US" sz="1050" u="none" strike="noStrike">
                          <a:effectLst/>
                        </a:rPr>
                        <a:t>(For Board level we use daisy chain test vehicles)</a:t>
                      </a:r>
                      <a:endParaRPr lang="en-US" sz="1050" b="0" i="0" u="none" strike="noStrike">
                        <a:solidFill>
                          <a:srgbClr val="000000"/>
                        </a:solidFill>
                        <a:effectLst/>
                        <a:latin typeface="Arial" panose="020B0604020202020204" pitchFamily="34" charset="0"/>
                      </a:endParaRPr>
                    </a:p>
                  </a:txBody>
                  <a:tcPr marL="0" marR="0" marT="0" marB="0"/>
                </a:tc>
                <a:tc>
                  <a:txBody>
                    <a:bodyPr/>
                    <a:lstStyle/>
                    <a:p>
                      <a:pPr marL="91440" algn="l" fontAlgn="t"/>
                      <a:r>
                        <a:rPr lang="en-MY" sz="1050" u="none" strike="noStrike">
                          <a:effectLst/>
                        </a:rPr>
                        <a:t>Both Board &amp; System Level</a:t>
                      </a:r>
                      <a:endParaRPr lang="en-MY" sz="1050" b="0" i="0" u="none" strike="noStrike">
                        <a:solidFill>
                          <a:srgbClr val="000000"/>
                        </a:solidFill>
                        <a:effectLst/>
                        <a:latin typeface="Arial" panose="020B0604020202020204" pitchFamily="34" charset="0"/>
                      </a:endParaRPr>
                    </a:p>
                  </a:txBody>
                  <a:tcPr marL="0" marR="0" marT="0" marB="0"/>
                </a:tc>
                <a:tc>
                  <a:txBody>
                    <a:bodyPr/>
                    <a:lstStyle/>
                    <a:p>
                      <a:pPr marL="91440" algn="l" fontAlgn="t"/>
                      <a:r>
                        <a:rPr lang="en-MY" sz="1050" u="none" strike="noStrike">
                          <a:effectLst/>
                        </a:rPr>
                        <a:t>Board Level</a:t>
                      </a:r>
                      <a:endParaRPr lang="en-MY" sz="1050" b="0" i="0" u="none" strike="noStrike">
                        <a:solidFill>
                          <a:srgbClr val="000000"/>
                        </a:solidFill>
                        <a:effectLst/>
                        <a:latin typeface="Arial" panose="020B0604020202020204" pitchFamily="34" charset="0"/>
                      </a:endParaRPr>
                    </a:p>
                  </a:txBody>
                  <a:tcPr marL="0" marR="0" marT="0" marB="0"/>
                </a:tc>
                <a:tc>
                  <a:txBody>
                    <a:bodyPr/>
                    <a:lstStyle/>
                    <a:p>
                      <a:pPr marL="91440" algn="l" fontAlgn="t"/>
                      <a:r>
                        <a:rPr lang="en-MY" sz="1050" u="none" strike="noStrike">
                          <a:effectLst/>
                        </a:rPr>
                        <a:t>Board Level</a:t>
                      </a:r>
                      <a:endParaRPr lang="en-MY" sz="1050" b="0" i="0" u="none" strike="noStrike">
                        <a:solidFill>
                          <a:srgbClr val="000000"/>
                        </a:solidFill>
                        <a:effectLst/>
                        <a:latin typeface="Arial" panose="020B0604020202020204" pitchFamily="34" charset="0"/>
                      </a:endParaRPr>
                    </a:p>
                  </a:txBody>
                  <a:tcPr marL="0" marR="0" marT="0" marB="0"/>
                </a:tc>
                <a:tc>
                  <a:txBody>
                    <a:bodyPr/>
                    <a:lstStyle/>
                    <a:p>
                      <a:pPr marL="91440" algn="l" fontAlgn="t"/>
                      <a:r>
                        <a:rPr lang="en-MY" sz="1050" u="none" strike="noStrike">
                          <a:effectLst/>
                        </a:rPr>
                        <a:t>Board Level</a:t>
                      </a:r>
                      <a:endParaRPr lang="en-MY" sz="1050" b="0"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4048944144"/>
                  </a:ext>
                </a:extLst>
              </a:tr>
              <a:tr h="249971">
                <a:tc vMerge="1">
                  <a:txBody>
                    <a:bodyPr/>
                    <a:lstStyle/>
                    <a:p>
                      <a:pPr marL="91440" algn="l"/>
                      <a:endParaRPr lang="en-MY" dirty="0"/>
                    </a:p>
                  </a:txBody>
                  <a:tcPr/>
                </a:tc>
                <a:tc>
                  <a:txBody>
                    <a:bodyPr/>
                    <a:lstStyle/>
                    <a:p>
                      <a:pPr marL="91440" algn="l" fontAlgn="t"/>
                      <a:r>
                        <a:rPr lang="en-US" sz="1050" u="none" strike="noStrike" dirty="0">
                          <a:effectLst/>
                        </a:rPr>
                        <a:t>Do you use the Intel reference thermal solution (heatsink design) or proprietary design? </a:t>
                      </a:r>
                      <a:endParaRPr lang="en-US" sz="1050" b="0" i="0" u="none" strike="noStrike" dirty="0">
                        <a:solidFill>
                          <a:srgbClr val="000000"/>
                        </a:solidFill>
                        <a:effectLst/>
                        <a:latin typeface="Arial" panose="020B0604020202020204" pitchFamily="34" charset="0"/>
                      </a:endParaRPr>
                    </a:p>
                  </a:txBody>
                  <a:tcPr marL="0" marR="0" marT="0" marB="0"/>
                </a:tc>
                <a:tc>
                  <a:txBody>
                    <a:bodyPr/>
                    <a:lstStyle/>
                    <a:p>
                      <a:pPr marL="91440" algn="l" fontAlgn="t"/>
                      <a:r>
                        <a:rPr lang="en-US" sz="1050" u="none" strike="noStrike" dirty="0">
                          <a:effectLst/>
                        </a:rPr>
                        <a:t>Proprietary design for thermal solution</a:t>
                      </a:r>
                      <a:endParaRPr lang="en-US" sz="1050" b="0" i="0" u="none" strike="noStrike" dirty="0">
                        <a:solidFill>
                          <a:srgbClr val="000000"/>
                        </a:solidFill>
                        <a:effectLst/>
                        <a:latin typeface="Arial" panose="020B0604020202020204" pitchFamily="34" charset="0"/>
                      </a:endParaRPr>
                    </a:p>
                  </a:txBody>
                  <a:tcPr marL="0" marR="0" marT="0" marB="0"/>
                </a:tc>
                <a:tc>
                  <a:txBody>
                    <a:bodyPr/>
                    <a:lstStyle/>
                    <a:p>
                      <a:pPr marL="91440" algn="l" fontAlgn="t"/>
                      <a:r>
                        <a:rPr lang="en-US" sz="1050" u="none" strike="noStrike">
                          <a:effectLst/>
                        </a:rPr>
                        <a:t>Proprietary design for thermal solution. It depends on the amount of heat dissipation required vs fan speed to remove the heat. Still being reviewed.</a:t>
                      </a:r>
                      <a:endParaRPr lang="en-US" sz="1050" b="0" i="0" u="none" strike="noStrike">
                        <a:solidFill>
                          <a:srgbClr val="000000"/>
                        </a:solidFill>
                        <a:effectLst/>
                        <a:latin typeface="Arial" panose="020B0604020202020204" pitchFamily="34" charset="0"/>
                      </a:endParaRPr>
                    </a:p>
                  </a:txBody>
                  <a:tcPr marL="0" marR="0" marT="0" marB="0"/>
                </a:tc>
                <a:tc>
                  <a:txBody>
                    <a:bodyPr/>
                    <a:lstStyle/>
                    <a:p>
                      <a:pPr marL="91440" algn="l" fontAlgn="t"/>
                      <a:r>
                        <a:rPr lang="en-US" sz="1050" u="none" strike="noStrike" dirty="0">
                          <a:effectLst/>
                        </a:rPr>
                        <a:t>Acer is using both the Intel reference thermal solution (for mobile) and proprietary design (for special form factors). The Tower solution is Acer's AVAP (AVAP is Acer's assigned Vendor). </a:t>
                      </a:r>
                      <a:endParaRPr lang="en-US" sz="1050" b="0" i="0" u="none" strike="noStrike" dirty="0">
                        <a:solidFill>
                          <a:srgbClr val="000000"/>
                        </a:solidFill>
                        <a:effectLst/>
                        <a:latin typeface="Arial" panose="020B0604020202020204" pitchFamily="34" charset="0"/>
                      </a:endParaRPr>
                    </a:p>
                  </a:txBody>
                  <a:tcPr marL="0" marR="0" marT="0" marB="0"/>
                </a:tc>
                <a:tc>
                  <a:txBody>
                    <a:bodyPr/>
                    <a:lstStyle/>
                    <a:p>
                      <a:pPr marL="91440" algn="l" fontAlgn="t"/>
                      <a:r>
                        <a:rPr lang="en-US" sz="1050" u="none" strike="noStrike">
                          <a:effectLst/>
                        </a:rPr>
                        <a:t>Intel design for thermal solution</a:t>
                      </a:r>
                      <a:endParaRPr lang="en-US" sz="1050" b="0" i="0" u="none" strike="noStrike">
                        <a:solidFill>
                          <a:srgbClr val="000000"/>
                        </a:solidFill>
                        <a:effectLst/>
                        <a:latin typeface="Arial" panose="020B0604020202020204" pitchFamily="34" charset="0"/>
                      </a:endParaRPr>
                    </a:p>
                  </a:txBody>
                  <a:tcPr marL="0" marR="0" marT="0" marB="0"/>
                </a:tc>
                <a:tc>
                  <a:txBody>
                    <a:bodyPr/>
                    <a:lstStyle/>
                    <a:p>
                      <a:pPr marL="91440" algn="l" fontAlgn="t"/>
                      <a:r>
                        <a:rPr lang="en-US" sz="1050" u="none" strike="noStrike">
                          <a:effectLst/>
                        </a:rPr>
                        <a:t>Proprietary design for thermal solution</a:t>
                      </a:r>
                      <a:endParaRPr lang="en-US" sz="1050" b="0" i="0" u="none" strike="noStrike">
                        <a:solidFill>
                          <a:srgbClr val="000000"/>
                        </a:solidFill>
                        <a:effectLst/>
                        <a:latin typeface="Arial" panose="020B0604020202020204" pitchFamily="34" charset="0"/>
                      </a:endParaRPr>
                    </a:p>
                  </a:txBody>
                  <a:tcPr marL="0" marR="0" marT="0" marB="0"/>
                </a:tc>
                <a:tc>
                  <a:txBody>
                    <a:bodyPr/>
                    <a:lstStyle/>
                    <a:p>
                      <a:pPr marL="91440" algn="l" fontAlgn="t"/>
                      <a:r>
                        <a:rPr lang="en-US" sz="1050" u="none" strike="noStrike" dirty="0">
                          <a:effectLst/>
                        </a:rPr>
                        <a:t>Proprietary Design for VR</a:t>
                      </a:r>
                      <a:br>
                        <a:rPr lang="en-US" sz="1050" u="none" strike="noStrike" dirty="0">
                          <a:effectLst/>
                        </a:rPr>
                      </a:br>
                      <a:endParaRPr lang="en-US" sz="1050" u="none" strike="noStrike" dirty="0">
                        <a:effectLst/>
                      </a:endParaRPr>
                    </a:p>
                    <a:p>
                      <a:pPr marL="91440" algn="l" fontAlgn="t"/>
                      <a:r>
                        <a:rPr lang="en-US" sz="1050" u="none" strike="noStrike" dirty="0">
                          <a:effectLst/>
                        </a:rPr>
                        <a:t>Not Answered for thermal solution</a:t>
                      </a:r>
                      <a:endParaRPr lang="en-US" sz="1050" b="0" i="0" u="none" strike="noStrike" dirty="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2963251170"/>
                  </a:ext>
                </a:extLst>
              </a:tr>
              <a:tr h="124985">
                <a:tc vMerge="1">
                  <a:txBody>
                    <a:bodyPr/>
                    <a:lstStyle/>
                    <a:p>
                      <a:pPr marL="91440" algn="l"/>
                      <a:endParaRPr lang="en-MY" dirty="0"/>
                    </a:p>
                  </a:txBody>
                  <a:tcPr/>
                </a:tc>
                <a:tc>
                  <a:txBody>
                    <a:bodyPr/>
                    <a:lstStyle/>
                    <a:p>
                      <a:pPr marL="91440" algn="l" fontAlgn="t"/>
                      <a:r>
                        <a:rPr lang="en-US" sz="1050" u="none" strike="noStrike" dirty="0">
                          <a:effectLst/>
                        </a:rPr>
                        <a:t>If you use proprietary thermal solutions could you provide any further information on your thermal solution characteristics? </a:t>
                      </a:r>
                      <a:endParaRPr lang="en-US" sz="1050" b="0" i="0" u="none" strike="noStrike" dirty="0">
                        <a:solidFill>
                          <a:srgbClr val="000000"/>
                        </a:solidFill>
                        <a:effectLst/>
                        <a:latin typeface="Arial" panose="020B0604020202020204" pitchFamily="34" charset="0"/>
                      </a:endParaRPr>
                    </a:p>
                  </a:txBody>
                  <a:tcPr marL="0" marR="0" marT="0" marB="0"/>
                </a:tc>
                <a:tc>
                  <a:txBody>
                    <a:bodyPr/>
                    <a:lstStyle/>
                    <a:p>
                      <a:pPr marL="91440" algn="l" fontAlgn="t"/>
                      <a:r>
                        <a:rPr lang="en-US" sz="1050" u="none" strike="noStrike" dirty="0">
                          <a:effectLst/>
                        </a:rPr>
                        <a:t>Thermal solution characteristics are case by case</a:t>
                      </a:r>
                      <a:endParaRPr lang="en-US" sz="1050" b="0" i="0" u="none" strike="noStrike" dirty="0">
                        <a:solidFill>
                          <a:srgbClr val="000000"/>
                        </a:solidFill>
                        <a:effectLst/>
                        <a:latin typeface="Arial" panose="020B0604020202020204" pitchFamily="34" charset="0"/>
                      </a:endParaRPr>
                    </a:p>
                  </a:txBody>
                  <a:tcPr marL="0" marR="0" marT="0" marB="0"/>
                </a:tc>
                <a:tc>
                  <a:txBody>
                    <a:bodyPr/>
                    <a:lstStyle/>
                    <a:p>
                      <a:pPr marL="91440" algn="l" fontAlgn="t"/>
                      <a:r>
                        <a:rPr lang="en-US" sz="1050" u="none" strike="noStrike" dirty="0">
                          <a:effectLst/>
                        </a:rPr>
                        <a:t>Thermal solution characteristics are form factor dependent. Thermal Engineering still reviewing options. Dell doesn't have a minimum thermal solution range and they typically don't exceed 550g. But for ADL-S (125W SKU) Dell is looking at going up to a ~900g thermal solution.</a:t>
                      </a:r>
                      <a:endParaRPr lang="en-US" sz="1050" b="0" i="0" u="none" strike="noStrike" dirty="0">
                        <a:solidFill>
                          <a:srgbClr val="000000"/>
                        </a:solidFill>
                        <a:effectLst/>
                        <a:latin typeface="Arial" panose="020B0604020202020204" pitchFamily="34" charset="0"/>
                      </a:endParaRPr>
                    </a:p>
                  </a:txBody>
                  <a:tcPr marL="0" marR="0" marT="0" marB="0"/>
                </a:tc>
                <a:tc>
                  <a:txBody>
                    <a:bodyPr/>
                    <a:lstStyle/>
                    <a:p>
                      <a:pPr marL="91440" algn="l" fontAlgn="t"/>
                      <a:r>
                        <a:rPr lang="en-US" sz="1050" u="none" strike="noStrike">
                          <a:effectLst/>
                        </a:rPr>
                        <a:t>AIO (All in One) and BOX (small form factor like Intel's NUC design) will follow Intel's rules and design requirements for Thermal solution characteristicts. If no specific design, will follow NB standard design for Thermal solution.</a:t>
                      </a:r>
                      <a:endParaRPr lang="en-US" sz="1050" b="0" i="0" u="none" strike="noStrike">
                        <a:solidFill>
                          <a:srgbClr val="000000"/>
                        </a:solidFill>
                        <a:effectLst/>
                        <a:latin typeface="Arial" panose="020B0604020202020204" pitchFamily="34" charset="0"/>
                      </a:endParaRPr>
                    </a:p>
                  </a:txBody>
                  <a:tcPr marL="0" marR="0" marT="0" marB="0"/>
                </a:tc>
                <a:tc>
                  <a:txBody>
                    <a:bodyPr/>
                    <a:lstStyle/>
                    <a:p>
                      <a:pPr marL="91440" algn="l" fontAlgn="t"/>
                      <a:r>
                        <a:rPr lang="en-US" sz="1050" u="none" strike="noStrike">
                          <a:effectLst/>
                        </a:rPr>
                        <a:t>By model (Mass/Height etc.) and Center of Gravity (CG), will follow Intel's design for thermal solution</a:t>
                      </a:r>
                      <a:endParaRPr lang="en-US" sz="1050" b="0" i="0" u="none" strike="noStrike">
                        <a:solidFill>
                          <a:srgbClr val="000000"/>
                        </a:solidFill>
                        <a:effectLst/>
                        <a:latin typeface="Arial" panose="020B0604020202020204" pitchFamily="34" charset="0"/>
                      </a:endParaRPr>
                    </a:p>
                  </a:txBody>
                  <a:tcPr marL="0" marR="0" marT="0" marB="0"/>
                </a:tc>
                <a:tc>
                  <a:txBody>
                    <a:bodyPr/>
                    <a:lstStyle/>
                    <a:p>
                      <a:pPr marL="91440" algn="l" fontAlgn="t"/>
                      <a:r>
                        <a:rPr lang="en-US" sz="1050" u="none" strike="noStrike" dirty="0">
                          <a:effectLst/>
                        </a:rPr>
                        <a:t>Thermal solution </a:t>
                      </a:r>
                      <a:r>
                        <a:rPr lang="en-US" sz="1050" u="none" strike="noStrike" dirty="0" err="1">
                          <a:effectLst/>
                        </a:rPr>
                        <a:t>characteristicts</a:t>
                      </a:r>
                      <a:r>
                        <a:rPr lang="en-US" sz="1050" u="none" strike="noStrike" dirty="0">
                          <a:effectLst/>
                        </a:rPr>
                        <a:t>: aluminum design, extended heatsink, thermal pads.</a:t>
                      </a:r>
                      <a:endParaRPr lang="en-US" sz="1050" b="0" i="0" u="none" strike="noStrike" dirty="0">
                        <a:solidFill>
                          <a:srgbClr val="000000"/>
                        </a:solidFill>
                        <a:effectLst/>
                        <a:latin typeface="Arial" panose="020B0604020202020204" pitchFamily="34" charset="0"/>
                      </a:endParaRPr>
                    </a:p>
                  </a:txBody>
                  <a:tcPr marL="0" marR="0" marT="0" marB="0"/>
                </a:tc>
                <a:tc>
                  <a:txBody>
                    <a:bodyPr/>
                    <a:lstStyle/>
                    <a:p>
                      <a:pPr marL="91440" algn="l" fontAlgn="t"/>
                      <a:r>
                        <a:rPr lang="en-MY" sz="1050" u="none" strike="noStrike" dirty="0">
                          <a:effectLst/>
                        </a:rPr>
                        <a:t>Not available yet. </a:t>
                      </a:r>
                      <a:endParaRPr lang="en-MY" sz="1050" b="0" i="0" u="none" strike="noStrike" dirty="0">
                        <a:solidFill>
                          <a:srgbClr val="0000FF"/>
                        </a:solidFill>
                        <a:effectLst/>
                        <a:latin typeface="Arial" panose="020B0604020202020204" pitchFamily="34" charset="0"/>
                      </a:endParaRPr>
                    </a:p>
                  </a:txBody>
                  <a:tcPr marL="0" marR="0" marT="0" marB="0"/>
                </a:tc>
                <a:extLst>
                  <a:ext uri="{0D108BD9-81ED-4DB2-BD59-A6C34878D82A}">
                    <a16:rowId xmlns:a16="http://schemas.microsoft.com/office/drawing/2014/main" val="3493957544"/>
                  </a:ext>
                </a:extLst>
              </a:tr>
            </a:tbl>
          </a:graphicData>
        </a:graphic>
      </p:graphicFrame>
      <p:sp>
        <p:nvSpPr>
          <p:cNvPr id="5" name="Rectangle: Rounded Corners 4">
            <a:extLst>
              <a:ext uri="{FF2B5EF4-FFF2-40B4-BE49-F238E27FC236}">
                <a16:creationId xmlns:a16="http://schemas.microsoft.com/office/drawing/2014/main" id="{FF24E7E1-F721-4853-BC9B-F3FCCC42A6CA}"/>
              </a:ext>
            </a:extLst>
          </p:cNvPr>
          <p:cNvSpPr/>
          <p:nvPr/>
        </p:nvSpPr>
        <p:spPr>
          <a:xfrm>
            <a:off x="662095" y="5181789"/>
            <a:ext cx="10678583"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a:ln>
                  <a:noFill/>
                </a:ln>
                <a:solidFill>
                  <a:srgbClr val="FFFF00"/>
                </a:solidFill>
                <a:effectLst/>
                <a:uFillTx/>
                <a:latin typeface="Helvetica Neue Medium"/>
                <a:ea typeface="Helvetica Neue Medium"/>
                <a:cs typeface="Helvetica Neue Medium"/>
                <a:sym typeface="Helvetica Neue Medium"/>
              </a:rPr>
              <a:t>Key Message</a:t>
            </a:r>
            <a:endPar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endParaRP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Customers perform board level reliability testing (some also perform system level testing)</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Customers use both proprietary and Intel designs for their thermal solutions</a:t>
            </a:r>
          </a:p>
        </p:txBody>
      </p:sp>
    </p:spTree>
    <p:extLst>
      <p:ext uri="{BB962C8B-B14F-4D97-AF65-F5344CB8AC3E}">
        <p14:creationId xmlns:p14="http://schemas.microsoft.com/office/powerpoint/2010/main" val="24620516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A9707-5156-41F3-9BD6-83853633F13F}"/>
              </a:ext>
            </a:extLst>
          </p:cNvPr>
          <p:cNvSpPr>
            <a:spLocks noGrp="1"/>
          </p:cNvSpPr>
          <p:nvPr>
            <p:ph type="title"/>
          </p:nvPr>
        </p:nvSpPr>
        <p:spPr>
          <a:xfrm>
            <a:off x="607484" y="30795"/>
            <a:ext cx="10972800" cy="646538"/>
          </a:xfrm>
        </p:spPr>
        <p:txBody>
          <a:bodyPr/>
          <a:lstStyle/>
          <a:p>
            <a:r>
              <a:rPr lang="en-US" dirty="0"/>
              <a:t>Printed Circuit Board Design (9)</a:t>
            </a:r>
            <a:endParaRPr lang="en-MY" dirty="0"/>
          </a:p>
        </p:txBody>
      </p:sp>
      <p:graphicFrame>
        <p:nvGraphicFramePr>
          <p:cNvPr id="4" name="Content Placeholder 3">
            <a:extLst>
              <a:ext uri="{FF2B5EF4-FFF2-40B4-BE49-F238E27FC236}">
                <a16:creationId xmlns:a16="http://schemas.microsoft.com/office/drawing/2014/main" id="{F4C4F9EE-9506-4C4C-B40C-F4271BBF6041}"/>
              </a:ext>
            </a:extLst>
          </p:cNvPr>
          <p:cNvGraphicFramePr>
            <a:graphicFrameLocks noGrp="1"/>
          </p:cNvGraphicFramePr>
          <p:nvPr>
            <p:ph sz="quarter" idx="13"/>
            <p:extLst>
              <p:ext uri="{D42A27DB-BD31-4B8C-83A1-F6EECF244321}">
                <p14:modId xmlns:p14="http://schemas.microsoft.com/office/powerpoint/2010/main" val="963962819"/>
              </p:ext>
            </p:extLst>
          </p:nvPr>
        </p:nvGraphicFramePr>
        <p:xfrm>
          <a:off x="67732" y="588125"/>
          <a:ext cx="11650136" cy="5029200"/>
        </p:xfrm>
        <a:graphic>
          <a:graphicData uri="http://schemas.openxmlformats.org/drawingml/2006/table">
            <a:tbl>
              <a:tblPr firstRow="1" bandRow="1">
                <a:tableStyleId>{69012ECD-51FC-41F1-AA8D-1B2483CD663E}</a:tableStyleId>
              </a:tblPr>
              <a:tblGrid>
                <a:gridCol w="776131">
                  <a:extLst>
                    <a:ext uri="{9D8B030D-6E8A-4147-A177-3AD203B41FA5}">
                      <a16:colId xmlns:a16="http://schemas.microsoft.com/office/drawing/2014/main" val="1692685995"/>
                    </a:ext>
                  </a:extLst>
                </a:gridCol>
                <a:gridCol w="702978">
                  <a:extLst>
                    <a:ext uri="{9D8B030D-6E8A-4147-A177-3AD203B41FA5}">
                      <a16:colId xmlns:a16="http://schemas.microsoft.com/office/drawing/2014/main" val="784874761"/>
                    </a:ext>
                  </a:extLst>
                </a:gridCol>
                <a:gridCol w="2057533">
                  <a:extLst>
                    <a:ext uri="{9D8B030D-6E8A-4147-A177-3AD203B41FA5}">
                      <a16:colId xmlns:a16="http://schemas.microsoft.com/office/drawing/2014/main" val="1788829243"/>
                    </a:ext>
                  </a:extLst>
                </a:gridCol>
                <a:gridCol w="2561588">
                  <a:extLst>
                    <a:ext uri="{9D8B030D-6E8A-4147-A177-3AD203B41FA5}">
                      <a16:colId xmlns:a16="http://schemas.microsoft.com/office/drawing/2014/main" val="914312967"/>
                    </a:ext>
                  </a:extLst>
                </a:gridCol>
                <a:gridCol w="1031528">
                  <a:extLst>
                    <a:ext uri="{9D8B030D-6E8A-4147-A177-3AD203B41FA5}">
                      <a16:colId xmlns:a16="http://schemas.microsoft.com/office/drawing/2014/main" val="1362813313"/>
                    </a:ext>
                  </a:extLst>
                </a:gridCol>
                <a:gridCol w="1948919">
                  <a:extLst>
                    <a:ext uri="{9D8B030D-6E8A-4147-A177-3AD203B41FA5}">
                      <a16:colId xmlns:a16="http://schemas.microsoft.com/office/drawing/2014/main" val="3296549446"/>
                    </a:ext>
                  </a:extLst>
                </a:gridCol>
                <a:gridCol w="1638590">
                  <a:extLst>
                    <a:ext uri="{9D8B030D-6E8A-4147-A177-3AD203B41FA5}">
                      <a16:colId xmlns:a16="http://schemas.microsoft.com/office/drawing/2014/main" val="2579843292"/>
                    </a:ext>
                  </a:extLst>
                </a:gridCol>
                <a:gridCol w="932869">
                  <a:extLst>
                    <a:ext uri="{9D8B030D-6E8A-4147-A177-3AD203B41FA5}">
                      <a16:colId xmlns:a16="http://schemas.microsoft.com/office/drawing/2014/main" val="3841248342"/>
                    </a:ext>
                  </a:extLst>
                </a:gridCol>
              </a:tblGrid>
              <a:tr h="251565">
                <a:tc gridSpan="2">
                  <a:txBody>
                    <a:bodyPr/>
                    <a:lstStyle/>
                    <a:p>
                      <a:pPr marL="91440" algn="l" fontAlgn="t"/>
                      <a:r>
                        <a:rPr lang="en-MY" sz="1200" u="none" strike="noStrike" dirty="0">
                          <a:effectLst/>
                        </a:rPr>
                        <a:t>Area of Interest</a:t>
                      </a:r>
                      <a:endParaRPr lang="en-MY" sz="1200" b="1" i="0" u="none" strike="noStrike" dirty="0">
                        <a:solidFill>
                          <a:srgbClr val="000000"/>
                        </a:solidFill>
                        <a:effectLst/>
                        <a:latin typeface="+mn-lt"/>
                      </a:endParaRPr>
                    </a:p>
                  </a:txBody>
                  <a:tcPr marL="0" marR="0" marT="0" marB="0" anchor="ctr"/>
                </a:tc>
                <a:tc hMerge="1">
                  <a:txBody>
                    <a:bodyPr/>
                    <a:lstStyle/>
                    <a:p>
                      <a:pPr marL="91440" algn="l" fontAlgn="t"/>
                      <a:endParaRPr lang="en-MY" sz="1000" b="1" i="0" u="none" strike="noStrike" dirty="0">
                        <a:solidFill>
                          <a:srgbClr val="000000"/>
                        </a:solidFill>
                        <a:effectLst/>
                        <a:latin typeface="+mn-lt"/>
                      </a:endParaRPr>
                    </a:p>
                  </a:txBody>
                  <a:tcPr marL="0" marR="0" marT="0" marB="0"/>
                </a:tc>
                <a:tc>
                  <a:txBody>
                    <a:bodyPr/>
                    <a:lstStyle/>
                    <a:p>
                      <a:pPr marL="91440" algn="l" fontAlgn="t"/>
                      <a:r>
                        <a:rPr lang="en-MY" sz="1000" u="none" strike="noStrike" dirty="0">
                          <a:effectLst/>
                          <a:latin typeface="+mn-lt"/>
                        </a:rPr>
                        <a:t>LENOVO (MSI)</a:t>
                      </a:r>
                      <a:endParaRPr lang="en-MY" sz="1000" b="1" i="0" u="none" strike="noStrike" dirty="0">
                        <a:solidFill>
                          <a:srgbClr val="000000"/>
                        </a:solidFill>
                        <a:effectLst/>
                        <a:latin typeface="+mn-lt"/>
                      </a:endParaRPr>
                    </a:p>
                  </a:txBody>
                  <a:tcPr marL="0" marR="0" marT="0" marB="0" anchor="ctr"/>
                </a:tc>
                <a:tc>
                  <a:txBody>
                    <a:bodyPr/>
                    <a:lstStyle/>
                    <a:p>
                      <a:pPr marL="91440" algn="l" fontAlgn="t"/>
                      <a:r>
                        <a:rPr lang="en-MY" sz="1000" u="none" strike="noStrike" dirty="0">
                          <a:effectLst/>
                          <a:latin typeface="+mn-lt"/>
                        </a:rPr>
                        <a:t>DELL</a:t>
                      </a:r>
                      <a:endParaRPr lang="en-MY" sz="1000" b="1" i="0" u="none" strike="noStrike" dirty="0">
                        <a:solidFill>
                          <a:srgbClr val="000000"/>
                        </a:solidFill>
                        <a:effectLst/>
                        <a:latin typeface="+mn-lt"/>
                      </a:endParaRPr>
                    </a:p>
                  </a:txBody>
                  <a:tcPr marL="0" marR="0" marT="0" marB="0" anchor="ctr"/>
                </a:tc>
                <a:tc>
                  <a:txBody>
                    <a:bodyPr/>
                    <a:lstStyle/>
                    <a:p>
                      <a:pPr marL="91440" algn="l" fontAlgn="t"/>
                      <a:r>
                        <a:rPr lang="en-MY" sz="1000" u="none" strike="noStrike" dirty="0">
                          <a:effectLst/>
                          <a:latin typeface="+mn-lt"/>
                        </a:rPr>
                        <a:t>ACER (WISTRON)</a:t>
                      </a:r>
                      <a:endParaRPr lang="en-MY" sz="1000" b="1" i="0" u="none" strike="noStrike" dirty="0">
                        <a:solidFill>
                          <a:srgbClr val="000000"/>
                        </a:solidFill>
                        <a:effectLst/>
                        <a:latin typeface="+mn-lt"/>
                      </a:endParaRPr>
                    </a:p>
                  </a:txBody>
                  <a:tcPr marL="0" marR="0" marT="0" marB="0" anchor="ctr"/>
                </a:tc>
                <a:tc>
                  <a:txBody>
                    <a:bodyPr/>
                    <a:lstStyle/>
                    <a:p>
                      <a:pPr marL="91440" algn="l" fontAlgn="t"/>
                      <a:r>
                        <a:rPr lang="en-MY" sz="1000" u="none" strike="noStrike" dirty="0">
                          <a:effectLst/>
                          <a:latin typeface="+mn-lt"/>
                        </a:rPr>
                        <a:t>ASUSTEK</a:t>
                      </a:r>
                      <a:endParaRPr lang="en-MY" sz="1000" b="1" i="0" u="none" strike="noStrike" dirty="0">
                        <a:solidFill>
                          <a:srgbClr val="000000"/>
                        </a:solidFill>
                        <a:effectLst/>
                        <a:latin typeface="+mn-lt"/>
                      </a:endParaRPr>
                    </a:p>
                  </a:txBody>
                  <a:tcPr marL="0" marR="0" marT="0" marB="0" anchor="ctr"/>
                </a:tc>
                <a:tc>
                  <a:txBody>
                    <a:bodyPr/>
                    <a:lstStyle/>
                    <a:p>
                      <a:pPr marL="91440" algn="l" fontAlgn="t"/>
                      <a:r>
                        <a:rPr lang="en-MY" sz="1000" u="none" strike="noStrike" dirty="0">
                          <a:effectLst/>
                          <a:latin typeface="+mn-lt"/>
                        </a:rPr>
                        <a:t>MSI</a:t>
                      </a:r>
                      <a:endParaRPr lang="en-MY" sz="1000" b="1" i="0" u="none" strike="noStrike" dirty="0">
                        <a:solidFill>
                          <a:srgbClr val="000000"/>
                        </a:solidFill>
                        <a:effectLst/>
                        <a:latin typeface="+mn-lt"/>
                      </a:endParaRPr>
                    </a:p>
                  </a:txBody>
                  <a:tcPr marL="0" marR="0" marT="0" marB="0" anchor="ctr"/>
                </a:tc>
                <a:tc>
                  <a:txBody>
                    <a:bodyPr/>
                    <a:lstStyle/>
                    <a:p>
                      <a:pPr marL="91440" algn="l" fontAlgn="t"/>
                      <a:r>
                        <a:rPr lang="en-MY" sz="1000" u="none" strike="noStrike" dirty="0">
                          <a:effectLst/>
                          <a:latin typeface="+mn-lt"/>
                        </a:rPr>
                        <a:t>ASROCK</a:t>
                      </a:r>
                      <a:endParaRPr lang="en-MY" sz="1000" b="1" i="0" u="none" strike="noStrike" dirty="0">
                        <a:solidFill>
                          <a:srgbClr val="000000"/>
                        </a:solidFill>
                        <a:effectLst/>
                        <a:latin typeface="+mn-lt"/>
                      </a:endParaRPr>
                    </a:p>
                  </a:txBody>
                  <a:tcPr marL="0" marR="0" marT="0" marB="0" anchor="ctr"/>
                </a:tc>
                <a:extLst>
                  <a:ext uri="{0D108BD9-81ED-4DB2-BD59-A6C34878D82A}">
                    <a16:rowId xmlns:a16="http://schemas.microsoft.com/office/drawing/2014/main" val="3852518198"/>
                  </a:ext>
                </a:extLst>
              </a:tr>
              <a:tr h="4528173">
                <a:tc>
                  <a:txBody>
                    <a:bodyPr/>
                    <a:lstStyle/>
                    <a:p>
                      <a:pPr marL="0" algn="l"/>
                      <a:r>
                        <a:rPr lang="en-US" dirty="0"/>
                        <a:t>Reliability</a:t>
                      </a:r>
                      <a:endParaRPr lang="en-MY" dirty="0"/>
                    </a:p>
                  </a:txBody>
                  <a:tcPr/>
                </a:tc>
                <a:tc>
                  <a:txBody>
                    <a:bodyPr/>
                    <a:lstStyle/>
                    <a:p>
                      <a:pPr marL="91440" algn="l" fontAlgn="t"/>
                      <a:r>
                        <a:rPr lang="en-US" sz="1000" u="none" strike="noStrike" dirty="0">
                          <a:effectLst/>
                        </a:rPr>
                        <a:t>Which type of reliability tests and stress levels do you perform and expect to meet? Please list and describe each test.</a:t>
                      </a:r>
                      <a:endParaRPr lang="en-US" sz="1000" b="0" i="0" u="none" strike="noStrike" dirty="0">
                        <a:effectLst/>
                        <a:latin typeface="Arial" panose="020B0604020202020204" pitchFamily="34" charset="0"/>
                      </a:endParaRPr>
                    </a:p>
                  </a:txBody>
                  <a:tcPr marL="0" marR="0" marT="0" marB="0"/>
                </a:tc>
                <a:tc>
                  <a:txBody>
                    <a:bodyPr/>
                    <a:lstStyle/>
                    <a:p>
                      <a:pPr marL="91440" algn="l" fontAlgn="t"/>
                      <a:r>
                        <a:rPr lang="en-MY" sz="1000" u="none" strike="noStrike" dirty="0">
                          <a:effectLst/>
                        </a:rPr>
                        <a:t>1. </a:t>
                      </a:r>
                      <a:r>
                        <a:rPr lang="en-MY" sz="1000" u="none" strike="noStrike" dirty="0" err="1">
                          <a:effectLst/>
                        </a:rPr>
                        <a:t>Guardband</a:t>
                      </a:r>
                      <a:r>
                        <a:rPr lang="en-MY" sz="1000" u="none" strike="noStrike" dirty="0">
                          <a:effectLst/>
                        </a:rPr>
                        <a:t>: 0℃, 25℃, 60℃ </a:t>
                      </a:r>
                      <a:r>
                        <a:rPr lang="en-MY" sz="1000" u="none" strike="noStrike" dirty="0" err="1">
                          <a:effectLst/>
                        </a:rPr>
                        <a:t>Burnin</a:t>
                      </a:r>
                      <a:r>
                        <a:rPr lang="en-MY" sz="1000" u="none" strike="noStrike" dirty="0">
                          <a:effectLst/>
                        </a:rPr>
                        <a:t> for 20 mins</a:t>
                      </a:r>
                      <a:br>
                        <a:rPr lang="en-MY" sz="1000" u="none" strike="noStrike" dirty="0">
                          <a:effectLst/>
                        </a:rPr>
                      </a:br>
                      <a:r>
                        <a:rPr lang="en-MY" sz="1000" u="none" strike="noStrike" dirty="0">
                          <a:effectLst/>
                        </a:rPr>
                        <a:t>2. IC </a:t>
                      </a:r>
                      <a:r>
                        <a:rPr lang="en-MY" sz="1000" u="none" strike="noStrike" dirty="0" err="1">
                          <a:effectLst/>
                        </a:rPr>
                        <a:t>Guardband</a:t>
                      </a:r>
                      <a:r>
                        <a:rPr lang="en-MY" sz="1000" u="none" strike="noStrike" dirty="0">
                          <a:effectLst/>
                        </a:rPr>
                        <a:t> test: 0℃, 25℃, 60℃ </a:t>
                      </a:r>
                      <a:r>
                        <a:rPr lang="en-MY" sz="1000" u="none" strike="noStrike" dirty="0" err="1">
                          <a:effectLst/>
                        </a:rPr>
                        <a:t>Burnin</a:t>
                      </a:r>
                      <a:r>
                        <a:rPr lang="en-MY" sz="1000" u="none" strike="noStrike" dirty="0">
                          <a:effectLst/>
                        </a:rPr>
                        <a:t> for 1 hour</a:t>
                      </a:r>
                      <a:br>
                        <a:rPr lang="en-MY" sz="1000" u="none" strike="noStrike" dirty="0">
                          <a:effectLst/>
                        </a:rPr>
                      </a:br>
                      <a:r>
                        <a:rPr lang="en-MY" sz="1000" u="none" strike="noStrike" dirty="0">
                          <a:effectLst/>
                        </a:rPr>
                        <a:t>3. Storage temperature &amp; humidity test: -40 ~ 60 ℃ for 96 hours</a:t>
                      </a:r>
                      <a:br>
                        <a:rPr lang="en-MY" sz="1000" u="none" strike="noStrike" dirty="0">
                          <a:effectLst/>
                        </a:rPr>
                      </a:br>
                      <a:r>
                        <a:rPr lang="en-MY" sz="1000" u="none" strike="noStrike" dirty="0">
                          <a:effectLst/>
                        </a:rPr>
                        <a:t>4. System Operation Vibration Test: </a:t>
                      </a:r>
                      <a:r>
                        <a:rPr lang="en-MY" sz="1000" u="none" strike="noStrike" dirty="0" err="1">
                          <a:effectLst/>
                        </a:rPr>
                        <a:t>Grms</a:t>
                      </a:r>
                      <a:r>
                        <a:rPr lang="en-MY" sz="1000" u="none" strike="noStrike" dirty="0">
                          <a:effectLst/>
                        </a:rPr>
                        <a:t> = 0.27, 30 minutes per axes.</a:t>
                      </a:r>
                      <a:br>
                        <a:rPr lang="en-MY" sz="1000" u="none" strike="noStrike" dirty="0">
                          <a:effectLst/>
                        </a:rPr>
                      </a:br>
                      <a:r>
                        <a:rPr lang="en-MY" sz="1000" u="none" strike="noStrike" dirty="0">
                          <a:effectLst/>
                        </a:rPr>
                        <a:t>5. System Fragility Vibration Test: </a:t>
                      </a:r>
                      <a:r>
                        <a:rPr lang="en-MY" sz="1000" u="none" strike="noStrike" dirty="0" err="1">
                          <a:effectLst/>
                        </a:rPr>
                        <a:t>Grms</a:t>
                      </a:r>
                      <a:r>
                        <a:rPr lang="en-MY" sz="1000" u="none" strike="noStrike" dirty="0">
                          <a:effectLst/>
                        </a:rPr>
                        <a:t> = 1.04, 15 minutes per axes.</a:t>
                      </a:r>
                      <a:br>
                        <a:rPr lang="en-MY" sz="1000" u="none" strike="noStrike" dirty="0">
                          <a:effectLst/>
                        </a:rPr>
                      </a:br>
                      <a:r>
                        <a:rPr lang="en-MY" sz="1000" u="none" strike="noStrike" dirty="0">
                          <a:effectLst/>
                        </a:rPr>
                        <a:t>6. System Operation Shock Test: 3ms(15G) for 4 Axis (+X, -X, +Y,-Y) , 3ms(30G) for 2 Axis(+Z, -Z) ,half-sine wave, each side will do 1 times.</a:t>
                      </a:r>
                      <a:br>
                        <a:rPr lang="en-MY" sz="1000" u="none" strike="noStrike" dirty="0">
                          <a:effectLst/>
                        </a:rPr>
                      </a:br>
                      <a:r>
                        <a:rPr lang="en-MY" sz="1000" u="none" strike="noStrike" dirty="0">
                          <a:effectLst/>
                        </a:rPr>
                        <a:t>7. System Fragility Shock Test: 45G/11ms, Trapezoidal wave, 6 Sides, each side shock one time.</a:t>
                      </a:r>
                      <a:br>
                        <a:rPr lang="en-MY" sz="1000" u="none" strike="noStrike" dirty="0">
                          <a:effectLst/>
                        </a:rPr>
                      </a:br>
                      <a:r>
                        <a:rPr lang="en-MY" sz="1000" u="none" strike="noStrike" dirty="0">
                          <a:effectLst/>
                        </a:rPr>
                        <a:t>8. High/Low temperature: Run 3Dmark 8hour under 40°C / 0°C</a:t>
                      </a:r>
                    </a:p>
                    <a:p>
                      <a:pPr marL="91440" algn="l" fontAlgn="t"/>
                      <a:r>
                        <a:rPr lang="en-MY" sz="1000" u="none" strike="noStrike" dirty="0">
                          <a:effectLst/>
                        </a:rPr>
                        <a:t>9. Etc…</a:t>
                      </a:r>
                      <a:endParaRPr lang="en-MY" sz="1000" b="0" i="0" u="none" strike="noStrike" dirty="0">
                        <a:solidFill>
                          <a:srgbClr val="000000"/>
                        </a:solidFill>
                        <a:effectLst/>
                        <a:latin typeface="Arial" panose="020B0604020202020204" pitchFamily="34" charset="0"/>
                      </a:endParaRPr>
                    </a:p>
                  </a:txBody>
                  <a:tcPr marL="0" marR="0" marT="0" marB="0"/>
                </a:tc>
                <a:tc>
                  <a:txBody>
                    <a:bodyPr/>
                    <a:lstStyle/>
                    <a:p>
                      <a:pPr marL="91440" algn="l" fontAlgn="t"/>
                      <a:r>
                        <a:rPr lang="en-MY" sz="1000" u="sng" strike="noStrike" dirty="0">
                          <a:effectLst/>
                        </a:rPr>
                        <a:t>Board level</a:t>
                      </a:r>
                      <a:r>
                        <a:rPr lang="en-MY" sz="1000" u="none" strike="noStrike" dirty="0">
                          <a:effectLst/>
                        </a:rPr>
                        <a:t>:</a:t>
                      </a:r>
                      <a:br>
                        <a:rPr lang="en-MY" sz="1000" u="none" strike="noStrike" dirty="0">
                          <a:effectLst/>
                        </a:rPr>
                      </a:br>
                      <a:r>
                        <a:rPr lang="en-MY" sz="1000" u="none" strike="noStrike" dirty="0">
                          <a:effectLst/>
                        </a:rPr>
                        <a:t>1. HALT Test: Temp (-15C to 75C) with 6 minutes Dwell, Vibration (30Grms, 5min). Measuring all chains contact resistances for continuity 10 cycles. Pass criteria: no opens</a:t>
                      </a:r>
                      <a:br>
                        <a:rPr lang="en-MY" sz="1000" u="none" strike="noStrike" dirty="0">
                          <a:effectLst/>
                        </a:rPr>
                      </a:br>
                      <a:r>
                        <a:rPr lang="en-MY" sz="1000" u="none" strike="noStrike" dirty="0">
                          <a:effectLst/>
                        </a:rPr>
                        <a:t>2. Temperature/Voltage Margin Test</a:t>
                      </a:r>
                      <a:br>
                        <a:rPr lang="en-MY" sz="1000" u="none" strike="noStrike" dirty="0">
                          <a:effectLst/>
                        </a:rPr>
                      </a:br>
                      <a:r>
                        <a:rPr lang="en-MY" sz="1000" u="none" strike="noStrike" dirty="0">
                          <a:effectLst/>
                        </a:rPr>
                        <a:t>3. Hot &amp; Cold Operation (40C 24hsr, 0C 24hrs)</a:t>
                      </a:r>
                      <a:br>
                        <a:rPr lang="en-MY" sz="1000" u="none" strike="noStrike" dirty="0">
                          <a:effectLst/>
                        </a:rPr>
                      </a:br>
                      <a:r>
                        <a:rPr lang="en-MY" sz="1000" u="none" strike="noStrike" dirty="0">
                          <a:effectLst/>
                        </a:rPr>
                        <a:t>4. High Humidity Operation (32C 80% 24hrs)</a:t>
                      </a:r>
                      <a:br>
                        <a:rPr lang="en-MY" sz="1000" u="none" strike="noStrike" dirty="0">
                          <a:effectLst/>
                        </a:rPr>
                      </a:br>
                      <a:r>
                        <a:rPr lang="en-MY" sz="1000" u="none" strike="noStrike" dirty="0">
                          <a:effectLst/>
                        </a:rPr>
                        <a:t>5. Power Cycling Test (40C 80% 1650 cycles , 0C 1650 cycles)</a:t>
                      </a:r>
                      <a:br>
                        <a:rPr lang="en-MY" sz="1000" u="none" strike="noStrike" dirty="0">
                          <a:effectLst/>
                        </a:rPr>
                      </a:br>
                      <a:r>
                        <a:rPr lang="en-MY" sz="1000" u="none" strike="noStrike" dirty="0">
                          <a:effectLst/>
                        </a:rPr>
                        <a:t>6. Thermal Cycling: Temp (0C to 100C), 1000 cycles. </a:t>
                      </a:r>
                      <a:br>
                        <a:rPr lang="en-MY" sz="1000" u="none" strike="noStrike" dirty="0">
                          <a:effectLst/>
                        </a:rPr>
                      </a:br>
                      <a:r>
                        <a:rPr lang="en-MY" sz="1000" u="none" strike="noStrike" dirty="0">
                          <a:effectLst/>
                        </a:rPr>
                        <a:t>Measuring all chains contact resistance for continuity. Pass criteria: no opens.</a:t>
                      </a:r>
                      <a:br>
                        <a:rPr lang="en-MY" sz="1000" u="none" strike="noStrike" dirty="0">
                          <a:effectLst/>
                        </a:rPr>
                      </a:br>
                      <a:br>
                        <a:rPr lang="en-MY" sz="1000" u="none" strike="noStrike" dirty="0">
                          <a:effectLst/>
                        </a:rPr>
                      </a:br>
                      <a:r>
                        <a:rPr lang="en-MY" sz="1000" u="sng" strike="noStrike" dirty="0">
                          <a:effectLst/>
                        </a:rPr>
                        <a:t>System level</a:t>
                      </a:r>
                      <a:r>
                        <a:rPr lang="en-MY" sz="1000" u="none" strike="noStrike" dirty="0">
                          <a:effectLst/>
                        </a:rPr>
                        <a:t>:</a:t>
                      </a:r>
                      <a:br>
                        <a:rPr lang="en-MY" sz="1000" u="none" strike="noStrike" dirty="0">
                          <a:effectLst/>
                        </a:rPr>
                      </a:br>
                      <a:r>
                        <a:rPr lang="en-MY" sz="1000" u="none" strike="noStrike" dirty="0">
                          <a:effectLst/>
                        </a:rPr>
                        <a:t>1. Non-Operational Random Vibration (1.37Grms, 15min)</a:t>
                      </a:r>
                      <a:br>
                        <a:rPr lang="en-MY" sz="1000" u="none" strike="noStrike" dirty="0">
                          <a:effectLst/>
                        </a:rPr>
                      </a:br>
                      <a:r>
                        <a:rPr lang="en-MY" sz="1000" u="none" strike="noStrike" dirty="0">
                          <a:effectLst/>
                        </a:rPr>
                        <a:t>2. Non-Op Half Sine Shock Test (105G,2ms)</a:t>
                      </a:r>
                      <a:br>
                        <a:rPr lang="en-MY" sz="1000" u="none" strike="noStrike" dirty="0">
                          <a:effectLst/>
                        </a:rPr>
                      </a:br>
                      <a:r>
                        <a:rPr lang="en-MY" sz="1000" u="none" strike="noStrike" dirty="0">
                          <a:effectLst/>
                        </a:rPr>
                        <a:t>3. Strain Measurement Test </a:t>
                      </a:r>
                      <a:r>
                        <a:rPr lang="en-MY" sz="1000" u="none" strike="noStrike" dirty="0" err="1">
                          <a:effectLst/>
                        </a:rPr>
                        <a:t>SetUp</a:t>
                      </a:r>
                      <a:r>
                        <a:rPr lang="en-MY" sz="1000" u="none" strike="noStrike" dirty="0">
                          <a:effectLst/>
                        </a:rPr>
                        <a:t> (105G,2ms)</a:t>
                      </a:r>
                      <a:br>
                        <a:rPr lang="en-MY" sz="1000" u="none" strike="noStrike" dirty="0">
                          <a:effectLst/>
                        </a:rPr>
                      </a:br>
                      <a:r>
                        <a:rPr lang="en-MY" sz="1000" u="none" strike="noStrike" dirty="0">
                          <a:effectLst/>
                        </a:rPr>
                        <a:t>4. Hot &amp; Cold Operation (40C 24hsr, 0C 24hrs)</a:t>
                      </a:r>
                      <a:br>
                        <a:rPr lang="en-MY" sz="1000" u="none" strike="noStrike" dirty="0">
                          <a:effectLst/>
                        </a:rPr>
                      </a:br>
                      <a:r>
                        <a:rPr lang="en-MY" sz="1000" u="none" strike="noStrike" dirty="0">
                          <a:effectLst/>
                        </a:rPr>
                        <a:t>5. High Humidity Operation (32C 80% 24hrs)</a:t>
                      </a:r>
                      <a:br>
                        <a:rPr lang="en-MY" sz="1000" u="none" strike="noStrike" dirty="0">
                          <a:effectLst/>
                        </a:rPr>
                      </a:br>
                      <a:r>
                        <a:rPr lang="en-MY" sz="1000" u="none" strike="noStrike" dirty="0">
                          <a:effectLst/>
                        </a:rPr>
                        <a:t>6. Power Cycling Test (40C 80% 1650 cycles, 0C 1650 cycles)</a:t>
                      </a:r>
                      <a:endParaRPr lang="en-MY" sz="1000" b="0" i="0" u="none" strike="noStrike" dirty="0">
                        <a:solidFill>
                          <a:srgbClr val="000000"/>
                        </a:solidFill>
                        <a:effectLst/>
                        <a:latin typeface="Arial" panose="020B0604020202020204" pitchFamily="34" charset="0"/>
                      </a:endParaRPr>
                    </a:p>
                  </a:txBody>
                  <a:tcPr marL="0" marR="0" marT="0" marB="0"/>
                </a:tc>
                <a:tc>
                  <a:txBody>
                    <a:bodyPr/>
                    <a:lstStyle/>
                    <a:p>
                      <a:pPr marL="91440" algn="l" fontAlgn="t"/>
                      <a:r>
                        <a:rPr lang="en-US" sz="1000" u="none" strike="noStrike" dirty="0">
                          <a:effectLst/>
                        </a:rPr>
                        <a:t>Both reliability tests and stress levels</a:t>
                      </a:r>
                      <a:br>
                        <a:rPr lang="en-US" sz="1000" u="none" strike="noStrike" dirty="0">
                          <a:effectLst/>
                        </a:rPr>
                      </a:br>
                      <a:br>
                        <a:rPr lang="en-US" sz="1000" u="none" strike="noStrike" dirty="0">
                          <a:effectLst/>
                        </a:rPr>
                      </a:br>
                      <a:r>
                        <a:rPr lang="en-US" sz="1000" u="none" strike="noStrike" dirty="0">
                          <a:effectLst/>
                        </a:rPr>
                        <a:t>Acer will provide additional details, and Intel can then provide the feedback </a:t>
                      </a:r>
                      <a:r>
                        <a:rPr lang="en-US" sz="1000" u="none" strike="noStrike" dirty="0">
                          <a:solidFill>
                            <a:srgbClr val="FF0000"/>
                          </a:solidFill>
                          <a:effectLst>
                            <a:outerShdw blurRad="38100" dist="38100" dir="2700000" algn="tl">
                              <a:srgbClr val="000000">
                                <a:alpha val="43137"/>
                              </a:srgbClr>
                            </a:outerShdw>
                          </a:effectLst>
                        </a:rPr>
                        <a:t>(Mak to follow up w/ Morris Yang).</a:t>
                      </a:r>
                      <a:endParaRPr lang="en-US" sz="1000" b="0" i="0" u="none" strike="noStrike" dirty="0">
                        <a:solidFill>
                          <a:srgbClr val="FF0000"/>
                        </a:solidFill>
                        <a:effectLst>
                          <a:outerShdw blurRad="38100" dist="38100" dir="2700000" algn="tl">
                            <a:srgbClr val="000000">
                              <a:alpha val="43137"/>
                            </a:srgbClr>
                          </a:outerShdw>
                        </a:effectLst>
                        <a:latin typeface="Arial" panose="020B0604020202020204" pitchFamily="34" charset="0"/>
                      </a:endParaRPr>
                    </a:p>
                  </a:txBody>
                  <a:tcPr marL="0" marR="0" marT="0" marB="0"/>
                </a:tc>
                <a:tc>
                  <a:txBody>
                    <a:bodyPr/>
                    <a:lstStyle/>
                    <a:p>
                      <a:pPr marL="91440" algn="l" fontAlgn="t"/>
                      <a:r>
                        <a:rPr lang="en-MY" sz="1000" u="none" strike="noStrike" dirty="0">
                          <a:effectLst/>
                        </a:rPr>
                        <a:t>1. Non-Operation Shock Test:</a:t>
                      </a:r>
                      <a:br>
                        <a:rPr lang="en-MY" sz="1000" u="none" strike="noStrike" dirty="0">
                          <a:effectLst/>
                        </a:rPr>
                      </a:br>
                      <a:r>
                        <a:rPr lang="en-MY" sz="1000" u="none" strike="noStrike" dirty="0">
                          <a:effectLst/>
                        </a:rPr>
                        <a:t>Trapezoidal Shock (Square Wave Shock)</a:t>
                      </a:r>
                      <a:br>
                        <a:rPr lang="en-MY" sz="1000" u="none" strike="noStrike" dirty="0">
                          <a:effectLst/>
                        </a:rPr>
                      </a:br>
                      <a:r>
                        <a:rPr lang="en-MY" sz="1000" u="none" strike="noStrike" dirty="0">
                          <a:effectLst/>
                        </a:rPr>
                        <a:t>    a) Maximum faired acceleration: 50G</a:t>
                      </a:r>
                      <a:br>
                        <a:rPr lang="en-MY" sz="1000" u="none" strike="noStrike" dirty="0">
                          <a:effectLst/>
                        </a:rPr>
                      </a:br>
                      <a:r>
                        <a:rPr lang="en-MY" sz="1000" u="none" strike="noStrike" dirty="0">
                          <a:effectLst/>
                        </a:rPr>
                        <a:t>    b) Velocity change: 170 inches/sec</a:t>
                      </a:r>
                      <a:br>
                        <a:rPr lang="en-MY" sz="1000" u="none" strike="noStrike" dirty="0">
                          <a:effectLst/>
                        </a:rPr>
                      </a:br>
                      <a:r>
                        <a:rPr lang="en-MY" sz="1000" u="none" strike="noStrike" dirty="0">
                          <a:effectLst/>
                        </a:rPr>
                        <a:t>    c) Test direction: 6 orientation face</a:t>
                      </a:r>
                      <a:br>
                        <a:rPr lang="en-MY" sz="1000" u="none" strike="noStrike" dirty="0">
                          <a:effectLst/>
                        </a:rPr>
                      </a:br>
                      <a:r>
                        <a:rPr lang="en-MY" sz="1000" u="none" strike="noStrike" dirty="0">
                          <a:effectLst/>
                        </a:rPr>
                        <a:t>2. Non-Operation Vibration Test:</a:t>
                      </a:r>
                      <a:br>
                        <a:rPr lang="en-MY" sz="1000" u="none" strike="noStrike" dirty="0">
                          <a:effectLst/>
                        </a:rPr>
                      </a:br>
                      <a:r>
                        <a:rPr lang="en-MY" sz="1000" u="none" strike="noStrike" dirty="0">
                          <a:effectLst/>
                        </a:rPr>
                        <a:t>    Non Operating Random Mode</a:t>
                      </a:r>
                      <a:br>
                        <a:rPr lang="en-MY" sz="1000" u="none" strike="noStrike" dirty="0">
                          <a:effectLst/>
                        </a:rPr>
                      </a:br>
                      <a:r>
                        <a:rPr lang="en-MY" sz="1000" u="none" strike="noStrike" dirty="0">
                          <a:effectLst/>
                        </a:rPr>
                        <a:t>    a) Axis: X, Y and Z.</a:t>
                      </a:r>
                      <a:br>
                        <a:rPr lang="en-MY" sz="1000" u="none" strike="noStrike" dirty="0">
                          <a:effectLst/>
                        </a:rPr>
                      </a:br>
                      <a:r>
                        <a:rPr lang="en-MY" sz="1000" u="none" strike="noStrike" dirty="0">
                          <a:effectLst/>
                        </a:rPr>
                        <a:t>    b) Fixture used (wooden or plastic): fasten the unit to the table.</a:t>
                      </a:r>
                      <a:br>
                        <a:rPr lang="en-MY" sz="1000" u="none" strike="noStrike" dirty="0">
                          <a:effectLst/>
                        </a:rPr>
                      </a:br>
                      <a:r>
                        <a:rPr lang="en-MY" sz="1000" u="none" strike="noStrike" dirty="0">
                          <a:effectLst/>
                        </a:rPr>
                        <a:t>    c) 10 min/axis</a:t>
                      </a:r>
                      <a:br>
                        <a:rPr lang="en-MY" sz="1000" u="none" strike="noStrike" dirty="0">
                          <a:effectLst/>
                        </a:rPr>
                      </a:br>
                      <a:br>
                        <a:rPr lang="en-MY" sz="1000" u="none" strike="noStrike" dirty="0">
                          <a:effectLst/>
                        </a:rPr>
                      </a:br>
                      <a:r>
                        <a:rPr lang="en-MY" sz="1000" u="none" strike="noStrike" dirty="0">
                          <a:effectLst/>
                        </a:rPr>
                        <a:t>Vibration Frequency Levels Tested:</a:t>
                      </a:r>
                      <a:br>
                        <a:rPr lang="en-MY" sz="1000" u="none" strike="noStrike" dirty="0">
                          <a:effectLst/>
                        </a:rPr>
                      </a:br>
                      <a:r>
                        <a:rPr lang="en-MY" sz="1000" u="none" strike="noStrike" dirty="0">
                          <a:effectLst/>
                        </a:rPr>
                        <a:t>    1) 5 Hz (Frequency), "-" dB/Oct (Slope), 0.01 G squared/Hz (PSD)</a:t>
                      </a:r>
                      <a:br>
                        <a:rPr lang="en-MY" sz="1000" u="none" strike="noStrike" dirty="0">
                          <a:effectLst/>
                        </a:rPr>
                      </a:br>
                      <a:r>
                        <a:rPr lang="en-MY" sz="1000" u="none" strike="noStrike" dirty="0">
                          <a:effectLst/>
                        </a:rPr>
                        <a:t>    2) 20 to 500 Hz (Frequency), "-" dB/Oct (Slope), 0.02 G squared/Hz (PSD)</a:t>
                      </a:r>
                      <a:br>
                        <a:rPr lang="en-MY" sz="1000" u="none" strike="noStrike" dirty="0">
                          <a:effectLst/>
                        </a:rPr>
                      </a:br>
                      <a:br>
                        <a:rPr lang="en-MY" sz="1000" u="none" strike="noStrike" dirty="0">
                          <a:effectLst/>
                        </a:rPr>
                      </a:br>
                      <a:r>
                        <a:rPr lang="en-MY" sz="1000" u="none" strike="noStrike" dirty="0">
                          <a:effectLst/>
                        </a:rPr>
                        <a:t>3. Thermal Shock Test</a:t>
                      </a:r>
                      <a:br>
                        <a:rPr lang="en-MY" sz="1000" u="none" strike="noStrike" dirty="0">
                          <a:effectLst/>
                        </a:rPr>
                      </a:br>
                      <a:r>
                        <a:rPr lang="en-MY" sz="1000" u="none" strike="noStrike" dirty="0">
                          <a:effectLst/>
                        </a:rPr>
                        <a:t>    Non-OP: -40℃~85℃, 1.5hr/cycle, 27 cycles</a:t>
                      </a:r>
                      <a:endParaRPr lang="en-MY" sz="1000" b="0" i="0" u="none" strike="noStrike" dirty="0">
                        <a:solidFill>
                          <a:srgbClr val="000000"/>
                        </a:solidFill>
                        <a:effectLst/>
                        <a:latin typeface="Arial" panose="020B0604020202020204" pitchFamily="34" charset="0"/>
                      </a:endParaRPr>
                    </a:p>
                  </a:txBody>
                  <a:tcPr marL="0" marR="0" marT="0" marB="0"/>
                </a:tc>
                <a:tc>
                  <a:txBody>
                    <a:bodyPr/>
                    <a:lstStyle/>
                    <a:p>
                      <a:pPr marL="320040" indent="-228600" algn="l" fontAlgn="t">
                        <a:buFont typeface="+mj-lt"/>
                        <a:buAutoNum type="arabicPeriod"/>
                      </a:pPr>
                      <a:r>
                        <a:rPr lang="en-MY" sz="1000" u="none" strike="noStrike" dirty="0">
                          <a:effectLst/>
                        </a:rPr>
                        <a:t>Windows Shutdown</a:t>
                      </a:r>
                    </a:p>
                    <a:p>
                      <a:pPr marL="320040" indent="-228600" algn="l" fontAlgn="t">
                        <a:buFont typeface="+mj-lt"/>
                        <a:buAutoNum type="arabicPeriod"/>
                      </a:pPr>
                      <a:r>
                        <a:rPr lang="en-MY" sz="1000" u="none" strike="noStrike" dirty="0" err="1">
                          <a:effectLst/>
                        </a:rPr>
                        <a:t>Xcopy</a:t>
                      </a:r>
                      <a:endParaRPr lang="en-MY" sz="1000" u="none" strike="noStrike" dirty="0">
                        <a:effectLst/>
                      </a:endParaRPr>
                    </a:p>
                    <a:p>
                      <a:pPr marL="320040" indent="-228600" algn="l" fontAlgn="t">
                        <a:buFont typeface="+mj-lt"/>
                        <a:buAutoNum type="arabicPeriod"/>
                      </a:pPr>
                      <a:r>
                        <a:rPr lang="en-MY" sz="1000" u="none" strike="noStrike" dirty="0">
                          <a:effectLst/>
                        </a:rPr>
                        <a:t>Heaven Benchmark</a:t>
                      </a:r>
                    </a:p>
                    <a:p>
                      <a:pPr marL="320040" indent="-228600" algn="l" fontAlgn="t">
                        <a:buFont typeface="+mj-lt"/>
                        <a:buAutoNum type="arabicPeriod"/>
                      </a:pPr>
                      <a:r>
                        <a:rPr lang="en-MY" sz="1000" u="none" strike="noStrike" dirty="0">
                          <a:effectLst/>
                        </a:rPr>
                        <a:t>3DMark</a:t>
                      </a:r>
                    </a:p>
                    <a:p>
                      <a:pPr marL="320040" indent="-228600" algn="l" fontAlgn="t">
                        <a:buFont typeface="+mj-lt"/>
                        <a:buAutoNum type="arabicPeriod"/>
                      </a:pPr>
                      <a:r>
                        <a:rPr lang="en-MY" sz="1000" u="none" strike="noStrike" dirty="0">
                          <a:effectLst/>
                        </a:rPr>
                        <a:t>Windows reboot</a:t>
                      </a:r>
                    </a:p>
                    <a:p>
                      <a:pPr marL="320040" indent="-228600" algn="l" fontAlgn="t">
                        <a:buFont typeface="+mj-lt"/>
                        <a:buAutoNum type="arabicPeriod"/>
                      </a:pPr>
                      <a:r>
                        <a:rPr lang="en-MY" sz="1000" u="none" strike="noStrike" dirty="0">
                          <a:effectLst/>
                        </a:rPr>
                        <a:t>S3</a:t>
                      </a:r>
                    </a:p>
                    <a:p>
                      <a:pPr marL="320040" indent="-228600" algn="l" fontAlgn="t">
                        <a:buFont typeface="+mj-lt"/>
                        <a:buAutoNum type="arabicPeriod"/>
                      </a:pPr>
                      <a:r>
                        <a:rPr lang="en-MY" sz="1000" u="none" strike="noStrike" dirty="0">
                          <a:effectLst/>
                        </a:rPr>
                        <a:t>Shock 10 times</a:t>
                      </a:r>
                    </a:p>
                    <a:p>
                      <a:pPr marL="320040" indent="-228600" algn="l" fontAlgn="t">
                        <a:buFont typeface="+mj-lt"/>
                        <a:buAutoNum type="arabicPeriod"/>
                      </a:pPr>
                      <a:r>
                        <a:rPr lang="en-MY" sz="1000" u="none" strike="noStrike" dirty="0">
                          <a:effectLst/>
                        </a:rPr>
                        <a:t>Vibration (X, Y, Z) 0.5 hrs</a:t>
                      </a:r>
                    </a:p>
                    <a:p>
                      <a:pPr marL="320040" indent="-228600" algn="l" fontAlgn="t">
                        <a:buFont typeface="+mj-lt"/>
                        <a:buAutoNum type="arabicPeriod"/>
                      </a:pPr>
                      <a:r>
                        <a:rPr lang="en-MY" sz="1000" u="none" strike="noStrike" dirty="0">
                          <a:effectLst/>
                        </a:rPr>
                        <a:t>etc...</a:t>
                      </a:r>
                      <a:endParaRPr lang="en-MY" sz="1000" b="0" i="0" u="none" strike="noStrike" dirty="0">
                        <a:solidFill>
                          <a:srgbClr val="000000"/>
                        </a:solidFill>
                        <a:effectLst/>
                        <a:latin typeface="Arial" panose="020B0604020202020204" pitchFamily="34" charset="0"/>
                      </a:endParaRPr>
                    </a:p>
                  </a:txBody>
                  <a:tcPr marL="0" marR="0" marT="0" marB="0"/>
                </a:tc>
                <a:tc>
                  <a:txBody>
                    <a:bodyPr/>
                    <a:lstStyle/>
                    <a:p>
                      <a:pPr marL="320040" indent="-228600" algn="l" fontAlgn="t">
                        <a:buFont typeface="+mj-lt"/>
                        <a:buAutoNum type="arabicPeriod"/>
                      </a:pPr>
                      <a:r>
                        <a:rPr lang="en-MY" sz="1000" u="none" strike="noStrike" dirty="0">
                          <a:effectLst/>
                        </a:rPr>
                        <a:t>Shock</a:t>
                      </a:r>
                    </a:p>
                    <a:p>
                      <a:pPr marL="320040" indent="-228600" algn="l" fontAlgn="t">
                        <a:buFont typeface="+mj-lt"/>
                        <a:buAutoNum type="arabicPeriod"/>
                      </a:pPr>
                      <a:r>
                        <a:rPr lang="en-MY" sz="1000" u="none" strike="noStrike" dirty="0">
                          <a:effectLst/>
                        </a:rPr>
                        <a:t>Vibration</a:t>
                      </a:r>
                      <a:endParaRPr lang="en-MY" sz="1000" b="0" i="0" u="none" strike="noStrike" dirty="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504902122"/>
                  </a:ext>
                </a:extLst>
              </a:tr>
            </a:tbl>
          </a:graphicData>
        </a:graphic>
      </p:graphicFrame>
      <p:sp>
        <p:nvSpPr>
          <p:cNvPr id="5" name="Rectangle: Rounded Corners 4">
            <a:extLst>
              <a:ext uri="{FF2B5EF4-FFF2-40B4-BE49-F238E27FC236}">
                <a16:creationId xmlns:a16="http://schemas.microsoft.com/office/drawing/2014/main" id="{6BC95783-5EB4-4683-BE0C-489110D68772}"/>
              </a:ext>
            </a:extLst>
          </p:cNvPr>
          <p:cNvSpPr/>
          <p:nvPr/>
        </p:nvSpPr>
        <p:spPr>
          <a:xfrm>
            <a:off x="662095" y="5724491"/>
            <a:ext cx="10678583" cy="726440"/>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a:ln>
                  <a:noFill/>
                </a:ln>
                <a:solidFill>
                  <a:srgbClr val="FFFF00"/>
                </a:solidFill>
                <a:effectLst/>
                <a:uFillTx/>
                <a:latin typeface="Helvetica Neue Medium"/>
                <a:ea typeface="Helvetica Neue Medium"/>
                <a:cs typeface="Helvetica Neue Medium"/>
                <a:sym typeface="Helvetica Neue Medium"/>
              </a:rPr>
              <a:t>Key Message</a:t>
            </a:r>
            <a:endPar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endParaRP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Customers perform vary different reliability tests</a:t>
            </a:r>
          </a:p>
        </p:txBody>
      </p:sp>
      <p:sp>
        <p:nvSpPr>
          <p:cNvPr id="6" name="Action Button: Go Home 5">
            <a:hlinkClick r:id="rId2" action="ppaction://hlinksldjump" highlightClick="1"/>
            <a:extLst>
              <a:ext uri="{FF2B5EF4-FFF2-40B4-BE49-F238E27FC236}">
                <a16:creationId xmlns:a16="http://schemas.microsoft.com/office/drawing/2014/main" id="{2B773A1A-904C-4A4A-8BA2-C6FCE23C47C5}"/>
              </a:ext>
            </a:extLst>
          </p:cNvPr>
          <p:cNvSpPr/>
          <p:nvPr/>
        </p:nvSpPr>
        <p:spPr>
          <a:xfrm>
            <a:off x="11399520" y="91440"/>
            <a:ext cx="487680" cy="451311"/>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7911340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5CB22F-1585-4B71-A3DF-F8ABE2DF102D}"/>
              </a:ext>
            </a:extLst>
          </p:cNvPr>
          <p:cNvSpPr>
            <a:spLocks noGrp="1"/>
          </p:cNvSpPr>
          <p:nvPr>
            <p:ph type="title"/>
          </p:nvPr>
        </p:nvSpPr>
        <p:spPr>
          <a:xfrm>
            <a:off x="609600" y="177801"/>
            <a:ext cx="10972800" cy="541867"/>
          </a:xfrm>
        </p:spPr>
        <p:txBody>
          <a:bodyPr/>
          <a:lstStyle/>
          <a:p>
            <a:r>
              <a:rPr lang="en-US" dirty="0"/>
              <a:t>PCBA Factory Automation</a:t>
            </a:r>
            <a:endParaRPr lang="en-MY" dirty="0"/>
          </a:p>
        </p:txBody>
      </p:sp>
      <p:graphicFrame>
        <p:nvGraphicFramePr>
          <p:cNvPr id="8" name="Content Placeholder 7">
            <a:extLst>
              <a:ext uri="{FF2B5EF4-FFF2-40B4-BE49-F238E27FC236}">
                <a16:creationId xmlns:a16="http://schemas.microsoft.com/office/drawing/2014/main" id="{3DA13079-6758-4EFF-AEBB-FE1EDE7E3765}"/>
              </a:ext>
            </a:extLst>
          </p:cNvPr>
          <p:cNvGraphicFramePr>
            <a:graphicFrameLocks noGrp="1"/>
          </p:cNvGraphicFramePr>
          <p:nvPr>
            <p:ph sz="quarter" idx="13"/>
            <p:extLst>
              <p:ext uri="{D42A27DB-BD31-4B8C-83A1-F6EECF244321}">
                <p14:modId xmlns:p14="http://schemas.microsoft.com/office/powerpoint/2010/main" val="2655794108"/>
              </p:ext>
            </p:extLst>
          </p:nvPr>
        </p:nvGraphicFramePr>
        <p:xfrm>
          <a:off x="609600" y="940005"/>
          <a:ext cx="10345480" cy="3657600"/>
        </p:xfrm>
        <a:graphic>
          <a:graphicData uri="http://schemas.openxmlformats.org/drawingml/2006/table">
            <a:tbl>
              <a:tblPr firstRow="1" bandRow="1">
                <a:tableStyleId>{69012ECD-51FC-41F1-AA8D-1B2483CD663E}</a:tableStyleId>
              </a:tblPr>
              <a:tblGrid>
                <a:gridCol w="2069096">
                  <a:extLst>
                    <a:ext uri="{9D8B030D-6E8A-4147-A177-3AD203B41FA5}">
                      <a16:colId xmlns:a16="http://schemas.microsoft.com/office/drawing/2014/main" val="2173975995"/>
                    </a:ext>
                  </a:extLst>
                </a:gridCol>
                <a:gridCol w="2069096">
                  <a:extLst>
                    <a:ext uri="{9D8B030D-6E8A-4147-A177-3AD203B41FA5}">
                      <a16:colId xmlns:a16="http://schemas.microsoft.com/office/drawing/2014/main" val="1549203531"/>
                    </a:ext>
                  </a:extLst>
                </a:gridCol>
                <a:gridCol w="2069096">
                  <a:extLst>
                    <a:ext uri="{9D8B030D-6E8A-4147-A177-3AD203B41FA5}">
                      <a16:colId xmlns:a16="http://schemas.microsoft.com/office/drawing/2014/main" val="4207180010"/>
                    </a:ext>
                  </a:extLst>
                </a:gridCol>
                <a:gridCol w="1945070">
                  <a:extLst>
                    <a:ext uri="{9D8B030D-6E8A-4147-A177-3AD203B41FA5}">
                      <a16:colId xmlns:a16="http://schemas.microsoft.com/office/drawing/2014/main" val="2753957784"/>
                    </a:ext>
                  </a:extLst>
                </a:gridCol>
                <a:gridCol w="2193122">
                  <a:extLst>
                    <a:ext uri="{9D8B030D-6E8A-4147-A177-3AD203B41FA5}">
                      <a16:colId xmlns:a16="http://schemas.microsoft.com/office/drawing/2014/main" val="2824479300"/>
                    </a:ext>
                  </a:extLst>
                </a:gridCol>
              </a:tblGrid>
              <a:tr h="134307">
                <a:tc>
                  <a:txBody>
                    <a:bodyPr/>
                    <a:lstStyle/>
                    <a:p>
                      <a:pPr marL="91440" algn="l" rtl="0" fontAlgn="ctr"/>
                      <a:r>
                        <a:rPr lang="en-US" sz="1600" u="none" strike="noStrike" dirty="0">
                          <a:effectLst/>
                        </a:rPr>
                        <a:t>Process</a:t>
                      </a:r>
                      <a:endParaRPr lang="en-MY" sz="1600" b="1" i="0" u="none" strike="noStrike" dirty="0">
                        <a:solidFill>
                          <a:srgbClr val="FFFFFF"/>
                        </a:solidFill>
                        <a:effectLst/>
                        <a:latin typeface="+mn-lt"/>
                      </a:endParaRPr>
                    </a:p>
                  </a:txBody>
                  <a:tcPr marL="0" marR="0" marT="0" marB="0"/>
                </a:tc>
                <a:tc>
                  <a:txBody>
                    <a:bodyPr/>
                    <a:lstStyle/>
                    <a:p>
                      <a:pPr marL="91440" algn="l" rtl="0" fontAlgn="ctr"/>
                      <a:r>
                        <a:rPr lang="en-MY" sz="1600" u="none" strike="noStrike" dirty="0">
                          <a:effectLst/>
                        </a:rPr>
                        <a:t>ECS</a:t>
                      </a:r>
                      <a:endParaRPr lang="en-MY" sz="1600" b="1" i="0" u="none" strike="noStrike" dirty="0">
                        <a:solidFill>
                          <a:srgbClr val="FFFFFF"/>
                        </a:solidFill>
                        <a:effectLst/>
                        <a:latin typeface="+mn-lt"/>
                      </a:endParaRPr>
                    </a:p>
                  </a:txBody>
                  <a:tcPr marL="0" marR="0" marT="0" marB="0"/>
                </a:tc>
                <a:tc>
                  <a:txBody>
                    <a:bodyPr/>
                    <a:lstStyle/>
                    <a:p>
                      <a:pPr marL="91440" algn="l" rtl="0" fontAlgn="ctr"/>
                      <a:r>
                        <a:rPr lang="en-MY" sz="1600" u="none" strike="noStrike">
                          <a:effectLst/>
                        </a:rPr>
                        <a:t>LCFC</a:t>
                      </a:r>
                      <a:endParaRPr lang="en-MY" sz="1600" b="1" i="0" u="none" strike="noStrike">
                        <a:solidFill>
                          <a:srgbClr val="FFFFFF"/>
                        </a:solidFill>
                        <a:effectLst/>
                        <a:latin typeface="+mn-lt"/>
                      </a:endParaRPr>
                    </a:p>
                  </a:txBody>
                  <a:tcPr marL="0" marR="0" marT="0" marB="0"/>
                </a:tc>
                <a:tc>
                  <a:txBody>
                    <a:bodyPr/>
                    <a:lstStyle/>
                    <a:p>
                      <a:pPr marL="91440" algn="l" rtl="0" fontAlgn="ctr"/>
                      <a:r>
                        <a:rPr lang="en-MY" sz="1600" u="none" strike="noStrike">
                          <a:effectLst/>
                        </a:rPr>
                        <a:t>FXWH</a:t>
                      </a:r>
                      <a:endParaRPr lang="en-MY" sz="1600" b="1" i="0" u="none" strike="noStrike">
                        <a:solidFill>
                          <a:srgbClr val="FFFFFF"/>
                        </a:solidFill>
                        <a:effectLst/>
                        <a:latin typeface="+mn-lt"/>
                      </a:endParaRPr>
                    </a:p>
                  </a:txBody>
                  <a:tcPr marL="0" marR="0" marT="0" marB="0"/>
                </a:tc>
                <a:tc>
                  <a:txBody>
                    <a:bodyPr/>
                    <a:lstStyle/>
                    <a:p>
                      <a:pPr marL="91440" algn="l" rtl="0" fontAlgn="ctr"/>
                      <a:r>
                        <a:rPr lang="en-MY" sz="1600" u="none" strike="noStrike">
                          <a:effectLst/>
                        </a:rPr>
                        <a:t>LITEON</a:t>
                      </a:r>
                      <a:endParaRPr lang="en-MY" sz="1600" b="1" i="0" u="none" strike="noStrike">
                        <a:solidFill>
                          <a:srgbClr val="FFFFFF"/>
                        </a:solidFill>
                        <a:effectLst/>
                        <a:latin typeface="+mn-lt"/>
                      </a:endParaRPr>
                    </a:p>
                  </a:txBody>
                  <a:tcPr marL="0" marR="0" marT="0" marB="0"/>
                </a:tc>
                <a:extLst>
                  <a:ext uri="{0D108BD9-81ED-4DB2-BD59-A6C34878D82A}">
                    <a16:rowId xmlns:a16="http://schemas.microsoft.com/office/drawing/2014/main" val="3314287224"/>
                  </a:ext>
                </a:extLst>
              </a:tr>
              <a:tr h="208950">
                <a:tc>
                  <a:txBody>
                    <a:bodyPr/>
                    <a:lstStyle/>
                    <a:p>
                      <a:pPr marL="91440" algn="l" fontAlgn="t"/>
                      <a:r>
                        <a:rPr lang="en-MY" sz="1400" u="none" strike="noStrike" dirty="0">
                          <a:effectLst/>
                        </a:rPr>
                        <a:t>PCBA Automation</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a:effectLst/>
                        </a:rPr>
                        <a:t>Yes</a:t>
                      </a:r>
                      <a:endParaRPr lang="en-MY" sz="1400" b="0" i="0" u="none" strike="noStrike">
                        <a:solidFill>
                          <a:schemeClr val="tx1"/>
                        </a:solidFill>
                        <a:effectLst/>
                        <a:latin typeface="+mn-lt"/>
                      </a:endParaRPr>
                    </a:p>
                  </a:txBody>
                  <a:tcPr marL="0" marR="0" marT="0" marB="0"/>
                </a:tc>
                <a:tc>
                  <a:txBody>
                    <a:bodyPr/>
                    <a:lstStyle/>
                    <a:p>
                      <a:pPr marL="91440" algn="l" fontAlgn="t"/>
                      <a:r>
                        <a:rPr lang="en-MY" sz="1400" u="none" strike="noStrike">
                          <a:effectLst/>
                        </a:rPr>
                        <a:t>Yes</a:t>
                      </a:r>
                      <a:endParaRPr lang="en-MY" sz="1400" b="0" i="0" u="none" strike="noStrike">
                        <a:solidFill>
                          <a:schemeClr val="tx1"/>
                        </a:solidFill>
                        <a:effectLst/>
                        <a:latin typeface="+mn-lt"/>
                      </a:endParaRPr>
                    </a:p>
                  </a:txBody>
                  <a:tcPr marL="0" marR="0" marT="0" marB="0"/>
                </a:tc>
                <a:tc>
                  <a:txBody>
                    <a:bodyPr/>
                    <a:lstStyle/>
                    <a:p>
                      <a:pPr marL="91440" algn="l" fontAlgn="t"/>
                      <a:r>
                        <a:rPr lang="en-MY" sz="1400" u="none" strike="noStrike">
                          <a:effectLst/>
                        </a:rPr>
                        <a:t>Yes</a:t>
                      </a:r>
                      <a:endParaRPr lang="en-MY" sz="1400" b="0" i="0" u="none" strike="noStrike">
                        <a:solidFill>
                          <a:schemeClr val="tx1"/>
                        </a:solidFill>
                        <a:effectLst/>
                        <a:latin typeface="+mn-lt"/>
                      </a:endParaRPr>
                    </a:p>
                  </a:txBody>
                  <a:tcPr marL="0" marR="0" marT="0" marB="0"/>
                </a:tc>
                <a:tc>
                  <a:txBody>
                    <a:bodyPr/>
                    <a:lstStyle/>
                    <a:p>
                      <a:pPr marL="91440" algn="l" fontAlgn="t"/>
                      <a:r>
                        <a:rPr lang="en-MY" sz="1400" u="none" strike="noStrike">
                          <a:effectLst/>
                        </a:rPr>
                        <a:t>Yes</a:t>
                      </a:r>
                      <a:endParaRPr lang="en-MY" sz="1400" b="0" i="0" u="none" strike="noStrike">
                        <a:solidFill>
                          <a:schemeClr val="tx1"/>
                        </a:solidFill>
                        <a:effectLst/>
                        <a:latin typeface="+mn-lt"/>
                      </a:endParaRPr>
                    </a:p>
                  </a:txBody>
                  <a:tcPr marL="0" marR="0" marT="0" marB="0"/>
                </a:tc>
                <a:extLst>
                  <a:ext uri="{0D108BD9-81ED-4DB2-BD59-A6C34878D82A}">
                    <a16:rowId xmlns:a16="http://schemas.microsoft.com/office/drawing/2014/main" val="3021960860"/>
                  </a:ext>
                </a:extLst>
              </a:tr>
              <a:tr h="397784">
                <a:tc>
                  <a:txBody>
                    <a:bodyPr/>
                    <a:lstStyle/>
                    <a:p>
                      <a:pPr marL="91440" algn="l" fontAlgn="t"/>
                      <a:r>
                        <a:rPr lang="en-US" sz="1400" u="none" strike="noStrike" dirty="0">
                          <a:effectLst/>
                        </a:rPr>
                        <a:t>Full or Partial automation</a:t>
                      </a:r>
                      <a:endParaRPr lang="en-US"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effectLst/>
                        </a:rPr>
                        <a:t>Full</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effectLst/>
                        </a:rPr>
                        <a:t>Partial</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effectLst/>
                        </a:rPr>
                        <a:t>Full</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effectLst/>
                        </a:rPr>
                        <a:t>Partial</a:t>
                      </a:r>
                      <a:endParaRPr lang="en-MY" sz="1400" b="0" i="0" u="none" strike="noStrike" dirty="0">
                        <a:solidFill>
                          <a:schemeClr val="tx1"/>
                        </a:solidFill>
                        <a:effectLst/>
                        <a:latin typeface="+mn-lt"/>
                      </a:endParaRPr>
                    </a:p>
                  </a:txBody>
                  <a:tcPr marL="0" marR="0" marT="0" marB="0"/>
                </a:tc>
                <a:extLst>
                  <a:ext uri="{0D108BD9-81ED-4DB2-BD59-A6C34878D82A}">
                    <a16:rowId xmlns:a16="http://schemas.microsoft.com/office/drawing/2014/main" val="819927540"/>
                  </a:ext>
                </a:extLst>
              </a:tr>
              <a:tr h="218421">
                <a:tc>
                  <a:txBody>
                    <a:bodyPr/>
                    <a:lstStyle/>
                    <a:p>
                      <a:pPr marL="91440" algn="l" fontAlgn="t"/>
                      <a:r>
                        <a:rPr lang="en-US" sz="1400" u="none" strike="noStrike" dirty="0">
                          <a:effectLst/>
                        </a:rPr>
                        <a:t>Test Automation (in-line or off-line)</a:t>
                      </a:r>
                      <a:endParaRPr lang="en-US"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effectLst/>
                        </a:rPr>
                        <a:t>In-line</a:t>
                      </a:r>
                      <a:endParaRPr lang="en-MY" sz="1400" b="0" i="0" u="none" strike="noStrike" dirty="0">
                        <a:solidFill>
                          <a:schemeClr val="tx1"/>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a:ln>
                            <a:noFill/>
                          </a:ln>
                          <a:solidFill>
                            <a:srgbClr val="000000"/>
                          </a:solidFill>
                          <a:effectLst/>
                          <a:uLnTx/>
                          <a:uFillTx/>
                          <a:latin typeface="Intel Clear"/>
                          <a:sym typeface="Intel Clear"/>
                        </a:rPr>
                        <a:t>In-line</a:t>
                      </a:r>
                      <a:endParaRPr kumimoji="0" lang="en-MY" sz="1400" b="0" i="0" u="none" strike="noStrike" kern="0" cap="none" spc="0" normalizeH="0" baseline="0" noProof="0" dirty="0">
                        <a:ln>
                          <a:noFill/>
                        </a:ln>
                        <a:solidFill>
                          <a:srgbClr val="000000"/>
                        </a:solidFill>
                        <a:effectLst/>
                        <a:uLnTx/>
                        <a:uFillTx/>
                        <a:latin typeface="Intel Clear"/>
                        <a:sym typeface="Intel Clear"/>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a:ln>
                            <a:noFill/>
                          </a:ln>
                          <a:solidFill>
                            <a:srgbClr val="000000"/>
                          </a:solidFill>
                          <a:effectLst/>
                          <a:uLnTx/>
                          <a:uFillTx/>
                          <a:latin typeface="Intel Clear"/>
                          <a:sym typeface="Intel Clear"/>
                        </a:rPr>
                        <a:t>In-line</a:t>
                      </a:r>
                      <a:endParaRPr kumimoji="0" lang="en-MY" sz="1400" b="0" i="0" u="none" strike="noStrike" kern="0" cap="none" spc="0" normalizeH="0" baseline="0" noProof="0" dirty="0">
                        <a:ln>
                          <a:noFill/>
                        </a:ln>
                        <a:solidFill>
                          <a:srgbClr val="000000"/>
                        </a:solidFill>
                        <a:effectLst/>
                        <a:uLnTx/>
                        <a:uFillTx/>
                        <a:latin typeface="Intel Clear"/>
                        <a:sym typeface="Intel Clear"/>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dirty="0">
                          <a:ln>
                            <a:noFill/>
                          </a:ln>
                          <a:solidFill>
                            <a:srgbClr val="000000"/>
                          </a:solidFill>
                          <a:effectLst/>
                          <a:uLnTx/>
                          <a:uFillTx/>
                          <a:latin typeface="Intel Clear"/>
                          <a:sym typeface="Intel Clear"/>
                        </a:rPr>
                        <a:t>In-line</a:t>
                      </a:r>
                    </a:p>
                  </a:txBody>
                  <a:tcPr marL="0" marR="0" marT="0" marB="0"/>
                </a:tc>
                <a:extLst>
                  <a:ext uri="{0D108BD9-81ED-4DB2-BD59-A6C34878D82A}">
                    <a16:rowId xmlns:a16="http://schemas.microsoft.com/office/drawing/2014/main" val="2239564460"/>
                  </a:ext>
                </a:extLst>
              </a:tr>
              <a:tr h="522375">
                <a:tc>
                  <a:txBody>
                    <a:bodyPr/>
                    <a:lstStyle/>
                    <a:p>
                      <a:pPr marL="91440" algn="l" fontAlgn="t"/>
                      <a:r>
                        <a:rPr lang="en-US" sz="1400" u="none" strike="noStrike" dirty="0">
                          <a:effectLst/>
                        </a:rPr>
                        <a:t>Automation machine</a:t>
                      </a:r>
                      <a:endParaRPr lang="en-US" sz="1400" b="0" i="0" u="none" strike="noStrike" dirty="0">
                        <a:solidFill>
                          <a:schemeClr val="tx1"/>
                        </a:solidFill>
                        <a:effectLst/>
                        <a:latin typeface="+mn-lt"/>
                      </a:endParaRPr>
                    </a:p>
                  </a:txBody>
                  <a:tcPr marL="0" marR="0" marT="0" marB="0"/>
                </a:tc>
                <a:tc>
                  <a:txBody>
                    <a:bodyPr/>
                    <a:lstStyle/>
                    <a:p>
                      <a:pPr marL="91440" algn="l" fontAlgn="t"/>
                      <a:r>
                        <a:rPr lang="en-MY" sz="1400" u="none" strike="noStrike">
                          <a:effectLst/>
                        </a:rPr>
                        <a:t>Panasonic SMT machine</a:t>
                      </a:r>
                      <a:br>
                        <a:rPr lang="en-MY" sz="1400" u="none" strike="noStrike">
                          <a:effectLst/>
                        </a:rPr>
                      </a:br>
                      <a:r>
                        <a:rPr lang="en-MY" sz="1400" u="none" strike="noStrike">
                          <a:effectLst/>
                        </a:rPr>
                        <a:t>TRI SPI/AOI</a:t>
                      </a:r>
                      <a:endParaRPr lang="en-MY" sz="1400" b="0" i="0" u="none" strike="noStrike">
                        <a:solidFill>
                          <a:schemeClr val="tx1"/>
                        </a:solidFill>
                        <a:effectLst/>
                        <a:latin typeface="+mn-lt"/>
                      </a:endParaRPr>
                    </a:p>
                  </a:txBody>
                  <a:tcPr marL="0" marR="0" marT="0" marB="0"/>
                </a:tc>
                <a:tc>
                  <a:txBody>
                    <a:bodyPr/>
                    <a:lstStyle/>
                    <a:p>
                      <a:pPr marL="91440" algn="l" fontAlgn="t"/>
                      <a:r>
                        <a:rPr lang="en-US" sz="1400" u="none" strike="noStrike" dirty="0">
                          <a:effectLst/>
                        </a:rPr>
                        <a:t>mounter, printer, SPI, reflow, AOI, ATE </a:t>
                      </a:r>
                      <a:endParaRPr lang="en-US"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effectLst/>
                        </a:rPr>
                        <a:t>not answered</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effectLst/>
                        </a:rPr>
                        <a:t>SMT: NXT Gen I, II, III</a:t>
                      </a:r>
                      <a:br>
                        <a:rPr lang="en-MY" sz="1400" u="none" strike="noStrike" dirty="0">
                          <a:effectLst/>
                        </a:rPr>
                      </a:br>
                      <a:r>
                        <a:rPr lang="en-MY" sz="1400" u="none" strike="noStrike" dirty="0">
                          <a:effectLst/>
                        </a:rPr>
                        <a:t>Panasonic :NMP&amp;CM602</a:t>
                      </a:r>
                      <a:br>
                        <a:rPr lang="en-MY" sz="1400" u="none" strike="noStrike" dirty="0">
                          <a:effectLst/>
                        </a:rPr>
                      </a:br>
                      <a:r>
                        <a:rPr lang="en-MY" sz="1400" u="none" strike="noStrike" dirty="0">
                          <a:effectLst/>
                        </a:rPr>
                        <a:t>DIP:CY-450(</a:t>
                      </a:r>
                      <a:r>
                        <a:rPr lang="zh-TW" altLang="en-US" sz="1400" u="none" strike="noStrike" dirty="0">
                          <a:effectLst/>
                        </a:rPr>
                        <a:t>超越</a:t>
                      </a:r>
                      <a:r>
                        <a:rPr lang="en-US" altLang="zh-TW" sz="1400" u="none" strike="noStrike" dirty="0">
                          <a:effectLst/>
                        </a:rPr>
                        <a:t>)</a:t>
                      </a:r>
                      <a:endParaRPr lang="en-US" altLang="zh-TW" sz="1400" b="0" i="0" u="none" strike="noStrike" dirty="0">
                        <a:solidFill>
                          <a:schemeClr val="tx1"/>
                        </a:solidFill>
                        <a:effectLst/>
                        <a:latin typeface="+mn-lt"/>
                      </a:endParaRPr>
                    </a:p>
                  </a:txBody>
                  <a:tcPr marL="0" marR="0" marT="0" marB="0"/>
                </a:tc>
                <a:extLst>
                  <a:ext uri="{0D108BD9-81ED-4DB2-BD59-A6C34878D82A}">
                    <a16:rowId xmlns:a16="http://schemas.microsoft.com/office/drawing/2014/main" val="834936670"/>
                  </a:ext>
                </a:extLst>
              </a:tr>
              <a:tr h="327632">
                <a:tc>
                  <a:txBody>
                    <a:bodyPr/>
                    <a:lstStyle/>
                    <a:p>
                      <a:pPr marL="91440" algn="l" fontAlgn="t"/>
                      <a:r>
                        <a:rPr lang="en-MY" sz="1400" u="none" strike="noStrike" dirty="0">
                          <a:effectLst/>
                        </a:rPr>
                        <a:t>What is used to pick Intel’s component</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a:effectLst/>
                        </a:rPr>
                        <a:t>vacuum nozzle</a:t>
                      </a:r>
                      <a:endParaRPr lang="en-MY" sz="1400" b="0" i="0" u="none" strike="noStrike">
                        <a:solidFill>
                          <a:schemeClr val="tx1"/>
                        </a:solidFill>
                        <a:effectLst/>
                        <a:latin typeface="+mn-lt"/>
                      </a:endParaRPr>
                    </a:p>
                  </a:txBody>
                  <a:tcPr marL="0" marR="0" marT="0" marB="0"/>
                </a:tc>
                <a:tc>
                  <a:txBody>
                    <a:bodyPr/>
                    <a:lstStyle/>
                    <a:p>
                      <a:pPr marL="91440" algn="l" fontAlgn="t"/>
                      <a:r>
                        <a:rPr lang="en-MY" sz="1400" u="none" strike="noStrike" dirty="0">
                          <a:effectLst/>
                        </a:rPr>
                        <a:t>vacuum nozzle </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effectLst/>
                        </a:rPr>
                        <a:t>vacuum nozzle</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effectLst/>
                        </a:rPr>
                        <a:t>GPRO SMT -- Intel PCH / LAN Chip, vacuum nozzle</a:t>
                      </a:r>
                      <a:endParaRPr lang="en-MY" sz="1400" b="0" i="0" u="none" strike="noStrike" dirty="0">
                        <a:solidFill>
                          <a:schemeClr val="tx1"/>
                        </a:solidFill>
                        <a:effectLst/>
                        <a:latin typeface="+mn-lt"/>
                      </a:endParaRPr>
                    </a:p>
                  </a:txBody>
                  <a:tcPr marL="0" marR="0" marT="0" marB="0"/>
                </a:tc>
                <a:extLst>
                  <a:ext uri="{0D108BD9-81ED-4DB2-BD59-A6C34878D82A}">
                    <a16:rowId xmlns:a16="http://schemas.microsoft.com/office/drawing/2014/main" val="513040908"/>
                  </a:ext>
                </a:extLst>
              </a:tr>
              <a:tr h="327632">
                <a:tc>
                  <a:txBody>
                    <a:bodyPr/>
                    <a:lstStyle/>
                    <a:p>
                      <a:pPr marL="91440" algn="l" fontAlgn="t"/>
                      <a:r>
                        <a:rPr lang="en-MY" sz="1400" u="none" strike="noStrike" dirty="0">
                          <a:effectLst/>
                        </a:rPr>
                        <a:t>Purpose of scanning 2D Matrix</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a:effectLst/>
                        </a:rPr>
                        <a:t>traceability</a:t>
                      </a:r>
                      <a:endParaRPr lang="en-MY" sz="1400" b="0" i="0" u="none" strike="noStrike">
                        <a:solidFill>
                          <a:schemeClr val="tx1"/>
                        </a:solidFill>
                        <a:effectLst/>
                        <a:latin typeface="+mn-lt"/>
                      </a:endParaRPr>
                    </a:p>
                  </a:txBody>
                  <a:tcPr marL="0" marR="0" marT="0" marB="0"/>
                </a:tc>
                <a:tc>
                  <a:txBody>
                    <a:bodyPr/>
                    <a:lstStyle/>
                    <a:p>
                      <a:pPr marL="91440" algn="l" fontAlgn="t"/>
                      <a:r>
                        <a:rPr lang="en-MY" sz="1400" u="none" strike="noStrike" dirty="0">
                          <a:effectLst/>
                        </a:rPr>
                        <a:t>traceability, inventory check</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a:effectLst/>
                        </a:rPr>
                        <a:t>traceability</a:t>
                      </a:r>
                      <a:endParaRPr lang="en-MY" sz="1400" b="0" i="0" u="none" strike="noStrike">
                        <a:solidFill>
                          <a:schemeClr val="tx1"/>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lang="en-MY" sz="1400" u="none" strike="noStrike" dirty="0">
                          <a:effectLst/>
                        </a:rPr>
                        <a:t>traceability, inventory check</a:t>
                      </a:r>
                      <a:endParaRPr lang="en-MY" sz="1400" b="0" i="0" u="none" strike="noStrike" dirty="0">
                        <a:solidFill>
                          <a:schemeClr val="tx1"/>
                        </a:solidFill>
                        <a:effectLst/>
                        <a:latin typeface="+mn-lt"/>
                      </a:endParaRPr>
                    </a:p>
                  </a:txBody>
                  <a:tcPr marL="0" marR="0" marT="0" marB="0"/>
                </a:tc>
                <a:extLst>
                  <a:ext uri="{0D108BD9-81ED-4DB2-BD59-A6C34878D82A}">
                    <a16:rowId xmlns:a16="http://schemas.microsoft.com/office/drawing/2014/main" val="1202641094"/>
                  </a:ext>
                </a:extLst>
              </a:tr>
              <a:tr h="327632">
                <a:tc>
                  <a:txBody>
                    <a:bodyPr/>
                    <a:lstStyle/>
                    <a:p>
                      <a:pPr marL="91440" algn="l" fontAlgn="t"/>
                      <a:r>
                        <a:rPr lang="en-MY" sz="1400" u="none" strike="noStrike" dirty="0">
                          <a:effectLst/>
                        </a:rPr>
                        <a:t>Which process require 2D scanning ?</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a:effectLst/>
                        </a:rPr>
                        <a:t>IQC/SMT</a:t>
                      </a:r>
                      <a:endParaRPr lang="en-MY" sz="1400" b="0" i="0" u="none" strike="noStrike">
                        <a:solidFill>
                          <a:schemeClr val="tx1"/>
                        </a:solidFill>
                        <a:effectLst/>
                        <a:latin typeface="+mn-lt"/>
                      </a:endParaRPr>
                    </a:p>
                  </a:txBody>
                  <a:tcPr marL="0" marR="0" marT="0" marB="0"/>
                </a:tc>
                <a:tc>
                  <a:txBody>
                    <a:bodyPr/>
                    <a:lstStyle/>
                    <a:p>
                      <a:pPr marL="91440" algn="l" fontAlgn="t"/>
                      <a:r>
                        <a:rPr lang="en-MY" sz="1400" u="none" strike="noStrike" dirty="0">
                          <a:effectLst/>
                        </a:rPr>
                        <a:t>SMT</a:t>
                      </a:r>
                      <a:endParaRPr lang="en-MY" sz="1400" b="0" i="0" u="none" strike="noStrike" dirty="0">
                        <a:solidFill>
                          <a:schemeClr val="tx1"/>
                        </a:solidFill>
                        <a:effectLst/>
                        <a:latin typeface="+mn-lt"/>
                      </a:endParaRPr>
                    </a:p>
                  </a:txBody>
                  <a:tcPr marL="0" marR="0" marT="0" marB="0"/>
                </a:tc>
                <a:tc>
                  <a:txBody>
                    <a:bodyPr/>
                    <a:lstStyle/>
                    <a:p>
                      <a:pPr marL="91440" algn="l" fontAlgn="t"/>
                      <a:r>
                        <a:rPr lang="en-US" sz="1400" u="none" strike="noStrike" dirty="0">
                          <a:effectLst/>
                        </a:rPr>
                        <a:t>incoming inspection to outgoing shipment</a:t>
                      </a:r>
                      <a:endParaRPr lang="en-US" sz="1400" b="0" i="0" u="none" strike="noStrike" dirty="0">
                        <a:solidFill>
                          <a:schemeClr val="tx1"/>
                        </a:solidFill>
                        <a:effectLst/>
                        <a:latin typeface="+mn-lt"/>
                      </a:endParaRPr>
                    </a:p>
                  </a:txBody>
                  <a:tcPr marL="0" marR="0" marT="0" marB="0"/>
                </a:tc>
                <a:tc>
                  <a:txBody>
                    <a:bodyPr/>
                    <a:lstStyle/>
                    <a:p>
                      <a:pPr marL="91440" algn="l" fontAlgn="t"/>
                      <a:r>
                        <a:rPr lang="en-MY" sz="1400" u="none" strike="noStrike">
                          <a:effectLst/>
                        </a:rPr>
                        <a:t>IQC, SMT, DIP, FPT</a:t>
                      </a:r>
                      <a:endParaRPr lang="en-MY" sz="1400" b="0" i="0" u="none" strike="noStrike">
                        <a:solidFill>
                          <a:schemeClr val="tx1"/>
                        </a:solidFill>
                        <a:effectLst/>
                        <a:latin typeface="+mn-lt"/>
                      </a:endParaRPr>
                    </a:p>
                  </a:txBody>
                  <a:tcPr marL="0" marR="0" marT="0" marB="0"/>
                </a:tc>
                <a:extLst>
                  <a:ext uri="{0D108BD9-81ED-4DB2-BD59-A6C34878D82A}">
                    <a16:rowId xmlns:a16="http://schemas.microsoft.com/office/drawing/2014/main" val="1683675032"/>
                  </a:ext>
                </a:extLst>
              </a:tr>
              <a:tr h="327632">
                <a:tc>
                  <a:txBody>
                    <a:bodyPr/>
                    <a:lstStyle/>
                    <a:p>
                      <a:pPr marL="91440" algn="l" fontAlgn="t"/>
                      <a:r>
                        <a:rPr lang="en-US" sz="1400" u="none" strike="noStrike" dirty="0">
                          <a:effectLst/>
                        </a:rPr>
                        <a:t>In-line or Off-line traceability?</a:t>
                      </a:r>
                      <a:endParaRPr lang="en-US"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effectLst/>
                        </a:rPr>
                        <a:t>In-line</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effectLst/>
                        </a:rPr>
                        <a:t>In-line </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effectLst/>
                        </a:rPr>
                        <a:t>In-line and Off-line traceability</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effectLst/>
                        </a:rPr>
                        <a:t>Both In-line &amp; Off-line</a:t>
                      </a:r>
                      <a:endParaRPr lang="en-MY" sz="1400" b="0" i="0" u="none" strike="noStrike" dirty="0">
                        <a:solidFill>
                          <a:schemeClr val="tx1"/>
                        </a:solidFill>
                        <a:effectLst/>
                        <a:latin typeface="+mn-lt"/>
                      </a:endParaRPr>
                    </a:p>
                  </a:txBody>
                  <a:tcPr marL="0" marR="0" marT="0" marB="0"/>
                </a:tc>
                <a:extLst>
                  <a:ext uri="{0D108BD9-81ED-4DB2-BD59-A6C34878D82A}">
                    <a16:rowId xmlns:a16="http://schemas.microsoft.com/office/drawing/2014/main" val="3909082016"/>
                  </a:ext>
                </a:extLst>
              </a:tr>
            </a:tbl>
          </a:graphicData>
        </a:graphic>
      </p:graphicFrame>
      <p:sp>
        <p:nvSpPr>
          <p:cNvPr id="4" name="Rectangle: Rounded Corners 3">
            <a:extLst>
              <a:ext uri="{FF2B5EF4-FFF2-40B4-BE49-F238E27FC236}">
                <a16:creationId xmlns:a16="http://schemas.microsoft.com/office/drawing/2014/main" id="{9A8DB7F2-58AD-4982-9DAA-63AD4DD74BA7}"/>
              </a:ext>
            </a:extLst>
          </p:cNvPr>
          <p:cNvSpPr/>
          <p:nvPr/>
        </p:nvSpPr>
        <p:spPr>
          <a:xfrm>
            <a:off x="662095" y="5198724"/>
            <a:ext cx="10678583"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For PCBA factory, 2 Customers have full automation and 2 Customers have partial automation</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In-line traceability capabilities are most common to have across the customers</a:t>
            </a:r>
          </a:p>
        </p:txBody>
      </p:sp>
      <p:sp>
        <p:nvSpPr>
          <p:cNvPr id="6" name="Action Button: Go Home 5">
            <a:hlinkClick r:id="rId3" action="ppaction://hlinksldjump" highlightClick="1"/>
            <a:extLst>
              <a:ext uri="{FF2B5EF4-FFF2-40B4-BE49-F238E27FC236}">
                <a16:creationId xmlns:a16="http://schemas.microsoft.com/office/drawing/2014/main" id="{439AF051-F20F-4224-B2A8-97EB0F45EAD1}"/>
              </a:ext>
            </a:extLst>
          </p:cNvPr>
          <p:cNvSpPr/>
          <p:nvPr/>
        </p:nvSpPr>
        <p:spPr>
          <a:xfrm>
            <a:off x="11399520" y="162560"/>
            <a:ext cx="487680" cy="451311"/>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1831312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5CB22F-1585-4B71-A3DF-F8ABE2DF102D}"/>
              </a:ext>
            </a:extLst>
          </p:cNvPr>
          <p:cNvSpPr>
            <a:spLocks noGrp="1"/>
          </p:cNvSpPr>
          <p:nvPr>
            <p:ph type="title"/>
          </p:nvPr>
        </p:nvSpPr>
        <p:spPr>
          <a:xfrm>
            <a:off x="607484" y="64663"/>
            <a:ext cx="10972800" cy="567363"/>
          </a:xfrm>
        </p:spPr>
        <p:txBody>
          <a:bodyPr/>
          <a:lstStyle/>
          <a:p>
            <a:r>
              <a:rPr lang="en-US" dirty="0"/>
              <a:t>Paste Printing Process</a:t>
            </a:r>
            <a:endParaRPr lang="en-MY" dirty="0"/>
          </a:p>
        </p:txBody>
      </p:sp>
      <p:graphicFrame>
        <p:nvGraphicFramePr>
          <p:cNvPr id="8" name="Content Placeholder 7">
            <a:extLst>
              <a:ext uri="{FF2B5EF4-FFF2-40B4-BE49-F238E27FC236}">
                <a16:creationId xmlns:a16="http://schemas.microsoft.com/office/drawing/2014/main" id="{3DA13079-6758-4EFF-AEBB-FE1EDE7E3765}"/>
              </a:ext>
            </a:extLst>
          </p:cNvPr>
          <p:cNvGraphicFramePr>
            <a:graphicFrameLocks noGrp="1"/>
          </p:cNvGraphicFramePr>
          <p:nvPr>
            <p:ph sz="quarter" idx="13"/>
            <p:extLst>
              <p:ext uri="{D42A27DB-BD31-4B8C-83A1-F6EECF244321}">
                <p14:modId xmlns:p14="http://schemas.microsoft.com/office/powerpoint/2010/main" val="2377933423"/>
              </p:ext>
            </p:extLst>
          </p:nvPr>
        </p:nvGraphicFramePr>
        <p:xfrm>
          <a:off x="203199" y="623827"/>
          <a:ext cx="11438468" cy="4473532"/>
        </p:xfrm>
        <a:graphic>
          <a:graphicData uri="http://schemas.openxmlformats.org/drawingml/2006/table">
            <a:tbl>
              <a:tblPr firstRow="1" bandRow="1">
                <a:tableStyleId>{69012ECD-51FC-41F1-AA8D-1B2483CD663E}</a:tableStyleId>
              </a:tblPr>
              <a:tblGrid>
                <a:gridCol w="2582334">
                  <a:extLst>
                    <a:ext uri="{9D8B030D-6E8A-4147-A177-3AD203B41FA5}">
                      <a16:colId xmlns:a16="http://schemas.microsoft.com/office/drawing/2014/main" val="1519193392"/>
                    </a:ext>
                  </a:extLst>
                </a:gridCol>
                <a:gridCol w="1227667">
                  <a:extLst>
                    <a:ext uri="{9D8B030D-6E8A-4147-A177-3AD203B41FA5}">
                      <a16:colId xmlns:a16="http://schemas.microsoft.com/office/drawing/2014/main" val="1549203531"/>
                    </a:ext>
                  </a:extLst>
                </a:gridCol>
                <a:gridCol w="1185333">
                  <a:extLst>
                    <a:ext uri="{9D8B030D-6E8A-4147-A177-3AD203B41FA5}">
                      <a16:colId xmlns:a16="http://schemas.microsoft.com/office/drawing/2014/main" val="4207180010"/>
                    </a:ext>
                  </a:extLst>
                </a:gridCol>
                <a:gridCol w="2006600">
                  <a:extLst>
                    <a:ext uri="{9D8B030D-6E8A-4147-A177-3AD203B41FA5}">
                      <a16:colId xmlns:a16="http://schemas.microsoft.com/office/drawing/2014/main" val="2753957784"/>
                    </a:ext>
                  </a:extLst>
                </a:gridCol>
                <a:gridCol w="2530122">
                  <a:extLst>
                    <a:ext uri="{9D8B030D-6E8A-4147-A177-3AD203B41FA5}">
                      <a16:colId xmlns:a16="http://schemas.microsoft.com/office/drawing/2014/main" val="2824479300"/>
                    </a:ext>
                  </a:extLst>
                </a:gridCol>
                <a:gridCol w="1906412">
                  <a:extLst>
                    <a:ext uri="{9D8B030D-6E8A-4147-A177-3AD203B41FA5}">
                      <a16:colId xmlns:a16="http://schemas.microsoft.com/office/drawing/2014/main" val="1782388051"/>
                    </a:ext>
                  </a:extLst>
                </a:gridCol>
              </a:tblGrid>
              <a:tr h="213089">
                <a:tc>
                  <a:txBody>
                    <a:bodyPr/>
                    <a:lstStyle/>
                    <a:p>
                      <a:pPr marL="91440" algn="l" fontAlgn="t"/>
                      <a:r>
                        <a:rPr lang="en-MY" sz="1600" u="none" strike="noStrike" dirty="0">
                          <a:effectLst/>
                          <a:latin typeface="+mn-lt"/>
                        </a:rPr>
                        <a:t>Parameter / Capability </a:t>
                      </a:r>
                      <a:endParaRPr lang="en-MY" sz="1600" b="1" i="0" u="none" strike="noStrike" dirty="0">
                        <a:solidFill>
                          <a:srgbClr val="FFFFFF"/>
                        </a:solidFill>
                        <a:effectLst/>
                        <a:latin typeface="+mn-lt"/>
                      </a:endParaRPr>
                    </a:p>
                  </a:txBody>
                  <a:tcPr marL="0" marR="0" marT="0" marB="0"/>
                </a:tc>
                <a:tc>
                  <a:txBody>
                    <a:bodyPr/>
                    <a:lstStyle/>
                    <a:p>
                      <a:pPr marL="91440" algn="l" rtl="0" fontAlgn="ctr"/>
                      <a:r>
                        <a:rPr lang="en-MY" sz="1600" u="none" strike="noStrike" dirty="0">
                          <a:effectLst/>
                          <a:latin typeface="+mn-lt"/>
                        </a:rPr>
                        <a:t>ECS</a:t>
                      </a:r>
                      <a:endParaRPr lang="en-MY" sz="1600" b="1" i="0" u="none" strike="noStrike" dirty="0">
                        <a:solidFill>
                          <a:srgbClr val="FFFFFF"/>
                        </a:solidFill>
                        <a:effectLst/>
                        <a:latin typeface="+mn-lt"/>
                      </a:endParaRPr>
                    </a:p>
                  </a:txBody>
                  <a:tcPr marL="0" marR="0" marT="0" marB="0"/>
                </a:tc>
                <a:tc>
                  <a:txBody>
                    <a:bodyPr/>
                    <a:lstStyle/>
                    <a:p>
                      <a:pPr marL="91440" algn="l" rtl="0" fontAlgn="ctr"/>
                      <a:r>
                        <a:rPr lang="en-MY" sz="1600" u="none" strike="noStrike" dirty="0">
                          <a:effectLst/>
                          <a:latin typeface="+mn-lt"/>
                        </a:rPr>
                        <a:t>LCFC</a:t>
                      </a:r>
                      <a:endParaRPr lang="en-MY" sz="1600" b="1" i="0" u="none" strike="noStrike" dirty="0">
                        <a:solidFill>
                          <a:srgbClr val="FFFFFF"/>
                        </a:solidFill>
                        <a:effectLst/>
                        <a:latin typeface="+mn-lt"/>
                      </a:endParaRPr>
                    </a:p>
                  </a:txBody>
                  <a:tcPr marL="0" marR="0" marT="0" marB="0"/>
                </a:tc>
                <a:tc>
                  <a:txBody>
                    <a:bodyPr/>
                    <a:lstStyle/>
                    <a:p>
                      <a:pPr marL="91440" algn="l" rtl="0" fontAlgn="ctr"/>
                      <a:r>
                        <a:rPr lang="en-MY" sz="1600" u="none" strike="noStrike" dirty="0">
                          <a:effectLst/>
                          <a:latin typeface="+mn-lt"/>
                        </a:rPr>
                        <a:t>FXWH</a:t>
                      </a:r>
                      <a:endParaRPr lang="en-MY" sz="1600" b="1" i="0" u="none" strike="noStrike" dirty="0">
                        <a:solidFill>
                          <a:srgbClr val="FFFFFF"/>
                        </a:solidFill>
                        <a:effectLst/>
                        <a:latin typeface="+mn-lt"/>
                      </a:endParaRPr>
                    </a:p>
                  </a:txBody>
                  <a:tcPr marL="0" marR="0" marT="0" marB="0"/>
                </a:tc>
                <a:tc>
                  <a:txBody>
                    <a:bodyPr/>
                    <a:lstStyle/>
                    <a:p>
                      <a:pPr marL="91440" algn="l" rtl="0" fontAlgn="ctr"/>
                      <a:r>
                        <a:rPr lang="en-MY" sz="1600" u="none" strike="noStrike" dirty="0">
                          <a:effectLst/>
                          <a:latin typeface="+mn-lt"/>
                        </a:rPr>
                        <a:t>LITEON</a:t>
                      </a:r>
                      <a:endParaRPr lang="en-MY" sz="1600" b="1" i="0" u="none" strike="noStrike" dirty="0">
                        <a:solidFill>
                          <a:srgbClr val="FFFFFF"/>
                        </a:solidFill>
                        <a:effectLst/>
                        <a:latin typeface="+mn-lt"/>
                      </a:endParaRPr>
                    </a:p>
                  </a:txBody>
                  <a:tcPr marL="0" marR="0" marT="0" marB="0"/>
                </a:tc>
                <a:tc>
                  <a:txBody>
                    <a:bodyPr/>
                    <a:lstStyle/>
                    <a:p>
                      <a:pPr marL="91440" algn="l" rtl="0" fontAlgn="ctr"/>
                      <a:r>
                        <a:rPr lang="en-MY" sz="1600" b="1" i="0" u="none" strike="noStrike" dirty="0">
                          <a:solidFill>
                            <a:srgbClr val="FFFFFF"/>
                          </a:solidFill>
                          <a:effectLst/>
                          <a:latin typeface="+mn-lt"/>
                        </a:rPr>
                        <a:t>MSI (LENOVO)</a:t>
                      </a:r>
                    </a:p>
                  </a:txBody>
                  <a:tcPr marL="0" marR="0" marT="0" marB="0"/>
                </a:tc>
                <a:extLst>
                  <a:ext uri="{0D108BD9-81ED-4DB2-BD59-A6C34878D82A}">
                    <a16:rowId xmlns:a16="http://schemas.microsoft.com/office/drawing/2014/main" val="3314287224"/>
                  </a:ext>
                </a:extLst>
              </a:tr>
              <a:tr h="190496">
                <a:tc>
                  <a:txBody>
                    <a:bodyPr/>
                    <a:lstStyle/>
                    <a:p>
                      <a:pPr marL="91440" algn="l" fontAlgn="t"/>
                      <a:r>
                        <a:rPr lang="en-MY" sz="1200" u="none" strike="noStrike" dirty="0">
                          <a:solidFill>
                            <a:schemeClr val="tx1"/>
                          </a:solidFill>
                          <a:effectLst/>
                          <a:latin typeface="+mn-lt"/>
                        </a:rPr>
                        <a:t>Squeegee Speed (mm/sec)</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solidFill>
                            <a:schemeClr val="tx1"/>
                          </a:solidFill>
                          <a:effectLst/>
                          <a:latin typeface="+mn-lt"/>
                        </a:rPr>
                        <a:t>60-120</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solidFill>
                            <a:schemeClr val="tx1"/>
                          </a:solidFill>
                          <a:effectLst/>
                          <a:latin typeface="+mn-lt"/>
                        </a:rPr>
                        <a:t>120</a:t>
                      </a:r>
                      <a:endParaRPr lang="en-MY" sz="1200" b="0" i="0" u="none" strike="noStrike" dirty="0">
                        <a:solidFill>
                          <a:schemeClr val="tx1"/>
                        </a:solidFill>
                        <a:effectLst/>
                        <a:latin typeface="+mn-lt"/>
                      </a:endParaRPr>
                    </a:p>
                  </a:txBody>
                  <a:tcPr marL="0" marR="0" marT="0" marB="0"/>
                </a:tc>
                <a:tc>
                  <a:txBody>
                    <a:bodyPr/>
                    <a:lstStyle/>
                    <a:p>
                      <a:pPr marL="91440" algn="l" fontAlgn="t"/>
                      <a:r>
                        <a:rPr lang="en-US" sz="1200" b="0" i="0" u="none" strike="noStrike" dirty="0">
                          <a:solidFill>
                            <a:schemeClr val="tx1"/>
                          </a:solidFill>
                          <a:effectLst/>
                          <a:latin typeface="+mn-lt"/>
                        </a:rPr>
                        <a:t>8</a:t>
                      </a:r>
                      <a:r>
                        <a:rPr lang="en-MY" sz="1200" b="0" i="0" u="none" strike="noStrike" dirty="0">
                          <a:solidFill>
                            <a:schemeClr val="tx1"/>
                          </a:solidFill>
                          <a:effectLst/>
                          <a:latin typeface="+mn-lt"/>
                        </a:rPr>
                        <a:t>0-</a:t>
                      </a:r>
                      <a:r>
                        <a:rPr lang="en-MY" sz="1200" b="0" i="0" u="none" strike="noStrike" dirty="0">
                          <a:solidFill>
                            <a:srgbClr val="0068B5"/>
                          </a:solidFill>
                          <a:effectLst/>
                          <a:latin typeface="+mn-lt"/>
                        </a:rPr>
                        <a:t>90</a:t>
                      </a:r>
                    </a:p>
                  </a:txBody>
                  <a:tcPr marL="0" marR="0" marT="0" marB="0"/>
                </a:tc>
                <a:tc>
                  <a:txBody>
                    <a:bodyPr/>
                    <a:lstStyle/>
                    <a:p>
                      <a:pPr marL="91440" algn="l" fontAlgn="t"/>
                      <a:r>
                        <a:rPr lang="en-MY" sz="1200" u="none" strike="noStrike" dirty="0">
                          <a:solidFill>
                            <a:schemeClr val="tx1"/>
                          </a:solidFill>
                          <a:effectLst/>
                          <a:latin typeface="+mn-lt"/>
                        </a:rPr>
                        <a:t>100</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b="0" i="0" u="none" strike="noStrike" dirty="0">
                          <a:solidFill>
                            <a:srgbClr val="0068B5"/>
                          </a:solidFill>
                          <a:effectLst/>
                          <a:latin typeface="+mn-lt"/>
                        </a:rPr>
                        <a:t>50</a:t>
                      </a:r>
                    </a:p>
                  </a:txBody>
                  <a:tcPr marL="0" marR="0" marT="0" marB="0"/>
                </a:tc>
                <a:extLst>
                  <a:ext uri="{0D108BD9-81ED-4DB2-BD59-A6C34878D82A}">
                    <a16:rowId xmlns:a16="http://schemas.microsoft.com/office/drawing/2014/main" val="3021960860"/>
                  </a:ext>
                </a:extLst>
              </a:tr>
              <a:tr h="183289">
                <a:tc>
                  <a:txBody>
                    <a:bodyPr/>
                    <a:lstStyle/>
                    <a:p>
                      <a:pPr marL="91440" algn="l" fontAlgn="t"/>
                      <a:r>
                        <a:rPr lang="en-MY" sz="1200" u="none" strike="noStrike" dirty="0">
                          <a:solidFill>
                            <a:schemeClr val="tx1"/>
                          </a:solidFill>
                          <a:effectLst/>
                          <a:latin typeface="+mn-lt"/>
                        </a:rPr>
                        <a:t>Squeegee Pressure (Kg/area?)</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ln>
                            <a:noFill/>
                          </a:ln>
                          <a:solidFill>
                            <a:srgbClr val="FF0000"/>
                          </a:solidFill>
                          <a:effectLst>
                            <a:outerShdw blurRad="38100" dist="38100" dir="2700000" algn="tl">
                              <a:srgbClr val="000000">
                                <a:alpha val="43137"/>
                              </a:srgbClr>
                            </a:outerShdw>
                          </a:effectLst>
                          <a:latin typeface="+mn-lt"/>
                        </a:rPr>
                        <a:t>4.5-8kg/cm2</a:t>
                      </a:r>
                      <a:endParaRPr lang="en-MY" sz="1200" b="0" i="0" u="none" strike="noStrike" dirty="0">
                        <a:ln>
                          <a:noFill/>
                        </a:ln>
                        <a:solidFill>
                          <a:srgbClr val="FF0000"/>
                        </a:solidFill>
                        <a:effectLst>
                          <a:outerShdw blurRad="38100" dist="38100" dir="2700000" algn="tl">
                            <a:srgbClr val="000000">
                              <a:alpha val="43137"/>
                            </a:srgbClr>
                          </a:outerShdw>
                        </a:effectLst>
                        <a:latin typeface="+mn-lt"/>
                      </a:endParaRPr>
                    </a:p>
                  </a:txBody>
                  <a:tcPr marL="0" marR="0" marT="0" marB="0"/>
                </a:tc>
                <a:tc>
                  <a:txBody>
                    <a:bodyPr/>
                    <a:lstStyle/>
                    <a:p>
                      <a:pPr marL="91440" algn="l" fontAlgn="t"/>
                      <a:r>
                        <a:rPr lang="en-MY" sz="1200" u="none" strike="noStrike" dirty="0">
                          <a:ln>
                            <a:noFill/>
                          </a:ln>
                          <a:solidFill>
                            <a:srgbClr val="FF0000"/>
                          </a:solidFill>
                          <a:effectLst>
                            <a:outerShdw blurRad="38100" dist="38100" dir="2700000" algn="tl">
                              <a:srgbClr val="000000">
                                <a:alpha val="43137"/>
                              </a:srgbClr>
                            </a:outerShdw>
                          </a:effectLst>
                          <a:latin typeface="+mn-lt"/>
                        </a:rPr>
                        <a:t>2</a:t>
                      </a:r>
                      <a:endParaRPr lang="en-MY" sz="1200" b="0" i="0" u="none" strike="noStrike" dirty="0">
                        <a:ln>
                          <a:noFill/>
                        </a:ln>
                        <a:solidFill>
                          <a:srgbClr val="FF0000"/>
                        </a:solidFill>
                        <a:effectLst>
                          <a:outerShdw blurRad="38100" dist="38100" dir="2700000" algn="tl">
                            <a:srgbClr val="000000">
                              <a:alpha val="43137"/>
                            </a:srgbClr>
                          </a:outerShdw>
                        </a:effectLst>
                        <a:latin typeface="+mn-lt"/>
                      </a:endParaRPr>
                    </a:p>
                  </a:txBody>
                  <a:tcPr marL="0" marR="0" marT="0" marB="0"/>
                </a:tc>
                <a:tc>
                  <a:txBody>
                    <a:bodyPr/>
                    <a:lstStyle/>
                    <a:p>
                      <a:pPr marL="91440" algn="l" fontAlgn="t"/>
                      <a:r>
                        <a:rPr lang="en-MY" sz="1200" u="none" strike="noStrike" dirty="0">
                          <a:ln>
                            <a:noFill/>
                          </a:ln>
                          <a:solidFill>
                            <a:srgbClr val="FF0000"/>
                          </a:solidFill>
                          <a:effectLst>
                            <a:outerShdw blurRad="38100" dist="38100" dir="2700000" algn="tl">
                              <a:srgbClr val="000000">
                                <a:alpha val="43137"/>
                              </a:srgbClr>
                            </a:outerShdw>
                          </a:effectLst>
                          <a:latin typeface="+mn-lt"/>
                        </a:rPr>
                        <a:t>8~10g/mm</a:t>
                      </a:r>
                      <a:endParaRPr lang="en-MY" sz="1200" b="0" i="0" u="none" strike="noStrike" dirty="0">
                        <a:ln>
                          <a:noFill/>
                        </a:ln>
                        <a:solidFill>
                          <a:srgbClr val="FF0000"/>
                        </a:solidFill>
                        <a:effectLst>
                          <a:outerShdw blurRad="38100" dist="38100" dir="2700000" algn="tl">
                            <a:srgbClr val="000000">
                              <a:alpha val="43137"/>
                            </a:srgbClr>
                          </a:outerShdw>
                        </a:effectLst>
                        <a:latin typeface="+mn-lt"/>
                      </a:endParaRPr>
                    </a:p>
                  </a:txBody>
                  <a:tcPr marL="0" marR="0" marT="0" marB="0"/>
                </a:tc>
                <a:tc>
                  <a:txBody>
                    <a:bodyPr/>
                    <a:lstStyle/>
                    <a:p>
                      <a:pPr marL="91440" algn="l" fontAlgn="t"/>
                      <a:r>
                        <a:rPr lang="en-MY" sz="1200" u="none" strike="noStrike" dirty="0">
                          <a:ln>
                            <a:noFill/>
                          </a:ln>
                          <a:solidFill>
                            <a:srgbClr val="FF0000"/>
                          </a:solidFill>
                          <a:effectLst>
                            <a:outerShdw blurRad="38100" dist="38100" dir="2700000" algn="tl">
                              <a:srgbClr val="000000">
                                <a:alpha val="43137"/>
                              </a:srgbClr>
                            </a:outerShdw>
                          </a:effectLst>
                          <a:latin typeface="+mn-lt"/>
                        </a:rPr>
                        <a:t>10</a:t>
                      </a:r>
                      <a:endParaRPr lang="en-MY" sz="1200" b="0" i="0" u="none" strike="noStrike" dirty="0">
                        <a:ln>
                          <a:noFill/>
                        </a:ln>
                        <a:solidFill>
                          <a:srgbClr val="FF0000"/>
                        </a:solidFill>
                        <a:effectLst>
                          <a:outerShdw blurRad="38100" dist="38100" dir="2700000" algn="tl">
                            <a:srgbClr val="000000">
                              <a:alpha val="43137"/>
                            </a:srgbClr>
                          </a:outerShdw>
                        </a:effectLst>
                        <a:latin typeface="+mn-lt"/>
                      </a:endParaRPr>
                    </a:p>
                  </a:txBody>
                  <a:tcPr marL="0" marR="0" marT="0" marB="0"/>
                </a:tc>
                <a:tc>
                  <a:txBody>
                    <a:bodyPr/>
                    <a:lstStyle/>
                    <a:p>
                      <a:pPr marL="91440" algn="l" fontAlgn="t"/>
                      <a:r>
                        <a:rPr lang="en-MY" sz="1200" b="0" i="0" u="none" strike="noStrike" dirty="0">
                          <a:ln>
                            <a:noFill/>
                          </a:ln>
                          <a:solidFill>
                            <a:srgbClr val="0068B5"/>
                          </a:solidFill>
                          <a:effectLst/>
                          <a:latin typeface="+mn-lt"/>
                        </a:rPr>
                        <a:t>10</a:t>
                      </a:r>
                    </a:p>
                  </a:txBody>
                  <a:tcPr marL="0" marR="0" marT="0" marB="0"/>
                </a:tc>
                <a:extLst>
                  <a:ext uri="{0D108BD9-81ED-4DB2-BD59-A6C34878D82A}">
                    <a16:rowId xmlns:a16="http://schemas.microsoft.com/office/drawing/2014/main" val="819927540"/>
                  </a:ext>
                </a:extLst>
              </a:tr>
              <a:tr h="248681">
                <a:tc>
                  <a:txBody>
                    <a:bodyPr/>
                    <a:lstStyle/>
                    <a:p>
                      <a:pPr marL="91440" algn="l" fontAlgn="t"/>
                      <a:r>
                        <a:rPr lang="en-US" sz="1200" u="none" strike="noStrike" dirty="0">
                          <a:solidFill>
                            <a:schemeClr val="tx1"/>
                          </a:solidFill>
                          <a:effectLst/>
                          <a:latin typeface="+mn-lt"/>
                        </a:rPr>
                        <a:t>Stencil Separation Speed (mm/sec)</a:t>
                      </a:r>
                      <a:endParaRPr lang="en-US"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solidFill>
                            <a:schemeClr val="tx1"/>
                          </a:solidFill>
                          <a:effectLst/>
                          <a:latin typeface="+mn-lt"/>
                        </a:rPr>
                        <a:t>0-3</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solidFill>
                            <a:schemeClr val="tx1"/>
                          </a:solidFill>
                          <a:effectLst/>
                          <a:latin typeface="+mn-lt"/>
                        </a:rPr>
                        <a:t>1</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solidFill>
                            <a:schemeClr val="tx1"/>
                          </a:solidFill>
                          <a:effectLst/>
                          <a:latin typeface="+mn-lt"/>
                        </a:rPr>
                        <a:t>1</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solidFill>
                            <a:schemeClr val="tx1"/>
                          </a:solidFill>
                          <a:effectLst/>
                          <a:latin typeface="+mn-lt"/>
                        </a:rPr>
                        <a:t>2</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b="0" i="0" u="none" strike="noStrike" dirty="0">
                          <a:solidFill>
                            <a:schemeClr val="tx1"/>
                          </a:solidFill>
                          <a:effectLst/>
                          <a:latin typeface="+mn-lt"/>
                        </a:rPr>
                        <a:t>not answered</a:t>
                      </a:r>
                    </a:p>
                  </a:txBody>
                  <a:tcPr marL="0" marR="0" marT="0" marB="0"/>
                </a:tc>
                <a:extLst>
                  <a:ext uri="{0D108BD9-81ED-4DB2-BD59-A6C34878D82A}">
                    <a16:rowId xmlns:a16="http://schemas.microsoft.com/office/drawing/2014/main" val="2239564460"/>
                  </a:ext>
                </a:extLst>
              </a:tr>
              <a:tr h="366579">
                <a:tc>
                  <a:txBody>
                    <a:bodyPr/>
                    <a:lstStyle/>
                    <a:p>
                      <a:pPr marL="91440" algn="l" fontAlgn="t"/>
                      <a:r>
                        <a:rPr lang="en-US" sz="1200" u="none" strike="noStrike" dirty="0">
                          <a:solidFill>
                            <a:schemeClr val="tx1"/>
                          </a:solidFill>
                          <a:effectLst/>
                          <a:latin typeface="+mn-lt"/>
                        </a:rPr>
                        <a:t>Under Screen Cleaning frequency (per print)</a:t>
                      </a:r>
                      <a:endParaRPr lang="en-US"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solidFill>
                            <a:schemeClr val="tx1"/>
                          </a:solidFill>
                          <a:effectLst/>
                          <a:latin typeface="+mn-lt"/>
                        </a:rPr>
                        <a:t>2-6</a:t>
                      </a:r>
                      <a:endParaRPr lang="zh-TW" altLang="en-US" sz="1200" b="0" i="0" u="none" strike="noStrike" dirty="0">
                        <a:solidFill>
                          <a:schemeClr val="tx1"/>
                        </a:solidFill>
                        <a:effectLst/>
                        <a:latin typeface="+mn-lt"/>
                      </a:endParaRPr>
                    </a:p>
                  </a:txBody>
                  <a:tcPr marL="0" marR="0" marT="0" marB="0"/>
                </a:tc>
                <a:tc>
                  <a:txBody>
                    <a:bodyPr/>
                    <a:lstStyle/>
                    <a:p>
                      <a:pPr marL="91440" algn="l" fontAlgn="t"/>
                      <a:r>
                        <a:rPr lang="en-MY" sz="1200" u="none" strike="noStrike">
                          <a:solidFill>
                            <a:schemeClr val="tx1"/>
                          </a:solidFill>
                          <a:effectLst/>
                          <a:latin typeface="+mn-lt"/>
                        </a:rPr>
                        <a:t>5</a:t>
                      </a:r>
                      <a:endParaRPr lang="en-MY" sz="1200" b="0" i="0" u="none" strike="noStrike">
                        <a:solidFill>
                          <a:schemeClr val="tx1"/>
                        </a:solidFill>
                        <a:effectLst/>
                        <a:latin typeface="+mn-lt"/>
                      </a:endParaRPr>
                    </a:p>
                  </a:txBody>
                  <a:tcPr marL="0" marR="0" marT="0" marB="0"/>
                </a:tc>
                <a:tc>
                  <a:txBody>
                    <a:bodyPr/>
                    <a:lstStyle/>
                    <a:p>
                      <a:pPr marL="91440" algn="l" fontAlgn="t"/>
                      <a:r>
                        <a:rPr lang="en-US" sz="1200" b="0" i="0" u="none" strike="noStrike" dirty="0">
                          <a:solidFill>
                            <a:schemeClr val="tx1"/>
                          </a:solidFill>
                          <a:effectLst/>
                          <a:latin typeface="+mn-lt"/>
                        </a:rPr>
                        <a:t>1</a:t>
                      </a:r>
                      <a:endParaRPr lang="en-MY" sz="1200" b="0" i="0" u="none" strike="noStrike" dirty="0">
                        <a:solidFill>
                          <a:schemeClr val="tx1"/>
                        </a:solidFill>
                        <a:effectLst/>
                        <a:latin typeface="+mn-lt"/>
                      </a:endParaRPr>
                    </a:p>
                  </a:txBody>
                  <a:tcPr marL="0" marR="0" marT="0" marB="0"/>
                </a:tc>
                <a:tc>
                  <a:txBody>
                    <a:bodyPr/>
                    <a:lstStyle/>
                    <a:p>
                      <a:pPr marL="91440" algn="l" fontAlgn="t"/>
                      <a:r>
                        <a:rPr lang="en-US" sz="1200" b="0" i="0" u="none" strike="noStrike" dirty="0">
                          <a:solidFill>
                            <a:schemeClr val="tx1"/>
                          </a:solidFill>
                          <a:effectLst/>
                          <a:latin typeface="+mn-lt"/>
                        </a:rPr>
                        <a:t>6</a:t>
                      </a:r>
                      <a:endParaRPr lang="en-MY" sz="1200" b="0" i="0" u="none" strike="noStrike" dirty="0">
                        <a:solidFill>
                          <a:schemeClr val="tx1"/>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200" b="0" i="0" u="none" strike="noStrike" kern="0" cap="none" spc="0" normalizeH="0" baseline="0" noProof="0">
                          <a:ln>
                            <a:noFill/>
                          </a:ln>
                          <a:solidFill>
                            <a:srgbClr val="000000"/>
                          </a:solidFill>
                          <a:effectLst/>
                          <a:uLnTx/>
                          <a:uFillTx/>
                          <a:latin typeface="Intel Clear"/>
                          <a:sym typeface="Intel Clear"/>
                        </a:rPr>
                        <a:t>not answered</a:t>
                      </a:r>
                      <a:endParaRPr kumimoji="0" lang="en-MY" sz="1200" b="0" i="0" u="none" strike="noStrike" kern="0" cap="none" spc="0" normalizeH="0" baseline="0" noProof="0" dirty="0">
                        <a:ln>
                          <a:noFill/>
                        </a:ln>
                        <a:solidFill>
                          <a:srgbClr val="000000"/>
                        </a:solidFill>
                        <a:effectLst/>
                        <a:uLnTx/>
                        <a:uFillTx/>
                        <a:latin typeface="Intel Clear"/>
                        <a:sym typeface="Intel Clear"/>
                      </a:endParaRPr>
                    </a:p>
                  </a:txBody>
                  <a:tcPr marL="0" marR="0" marT="0" marB="0"/>
                </a:tc>
                <a:extLst>
                  <a:ext uri="{0D108BD9-81ED-4DB2-BD59-A6C34878D82A}">
                    <a16:rowId xmlns:a16="http://schemas.microsoft.com/office/drawing/2014/main" val="834936670"/>
                  </a:ext>
                </a:extLst>
              </a:tr>
              <a:tr h="252123">
                <a:tc>
                  <a:txBody>
                    <a:bodyPr/>
                    <a:lstStyle/>
                    <a:p>
                      <a:pPr marL="91440" algn="l" fontAlgn="t"/>
                      <a:r>
                        <a:rPr lang="en-MY" sz="1200" u="none" strike="noStrike" dirty="0">
                          <a:solidFill>
                            <a:schemeClr val="tx1"/>
                          </a:solidFill>
                          <a:effectLst/>
                          <a:latin typeface="+mn-lt"/>
                        </a:rPr>
                        <a:t>Stencil Cleaning Frequency (hrs)</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solidFill>
                            <a:schemeClr val="tx1"/>
                          </a:solidFill>
                          <a:effectLst/>
                          <a:latin typeface="+mn-lt"/>
                        </a:rPr>
                        <a:t>1</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solidFill>
                            <a:schemeClr val="tx1"/>
                          </a:solidFill>
                          <a:effectLst/>
                          <a:latin typeface="+mn-lt"/>
                        </a:rPr>
                        <a:t>4</a:t>
                      </a:r>
                      <a:endParaRPr lang="en-MY" sz="1200" b="0" i="0" u="none" strike="noStrike" dirty="0">
                        <a:solidFill>
                          <a:schemeClr val="tx1"/>
                        </a:solidFill>
                        <a:effectLst/>
                        <a:latin typeface="+mn-lt"/>
                      </a:endParaRPr>
                    </a:p>
                  </a:txBody>
                  <a:tcPr marL="0" marR="0" marT="0" marB="0"/>
                </a:tc>
                <a:tc>
                  <a:txBody>
                    <a:bodyPr/>
                    <a:lstStyle/>
                    <a:p>
                      <a:pPr marL="91440" algn="l" fontAlgn="t"/>
                      <a:r>
                        <a:rPr lang="en-US" sz="1200" b="0" i="0" u="none" strike="noStrike" dirty="0">
                          <a:solidFill>
                            <a:schemeClr val="tx1"/>
                          </a:solidFill>
                          <a:effectLst/>
                          <a:latin typeface="+mn-lt"/>
                        </a:rPr>
                        <a:t>6</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solidFill>
                            <a:schemeClr val="tx1"/>
                          </a:solidFill>
                          <a:effectLst/>
                          <a:latin typeface="+mn-lt"/>
                        </a:rPr>
                        <a:t>100</a:t>
                      </a:r>
                      <a:endParaRPr lang="en-MY" sz="1200" b="0" i="0" u="none" strike="noStrike" dirty="0">
                        <a:solidFill>
                          <a:schemeClr val="tx1"/>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200" b="0" i="0" u="none" strike="noStrike" kern="0" cap="none" spc="0" normalizeH="0" baseline="0" noProof="0">
                          <a:ln>
                            <a:noFill/>
                          </a:ln>
                          <a:solidFill>
                            <a:srgbClr val="000000"/>
                          </a:solidFill>
                          <a:effectLst/>
                          <a:uLnTx/>
                          <a:uFillTx/>
                          <a:latin typeface="Intel Clear"/>
                          <a:sym typeface="Intel Clear"/>
                        </a:rPr>
                        <a:t>not answered</a:t>
                      </a:r>
                      <a:endParaRPr kumimoji="0" lang="en-MY" sz="1200" b="0" i="0" u="none" strike="noStrike" kern="0" cap="none" spc="0" normalizeH="0" baseline="0" noProof="0" dirty="0">
                        <a:ln>
                          <a:noFill/>
                        </a:ln>
                        <a:solidFill>
                          <a:srgbClr val="000000"/>
                        </a:solidFill>
                        <a:effectLst/>
                        <a:uLnTx/>
                        <a:uFillTx/>
                        <a:latin typeface="Intel Clear"/>
                        <a:sym typeface="Intel Clear"/>
                      </a:endParaRPr>
                    </a:p>
                  </a:txBody>
                  <a:tcPr marL="0" marR="0" marT="0" marB="0"/>
                </a:tc>
                <a:extLst>
                  <a:ext uri="{0D108BD9-81ED-4DB2-BD59-A6C34878D82A}">
                    <a16:rowId xmlns:a16="http://schemas.microsoft.com/office/drawing/2014/main" val="513040908"/>
                  </a:ext>
                </a:extLst>
              </a:tr>
              <a:tr h="190496">
                <a:tc>
                  <a:txBody>
                    <a:bodyPr/>
                    <a:lstStyle/>
                    <a:p>
                      <a:pPr marL="91440" algn="l" fontAlgn="t"/>
                      <a:r>
                        <a:rPr lang="en-MY" sz="1200" u="none" strike="noStrike" dirty="0">
                          <a:solidFill>
                            <a:schemeClr val="tx1"/>
                          </a:solidFill>
                          <a:effectLst/>
                          <a:latin typeface="+mn-lt"/>
                        </a:rPr>
                        <a:t>Cleaning Process</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solidFill>
                            <a:schemeClr val="tx1"/>
                          </a:solidFill>
                          <a:effectLst/>
                          <a:latin typeface="+mn-lt"/>
                        </a:rPr>
                        <a:t>Pneumatic</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solidFill>
                            <a:schemeClr val="tx1"/>
                          </a:solidFill>
                          <a:effectLst/>
                          <a:latin typeface="+mn-lt"/>
                        </a:rPr>
                        <a:t>Solvent clean </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solidFill>
                            <a:schemeClr val="tx1"/>
                          </a:solidFill>
                          <a:effectLst/>
                          <a:latin typeface="+mn-lt"/>
                        </a:rPr>
                        <a:t>Ultrasonic</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solidFill>
                            <a:schemeClr val="tx1"/>
                          </a:solidFill>
                          <a:effectLst/>
                          <a:latin typeface="+mn-lt"/>
                        </a:rPr>
                        <a:t>Manual wiped paper &amp; Ultrasonic</a:t>
                      </a:r>
                      <a:endParaRPr lang="en-MY" sz="1200" b="0" i="0" u="none" strike="noStrike" dirty="0">
                        <a:solidFill>
                          <a:schemeClr val="tx1"/>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200" b="0" i="0" u="none" strike="noStrike" kern="0" cap="none" spc="0" normalizeH="0" baseline="0" noProof="0" dirty="0">
                          <a:ln>
                            <a:noFill/>
                          </a:ln>
                          <a:solidFill>
                            <a:srgbClr val="000000"/>
                          </a:solidFill>
                          <a:effectLst/>
                          <a:uLnTx/>
                          <a:uFillTx/>
                          <a:latin typeface="Intel Clear"/>
                          <a:sym typeface="Intel Clear"/>
                        </a:rPr>
                        <a:t>not answered</a:t>
                      </a:r>
                    </a:p>
                  </a:txBody>
                  <a:tcPr marL="0" marR="0" marT="0" marB="0"/>
                </a:tc>
                <a:extLst>
                  <a:ext uri="{0D108BD9-81ED-4DB2-BD59-A6C34878D82A}">
                    <a16:rowId xmlns:a16="http://schemas.microsoft.com/office/drawing/2014/main" val="4069361007"/>
                  </a:ext>
                </a:extLst>
              </a:tr>
              <a:tr h="183289">
                <a:tc>
                  <a:txBody>
                    <a:bodyPr/>
                    <a:lstStyle/>
                    <a:p>
                      <a:pPr marL="91440" algn="l" fontAlgn="t"/>
                      <a:r>
                        <a:rPr lang="en-MY" sz="1200" u="none" strike="noStrike" dirty="0">
                          <a:solidFill>
                            <a:schemeClr val="tx1"/>
                          </a:solidFill>
                          <a:effectLst/>
                          <a:latin typeface="+mn-lt"/>
                        </a:rPr>
                        <a:t>PCB support type</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solidFill>
                            <a:schemeClr val="tx1"/>
                          </a:solidFill>
                          <a:effectLst/>
                          <a:latin typeface="+mn-lt"/>
                        </a:rPr>
                        <a:t>Pin,</a:t>
                      </a:r>
                    </a:p>
                    <a:p>
                      <a:pPr marL="91440" algn="l" fontAlgn="t"/>
                      <a:r>
                        <a:rPr lang="en-MY" sz="1200" u="none" strike="noStrike" dirty="0">
                          <a:solidFill>
                            <a:schemeClr val="tx1"/>
                          </a:solidFill>
                          <a:effectLst/>
                          <a:latin typeface="+mn-lt"/>
                        </a:rPr>
                        <a:t>Vacuum</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solidFill>
                            <a:schemeClr val="tx1"/>
                          </a:solidFill>
                          <a:effectLst/>
                          <a:latin typeface="+mn-lt"/>
                        </a:rPr>
                        <a:t>Pin </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solidFill>
                            <a:schemeClr val="tx1"/>
                          </a:solidFill>
                          <a:effectLst/>
                          <a:latin typeface="+mn-lt"/>
                        </a:rPr>
                        <a:t>Pin,</a:t>
                      </a:r>
                    </a:p>
                    <a:p>
                      <a:pPr marL="91440" algn="l" fontAlgn="t"/>
                      <a:r>
                        <a:rPr lang="en-MY" sz="1200" u="none" strike="noStrike" dirty="0">
                          <a:solidFill>
                            <a:schemeClr val="tx1"/>
                          </a:solidFill>
                          <a:effectLst/>
                          <a:latin typeface="+mn-lt"/>
                        </a:rPr>
                        <a:t>Vacuum</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solidFill>
                            <a:schemeClr val="tx1"/>
                          </a:solidFill>
                          <a:effectLst/>
                          <a:latin typeface="+mn-lt"/>
                        </a:rPr>
                        <a:t>Pin, </a:t>
                      </a:r>
                    </a:p>
                    <a:p>
                      <a:pPr marL="91440" algn="l" fontAlgn="t"/>
                      <a:r>
                        <a:rPr lang="en-MY" sz="1200" u="none" strike="noStrike" dirty="0">
                          <a:solidFill>
                            <a:schemeClr val="tx1"/>
                          </a:solidFill>
                          <a:effectLst/>
                          <a:latin typeface="+mn-lt"/>
                        </a:rPr>
                        <a:t>Vacuum</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b="0" i="0" u="none" strike="noStrike" dirty="0">
                          <a:solidFill>
                            <a:srgbClr val="0068B5"/>
                          </a:solidFill>
                          <a:effectLst/>
                          <a:latin typeface="+mn-lt"/>
                        </a:rPr>
                        <a:t>Pin</a:t>
                      </a:r>
                    </a:p>
                  </a:txBody>
                  <a:tcPr marL="0" marR="0" marT="0" marB="0"/>
                </a:tc>
                <a:extLst>
                  <a:ext uri="{0D108BD9-81ED-4DB2-BD59-A6C34878D82A}">
                    <a16:rowId xmlns:a16="http://schemas.microsoft.com/office/drawing/2014/main" val="3510300663"/>
                  </a:ext>
                </a:extLst>
              </a:tr>
              <a:tr h="379113">
                <a:tc>
                  <a:txBody>
                    <a:bodyPr/>
                    <a:lstStyle/>
                    <a:p>
                      <a:pPr marL="91440" algn="l" fontAlgn="t"/>
                      <a:r>
                        <a:rPr lang="en-US" sz="1200" u="none" strike="noStrike" dirty="0">
                          <a:solidFill>
                            <a:schemeClr val="tx1"/>
                          </a:solidFill>
                          <a:effectLst/>
                          <a:latin typeface="+mn-lt"/>
                        </a:rPr>
                        <a:t>Do you use the same pallet for paste print, PnP and reflow?</a:t>
                      </a:r>
                      <a:endParaRPr lang="en-US" sz="1200" b="0" i="0" u="none" strike="noStrike" dirty="0">
                        <a:solidFill>
                          <a:schemeClr val="tx1"/>
                        </a:solidFill>
                        <a:effectLst/>
                        <a:latin typeface="+mn-lt"/>
                      </a:endParaRPr>
                    </a:p>
                  </a:txBody>
                  <a:tcPr marL="0" marR="0" marT="0" marB="0"/>
                </a:tc>
                <a:tc>
                  <a:txBody>
                    <a:bodyPr/>
                    <a:lstStyle/>
                    <a:p>
                      <a:pPr marL="91440" algn="l" fontAlgn="t"/>
                      <a:r>
                        <a:rPr lang="en-US" sz="1200" b="0" i="0" u="none" strike="noStrike" dirty="0">
                          <a:solidFill>
                            <a:schemeClr val="tx1"/>
                          </a:solidFill>
                          <a:effectLst/>
                          <a:latin typeface="+mn-lt"/>
                        </a:rPr>
                        <a:t>n</a:t>
                      </a:r>
                      <a:r>
                        <a:rPr lang="en-MY" sz="1200" b="0" i="0" u="none" strike="noStrike" dirty="0">
                          <a:solidFill>
                            <a:schemeClr val="tx1"/>
                          </a:solidFill>
                          <a:effectLst/>
                          <a:latin typeface="+mn-lt"/>
                        </a:rPr>
                        <a:t>o</a:t>
                      </a:r>
                    </a:p>
                  </a:txBody>
                  <a:tcPr marL="0" marR="0" marT="0" marB="0"/>
                </a:tc>
                <a:tc>
                  <a:txBody>
                    <a:bodyPr/>
                    <a:lstStyle/>
                    <a:p>
                      <a:pPr marL="91440" algn="l" fontAlgn="t"/>
                      <a:r>
                        <a:rPr lang="en-MY" sz="1200" u="none" strike="noStrike" dirty="0">
                          <a:solidFill>
                            <a:schemeClr val="tx1"/>
                          </a:solidFill>
                          <a:effectLst/>
                          <a:latin typeface="+mn-lt"/>
                        </a:rPr>
                        <a:t>no</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solidFill>
                            <a:schemeClr val="tx1"/>
                          </a:solidFill>
                          <a:effectLst/>
                          <a:latin typeface="+mn-lt"/>
                        </a:rPr>
                        <a:t>no</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solidFill>
                            <a:schemeClr val="tx1"/>
                          </a:solidFill>
                          <a:effectLst/>
                          <a:latin typeface="+mn-lt"/>
                        </a:rPr>
                        <a:t>yes</a:t>
                      </a:r>
                      <a:endParaRPr lang="en-MY" sz="1200" b="0" i="0" u="none" strike="noStrike" dirty="0">
                        <a:solidFill>
                          <a:schemeClr val="tx1"/>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200" b="0" i="0" u="none" strike="noStrike" kern="0" cap="none" spc="0" normalizeH="0" baseline="0" noProof="0">
                          <a:ln>
                            <a:noFill/>
                          </a:ln>
                          <a:solidFill>
                            <a:srgbClr val="000000"/>
                          </a:solidFill>
                          <a:effectLst/>
                          <a:uLnTx/>
                          <a:uFillTx/>
                          <a:latin typeface="Intel Clear"/>
                          <a:sym typeface="Intel Clear"/>
                        </a:rPr>
                        <a:t>not answered</a:t>
                      </a:r>
                      <a:endParaRPr kumimoji="0" lang="en-MY" sz="1200" b="0" i="0" u="none" strike="noStrike" kern="0" cap="none" spc="0" normalizeH="0" baseline="0" noProof="0" dirty="0">
                        <a:ln>
                          <a:noFill/>
                        </a:ln>
                        <a:solidFill>
                          <a:srgbClr val="000000"/>
                        </a:solidFill>
                        <a:effectLst/>
                        <a:uLnTx/>
                        <a:uFillTx/>
                        <a:latin typeface="Intel Clear"/>
                        <a:sym typeface="Intel Clear"/>
                      </a:endParaRPr>
                    </a:p>
                  </a:txBody>
                  <a:tcPr marL="0" marR="0" marT="0" marB="0"/>
                </a:tc>
                <a:extLst>
                  <a:ext uri="{0D108BD9-81ED-4DB2-BD59-A6C34878D82A}">
                    <a16:rowId xmlns:a16="http://schemas.microsoft.com/office/drawing/2014/main" val="627046848"/>
                  </a:ext>
                </a:extLst>
              </a:tr>
              <a:tr h="366579">
                <a:tc>
                  <a:txBody>
                    <a:bodyPr/>
                    <a:lstStyle/>
                    <a:p>
                      <a:pPr marL="91440" algn="l" fontAlgn="t"/>
                      <a:r>
                        <a:rPr lang="en-US" sz="1200" u="none" strike="noStrike" dirty="0">
                          <a:solidFill>
                            <a:schemeClr val="tx1"/>
                          </a:solidFill>
                          <a:effectLst/>
                          <a:latin typeface="+mn-lt"/>
                        </a:rPr>
                        <a:t>Maximum board handling (mm, length x width)</a:t>
                      </a:r>
                      <a:endParaRPr lang="en-US"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solidFill>
                            <a:schemeClr val="tx1"/>
                          </a:solidFill>
                          <a:effectLst/>
                          <a:latin typeface="+mn-lt"/>
                        </a:rPr>
                        <a:t>510 x 508.5</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solidFill>
                            <a:schemeClr val="tx1"/>
                          </a:solidFill>
                          <a:effectLst/>
                          <a:latin typeface="+mn-lt"/>
                        </a:rPr>
                        <a:t>460 x 360</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solidFill>
                            <a:srgbClr val="FF0000"/>
                          </a:solidFill>
                          <a:effectLst>
                            <a:outerShdw blurRad="38100" dist="38100" dir="2700000" algn="tl">
                              <a:srgbClr val="000000">
                                <a:alpha val="43137"/>
                              </a:srgbClr>
                            </a:outerShdw>
                          </a:effectLst>
                          <a:latin typeface="+mn-lt"/>
                        </a:rPr>
                        <a:t>yes</a:t>
                      </a:r>
                      <a:endParaRPr lang="en-MY" sz="1200" b="0" i="0" u="none" strike="noStrike" dirty="0">
                        <a:solidFill>
                          <a:srgbClr val="FF0000"/>
                        </a:solidFill>
                        <a:effectLst>
                          <a:outerShdw blurRad="38100" dist="38100" dir="2700000" algn="tl">
                            <a:srgbClr val="000000">
                              <a:alpha val="43137"/>
                            </a:srgbClr>
                          </a:outerShdw>
                        </a:effectLst>
                        <a:latin typeface="+mn-lt"/>
                      </a:endParaRPr>
                    </a:p>
                  </a:txBody>
                  <a:tcPr marL="0" marR="0" marT="0" marB="0"/>
                </a:tc>
                <a:tc>
                  <a:txBody>
                    <a:bodyPr/>
                    <a:lstStyle/>
                    <a:p>
                      <a:pPr marL="91440" algn="l" fontAlgn="t"/>
                      <a:r>
                        <a:rPr lang="en-US" altLang="zh-TW" sz="1200" u="none" strike="noStrike" dirty="0">
                          <a:solidFill>
                            <a:schemeClr val="tx1"/>
                          </a:solidFill>
                          <a:effectLst/>
                          <a:latin typeface="+mn-lt"/>
                        </a:rPr>
                        <a:t>610 x 510</a:t>
                      </a:r>
                      <a:endParaRPr lang="en-US" altLang="zh-TW" sz="1200" b="0" i="0" u="none" strike="noStrike" dirty="0">
                        <a:solidFill>
                          <a:schemeClr val="tx1"/>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200" b="0" i="0" u="none" strike="noStrike" kern="0" cap="none" spc="0" normalizeH="0" baseline="0" noProof="0" dirty="0">
                          <a:ln>
                            <a:noFill/>
                          </a:ln>
                          <a:solidFill>
                            <a:srgbClr val="000000"/>
                          </a:solidFill>
                          <a:effectLst/>
                          <a:uLnTx/>
                          <a:uFillTx/>
                          <a:latin typeface="Intel Clear"/>
                          <a:sym typeface="Intel Clear"/>
                        </a:rPr>
                        <a:t>not answered</a:t>
                      </a:r>
                    </a:p>
                  </a:txBody>
                  <a:tcPr marL="0" marR="0" marT="0" marB="0"/>
                </a:tc>
                <a:extLst>
                  <a:ext uri="{0D108BD9-81ED-4DB2-BD59-A6C34878D82A}">
                    <a16:rowId xmlns:a16="http://schemas.microsoft.com/office/drawing/2014/main" val="4268863622"/>
                  </a:ext>
                </a:extLst>
              </a:tr>
              <a:tr h="285744">
                <a:tc>
                  <a:txBody>
                    <a:bodyPr/>
                    <a:lstStyle/>
                    <a:p>
                      <a:pPr marL="91440" algn="l" fontAlgn="t"/>
                      <a:r>
                        <a:rPr lang="en-MY" sz="1200" u="none" strike="noStrike" dirty="0">
                          <a:effectLst/>
                          <a:latin typeface="+mn-lt"/>
                        </a:rPr>
                        <a:t>Stencil Cut / Coating</a:t>
                      </a:r>
                      <a:endParaRPr lang="en-MY" sz="1200" b="0" i="0" u="none" strike="noStrike" dirty="0">
                        <a:solidFill>
                          <a:srgbClr val="000000"/>
                        </a:solidFill>
                        <a:effectLst/>
                        <a:latin typeface="+mn-lt"/>
                      </a:endParaRPr>
                    </a:p>
                  </a:txBody>
                  <a:tcPr marL="0" marR="0" marT="0" marB="0"/>
                </a:tc>
                <a:tc>
                  <a:txBody>
                    <a:bodyPr/>
                    <a:lstStyle/>
                    <a:p>
                      <a:pPr marL="91440" algn="l" fontAlgn="ctr"/>
                      <a:r>
                        <a:rPr lang="en-MY" sz="1200" u="none" strike="noStrike" dirty="0">
                          <a:effectLst/>
                          <a:latin typeface="+mn-lt"/>
                        </a:rPr>
                        <a:t>Laser</a:t>
                      </a:r>
                      <a:endParaRPr lang="en-MY" sz="1200" b="0" i="0" u="none" strike="noStrike" dirty="0">
                        <a:effectLst/>
                        <a:latin typeface="+mn-lt"/>
                      </a:endParaRPr>
                    </a:p>
                  </a:txBody>
                  <a:tcPr marL="0" marR="0" marT="0" marB="0"/>
                </a:tc>
                <a:tc>
                  <a:txBody>
                    <a:bodyPr/>
                    <a:lstStyle/>
                    <a:p>
                      <a:pPr marL="91440" algn="l" fontAlgn="ctr"/>
                      <a:r>
                        <a:rPr lang="en-MY" sz="1200" u="none" strike="noStrike" dirty="0">
                          <a:effectLst/>
                          <a:latin typeface="+mn-lt"/>
                        </a:rPr>
                        <a:t>Nano coating </a:t>
                      </a:r>
                      <a:endParaRPr lang="en-MY" sz="1200" b="0" i="0" u="none" strike="noStrike" dirty="0">
                        <a:effectLst/>
                        <a:latin typeface="+mn-lt"/>
                      </a:endParaRPr>
                    </a:p>
                  </a:txBody>
                  <a:tcPr marL="0" marR="0" marT="0" marB="0"/>
                </a:tc>
                <a:tc>
                  <a:txBody>
                    <a:bodyPr/>
                    <a:lstStyle/>
                    <a:p>
                      <a:pPr marL="91440" algn="l" fontAlgn="ctr"/>
                      <a:r>
                        <a:rPr lang="en-MY" sz="1200" u="none" strike="noStrike" dirty="0">
                          <a:solidFill>
                            <a:srgbClr val="FF0000"/>
                          </a:solidFill>
                          <a:effectLst>
                            <a:outerShdw blurRad="38100" dist="38100" dir="2700000" algn="tl">
                              <a:srgbClr val="000000">
                                <a:alpha val="43137"/>
                              </a:srgbClr>
                            </a:outerShdw>
                          </a:effectLst>
                          <a:latin typeface="+mn-lt"/>
                        </a:rPr>
                        <a:t>yes</a:t>
                      </a:r>
                      <a:endParaRPr lang="en-MY" sz="1200" b="0" i="0" u="none" strike="noStrike" dirty="0">
                        <a:solidFill>
                          <a:srgbClr val="FF0000"/>
                        </a:solidFill>
                        <a:effectLst>
                          <a:outerShdw blurRad="38100" dist="38100" dir="2700000" algn="tl">
                            <a:srgbClr val="000000">
                              <a:alpha val="43137"/>
                            </a:srgbClr>
                          </a:outerShdw>
                        </a:effectLst>
                        <a:latin typeface="+mn-lt"/>
                      </a:endParaRPr>
                    </a:p>
                  </a:txBody>
                  <a:tcPr marL="0" marR="0" marT="0" marB="0"/>
                </a:tc>
                <a:tc>
                  <a:txBody>
                    <a:bodyPr/>
                    <a:lstStyle/>
                    <a:p>
                      <a:pPr marL="91440" algn="l" fontAlgn="ctr"/>
                      <a:r>
                        <a:rPr lang="en-US" sz="1200" u="none" strike="noStrike" dirty="0">
                          <a:effectLst/>
                          <a:latin typeface="+mn-lt"/>
                        </a:rPr>
                        <a:t>Electroform, Laser cut</a:t>
                      </a:r>
                      <a:br>
                        <a:rPr lang="en-US" sz="1200" u="none" strike="noStrike" dirty="0">
                          <a:effectLst/>
                          <a:latin typeface="+mn-lt"/>
                        </a:rPr>
                      </a:br>
                      <a:r>
                        <a:rPr lang="en-US" sz="1200" u="none" strike="noStrike" dirty="0">
                          <a:effectLst/>
                          <a:latin typeface="+mn-lt"/>
                        </a:rPr>
                        <a:t>with electro polish + nano coat</a:t>
                      </a:r>
                      <a:endParaRPr lang="en-US" sz="1200" b="0" i="0" u="none" strike="noStrike" dirty="0">
                        <a:effectLst/>
                        <a:latin typeface="+mn-lt"/>
                      </a:endParaRPr>
                    </a:p>
                  </a:txBody>
                  <a:tcPr marL="0" marR="0" marT="0" marB="0"/>
                </a:tc>
                <a:tc>
                  <a:txBody>
                    <a:bodyPr/>
                    <a:lstStyle/>
                    <a:p>
                      <a:pPr marL="91440" algn="l" fontAlgn="ctr"/>
                      <a:r>
                        <a:rPr lang="en-US" sz="1200" b="0" i="0" u="none" strike="noStrike" dirty="0">
                          <a:solidFill>
                            <a:srgbClr val="0068B5"/>
                          </a:solidFill>
                          <a:effectLst/>
                          <a:latin typeface="+mn-lt"/>
                        </a:rPr>
                        <a:t>Etching Laser. No electropolish.</a:t>
                      </a:r>
                    </a:p>
                  </a:txBody>
                  <a:tcPr marL="0" marR="0" marT="0" marB="0"/>
                </a:tc>
                <a:extLst>
                  <a:ext uri="{0D108BD9-81ED-4DB2-BD59-A6C34878D82A}">
                    <a16:rowId xmlns:a16="http://schemas.microsoft.com/office/drawing/2014/main" val="3687416921"/>
                  </a:ext>
                </a:extLst>
              </a:tr>
              <a:tr h="285744">
                <a:tc>
                  <a:txBody>
                    <a:bodyPr/>
                    <a:lstStyle/>
                    <a:p>
                      <a:pPr marL="91440" algn="l" fontAlgn="t"/>
                      <a:r>
                        <a:rPr lang="en-MY" sz="1200" u="none" strike="noStrike" dirty="0">
                          <a:effectLst/>
                          <a:latin typeface="+mn-lt"/>
                        </a:rPr>
                        <a:t>Stencil Thickness (mm)</a:t>
                      </a:r>
                      <a:endParaRPr lang="en-MY" sz="1200" b="0" i="0" u="none" strike="noStrike" dirty="0">
                        <a:solidFill>
                          <a:srgbClr val="000000"/>
                        </a:solidFill>
                        <a:effectLst/>
                        <a:latin typeface="+mn-lt"/>
                      </a:endParaRPr>
                    </a:p>
                  </a:txBody>
                  <a:tcPr marL="0" marR="0" marT="0" marB="0"/>
                </a:tc>
                <a:tc>
                  <a:txBody>
                    <a:bodyPr/>
                    <a:lstStyle/>
                    <a:p>
                      <a:pPr marL="91440" algn="l" fontAlgn="t"/>
                      <a:r>
                        <a:rPr lang="en-MY" sz="1200" u="none" strike="noStrike">
                          <a:effectLst/>
                          <a:latin typeface="+mn-lt"/>
                        </a:rPr>
                        <a:t>0.13</a:t>
                      </a:r>
                      <a:endParaRPr lang="en-MY" sz="1200" b="0" i="0" u="none" strike="noStrike">
                        <a:solidFill>
                          <a:srgbClr val="0000FF"/>
                        </a:solidFill>
                        <a:effectLst/>
                        <a:latin typeface="+mn-lt"/>
                      </a:endParaRPr>
                    </a:p>
                  </a:txBody>
                  <a:tcPr marL="0" marR="0" marT="0" marB="0"/>
                </a:tc>
                <a:tc>
                  <a:txBody>
                    <a:bodyPr/>
                    <a:lstStyle/>
                    <a:p>
                      <a:pPr marL="91440" algn="l" fontAlgn="t"/>
                      <a:r>
                        <a:rPr lang="en-MY" sz="1200" u="none" strike="noStrike" dirty="0">
                          <a:effectLst/>
                          <a:latin typeface="+mn-lt"/>
                        </a:rPr>
                        <a:t>0.13</a:t>
                      </a:r>
                      <a:endParaRPr lang="en-MY" sz="1200" b="0" i="0" u="none" strike="noStrike" dirty="0">
                        <a:solidFill>
                          <a:srgbClr val="000000"/>
                        </a:solidFill>
                        <a:effectLst/>
                        <a:latin typeface="+mn-lt"/>
                      </a:endParaRPr>
                    </a:p>
                  </a:txBody>
                  <a:tcPr marL="0" marR="0" marT="0" marB="0"/>
                </a:tc>
                <a:tc>
                  <a:txBody>
                    <a:bodyPr/>
                    <a:lstStyle/>
                    <a:p>
                      <a:pPr marL="91440" algn="l" fontAlgn="t"/>
                      <a:r>
                        <a:rPr lang="en-MY" sz="1200" u="none" strike="noStrike" dirty="0">
                          <a:effectLst/>
                          <a:latin typeface="+mn-lt"/>
                        </a:rPr>
                        <a:t>0.10, 0.13, 0.15</a:t>
                      </a:r>
                      <a:endParaRPr lang="en-MY" sz="1200" b="0" i="0" u="none" strike="noStrike" dirty="0">
                        <a:solidFill>
                          <a:srgbClr val="0000CC"/>
                        </a:solidFill>
                        <a:effectLst/>
                        <a:latin typeface="+mn-lt"/>
                      </a:endParaRPr>
                    </a:p>
                  </a:txBody>
                  <a:tcPr marL="0" marR="0" marT="0" marB="0"/>
                </a:tc>
                <a:tc>
                  <a:txBody>
                    <a:bodyPr/>
                    <a:lstStyle/>
                    <a:p>
                      <a:pPr marL="91440" algn="l" fontAlgn="t"/>
                      <a:r>
                        <a:rPr lang="sv-SE" sz="1200" u="none" strike="noStrike" dirty="0">
                          <a:effectLst/>
                          <a:latin typeface="+mn-lt"/>
                        </a:rPr>
                        <a:t>0.10 (BGA), 0.13 (skt), 0.15 (other)</a:t>
                      </a:r>
                      <a:endParaRPr lang="sv-SE" sz="1200" b="0" i="0" u="none" strike="noStrike" dirty="0">
                        <a:solidFill>
                          <a:srgbClr val="0000CC"/>
                        </a:solidFill>
                        <a:effectLst/>
                        <a:latin typeface="+mn-lt"/>
                      </a:endParaRPr>
                    </a:p>
                  </a:txBody>
                  <a:tcPr marL="0" marR="0" marT="0" marB="0"/>
                </a:tc>
                <a:tc>
                  <a:txBody>
                    <a:bodyPr/>
                    <a:lstStyle/>
                    <a:p>
                      <a:pPr marL="91440" algn="l" fontAlgn="t"/>
                      <a:r>
                        <a:rPr lang="sv-SE" sz="1200" b="0" i="0" u="none" strike="noStrike" dirty="0">
                          <a:solidFill>
                            <a:srgbClr val="0068B5"/>
                          </a:solidFill>
                          <a:effectLst/>
                          <a:latin typeface="+mn-lt"/>
                        </a:rPr>
                        <a:t>Secondary: 0.12/0.15</a:t>
                      </a:r>
                    </a:p>
                    <a:p>
                      <a:pPr marL="91440" algn="l" fontAlgn="t"/>
                      <a:r>
                        <a:rPr lang="sv-SE" sz="1200" b="0" i="0" u="none" strike="noStrike" dirty="0">
                          <a:solidFill>
                            <a:srgbClr val="0068B5"/>
                          </a:solidFill>
                          <a:effectLst/>
                          <a:latin typeface="+mn-lt"/>
                        </a:rPr>
                        <a:t>Primary: 0.12</a:t>
                      </a:r>
                    </a:p>
                  </a:txBody>
                  <a:tcPr marL="0" marR="0" marT="0" marB="0"/>
                </a:tc>
                <a:extLst>
                  <a:ext uri="{0D108BD9-81ED-4DB2-BD59-A6C34878D82A}">
                    <a16:rowId xmlns:a16="http://schemas.microsoft.com/office/drawing/2014/main" val="58602769"/>
                  </a:ext>
                </a:extLst>
              </a:tr>
              <a:tr h="383568">
                <a:tc>
                  <a:txBody>
                    <a:bodyPr/>
                    <a:lstStyle/>
                    <a:p>
                      <a:pPr marL="91440" algn="l" fontAlgn="t"/>
                      <a:r>
                        <a:rPr lang="en-MY" sz="1200" u="none" strike="noStrike" dirty="0">
                          <a:effectLst/>
                          <a:latin typeface="+mn-lt"/>
                        </a:rPr>
                        <a:t>Stencil Step up/down (mm)</a:t>
                      </a:r>
                      <a:endParaRPr lang="en-MY" sz="1200" b="0" i="0" u="none" strike="noStrike" dirty="0">
                        <a:solidFill>
                          <a:srgbClr val="000000"/>
                        </a:solidFill>
                        <a:effectLst/>
                        <a:latin typeface="+mn-lt"/>
                      </a:endParaRPr>
                    </a:p>
                  </a:txBody>
                  <a:tcPr marL="0" marR="0" marT="0" marB="0"/>
                </a:tc>
                <a:tc>
                  <a:txBody>
                    <a:bodyPr/>
                    <a:lstStyle/>
                    <a:p>
                      <a:pPr marL="91440" algn="l" fontAlgn="t"/>
                      <a:r>
                        <a:rPr lang="en-MY" sz="1200" u="none" strike="noStrike">
                          <a:effectLst/>
                          <a:latin typeface="+mn-lt"/>
                        </a:rPr>
                        <a:t>Yes</a:t>
                      </a:r>
                      <a:br>
                        <a:rPr lang="en-MY" sz="1200" u="none" strike="noStrike">
                          <a:effectLst/>
                          <a:latin typeface="+mn-lt"/>
                        </a:rPr>
                      </a:br>
                      <a:r>
                        <a:rPr lang="en-MY" sz="1200" u="none" strike="noStrike">
                          <a:effectLst/>
                          <a:latin typeface="+mn-lt"/>
                        </a:rPr>
                        <a:t>0.10/0.15</a:t>
                      </a:r>
                      <a:endParaRPr lang="en-MY" sz="1200" b="0" i="0" u="none" strike="noStrike">
                        <a:solidFill>
                          <a:srgbClr val="0000FF"/>
                        </a:solidFill>
                        <a:effectLst/>
                        <a:latin typeface="+mn-lt"/>
                      </a:endParaRPr>
                    </a:p>
                  </a:txBody>
                  <a:tcPr marL="0" marR="0" marT="0" marB="0"/>
                </a:tc>
                <a:tc>
                  <a:txBody>
                    <a:bodyPr/>
                    <a:lstStyle/>
                    <a:p>
                      <a:pPr marL="91440" algn="l" fontAlgn="t"/>
                      <a:r>
                        <a:rPr lang="en-MY" sz="1200" u="none" strike="noStrike" dirty="0">
                          <a:effectLst/>
                          <a:latin typeface="+mn-lt"/>
                        </a:rPr>
                        <a:t>no</a:t>
                      </a:r>
                      <a:endParaRPr lang="en-MY" sz="1200" b="0" i="0" u="none" strike="noStrike" dirty="0">
                        <a:solidFill>
                          <a:srgbClr val="000000"/>
                        </a:solidFill>
                        <a:effectLst/>
                        <a:latin typeface="+mn-lt"/>
                      </a:endParaRPr>
                    </a:p>
                  </a:txBody>
                  <a:tcPr marL="0" marR="0" marT="0" marB="0"/>
                </a:tc>
                <a:tc>
                  <a:txBody>
                    <a:bodyPr/>
                    <a:lstStyle/>
                    <a:p>
                      <a:pPr marL="91440" algn="l" fontAlgn="t"/>
                      <a:r>
                        <a:rPr lang="en-MY" sz="1200" u="none" strike="noStrike" dirty="0">
                          <a:effectLst/>
                          <a:latin typeface="+mn-lt"/>
                        </a:rPr>
                        <a:t>Yes. Depends components,  0.10, 0.13, 0.15</a:t>
                      </a:r>
                      <a:endParaRPr lang="en-MY" sz="1200" b="0" i="0" u="none" strike="noStrike" dirty="0">
                        <a:solidFill>
                          <a:srgbClr val="0000CC"/>
                        </a:solidFill>
                        <a:effectLst/>
                        <a:latin typeface="+mn-lt"/>
                      </a:endParaRPr>
                    </a:p>
                  </a:txBody>
                  <a:tcPr marL="0" marR="0" marT="0" marB="0"/>
                </a:tc>
                <a:tc>
                  <a:txBody>
                    <a:bodyPr/>
                    <a:lstStyle/>
                    <a:p>
                      <a:pPr marL="91440" algn="l" fontAlgn="t"/>
                      <a:r>
                        <a:rPr lang="en-MY" sz="1200" u="none" strike="noStrike" dirty="0">
                          <a:effectLst/>
                          <a:latin typeface="+mn-lt"/>
                        </a:rPr>
                        <a:t>Yes. Depends components,  0.10 (BGA), 0.13 (</a:t>
                      </a:r>
                      <a:r>
                        <a:rPr lang="en-MY" sz="1200" u="none" strike="noStrike" dirty="0" err="1">
                          <a:effectLst/>
                          <a:latin typeface="+mn-lt"/>
                        </a:rPr>
                        <a:t>skt</a:t>
                      </a:r>
                      <a:r>
                        <a:rPr lang="en-MY" sz="1200" u="none" strike="noStrike" dirty="0">
                          <a:effectLst/>
                          <a:latin typeface="+mn-lt"/>
                        </a:rPr>
                        <a:t>), 0.15 (other)</a:t>
                      </a:r>
                      <a:endParaRPr lang="en-MY" sz="1200" b="0" i="0" u="none" strike="noStrike" dirty="0">
                        <a:solidFill>
                          <a:srgbClr val="0000CC"/>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lang="en-MY" sz="1200" b="0" i="0" u="none" strike="noStrike" dirty="0">
                          <a:solidFill>
                            <a:schemeClr val="tx1"/>
                          </a:solidFill>
                          <a:effectLst/>
                          <a:latin typeface="+mn-lt"/>
                        </a:rPr>
                        <a:t>not answered</a:t>
                      </a:r>
                    </a:p>
                  </a:txBody>
                  <a:tcPr marL="0" marR="0" marT="0" marB="0"/>
                </a:tc>
                <a:extLst>
                  <a:ext uri="{0D108BD9-81ED-4DB2-BD59-A6C34878D82A}">
                    <a16:rowId xmlns:a16="http://schemas.microsoft.com/office/drawing/2014/main" val="2652091500"/>
                  </a:ext>
                </a:extLst>
              </a:tr>
              <a:tr h="285744">
                <a:tc>
                  <a:txBody>
                    <a:bodyPr/>
                    <a:lstStyle/>
                    <a:p>
                      <a:pPr marL="91440" algn="l" fontAlgn="t"/>
                      <a:r>
                        <a:rPr lang="en-MY" sz="1200" u="none" strike="noStrike" dirty="0">
                          <a:effectLst/>
                          <a:latin typeface="+mn-lt"/>
                        </a:rPr>
                        <a:t>Solder Paste Vendor</a:t>
                      </a:r>
                      <a:endParaRPr lang="en-MY" sz="1200" b="0" i="0" u="none" strike="noStrike" dirty="0">
                        <a:solidFill>
                          <a:srgbClr val="000000"/>
                        </a:solidFill>
                        <a:effectLst/>
                        <a:latin typeface="+mn-lt"/>
                      </a:endParaRPr>
                    </a:p>
                  </a:txBody>
                  <a:tcPr marL="0" marR="0" marT="0" marB="0"/>
                </a:tc>
                <a:tc>
                  <a:txBody>
                    <a:bodyPr/>
                    <a:lstStyle/>
                    <a:p>
                      <a:pPr marL="91440" algn="l" fontAlgn="t"/>
                      <a:r>
                        <a:rPr lang="en-MY" sz="1200" u="none" strike="noStrike">
                          <a:effectLst/>
                          <a:latin typeface="+mn-lt"/>
                        </a:rPr>
                        <a:t>not answered</a:t>
                      </a:r>
                      <a:endParaRPr lang="en-MY" sz="1200" b="0" i="0" u="none" strike="noStrike">
                        <a:solidFill>
                          <a:srgbClr val="0000FF"/>
                        </a:solidFill>
                        <a:effectLst/>
                        <a:latin typeface="+mn-lt"/>
                      </a:endParaRPr>
                    </a:p>
                  </a:txBody>
                  <a:tcPr marL="0" marR="0" marT="0" marB="0"/>
                </a:tc>
                <a:tc>
                  <a:txBody>
                    <a:bodyPr/>
                    <a:lstStyle/>
                    <a:p>
                      <a:pPr marL="91440" algn="l" fontAlgn="t"/>
                      <a:r>
                        <a:rPr lang="en-MY" sz="1200" u="none" strike="noStrike" dirty="0">
                          <a:effectLst/>
                          <a:latin typeface="+mn-lt"/>
                        </a:rPr>
                        <a:t>not answered</a:t>
                      </a:r>
                      <a:endParaRPr lang="en-MY" sz="1200" b="0" i="0" u="none" strike="noStrike" dirty="0">
                        <a:solidFill>
                          <a:srgbClr val="0000FF"/>
                        </a:solidFill>
                        <a:effectLst/>
                        <a:latin typeface="+mn-lt"/>
                      </a:endParaRPr>
                    </a:p>
                  </a:txBody>
                  <a:tcPr marL="0" marR="0" marT="0" marB="0"/>
                </a:tc>
                <a:tc>
                  <a:txBody>
                    <a:bodyPr/>
                    <a:lstStyle/>
                    <a:p>
                      <a:pPr marL="91440" algn="l" fontAlgn="t"/>
                      <a:r>
                        <a:rPr lang="en-MY" sz="1200" b="0" i="0" u="none" strike="noStrike" dirty="0">
                          <a:solidFill>
                            <a:srgbClr val="0068B5"/>
                          </a:solidFill>
                          <a:effectLst/>
                          <a:latin typeface="+mn-lt"/>
                        </a:rPr>
                        <a:t>Eunow EUP-148</a:t>
                      </a:r>
                    </a:p>
                  </a:txBody>
                  <a:tcPr marL="0" marR="0" marT="0" marB="0"/>
                </a:tc>
                <a:tc>
                  <a:txBody>
                    <a:bodyPr/>
                    <a:lstStyle/>
                    <a:p>
                      <a:pPr marL="91440" algn="l" fontAlgn="t"/>
                      <a:r>
                        <a:rPr lang="en-MY" sz="1200" u="none" strike="noStrike" dirty="0">
                          <a:effectLst/>
                          <a:latin typeface="+mn-lt"/>
                        </a:rPr>
                        <a:t>not answered</a:t>
                      </a:r>
                      <a:endParaRPr lang="en-MY" sz="1200" b="0" i="0" u="none" strike="noStrike" dirty="0">
                        <a:solidFill>
                          <a:srgbClr val="0000FF"/>
                        </a:solidFill>
                        <a:effectLst/>
                        <a:latin typeface="+mn-lt"/>
                      </a:endParaRPr>
                    </a:p>
                  </a:txBody>
                  <a:tcPr marL="0" marR="0" marT="0" marB="0"/>
                </a:tc>
                <a:tc>
                  <a:txBody>
                    <a:bodyPr/>
                    <a:lstStyle/>
                    <a:p>
                      <a:pPr marL="91440" algn="l" fontAlgn="t"/>
                      <a:r>
                        <a:rPr lang="en-MY" sz="1200" b="0" i="0" u="none" strike="noStrike" dirty="0">
                          <a:solidFill>
                            <a:srgbClr val="0068B5"/>
                          </a:solidFill>
                          <a:effectLst/>
                          <a:latin typeface="+mn-lt"/>
                        </a:rPr>
                        <a:t>Shenmao PF606-P</a:t>
                      </a:r>
                    </a:p>
                  </a:txBody>
                  <a:tcPr marL="0" marR="0" marT="0" marB="0"/>
                </a:tc>
                <a:extLst>
                  <a:ext uri="{0D108BD9-81ED-4DB2-BD59-A6C34878D82A}">
                    <a16:rowId xmlns:a16="http://schemas.microsoft.com/office/drawing/2014/main" val="3779940131"/>
                  </a:ext>
                </a:extLst>
              </a:tr>
              <a:tr h="285744">
                <a:tc>
                  <a:txBody>
                    <a:bodyPr/>
                    <a:lstStyle/>
                    <a:p>
                      <a:pPr marL="91440" algn="l" fontAlgn="t"/>
                      <a:r>
                        <a:rPr lang="en-MY" sz="1200" u="none" strike="noStrike" dirty="0">
                          <a:effectLst/>
                          <a:latin typeface="+mn-lt"/>
                        </a:rPr>
                        <a:t>Solder Paste Type</a:t>
                      </a:r>
                      <a:endParaRPr lang="en-MY" sz="1200" b="0" i="0" u="none" strike="noStrike" dirty="0">
                        <a:solidFill>
                          <a:srgbClr val="000000"/>
                        </a:solidFill>
                        <a:effectLst/>
                        <a:latin typeface="+mn-lt"/>
                      </a:endParaRPr>
                    </a:p>
                  </a:txBody>
                  <a:tcPr marL="0" marR="0" marT="0" marB="0"/>
                </a:tc>
                <a:tc>
                  <a:txBody>
                    <a:bodyPr/>
                    <a:lstStyle/>
                    <a:p>
                      <a:pPr marL="91440" algn="l" fontAlgn="t"/>
                      <a:r>
                        <a:rPr lang="en-MY" sz="1200" u="none" strike="noStrike" dirty="0">
                          <a:effectLst/>
                          <a:latin typeface="+mn-lt"/>
                        </a:rPr>
                        <a:t>type 4</a:t>
                      </a:r>
                      <a:endParaRPr lang="en-MY" sz="1200" b="0" i="0" u="none" strike="noStrike" dirty="0">
                        <a:solidFill>
                          <a:srgbClr val="0000FF"/>
                        </a:solidFill>
                        <a:effectLst/>
                        <a:latin typeface="+mn-lt"/>
                      </a:endParaRPr>
                    </a:p>
                  </a:txBody>
                  <a:tcPr marL="0" marR="0" marT="0" marB="0"/>
                </a:tc>
                <a:tc>
                  <a:txBody>
                    <a:bodyPr/>
                    <a:lstStyle/>
                    <a:p>
                      <a:pPr marL="91440" algn="l" fontAlgn="t"/>
                      <a:r>
                        <a:rPr lang="en-MY" sz="1200" u="none" strike="noStrike" dirty="0">
                          <a:effectLst/>
                          <a:latin typeface="+mn-lt"/>
                        </a:rPr>
                        <a:t>SAC type 4</a:t>
                      </a:r>
                      <a:endParaRPr lang="en-MY" sz="1200" b="0" i="0" u="none" strike="noStrike" dirty="0">
                        <a:solidFill>
                          <a:srgbClr val="000000"/>
                        </a:solidFill>
                        <a:effectLst/>
                        <a:latin typeface="+mn-lt"/>
                      </a:endParaRPr>
                    </a:p>
                  </a:txBody>
                  <a:tcPr marL="0" marR="0" marT="0" marB="0"/>
                </a:tc>
                <a:tc>
                  <a:txBody>
                    <a:bodyPr/>
                    <a:lstStyle/>
                    <a:p>
                      <a:pPr marL="91440" algn="l" fontAlgn="t"/>
                      <a:r>
                        <a:rPr lang="en-MY" sz="1200" u="none" strike="noStrike" dirty="0">
                          <a:solidFill>
                            <a:srgbClr val="0068B5"/>
                          </a:solidFill>
                          <a:effectLst/>
                          <a:latin typeface="+mn-lt"/>
                        </a:rPr>
                        <a:t>SAC305</a:t>
                      </a:r>
                      <a:r>
                        <a:rPr lang="en-MY" sz="1200" u="none" strike="noStrike" dirty="0">
                          <a:effectLst/>
                          <a:latin typeface="+mn-lt"/>
                        </a:rPr>
                        <a:t> type 4</a:t>
                      </a:r>
                      <a:endParaRPr lang="en-MY" sz="1200" b="0" i="0" u="none" strike="noStrike" dirty="0">
                        <a:solidFill>
                          <a:srgbClr val="0000FF"/>
                        </a:solidFill>
                        <a:effectLst/>
                        <a:latin typeface="+mn-lt"/>
                      </a:endParaRPr>
                    </a:p>
                  </a:txBody>
                  <a:tcPr marL="0" marR="0" marT="0" marB="0"/>
                </a:tc>
                <a:tc>
                  <a:txBody>
                    <a:bodyPr/>
                    <a:lstStyle/>
                    <a:p>
                      <a:pPr marL="91440" algn="l" fontAlgn="t"/>
                      <a:r>
                        <a:rPr lang="en-MY" sz="1200" u="none" strike="noStrike" dirty="0">
                          <a:effectLst/>
                          <a:latin typeface="+mn-lt"/>
                        </a:rPr>
                        <a:t>Type 4</a:t>
                      </a:r>
                      <a:endParaRPr lang="en-MY" sz="1200" b="0" i="0" u="none" strike="noStrike" dirty="0">
                        <a:solidFill>
                          <a:srgbClr val="0000CC"/>
                        </a:solidFill>
                        <a:effectLst/>
                        <a:latin typeface="+mn-lt"/>
                      </a:endParaRPr>
                    </a:p>
                  </a:txBody>
                  <a:tcPr marL="0" marR="0" marT="0" marB="0"/>
                </a:tc>
                <a:tc>
                  <a:txBody>
                    <a:bodyPr/>
                    <a:lstStyle/>
                    <a:p>
                      <a:pPr marL="91440" algn="l" fontAlgn="t"/>
                      <a:r>
                        <a:rPr lang="en-MY" sz="1200" b="0" i="0" u="none" strike="noStrike" dirty="0">
                          <a:solidFill>
                            <a:srgbClr val="0068B5"/>
                          </a:solidFill>
                          <a:effectLst/>
                          <a:latin typeface="+mn-lt"/>
                        </a:rPr>
                        <a:t>SAC305 Type 4</a:t>
                      </a:r>
                    </a:p>
                  </a:txBody>
                  <a:tcPr marL="0" marR="0" marT="0" marB="0"/>
                </a:tc>
                <a:extLst>
                  <a:ext uri="{0D108BD9-81ED-4DB2-BD59-A6C34878D82A}">
                    <a16:rowId xmlns:a16="http://schemas.microsoft.com/office/drawing/2014/main" val="1718962608"/>
                  </a:ext>
                </a:extLst>
              </a:tr>
            </a:tbl>
          </a:graphicData>
        </a:graphic>
      </p:graphicFrame>
      <p:sp>
        <p:nvSpPr>
          <p:cNvPr id="4" name="Rectangle: Rounded Corners 3">
            <a:extLst>
              <a:ext uri="{FF2B5EF4-FFF2-40B4-BE49-F238E27FC236}">
                <a16:creationId xmlns:a16="http://schemas.microsoft.com/office/drawing/2014/main" id="{497346F8-713E-4A90-AD2E-BB9BC6924B25}"/>
              </a:ext>
            </a:extLst>
          </p:cNvPr>
          <p:cNvSpPr/>
          <p:nvPr/>
        </p:nvSpPr>
        <p:spPr>
          <a:xfrm>
            <a:off x="583141" y="5121855"/>
            <a:ext cx="10678583" cy="1339374"/>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Pin PCB support type is most common and several customers also using vacuum support</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Customer preferred stencil thicknesses: 0.10, 0.12, 0.13 &amp; 0.15mm</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Many customers are not sharing their paste vendor info with Intel</a:t>
            </a:r>
          </a:p>
        </p:txBody>
      </p:sp>
      <p:sp>
        <p:nvSpPr>
          <p:cNvPr id="5" name="Action Button: Go Home 4">
            <a:hlinkClick r:id="rId3" action="ppaction://hlinksldjump" highlightClick="1"/>
            <a:extLst>
              <a:ext uri="{FF2B5EF4-FFF2-40B4-BE49-F238E27FC236}">
                <a16:creationId xmlns:a16="http://schemas.microsoft.com/office/drawing/2014/main" id="{574E588A-1590-4CD5-A77C-53E25AC33970}"/>
              </a:ext>
            </a:extLst>
          </p:cNvPr>
          <p:cNvSpPr/>
          <p:nvPr/>
        </p:nvSpPr>
        <p:spPr>
          <a:xfrm>
            <a:off x="11399520" y="162560"/>
            <a:ext cx="487680" cy="451311"/>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9338854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66E739F-7895-4E78-9D84-8AF52D604BA8}"/>
              </a:ext>
            </a:extLst>
          </p:cNvPr>
          <p:cNvSpPr>
            <a:spLocks noGrp="1"/>
          </p:cNvSpPr>
          <p:nvPr>
            <p:ph type="title"/>
          </p:nvPr>
        </p:nvSpPr>
        <p:spPr>
          <a:xfrm>
            <a:off x="607484" y="76203"/>
            <a:ext cx="10972800" cy="567267"/>
          </a:xfrm>
        </p:spPr>
        <p:txBody>
          <a:bodyPr/>
          <a:lstStyle/>
          <a:p>
            <a:r>
              <a:rPr lang="en-US" dirty="0"/>
              <a:t>Pick &amp; Place Process</a:t>
            </a:r>
            <a:endParaRPr lang="en-MY" dirty="0"/>
          </a:p>
        </p:txBody>
      </p:sp>
      <p:graphicFrame>
        <p:nvGraphicFramePr>
          <p:cNvPr id="10" name="Content Placeholder 9">
            <a:extLst>
              <a:ext uri="{FF2B5EF4-FFF2-40B4-BE49-F238E27FC236}">
                <a16:creationId xmlns:a16="http://schemas.microsoft.com/office/drawing/2014/main" id="{41625B67-9133-480E-82F2-6B249197820A}"/>
              </a:ext>
            </a:extLst>
          </p:cNvPr>
          <p:cNvGraphicFramePr>
            <a:graphicFrameLocks noGrp="1"/>
          </p:cNvGraphicFramePr>
          <p:nvPr>
            <p:ph sz="quarter" idx="13"/>
            <p:extLst>
              <p:ext uri="{D42A27DB-BD31-4B8C-83A1-F6EECF244321}">
                <p14:modId xmlns:p14="http://schemas.microsoft.com/office/powerpoint/2010/main" val="3414482371"/>
              </p:ext>
            </p:extLst>
          </p:nvPr>
        </p:nvGraphicFramePr>
        <p:xfrm>
          <a:off x="134085" y="664300"/>
          <a:ext cx="11507582" cy="4462208"/>
        </p:xfrm>
        <a:graphic>
          <a:graphicData uri="http://schemas.openxmlformats.org/drawingml/2006/table">
            <a:tbl>
              <a:tblPr firstRow="1" bandRow="1">
                <a:tableStyleId>{69012ECD-51FC-41F1-AA8D-1B2483CD663E}</a:tableStyleId>
              </a:tblPr>
              <a:tblGrid>
                <a:gridCol w="2318893">
                  <a:extLst>
                    <a:ext uri="{9D8B030D-6E8A-4147-A177-3AD203B41FA5}">
                      <a16:colId xmlns:a16="http://schemas.microsoft.com/office/drawing/2014/main" val="1680375905"/>
                    </a:ext>
                  </a:extLst>
                </a:gridCol>
                <a:gridCol w="1238489">
                  <a:extLst>
                    <a:ext uri="{9D8B030D-6E8A-4147-A177-3AD203B41FA5}">
                      <a16:colId xmlns:a16="http://schemas.microsoft.com/office/drawing/2014/main" val="2193403341"/>
                    </a:ext>
                  </a:extLst>
                </a:gridCol>
                <a:gridCol w="1954802">
                  <a:extLst>
                    <a:ext uri="{9D8B030D-6E8A-4147-A177-3AD203B41FA5}">
                      <a16:colId xmlns:a16="http://schemas.microsoft.com/office/drawing/2014/main" val="759563318"/>
                    </a:ext>
                  </a:extLst>
                </a:gridCol>
                <a:gridCol w="1812865">
                  <a:extLst>
                    <a:ext uri="{9D8B030D-6E8A-4147-A177-3AD203B41FA5}">
                      <a16:colId xmlns:a16="http://schemas.microsoft.com/office/drawing/2014/main" val="2319376087"/>
                    </a:ext>
                  </a:extLst>
                </a:gridCol>
                <a:gridCol w="1642533">
                  <a:extLst>
                    <a:ext uri="{9D8B030D-6E8A-4147-A177-3AD203B41FA5}">
                      <a16:colId xmlns:a16="http://schemas.microsoft.com/office/drawing/2014/main" val="994167038"/>
                    </a:ext>
                  </a:extLst>
                </a:gridCol>
                <a:gridCol w="2540000">
                  <a:extLst>
                    <a:ext uri="{9D8B030D-6E8A-4147-A177-3AD203B41FA5}">
                      <a16:colId xmlns:a16="http://schemas.microsoft.com/office/drawing/2014/main" val="454662808"/>
                    </a:ext>
                  </a:extLst>
                </a:gridCol>
              </a:tblGrid>
              <a:tr h="267650">
                <a:tc>
                  <a:txBody>
                    <a:bodyPr/>
                    <a:lstStyle/>
                    <a:p>
                      <a:pPr marL="91440" algn="l" fontAlgn="t"/>
                      <a:r>
                        <a:rPr lang="en-MY" sz="1800" u="none" strike="noStrike" dirty="0">
                          <a:effectLst/>
                          <a:latin typeface="+mn-lt"/>
                        </a:rPr>
                        <a:t>Parameter / Capability </a:t>
                      </a:r>
                      <a:endParaRPr lang="en-MY" sz="1800" b="1" i="0" u="none" strike="noStrike" dirty="0">
                        <a:solidFill>
                          <a:srgbClr val="FFFFFF"/>
                        </a:solidFill>
                        <a:effectLst/>
                        <a:latin typeface="+mn-lt"/>
                      </a:endParaRPr>
                    </a:p>
                  </a:txBody>
                  <a:tcPr marL="0" marR="0" marT="0" marB="0" anchor="ctr"/>
                </a:tc>
                <a:tc>
                  <a:txBody>
                    <a:bodyPr/>
                    <a:lstStyle/>
                    <a:p>
                      <a:pPr marL="91440" algn="l" rtl="0" fontAlgn="ctr"/>
                      <a:r>
                        <a:rPr lang="en-MY" sz="1800" u="none" strike="noStrike" dirty="0">
                          <a:effectLst/>
                          <a:latin typeface="+mn-lt"/>
                        </a:rPr>
                        <a:t>ECS</a:t>
                      </a:r>
                      <a:endParaRPr lang="en-MY" sz="1800" b="1" i="0" u="none" strike="noStrike" dirty="0">
                        <a:solidFill>
                          <a:srgbClr val="FFFFFF"/>
                        </a:solidFill>
                        <a:effectLst/>
                        <a:latin typeface="+mn-lt"/>
                      </a:endParaRPr>
                    </a:p>
                  </a:txBody>
                  <a:tcPr marL="0" marR="0" marT="0" marB="0" anchor="ctr"/>
                </a:tc>
                <a:tc>
                  <a:txBody>
                    <a:bodyPr/>
                    <a:lstStyle/>
                    <a:p>
                      <a:pPr marL="91440" algn="l" rtl="0" fontAlgn="ctr"/>
                      <a:r>
                        <a:rPr lang="en-MY" sz="1800" u="none" strike="noStrike" dirty="0">
                          <a:effectLst/>
                          <a:latin typeface="+mn-lt"/>
                        </a:rPr>
                        <a:t>LCFC</a:t>
                      </a:r>
                      <a:endParaRPr lang="en-MY" sz="1800" b="1" i="0" u="none" strike="noStrike" dirty="0">
                        <a:solidFill>
                          <a:srgbClr val="FFFFFF"/>
                        </a:solidFill>
                        <a:effectLst/>
                        <a:latin typeface="+mn-lt"/>
                      </a:endParaRPr>
                    </a:p>
                  </a:txBody>
                  <a:tcPr marL="0" marR="0" marT="0" marB="0" anchor="ctr"/>
                </a:tc>
                <a:tc>
                  <a:txBody>
                    <a:bodyPr/>
                    <a:lstStyle/>
                    <a:p>
                      <a:pPr marL="91440" algn="l" rtl="0" fontAlgn="ctr"/>
                      <a:r>
                        <a:rPr lang="en-MY" sz="1800" u="none" strike="noStrike" dirty="0">
                          <a:effectLst/>
                          <a:latin typeface="+mn-lt"/>
                        </a:rPr>
                        <a:t>FXWH</a:t>
                      </a:r>
                      <a:endParaRPr lang="en-MY" sz="1800" b="1" i="0" u="none" strike="noStrike" dirty="0">
                        <a:solidFill>
                          <a:srgbClr val="FFFFFF"/>
                        </a:solidFill>
                        <a:effectLst/>
                        <a:latin typeface="+mn-lt"/>
                      </a:endParaRPr>
                    </a:p>
                  </a:txBody>
                  <a:tcPr marL="0" marR="0" marT="0" marB="0" anchor="ctr"/>
                </a:tc>
                <a:tc>
                  <a:txBody>
                    <a:bodyPr/>
                    <a:lstStyle/>
                    <a:p>
                      <a:pPr marL="91440" algn="l" rtl="0" fontAlgn="ctr"/>
                      <a:r>
                        <a:rPr lang="en-MY" sz="1800" u="none" strike="noStrike" dirty="0">
                          <a:effectLst/>
                          <a:latin typeface="+mn-lt"/>
                        </a:rPr>
                        <a:t>LITEON</a:t>
                      </a:r>
                      <a:endParaRPr lang="en-MY" sz="1800" b="1" i="0" u="none" strike="noStrike" dirty="0">
                        <a:solidFill>
                          <a:srgbClr val="FFFFFF"/>
                        </a:solidFill>
                        <a:effectLst/>
                        <a:latin typeface="+mn-lt"/>
                      </a:endParaRPr>
                    </a:p>
                  </a:txBody>
                  <a:tcPr marL="0" marR="0" marT="0" marB="0" anchor="ctr"/>
                </a:tc>
                <a:tc>
                  <a:txBody>
                    <a:bodyPr/>
                    <a:lstStyle/>
                    <a:p>
                      <a:pPr marL="91440" algn="l" rtl="0" fontAlgn="ctr"/>
                      <a:r>
                        <a:rPr lang="en-MY" sz="1800" b="1" i="0" u="none" strike="noStrike" dirty="0">
                          <a:solidFill>
                            <a:srgbClr val="FFFFFF"/>
                          </a:solidFill>
                          <a:effectLst/>
                          <a:latin typeface="+mn-lt"/>
                        </a:rPr>
                        <a:t>MSI (LENOVO)</a:t>
                      </a:r>
                    </a:p>
                  </a:txBody>
                  <a:tcPr marL="0" marR="0" marT="0" marB="0" anchor="ctr"/>
                </a:tc>
                <a:extLst>
                  <a:ext uri="{0D108BD9-81ED-4DB2-BD59-A6C34878D82A}">
                    <a16:rowId xmlns:a16="http://schemas.microsoft.com/office/drawing/2014/main" val="2433272817"/>
                  </a:ext>
                </a:extLst>
              </a:tr>
              <a:tr h="665457">
                <a:tc>
                  <a:txBody>
                    <a:bodyPr/>
                    <a:lstStyle/>
                    <a:p>
                      <a:pPr marL="91440" algn="l" fontAlgn="t"/>
                      <a:r>
                        <a:rPr lang="en-US" sz="1400" u="none" strike="noStrike" dirty="0">
                          <a:effectLst/>
                          <a:latin typeface="+mn-lt"/>
                        </a:rPr>
                        <a:t>Nozzle size (LGA socket &amp; Intel component)</a:t>
                      </a:r>
                      <a:endParaRPr lang="en-US"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latin typeface="+mn-lt"/>
                        </a:rPr>
                        <a:t>1005</a:t>
                      </a:r>
                      <a:endParaRPr lang="en-MY" sz="1400" b="0" i="0" u="none" strike="noStrike" dirty="0">
                        <a:solidFill>
                          <a:srgbClr val="0000FF"/>
                        </a:solidFill>
                        <a:effectLst/>
                        <a:latin typeface="+mn-lt"/>
                      </a:endParaRPr>
                    </a:p>
                  </a:txBody>
                  <a:tcPr marL="0" marR="0" marT="0" marB="0"/>
                </a:tc>
                <a:tc>
                  <a:txBody>
                    <a:bodyPr/>
                    <a:lstStyle/>
                    <a:p>
                      <a:pPr marL="91440" algn="l" fontAlgn="t"/>
                      <a:r>
                        <a:rPr lang="en-MY" sz="1400" u="none" strike="noStrike" dirty="0">
                          <a:effectLst/>
                          <a:latin typeface="+mn-lt"/>
                        </a:rPr>
                        <a:t>NPM 1003</a:t>
                      </a:r>
                      <a:endParaRPr lang="en-MY" sz="1400" b="0" i="0" u="none" strike="noStrike" dirty="0">
                        <a:solidFill>
                          <a:srgbClr val="FF0000"/>
                        </a:solidFill>
                        <a:effectLst/>
                        <a:latin typeface="+mn-lt"/>
                      </a:endParaRPr>
                    </a:p>
                  </a:txBody>
                  <a:tcPr marL="0" marR="0" marT="0" marB="0"/>
                </a:tc>
                <a:tc>
                  <a:txBody>
                    <a:bodyPr/>
                    <a:lstStyle/>
                    <a:p>
                      <a:pPr marL="91440" algn="l" fontAlgn="t"/>
                      <a:r>
                        <a:rPr lang="en-MY" sz="1400" u="none" strike="noStrike" dirty="0">
                          <a:effectLst/>
                          <a:latin typeface="+mn-lt"/>
                        </a:rPr>
                        <a:t>Universal 1240F &amp; </a:t>
                      </a:r>
                      <a:r>
                        <a:rPr lang="en-MY" sz="1400" u="none" strike="noStrike" dirty="0">
                          <a:solidFill>
                            <a:srgbClr val="0068B5"/>
                          </a:solidFill>
                          <a:effectLst/>
                          <a:latin typeface="+mn-lt"/>
                        </a:rPr>
                        <a:t>Fuzion1-11</a:t>
                      </a:r>
                      <a:r>
                        <a:rPr lang="en-MY" sz="1400" u="none" strike="noStrike" dirty="0">
                          <a:solidFill>
                            <a:schemeClr val="tx1"/>
                          </a:solidFill>
                          <a:effectLst/>
                          <a:latin typeface="+mn-lt"/>
                        </a:rPr>
                        <a:t> and</a:t>
                      </a:r>
                      <a:r>
                        <a:rPr lang="en-MY" sz="1400" u="none" strike="noStrike" dirty="0">
                          <a:effectLst/>
                          <a:latin typeface="+mn-lt"/>
                        </a:rPr>
                        <a:t> Sony CF00900</a:t>
                      </a:r>
                      <a:endParaRPr lang="en-MY"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latin typeface="+mn-lt"/>
                        </a:rPr>
                        <a:t>Nozzle: 15.0G (</a:t>
                      </a:r>
                      <a:r>
                        <a:rPr lang="en-MY" sz="1400" u="none" strike="noStrike" dirty="0" err="1">
                          <a:effectLst/>
                          <a:latin typeface="+mn-lt"/>
                        </a:rPr>
                        <a:t>skt</a:t>
                      </a:r>
                      <a:r>
                        <a:rPr lang="en-MY" sz="1400" u="none" strike="noStrike" dirty="0">
                          <a:effectLst/>
                          <a:latin typeface="+mn-lt"/>
                        </a:rPr>
                        <a:t>) Nozzle: 7.0G (BGA)</a:t>
                      </a:r>
                      <a:endParaRPr lang="en-MY" sz="1400" b="0" i="0" u="none" strike="noStrike" dirty="0">
                        <a:solidFill>
                          <a:srgbClr val="0000CC"/>
                        </a:solidFill>
                        <a:effectLst/>
                        <a:latin typeface="+mn-lt"/>
                      </a:endParaRPr>
                    </a:p>
                  </a:txBody>
                  <a:tcPr marL="0" marR="0" marT="0" marB="0"/>
                </a:tc>
                <a:tc>
                  <a:txBody>
                    <a:bodyPr/>
                    <a:lstStyle/>
                    <a:p>
                      <a:pPr marL="91440" algn="l" fontAlgn="t"/>
                      <a:r>
                        <a:rPr lang="en-MY" sz="1400" b="0" i="0" u="none" strike="noStrike" dirty="0">
                          <a:solidFill>
                            <a:srgbClr val="0068B5"/>
                          </a:solidFill>
                          <a:effectLst/>
                          <a:latin typeface="+mn-lt"/>
                        </a:rPr>
                        <a:t>FUJI NXT1. Nozzle types 0.7/1.0/1.3/2.5/5.0/7.0 /10.0</a:t>
                      </a:r>
                    </a:p>
                  </a:txBody>
                  <a:tcPr marL="0" marR="0" marT="0" marB="0"/>
                </a:tc>
                <a:extLst>
                  <a:ext uri="{0D108BD9-81ED-4DB2-BD59-A6C34878D82A}">
                    <a16:rowId xmlns:a16="http://schemas.microsoft.com/office/drawing/2014/main" val="3637021086"/>
                  </a:ext>
                </a:extLst>
              </a:tr>
              <a:tr h="343896">
                <a:tc>
                  <a:txBody>
                    <a:bodyPr/>
                    <a:lstStyle/>
                    <a:p>
                      <a:pPr marL="91440" algn="l" fontAlgn="t"/>
                      <a:r>
                        <a:rPr lang="en-US" sz="1400" u="none" strike="noStrike" dirty="0">
                          <a:effectLst/>
                          <a:latin typeface="+mn-lt"/>
                        </a:rPr>
                        <a:t>Max Socket &amp; BGA size capability (</a:t>
                      </a:r>
                      <a:r>
                        <a:rPr lang="en-US" sz="1400" u="none" strike="noStrike" dirty="0" err="1">
                          <a:effectLst/>
                          <a:latin typeface="+mn-lt"/>
                        </a:rPr>
                        <a:t>x,y</a:t>
                      </a:r>
                      <a:r>
                        <a:rPr lang="en-US" sz="1400" u="none" strike="noStrike" dirty="0">
                          <a:effectLst/>
                          <a:latin typeface="+mn-lt"/>
                        </a:rPr>
                        <a:t>, mm)</a:t>
                      </a:r>
                      <a:endParaRPr lang="en-US"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latin typeface="+mn-lt"/>
                        </a:rPr>
                        <a:t>90-120</a:t>
                      </a:r>
                      <a:endParaRPr lang="en-MY" sz="1400" b="0" i="0" u="none" strike="noStrike" dirty="0">
                        <a:solidFill>
                          <a:srgbClr val="0000FF"/>
                        </a:solidFill>
                        <a:effectLst/>
                        <a:latin typeface="+mn-lt"/>
                      </a:endParaRPr>
                    </a:p>
                  </a:txBody>
                  <a:tcPr marL="0" marR="0" marT="0" marB="0"/>
                </a:tc>
                <a:tc>
                  <a:txBody>
                    <a:bodyPr/>
                    <a:lstStyle/>
                    <a:p>
                      <a:pPr marL="91440" algn="l" fontAlgn="t"/>
                      <a:r>
                        <a:rPr lang="en-MY" sz="1400" u="none" strike="noStrike" dirty="0">
                          <a:effectLst/>
                          <a:latin typeface="+mn-lt"/>
                        </a:rPr>
                        <a:t>45 x 45</a:t>
                      </a:r>
                      <a:endParaRPr lang="en-MY"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latin typeface="+mn-lt"/>
                        </a:rPr>
                        <a:t>55 x 55</a:t>
                      </a:r>
                      <a:endParaRPr lang="en-MY"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latin typeface="+mn-lt"/>
                        </a:rPr>
                        <a:t>74 x 74</a:t>
                      </a:r>
                      <a:endParaRPr lang="en-MY" sz="1400" b="0" i="0" u="none" strike="noStrike" dirty="0">
                        <a:solidFill>
                          <a:srgbClr val="0000CC"/>
                        </a:solidFill>
                        <a:effectLst/>
                        <a:latin typeface="+mn-lt"/>
                      </a:endParaRPr>
                    </a:p>
                  </a:txBody>
                  <a:tcPr marL="0" marR="0" marT="0" marB="0"/>
                </a:tc>
                <a:tc>
                  <a:txBody>
                    <a:bodyPr/>
                    <a:lstStyle/>
                    <a:p>
                      <a:pPr marL="91440" algn="l" fontAlgn="t"/>
                      <a:r>
                        <a:rPr lang="en-MY" sz="1400" b="0" i="0" u="none" strike="noStrike" dirty="0">
                          <a:solidFill>
                            <a:schemeClr val="tx1"/>
                          </a:solidFill>
                          <a:effectLst/>
                          <a:latin typeface="+mn-lt"/>
                        </a:rPr>
                        <a:t>not answered</a:t>
                      </a:r>
                    </a:p>
                  </a:txBody>
                  <a:tcPr marL="0" marR="0" marT="0" marB="0"/>
                </a:tc>
                <a:extLst>
                  <a:ext uri="{0D108BD9-81ED-4DB2-BD59-A6C34878D82A}">
                    <a16:rowId xmlns:a16="http://schemas.microsoft.com/office/drawing/2014/main" val="2230258650"/>
                  </a:ext>
                </a:extLst>
              </a:tr>
              <a:tr h="343896">
                <a:tc>
                  <a:txBody>
                    <a:bodyPr/>
                    <a:lstStyle/>
                    <a:p>
                      <a:pPr marL="91440" algn="l" fontAlgn="t"/>
                      <a:r>
                        <a:rPr lang="en-US" sz="1400" u="none" strike="noStrike">
                          <a:effectLst/>
                          <a:latin typeface="+mn-lt"/>
                        </a:rPr>
                        <a:t>Max Socket &amp; BGA weight capability (grams)</a:t>
                      </a:r>
                      <a:endParaRPr lang="en-US" sz="1400" b="0" i="0" u="none" strike="noStrike">
                        <a:solidFill>
                          <a:srgbClr val="000000"/>
                        </a:solidFill>
                        <a:effectLst/>
                        <a:latin typeface="+mn-lt"/>
                      </a:endParaRPr>
                    </a:p>
                  </a:txBody>
                  <a:tcPr marL="0" marR="0" marT="0" marB="0"/>
                </a:tc>
                <a:tc>
                  <a:txBody>
                    <a:bodyPr/>
                    <a:lstStyle/>
                    <a:p>
                      <a:pPr marL="91440" algn="l" fontAlgn="t"/>
                      <a:r>
                        <a:rPr lang="en-MY" sz="1400" u="none" strike="noStrike" dirty="0">
                          <a:solidFill>
                            <a:srgbClr val="FF0000"/>
                          </a:solidFill>
                          <a:effectLst>
                            <a:outerShdw blurRad="38100" dist="38100" dir="2700000" algn="tl">
                              <a:srgbClr val="000000">
                                <a:alpha val="43137"/>
                              </a:srgbClr>
                            </a:outerShdw>
                          </a:effectLst>
                          <a:latin typeface="+mn-lt"/>
                        </a:rPr>
                        <a:t>28mm ?</a:t>
                      </a:r>
                      <a:endParaRPr lang="en-MY" sz="1400" b="0" i="0" u="none" strike="noStrike" dirty="0">
                        <a:solidFill>
                          <a:srgbClr val="FF0000"/>
                        </a:solidFill>
                        <a:effectLst>
                          <a:outerShdw blurRad="38100" dist="38100" dir="2700000" algn="tl">
                            <a:srgbClr val="000000">
                              <a:alpha val="43137"/>
                            </a:srgbClr>
                          </a:outerShdw>
                        </a:effectLst>
                        <a:latin typeface="+mn-lt"/>
                      </a:endParaRPr>
                    </a:p>
                  </a:txBody>
                  <a:tcPr marL="0" marR="0" marT="0" marB="0"/>
                </a:tc>
                <a:tc>
                  <a:txBody>
                    <a:bodyPr/>
                    <a:lstStyle/>
                    <a:p>
                      <a:pPr marL="91440" algn="l" fontAlgn="t"/>
                      <a:r>
                        <a:rPr lang="en-MY" sz="1400" u="none" strike="noStrike" dirty="0">
                          <a:effectLst/>
                          <a:latin typeface="+mn-lt"/>
                        </a:rPr>
                        <a:t>30</a:t>
                      </a:r>
                      <a:endParaRPr lang="en-MY" sz="1400" b="0" i="0" u="none" strike="noStrike" dirty="0">
                        <a:solidFill>
                          <a:srgbClr val="000000"/>
                        </a:solidFill>
                        <a:effectLst/>
                        <a:latin typeface="+mn-lt"/>
                      </a:endParaRPr>
                    </a:p>
                  </a:txBody>
                  <a:tcPr marL="0" marR="0" marT="0" marB="0"/>
                </a:tc>
                <a:tc>
                  <a:txBody>
                    <a:bodyPr/>
                    <a:lstStyle/>
                    <a:p>
                      <a:pPr marL="91440" algn="l" fontAlgn="t"/>
                      <a:r>
                        <a:rPr lang="en-MY" sz="1400" b="0" i="0" u="none" strike="noStrike" dirty="0">
                          <a:solidFill>
                            <a:srgbClr val="000000"/>
                          </a:solidFill>
                          <a:effectLst/>
                          <a:latin typeface="+mn-lt"/>
                        </a:rPr>
                        <a:t>not answered</a:t>
                      </a:r>
                    </a:p>
                  </a:txBody>
                  <a:tcPr marL="0" marR="0" marT="0" marB="0"/>
                </a:tc>
                <a:tc>
                  <a:txBody>
                    <a:bodyPr/>
                    <a:lstStyle/>
                    <a:p>
                      <a:pPr marL="91440" algn="l" fontAlgn="ctr"/>
                      <a:r>
                        <a:rPr lang="en-MY" sz="1400" u="none" strike="noStrike" dirty="0">
                          <a:effectLst/>
                          <a:latin typeface="+mn-lt"/>
                        </a:rPr>
                        <a:t>60</a:t>
                      </a:r>
                      <a:endParaRPr lang="en-MY" sz="1400" b="0" i="0" u="none" strike="noStrike" dirty="0">
                        <a:solidFill>
                          <a:srgbClr val="0000CC"/>
                        </a:solidFill>
                        <a:effectLst/>
                        <a:latin typeface="+mn-lt"/>
                      </a:endParaRPr>
                    </a:p>
                  </a:txBody>
                  <a:tcPr marL="0" marR="0" marT="0" marB="0"/>
                </a:tc>
                <a:tc>
                  <a:txBody>
                    <a:bodyPr/>
                    <a:lstStyle/>
                    <a:p>
                      <a:pPr marL="91440" marR="0" lvl="0" indent="0" algn="l" defTabSz="609600" eaLnBrk="1" fontAlgn="ctr" latinLnBrk="0" hangingPunct="1">
                        <a:lnSpc>
                          <a:spcPct val="100000"/>
                        </a:lnSpc>
                        <a:spcBef>
                          <a:spcPts val="0"/>
                        </a:spcBef>
                        <a:spcAft>
                          <a:spcPts val="0"/>
                        </a:spcAft>
                        <a:buClrTx/>
                        <a:buSzTx/>
                        <a:buFontTx/>
                        <a:buNone/>
                        <a:tabLst/>
                        <a:defRPr/>
                      </a:pPr>
                      <a:r>
                        <a:rPr lang="en-MY" sz="1400" b="0" i="0" u="none" strike="noStrike" dirty="0">
                          <a:solidFill>
                            <a:schemeClr val="tx1"/>
                          </a:solidFill>
                          <a:effectLst/>
                          <a:latin typeface="+mn-lt"/>
                        </a:rPr>
                        <a:t>not answered</a:t>
                      </a:r>
                    </a:p>
                    <a:p>
                      <a:pPr marL="91440" algn="l" fontAlgn="ctr"/>
                      <a:endParaRPr lang="en-MY" sz="1400" b="0" i="0" u="none" strike="noStrike" dirty="0">
                        <a:solidFill>
                          <a:srgbClr val="0000FF"/>
                        </a:solidFill>
                        <a:effectLst/>
                        <a:latin typeface="+mn-lt"/>
                      </a:endParaRPr>
                    </a:p>
                  </a:txBody>
                  <a:tcPr marL="0" marR="0" marT="0" marB="0"/>
                </a:tc>
                <a:extLst>
                  <a:ext uri="{0D108BD9-81ED-4DB2-BD59-A6C34878D82A}">
                    <a16:rowId xmlns:a16="http://schemas.microsoft.com/office/drawing/2014/main" val="2767126127"/>
                  </a:ext>
                </a:extLst>
              </a:tr>
              <a:tr h="515844">
                <a:tc>
                  <a:txBody>
                    <a:bodyPr/>
                    <a:lstStyle/>
                    <a:p>
                      <a:pPr marL="91440" algn="l" fontAlgn="t"/>
                      <a:r>
                        <a:rPr lang="en-US" sz="1400" u="none" strike="noStrike" dirty="0">
                          <a:effectLst/>
                          <a:latin typeface="+mn-lt"/>
                        </a:rPr>
                        <a:t>What component placement force is used for Intel components?</a:t>
                      </a:r>
                      <a:endParaRPr lang="en-US"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solidFill>
                            <a:srgbClr val="FF0000"/>
                          </a:solidFill>
                          <a:effectLst>
                            <a:outerShdw blurRad="38100" dist="38100" dir="2700000" algn="tl">
                              <a:srgbClr val="000000">
                                <a:alpha val="43137"/>
                              </a:srgbClr>
                            </a:outerShdw>
                          </a:effectLst>
                          <a:latin typeface="+mn-lt"/>
                        </a:rPr>
                        <a:t>0.5mm ?</a:t>
                      </a:r>
                      <a:endParaRPr lang="en-MY" sz="1400" b="0" i="0" u="none" strike="noStrike" dirty="0">
                        <a:solidFill>
                          <a:srgbClr val="FF0000"/>
                        </a:solidFill>
                        <a:effectLst>
                          <a:outerShdw blurRad="38100" dist="38100" dir="2700000" algn="tl">
                            <a:srgbClr val="000000">
                              <a:alpha val="43137"/>
                            </a:srgbClr>
                          </a:outerShdw>
                        </a:effectLst>
                        <a:latin typeface="+mn-lt"/>
                      </a:endParaRPr>
                    </a:p>
                  </a:txBody>
                  <a:tcPr marL="0" marR="0" marT="0" marB="0"/>
                </a:tc>
                <a:tc>
                  <a:txBody>
                    <a:bodyPr/>
                    <a:lstStyle/>
                    <a:p>
                      <a:pPr marL="91440" algn="l" fontAlgn="t"/>
                      <a:r>
                        <a:rPr lang="en-MY" sz="1400" u="none" strike="noStrike" dirty="0">
                          <a:solidFill>
                            <a:srgbClr val="FF0000"/>
                          </a:solidFill>
                          <a:effectLst>
                            <a:outerShdw blurRad="38100" dist="38100" dir="2700000" algn="tl">
                              <a:srgbClr val="000000">
                                <a:alpha val="43137"/>
                              </a:srgbClr>
                            </a:outerShdw>
                          </a:effectLst>
                          <a:latin typeface="+mn-lt"/>
                        </a:rPr>
                        <a:t>0.3mm?</a:t>
                      </a:r>
                      <a:endParaRPr lang="en-MY" sz="1400" b="0" i="0" u="none" strike="noStrike" dirty="0">
                        <a:solidFill>
                          <a:srgbClr val="FF0000"/>
                        </a:solidFill>
                        <a:effectLst>
                          <a:outerShdw blurRad="38100" dist="38100" dir="2700000" algn="tl">
                            <a:srgbClr val="000000">
                              <a:alpha val="43137"/>
                            </a:srgbClr>
                          </a:outerShdw>
                        </a:effectLst>
                        <a:latin typeface="+mn-lt"/>
                      </a:endParaRPr>
                    </a:p>
                  </a:txBody>
                  <a:tcPr marL="0" marR="0" marT="0" marB="0"/>
                </a:tc>
                <a:tc>
                  <a:txBody>
                    <a:bodyPr/>
                    <a:lstStyle/>
                    <a:p>
                      <a:pPr marL="91440" algn="l" fontAlgn="t"/>
                      <a:r>
                        <a:rPr lang="en-MY" sz="1400" u="none" strike="noStrike" dirty="0">
                          <a:solidFill>
                            <a:srgbClr val="0068B5"/>
                          </a:solidFill>
                          <a:effectLst/>
                          <a:latin typeface="+mn-lt"/>
                        </a:rPr>
                        <a:t>150g</a:t>
                      </a:r>
                      <a:endParaRPr lang="en-MY" sz="1400" b="0" i="0" u="none" strike="noStrike" dirty="0">
                        <a:solidFill>
                          <a:srgbClr val="0068B5"/>
                        </a:solidFill>
                        <a:effectLst/>
                        <a:latin typeface="+mn-lt"/>
                      </a:endParaRPr>
                    </a:p>
                  </a:txBody>
                  <a:tcPr marL="0" marR="0" marT="0" marB="0"/>
                </a:tc>
                <a:tc>
                  <a:txBody>
                    <a:bodyPr/>
                    <a:lstStyle/>
                    <a:p>
                      <a:pPr marL="91440" algn="l" fontAlgn="t"/>
                      <a:r>
                        <a:rPr lang="en-MY" sz="1400" u="none" strike="noStrike">
                          <a:effectLst/>
                          <a:latin typeface="+mn-lt"/>
                        </a:rPr>
                        <a:t>N/A</a:t>
                      </a:r>
                      <a:endParaRPr lang="en-MY" sz="1400" b="0" i="0" u="none" strike="noStrike">
                        <a:solidFill>
                          <a:srgbClr val="000000"/>
                        </a:solidFill>
                        <a:effectLst/>
                        <a:latin typeface="+mn-lt"/>
                      </a:endParaRPr>
                    </a:p>
                  </a:txBody>
                  <a:tcPr marL="0" marR="0" marT="0" marB="0"/>
                </a:tc>
                <a:tc>
                  <a:txBody>
                    <a:bodyPr/>
                    <a:lstStyle/>
                    <a:p>
                      <a:pPr marL="91440" algn="l" fontAlgn="t"/>
                      <a:r>
                        <a:rPr lang="en-MY" sz="1400" b="0" i="0" u="none" strike="noStrike" dirty="0">
                          <a:solidFill>
                            <a:srgbClr val="0068B5"/>
                          </a:solidFill>
                          <a:effectLst/>
                          <a:latin typeface="+mn-lt"/>
                        </a:rPr>
                        <a:t>Factory target is 0</a:t>
                      </a:r>
                    </a:p>
                  </a:txBody>
                  <a:tcPr marL="0" marR="0" marT="0" marB="0"/>
                </a:tc>
                <a:extLst>
                  <a:ext uri="{0D108BD9-81ED-4DB2-BD59-A6C34878D82A}">
                    <a16:rowId xmlns:a16="http://schemas.microsoft.com/office/drawing/2014/main" val="4033307790"/>
                  </a:ext>
                </a:extLst>
              </a:tr>
              <a:tr h="343896">
                <a:tc>
                  <a:txBody>
                    <a:bodyPr/>
                    <a:lstStyle/>
                    <a:p>
                      <a:pPr marL="91440" algn="l" fontAlgn="t"/>
                      <a:r>
                        <a:rPr lang="en-US" sz="1400" u="none" strike="noStrike">
                          <a:effectLst/>
                          <a:latin typeface="+mn-lt"/>
                        </a:rPr>
                        <a:t>What method of board support is used during placement?</a:t>
                      </a:r>
                      <a:endParaRPr lang="en-US" sz="1400" b="0" i="0" u="none" strike="noStrike">
                        <a:solidFill>
                          <a:srgbClr val="000000"/>
                        </a:solidFill>
                        <a:effectLst/>
                        <a:latin typeface="+mn-lt"/>
                      </a:endParaRPr>
                    </a:p>
                  </a:txBody>
                  <a:tcPr marL="0" marR="0" marT="0" marB="0"/>
                </a:tc>
                <a:tc>
                  <a:txBody>
                    <a:bodyPr/>
                    <a:lstStyle/>
                    <a:p>
                      <a:pPr marL="91440" algn="l" fontAlgn="t"/>
                      <a:r>
                        <a:rPr lang="en-MY" sz="1400" u="none" strike="noStrike" dirty="0">
                          <a:effectLst/>
                          <a:latin typeface="+mn-lt"/>
                        </a:rPr>
                        <a:t>Tray</a:t>
                      </a:r>
                      <a:endParaRPr lang="en-MY" sz="1400" b="0" i="0" u="none" strike="noStrike" dirty="0">
                        <a:solidFill>
                          <a:srgbClr val="0000FF"/>
                        </a:solidFill>
                        <a:effectLst/>
                        <a:latin typeface="+mn-lt"/>
                      </a:endParaRPr>
                    </a:p>
                  </a:txBody>
                  <a:tcPr marL="0" marR="0" marT="0" marB="0"/>
                </a:tc>
                <a:tc>
                  <a:txBody>
                    <a:bodyPr/>
                    <a:lstStyle/>
                    <a:p>
                      <a:pPr marL="91440" algn="l" fontAlgn="t"/>
                      <a:r>
                        <a:rPr lang="en-MY" sz="1400" u="none" strike="noStrike" dirty="0">
                          <a:effectLst/>
                          <a:latin typeface="+mn-lt"/>
                        </a:rPr>
                        <a:t>Pin</a:t>
                      </a:r>
                      <a:endParaRPr lang="en-MY"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latin typeface="+mn-lt"/>
                        </a:rPr>
                        <a:t>Pin</a:t>
                      </a:r>
                      <a:endParaRPr lang="en-MY" sz="1400" b="0" i="0" u="none" strike="noStrike" dirty="0">
                        <a:solidFill>
                          <a:srgbClr val="000000"/>
                        </a:solidFill>
                        <a:effectLst/>
                        <a:latin typeface="+mn-lt"/>
                      </a:endParaRPr>
                    </a:p>
                  </a:txBody>
                  <a:tcPr marL="0" marR="0" marT="0" marB="0"/>
                </a:tc>
                <a:tc>
                  <a:txBody>
                    <a:bodyPr/>
                    <a:lstStyle/>
                    <a:p>
                      <a:pPr marL="91440" algn="l" fontAlgn="t"/>
                      <a:r>
                        <a:rPr lang="en-US" altLang="zh-TW" sz="1400" u="none" strike="noStrike" dirty="0">
                          <a:effectLst/>
                          <a:latin typeface="+mn-lt"/>
                        </a:rPr>
                        <a:t>Pin</a:t>
                      </a:r>
                      <a:endParaRPr lang="zh-TW" altLang="en-US" sz="1400" b="0" i="0" u="none" strike="noStrike" dirty="0">
                        <a:solidFill>
                          <a:srgbClr val="0000CC"/>
                        </a:solidFill>
                        <a:effectLst/>
                        <a:latin typeface="+mn-lt"/>
                        <a:ea typeface="細明體" panose="02020509000000000000" pitchFamily="49" charset="-120"/>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lang="en-MY" sz="1400" b="0" i="0" u="none" strike="noStrike" dirty="0">
                          <a:solidFill>
                            <a:schemeClr val="tx1"/>
                          </a:solidFill>
                          <a:effectLst/>
                          <a:latin typeface="+mn-lt"/>
                        </a:rPr>
                        <a:t>not answered</a:t>
                      </a:r>
                    </a:p>
                    <a:p>
                      <a:pPr marL="91440" algn="l" fontAlgn="t"/>
                      <a:endParaRPr lang="zh-TW" altLang="en-US" sz="1400" b="0" i="0" u="none" strike="noStrike" dirty="0">
                        <a:solidFill>
                          <a:srgbClr val="0000FF"/>
                        </a:solidFill>
                        <a:effectLst/>
                        <a:latin typeface="+mn-lt"/>
                        <a:ea typeface="細明體" panose="02020509000000000000" pitchFamily="49" charset="-120"/>
                      </a:endParaRPr>
                    </a:p>
                  </a:txBody>
                  <a:tcPr marL="0" marR="0" marT="0" marB="0"/>
                </a:tc>
                <a:extLst>
                  <a:ext uri="{0D108BD9-81ED-4DB2-BD59-A6C34878D82A}">
                    <a16:rowId xmlns:a16="http://schemas.microsoft.com/office/drawing/2014/main" val="2354225462"/>
                  </a:ext>
                </a:extLst>
              </a:tr>
              <a:tr h="687791">
                <a:tc>
                  <a:txBody>
                    <a:bodyPr/>
                    <a:lstStyle/>
                    <a:p>
                      <a:pPr marL="91440" algn="l" fontAlgn="t"/>
                      <a:r>
                        <a:rPr lang="en-US" sz="1400" u="none" strike="noStrike" dirty="0">
                          <a:effectLst/>
                          <a:latin typeface="+mn-lt"/>
                        </a:rPr>
                        <a:t>Maximum board handling capability (length x width, mm)</a:t>
                      </a:r>
                      <a:endParaRPr lang="en-US"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latin typeface="+mn-lt"/>
                        </a:rPr>
                        <a:t>510 x 590</a:t>
                      </a:r>
                      <a:endParaRPr lang="en-MY" sz="1400" b="0" i="0" u="none" strike="noStrike" dirty="0">
                        <a:solidFill>
                          <a:srgbClr val="0000FF"/>
                        </a:solidFill>
                        <a:effectLst/>
                        <a:latin typeface="+mn-lt"/>
                      </a:endParaRPr>
                    </a:p>
                  </a:txBody>
                  <a:tcPr marL="0" marR="0" marT="0" marB="0"/>
                </a:tc>
                <a:tc>
                  <a:txBody>
                    <a:bodyPr/>
                    <a:lstStyle/>
                    <a:p>
                      <a:pPr marL="91440" algn="l" fontAlgn="t"/>
                      <a:r>
                        <a:rPr lang="en-MY" sz="1400" u="none" strike="noStrike" dirty="0">
                          <a:effectLst/>
                          <a:latin typeface="+mn-lt"/>
                        </a:rPr>
                        <a:t>Dual  land :  510 x 300</a:t>
                      </a:r>
                      <a:br>
                        <a:rPr lang="en-MY" sz="1400" u="none" strike="noStrike" dirty="0">
                          <a:effectLst/>
                          <a:latin typeface="+mn-lt"/>
                        </a:rPr>
                      </a:br>
                      <a:r>
                        <a:rPr lang="en-MY" sz="1400" u="none" strike="noStrike" dirty="0">
                          <a:effectLst/>
                          <a:latin typeface="+mn-lt"/>
                        </a:rPr>
                        <a:t>Single land : 510 x 590</a:t>
                      </a:r>
                      <a:endParaRPr lang="en-MY"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latin typeface="+mn-lt"/>
                        </a:rPr>
                        <a:t>610 x 813 (universal)</a:t>
                      </a:r>
                      <a:endParaRPr lang="en-MY"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latin typeface="+mn-lt"/>
                        </a:rPr>
                        <a:t>534 x 510</a:t>
                      </a:r>
                      <a:endParaRPr lang="en-MY" sz="1400" b="0" i="0" u="none" strike="noStrike" dirty="0">
                        <a:solidFill>
                          <a:srgbClr val="0000CC"/>
                        </a:solidFill>
                        <a:effectLst/>
                        <a:latin typeface="+mn-lt"/>
                        <a:ea typeface="細明體" panose="02020509000000000000" pitchFamily="49" charset="-120"/>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lang="en-MY" sz="1400" b="0" i="0" u="none" strike="noStrike" dirty="0">
                          <a:solidFill>
                            <a:schemeClr val="tx1"/>
                          </a:solidFill>
                          <a:effectLst/>
                          <a:latin typeface="+mn-lt"/>
                        </a:rPr>
                        <a:t>not answered</a:t>
                      </a:r>
                    </a:p>
                    <a:p>
                      <a:pPr marL="91440" algn="l" fontAlgn="t"/>
                      <a:endParaRPr lang="en-MY" sz="1400" b="0" i="0" u="none" strike="noStrike" dirty="0">
                        <a:solidFill>
                          <a:srgbClr val="0000FF"/>
                        </a:solidFill>
                        <a:effectLst/>
                        <a:latin typeface="+mn-lt"/>
                        <a:ea typeface="細明體" panose="02020509000000000000" pitchFamily="49" charset="-120"/>
                      </a:endParaRPr>
                    </a:p>
                  </a:txBody>
                  <a:tcPr marL="0" marR="0" marT="0" marB="0"/>
                </a:tc>
                <a:extLst>
                  <a:ext uri="{0D108BD9-81ED-4DB2-BD59-A6C34878D82A}">
                    <a16:rowId xmlns:a16="http://schemas.microsoft.com/office/drawing/2014/main" val="4014785379"/>
                  </a:ext>
                </a:extLst>
              </a:tr>
              <a:tr h="343896">
                <a:tc>
                  <a:txBody>
                    <a:bodyPr/>
                    <a:lstStyle/>
                    <a:p>
                      <a:pPr marL="91440" algn="l" fontAlgn="t"/>
                      <a:r>
                        <a:rPr lang="en-US" sz="1400" u="none" strike="noStrike" dirty="0">
                          <a:effectLst/>
                          <a:latin typeface="+mn-lt"/>
                        </a:rPr>
                        <a:t>Min pitch/ball recognition capability (mm)</a:t>
                      </a:r>
                      <a:endParaRPr lang="en-US"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latin typeface="+mn-lt"/>
                        </a:rPr>
                        <a:t>0.3-1.5</a:t>
                      </a:r>
                      <a:endParaRPr lang="en-MY" sz="1400" b="0" i="0" u="none" strike="noStrike" dirty="0">
                        <a:solidFill>
                          <a:srgbClr val="0000FF"/>
                        </a:solidFill>
                        <a:effectLst/>
                        <a:latin typeface="+mn-lt"/>
                      </a:endParaRPr>
                    </a:p>
                  </a:txBody>
                  <a:tcPr marL="0" marR="0" marT="0" marB="0"/>
                </a:tc>
                <a:tc>
                  <a:txBody>
                    <a:bodyPr/>
                    <a:lstStyle/>
                    <a:p>
                      <a:pPr marL="91440" algn="l" fontAlgn="t"/>
                      <a:r>
                        <a:rPr lang="en-MY" sz="1400" u="none" strike="noStrike" dirty="0">
                          <a:effectLst/>
                          <a:latin typeface="+mn-lt"/>
                        </a:rPr>
                        <a:t>Not answered </a:t>
                      </a:r>
                      <a:endParaRPr lang="en-MY"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latin typeface="+mn-lt"/>
                        </a:rPr>
                        <a:t>0.4</a:t>
                      </a:r>
                      <a:endParaRPr lang="en-MY"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latin typeface="+mn-lt"/>
                        </a:rPr>
                        <a:t>0.3</a:t>
                      </a:r>
                      <a:endParaRPr lang="en-MY" sz="1400" b="0" i="0" u="none" strike="noStrike" dirty="0">
                        <a:solidFill>
                          <a:srgbClr val="0000CC"/>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lang="en-MY" sz="1400" b="0" i="0" u="none" strike="noStrike" dirty="0">
                          <a:solidFill>
                            <a:schemeClr val="tx1"/>
                          </a:solidFill>
                          <a:effectLst/>
                          <a:latin typeface="+mn-lt"/>
                        </a:rPr>
                        <a:t>not answered</a:t>
                      </a:r>
                    </a:p>
                  </a:txBody>
                  <a:tcPr marL="0" marR="0" marT="0" marB="0"/>
                </a:tc>
                <a:extLst>
                  <a:ext uri="{0D108BD9-81ED-4DB2-BD59-A6C34878D82A}">
                    <a16:rowId xmlns:a16="http://schemas.microsoft.com/office/drawing/2014/main" val="55587300"/>
                  </a:ext>
                </a:extLst>
              </a:tr>
            </a:tbl>
          </a:graphicData>
        </a:graphic>
      </p:graphicFrame>
      <p:sp>
        <p:nvSpPr>
          <p:cNvPr id="4" name="Rectangle: Rounded Corners 3">
            <a:extLst>
              <a:ext uri="{FF2B5EF4-FFF2-40B4-BE49-F238E27FC236}">
                <a16:creationId xmlns:a16="http://schemas.microsoft.com/office/drawing/2014/main" id="{20448919-0439-437D-BE39-6EDD8C8B6137}"/>
              </a:ext>
            </a:extLst>
          </p:cNvPr>
          <p:cNvSpPr/>
          <p:nvPr/>
        </p:nvSpPr>
        <p:spPr>
          <a:xfrm>
            <a:off x="583141" y="5428322"/>
            <a:ext cx="10678583" cy="726440"/>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Minimum ball pitch recognition capability is 0.3mm</a:t>
            </a:r>
          </a:p>
        </p:txBody>
      </p:sp>
      <p:sp>
        <p:nvSpPr>
          <p:cNvPr id="5" name="Action Button: Go Home 4">
            <a:hlinkClick r:id="rId3" action="ppaction://hlinksldjump" highlightClick="1"/>
            <a:extLst>
              <a:ext uri="{FF2B5EF4-FFF2-40B4-BE49-F238E27FC236}">
                <a16:creationId xmlns:a16="http://schemas.microsoft.com/office/drawing/2014/main" id="{97D02B3E-65E8-4F90-AB58-5357E7298C92}"/>
              </a:ext>
            </a:extLst>
          </p:cNvPr>
          <p:cNvSpPr/>
          <p:nvPr/>
        </p:nvSpPr>
        <p:spPr>
          <a:xfrm>
            <a:off x="11399520" y="162560"/>
            <a:ext cx="487680" cy="451311"/>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9695376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58D54-295C-48B8-8D3A-B7A69242FB44}"/>
              </a:ext>
            </a:extLst>
          </p:cNvPr>
          <p:cNvSpPr>
            <a:spLocks noGrp="1"/>
          </p:cNvSpPr>
          <p:nvPr>
            <p:ph type="title"/>
          </p:nvPr>
        </p:nvSpPr>
        <p:spPr>
          <a:xfrm>
            <a:off x="607484" y="709"/>
            <a:ext cx="10972800" cy="625824"/>
          </a:xfrm>
        </p:spPr>
        <p:txBody>
          <a:bodyPr/>
          <a:lstStyle/>
          <a:p>
            <a:r>
              <a:rPr lang="en-US" dirty="0"/>
              <a:t>Reflow Process (1)</a:t>
            </a:r>
            <a:endParaRPr lang="en-MY" dirty="0"/>
          </a:p>
        </p:txBody>
      </p:sp>
      <p:graphicFrame>
        <p:nvGraphicFramePr>
          <p:cNvPr id="4" name="Content Placeholder 3">
            <a:extLst>
              <a:ext uri="{FF2B5EF4-FFF2-40B4-BE49-F238E27FC236}">
                <a16:creationId xmlns:a16="http://schemas.microsoft.com/office/drawing/2014/main" id="{6F8D3A67-D3A5-4D2E-8668-9C567386A1D5}"/>
              </a:ext>
            </a:extLst>
          </p:cNvPr>
          <p:cNvGraphicFramePr>
            <a:graphicFrameLocks noGrp="1"/>
          </p:cNvGraphicFramePr>
          <p:nvPr>
            <p:ph sz="quarter" idx="13"/>
            <p:extLst>
              <p:ext uri="{D42A27DB-BD31-4B8C-83A1-F6EECF244321}">
                <p14:modId xmlns:p14="http://schemas.microsoft.com/office/powerpoint/2010/main" val="3779350644"/>
              </p:ext>
            </p:extLst>
          </p:nvPr>
        </p:nvGraphicFramePr>
        <p:xfrm>
          <a:off x="201613" y="557813"/>
          <a:ext cx="11440054" cy="4850539"/>
        </p:xfrm>
        <a:graphic>
          <a:graphicData uri="http://schemas.openxmlformats.org/drawingml/2006/table">
            <a:tbl>
              <a:tblPr firstRow="1" bandRow="1">
                <a:tableStyleId>{69012ECD-51FC-41F1-AA8D-1B2483CD663E}</a:tableStyleId>
              </a:tblPr>
              <a:tblGrid>
                <a:gridCol w="2736320">
                  <a:extLst>
                    <a:ext uri="{9D8B030D-6E8A-4147-A177-3AD203B41FA5}">
                      <a16:colId xmlns:a16="http://schemas.microsoft.com/office/drawing/2014/main" val="1384353131"/>
                    </a:ext>
                  </a:extLst>
                </a:gridCol>
                <a:gridCol w="1778000">
                  <a:extLst>
                    <a:ext uri="{9D8B030D-6E8A-4147-A177-3AD203B41FA5}">
                      <a16:colId xmlns:a16="http://schemas.microsoft.com/office/drawing/2014/main" val="1524051169"/>
                    </a:ext>
                  </a:extLst>
                </a:gridCol>
                <a:gridCol w="1405467">
                  <a:extLst>
                    <a:ext uri="{9D8B030D-6E8A-4147-A177-3AD203B41FA5}">
                      <a16:colId xmlns:a16="http://schemas.microsoft.com/office/drawing/2014/main" val="3708284834"/>
                    </a:ext>
                  </a:extLst>
                </a:gridCol>
                <a:gridCol w="1625600">
                  <a:extLst>
                    <a:ext uri="{9D8B030D-6E8A-4147-A177-3AD203B41FA5}">
                      <a16:colId xmlns:a16="http://schemas.microsoft.com/office/drawing/2014/main" val="3769395525"/>
                    </a:ext>
                  </a:extLst>
                </a:gridCol>
                <a:gridCol w="2129840">
                  <a:extLst>
                    <a:ext uri="{9D8B030D-6E8A-4147-A177-3AD203B41FA5}">
                      <a16:colId xmlns:a16="http://schemas.microsoft.com/office/drawing/2014/main" val="1845743958"/>
                    </a:ext>
                  </a:extLst>
                </a:gridCol>
                <a:gridCol w="1764827">
                  <a:extLst>
                    <a:ext uri="{9D8B030D-6E8A-4147-A177-3AD203B41FA5}">
                      <a16:colId xmlns:a16="http://schemas.microsoft.com/office/drawing/2014/main" val="3840191081"/>
                    </a:ext>
                  </a:extLst>
                </a:gridCol>
              </a:tblGrid>
              <a:tr h="484071">
                <a:tc>
                  <a:txBody>
                    <a:bodyPr/>
                    <a:lstStyle/>
                    <a:p>
                      <a:pPr marL="91440" algn="l" fontAlgn="t"/>
                      <a:r>
                        <a:rPr lang="en-MY" sz="1800" u="none" strike="noStrike" dirty="0">
                          <a:effectLst/>
                          <a:latin typeface="+mn-lt"/>
                        </a:rPr>
                        <a:t>Parameter / Capability </a:t>
                      </a:r>
                      <a:endParaRPr lang="en-MY" sz="1800" b="1" i="0" u="none" strike="noStrike" dirty="0">
                        <a:solidFill>
                          <a:srgbClr val="FFFFFF"/>
                        </a:solidFill>
                        <a:effectLst/>
                        <a:latin typeface="+mn-lt"/>
                      </a:endParaRPr>
                    </a:p>
                  </a:txBody>
                  <a:tcPr marL="0" marR="0" marT="0" marB="0"/>
                </a:tc>
                <a:tc>
                  <a:txBody>
                    <a:bodyPr/>
                    <a:lstStyle/>
                    <a:p>
                      <a:pPr marL="91440" algn="l" rtl="0" fontAlgn="ctr"/>
                      <a:r>
                        <a:rPr lang="en-MY" sz="1800" u="none" strike="noStrike" dirty="0">
                          <a:effectLst/>
                          <a:latin typeface="+mn-lt"/>
                        </a:rPr>
                        <a:t>ECS</a:t>
                      </a:r>
                      <a:endParaRPr lang="en-MY" sz="1800" b="1" i="0" u="none" strike="noStrike" dirty="0">
                        <a:solidFill>
                          <a:srgbClr val="FFFFFF"/>
                        </a:solidFill>
                        <a:effectLst/>
                        <a:latin typeface="+mn-lt"/>
                      </a:endParaRPr>
                    </a:p>
                  </a:txBody>
                  <a:tcPr marL="0" marR="0" marT="0" marB="0"/>
                </a:tc>
                <a:tc>
                  <a:txBody>
                    <a:bodyPr/>
                    <a:lstStyle/>
                    <a:p>
                      <a:pPr marL="91440" algn="l" rtl="0" fontAlgn="ctr"/>
                      <a:r>
                        <a:rPr lang="en-MY" sz="1800" u="none" strike="noStrike" dirty="0">
                          <a:effectLst/>
                          <a:latin typeface="+mn-lt"/>
                        </a:rPr>
                        <a:t>LCFC</a:t>
                      </a:r>
                      <a:endParaRPr lang="en-MY" sz="1800" b="1" i="0" u="none" strike="noStrike" dirty="0">
                        <a:solidFill>
                          <a:srgbClr val="FFFFFF"/>
                        </a:solidFill>
                        <a:effectLst/>
                        <a:latin typeface="+mn-lt"/>
                      </a:endParaRPr>
                    </a:p>
                  </a:txBody>
                  <a:tcPr marL="0" marR="0" marT="0" marB="0"/>
                </a:tc>
                <a:tc>
                  <a:txBody>
                    <a:bodyPr/>
                    <a:lstStyle/>
                    <a:p>
                      <a:pPr marL="91440" algn="l" rtl="0" fontAlgn="ctr"/>
                      <a:r>
                        <a:rPr lang="en-MY" sz="1800" u="none" strike="noStrike" dirty="0">
                          <a:effectLst/>
                          <a:latin typeface="+mn-lt"/>
                        </a:rPr>
                        <a:t>FXWH</a:t>
                      </a:r>
                      <a:endParaRPr lang="en-MY" sz="1800" b="1" i="0" u="none" strike="noStrike" dirty="0">
                        <a:solidFill>
                          <a:srgbClr val="FFFFFF"/>
                        </a:solidFill>
                        <a:effectLst/>
                        <a:latin typeface="+mn-lt"/>
                      </a:endParaRPr>
                    </a:p>
                  </a:txBody>
                  <a:tcPr marL="0" marR="0" marT="0" marB="0"/>
                </a:tc>
                <a:tc>
                  <a:txBody>
                    <a:bodyPr/>
                    <a:lstStyle/>
                    <a:p>
                      <a:pPr marL="91440" algn="l" rtl="0" fontAlgn="ctr"/>
                      <a:r>
                        <a:rPr lang="en-MY" sz="1800" u="none" strike="noStrike" dirty="0">
                          <a:effectLst/>
                          <a:latin typeface="+mn-lt"/>
                        </a:rPr>
                        <a:t>LITEON</a:t>
                      </a:r>
                      <a:endParaRPr lang="en-MY" sz="1800" b="1" i="0" u="none" strike="noStrike" dirty="0">
                        <a:solidFill>
                          <a:srgbClr val="FFFFFF"/>
                        </a:solidFill>
                        <a:effectLst/>
                        <a:latin typeface="+mn-lt"/>
                      </a:endParaRPr>
                    </a:p>
                  </a:txBody>
                  <a:tcPr marL="0" marR="0" marT="0" marB="0"/>
                </a:tc>
                <a:tc>
                  <a:txBody>
                    <a:bodyPr/>
                    <a:lstStyle/>
                    <a:p>
                      <a:pPr marL="91440" algn="l" rtl="0" fontAlgn="ctr"/>
                      <a:r>
                        <a:rPr lang="en-MY" sz="1800" b="1" i="0" u="none" strike="noStrike" dirty="0">
                          <a:solidFill>
                            <a:srgbClr val="FFFFFF"/>
                          </a:solidFill>
                          <a:effectLst/>
                          <a:latin typeface="+mn-lt"/>
                        </a:rPr>
                        <a:t>MSI (LENOVO)</a:t>
                      </a:r>
                    </a:p>
                  </a:txBody>
                  <a:tcPr marL="0" marR="0" marT="0" marB="0"/>
                </a:tc>
                <a:extLst>
                  <a:ext uri="{0D108BD9-81ED-4DB2-BD59-A6C34878D82A}">
                    <a16:rowId xmlns:a16="http://schemas.microsoft.com/office/drawing/2014/main" val="3420884292"/>
                  </a:ext>
                </a:extLst>
              </a:tr>
              <a:tr h="293573">
                <a:tc>
                  <a:txBody>
                    <a:bodyPr/>
                    <a:lstStyle/>
                    <a:p>
                      <a:pPr marL="91440" algn="l" fontAlgn="t"/>
                      <a:r>
                        <a:rPr lang="en-US" sz="1400" b="0" i="0" u="none" strike="noStrike" dirty="0">
                          <a:solidFill>
                            <a:schemeClr val="tx1"/>
                          </a:solidFill>
                          <a:effectLst/>
                          <a:latin typeface="+mn-lt"/>
                        </a:rPr>
                        <a:t>Yield target</a:t>
                      </a:r>
                    </a:p>
                  </a:txBody>
                  <a:tcPr marL="0" marR="0" marT="0" marB="0"/>
                </a:tc>
                <a:tc>
                  <a:txBody>
                    <a:bodyPr/>
                    <a:lstStyle/>
                    <a:p>
                      <a:pPr marL="91440" algn="l" fontAlgn="t"/>
                      <a:r>
                        <a:rPr lang="en-US" sz="1400" b="0" i="0" u="none" strike="noStrike" dirty="0">
                          <a:solidFill>
                            <a:schemeClr val="tx1"/>
                          </a:solidFill>
                          <a:effectLst/>
                          <a:latin typeface="+mn-lt"/>
                        </a:rPr>
                        <a:t>99.9% (1K DPM)</a:t>
                      </a:r>
                      <a:endParaRPr lang="en-MY" sz="1400" b="0" i="0" u="none" strike="noStrike" dirty="0">
                        <a:solidFill>
                          <a:schemeClr val="tx1"/>
                        </a:solidFill>
                        <a:effectLst/>
                        <a:latin typeface="+mn-lt"/>
                      </a:endParaRPr>
                    </a:p>
                  </a:txBody>
                  <a:tcPr marL="0" marR="0" marT="0" marB="0"/>
                </a:tc>
                <a:tc>
                  <a:txBody>
                    <a:bodyPr/>
                    <a:lstStyle/>
                    <a:p>
                      <a:pPr marL="91440" algn="l" fontAlgn="t"/>
                      <a:r>
                        <a:rPr lang="en-US" sz="1400" b="0" i="0" u="none" strike="noStrike" dirty="0">
                          <a:solidFill>
                            <a:schemeClr val="tx1"/>
                          </a:solidFill>
                          <a:effectLst/>
                          <a:latin typeface="+mn-lt"/>
                        </a:rPr>
                        <a:t>Not Answered</a:t>
                      </a:r>
                      <a:endParaRPr lang="en-MY" sz="1400" b="0" i="0" u="none" strike="noStrike" dirty="0">
                        <a:solidFill>
                          <a:schemeClr val="tx1"/>
                        </a:solidFill>
                        <a:effectLst/>
                        <a:latin typeface="+mn-lt"/>
                      </a:endParaRPr>
                    </a:p>
                  </a:txBody>
                  <a:tcPr marL="0" marR="0" marT="0" marB="0"/>
                </a:tc>
                <a:tc>
                  <a:txBody>
                    <a:bodyPr/>
                    <a:lstStyle/>
                    <a:p>
                      <a:pPr marL="91440" algn="l" fontAlgn="t"/>
                      <a:r>
                        <a:rPr lang="en-US" sz="1400" b="0" i="0" u="none" strike="noStrike" dirty="0">
                          <a:solidFill>
                            <a:schemeClr val="tx1"/>
                          </a:solidFill>
                          <a:effectLst/>
                          <a:latin typeface="+mn-lt"/>
                        </a:rPr>
                        <a:t>99.9% (1K DPM)</a:t>
                      </a:r>
                      <a:endParaRPr lang="en-MY" sz="1400" b="0" i="0" u="none" strike="noStrike" dirty="0">
                        <a:solidFill>
                          <a:schemeClr val="tx1"/>
                        </a:solidFill>
                        <a:effectLst/>
                        <a:latin typeface="+mn-lt"/>
                      </a:endParaRPr>
                    </a:p>
                  </a:txBody>
                  <a:tcPr marL="0" marR="0" marT="0" marB="0"/>
                </a:tc>
                <a:tc>
                  <a:txBody>
                    <a:bodyPr/>
                    <a:lstStyle/>
                    <a:p>
                      <a:pPr marL="91440" algn="l" fontAlgn="t"/>
                      <a:r>
                        <a:rPr lang="en-US" sz="1400" b="0" i="0" u="none" strike="noStrike" dirty="0">
                          <a:solidFill>
                            <a:schemeClr val="tx1"/>
                          </a:solidFill>
                          <a:effectLst/>
                          <a:latin typeface="+mn-lt"/>
                        </a:rPr>
                        <a:t>98%</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b="0" i="0" u="none" strike="noStrike" dirty="0">
                          <a:solidFill>
                            <a:schemeClr val="tx1"/>
                          </a:solidFill>
                          <a:effectLst/>
                          <a:latin typeface="+mn-lt"/>
                        </a:rPr>
                        <a:t>not answered</a:t>
                      </a:r>
                    </a:p>
                  </a:txBody>
                  <a:tcPr marL="0" marR="0" marT="0" marB="0"/>
                </a:tc>
                <a:extLst>
                  <a:ext uri="{0D108BD9-81ED-4DB2-BD59-A6C34878D82A}">
                    <a16:rowId xmlns:a16="http://schemas.microsoft.com/office/drawing/2014/main" val="3830371673"/>
                  </a:ext>
                </a:extLst>
              </a:tr>
              <a:tr h="376500">
                <a:tc>
                  <a:txBody>
                    <a:bodyPr/>
                    <a:lstStyle/>
                    <a:p>
                      <a:pPr marL="91440" algn="l" fontAlgn="t"/>
                      <a:r>
                        <a:rPr lang="en-US" sz="1400" u="none" strike="noStrike" dirty="0">
                          <a:solidFill>
                            <a:schemeClr val="tx1"/>
                          </a:solidFill>
                          <a:effectLst/>
                          <a:latin typeface="+mn-lt"/>
                        </a:rPr>
                        <a:t>Do you use a PCB support pallet at reflow?</a:t>
                      </a:r>
                      <a:endParaRPr lang="en-US"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solidFill>
                            <a:schemeClr val="tx1"/>
                          </a:solidFill>
                          <a:effectLst/>
                          <a:latin typeface="+mn-lt"/>
                        </a:rPr>
                        <a:t>Yes</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solidFill>
                            <a:schemeClr val="tx1"/>
                          </a:solidFill>
                          <a:effectLst/>
                          <a:latin typeface="+mn-lt"/>
                        </a:rPr>
                        <a:t>No</a:t>
                      </a:r>
                      <a:endParaRPr lang="en-MY" sz="1400" b="0" i="0" u="none" strike="noStrike" dirty="0">
                        <a:solidFill>
                          <a:schemeClr val="tx1"/>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lang="en-MY" sz="1400" u="none" strike="noStrike" dirty="0">
                          <a:solidFill>
                            <a:schemeClr val="tx1"/>
                          </a:solidFill>
                          <a:effectLst/>
                          <a:latin typeface="+mn-lt"/>
                        </a:rPr>
                        <a:t>Yes &amp; </a:t>
                      </a:r>
                      <a:r>
                        <a:rPr lang="en-MY" sz="1400" u="none" strike="noStrike" dirty="0">
                          <a:solidFill>
                            <a:srgbClr val="0068B5"/>
                          </a:solidFill>
                          <a:effectLst/>
                          <a:latin typeface="+mn-lt"/>
                        </a:rPr>
                        <a:t>No</a:t>
                      </a:r>
                      <a:endParaRPr lang="en-MY" sz="1400" b="0" i="0" u="none" strike="noStrike" dirty="0">
                        <a:solidFill>
                          <a:srgbClr val="0068B5"/>
                        </a:solidFill>
                        <a:effectLst/>
                        <a:latin typeface="+mn-lt"/>
                      </a:endParaRPr>
                    </a:p>
                  </a:txBody>
                  <a:tcPr marL="0" marR="0" marT="0" marB="0"/>
                </a:tc>
                <a:tc>
                  <a:txBody>
                    <a:bodyPr/>
                    <a:lstStyle/>
                    <a:p>
                      <a:pPr marL="91440" algn="l" fontAlgn="t"/>
                      <a:r>
                        <a:rPr lang="en-MY" sz="1400" u="none" strike="noStrike" dirty="0">
                          <a:solidFill>
                            <a:schemeClr val="tx1"/>
                          </a:solidFill>
                          <a:effectLst/>
                          <a:latin typeface="+mn-lt"/>
                        </a:rPr>
                        <a:t>Depends (see below)</a:t>
                      </a:r>
                      <a:endParaRPr lang="en-MY" sz="1400" b="0" i="0" u="none" strike="noStrike" dirty="0">
                        <a:solidFill>
                          <a:schemeClr val="tx1"/>
                        </a:solidFill>
                        <a:effectLst/>
                        <a:latin typeface="+mn-lt"/>
                      </a:endParaRPr>
                    </a:p>
                  </a:txBody>
                  <a:tcPr marL="0" marR="0" marT="0" marB="0"/>
                </a:tc>
                <a:tc>
                  <a:txBody>
                    <a:bodyPr/>
                    <a:lstStyle/>
                    <a:p>
                      <a:pPr marL="91440" algn="l" fontAlgn="t"/>
                      <a:r>
                        <a:rPr lang="en-US" altLang="ja-JP" sz="1400" b="0" i="0" u="none" strike="noStrike" dirty="0">
                          <a:solidFill>
                            <a:srgbClr val="0068B5"/>
                          </a:solidFill>
                          <a:effectLst/>
                          <a:latin typeface="+mn-lt"/>
                        </a:rPr>
                        <a:t>No</a:t>
                      </a:r>
                      <a:endParaRPr lang="en-MY" sz="1400" b="0" i="0" u="none" strike="noStrike" dirty="0">
                        <a:solidFill>
                          <a:srgbClr val="0068B5"/>
                        </a:solidFill>
                        <a:effectLst/>
                        <a:latin typeface="+mn-lt"/>
                      </a:endParaRPr>
                    </a:p>
                  </a:txBody>
                  <a:tcPr marL="0" marR="0" marT="0" marB="0"/>
                </a:tc>
                <a:extLst>
                  <a:ext uri="{0D108BD9-81ED-4DB2-BD59-A6C34878D82A}">
                    <a16:rowId xmlns:a16="http://schemas.microsoft.com/office/drawing/2014/main" val="3423994177"/>
                  </a:ext>
                </a:extLst>
              </a:tr>
              <a:tr h="753000">
                <a:tc>
                  <a:txBody>
                    <a:bodyPr/>
                    <a:lstStyle/>
                    <a:p>
                      <a:pPr marL="91440" algn="l" fontAlgn="t"/>
                      <a:r>
                        <a:rPr lang="en-US" sz="1400" u="none" strike="noStrike" dirty="0">
                          <a:solidFill>
                            <a:schemeClr val="tx1"/>
                          </a:solidFill>
                          <a:effectLst/>
                          <a:latin typeface="+mn-lt"/>
                        </a:rPr>
                        <a:t>Is the PCB support pallet decision based on PCB thickness or something else?</a:t>
                      </a:r>
                      <a:endParaRPr lang="en-US"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solidFill>
                            <a:schemeClr val="tx1"/>
                          </a:solidFill>
                          <a:effectLst/>
                          <a:latin typeface="+mn-lt"/>
                        </a:rPr>
                        <a:t>No</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solidFill>
                            <a:schemeClr val="tx1"/>
                          </a:solidFill>
                          <a:effectLst/>
                          <a:latin typeface="+mn-lt"/>
                        </a:rPr>
                        <a:t>N/A</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solidFill>
                            <a:schemeClr val="tx1"/>
                          </a:solidFill>
                          <a:effectLst/>
                          <a:latin typeface="+mn-lt"/>
                        </a:rPr>
                        <a:t>No</a:t>
                      </a:r>
                      <a:endParaRPr lang="en-MY" sz="1400" b="0" i="0" u="none" strike="noStrike" dirty="0">
                        <a:solidFill>
                          <a:schemeClr val="tx1"/>
                        </a:solidFill>
                        <a:effectLst/>
                        <a:latin typeface="+mn-lt"/>
                      </a:endParaRPr>
                    </a:p>
                  </a:txBody>
                  <a:tcPr marL="0" marR="0" marT="0" marB="0"/>
                </a:tc>
                <a:tc>
                  <a:txBody>
                    <a:bodyPr/>
                    <a:lstStyle/>
                    <a:p>
                      <a:pPr marL="91440" algn="l" fontAlgn="t"/>
                      <a:r>
                        <a:rPr lang="en-US" sz="1400" u="none" strike="noStrike" dirty="0">
                          <a:solidFill>
                            <a:schemeClr val="tx1"/>
                          </a:solidFill>
                          <a:effectLst/>
                          <a:latin typeface="+mn-lt"/>
                        </a:rPr>
                        <a:t>Yes - Pallet used for thin/big PCB</a:t>
                      </a:r>
                      <a:endParaRPr lang="en-US" sz="1400" b="0" i="0" u="none" strike="noStrike" dirty="0">
                        <a:solidFill>
                          <a:schemeClr val="tx1"/>
                        </a:solidFill>
                        <a:effectLst/>
                        <a:latin typeface="+mn-lt"/>
                      </a:endParaRPr>
                    </a:p>
                  </a:txBody>
                  <a:tcPr marL="0" marR="0" marT="0" marB="0"/>
                </a:tc>
                <a:tc>
                  <a:txBody>
                    <a:bodyPr/>
                    <a:lstStyle/>
                    <a:p>
                      <a:pPr marL="91440" algn="l" fontAlgn="t"/>
                      <a:r>
                        <a:rPr lang="en-US" altLang="zh-TW" sz="1400" b="0" i="0" u="none" strike="noStrike" dirty="0">
                          <a:solidFill>
                            <a:srgbClr val="0068B5"/>
                          </a:solidFill>
                          <a:effectLst/>
                          <a:latin typeface="+mn-lt"/>
                        </a:rPr>
                        <a:t>No</a:t>
                      </a:r>
                      <a:endParaRPr lang="en-US" sz="1400" b="0" i="0" u="none" strike="noStrike" dirty="0">
                        <a:solidFill>
                          <a:srgbClr val="0068B5"/>
                        </a:solidFill>
                        <a:effectLst/>
                        <a:latin typeface="+mn-lt"/>
                      </a:endParaRPr>
                    </a:p>
                  </a:txBody>
                  <a:tcPr marL="0" marR="0" marT="0" marB="0"/>
                </a:tc>
                <a:extLst>
                  <a:ext uri="{0D108BD9-81ED-4DB2-BD59-A6C34878D82A}">
                    <a16:rowId xmlns:a16="http://schemas.microsoft.com/office/drawing/2014/main" val="212484621"/>
                  </a:ext>
                </a:extLst>
              </a:tr>
              <a:tr h="376500">
                <a:tc>
                  <a:txBody>
                    <a:bodyPr/>
                    <a:lstStyle/>
                    <a:p>
                      <a:pPr marL="91440" algn="l" fontAlgn="t"/>
                      <a:r>
                        <a:rPr lang="en-MY" sz="1400" u="none" strike="noStrike" dirty="0">
                          <a:solidFill>
                            <a:schemeClr val="tx1"/>
                          </a:solidFill>
                          <a:effectLst/>
                          <a:latin typeface="+mn-lt"/>
                        </a:rPr>
                        <a:t>PCB support pallet material?</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a:solidFill>
                            <a:schemeClr val="tx1"/>
                          </a:solidFill>
                          <a:effectLst/>
                          <a:latin typeface="+mn-lt"/>
                        </a:rPr>
                        <a:t>Synthetic stone</a:t>
                      </a:r>
                      <a:endParaRPr lang="en-MY" sz="1400" b="0" i="0" u="none" strike="noStrike">
                        <a:solidFill>
                          <a:schemeClr val="tx1"/>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a:ln>
                            <a:noFill/>
                          </a:ln>
                          <a:solidFill>
                            <a:srgbClr val="000000"/>
                          </a:solidFill>
                          <a:effectLst/>
                          <a:uLnTx/>
                          <a:uFillTx/>
                          <a:latin typeface="Intel Clear"/>
                          <a:sym typeface="Intel Clear"/>
                        </a:rPr>
                        <a:t>N/A</a:t>
                      </a:r>
                      <a:endParaRPr kumimoji="0" lang="en-MY" sz="1400" b="0" i="0" u="none" strike="noStrike" kern="0" cap="none" spc="0" normalizeH="0" baseline="0" noProof="0" dirty="0">
                        <a:ln>
                          <a:noFill/>
                        </a:ln>
                        <a:solidFill>
                          <a:srgbClr val="000000"/>
                        </a:solidFill>
                        <a:effectLst/>
                        <a:uLnTx/>
                        <a:uFillTx/>
                        <a:latin typeface="Intel Clear"/>
                        <a:sym typeface="Intel Clear"/>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Intel Clear"/>
                          <a:sym typeface="Intel Clear"/>
                        </a:rPr>
                        <a:t>Not Answered</a:t>
                      </a:r>
                      <a:endParaRPr kumimoji="0" lang="en-MY" sz="1400" b="0" i="0" u="none" strike="noStrike" kern="0" cap="none" spc="0" normalizeH="0" baseline="0" noProof="0" dirty="0">
                        <a:ln>
                          <a:noFill/>
                        </a:ln>
                        <a:solidFill>
                          <a:srgbClr val="000000"/>
                        </a:solidFill>
                        <a:effectLst/>
                        <a:uLnTx/>
                        <a:uFillTx/>
                        <a:latin typeface="Intel Clear"/>
                        <a:sym typeface="Intel Clear"/>
                      </a:endParaRPr>
                    </a:p>
                  </a:txBody>
                  <a:tcPr marL="0" marR="0" marT="0" marB="0"/>
                </a:tc>
                <a:tc>
                  <a:txBody>
                    <a:bodyPr/>
                    <a:lstStyle/>
                    <a:p>
                      <a:pPr marL="91440" algn="l" fontAlgn="t"/>
                      <a:r>
                        <a:rPr lang="en-MY" sz="1400" u="none" strike="noStrike" dirty="0">
                          <a:solidFill>
                            <a:schemeClr val="tx1"/>
                          </a:solidFill>
                          <a:effectLst/>
                          <a:latin typeface="+mn-lt"/>
                        </a:rPr>
                        <a:t>Synthetic stone (</a:t>
                      </a:r>
                      <a:r>
                        <a:rPr lang="zh-TW" altLang="en-US" sz="1400" u="none" strike="noStrike" dirty="0">
                          <a:solidFill>
                            <a:schemeClr val="tx1"/>
                          </a:solidFill>
                          <a:effectLst/>
                          <a:latin typeface="+mn-lt"/>
                        </a:rPr>
                        <a:t>合成石</a:t>
                      </a:r>
                      <a:r>
                        <a:rPr lang="en-MY" sz="1400" u="none" strike="noStrike" dirty="0">
                          <a:solidFill>
                            <a:schemeClr val="tx1"/>
                          </a:solidFill>
                          <a:effectLst/>
                          <a:latin typeface="+mn-lt"/>
                        </a:rPr>
                        <a:t>)</a:t>
                      </a:r>
                      <a:endParaRPr lang="en-MY" sz="1400" b="0" i="0" u="none" strike="noStrike" dirty="0">
                        <a:solidFill>
                          <a:schemeClr val="tx1"/>
                        </a:solidFill>
                        <a:effectLst/>
                        <a:latin typeface="+mn-lt"/>
                        <a:ea typeface="細明體" panose="02020509000000000000" pitchFamily="49" charset="-120"/>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a:ln>
                            <a:noFill/>
                          </a:ln>
                          <a:solidFill>
                            <a:srgbClr val="000000"/>
                          </a:solidFill>
                          <a:effectLst/>
                          <a:uLnTx/>
                          <a:uFillTx/>
                          <a:latin typeface="Intel Clear"/>
                          <a:sym typeface="Intel Clear"/>
                        </a:rPr>
                        <a:t>not answered</a:t>
                      </a:r>
                      <a:endParaRPr kumimoji="0" lang="en-MY" sz="1400" b="0" i="0" u="none" strike="noStrike" kern="0" cap="none" spc="0" normalizeH="0" baseline="0" noProof="0" dirty="0">
                        <a:ln>
                          <a:noFill/>
                        </a:ln>
                        <a:solidFill>
                          <a:srgbClr val="000000"/>
                        </a:solidFill>
                        <a:effectLst/>
                        <a:uLnTx/>
                        <a:uFillTx/>
                        <a:latin typeface="Intel Clear"/>
                        <a:sym typeface="Intel Clear"/>
                      </a:endParaRPr>
                    </a:p>
                  </a:txBody>
                  <a:tcPr marL="0" marR="0" marT="0" marB="0"/>
                </a:tc>
                <a:extLst>
                  <a:ext uri="{0D108BD9-81ED-4DB2-BD59-A6C34878D82A}">
                    <a16:rowId xmlns:a16="http://schemas.microsoft.com/office/drawing/2014/main" val="1326175587"/>
                  </a:ext>
                </a:extLst>
              </a:tr>
              <a:tr h="753000">
                <a:tc>
                  <a:txBody>
                    <a:bodyPr/>
                    <a:lstStyle/>
                    <a:p>
                      <a:pPr marL="91440" algn="l" fontAlgn="t"/>
                      <a:r>
                        <a:rPr lang="en-US" sz="1400" u="none" strike="noStrike" dirty="0">
                          <a:solidFill>
                            <a:schemeClr val="tx1"/>
                          </a:solidFill>
                          <a:effectLst/>
                          <a:latin typeface="+mn-lt"/>
                        </a:rPr>
                        <a:t>Are PCB support pallet tooling pins used, or can the board move in the X or Y direction?</a:t>
                      </a:r>
                      <a:endParaRPr lang="en-US" sz="1400" b="0" i="0" u="none" strike="noStrike" dirty="0">
                        <a:solidFill>
                          <a:schemeClr val="tx1"/>
                        </a:solidFill>
                        <a:effectLst/>
                        <a:latin typeface="+mn-lt"/>
                      </a:endParaRPr>
                    </a:p>
                  </a:txBody>
                  <a:tcPr marL="0" marR="0" marT="0" marB="0"/>
                </a:tc>
                <a:tc>
                  <a:txBody>
                    <a:bodyPr/>
                    <a:lstStyle/>
                    <a:p>
                      <a:pPr marL="91440" algn="l" fontAlgn="t"/>
                      <a:r>
                        <a:rPr lang="en-MY" sz="1400" u="none" strike="noStrike">
                          <a:solidFill>
                            <a:schemeClr val="tx1"/>
                          </a:solidFill>
                          <a:effectLst/>
                          <a:latin typeface="+mn-lt"/>
                        </a:rPr>
                        <a:t>No pins used</a:t>
                      </a:r>
                      <a:endParaRPr lang="en-MY" sz="1400" b="0" i="0" u="none" strike="noStrike">
                        <a:solidFill>
                          <a:schemeClr val="tx1"/>
                        </a:solidFill>
                        <a:effectLst/>
                        <a:latin typeface="+mn-lt"/>
                      </a:endParaRPr>
                    </a:p>
                  </a:txBody>
                  <a:tcPr marL="0" marR="0" marT="0" marB="0"/>
                </a:tc>
                <a:tc>
                  <a:txBody>
                    <a:bodyPr/>
                    <a:lstStyle/>
                    <a:p>
                      <a:pPr marL="91440" algn="l" fontAlgn="t"/>
                      <a:r>
                        <a:rPr kumimoji="0" lang="en-MY" sz="1400" b="0" i="0" u="none" strike="noStrike" kern="0" cap="none" spc="0" normalizeH="0" baseline="0" noProof="0">
                          <a:ln>
                            <a:noFill/>
                          </a:ln>
                          <a:solidFill>
                            <a:srgbClr val="000000"/>
                          </a:solidFill>
                          <a:effectLst/>
                          <a:uLnTx/>
                          <a:uFillTx/>
                          <a:latin typeface="Intel Clear"/>
                          <a:sym typeface="Intel Clear"/>
                        </a:rPr>
                        <a:t>N/A</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solidFill>
                            <a:schemeClr val="tx1"/>
                          </a:solidFill>
                          <a:effectLst/>
                          <a:latin typeface="+mn-lt"/>
                        </a:rPr>
                        <a:t>Yes, pin support</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solidFill>
                            <a:schemeClr val="tx1"/>
                          </a:solidFill>
                          <a:effectLst/>
                          <a:latin typeface="+mn-lt"/>
                        </a:rPr>
                        <a:t>Yes, pin support</a:t>
                      </a:r>
                      <a:endParaRPr lang="en-MY" sz="1400" b="0" i="0" u="none" strike="noStrike" dirty="0">
                        <a:solidFill>
                          <a:schemeClr val="tx1"/>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a:ln>
                            <a:noFill/>
                          </a:ln>
                          <a:solidFill>
                            <a:srgbClr val="000000"/>
                          </a:solidFill>
                          <a:effectLst/>
                          <a:uLnTx/>
                          <a:uFillTx/>
                          <a:latin typeface="Intel Clear"/>
                          <a:sym typeface="Intel Clear"/>
                        </a:rPr>
                        <a:t>not answered</a:t>
                      </a:r>
                      <a:endParaRPr kumimoji="0" lang="en-MY" sz="1400" b="0" i="0" u="none" strike="noStrike" kern="0" cap="none" spc="0" normalizeH="0" baseline="0" noProof="0" dirty="0">
                        <a:ln>
                          <a:noFill/>
                        </a:ln>
                        <a:solidFill>
                          <a:srgbClr val="000000"/>
                        </a:solidFill>
                        <a:effectLst/>
                        <a:uLnTx/>
                        <a:uFillTx/>
                        <a:latin typeface="Intel Clear"/>
                        <a:sym typeface="Intel Clear"/>
                      </a:endParaRPr>
                    </a:p>
                  </a:txBody>
                  <a:tcPr marL="0" marR="0" marT="0" marB="0"/>
                </a:tc>
                <a:extLst>
                  <a:ext uri="{0D108BD9-81ED-4DB2-BD59-A6C34878D82A}">
                    <a16:rowId xmlns:a16="http://schemas.microsoft.com/office/drawing/2014/main" val="1762237323"/>
                  </a:ext>
                </a:extLst>
              </a:tr>
              <a:tr h="753000">
                <a:tc>
                  <a:txBody>
                    <a:bodyPr/>
                    <a:lstStyle/>
                    <a:p>
                      <a:pPr marL="91440" algn="l" fontAlgn="t"/>
                      <a:r>
                        <a:rPr lang="en-US" sz="1400" u="none" strike="noStrike" dirty="0">
                          <a:solidFill>
                            <a:schemeClr val="tx1"/>
                          </a:solidFill>
                          <a:effectLst/>
                          <a:latin typeface="+mn-lt"/>
                        </a:rPr>
                        <a:t>PCB support pallet minimum </a:t>
                      </a:r>
                      <a:br>
                        <a:rPr lang="en-US" sz="1400" u="none" strike="noStrike" dirty="0">
                          <a:solidFill>
                            <a:schemeClr val="tx1"/>
                          </a:solidFill>
                          <a:effectLst/>
                          <a:latin typeface="+mn-lt"/>
                        </a:rPr>
                      </a:br>
                      <a:r>
                        <a:rPr lang="en-US" sz="1400" u="none" strike="noStrike" dirty="0">
                          <a:solidFill>
                            <a:schemeClr val="tx1"/>
                          </a:solidFill>
                          <a:effectLst/>
                          <a:latin typeface="+mn-lt"/>
                        </a:rPr>
                        <a:t>board clearance to pallet edge? (mm)</a:t>
                      </a:r>
                      <a:endParaRPr lang="en-US" sz="1400" b="0" i="0" u="none" strike="noStrike" dirty="0">
                        <a:solidFill>
                          <a:schemeClr val="tx1"/>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Intel Clear"/>
                          <a:sym typeface="Intel Clear"/>
                        </a:rPr>
                        <a:t>Not Answered</a:t>
                      </a:r>
                      <a:endParaRPr kumimoji="0" lang="en-MY" sz="1400" b="0" i="0" u="none" strike="noStrike" kern="0" cap="none" spc="0" normalizeH="0" baseline="0" noProof="0" dirty="0">
                        <a:ln>
                          <a:noFill/>
                        </a:ln>
                        <a:solidFill>
                          <a:srgbClr val="000000"/>
                        </a:solidFill>
                        <a:effectLst/>
                        <a:uLnTx/>
                        <a:uFillTx/>
                        <a:latin typeface="Intel Clear"/>
                        <a:sym typeface="Intel Clear"/>
                      </a:endParaRPr>
                    </a:p>
                  </a:txBody>
                  <a:tcPr marL="0" marR="0" marT="0" marB="0"/>
                </a:tc>
                <a:tc>
                  <a:txBody>
                    <a:bodyPr/>
                    <a:lstStyle/>
                    <a:p>
                      <a:pPr marL="91440" algn="l" fontAlgn="t"/>
                      <a:r>
                        <a:rPr kumimoji="0" lang="en-MY" sz="1400" b="0" i="0" u="none" strike="noStrike" kern="0" cap="none" spc="0" normalizeH="0" baseline="0" noProof="0">
                          <a:ln>
                            <a:noFill/>
                          </a:ln>
                          <a:solidFill>
                            <a:srgbClr val="000000"/>
                          </a:solidFill>
                          <a:effectLst/>
                          <a:uLnTx/>
                          <a:uFillTx/>
                          <a:latin typeface="Intel Clear"/>
                          <a:sym typeface="Intel Clear"/>
                        </a:rPr>
                        <a:t>N/A</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solidFill>
                            <a:srgbClr val="FF0000"/>
                          </a:solidFill>
                          <a:effectLst>
                            <a:outerShdw blurRad="38100" dist="38100" dir="2700000" algn="tl">
                              <a:srgbClr val="000000">
                                <a:alpha val="43137"/>
                              </a:srgbClr>
                            </a:outerShdw>
                          </a:effectLst>
                          <a:latin typeface="+mn-lt"/>
                        </a:rPr>
                        <a:t>No ?</a:t>
                      </a:r>
                      <a:endParaRPr lang="en-MY" sz="1400" b="0" i="0" u="none" strike="noStrike" dirty="0">
                        <a:solidFill>
                          <a:srgbClr val="FF0000"/>
                        </a:solidFill>
                        <a:effectLst>
                          <a:outerShdw blurRad="38100" dist="38100" dir="2700000" algn="tl">
                            <a:srgbClr val="000000">
                              <a:alpha val="43137"/>
                            </a:srgbClr>
                          </a:outerShdw>
                        </a:effectLst>
                        <a:latin typeface="+mn-lt"/>
                      </a:endParaRPr>
                    </a:p>
                  </a:txBody>
                  <a:tcPr marL="0" marR="0" marT="0" marB="0"/>
                </a:tc>
                <a:tc>
                  <a:txBody>
                    <a:bodyPr/>
                    <a:lstStyle/>
                    <a:p>
                      <a:pPr marL="91440" algn="l" fontAlgn="t"/>
                      <a:r>
                        <a:rPr lang="en-MY" sz="1400" u="none" strike="noStrike" dirty="0">
                          <a:solidFill>
                            <a:schemeClr val="tx1"/>
                          </a:solidFill>
                          <a:effectLst/>
                          <a:latin typeface="+mn-lt"/>
                        </a:rPr>
                        <a:t>1</a:t>
                      </a:r>
                      <a:endParaRPr lang="en-MY" sz="1400" b="0" i="0" u="none" strike="noStrike" dirty="0">
                        <a:solidFill>
                          <a:schemeClr val="tx1"/>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dirty="0">
                          <a:ln>
                            <a:noFill/>
                          </a:ln>
                          <a:solidFill>
                            <a:srgbClr val="000000"/>
                          </a:solidFill>
                          <a:effectLst/>
                          <a:uLnTx/>
                          <a:uFillTx/>
                          <a:latin typeface="Intel Clear"/>
                          <a:sym typeface="Intel Clear"/>
                        </a:rPr>
                        <a:t>not answered</a:t>
                      </a:r>
                    </a:p>
                  </a:txBody>
                  <a:tcPr marL="0" marR="0" marT="0" marB="0"/>
                </a:tc>
                <a:extLst>
                  <a:ext uri="{0D108BD9-81ED-4DB2-BD59-A6C34878D82A}">
                    <a16:rowId xmlns:a16="http://schemas.microsoft.com/office/drawing/2014/main" val="2568114345"/>
                  </a:ext>
                </a:extLst>
              </a:tr>
              <a:tr h="376500">
                <a:tc>
                  <a:txBody>
                    <a:bodyPr/>
                    <a:lstStyle/>
                    <a:p>
                      <a:pPr marL="91440" algn="l" fontAlgn="t"/>
                      <a:r>
                        <a:rPr lang="en-US" sz="1400" u="none" strike="noStrike">
                          <a:solidFill>
                            <a:schemeClr val="tx1"/>
                          </a:solidFill>
                          <a:effectLst/>
                          <a:latin typeface="+mn-lt"/>
                        </a:rPr>
                        <a:t>PCB support pallet,</a:t>
                      </a:r>
                      <a:br>
                        <a:rPr lang="en-US" sz="1400" u="none" strike="noStrike">
                          <a:solidFill>
                            <a:schemeClr val="tx1"/>
                          </a:solidFill>
                          <a:effectLst/>
                          <a:latin typeface="+mn-lt"/>
                        </a:rPr>
                      </a:br>
                      <a:r>
                        <a:rPr lang="en-US" sz="1400" u="none" strike="noStrike">
                          <a:solidFill>
                            <a:schemeClr val="tx1"/>
                          </a:solidFill>
                          <a:effectLst/>
                          <a:latin typeface="+mn-lt"/>
                        </a:rPr>
                        <a:t> type of clamps used?</a:t>
                      </a:r>
                      <a:endParaRPr lang="en-US" sz="1400" b="0" i="0" u="none" strike="noStrike">
                        <a:solidFill>
                          <a:schemeClr val="tx1"/>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Intel Clear"/>
                          <a:sym typeface="Intel Clear"/>
                        </a:rPr>
                        <a:t>Not Answered</a:t>
                      </a:r>
                      <a:endParaRPr kumimoji="0" lang="en-MY" sz="1400" b="0" i="0" u="none" strike="noStrike" kern="0" cap="none" spc="0" normalizeH="0" baseline="0" noProof="0" dirty="0">
                        <a:ln>
                          <a:noFill/>
                        </a:ln>
                        <a:solidFill>
                          <a:srgbClr val="000000"/>
                        </a:solidFill>
                        <a:effectLst/>
                        <a:uLnTx/>
                        <a:uFillTx/>
                        <a:latin typeface="Intel Clear"/>
                        <a:sym typeface="Intel Clear"/>
                      </a:endParaRPr>
                    </a:p>
                  </a:txBody>
                  <a:tcPr marL="0" marR="0" marT="0" marB="0"/>
                </a:tc>
                <a:tc>
                  <a:txBody>
                    <a:bodyPr/>
                    <a:lstStyle/>
                    <a:p>
                      <a:pPr marL="91440" algn="l" fontAlgn="t"/>
                      <a:r>
                        <a:rPr kumimoji="0" lang="en-MY" sz="1400" b="0" i="0" u="none" strike="noStrike" kern="0" cap="none" spc="0" normalizeH="0" baseline="0" noProof="0" dirty="0">
                          <a:ln>
                            <a:noFill/>
                          </a:ln>
                          <a:solidFill>
                            <a:srgbClr val="000000"/>
                          </a:solidFill>
                          <a:effectLst/>
                          <a:uLnTx/>
                          <a:uFillTx/>
                          <a:latin typeface="Intel Clear"/>
                          <a:sym typeface="Intel Clear"/>
                        </a:rPr>
                        <a:t>N/A</a:t>
                      </a:r>
                      <a:endParaRPr lang="en-MY" sz="1400" b="0" i="0" u="none" strike="noStrike" dirty="0">
                        <a:solidFill>
                          <a:schemeClr val="tx1"/>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lang="en-MY" sz="1400" u="none" strike="noStrike" dirty="0">
                          <a:solidFill>
                            <a:srgbClr val="0068B5"/>
                          </a:solidFill>
                          <a:effectLst/>
                          <a:latin typeface="+mn-lt"/>
                        </a:rPr>
                        <a:t>No clamps used</a:t>
                      </a:r>
                      <a:endParaRPr lang="en-MY" sz="1400" b="0" i="0" u="none" strike="noStrike" dirty="0">
                        <a:solidFill>
                          <a:srgbClr val="0068B5"/>
                        </a:solidFill>
                        <a:effectLst/>
                        <a:latin typeface="+mn-lt"/>
                      </a:endParaRPr>
                    </a:p>
                  </a:txBody>
                  <a:tcPr marL="0" marR="0" marT="0" marB="0"/>
                </a:tc>
                <a:tc>
                  <a:txBody>
                    <a:bodyPr/>
                    <a:lstStyle/>
                    <a:p>
                      <a:pPr marL="91440" algn="l" fontAlgn="t"/>
                      <a:r>
                        <a:rPr lang="en-US" sz="1400" b="0" i="0" u="none" strike="noStrike" dirty="0">
                          <a:solidFill>
                            <a:schemeClr val="tx1"/>
                          </a:solidFill>
                          <a:effectLst/>
                          <a:latin typeface="+mn-lt"/>
                        </a:rPr>
                        <a:t>Not Answered</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b="0" i="0" u="none" strike="noStrike" dirty="0">
                          <a:solidFill>
                            <a:srgbClr val="0068B5"/>
                          </a:solidFill>
                          <a:effectLst/>
                          <a:latin typeface="+mn-lt"/>
                        </a:rPr>
                        <a:t>No clamps used</a:t>
                      </a:r>
                    </a:p>
                  </a:txBody>
                  <a:tcPr marL="0" marR="0" marT="0" marB="0"/>
                </a:tc>
                <a:extLst>
                  <a:ext uri="{0D108BD9-81ED-4DB2-BD59-A6C34878D82A}">
                    <a16:rowId xmlns:a16="http://schemas.microsoft.com/office/drawing/2014/main" val="409622744"/>
                  </a:ext>
                </a:extLst>
              </a:tr>
              <a:tr h="188646">
                <a:tc>
                  <a:txBody>
                    <a:bodyPr/>
                    <a:lstStyle/>
                    <a:p>
                      <a:pPr marL="91440" algn="l" fontAlgn="t"/>
                      <a:r>
                        <a:rPr lang="en-MY" sz="1400" u="none" strike="noStrike">
                          <a:solidFill>
                            <a:schemeClr val="tx1"/>
                          </a:solidFill>
                          <a:effectLst/>
                          <a:latin typeface="+mn-lt"/>
                        </a:rPr>
                        <a:t>Oven Purging with N2?</a:t>
                      </a:r>
                      <a:endParaRPr lang="en-MY" sz="1400" b="0" i="0" u="none" strike="noStrike">
                        <a:solidFill>
                          <a:schemeClr val="tx1"/>
                        </a:solidFill>
                        <a:effectLst/>
                        <a:latin typeface="+mn-lt"/>
                      </a:endParaRPr>
                    </a:p>
                  </a:txBody>
                  <a:tcPr marL="0" marR="0" marT="0" marB="0"/>
                </a:tc>
                <a:tc>
                  <a:txBody>
                    <a:bodyPr/>
                    <a:lstStyle/>
                    <a:p>
                      <a:pPr marL="91440" algn="l" fontAlgn="t"/>
                      <a:r>
                        <a:rPr lang="en-MY" sz="1400" u="none" strike="noStrike" dirty="0">
                          <a:solidFill>
                            <a:schemeClr val="tx1"/>
                          </a:solidFill>
                          <a:effectLst/>
                          <a:latin typeface="+mn-lt"/>
                        </a:rPr>
                        <a:t>Yes</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solidFill>
                            <a:schemeClr val="tx1"/>
                          </a:solidFill>
                          <a:effectLst/>
                          <a:latin typeface="+mn-lt"/>
                        </a:rPr>
                        <a:t>Yes</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solidFill>
                            <a:schemeClr val="tx1"/>
                          </a:solidFill>
                          <a:effectLst/>
                          <a:latin typeface="+mn-lt"/>
                        </a:rPr>
                        <a:t>No</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solidFill>
                            <a:schemeClr val="tx1"/>
                          </a:solidFill>
                          <a:effectLst/>
                          <a:latin typeface="+mn-lt"/>
                        </a:rPr>
                        <a:t>Yes</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b="0" i="0" u="none" strike="noStrike" dirty="0">
                          <a:solidFill>
                            <a:srgbClr val="0000FF"/>
                          </a:solidFill>
                          <a:effectLst/>
                          <a:latin typeface="+mn-lt"/>
                        </a:rPr>
                        <a:t>Yes</a:t>
                      </a:r>
                    </a:p>
                  </a:txBody>
                  <a:tcPr marL="0" marR="0" marT="0" marB="0"/>
                </a:tc>
                <a:extLst>
                  <a:ext uri="{0D108BD9-81ED-4DB2-BD59-A6C34878D82A}">
                    <a16:rowId xmlns:a16="http://schemas.microsoft.com/office/drawing/2014/main" val="3754545372"/>
                  </a:ext>
                </a:extLst>
              </a:tr>
              <a:tr h="370595">
                <a:tc>
                  <a:txBody>
                    <a:bodyPr/>
                    <a:lstStyle/>
                    <a:p>
                      <a:pPr marL="91440" algn="l" fontAlgn="t"/>
                      <a:r>
                        <a:rPr lang="en-MY" sz="1400" u="none" strike="noStrike" dirty="0">
                          <a:solidFill>
                            <a:schemeClr val="tx1"/>
                          </a:solidFill>
                          <a:effectLst/>
                          <a:latin typeface="+mn-lt"/>
                        </a:rPr>
                        <a:t>O2 PPM control</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a:solidFill>
                            <a:schemeClr val="tx1"/>
                          </a:solidFill>
                          <a:effectLst/>
                          <a:latin typeface="+mn-lt"/>
                        </a:rPr>
                        <a:t>&lt;1000ppm</a:t>
                      </a:r>
                      <a:endParaRPr lang="en-MY" sz="1400" b="0" i="0" u="none" strike="noStrike">
                        <a:solidFill>
                          <a:schemeClr val="tx1"/>
                        </a:solidFill>
                        <a:effectLst/>
                        <a:latin typeface="+mn-lt"/>
                      </a:endParaRPr>
                    </a:p>
                  </a:txBody>
                  <a:tcPr marL="0" marR="0" marT="0" marB="0"/>
                </a:tc>
                <a:tc>
                  <a:txBody>
                    <a:bodyPr/>
                    <a:lstStyle/>
                    <a:p>
                      <a:pPr marL="91440" algn="l" fontAlgn="t"/>
                      <a:r>
                        <a:rPr lang="en-MY" sz="1400" u="none" strike="noStrike" dirty="0">
                          <a:solidFill>
                            <a:schemeClr val="tx1"/>
                          </a:solidFill>
                          <a:effectLst/>
                          <a:latin typeface="+mn-lt"/>
                        </a:rPr>
                        <a:t>&lt;3000ppm</a:t>
                      </a:r>
                      <a:endParaRPr lang="en-MY" sz="1400" b="0" i="0" u="none" strike="noStrike" dirty="0">
                        <a:solidFill>
                          <a:schemeClr val="tx1"/>
                        </a:solidFill>
                        <a:effectLst/>
                        <a:latin typeface="+mn-lt"/>
                      </a:endParaRPr>
                    </a:p>
                  </a:txBody>
                  <a:tcPr marL="0" marR="0" marT="0" marB="0"/>
                </a:tc>
                <a:tc>
                  <a:txBody>
                    <a:bodyPr/>
                    <a:lstStyle/>
                    <a:p>
                      <a:pPr marL="91440" algn="l" fontAlgn="t"/>
                      <a:r>
                        <a:rPr lang="en-US" sz="1400" b="0" i="0" u="none" strike="noStrike" dirty="0">
                          <a:solidFill>
                            <a:schemeClr val="tx1"/>
                          </a:solidFill>
                          <a:effectLst/>
                          <a:latin typeface="+mn-lt"/>
                        </a:rPr>
                        <a:t>N</a:t>
                      </a:r>
                      <a:r>
                        <a:rPr lang="en-MY" sz="1400" b="0" i="0" u="none" strike="noStrike" dirty="0">
                          <a:solidFill>
                            <a:schemeClr val="tx1"/>
                          </a:solidFill>
                          <a:effectLst/>
                          <a:latin typeface="+mn-lt"/>
                        </a:rPr>
                        <a:t>/A</a:t>
                      </a:r>
                    </a:p>
                  </a:txBody>
                  <a:tcPr marL="0" marR="0" marT="0" marB="0"/>
                </a:tc>
                <a:tc>
                  <a:txBody>
                    <a:bodyPr/>
                    <a:lstStyle/>
                    <a:p>
                      <a:pPr marL="91440" algn="l" fontAlgn="t"/>
                      <a:r>
                        <a:rPr lang="en-MY" sz="1400" u="none" strike="noStrike" dirty="0">
                          <a:solidFill>
                            <a:schemeClr val="tx1"/>
                          </a:solidFill>
                          <a:effectLst/>
                          <a:latin typeface="+mn-lt"/>
                        </a:rPr>
                        <a:t>&lt;3000ppm</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b="0" i="0" u="none" strike="noStrike" dirty="0">
                          <a:solidFill>
                            <a:srgbClr val="0068B5"/>
                          </a:solidFill>
                          <a:effectLst/>
                          <a:latin typeface="+mn-lt"/>
                        </a:rPr>
                        <a:t>&lt;1000ppm</a:t>
                      </a:r>
                    </a:p>
                  </a:txBody>
                  <a:tcPr marL="0" marR="0" marT="0" marB="0"/>
                </a:tc>
                <a:extLst>
                  <a:ext uri="{0D108BD9-81ED-4DB2-BD59-A6C34878D82A}">
                    <a16:rowId xmlns:a16="http://schemas.microsoft.com/office/drawing/2014/main" val="1108691741"/>
                  </a:ext>
                </a:extLst>
              </a:tr>
            </a:tbl>
          </a:graphicData>
        </a:graphic>
      </p:graphicFrame>
      <p:sp>
        <p:nvSpPr>
          <p:cNvPr id="5" name="Rectangle: Rounded Corners 4">
            <a:extLst>
              <a:ext uri="{FF2B5EF4-FFF2-40B4-BE49-F238E27FC236}">
                <a16:creationId xmlns:a16="http://schemas.microsoft.com/office/drawing/2014/main" id="{4AF9FFA0-B711-4AF7-9A64-732EFED3387E}"/>
              </a:ext>
            </a:extLst>
          </p:cNvPr>
          <p:cNvSpPr/>
          <p:nvPr/>
        </p:nvSpPr>
        <p:spPr>
          <a:xfrm>
            <a:off x="583141" y="5546860"/>
            <a:ext cx="10678583" cy="726440"/>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4 Customers using N2 (1K-3Kppm O2) @ Reflow and 1 Customer using Air @ Reflow</a:t>
            </a:r>
          </a:p>
        </p:txBody>
      </p:sp>
    </p:spTree>
    <p:extLst>
      <p:ext uri="{BB962C8B-B14F-4D97-AF65-F5344CB8AC3E}">
        <p14:creationId xmlns:p14="http://schemas.microsoft.com/office/powerpoint/2010/main" val="1194164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A4BA2-967B-4792-9FFD-2614EC72E47B}"/>
              </a:ext>
            </a:extLst>
          </p:cNvPr>
          <p:cNvSpPr>
            <a:spLocks noGrp="1"/>
          </p:cNvSpPr>
          <p:nvPr>
            <p:ph type="title"/>
          </p:nvPr>
        </p:nvSpPr>
        <p:spPr>
          <a:xfrm>
            <a:off x="607483" y="-31904"/>
            <a:ext cx="10972800" cy="599168"/>
          </a:xfrm>
        </p:spPr>
        <p:txBody>
          <a:bodyPr/>
          <a:lstStyle/>
          <a:p>
            <a:r>
              <a:rPr lang="en-US" dirty="0"/>
              <a:t>Reflow Process (2)</a:t>
            </a:r>
            <a:endParaRPr lang="en-MY" dirty="0"/>
          </a:p>
        </p:txBody>
      </p:sp>
      <p:graphicFrame>
        <p:nvGraphicFramePr>
          <p:cNvPr id="4" name="Content Placeholder 3">
            <a:extLst>
              <a:ext uri="{FF2B5EF4-FFF2-40B4-BE49-F238E27FC236}">
                <a16:creationId xmlns:a16="http://schemas.microsoft.com/office/drawing/2014/main" id="{1EA76427-9B76-48C4-A843-0CDC64D05D46}"/>
              </a:ext>
            </a:extLst>
          </p:cNvPr>
          <p:cNvGraphicFramePr>
            <a:graphicFrameLocks noGrp="1"/>
          </p:cNvGraphicFramePr>
          <p:nvPr>
            <p:ph sz="quarter" idx="13"/>
            <p:extLst>
              <p:ext uri="{D42A27DB-BD31-4B8C-83A1-F6EECF244321}">
                <p14:modId xmlns:p14="http://schemas.microsoft.com/office/powerpoint/2010/main" val="1802939081"/>
              </p:ext>
            </p:extLst>
          </p:nvPr>
        </p:nvGraphicFramePr>
        <p:xfrm>
          <a:off x="133349" y="499528"/>
          <a:ext cx="11609919" cy="4660059"/>
        </p:xfrm>
        <a:graphic>
          <a:graphicData uri="http://schemas.openxmlformats.org/drawingml/2006/table">
            <a:tbl>
              <a:tblPr firstRow="1" bandRow="1">
                <a:tableStyleId>{69012ECD-51FC-41F1-AA8D-1B2483CD663E}</a:tableStyleId>
              </a:tblPr>
              <a:tblGrid>
                <a:gridCol w="3110721">
                  <a:extLst>
                    <a:ext uri="{9D8B030D-6E8A-4147-A177-3AD203B41FA5}">
                      <a16:colId xmlns:a16="http://schemas.microsoft.com/office/drawing/2014/main" val="444839612"/>
                    </a:ext>
                  </a:extLst>
                </a:gridCol>
                <a:gridCol w="1485505">
                  <a:extLst>
                    <a:ext uri="{9D8B030D-6E8A-4147-A177-3AD203B41FA5}">
                      <a16:colId xmlns:a16="http://schemas.microsoft.com/office/drawing/2014/main" val="1212325891"/>
                    </a:ext>
                  </a:extLst>
                </a:gridCol>
                <a:gridCol w="1688158">
                  <a:extLst>
                    <a:ext uri="{9D8B030D-6E8A-4147-A177-3AD203B41FA5}">
                      <a16:colId xmlns:a16="http://schemas.microsoft.com/office/drawing/2014/main" val="1254900747"/>
                    </a:ext>
                  </a:extLst>
                </a:gridCol>
                <a:gridCol w="1549683">
                  <a:extLst>
                    <a:ext uri="{9D8B030D-6E8A-4147-A177-3AD203B41FA5}">
                      <a16:colId xmlns:a16="http://schemas.microsoft.com/office/drawing/2014/main" val="3418908353"/>
                    </a:ext>
                  </a:extLst>
                </a:gridCol>
                <a:gridCol w="1887926">
                  <a:extLst>
                    <a:ext uri="{9D8B030D-6E8A-4147-A177-3AD203B41FA5}">
                      <a16:colId xmlns:a16="http://schemas.microsoft.com/office/drawing/2014/main" val="2436047381"/>
                    </a:ext>
                  </a:extLst>
                </a:gridCol>
                <a:gridCol w="1887926">
                  <a:extLst>
                    <a:ext uri="{9D8B030D-6E8A-4147-A177-3AD203B41FA5}">
                      <a16:colId xmlns:a16="http://schemas.microsoft.com/office/drawing/2014/main" val="1761718763"/>
                    </a:ext>
                  </a:extLst>
                </a:gridCol>
              </a:tblGrid>
              <a:tr h="294717">
                <a:tc>
                  <a:txBody>
                    <a:bodyPr/>
                    <a:lstStyle/>
                    <a:p>
                      <a:pPr marL="91440" algn="l" fontAlgn="t"/>
                      <a:r>
                        <a:rPr lang="en-MY" sz="1600" u="none" strike="noStrike" dirty="0">
                          <a:effectLst/>
                        </a:rPr>
                        <a:t>Parameter / Capability </a:t>
                      </a:r>
                      <a:endParaRPr lang="en-MY" sz="1600" b="1" i="0" u="none" strike="noStrike" dirty="0">
                        <a:solidFill>
                          <a:srgbClr val="FFFFFF"/>
                        </a:solidFill>
                        <a:effectLst/>
                        <a:latin typeface="+mn-lt"/>
                      </a:endParaRPr>
                    </a:p>
                  </a:txBody>
                  <a:tcPr marL="0" marR="0" marT="0" marB="0"/>
                </a:tc>
                <a:tc>
                  <a:txBody>
                    <a:bodyPr/>
                    <a:lstStyle/>
                    <a:p>
                      <a:pPr marL="91440" algn="l" rtl="0" fontAlgn="ctr"/>
                      <a:r>
                        <a:rPr lang="en-MY" sz="1600" u="none" strike="noStrike" dirty="0">
                          <a:effectLst/>
                        </a:rPr>
                        <a:t>ECS</a:t>
                      </a:r>
                      <a:endParaRPr lang="en-MY" sz="1600" b="1" i="0" u="none" strike="noStrike" dirty="0">
                        <a:solidFill>
                          <a:srgbClr val="FFFFFF"/>
                        </a:solidFill>
                        <a:effectLst/>
                        <a:latin typeface="+mn-lt"/>
                      </a:endParaRPr>
                    </a:p>
                  </a:txBody>
                  <a:tcPr marL="0" marR="0" marT="0" marB="0"/>
                </a:tc>
                <a:tc>
                  <a:txBody>
                    <a:bodyPr/>
                    <a:lstStyle/>
                    <a:p>
                      <a:pPr marL="91440" algn="l" rtl="0" fontAlgn="ctr"/>
                      <a:r>
                        <a:rPr lang="en-MY" sz="1600" u="none" strike="noStrike" dirty="0">
                          <a:effectLst/>
                        </a:rPr>
                        <a:t>LCFC</a:t>
                      </a:r>
                      <a:endParaRPr lang="en-MY" sz="1600" b="1" i="0" u="none" strike="noStrike" dirty="0">
                        <a:solidFill>
                          <a:srgbClr val="FFFFFF"/>
                        </a:solidFill>
                        <a:effectLst/>
                        <a:latin typeface="+mn-lt"/>
                      </a:endParaRPr>
                    </a:p>
                  </a:txBody>
                  <a:tcPr marL="0" marR="0" marT="0" marB="0"/>
                </a:tc>
                <a:tc>
                  <a:txBody>
                    <a:bodyPr/>
                    <a:lstStyle/>
                    <a:p>
                      <a:pPr marL="91440" algn="l" rtl="0" fontAlgn="ctr"/>
                      <a:r>
                        <a:rPr lang="en-MY" sz="1600" u="none" strike="noStrike" dirty="0">
                          <a:effectLst/>
                        </a:rPr>
                        <a:t>FXWH</a:t>
                      </a:r>
                      <a:endParaRPr lang="en-MY" sz="1600" b="1" i="0" u="none" strike="noStrike" dirty="0">
                        <a:solidFill>
                          <a:srgbClr val="FFFFFF"/>
                        </a:solidFill>
                        <a:effectLst/>
                        <a:latin typeface="+mn-lt"/>
                      </a:endParaRPr>
                    </a:p>
                  </a:txBody>
                  <a:tcPr marL="0" marR="0" marT="0" marB="0"/>
                </a:tc>
                <a:tc>
                  <a:txBody>
                    <a:bodyPr/>
                    <a:lstStyle/>
                    <a:p>
                      <a:pPr marL="91440" algn="l" rtl="0" fontAlgn="ctr"/>
                      <a:r>
                        <a:rPr lang="en-MY" sz="1600" u="none" strike="noStrike" dirty="0">
                          <a:effectLst/>
                        </a:rPr>
                        <a:t>LITEON</a:t>
                      </a:r>
                      <a:endParaRPr lang="en-MY" sz="1600" b="1" i="0" u="none" strike="noStrike" dirty="0">
                        <a:solidFill>
                          <a:srgbClr val="FFFFFF"/>
                        </a:solidFill>
                        <a:effectLst/>
                        <a:latin typeface="+mn-lt"/>
                      </a:endParaRPr>
                    </a:p>
                  </a:txBody>
                  <a:tcPr marL="0" marR="0" marT="0" marB="0"/>
                </a:tc>
                <a:tc>
                  <a:txBody>
                    <a:bodyPr/>
                    <a:lstStyle/>
                    <a:p>
                      <a:pPr marL="91440" algn="l" rtl="0" fontAlgn="ctr"/>
                      <a:r>
                        <a:rPr lang="en-MY" sz="1600" b="1" i="0" u="none" strike="noStrike" dirty="0">
                          <a:solidFill>
                            <a:srgbClr val="FFFFFF"/>
                          </a:solidFill>
                          <a:effectLst/>
                          <a:latin typeface="+mn-lt"/>
                        </a:rPr>
                        <a:t>MSI (LENOVO)</a:t>
                      </a:r>
                    </a:p>
                  </a:txBody>
                  <a:tcPr marL="0" marR="0" marT="0" marB="0"/>
                </a:tc>
                <a:extLst>
                  <a:ext uri="{0D108BD9-81ED-4DB2-BD59-A6C34878D82A}">
                    <a16:rowId xmlns:a16="http://schemas.microsoft.com/office/drawing/2014/main" val="2080264223"/>
                  </a:ext>
                </a:extLst>
              </a:tr>
              <a:tr h="255657">
                <a:tc>
                  <a:txBody>
                    <a:bodyPr/>
                    <a:lstStyle/>
                    <a:p>
                      <a:pPr marL="91440" algn="l" fontAlgn="t"/>
                      <a:r>
                        <a:rPr lang="en-MY" sz="1400" u="none" strike="noStrike">
                          <a:effectLst/>
                        </a:rPr>
                        <a:t>Belt Speed (cm/min)</a:t>
                      </a:r>
                      <a:endParaRPr lang="en-MY" sz="1400" b="0" i="0" u="none" strike="noStrike">
                        <a:solidFill>
                          <a:srgbClr val="000000"/>
                        </a:solidFill>
                        <a:effectLst/>
                        <a:latin typeface="+mn-lt"/>
                      </a:endParaRPr>
                    </a:p>
                  </a:txBody>
                  <a:tcPr marL="0" marR="0" marT="0" marB="0"/>
                </a:tc>
                <a:tc>
                  <a:txBody>
                    <a:bodyPr/>
                    <a:lstStyle/>
                    <a:p>
                      <a:pPr marL="91440" algn="l" fontAlgn="t"/>
                      <a:r>
                        <a:rPr lang="en-MY" sz="1400" u="none" strike="noStrike" dirty="0">
                          <a:effectLst/>
                        </a:rPr>
                        <a:t>85</a:t>
                      </a:r>
                      <a:endParaRPr lang="en-MY" sz="1400" b="0" i="0" u="none" strike="noStrike" dirty="0">
                        <a:solidFill>
                          <a:srgbClr val="0000FF"/>
                        </a:solidFill>
                        <a:effectLst/>
                        <a:latin typeface="+mn-lt"/>
                      </a:endParaRPr>
                    </a:p>
                  </a:txBody>
                  <a:tcPr marL="0" marR="0" marT="0" marB="0"/>
                </a:tc>
                <a:tc>
                  <a:txBody>
                    <a:bodyPr/>
                    <a:lstStyle/>
                    <a:p>
                      <a:pPr marL="91440" algn="l" fontAlgn="t"/>
                      <a:r>
                        <a:rPr lang="en-MY" sz="1400" u="none" strike="noStrike" dirty="0">
                          <a:effectLst/>
                        </a:rPr>
                        <a:t>130</a:t>
                      </a:r>
                      <a:endParaRPr lang="en-MY"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rPr>
                        <a:t>85-90</a:t>
                      </a:r>
                      <a:endParaRPr lang="en-MY"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rPr>
                        <a:t>100</a:t>
                      </a:r>
                      <a:endParaRPr lang="en-MY" sz="1400" b="0" i="0" u="none" strike="noStrike" dirty="0">
                        <a:solidFill>
                          <a:srgbClr val="0000CC"/>
                        </a:solidFill>
                        <a:effectLst/>
                        <a:latin typeface="+mn-lt"/>
                      </a:endParaRPr>
                    </a:p>
                  </a:txBody>
                  <a:tcPr marL="0" marR="0" marT="0" marB="0"/>
                </a:tc>
                <a:tc>
                  <a:txBody>
                    <a:bodyPr/>
                    <a:lstStyle/>
                    <a:p>
                      <a:pPr marL="91440" algn="l" fontAlgn="t"/>
                      <a:r>
                        <a:rPr lang="en-MY" sz="1400" b="0" i="0" u="none" strike="noStrike" dirty="0">
                          <a:solidFill>
                            <a:srgbClr val="0068B5"/>
                          </a:solidFill>
                          <a:effectLst/>
                          <a:latin typeface="+mn-lt"/>
                        </a:rPr>
                        <a:t>105</a:t>
                      </a:r>
                    </a:p>
                  </a:txBody>
                  <a:tcPr marL="0" marR="0" marT="0" marB="0"/>
                </a:tc>
                <a:extLst>
                  <a:ext uri="{0D108BD9-81ED-4DB2-BD59-A6C34878D82A}">
                    <a16:rowId xmlns:a16="http://schemas.microsoft.com/office/drawing/2014/main" val="695267951"/>
                  </a:ext>
                </a:extLst>
              </a:tr>
              <a:tr h="197003">
                <a:tc>
                  <a:txBody>
                    <a:bodyPr/>
                    <a:lstStyle/>
                    <a:p>
                      <a:pPr marL="91440" algn="l" fontAlgn="t"/>
                      <a:r>
                        <a:rPr lang="en-MY" sz="1400" u="none" strike="noStrike" dirty="0">
                          <a:effectLst/>
                        </a:rPr>
                        <a:t>Ramp Rate (°C/sec)</a:t>
                      </a:r>
                      <a:endParaRPr lang="en-MY" sz="1400" b="0" i="0" u="none" strike="noStrike" dirty="0">
                        <a:solidFill>
                          <a:srgbClr val="000000"/>
                        </a:solidFill>
                        <a:effectLst/>
                        <a:latin typeface="+mn-lt"/>
                      </a:endParaRPr>
                    </a:p>
                  </a:txBody>
                  <a:tcPr marL="0" marR="0" marT="0" marB="0"/>
                </a:tc>
                <a:tc>
                  <a:txBody>
                    <a:bodyPr/>
                    <a:lstStyle/>
                    <a:p>
                      <a:pPr marL="91440" algn="l" fontAlgn="t"/>
                      <a:r>
                        <a:rPr kumimoji="0" lang="en-MY" sz="1400" u="none" strike="noStrike" kern="0" cap="none" spc="0" normalizeH="0" baseline="0" noProof="0">
                          <a:ln>
                            <a:noFill/>
                          </a:ln>
                          <a:effectLst/>
                          <a:uLnTx/>
                          <a:uFillTx/>
                          <a:sym typeface="Intel Clear"/>
                        </a:rPr>
                        <a:t>1-3</a:t>
                      </a:r>
                      <a:endParaRPr lang="en-MY" sz="1400" b="0" i="0" u="none" strike="noStrike" dirty="0">
                        <a:solidFill>
                          <a:srgbClr val="0000FF"/>
                        </a:solidFill>
                        <a:effectLst/>
                        <a:latin typeface="+mn-lt"/>
                      </a:endParaRPr>
                    </a:p>
                  </a:txBody>
                  <a:tcPr marL="0" marR="0" marT="0" marB="0"/>
                </a:tc>
                <a:tc>
                  <a:txBody>
                    <a:bodyPr/>
                    <a:lstStyle/>
                    <a:p>
                      <a:pPr marL="91440" algn="l" fontAlgn="t"/>
                      <a:r>
                        <a:rPr kumimoji="0" lang="en-MY" sz="1400" u="none" strike="noStrike" kern="0" cap="none" spc="0" normalizeH="0" baseline="0" noProof="0">
                          <a:ln>
                            <a:noFill/>
                          </a:ln>
                          <a:effectLst/>
                          <a:uLnTx/>
                          <a:uFillTx/>
                          <a:sym typeface="Intel Clear"/>
                        </a:rPr>
                        <a:t>1-3</a:t>
                      </a:r>
                      <a:endParaRPr lang="en-MY" sz="1400" b="0" i="0" u="none" strike="noStrike" dirty="0">
                        <a:solidFill>
                          <a:srgbClr val="000000"/>
                        </a:solidFill>
                        <a:effectLst/>
                        <a:latin typeface="+mn-lt"/>
                      </a:endParaRPr>
                    </a:p>
                  </a:txBody>
                  <a:tcPr marL="0" marR="0" marT="0" marB="0"/>
                </a:tc>
                <a:tc>
                  <a:txBody>
                    <a:bodyPr/>
                    <a:lstStyle/>
                    <a:p>
                      <a:pPr marL="91440" algn="l" fontAlgn="t"/>
                      <a:r>
                        <a:rPr kumimoji="0" lang="en-MY" sz="1400" u="none" strike="noStrike" kern="0" cap="none" spc="0" normalizeH="0" baseline="0" noProof="0" dirty="0">
                          <a:ln>
                            <a:noFill/>
                          </a:ln>
                          <a:effectLst/>
                          <a:uLnTx/>
                          <a:uFillTx/>
                          <a:sym typeface="Intel Clear"/>
                        </a:rPr>
                        <a:t>1-3</a:t>
                      </a:r>
                      <a:endParaRPr lang="en-MY" sz="1400" b="0" i="0" u="none" strike="noStrike" dirty="0">
                        <a:solidFill>
                          <a:srgbClr val="0070C0"/>
                        </a:solidFill>
                        <a:effectLst/>
                        <a:latin typeface="+mn-lt"/>
                      </a:endParaRPr>
                    </a:p>
                  </a:txBody>
                  <a:tcPr marL="0" marR="0" marT="0" marB="0"/>
                </a:tc>
                <a:tc>
                  <a:txBody>
                    <a:bodyPr/>
                    <a:lstStyle/>
                    <a:p>
                      <a:pPr marL="91440" algn="l" fontAlgn="t"/>
                      <a:r>
                        <a:rPr lang="en-MY" sz="1400" u="none" strike="noStrike" dirty="0">
                          <a:effectLst/>
                        </a:rPr>
                        <a:t>1-3</a:t>
                      </a:r>
                      <a:endParaRPr lang="en-MY" sz="1400" b="0" i="0" u="none" strike="noStrike" dirty="0">
                        <a:solidFill>
                          <a:srgbClr val="0000CC"/>
                        </a:solidFill>
                        <a:effectLst/>
                        <a:latin typeface="+mn-lt"/>
                      </a:endParaRPr>
                    </a:p>
                  </a:txBody>
                  <a:tcPr marL="0" marR="0" marT="0" marB="0"/>
                </a:tc>
                <a:tc>
                  <a:txBody>
                    <a:bodyPr/>
                    <a:lstStyle/>
                    <a:p>
                      <a:pPr marL="91440" algn="l" fontAlgn="t"/>
                      <a:r>
                        <a:rPr lang="en-MY" sz="1400" b="0" i="0" u="none" strike="noStrike" dirty="0">
                          <a:solidFill>
                            <a:schemeClr val="tx1"/>
                          </a:solidFill>
                          <a:effectLst/>
                          <a:latin typeface="+mn-lt"/>
                        </a:rPr>
                        <a:t>not answered</a:t>
                      </a:r>
                      <a:r>
                        <a:rPr lang="en-MY" sz="1400" b="0" i="0" u="none" strike="noStrike" dirty="0">
                          <a:solidFill>
                            <a:srgbClr val="0000FF"/>
                          </a:solidFill>
                          <a:effectLst/>
                          <a:latin typeface="+mn-lt"/>
                        </a:rPr>
                        <a:t> </a:t>
                      </a:r>
                    </a:p>
                  </a:txBody>
                  <a:tcPr marL="0" marR="0" marT="0" marB="0"/>
                </a:tc>
                <a:extLst>
                  <a:ext uri="{0D108BD9-81ED-4DB2-BD59-A6C34878D82A}">
                    <a16:rowId xmlns:a16="http://schemas.microsoft.com/office/drawing/2014/main" val="196789202"/>
                  </a:ext>
                </a:extLst>
              </a:tr>
              <a:tr h="228139">
                <a:tc>
                  <a:txBody>
                    <a:bodyPr/>
                    <a:lstStyle/>
                    <a:p>
                      <a:pPr marL="91440" algn="l" fontAlgn="t"/>
                      <a:r>
                        <a:rPr lang="en-MY" sz="1400" u="none" strike="noStrike" dirty="0">
                          <a:effectLst/>
                        </a:rPr>
                        <a:t>Cooling Rate (°C/sec)</a:t>
                      </a:r>
                      <a:endParaRPr lang="en-MY"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rPr>
                        <a:t>-1 to -3</a:t>
                      </a:r>
                      <a:endParaRPr lang="en-MY" sz="1400" b="0" i="0" u="none" strike="noStrike" dirty="0">
                        <a:solidFill>
                          <a:srgbClr val="0000FF"/>
                        </a:solidFill>
                        <a:effectLst/>
                        <a:latin typeface="+mn-lt"/>
                      </a:endParaRPr>
                    </a:p>
                  </a:txBody>
                  <a:tcPr marL="0" marR="0" marT="0" marB="0"/>
                </a:tc>
                <a:tc>
                  <a:txBody>
                    <a:bodyPr/>
                    <a:lstStyle/>
                    <a:p>
                      <a:pPr marL="91440" algn="l" fontAlgn="t"/>
                      <a:r>
                        <a:rPr kumimoji="0" lang="en-MY" sz="1400" u="none" strike="noStrike" kern="0" cap="none" spc="0" normalizeH="0" baseline="0" noProof="0">
                          <a:ln>
                            <a:noFill/>
                          </a:ln>
                          <a:effectLst/>
                          <a:uLnTx/>
                          <a:uFillTx/>
                          <a:sym typeface="Intel Clear"/>
                        </a:rPr>
                        <a:t>-1 to -3</a:t>
                      </a:r>
                      <a:endParaRPr lang="en-MY" sz="1400" b="0" i="0" u="none" strike="noStrike" dirty="0">
                        <a:solidFill>
                          <a:srgbClr val="000000"/>
                        </a:solidFill>
                        <a:effectLst/>
                        <a:latin typeface="+mn-lt"/>
                      </a:endParaRPr>
                    </a:p>
                  </a:txBody>
                  <a:tcPr marL="0" marR="0" marT="0" marB="0"/>
                </a:tc>
                <a:tc>
                  <a:txBody>
                    <a:bodyPr/>
                    <a:lstStyle/>
                    <a:p>
                      <a:pPr marL="91440" algn="l" fontAlgn="t"/>
                      <a:r>
                        <a:rPr kumimoji="0" lang="en-MY" sz="1400" u="none" strike="noStrike" kern="0" cap="none" spc="0" normalizeH="0" baseline="0" noProof="0" dirty="0">
                          <a:ln>
                            <a:noFill/>
                          </a:ln>
                          <a:effectLst/>
                          <a:uLnTx/>
                          <a:uFillTx/>
                          <a:sym typeface="Intel Clear"/>
                        </a:rPr>
                        <a:t>-1 to -3</a:t>
                      </a:r>
                      <a:endParaRPr lang="en-MY" sz="1400" b="0" i="0" u="none" strike="noStrike" dirty="0">
                        <a:solidFill>
                          <a:srgbClr val="0070C0"/>
                        </a:solidFill>
                        <a:effectLst/>
                        <a:latin typeface="+mn-lt"/>
                      </a:endParaRPr>
                    </a:p>
                  </a:txBody>
                  <a:tcPr marL="0" marR="0" marT="0" marB="0"/>
                </a:tc>
                <a:tc>
                  <a:txBody>
                    <a:bodyPr/>
                    <a:lstStyle/>
                    <a:p>
                      <a:pPr marL="91440" algn="l" fontAlgn="t"/>
                      <a:r>
                        <a:rPr lang="en-MY" sz="1400" u="none" strike="noStrike" dirty="0">
                          <a:effectLst/>
                        </a:rPr>
                        <a:t>-2</a:t>
                      </a:r>
                      <a:endParaRPr lang="en-MY" sz="1400" b="0" i="0" u="none" strike="noStrike" dirty="0">
                        <a:solidFill>
                          <a:srgbClr val="0000CC"/>
                        </a:solidFill>
                        <a:effectLst/>
                        <a:latin typeface="+mn-lt"/>
                      </a:endParaRPr>
                    </a:p>
                  </a:txBody>
                  <a:tcPr marL="0" marR="0" marT="0" marB="0"/>
                </a:tc>
                <a:tc>
                  <a:txBody>
                    <a:bodyPr/>
                    <a:lstStyle/>
                    <a:p>
                      <a:pPr marL="91440" algn="l" fontAlgn="t"/>
                      <a:r>
                        <a:rPr lang="en-MY" sz="1400" b="0" i="0" u="none" strike="noStrike" dirty="0">
                          <a:solidFill>
                            <a:schemeClr val="tx1"/>
                          </a:solidFill>
                          <a:effectLst/>
                          <a:latin typeface="+mn-lt"/>
                        </a:rPr>
                        <a:t>not answered</a:t>
                      </a:r>
                      <a:endParaRPr lang="en-MY" sz="1400" b="0" i="0" u="none" strike="noStrike" dirty="0">
                        <a:solidFill>
                          <a:srgbClr val="0000FF"/>
                        </a:solidFill>
                        <a:effectLst/>
                        <a:latin typeface="+mn-lt"/>
                      </a:endParaRPr>
                    </a:p>
                  </a:txBody>
                  <a:tcPr marL="0" marR="0" marT="0" marB="0"/>
                </a:tc>
                <a:extLst>
                  <a:ext uri="{0D108BD9-81ED-4DB2-BD59-A6C34878D82A}">
                    <a16:rowId xmlns:a16="http://schemas.microsoft.com/office/drawing/2014/main" val="1945823359"/>
                  </a:ext>
                </a:extLst>
              </a:tr>
              <a:tr h="197003">
                <a:tc>
                  <a:txBody>
                    <a:bodyPr/>
                    <a:lstStyle/>
                    <a:p>
                      <a:pPr marL="91440" algn="l" fontAlgn="t"/>
                      <a:r>
                        <a:rPr lang="en-MY" sz="1400" u="none" strike="noStrike" dirty="0">
                          <a:effectLst/>
                        </a:rPr>
                        <a:t>Peak Temp Range (°C)</a:t>
                      </a:r>
                      <a:endParaRPr lang="en-MY"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rPr>
                        <a:t>240-245</a:t>
                      </a:r>
                      <a:endParaRPr lang="en-MY" sz="1400" b="0" i="0" u="none" strike="noStrike" dirty="0">
                        <a:solidFill>
                          <a:srgbClr val="0000FF"/>
                        </a:solidFill>
                        <a:effectLst/>
                        <a:latin typeface="+mn-lt"/>
                      </a:endParaRPr>
                    </a:p>
                  </a:txBody>
                  <a:tcPr marL="0" marR="0" marT="0" marB="0"/>
                </a:tc>
                <a:tc>
                  <a:txBody>
                    <a:bodyPr/>
                    <a:lstStyle/>
                    <a:p>
                      <a:pPr marL="91440" algn="l" fontAlgn="t"/>
                      <a:r>
                        <a:rPr lang="en-MY" sz="1400" u="none" strike="noStrike" dirty="0">
                          <a:effectLst/>
                        </a:rPr>
                        <a:t>230-250</a:t>
                      </a:r>
                      <a:endParaRPr lang="en-MY"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rPr>
                        <a:t>235-</a:t>
                      </a:r>
                      <a:r>
                        <a:rPr lang="en-MY" sz="1400" u="none" strike="noStrike" dirty="0">
                          <a:solidFill>
                            <a:srgbClr val="0068B5"/>
                          </a:solidFill>
                          <a:effectLst/>
                        </a:rPr>
                        <a:t>250</a:t>
                      </a:r>
                      <a:endParaRPr lang="en-MY" sz="1400" b="0" i="0" u="none" strike="noStrike" dirty="0">
                        <a:solidFill>
                          <a:srgbClr val="0068B5"/>
                        </a:solidFill>
                        <a:effectLst/>
                        <a:latin typeface="+mn-lt"/>
                      </a:endParaRPr>
                    </a:p>
                  </a:txBody>
                  <a:tcPr marL="0" marR="0" marT="0" marB="0"/>
                </a:tc>
                <a:tc>
                  <a:txBody>
                    <a:bodyPr/>
                    <a:lstStyle/>
                    <a:p>
                      <a:pPr marL="91440" algn="l" fontAlgn="t"/>
                      <a:r>
                        <a:rPr lang="en-MY" sz="1400" u="none" strike="noStrike" dirty="0">
                          <a:effectLst/>
                        </a:rPr>
                        <a:t>235-245</a:t>
                      </a:r>
                      <a:endParaRPr lang="en-MY" sz="1400" b="0" i="0" u="none" strike="noStrike" dirty="0">
                        <a:solidFill>
                          <a:srgbClr val="0000CC"/>
                        </a:solidFill>
                        <a:effectLst/>
                        <a:latin typeface="+mn-lt"/>
                      </a:endParaRPr>
                    </a:p>
                  </a:txBody>
                  <a:tcPr marL="0" marR="0" marT="0" marB="0"/>
                </a:tc>
                <a:tc>
                  <a:txBody>
                    <a:bodyPr/>
                    <a:lstStyle/>
                    <a:p>
                      <a:pPr marL="91440" algn="l" fontAlgn="t"/>
                      <a:r>
                        <a:rPr lang="en-MY" sz="1400" b="0" i="0" u="none" strike="noStrike" dirty="0">
                          <a:solidFill>
                            <a:srgbClr val="0068B5"/>
                          </a:solidFill>
                          <a:effectLst/>
                          <a:latin typeface="+mn-lt"/>
                        </a:rPr>
                        <a:t>235-250</a:t>
                      </a:r>
                    </a:p>
                  </a:txBody>
                  <a:tcPr marL="0" marR="0" marT="0" marB="0"/>
                </a:tc>
                <a:extLst>
                  <a:ext uri="{0D108BD9-81ED-4DB2-BD59-A6C34878D82A}">
                    <a16:rowId xmlns:a16="http://schemas.microsoft.com/office/drawing/2014/main" val="1192294740"/>
                  </a:ext>
                </a:extLst>
              </a:tr>
              <a:tr h="591009">
                <a:tc>
                  <a:txBody>
                    <a:bodyPr/>
                    <a:lstStyle/>
                    <a:p>
                      <a:pPr marL="91440" algn="l" fontAlgn="t"/>
                      <a:r>
                        <a:rPr lang="en-US" sz="1400" u="none" strike="noStrike" dirty="0">
                          <a:effectLst/>
                        </a:rPr>
                        <a:t>Regarding the question above, </a:t>
                      </a:r>
                      <a:br>
                        <a:rPr lang="en-US" sz="1400" u="none" strike="noStrike" dirty="0">
                          <a:effectLst/>
                        </a:rPr>
                      </a:br>
                      <a:r>
                        <a:rPr lang="en-US" sz="1400" u="none" strike="noStrike" dirty="0">
                          <a:effectLst/>
                        </a:rPr>
                        <a:t>if you must run above 245°C, </a:t>
                      </a:r>
                      <a:br>
                        <a:rPr lang="en-US" sz="1400" u="none" strike="noStrike" dirty="0">
                          <a:effectLst/>
                        </a:rPr>
                      </a:br>
                      <a:r>
                        <a:rPr lang="en-US" sz="1400" u="none" strike="noStrike" dirty="0">
                          <a:effectLst/>
                        </a:rPr>
                        <a:t>please explain the reason.</a:t>
                      </a:r>
                      <a:endParaRPr lang="en-US" sz="1400" b="0" i="0" u="none" strike="noStrike" dirty="0">
                        <a:solidFill>
                          <a:srgbClr val="000000"/>
                        </a:solidFill>
                        <a:effectLst/>
                        <a:latin typeface="+mn-lt"/>
                      </a:endParaRPr>
                    </a:p>
                  </a:txBody>
                  <a:tcPr marL="0" marR="95416" marT="0" marB="0"/>
                </a:tc>
                <a:tc>
                  <a:txBody>
                    <a:bodyPr/>
                    <a:lstStyle/>
                    <a:p>
                      <a:pPr marL="91440" algn="l" fontAlgn="t"/>
                      <a:r>
                        <a:rPr lang="en-MY" sz="1400" u="none" strike="noStrike" dirty="0">
                          <a:effectLst/>
                        </a:rPr>
                        <a:t>N/A</a:t>
                      </a:r>
                      <a:endParaRPr lang="en-MY" sz="1400" b="0" i="0" u="none" strike="noStrike" dirty="0">
                        <a:solidFill>
                          <a:srgbClr val="0000FF"/>
                        </a:solidFill>
                        <a:effectLst/>
                        <a:latin typeface="+mn-lt"/>
                      </a:endParaRPr>
                    </a:p>
                  </a:txBody>
                  <a:tcPr marL="0" marR="0" marT="0" marB="0"/>
                </a:tc>
                <a:tc>
                  <a:txBody>
                    <a:bodyPr/>
                    <a:lstStyle/>
                    <a:p>
                      <a:pPr marL="91440" algn="l" fontAlgn="t"/>
                      <a:r>
                        <a:rPr lang="en-US" sz="1400" u="none" strike="noStrike" dirty="0">
                          <a:effectLst/>
                        </a:rPr>
                        <a:t>1. oven character </a:t>
                      </a:r>
                      <a:br>
                        <a:rPr lang="en-US" sz="1400" u="none" strike="noStrike" dirty="0">
                          <a:effectLst/>
                        </a:rPr>
                      </a:br>
                      <a:r>
                        <a:rPr lang="en-US" sz="1400" u="none" strike="noStrike" dirty="0">
                          <a:effectLst/>
                        </a:rPr>
                        <a:t>2. reflow profile needed </a:t>
                      </a:r>
                      <a:endParaRPr lang="en-US" sz="1400" b="0" i="0" u="none" strike="noStrike" dirty="0">
                        <a:solidFill>
                          <a:srgbClr val="000000"/>
                        </a:solidFill>
                        <a:effectLst/>
                        <a:latin typeface="+mn-lt"/>
                      </a:endParaRPr>
                    </a:p>
                  </a:txBody>
                  <a:tcPr marL="0" marR="0" marT="0" marB="0"/>
                </a:tc>
                <a:tc>
                  <a:txBody>
                    <a:bodyPr/>
                    <a:lstStyle/>
                    <a:p>
                      <a:pPr marL="91440" algn="l" fontAlgn="t"/>
                      <a:r>
                        <a:rPr lang="en-US" sz="1400" u="none" strike="noStrike" dirty="0">
                          <a:effectLst/>
                        </a:rPr>
                        <a:t>N/A</a:t>
                      </a:r>
                      <a:endParaRPr lang="en-MY"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rPr>
                        <a:t>N/A</a:t>
                      </a:r>
                      <a:endParaRPr lang="en-MY" sz="1400" b="0" i="0" u="none" strike="noStrike" dirty="0">
                        <a:solidFill>
                          <a:srgbClr val="000000"/>
                        </a:solidFill>
                        <a:effectLst/>
                        <a:latin typeface="+mn-lt"/>
                      </a:endParaRPr>
                    </a:p>
                  </a:txBody>
                  <a:tcPr marL="0" marR="0" marT="0" marB="0"/>
                </a:tc>
                <a:tc>
                  <a:txBody>
                    <a:bodyPr/>
                    <a:lstStyle/>
                    <a:p>
                      <a:pPr marL="91440" algn="l" fontAlgn="t"/>
                      <a:r>
                        <a:rPr lang="en-MY" sz="1400" b="0" i="0" u="none" strike="noStrike" dirty="0">
                          <a:solidFill>
                            <a:schemeClr val="tx1"/>
                          </a:solidFill>
                          <a:effectLst/>
                          <a:latin typeface="+mn-lt"/>
                        </a:rPr>
                        <a:t>not answered</a:t>
                      </a:r>
                      <a:endParaRPr lang="en-MY" sz="1400" b="0" i="0" u="none" strike="noStrike" dirty="0">
                        <a:solidFill>
                          <a:srgbClr val="0000FF"/>
                        </a:solidFill>
                        <a:effectLst/>
                        <a:latin typeface="+mn-lt"/>
                      </a:endParaRPr>
                    </a:p>
                  </a:txBody>
                  <a:tcPr marL="0" marR="0" marT="0" marB="0"/>
                </a:tc>
                <a:extLst>
                  <a:ext uri="{0D108BD9-81ED-4DB2-BD59-A6C34878D82A}">
                    <a16:rowId xmlns:a16="http://schemas.microsoft.com/office/drawing/2014/main" val="2960734610"/>
                  </a:ext>
                </a:extLst>
              </a:tr>
              <a:tr h="272833">
                <a:tc>
                  <a:txBody>
                    <a:bodyPr/>
                    <a:lstStyle/>
                    <a:p>
                      <a:pPr marL="91440" algn="l" fontAlgn="t"/>
                      <a:r>
                        <a:rPr lang="en-MY" sz="1400" u="none" strike="noStrike" dirty="0">
                          <a:effectLst/>
                        </a:rPr>
                        <a:t>Time above Liquidus (sec)</a:t>
                      </a:r>
                      <a:endParaRPr lang="en-MY"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rPr>
                        <a:t>72-87</a:t>
                      </a:r>
                      <a:endParaRPr lang="en-MY" sz="1400" b="0" i="0" u="none" strike="noStrike" dirty="0">
                        <a:solidFill>
                          <a:srgbClr val="0000FF"/>
                        </a:solidFill>
                        <a:effectLst/>
                        <a:latin typeface="+mn-lt"/>
                      </a:endParaRPr>
                    </a:p>
                  </a:txBody>
                  <a:tcPr marL="0" marR="0" marT="0" marB="0"/>
                </a:tc>
                <a:tc>
                  <a:txBody>
                    <a:bodyPr/>
                    <a:lstStyle/>
                    <a:p>
                      <a:pPr marL="91440" algn="l" fontAlgn="t"/>
                      <a:r>
                        <a:rPr lang="en-MY" sz="1400" u="none" strike="noStrike" dirty="0">
                          <a:effectLst/>
                        </a:rPr>
                        <a:t>60-90</a:t>
                      </a:r>
                      <a:endParaRPr lang="en-MY"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rPr>
                        <a:t>60-90</a:t>
                      </a:r>
                      <a:endParaRPr lang="en-MY"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rPr>
                        <a:t>60-90</a:t>
                      </a:r>
                      <a:endParaRPr lang="en-MY" sz="1400" b="0" i="0" u="none" strike="noStrike" dirty="0">
                        <a:solidFill>
                          <a:srgbClr val="0000CC"/>
                        </a:solidFill>
                        <a:effectLst/>
                        <a:latin typeface="+mn-lt"/>
                      </a:endParaRPr>
                    </a:p>
                  </a:txBody>
                  <a:tcPr marL="0" marR="0" marT="0" marB="0"/>
                </a:tc>
                <a:tc>
                  <a:txBody>
                    <a:bodyPr/>
                    <a:lstStyle/>
                    <a:p>
                      <a:pPr marL="91440" algn="l" fontAlgn="t"/>
                      <a:r>
                        <a:rPr lang="en-MY" sz="1400" b="0" i="0" u="none" strike="noStrike" dirty="0">
                          <a:solidFill>
                            <a:srgbClr val="0068B5"/>
                          </a:solidFill>
                          <a:effectLst/>
                          <a:latin typeface="+mn-lt"/>
                        </a:rPr>
                        <a:t>60-100</a:t>
                      </a:r>
                    </a:p>
                  </a:txBody>
                  <a:tcPr marL="0" marR="0" marT="0" marB="0"/>
                </a:tc>
                <a:extLst>
                  <a:ext uri="{0D108BD9-81ED-4DB2-BD59-A6C34878D82A}">
                    <a16:rowId xmlns:a16="http://schemas.microsoft.com/office/drawing/2014/main" val="728414077"/>
                  </a:ext>
                </a:extLst>
              </a:tr>
              <a:tr h="197003">
                <a:tc>
                  <a:txBody>
                    <a:bodyPr/>
                    <a:lstStyle/>
                    <a:p>
                      <a:pPr marL="91440" algn="l" fontAlgn="t"/>
                      <a:r>
                        <a:rPr lang="en-US" sz="1400" u="none" strike="noStrike" dirty="0">
                          <a:effectLst/>
                        </a:rPr>
                        <a:t>Soak Temp Range and Time (sec)</a:t>
                      </a:r>
                      <a:endParaRPr lang="en-US"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rPr>
                        <a:t>85-105</a:t>
                      </a:r>
                      <a:endParaRPr lang="en-MY" sz="1400" b="0" i="0" u="none" strike="noStrike" dirty="0">
                        <a:solidFill>
                          <a:srgbClr val="0000FF"/>
                        </a:solidFill>
                        <a:effectLst/>
                        <a:latin typeface="+mn-lt"/>
                      </a:endParaRPr>
                    </a:p>
                  </a:txBody>
                  <a:tcPr marL="0" marR="0" marT="0" marB="0"/>
                </a:tc>
                <a:tc>
                  <a:txBody>
                    <a:bodyPr/>
                    <a:lstStyle/>
                    <a:p>
                      <a:pPr marL="91440" algn="l" fontAlgn="t"/>
                      <a:r>
                        <a:rPr lang="en-MY" sz="1400" u="none" strike="noStrike" dirty="0">
                          <a:effectLst/>
                        </a:rPr>
                        <a:t>60-100</a:t>
                      </a:r>
                      <a:endParaRPr lang="en-MY"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solidFill>
                            <a:srgbClr val="0068B5"/>
                          </a:solidFill>
                          <a:effectLst/>
                        </a:rPr>
                        <a:t>60</a:t>
                      </a:r>
                      <a:r>
                        <a:rPr lang="en-MY" sz="1400" u="none" strike="noStrike" dirty="0">
                          <a:effectLst/>
                        </a:rPr>
                        <a:t>-120</a:t>
                      </a:r>
                      <a:endParaRPr lang="en-MY"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rPr>
                        <a:t>60-90</a:t>
                      </a:r>
                      <a:endParaRPr lang="en-MY" sz="1400" b="0" i="0" u="none" strike="noStrike" dirty="0">
                        <a:solidFill>
                          <a:srgbClr val="0000CC"/>
                        </a:solidFill>
                        <a:effectLst/>
                        <a:latin typeface="+mn-lt"/>
                      </a:endParaRPr>
                    </a:p>
                  </a:txBody>
                  <a:tcPr marL="0" marR="0" marT="0" marB="0"/>
                </a:tc>
                <a:tc>
                  <a:txBody>
                    <a:bodyPr/>
                    <a:lstStyle/>
                    <a:p>
                      <a:pPr marL="91440" algn="l" fontAlgn="t"/>
                      <a:r>
                        <a:rPr lang="en-MY" sz="1400" b="0" i="0" u="none" strike="noStrike" dirty="0">
                          <a:solidFill>
                            <a:srgbClr val="0068B5"/>
                          </a:solidFill>
                          <a:effectLst/>
                          <a:latin typeface="+mn-lt"/>
                        </a:rPr>
                        <a:t>60-120</a:t>
                      </a:r>
                    </a:p>
                  </a:txBody>
                  <a:tcPr marL="0" marR="0" marT="0" marB="0"/>
                </a:tc>
                <a:extLst>
                  <a:ext uri="{0D108BD9-81ED-4DB2-BD59-A6C34878D82A}">
                    <a16:rowId xmlns:a16="http://schemas.microsoft.com/office/drawing/2014/main" val="1922314208"/>
                  </a:ext>
                </a:extLst>
              </a:tr>
              <a:tr h="591009">
                <a:tc>
                  <a:txBody>
                    <a:bodyPr/>
                    <a:lstStyle/>
                    <a:p>
                      <a:pPr marL="91440" algn="l" fontAlgn="t"/>
                      <a:r>
                        <a:rPr lang="en-US" sz="1400" u="none" strike="noStrike" dirty="0">
                          <a:effectLst/>
                        </a:rPr>
                        <a:t>How many TC and what loc’s or used on the Intel Parts during profiling?</a:t>
                      </a:r>
                      <a:endParaRPr lang="en-US"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rPr>
                        <a:t>8 (BGA, IC, Chip, PCB)</a:t>
                      </a:r>
                      <a:endParaRPr lang="en-MY" sz="1400" b="0" i="0" u="none" strike="noStrike" dirty="0">
                        <a:solidFill>
                          <a:srgbClr val="0000FF"/>
                        </a:solidFill>
                        <a:effectLst/>
                        <a:latin typeface="+mn-lt"/>
                      </a:endParaRPr>
                    </a:p>
                  </a:txBody>
                  <a:tcPr marL="0" marR="0" marT="0" marB="0"/>
                </a:tc>
                <a:tc>
                  <a:txBody>
                    <a:bodyPr/>
                    <a:lstStyle/>
                    <a:p>
                      <a:pPr marL="91440" algn="l" fontAlgn="t"/>
                      <a:r>
                        <a:rPr lang="en-MY" sz="1400" u="none" strike="noStrike" dirty="0">
                          <a:effectLst/>
                        </a:rPr>
                        <a:t>10 (CPU, GPU, RAM)</a:t>
                      </a:r>
                      <a:endParaRPr lang="en-MY"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rPr>
                        <a:t>3</a:t>
                      </a:r>
                      <a:endParaRPr lang="en-MY"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rPr>
                        <a:t>5</a:t>
                      </a:r>
                      <a:endParaRPr lang="en-MY" sz="1400" b="0" i="0" u="none" strike="noStrike" dirty="0">
                        <a:solidFill>
                          <a:srgbClr val="0000CC"/>
                        </a:solidFill>
                        <a:effectLst/>
                        <a:latin typeface="+mn-lt"/>
                      </a:endParaRPr>
                    </a:p>
                  </a:txBody>
                  <a:tcPr marL="0" marR="0" marT="0" marB="0"/>
                </a:tc>
                <a:tc>
                  <a:txBody>
                    <a:bodyPr/>
                    <a:lstStyle/>
                    <a:p>
                      <a:pPr marL="91440" algn="l" fontAlgn="t"/>
                      <a:r>
                        <a:rPr lang="en-MY" sz="1400" b="0" i="0" u="none" strike="noStrike" dirty="0">
                          <a:solidFill>
                            <a:srgbClr val="0068B5"/>
                          </a:solidFill>
                          <a:effectLst/>
                          <a:latin typeface="+mn-lt"/>
                        </a:rPr>
                        <a:t>Follow Intel’s recommendations</a:t>
                      </a:r>
                    </a:p>
                  </a:txBody>
                  <a:tcPr marL="0" marR="0" marT="0" marB="0"/>
                </a:tc>
                <a:extLst>
                  <a:ext uri="{0D108BD9-81ED-4DB2-BD59-A6C34878D82A}">
                    <a16:rowId xmlns:a16="http://schemas.microsoft.com/office/drawing/2014/main" val="2355694549"/>
                  </a:ext>
                </a:extLst>
              </a:tr>
              <a:tr h="394006">
                <a:tc>
                  <a:txBody>
                    <a:bodyPr/>
                    <a:lstStyle/>
                    <a:p>
                      <a:pPr marL="91440" algn="l" fontAlgn="t"/>
                      <a:r>
                        <a:rPr lang="en-US" sz="1400" u="none" strike="noStrike" dirty="0">
                          <a:effectLst/>
                        </a:rPr>
                        <a:t>What is the delta T across the Intel component/socket area? (°C)</a:t>
                      </a:r>
                      <a:endParaRPr lang="en-US"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rPr>
                        <a:t>&lt;10</a:t>
                      </a:r>
                      <a:endParaRPr lang="en-MY" sz="1400" b="0" i="0" u="none" strike="noStrike" dirty="0">
                        <a:solidFill>
                          <a:srgbClr val="FF0000"/>
                        </a:solidFill>
                        <a:effectLst/>
                        <a:latin typeface="+mn-lt"/>
                      </a:endParaRPr>
                    </a:p>
                  </a:txBody>
                  <a:tcPr marL="0" marR="0" marT="0" marB="0"/>
                </a:tc>
                <a:tc>
                  <a:txBody>
                    <a:bodyPr/>
                    <a:lstStyle/>
                    <a:p>
                      <a:pPr marL="91440" algn="l" fontAlgn="t"/>
                      <a:r>
                        <a:rPr lang="en-MY" sz="1400" u="none" strike="noStrike" dirty="0">
                          <a:effectLst/>
                        </a:rPr>
                        <a:t> not answered</a:t>
                      </a:r>
                      <a:endParaRPr lang="en-MY" sz="1400" b="0" i="0" u="none" strike="noStrike" dirty="0">
                        <a:solidFill>
                          <a:srgbClr val="FF0000"/>
                        </a:solidFill>
                        <a:effectLst/>
                        <a:latin typeface="+mn-lt"/>
                      </a:endParaRPr>
                    </a:p>
                  </a:txBody>
                  <a:tcPr marL="0" marR="0" marT="0" marB="0"/>
                </a:tc>
                <a:tc>
                  <a:txBody>
                    <a:bodyPr/>
                    <a:lstStyle/>
                    <a:p>
                      <a:pPr marL="91440" algn="l" fontAlgn="t"/>
                      <a:r>
                        <a:rPr lang="en-MY" sz="1400" u="none" strike="noStrike" dirty="0">
                          <a:effectLst/>
                        </a:rPr>
                        <a:t>&lt;10</a:t>
                      </a:r>
                      <a:endParaRPr lang="en-MY" sz="1400" b="0" i="0" u="none" strike="noStrike" dirty="0">
                        <a:solidFill>
                          <a:srgbClr val="FF0000"/>
                        </a:solidFill>
                        <a:effectLst/>
                        <a:latin typeface="+mn-lt"/>
                      </a:endParaRPr>
                    </a:p>
                  </a:txBody>
                  <a:tcPr marL="0" marR="0" marT="0" marB="0"/>
                </a:tc>
                <a:tc>
                  <a:txBody>
                    <a:bodyPr/>
                    <a:lstStyle/>
                    <a:p>
                      <a:pPr marL="91440" algn="l" fontAlgn="t"/>
                      <a:r>
                        <a:rPr lang="en-MY" sz="1400" u="none" strike="noStrike" dirty="0">
                          <a:effectLst/>
                        </a:rPr>
                        <a:t>&lt;10</a:t>
                      </a:r>
                      <a:endParaRPr lang="en-MY" sz="1400" b="0" i="0" u="none" strike="noStrike" dirty="0">
                        <a:solidFill>
                          <a:srgbClr val="FF0000"/>
                        </a:solidFill>
                        <a:effectLst/>
                        <a:latin typeface="+mn-lt"/>
                      </a:endParaRPr>
                    </a:p>
                  </a:txBody>
                  <a:tcPr marL="0" marR="0" marT="0" marB="0"/>
                </a:tc>
                <a:tc>
                  <a:txBody>
                    <a:bodyPr/>
                    <a:lstStyle/>
                    <a:p>
                      <a:pPr marL="91440" algn="l" fontAlgn="t"/>
                      <a:r>
                        <a:rPr lang="en-MY" sz="1400" b="0" i="0" u="none" strike="noStrike" dirty="0">
                          <a:solidFill>
                            <a:schemeClr val="tx1"/>
                          </a:solidFill>
                          <a:effectLst/>
                          <a:latin typeface="+mn-lt"/>
                        </a:rPr>
                        <a:t>not answered</a:t>
                      </a:r>
                      <a:endParaRPr lang="en-MY" sz="1400" b="0" i="0" u="none" strike="noStrike" dirty="0">
                        <a:solidFill>
                          <a:srgbClr val="0000FF"/>
                        </a:solidFill>
                        <a:effectLst/>
                        <a:latin typeface="+mn-lt"/>
                      </a:endParaRPr>
                    </a:p>
                  </a:txBody>
                  <a:tcPr marL="0" marR="0" marT="0" marB="0"/>
                </a:tc>
                <a:extLst>
                  <a:ext uri="{0D108BD9-81ED-4DB2-BD59-A6C34878D82A}">
                    <a16:rowId xmlns:a16="http://schemas.microsoft.com/office/drawing/2014/main" val="3084572982"/>
                  </a:ext>
                </a:extLst>
              </a:tr>
              <a:tr h="394006">
                <a:tc>
                  <a:txBody>
                    <a:bodyPr/>
                    <a:lstStyle/>
                    <a:p>
                      <a:pPr marL="91440" algn="l" fontAlgn="t"/>
                      <a:r>
                        <a:rPr lang="en-US" sz="1400" u="none" strike="noStrike" dirty="0">
                          <a:effectLst/>
                        </a:rPr>
                        <a:t>What is the delta T across the whole motherboard? (°C)</a:t>
                      </a:r>
                      <a:endParaRPr lang="en-US"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rPr>
                        <a:t>&lt;15</a:t>
                      </a:r>
                      <a:endParaRPr lang="en-MY" sz="1400" b="0" i="0" u="none" strike="noStrike" dirty="0">
                        <a:solidFill>
                          <a:srgbClr val="FF0000"/>
                        </a:solidFill>
                        <a:effectLst/>
                        <a:latin typeface="+mn-lt"/>
                      </a:endParaRPr>
                    </a:p>
                  </a:txBody>
                  <a:tcPr marL="0" marR="0" marT="0" marB="0"/>
                </a:tc>
                <a:tc>
                  <a:txBody>
                    <a:bodyPr/>
                    <a:lstStyle/>
                    <a:p>
                      <a:pPr marL="91440" algn="l" fontAlgn="t"/>
                      <a:r>
                        <a:rPr lang="en-MY" sz="1400" u="none" strike="noStrike" dirty="0">
                          <a:effectLst/>
                        </a:rPr>
                        <a:t>&lt;10</a:t>
                      </a:r>
                      <a:endParaRPr lang="en-MY"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rPr>
                        <a:t>&lt;15</a:t>
                      </a:r>
                      <a:endParaRPr lang="en-MY" sz="1400" b="0" i="0" u="none" strike="noStrike" dirty="0">
                        <a:solidFill>
                          <a:srgbClr val="FF0000"/>
                        </a:solidFill>
                        <a:effectLst/>
                        <a:latin typeface="+mn-lt"/>
                      </a:endParaRPr>
                    </a:p>
                  </a:txBody>
                  <a:tcPr marL="0" marR="0" marT="0" marB="0"/>
                </a:tc>
                <a:tc>
                  <a:txBody>
                    <a:bodyPr/>
                    <a:lstStyle/>
                    <a:p>
                      <a:pPr marL="91440" algn="l" fontAlgn="t"/>
                      <a:r>
                        <a:rPr lang="en-MY" sz="1400" u="none" strike="noStrike" dirty="0">
                          <a:effectLst/>
                        </a:rPr>
                        <a:t>&lt;15</a:t>
                      </a:r>
                      <a:endParaRPr lang="en-MY" sz="1400" b="0" i="0" u="none" strike="noStrike" dirty="0">
                        <a:solidFill>
                          <a:srgbClr val="FF0000"/>
                        </a:solidFill>
                        <a:effectLst/>
                        <a:latin typeface="+mn-lt"/>
                      </a:endParaRPr>
                    </a:p>
                  </a:txBody>
                  <a:tcPr marL="0" marR="0" marT="0" marB="0"/>
                </a:tc>
                <a:tc>
                  <a:txBody>
                    <a:bodyPr/>
                    <a:lstStyle/>
                    <a:p>
                      <a:pPr marL="91440" algn="l" fontAlgn="t"/>
                      <a:r>
                        <a:rPr lang="en-MY" sz="1400" b="0" i="0" u="none" strike="noStrike" dirty="0">
                          <a:solidFill>
                            <a:schemeClr val="tx1"/>
                          </a:solidFill>
                          <a:effectLst/>
                          <a:latin typeface="+mn-lt"/>
                        </a:rPr>
                        <a:t>not answered</a:t>
                      </a:r>
                      <a:endParaRPr lang="en-MY" sz="1400" b="0" i="0" u="none" strike="noStrike" dirty="0">
                        <a:solidFill>
                          <a:srgbClr val="0000FF"/>
                        </a:solidFill>
                        <a:effectLst/>
                        <a:latin typeface="+mn-lt"/>
                      </a:endParaRPr>
                    </a:p>
                  </a:txBody>
                  <a:tcPr marL="0" marR="0" marT="0" marB="0"/>
                </a:tc>
                <a:extLst>
                  <a:ext uri="{0D108BD9-81ED-4DB2-BD59-A6C34878D82A}">
                    <a16:rowId xmlns:a16="http://schemas.microsoft.com/office/drawing/2014/main" val="4172806822"/>
                  </a:ext>
                </a:extLst>
              </a:tr>
              <a:tr h="457384">
                <a:tc>
                  <a:txBody>
                    <a:bodyPr/>
                    <a:lstStyle/>
                    <a:p>
                      <a:pPr marL="91440" algn="l" fontAlgn="t"/>
                      <a:r>
                        <a:rPr lang="en-US" sz="1400" u="none" strike="noStrike">
                          <a:effectLst/>
                        </a:rPr>
                        <a:t>What is the number of heating and cooling zones used?</a:t>
                      </a:r>
                      <a:endParaRPr lang="en-US" sz="1400" b="0" i="0" u="none" strike="noStrike">
                        <a:solidFill>
                          <a:srgbClr val="000000"/>
                        </a:solidFill>
                        <a:effectLst/>
                        <a:latin typeface="+mn-lt"/>
                      </a:endParaRPr>
                    </a:p>
                  </a:txBody>
                  <a:tcPr marL="0" marR="0" marT="0" marB="0"/>
                </a:tc>
                <a:tc>
                  <a:txBody>
                    <a:bodyPr/>
                    <a:lstStyle/>
                    <a:p>
                      <a:pPr marL="91440" algn="l" fontAlgn="t"/>
                      <a:r>
                        <a:rPr lang="en-US" sz="1400" u="none" strike="noStrike" dirty="0">
                          <a:effectLst/>
                        </a:rPr>
                        <a:t>12 heating, 2 cooling zones</a:t>
                      </a:r>
                      <a:endParaRPr lang="en-US" sz="1400" b="0" i="0" u="none" strike="noStrike" dirty="0">
                        <a:solidFill>
                          <a:srgbClr val="0000FF"/>
                        </a:solidFill>
                        <a:effectLst/>
                        <a:latin typeface="+mn-lt"/>
                      </a:endParaRPr>
                    </a:p>
                  </a:txBody>
                  <a:tcPr marL="0" marR="0" marT="0" marB="0"/>
                </a:tc>
                <a:tc>
                  <a:txBody>
                    <a:bodyPr/>
                    <a:lstStyle/>
                    <a:p>
                      <a:pPr marL="91440" algn="l" fontAlgn="t"/>
                      <a:r>
                        <a:rPr lang="en-US" sz="1400" u="none" strike="noStrike" dirty="0">
                          <a:effectLst/>
                        </a:rPr>
                        <a:t>13 heating,</a:t>
                      </a:r>
                    </a:p>
                    <a:p>
                      <a:pPr marL="91440" algn="l" fontAlgn="t"/>
                      <a:r>
                        <a:rPr lang="en-US" sz="1400" u="none" strike="noStrike" dirty="0">
                          <a:effectLst/>
                        </a:rPr>
                        <a:t>4 cooling zone</a:t>
                      </a:r>
                      <a:endParaRPr lang="en-US" sz="1400" b="0" i="0" u="none" strike="noStrike" dirty="0">
                        <a:solidFill>
                          <a:srgbClr val="000000"/>
                        </a:solidFill>
                        <a:effectLst/>
                        <a:latin typeface="+mn-lt"/>
                      </a:endParaRPr>
                    </a:p>
                  </a:txBody>
                  <a:tcPr marL="0" marR="0" marT="0" marB="0"/>
                </a:tc>
                <a:tc>
                  <a:txBody>
                    <a:bodyPr/>
                    <a:lstStyle/>
                    <a:p>
                      <a:pPr marL="91440" algn="l" fontAlgn="t"/>
                      <a:r>
                        <a:rPr lang="en-US" sz="1400" u="none" strike="noStrike" dirty="0">
                          <a:solidFill>
                            <a:srgbClr val="0068B5"/>
                          </a:solidFill>
                          <a:effectLst/>
                        </a:rPr>
                        <a:t>Heller 1913. </a:t>
                      </a:r>
                      <a:r>
                        <a:rPr lang="en-US" sz="1400" u="none" strike="noStrike" dirty="0">
                          <a:effectLst/>
                        </a:rPr>
                        <a:t>12 heating, 2 cooling</a:t>
                      </a:r>
                      <a:endParaRPr lang="en-US" sz="1400" b="0" i="0" u="none" strike="noStrike" dirty="0">
                        <a:solidFill>
                          <a:srgbClr val="0000FF"/>
                        </a:solidFill>
                        <a:effectLst/>
                        <a:latin typeface="+mn-lt"/>
                      </a:endParaRPr>
                    </a:p>
                  </a:txBody>
                  <a:tcPr marL="0" marR="0" marT="0" marB="0"/>
                </a:tc>
                <a:tc>
                  <a:txBody>
                    <a:bodyPr/>
                    <a:lstStyle/>
                    <a:p>
                      <a:pPr marL="91440" algn="l" fontAlgn="t"/>
                      <a:r>
                        <a:rPr lang="en-US" altLang="zh-TW" sz="1400" u="none" strike="noStrike" dirty="0">
                          <a:effectLst/>
                        </a:rPr>
                        <a:t>13</a:t>
                      </a:r>
                      <a:r>
                        <a:rPr lang="zh-TW" altLang="en-US" sz="1400" u="none" strike="noStrike" dirty="0">
                          <a:effectLst/>
                        </a:rPr>
                        <a:t> </a:t>
                      </a:r>
                      <a:r>
                        <a:rPr lang="en-US" altLang="zh-TW" sz="1400" u="none" strike="noStrike" dirty="0">
                          <a:effectLst/>
                        </a:rPr>
                        <a:t>heating, 4 cooling zones </a:t>
                      </a:r>
                      <a:r>
                        <a:rPr lang="en-US" altLang="zh-TW" sz="1400" u="none" strike="noStrike" dirty="0">
                          <a:solidFill>
                            <a:srgbClr val="FF0000"/>
                          </a:solidFill>
                          <a:effectLst/>
                        </a:rPr>
                        <a:t>?</a:t>
                      </a:r>
                      <a:endParaRPr lang="zh-TW" altLang="en-US" sz="1400" b="0" i="0" u="none" strike="noStrike" dirty="0">
                        <a:solidFill>
                          <a:srgbClr val="FF0000"/>
                        </a:solidFill>
                        <a:effectLst/>
                        <a:latin typeface="+mn-lt"/>
                      </a:endParaRPr>
                    </a:p>
                  </a:txBody>
                  <a:tcPr marL="0" marR="0" marT="0" marB="0"/>
                </a:tc>
                <a:tc>
                  <a:txBody>
                    <a:bodyPr/>
                    <a:lstStyle/>
                    <a:p>
                      <a:pPr marL="91440" algn="l" fontAlgn="t"/>
                      <a:r>
                        <a:rPr lang="en-US" altLang="zh-TW" sz="1400" b="0" i="0" u="none" strike="noStrike" dirty="0">
                          <a:solidFill>
                            <a:srgbClr val="0068B5"/>
                          </a:solidFill>
                          <a:effectLst/>
                          <a:latin typeface="+mn-lt"/>
                        </a:rPr>
                        <a:t>Heller 1900EXL. 12 zone oven</a:t>
                      </a:r>
                      <a:endParaRPr lang="zh-TW" altLang="en-US" sz="1400" b="0" i="0" u="none" strike="noStrike" dirty="0">
                        <a:solidFill>
                          <a:srgbClr val="0068B5"/>
                        </a:solidFill>
                        <a:effectLst/>
                        <a:latin typeface="+mn-lt"/>
                      </a:endParaRPr>
                    </a:p>
                  </a:txBody>
                  <a:tcPr marL="0" marR="0" marT="0" marB="0"/>
                </a:tc>
                <a:extLst>
                  <a:ext uri="{0D108BD9-81ED-4DB2-BD59-A6C34878D82A}">
                    <a16:rowId xmlns:a16="http://schemas.microsoft.com/office/drawing/2014/main" val="3944103222"/>
                  </a:ext>
                </a:extLst>
              </a:tr>
              <a:tr h="394006">
                <a:tc>
                  <a:txBody>
                    <a:bodyPr/>
                    <a:lstStyle/>
                    <a:p>
                      <a:pPr marL="91440" algn="l" fontAlgn="t"/>
                      <a:r>
                        <a:rPr lang="en-US" sz="1400" u="none" strike="noStrike" dirty="0">
                          <a:effectLst/>
                        </a:rPr>
                        <a:t>Maximum board handling capability (length x width, mm)</a:t>
                      </a:r>
                      <a:endParaRPr lang="en-US"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rPr>
                        <a:t>457 x 510</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effectLst/>
                        </a:rPr>
                        <a:t> width 500</a:t>
                      </a:r>
                      <a:endParaRPr lang="en-MY"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rPr>
                        <a:t>406 x 610</a:t>
                      </a:r>
                      <a:endParaRPr lang="en-MY" sz="1400" b="0" i="0" u="none" strike="noStrike" dirty="0">
                        <a:solidFill>
                          <a:srgbClr val="000000"/>
                        </a:solidFill>
                        <a:effectLst/>
                        <a:latin typeface="+mn-lt"/>
                      </a:endParaRPr>
                    </a:p>
                  </a:txBody>
                  <a:tcPr marL="0" marR="0" marT="0" marB="0"/>
                </a:tc>
                <a:tc>
                  <a:txBody>
                    <a:bodyPr/>
                    <a:lstStyle/>
                    <a:p>
                      <a:pPr marL="91440" algn="l" fontAlgn="t"/>
                      <a:r>
                        <a:rPr lang="en-MY" sz="1400" u="none" strike="noStrike" dirty="0">
                          <a:effectLst/>
                        </a:rPr>
                        <a:t>width &lt; 460</a:t>
                      </a:r>
                      <a:endParaRPr lang="en-MY" sz="1400" b="0" i="0" u="none" strike="noStrike" dirty="0">
                        <a:solidFill>
                          <a:srgbClr val="0000CC"/>
                        </a:solidFill>
                        <a:effectLst/>
                        <a:latin typeface="+mn-lt"/>
                      </a:endParaRPr>
                    </a:p>
                  </a:txBody>
                  <a:tcPr marL="0" marR="0" marT="0" marB="0"/>
                </a:tc>
                <a:tc>
                  <a:txBody>
                    <a:bodyPr/>
                    <a:lstStyle/>
                    <a:p>
                      <a:pPr marL="91440" algn="l" fontAlgn="t"/>
                      <a:r>
                        <a:rPr lang="en-MY" sz="1400" b="0" i="0" u="none" strike="noStrike" dirty="0">
                          <a:solidFill>
                            <a:schemeClr val="tx1"/>
                          </a:solidFill>
                          <a:effectLst/>
                          <a:latin typeface="+mn-lt"/>
                        </a:rPr>
                        <a:t>not answered</a:t>
                      </a:r>
                      <a:endParaRPr lang="en-MY" sz="1400" b="0" i="0" u="none" strike="noStrike" dirty="0">
                        <a:solidFill>
                          <a:srgbClr val="0000FF"/>
                        </a:solidFill>
                        <a:effectLst/>
                        <a:latin typeface="+mn-lt"/>
                      </a:endParaRPr>
                    </a:p>
                  </a:txBody>
                  <a:tcPr marL="0" marR="0" marT="0" marB="0"/>
                </a:tc>
                <a:extLst>
                  <a:ext uri="{0D108BD9-81ED-4DB2-BD59-A6C34878D82A}">
                    <a16:rowId xmlns:a16="http://schemas.microsoft.com/office/drawing/2014/main" val="353475990"/>
                  </a:ext>
                </a:extLst>
              </a:tr>
            </a:tbl>
          </a:graphicData>
        </a:graphic>
      </p:graphicFrame>
      <p:sp>
        <p:nvSpPr>
          <p:cNvPr id="5" name="Rectangle: Rounded Corners 4">
            <a:extLst>
              <a:ext uri="{FF2B5EF4-FFF2-40B4-BE49-F238E27FC236}">
                <a16:creationId xmlns:a16="http://schemas.microsoft.com/office/drawing/2014/main" id="{7D96B8F0-7327-4EBF-87B5-A74C53763715}"/>
              </a:ext>
            </a:extLst>
          </p:cNvPr>
          <p:cNvSpPr/>
          <p:nvPr/>
        </p:nvSpPr>
        <p:spPr>
          <a:xfrm>
            <a:off x="583141" y="5206530"/>
            <a:ext cx="10678583" cy="1339374"/>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Customer’s reflow belt speeds range from 85 to 130cm/min</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Customer’s peak reflow temp range from 230-250°C</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Customer’s delta T across the Intel component/socket area &lt;10°C</a:t>
            </a:r>
          </a:p>
        </p:txBody>
      </p:sp>
      <p:sp>
        <p:nvSpPr>
          <p:cNvPr id="6" name="Action Button: Go Home 5">
            <a:hlinkClick r:id="rId2" action="ppaction://hlinksldjump" highlightClick="1"/>
            <a:extLst>
              <a:ext uri="{FF2B5EF4-FFF2-40B4-BE49-F238E27FC236}">
                <a16:creationId xmlns:a16="http://schemas.microsoft.com/office/drawing/2014/main" id="{C7C468BD-F8D6-4406-9251-675CFF030B7F}"/>
              </a:ext>
            </a:extLst>
          </p:cNvPr>
          <p:cNvSpPr/>
          <p:nvPr/>
        </p:nvSpPr>
        <p:spPr>
          <a:xfrm>
            <a:off x="11399520" y="30480"/>
            <a:ext cx="487680" cy="451311"/>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3376988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A9707-5156-41F3-9BD6-83853633F13F}"/>
              </a:ext>
            </a:extLst>
          </p:cNvPr>
          <p:cNvSpPr>
            <a:spLocks noGrp="1"/>
          </p:cNvSpPr>
          <p:nvPr>
            <p:ph type="title"/>
          </p:nvPr>
        </p:nvSpPr>
        <p:spPr/>
        <p:txBody>
          <a:bodyPr/>
          <a:lstStyle/>
          <a:p>
            <a:r>
              <a:rPr lang="en-US" dirty="0"/>
              <a:t>Wave Solder</a:t>
            </a:r>
            <a:endParaRPr lang="en-MY" dirty="0"/>
          </a:p>
        </p:txBody>
      </p:sp>
      <p:graphicFrame>
        <p:nvGraphicFramePr>
          <p:cNvPr id="4" name="Content Placeholder 3">
            <a:extLst>
              <a:ext uri="{FF2B5EF4-FFF2-40B4-BE49-F238E27FC236}">
                <a16:creationId xmlns:a16="http://schemas.microsoft.com/office/drawing/2014/main" id="{F4C4F9EE-9506-4C4C-B40C-F4271BBF6041}"/>
              </a:ext>
            </a:extLst>
          </p:cNvPr>
          <p:cNvGraphicFramePr>
            <a:graphicFrameLocks noGrp="1"/>
          </p:cNvGraphicFramePr>
          <p:nvPr>
            <p:ph sz="quarter" idx="13"/>
            <p:extLst>
              <p:ext uri="{D42A27DB-BD31-4B8C-83A1-F6EECF244321}">
                <p14:modId xmlns:p14="http://schemas.microsoft.com/office/powerpoint/2010/main" val="2617843014"/>
              </p:ext>
            </p:extLst>
          </p:nvPr>
        </p:nvGraphicFramePr>
        <p:xfrm>
          <a:off x="392640" y="1166155"/>
          <a:ext cx="11059583" cy="3074670"/>
        </p:xfrm>
        <a:graphic>
          <a:graphicData uri="http://schemas.openxmlformats.org/drawingml/2006/table">
            <a:tbl>
              <a:tblPr firstRow="1" bandRow="1">
                <a:tableStyleId>{69012ECD-51FC-41F1-AA8D-1B2483CD663E}</a:tableStyleId>
              </a:tblPr>
              <a:tblGrid>
                <a:gridCol w="3523468">
                  <a:extLst>
                    <a:ext uri="{9D8B030D-6E8A-4147-A177-3AD203B41FA5}">
                      <a16:colId xmlns:a16="http://schemas.microsoft.com/office/drawing/2014/main" val="766677285"/>
                    </a:ext>
                  </a:extLst>
                </a:gridCol>
                <a:gridCol w="2108005">
                  <a:extLst>
                    <a:ext uri="{9D8B030D-6E8A-4147-A177-3AD203B41FA5}">
                      <a16:colId xmlns:a16="http://schemas.microsoft.com/office/drawing/2014/main" val="3296549446"/>
                    </a:ext>
                  </a:extLst>
                </a:gridCol>
                <a:gridCol w="1712752">
                  <a:extLst>
                    <a:ext uri="{9D8B030D-6E8A-4147-A177-3AD203B41FA5}">
                      <a16:colId xmlns:a16="http://schemas.microsoft.com/office/drawing/2014/main" val="2579843292"/>
                    </a:ext>
                  </a:extLst>
                </a:gridCol>
                <a:gridCol w="1607354">
                  <a:extLst>
                    <a:ext uri="{9D8B030D-6E8A-4147-A177-3AD203B41FA5}">
                      <a16:colId xmlns:a16="http://schemas.microsoft.com/office/drawing/2014/main" val="3841248342"/>
                    </a:ext>
                  </a:extLst>
                </a:gridCol>
                <a:gridCol w="2108004">
                  <a:extLst>
                    <a:ext uri="{9D8B030D-6E8A-4147-A177-3AD203B41FA5}">
                      <a16:colId xmlns:a16="http://schemas.microsoft.com/office/drawing/2014/main" val="1267162539"/>
                    </a:ext>
                  </a:extLst>
                </a:gridCol>
              </a:tblGrid>
              <a:tr h="0">
                <a:tc>
                  <a:txBody>
                    <a:bodyPr/>
                    <a:lstStyle/>
                    <a:p>
                      <a:pPr marL="91440" marR="0" lvl="0" indent="0" algn="l" defTabSz="609600" rtl="0" eaLnBrk="1" fontAlgn="ctr" latinLnBrk="0" hangingPunct="1">
                        <a:lnSpc>
                          <a:spcPct val="100000"/>
                        </a:lnSpc>
                        <a:spcBef>
                          <a:spcPts val="0"/>
                        </a:spcBef>
                        <a:spcAft>
                          <a:spcPts val="0"/>
                        </a:spcAft>
                        <a:buClrTx/>
                        <a:buSzTx/>
                        <a:buFontTx/>
                        <a:buNone/>
                        <a:tabLst/>
                        <a:defRPr/>
                      </a:pPr>
                      <a:r>
                        <a:rPr lang="en-MY" sz="1600" u="none" strike="noStrike" dirty="0">
                          <a:effectLst/>
                        </a:rPr>
                        <a:t>Parameter / Capability </a:t>
                      </a:r>
                      <a:endParaRPr lang="en-MY" sz="1600" b="1" i="0" u="none" strike="noStrike" dirty="0">
                        <a:solidFill>
                          <a:srgbClr val="FFFFFF"/>
                        </a:solidFill>
                        <a:effectLst/>
                        <a:latin typeface="+mn-lt"/>
                      </a:endParaRPr>
                    </a:p>
                  </a:txBody>
                  <a:tcPr marL="0" marR="0" marT="0" marB="0"/>
                </a:tc>
                <a:tc>
                  <a:txBody>
                    <a:bodyPr/>
                    <a:lstStyle/>
                    <a:p>
                      <a:pPr marL="91440" algn="l" rtl="0" fontAlgn="ctr"/>
                      <a:r>
                        <a:rPr lang="en-MY" sz="1600" u="none" strike="noStrike" dirty="0">
                          <a:effectLst/>
                        </a:rPr>
                        <a:t>ECS</a:t>
                      </a:r>
                      <a:endParaRPr lang="en-MY" sz="1600" b="1" i="0" u="none" strike="noStrike" dirty="0">
                        <a:solidFill>
                          <a:srgbClr val="FFFFFF"/>
                        </a:solidFill>
                        <a:effectLst/>
                        <a:latin typeface="+mn-lt"/>
                      </a:endParaRPr>
                    </a:p>
                  </a:txBody>
                  <a:tcPr marL="0" marR="0" marT="0" marB="0"/>
                </a:tc>
                <a:tc>
                  <a:txBody>
                    <a:bodyPr/>
                    <a:lstStyle/>
                    <a:p>
                      <a:pPr marL="91440" algn="l" rtl="0" fontAlgn="ctr"/>
                      <a:r>
                        <a:rPr lang="en-MY" sz="1600" u="none" strike="noStrike" dirty="0">
                          <a:effectLst/>
                        </a:rPr>
                        <a:t>LCFC</a:t>
                      </a:r>
                      <a:endParaRPr lang="en-MY" sz="1600" b="1" i="0" u="none" strike="noStrike" dirty="0">
                        <a:solidFill>
                          <a:srgbClr val="FFFFFF"/>
                        </a:solidFill>
                        <a:effectLst/>
                        <a:latin typeface="+mn-lt"/>
                      </a:endParaRPr>
                    </a:p>
                  </a:txBody>
                  <a:tcPr marL="0" marR="0" marT="0" marB="0"/>
                </a:tc>
                <a:tc>
                  <a:txBody>
                    <a:bodyPr/>
                    <a:lstStyle/>
                    <a:p>
                      <a:pPr marL="91440" algn="l" rtl="0" fontAlgn="ctr"/>
                      <a:r>
                        <a:rPr lang="en-MY" sz="1600" u="none" strike="noStrike" dirty="0">
                          <a:effectLst/>
                        </a:rPr>
                        <a:t>FXWH</a:t>
                      </a:r>
                      <a:endParaRPr lang="en-MY" sz="1600" b="1" i="0" u="none" strike="noStrike" dirty="0">
                        <a:solidFill>
                          <a:srgbClr val="FFFFFF"/>
                        </a:solidFill>
                        <a:effectLst/>
                        <a:latin typeface="+mn-lt"/>
                      </a:endParaRPr>
                    </a:p>
                  </a:txBody>
                  <a:tcPr marL="0" marR="0" marT="0" marB="0"/>
                </a:tc>
                <a:tc>
                  <a:txBody>
                    <a:bodyPr/>
                    <a:lstStyle/>
                    <a:p>
                      <a:pPr marL="91440" algn="l" rtl="0" fontAlgn="ctr"/>
                      <a:r>
                        <a:rPr lang="en-MY" sz="1600" u="none" strike="noStrike" dirty="0">
                          <a:effectLst/>
                        </a:rPr>
                        <a:t>LITEON</a:t>
                      </a:r>
                      <a:endParaRPr lang="en-MY" sz="1600" b="1" i="0" u="none" strike="noStrike" dirty="0">
                        <a:solidFill>
                          <a:srgbClr val="FFFFFF"/>
                        </a:solidFill>
                        <a:effectLst/>
                        <a:latin typeface="+mn-lt"/>
                      </a:endParaRPr>
                    </a:p>
                  </a:txBody>
                  <a:tcPr marL="0" marR="0" marT="0" marB="0"/>
                </a:tc>
                <a:extLst>
                  <a:ext uri="{0D108BD9-81ED-4DB2-BD59-A6C34878D82A}">
                    <a16:rowId xmlns:a16="http://schemas.microsoft.com/office/drawing/2014/main" val="3852518198"/>
                  </a:ext>
                </a:extLst>
              </a:tr>
              <a:tr h="0">
                <a:tc>
                  <a:txBody>
                    <a:bodyPr/>
                    <a:lstStyle/>
                    <a:p>
                      <a:pPr marL="91440" algn="l" fontAlgn="t"/>
                      <a:r>
                        <a:rPr lang="en-MY" sz="1600" u="none" strike="noStrike" dirty="0">
                          <a:effectLst/>
                        </a:rPr>
                        <a:t>Preheat Time (sec)</a:t>
                      </a:r>
                      <a:endParaRPr lang="en-MY" sz="1600" b="0" i="0" u="none" strike="noStrike" dirty="0">
                        <a:solidFill>
                          <a:srgbClr val="000000"/>
                        </a:solidFill>
                        <a:effectLst/>
                        <a:latin typeface="Arial" panose="020B0604020202020204" pitchFamily="34" charset="0"/>
                      </a:endParaRPr>
                    </a:p>
                  </a:txBody>
                  <a:tcPr marL="0" marR="0" marT="0" marB="0"/>
                </a:tc>
                <a:tc>
                  <a:txBody>
                    <a:bodyPr/>
                    <a:lstStyle/>
                    <a:p>
                      <a:pPr marL="91440" algn="l" fontAlgn="t"/>
                      <a:r>
                        <a:rPr lang="en-MY" sz="1600" u="none" strike="noStrike" dirty="0">
                          <a:effectLst/>
                        </a:rPr>
                        <a:t>60-120</a:t>
                      </a:r>
                      <a:endParaRPr lang="en-MY" sz="1600" b="0" i="0" u="none" strike="noStrike" dirty="0">
                        <a:solidFill>
                          <a:srgbClr val="0000FF"/>
                        </a:solidFill>
                        <a:effectLst/>
                        <a:latin typeface="Arial" panose="020B0604020202020204" pitchFamily="34" charset="0"/>
                      </a:endParaRPr>
                    </a:p>
                  </a:txBody>
                  <a:tcPr marL="0" marR="0" marT="0" marB="0"/>
                </a:tc>
                <a:tc>
                  <a:txBody>
                    <a:bodyPr/>
                    <a:lstStyle/>
                    <a:p>
                      <a:pPr marL="91440" algn="l" fontAlgn="t"/>
                      <a:r>
                        <a:rPr lang="en-MY" sz="1600" u="none" strike="noStrike" dirty="0">
                          <a:effectLst/>
                        </a:rPr>
                        <a:t>120</a:t>
                      </a:r>
                      <a:endParaRPr lang="en-MY" sz="1600" b="0" i="0" u="none" strike="noStrike" dirty="0">
                        <a:solidFill>
                          <a:srgbClr val="000000"/>
                        </a:solidFill>
                        <a:effectLst/>
                        <a:latin typeface="Arial" panose="020B0604020202020204" pitchFamily="34" charset="0"/>
                      </a:endParaRPr>
                    </a:p>
                  </a:txBody>
                  <a:tcPr marL="0" marR="0" marT="0" marB="0"/>
                </a:tc>
                <a:tc>
                  <a:txBody>
                    <a:bodyPr/>
                    <a:lstStyle/>
                    <a:p>
                      <a:pPr marL="91440" algn="l" fontAlgn="t"/>
                      <a:r>
                        <a:rPr lang="en-MY" sz="1600" u="none" strike="noStrike" dirty="0">
                          <a:effectLst/>
                        </a:rPr>
                        <a:t>60 - 80</a:t>
                      </a:r>
                      <a:endParaRPr lang="en-MY" sz="1600" b="0" i="0" u="none" strike="noStrike" dirty="0">
                        <a:solidFill>
                          <a:srgbClr val="000000"/>
                        </a:solidFill>
                        <a:effectLst/>
                        <a:latin typeface="Arial" panose="020B0604020202020204" pitchFamily="34" charset="0"/>
                      </a:endParaRPr>
                    </a:p>
                  </a:txBody>
                  <a:tcPr marL="0" marR="0" marT="0" marB="0"/>
                </a:tc>
                <a:tc>
                  <a:txBody>
                    <a:bodyPr/>
                    <a:lstStyle/>
                    <a:p>
                      <a:pPr marL="91440" algn="l" fontAlgn="ctr"/>
                      <a:r>
                        <a:rPr lang="en-MY" sz="1600" u="none" strike="noStrike" dirty="0">
                          <a:effectLst/>
                        </a:rPr>
                        <a:t>90-150</a:t>
                      </a:r>
                      <a:endParaRPr lang="en-MY" sz="1600" b="0" i="0" u="none" strike="noStrike" dirty="0">
                        <a:solidFill>
                          <a:srgbClr val="0000CC"/>
                        </a:solidFill>
                        <a:effectLst/>
                        <a:latin typeface="Arial" panose="020B0604020202020204" pitchFamily="34" charset="0"/>
                      </a:endParaRPr>
                    </a:p>
                  </a:txBody>
                  <a:tcPr marL="0" marR="0" marT="0" marB="0"/>
                </a:tc>
                <a:extLst>
                  <a:ext uri="{0D108BD9-81ED-4DB2-BD59-A6C34878D82A}">
                    <a16:rowId xmlns:a16="http://schemas.microsoft.com/office/drawing/2014/main" val="4178550123"/>
                  </a:ext>
                </a:extLst>
              </a:tr>
              <a:tr h="214630">
                <a:tc>
                  <a:txBody>
                    <a:bodyPr/>
                    <a:lstStyle/>
                    <a:p>
                      <a:pPr marL="91440" algn="l" fontAlgn="t"/>
                      <a:r>
                        <a:rPr lang="en-MY" sz="1600" u="none" strike="noStrike" dirty="0">
                          <a:effectLst/>
                        </a:rPr>
                        <a:t>Solder Pot Temperature (°C)</a:t>
                      </a:r>
                      <a:endParaRPr lang="en-MY" sz="1600" b="0" i="0" u="none" strike="noStrike" dirty="0">
                        <a:solidFill>
                          <a:srgbClr val="000000"/>
                        </a:solidFill>
                        <a:effectLst/>
                        <a:latin typeface="Arial" panose="020B0604020202020204" pitchFamily="34" charset="0"/>
                      </a:endParaRPr>
                    </a:p>
                  </a:txBody>
                  <a:tcPr marL="0" marR="0" marT="0" marB="0"/>
                </a:tc>
                <a:tc>
                  <a:txBody>
                    <a:bodyPr/>
                    <a:lstStyle/>
                    <a:p>
                      <a:pPr marL="91440" algn="l" fontAlgn="t"/>
                      <a:r>
                        <a:rPr lang="en-MY" sz="1600" u="none" strike="noStrike" dirty="0">
                          <a:effectLst/>
                        </a:rPr>
                        <a:t>260 - 270</a:t>
                      </a:r>
                      <a:endParaRPr lang="en-MY" sz="1600" b="0" i="0" u="none" strike="noStrike" dirty="0">
                        <a:solidFill>
                          <a:srgbClr val="0000FF"/>
                        </a:solidFill>
                        <a:effectLst/>
                        <a:latin typeface="Arial" panose="020B0604020202020204" pitchFamily="34" charset="0"/>
                      </a:endParaRPr>
                    </a:p>
                  </a:txBody>
                  <a:tcPr marL="0" marR="0" marT="0" marB="0"/>
                </a:tc>
                <a:tc>
                  <a:txBody>
                    <a:bodyPr/>
                    <a:lstStyle/>
                    <a:p>
                      <a:pPr marL="91440" algn="l" fontAlgn="t"/>
                      <a:r>
                        <a:rPr lang="en-MY" sz="1600" u="none" strike="noStrike" dirty="0">
                          <a:effectLst/>
                        </a:rPr>
                        <a:t>260 - 270</a:t>
                      </a:r>
                      <a:endParaRPr lang="en-MY" sz="1600" b="0" i="0" u="none" strike="noStrike" dirty="0">
                        <a:solidFill>
                          <a:srgbClr val="000000"/>
                        </a:solidFill>
                        <a:effectLst/>
                        <a:latin typeface="Arial" panose="020B0604020202020204" pitchFamily="34" charset="0"/>
                      </a:endParaRPr>
                    </a:p>
                  </a:txBody>
                  <a:tcPr marL="0" marR="0" marT="0" marB="0"/>
                </a:tc>
                <a:tc>
                  <a:txBody>
                    <a:bodyPr/>
                    <a:lstStyle/>
                    <a:p>
                      <a:pPr marL="91440" algn="l" fontAlgn="t"/>
                      <a:r>
                        <a:rPr lang="en-MY" sz="1600" u="none" strike="noStrike" dirty="0">
                          <a:effectLst/>
                        </a:rPr>
                        <a:t>270 – 310</a:t>
                      </a:r>
                      <a:endParaRPr lang="en-MY" sz="1600" b="0" i="0" u="none" strike="noStrike" dirty="0">
                        <a:solidFill>
                          <a:srgbClr val="000000"/>
                        </a:solidFill>
                        <a:effectLst/>
                        <a:latin typeface="Arial" panose="020B0604020202020204" pitchFamily="34" charset="0"/>
                      </a:endParaRPr>
                    </a:p>
                  </a:txBody>
                  <a:tcPr marL="0" marR="0" marT="0" marB="0"/>
                </a:tc>
                <a:tc>
                  <a:txBody>
                    <a:bodyPr/>
                    <a:lstStyle/>
                    <a:p>
                      <a:pPr marL="91440" algn="l" fontAlgn="t"/>
                      <a:r>
                        <a:rPr lang="en-MY" sz="1600" u="none" strike="noStrike" dirty="0">
                          <a:effectLst/>
                        </a:rPr>
                        <a:t>260 - 270</a:t>
                      </a:r>
                      <a:endParaRPr lang="en-MY" sz="1600" b="0" i="0" u="none" strike="noStrike" dirty="0">
                        <a:solidFill>
                          <a:srgbClr val="0000FF"/>
                        </a:solidFill>
                        <a:effectLst/>
                        <a:latin typeface="Arial" panose="020B0604020202020204" pitchFamily="34" charset="0"/>
                      </a:endParaRPr>
                    </a:p>
                  </a:txBody>
                  <a:tcPr marL="0" marR="0" marT="0" marB="0"/>
                </a:tc>
                <a:extLst>
                  <a:ext uri="{0D108BD9-81ED-4DB2-BD59-A6C34878D82A}">
                    <a16:rowId xmlns:a16="http://schemas.microsoft.com/office/drawing/2014/main" val="184200942"/>
                  </a:ext>
                </a:extLst>
              </a:tr>
              <a:tr h="214630">
                <a:tc>
                  <a:txBody>
                    <a:bodyPr/>
                    <a:lstStyle/>
                    <a:p>
                      <a:pPr marL="91440" algn="l" fontAlgn="t"/>
                      <a:r>
                        <a:rPr lang="en-MY" sz="1600" u="none" strike="noStrike" dirty="0">
                          <a:effectLst/>
                        </a:rPr>
                        <a:t>Conveyor Speed (cm/min)</a:t>
                      </a:r>
                      <a:endParaRPr lang="en-MY" sz="1600" b="0" i="0" u="none" strike="noStrike" dirty="0">
                        <a:solidFill>
                          <a:srgbClr val="000000"/>
                        </a:solidFill>
                        <a:effectLst/>
                        <a:latin typeface="Arial" panose="020B0604020202020204" pitchFamily="34" charset="0"/>
                      </a:endParaRPr>
                    </a:p>
                  </a:txBody>
                  <a:tcPr marL="0" marR="0" marT="0" marB="0"/>
                </a:tc>
                <a:tc>
                  <a:txBody>
                    <a:bodyPr/>
                    <a:lstStyle/>
                    <a:p>
                      <a:pPr marL="91440" algn="l" fontAlgn="t"/>
                      <a:r>
                        <a:rPr lang="en-MY" sz="1600" u="none" strike="noStrike" dirty="0">
                          <a:effectLst/>
                        </a:rPr>
                        <a:t>100.8</a:t>
                      </a:r>
                      <a:endParaRPr lang="en-MY" sz="1600" b="0" i="0" u="none" strike="noStrike" dirty="0">
                        <a:solidFill>
                          <a:schemeClr val="tx1"/>
                        </a:solidFill>
                        <a:effectLst/>
                        <a:latin typeface="Arial" panose="020B0604020202020204" pitchFamily="34" charset="0"/>
                      </a:endParaRPr>
                    </a:p>
                  </a:txBody>
                  <a:tcPr marL="0" marR="0" marT="0" marB="0"/>
                </a:tc>
                <a:tc>
                  <a:txBody>
                    <a:bodyPr/>
                    <a:lstStyle/>
                    <a:p>
                      <a:pPr marL="91440" algn="l" fontAlgn="t"/>
                      <a:r>
                        <a:rPr lang="en-MY" sz="1600" u="none" strike="noStrike" dirty="0">
                          <a:effectLst/>
                        </a:rPr>
                        <a:t>80</a:t>
                      </a:r>
                      <a:endParaRPr lang="en-MY" sz="1600" b="0" i="0" u="none" strike="noStrike" dirty="0">
                        <a:solidFill>
                          <a:schemeClr val="tx1"/>
                        </a:solidFill>
                        <a:effectLst/>
                        <a:latin typeface="Arial" panose="020B0604020202020204" pitchFamily="34" charset="0"/>
                      </a:endParaRPr>
                    </a:p>
                  </a:txBody>
                  <a:tcPr marL="0" marR="0" marT="0" marB="0"/>
                </a:tc>
                <a:tc>
                  <a:txBody>
                    <a:bodyPr/>
                    <a:lstStyle/>
                    <a:p>
                      <a:pPr marL="91440" algn="l" fontAlgn="t"/>
                      <a:r>
                        <a:rPr lang="en-MY" sz="1600" u="none" strike="noStrike" dirty="0">
                          <a:effectLst/>
                        </a:rPr>
                        <a:t>120 – 160</a:t>
                      </a:r>
                      <a:endParaRPr lang="en-MY" sz="1600" b="0" i="0" u="none" strike="noStrike" dirty="0">
                        <a:solidFill>
                          <a:srgbClr val="FF0000"/>
                        </a:solidFill>
                        <a:effectLst/>
                        <a:latin typeface="Arial" panose="020B0604020202020204" pitchFamily="34" charset="0"/>
                      </a:endParaRPr>
                    </a:p>
                  </a:txBody>
                  <a:tcPr marL="0" marR="0" marT="0" marB="0"/>
                </a:tc>
                <a:tc>
                  <a:txBody>
                    <a:bodyPr/>
                    <a:lstStyle/>
                    <a:p>
                      <a:pPr marL="91440" algn="l" fontAlgn="ctr"/>
                      <a:r>
                        <a:rPr lang="en-MY" sz="1600" u="none" strike="noStrike" dirty="0">
                          <a:effectLst/>
                        </a:rPr>
                        <a:t>100 -140</a:t>
                      </a:r>
                      <a:endParaRPr lang="en-MY" sz="1600" b="0" i="0" u="none" strike="noStrike" dirty="0">
                        <a:solidFill>
                          <a:srgbClr val="FF0000"/>
                        </a:solidFill>
                        <a:effectLst/>
                        <a:latin typeface="Arial" panose="020B0604020202020204" pitchFamily="34" charset="0"/>
                      </a:endParaRPr>
                    </a:p>
                  </a:txBody>
                  <a:tcPr marL="0" marR="0" marT="0" marB="0"/>
                </a:tc>
                <a:extLst>
                  <a:ext uri="{0D108BD9-81ED-4DB2-BD59-A6C34878D82A}">
                    <a16:rowId xmlns:a16="http://schemas.microsoft.com/office/drawing/2014/main" val="988664767"/>
                  </a:ext>
                </a:extLst>
              </a:tr>
              <a:tr h="477520">
                <a:tc>
                  <a:txBody>
                    <a:bodyPr/>
                    <a:lstStyle/>
                    <a:p>
                      <a:pPr marL="91440" algn="l" fontAlgn="t"/>
                      <a:r>
                        <a:rPr lang="en-US" sz="1600" u="none" strike="noStrike" dirty="0">
                          <a:effectLst/>
                        </a:rPr>
                        <a:t>What are the components and pitch that undergo wave soldering?</a:t>
                      </a:r>
                      <a:endParaRPr lang="en-US" sz="1600" b="0" i="0" u="none" strike="noStrike" dirty="0">
                        <a:solidFill>
                          <a:srgbClr val="000000"/>
                        </a:solidFill>
                        <a:effectLst/>
                        <a:latin typeface="Arial" panose="020B0604020202020204" pitchFamily="34" charset="0"/>
                      </a:endParaRPr>
                    </a:p>
                  </a:txBody>
                  <a:tcPr marL="0" marR="0" marT="0" marB="0"/>
                </a:tc>
                <a:tc>
                  <a:txBody>
                    <a:bodyPr/>
                    <a:lstStyle/>
                    <a:p>
                      <a:pPr marL="91440" algn="l" fontAlgn="t"/>
                      <a:r>
                        <a:rPr lang="en-MY" sz="1600" u="none" strike="noStrike">
                          <a:effectLst/>
                        </a:rPr>
                        <a:t>DIP plug-in</a:t>
                      </a:r>
                      <a:endParaRPr lang="en-MY" sz="1600" b="0" i="0" u="none" strike="noStrike">
                        <a:solidFill>
                          <a:srgbClr val="0000FF"/>
                        </a:solidFill>
                        <a:effectLst/>
                        <a:latin typeface="Arial" panose="020B0604020202020204" pitchFamily="34" charset="0"/>
                      </a:endParaRPr>
                    </a:p>
                  </a:txBody>
                  <a:tcPr marL="0" marR="0" marT="0" marB="0"/>
                </a:tc>
                <a:tc>
                  <a:txBody>
                    <a:bodyPr/>
                    <a:lstStyle/>
                    <a:p>
                      <a:pPr marL="91440" algn="l" fontAlgn="t"/>
                      <a:r>
                        <a:rPr lang="en-MY" sz="1600" u="none" strike="noStrike" dirty="0">
                          <a:effectLst/>
                        </a:rPr>
                        <a:t>not answered </a:t>
                      </a:r>
                      <a:endParaRPr lang="en-MY" sz="1600" b="0" i="0" u="none" strike="noStrike" dirty="0">
                        <a:solidFill>
                          <a:srgbClr val="000000"/>
                        </a:solidFill>
                        <a:effectLst/>
                        <a:latin typeface="Arial" panose="020B0604020202020204" pitchFamily="34" charset="0"/>
                      </a:endParaRPr>
                    </a:p>
                  </a:txBody>
                  <a:tcPr marL="0" marR="0" marT="0" marB="0"/>
                </a:tc>
                <a:tc>
                  <a:txBody>
                    <a:bodyPr/>
                    <a:lstStyle/>
                    <a:p>
                      <a:pPr marL="91440" algn="l" fontAlgn="t"/>
                      <a:r>
                        <a:rPr lang="en-MY" sz="1600" u="none" strike="noStrike" dirty="0">
                          <a:effectLst/>
                        </a:rPr>
                        <a:t>not answered</a:t>
                      </a:r>
                      <a:endParaRPr lang="en-MY" sz="1600" b="0" i="0" u="none" strike="noStrike" dirty="0">
                        <a:solidFill>
                          <a:srgbClr val="000000"/>
                        </a:solidFill>
                        <a:effectLst/>
                        <a:latin typeface="Arial" panose="020B0604020202020204" pitchFamily="34" charset="0"/>
                      </a:endParaRPr>
                    </a:p>
                  </a:txBody>
                  <a:tcPr marL="0" marR="0" marT="0" marB="0"/>
                </a:tc>
                <a:tc>
                  <a:txBody>
                    <a:bodyPr/>
                    <a:lstStyle/>
                    <a:p>
                      <a:pPr marL="91440" algn="l" fontAlgn="t"/>
                      <a:r>
                        <a:rPr lang="en-MY" sz="1600" u="none" strike="noStrike">
                          <a:effectLst/>
                        </a:rPr>
                        <a:t>DIP Parts is OK.</a:t>
                      </a:r>
                      <a:endParaRPr lang="en-MY" sz="1600" b="0"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2544975839"/>
                  </a:ext>
                </a:extLst>
              </a:tr>
              <a:tr h="318135">
                <a:tc>
                  <a:txBody>
                    <a:bodyPr/>
                    <a:lstStyle/>
                    <a:p>
                      <a:pPr marL="91440" algn="l" fontAlgn="t"/>
                      <a:r>
                        <a:rPr lang="en-US" sz="1600" u="none" strike="noStrike">
                          <a:effectLst/>
                        </a:rPr>
                        <a:t>Are components hand placed or machine placed?</a:t>
                      </a:r>
                      <a:endParaRPr lang="en-US" sz="1600" b="0" i="0" u="none" strike="noStrike">
                        <a:solidFill>
                          <a:srgbClr val="000000"/>
                        </a:solidFill>
                        <a:effectLst/>
                        <a:latin typeface="Arial" panose="020B0604020202020204" pitchFamily="34" charset="0"/>
                      </a:endParaRPr>
                    </a:p>
                  </a:txBody>
                  <a:tcPr marL="0" marR="0" marT="0" marB="0"/>
                </a:tc>
                <a:tc>
                  <a:txBody>
                    <a:bodyPr/>
                    <a:lstStyle/>
                    <a:p>
                      <a:pPr marL="91440" algn="l" fontAlgn="t"/>
                      <a:r>
                        <a:rPr lang="en-MY" sz="1600" u="none" strike="noStrike" dirty="0">
                          <a:effectLst/>
                        </a:rPr>
                        <a:t>Manual &amp; Auto – component dependent</a:t>
                      </a:r>
                      <a:endParaRPr lang="en-MY" sz="1600" b="0" i="0" u="none" strike="noStrike" dirty="0">
                        <a:solidFill>
                          <a:srgbClr val="0000FF"/>
                        </a:solidFill>
                        <a:effectLst/>
                        <a:latin typeface="Arial" panose="020B0604020202020204" pitchFamily="34" charset="0"/>
                      </a:endParaRPr>
                    </a:p>
                  </a:txBody>
                  <a:tcPr marL="0" marR="0" marT="0" marB="0"/>
                </a:tc>
                <a:tc>
                  <a:txBody>
                    <a:bodyPr/>
                    <a:lstStyle/>
                    <a:p>
                      <a:pPr marL="91440" algn="l" fontAlgn="t"/>
                      <a:r>
                        <a:rPr lang="en-MY" sz="1600" u="none" strike="noStrike" dirty="0">
                          <a:effectLst/>
                        </a:rPr>
                        <a:t>Manual</a:t>
                      </a:r>
                      <a:endParaRPr lang="en-MY" sz="1600" b="0" i="0" u="none" strike="noStrike" dirty="0">
                        <a:solidFill>
                          <a:srgbClr val="FF0000"/>
                        </a:solidFill>
                        <a:effectLst/>
                        <a:latin typeface="Arial" panose="020B0604020202020204" pitchFamily="34" charset="0"/>
                      </a:endParaRPr>
                    </a:p>
                  </a:txBody>
                  <a:tcPr marL="0" marR="0" marT="0" marB="0"/>
                </a:tc>
                <a:tc>
                  <a:txBody>
                    <a:bodyPr/>
                    <a:lstStyle/>
                    <a:p>
                      <a:pPr marL="91440" algn="l" fontAlgn="t"/>
                      <a:r>
                        <a:rPr lang="en-MY" sz="1600" u="none" strike="noStrike" dirty="0">
                          <a:effectLst/>
                        </a:rPr>
                        <a:t>Manual</a:t>
                      </a:r>
                      <a:endParaRPr lang="en-MY" sz="1600" b="0" i="0" u="none" strike="noStrike" dirty="0">
                        <a:solidFill>
                          <a:srgbClr val="000000"/>
                        </a:solidFill>
                        <a:effectLst/>
                        <a:latin typeface="Arial" panose="020B0604020202020204" pitchFamily="34" charset="0"/>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lang="en-MY" sz="1600" u="none" strike="noStrike" dirty="0">
                          <a:effectLst/>
                        </a:rPr>
                        <a:t>Manual &amp; Auto – component dependent</a:t>
                      </a:r>
                      <a:endParaRPr lang="en-MY" sz="1600" b="0" i="0" u="none" strike="noStrike" dirty="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1760666334"/>
                  </a:ext>
                </a:extLst>
              </a:tr>
              <a:tr h="207010">
                <a:tc>
                  <a:txBody>
                    <a:bodyPr/>
                    <a:lstStyle/>
                    <a:p>
                      <a:pPr marL="91440" algn="l" fontAlgn="t"/>
                      <a:r>
                        <a:rPr lang="en-US" sz="1600" u="none" strike="noStrike" dirty="0">
                          <a:effectLst/>
                        </a:rPr>
                        <a:t>What is the O2 PPM control?</a:t>
                      </a:r>
                      <a:endParaRPr lang="en-US" sz="1600" b="0" i="0" u="none" strike="noStrike" dirty="0">
                        <a:solidFill>
                          <a:srgbClr val="000000"/>
                        </a:solidFill>
                        <a:effectLst/>
                        <a:latin typeface="Arial" panose="020B0604020202020204" pitchFamily="34" charset="0"/>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600" u="none" strike="noStrike" kern="0" cap="none" spc="0" normalizeH="0" baseline="0" noProof="0" dirty="0">
                          <a:ln>
                            <a:noFill/>
                          </a:ln>
                          <a:effectLst/>
                          <a:uLnTx/>
                          <a:uFillTx/>
                          <a:sym typeface="Intel Clear"/>
                        </a:rPr>
                        <a:t>no control </a:t>
                      </a:r>
                      <a:endParaRPr kumimoji="0" lang="en-MY" sz="1600" b="0" i="0" u="none" strike="noStrike" kern="0" cap="none" spc="0" normalizeH="0" baseline="0" noProof="0" dirty="0">
                        <a:ln>
                          <a:noFill/>
                        </a:ln>
                        <a:solidFill>
                          <a:srgbClr val="000000"/>
                        </a:solidFill>
                        <a:effectLst/>
                        <a:uLnTx/>
                        <a:uFillTx/>
                        <a:latin typeface="Arial" panose="020B0604020202020204" pitchFamily="34" charset="0"/>
                        <a:sym typeface="Intel Clear"/>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600" u="none" strike="noStrike" kern="0" cap="none" spc="0" normalizeH="0" baseline="0" noProof="0" dirty="0">
                          <a:ln>
                            <a:noFill/>
                          </a:ln>
                          <a:effectLst/>
                          <a:uLnTx/>
                          <a:uFillTx/>
                          <a:sym typeface="Intel Clear"/>
                        </a:rPr>
                        <a:t>no control </a:t>
                      </a:r>
                      <a:endParaRPr kumimoji="0" lang="en-MY" sz="1600" b="0" i="0" u="none" strike="noStrike" kern="0" cap="none" spc="0" normalizeH="0" baseline="0" noProof="0" dirty="0">
                        <a:ln>
                          <a:noFill/>
                        </a:ln>
                        <a:solidFill>
                          <a:srgbClr val="000000"/>
                        </a:solidFill>
                        <a:effectLst/>
                        <a:uLnTx/>
                        <a:uFillTx/>
                        <a:latin typeface="Arial" panose="020B0604020202020204" pitchFamily="34" charset="0"/>
                        <a:sym typeface="Intel Clear"/>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600" u="none" strike="noStrike" kern="0" cap="none" spc="0" normalizeH="0" baseline="0" noProof="0" dirty="0">
                          <a:ln>
                            <a:noFill/>
                          </a:ln>
                          <a:effectLst/>
                          <a:uLnTx/>
                          <a:uFillTx/>
                          <a:sym typeface="Intel Clear"/>
                        </a:rPr>
                        <a:t>no control </a:t>
                      </a:r>
                      <a:endParaRPr kumimoji="0" lang="en-MY" sz="1600" b="0" i="0" u="none" strike="noStrike" kern="0" cap="none" spc="0" normalizeH="0" baseline="0" noProof="0" dirty="0">
                        <a:ln>
                          <a:noFill/>
                        </a:ln>
                        <a:solidFill>
                          <a:srgbClr val="000000"/>
                        </a:solidFill>
                        <a:effectLst/>
                        <a:uLnTx/>
                        <a:uFillTx/>
                        <a:latin typeface="Arial" panose="020B0604020202020204" pitchFamily="34" charset="0"/>
                        <a:sym typeface="Intel Clear"/>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600" u="none" strike="noStrike" kern="0" cap="none" spc="0" normalizeH="0" baseline="0" noProof="0" dirty="0">
                          <a:ln>
                            <a:noFill/>
                          </a:ln>
                          <a:effectLst/>
                          <a:uLnTx/>
                          <a:uFillTx/>
                          <a:sym typeface="Intel Clear"/>
                        </a:rPr>
                        <a:t>no control </a:t>
                      </a:r>
                      <a:endParaRPr kumimoji="0" lang="en-MY" sz="1600" b="0" i="0" u="none" strike="noStrike" kern="0" cap="none" spc="0" normalizeH="0" baseline="0" noProof="0" dirty="0">
                        <a:ln>
                          <a:noFill/>
                        </a:ln>
                        <a:solidFill>
                          <a:srgbClr val="000000"/>
                        </a:solidFill>
                        <a:effectLst/>
                        <a:uLnTx/>
                        <a:uFillTx/>
                        <a:latin typeface="Arial" panose="020B0604020202020204" pitchFamily="34" charset="0"/>
                        <a:sym typeface="Intel Clear"/>
                      </a:endParaRPr>
                    </a:p>
                  </a:txBody>
                  <a:tcPr marL="0" marR="0" marT="0" marB="0"/>
                </a:tc>
                <a:extLst>
                  <a:ext uri="{0D108BD9-81ED-4DB2-BD59-A6C34878D82A}">
                    <a16:rowId xmlns:a16="http://schemas.microsoft.com/office/drawing/2014/main" val="1157305833"/>
                  </a:ext>
                </a:extLst>
              </a:tr>
              <a:tr h="636270">
                <a:tc>
                  <a:txBody>
                    <a:bodyPr/>
                    <a:lstStyle/>
                    <a:p>
                      <a:pPr marL="91440" algn="l" fontAlgn="t"/>
                      <a:r>
                        <a:rPr lang="en-MY" sz="1600" u="none" strike="noStrike" dirty="0">
                          <a:effectLst/>
                        </a:rPr>
                        <a:t>Yield Target</a:t>
                      </a:r>
                      <a:endParaRPr lang="en-MY" sz="1600" b="0" i="0" u="none" strike="noStrike" dirty="0">
                        <a:effectLst/>
                        <a:latin typeface="Arial" panose="020B0604020202020204" pitchFamily="34" charset="0"/>
                      </a:endParaRPr>
                    </a:p>
                  </a:txBody>
                  <a:tcPr marL="0" marR="0" marT="0" marB="0"/>
                </a:tc>
                <a:tc>
                  <a:txBody>
                    <a:bodyPr/>
                    <a:lstStyle/>
                    <a:p>
                      <a:pPr marL="91440" algn="l" fontAlgn="t"/>
                      <a:r>
                        <a:rPr lang="en-MY" sz="1600" u="none" strike="noStrike" dirty="0">
                          <a:effectLst/>
                        </a:rPr>
                        <a:t>99.9% (1K DPM)</a:t>
                      </a:r>
                      <a:endParaRPr lang="en-MY" sz="1600" b="0" i="0" u="none" strike="noStrike" dirty="0">
                        <a:solidFill>
                          <a:srgbClr val="FF0000"/>
                        </a:solidFill>
                        <a:effectLst/>
                        <a:latin typeface="Arial" panose="020B0604020202020204" pitchFamily="34" charset="0"/>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lang="en-MY" sz="1600" u="none" strike="noStrike" dirty="0">
                          <a:effectLst/>
                        </a:rPr>
                        <a:t>not answered  </a:t>
                      </a:r>
                      <a:endParaRPr lang="en-MY" sz="1600" b="0" i="0" u="none" strike="noStrike" dirty="0">
                        <a:solidFill>
                          <a:srgbClr val="FF0000"/>
                        </a:solidFill>
                        <a:effectLst/>
                        <a:latin typeface="Arial" panose="020B0604020202020204" pitchFamily="34" charset="0"/>
                      </a:endParaRPr>
                    </a:p>
                  </a:txBody>
                  <a:tcPr marL="0" marR="0" marT="0" marB="0"/>
                </a:tc>
                <a:tc>
                  <a:txBody>
                    <a:bodyPr/>
                    <a:lstStyle/>
                    <a:p>
                      <a:pPr marL="91440" algn="l" fontAlgn="t"/>
                      <a:r>
                        <a:rPr lang="en-MY" sz="1600" u="none" strike="noStrike" dirty="0">
                          <a:effectLst/>
                        </a:rPr>
                        <a:t>99.9% (1K DPM)</a:t>
                      </a:r>
                      <a:endParaRPr lang="en-MY" sz="1600" b="0" i="0" u="none" strike="noStrike" dirty="0">
                        <a:solidFill>
                          <a:srgbClr val="FF0000"/>
                        </a:solidFill>
                        <a:effectLst/>
                        <a:latin typeface="Arial" panose="020B0604020202020204" pitchFamily="34" charset="0"/>
                      </a:endParaRPr>
                    </a:p>
                  </a:txBody>
                  <a:tcPr marL="0" marR="0" marT="0" marB="0"/>
                </a:tc>
                <a:tc>
                  <a:txBody>
                    <a:bodyPr/>
                    <a:lstStyle/>
                    <a:p>
                      <a:pPr marL="91440" algn="l" fontAlgn="t"/>
                      <a:r>
                        <a:rPr lang="en-MY" sz="1600" u="none" strike="noStrike" dirty="0">
                          <a:effectLst/>
                        </a:rPr>
                        <a:t>98%</a:t>
                      </a:r>
                      <a:endParaRPr lang="en-MY" sz="1600" b="0" i="0" u="none" strike="noStrike" dirty="0">
                        <a:solidFill>
                          <a:srgbClr val="FF0000"/>
                        </a:solidFill>
                        <a:effectLst/>
                        <a:latin typeface="Arial" panose="020B0604020202020204" pitchFamily="34" charset="0"/>
                      </a:endParaRPr>
                    </a:p>
                  </a:txBody>
                  <a:tcPr marL="0" marR="0" marT="0" marB="0"/>
                </a:tc>
                <a:extLst>
                  <a:ext uri="{0D108BD9-81ED-4DB2-BD59-A6C34878D82A}">
                    <a16:rowId xmlns:a16="http://schemas.microsoft.com/office/drawing/2014/main" val="894298192"/>
                  </a:ext>
                </a:extLst>
              </a:tr>
            </a:tbl>
          </a:graphicData>
        </a:graphic>
      </p:graphicFrame>
      <p:sp>
        <p:nvSpPr>
          <p:cNvPr id="5" name="Rectangle: Rounded Corners 4">
            <a:extLst>
              <a:ext uri="{FF2B5EF4-FFF2-40B4-BE49-F238E27FC236}">
                <a16:creationId xmlns:a16="http://schemas.microsoft.com/office/drawing/2014/main" id="{90B74AAE-0C80-4E5C-A46C-76AE69D7EA1C}"/>
              </a:ext>
            </a:extLst>
          </p:cNvPr>
          <p:cNvSpPr/>
          <p:nvPr/>
        </p:nvSpPr>
        <p:spPr>
          <a:xfrm>
            <a:off x="583141" y="5088831"/>
            <a:ext cx="10678583"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Customer’s wave conveyor speeds range from 80-160 cm/min</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There is no O2 ppm control for wave</a:t>
            </a:r>
          </a:p>
        </p:txBody>
      </p:sp>
      <p:sp>
        <p:nvSpPr>
          <p:cNvPr id="6" name="Action Button: Go Home 5">
            <a:hlinkClick r:id="rId2" action="ppaction://hlinksldjump" highlightClick="1"/>
            <a:extLst>
              <a:ext uri="{FF2B5EF4-FFF2-40B4-BE49-F238E27FC236}">
                <a16:creationId xmlns:a16="http://schemas.microsoft.com/office/drawing/2014/main" id="{0E30BED3-8F73-4BF2-A216-71A051DA8E94}"/>
              </a:ext>
            </a:extLst>
          </p:cNvPr>
          <p:cNvSpPr/>
          <p:nvPr/>
        </p:nvSpPr>
        <p:spPr>
          <a:xfrm>
            <a:off x="11399520" y="162560"/>
            <a:ext cx="487680" cy="451311"/>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3901614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A9707-5156-41F3-9BD6-83853633F13F}"/>
              </a:ext>
            </a:extLst>
          </p:cNvPr>
          <p:cNvSpPr>
            <a:spLocks noGrp="1"/>
          </p:cNvSpPr>
          <p:nvPr>
            <p:ph type="title"/>
          </p:nvPr>
        </p:nvSpPr>
        <p:spPr>
          <a:xfrm>
            <a:off x="607484" y="81597"/>
            <a:ext cx="10972800" cy="502603"/>
          </a:xfrm>
        </p:spPr>
        <p:txBody>
          <a:bodyPr/>
          <a:lstStyle/>
          <a:p>
            <a:r>
              <a:rPr lang="en-US" dirty="0"/>
              <a:t>Board Level Adhesives</a:t>
            </a:r>
            <a:endParaRPr lang="en-MY" dirty="0"/>
          </a:p>
        </p:txBody>
      </p:sp>
      <p:graphicFrame>
        <p:nvGraphicFramePr>
          <p:cNvPr id="4" name="Content Placeholder 3">
            <a:extLst>
              <a:ext uri="{FF2B5EF4-FFF2-40B4-BE49-F238E27FC236}">
                <a16:creationId xmlns:a16="http://schemas.microsoft.com/office/drawing/2014/main" id="{F4C4F9EE-9506-4C4C-B40C-F4271BBF6041}"/>
              </a:ext>
            </a:extLst>
          </p:cNvPr>
          <p:cNvGraphicFramePr>
            <a:graphicFrameLocks noGrp="1"/>
          </p:cNvGraphicFramePr>
          <p:nvPr>
            <p:ph sz="quarter" idx="13"/>
            <p:extLst>
              <p:ext uri="{D42A27DB-BD31-4B8C-83A1-F6EECF244321}">
                <p14:modId xmlns:p14="http://schemas.microsoft.com/office/powerpoint/2010/main" val="1457000200"/>
              </p:ext>
            </p:extLst>
          </p:nvPr>
        </p:nvGraphicFramePr>
        <p:xfrm>
          <a:off x="387351" y="686708"/>
          <a:ext cx="11192933" cy="4420704"/>
        </p:xfrm>
        <a:graphic>
          <a:graphicData uri="http://schemas.openxmlformats.org/drawingml/2006/table">
            <a:tbl>
              <a:tblPr firstRow="1" bandRow="1">
                <a:tableStyleId>{69012ECD-51FC-41F1-AA8D-1B2483CD663E}</a:tableStyleId>
              </a:tblPr>
              <a:tblGrid>
                <a:gridCol w="3473449">
                  <a:extLst>
                    <a:ext uri="{9D8B030D-6E8A-4147-A177-3AD203B41FA5}">
                      <a16:colId xmlns:a16="http://schemas.microsoft.com/office/drawing/2014/main" val="766677285"/>
                    </a:ext>
                  </a:extLst>
                </a:gridCol>
                <a:gridCol w="1998133">
                  <a:extLst>
                    <a:ext uri="{9D8B030D-6E8A-4147-A177-3AD203B41FA5}">
                      <a16:colId xmlns:a16="http://schemas.microsoft.com/office/drawing/2014/main" val="3296549446"/>
                    </a:ext>
                  </a:extLst>
                </a:gridCol>
                <a:gridCol w="1557867">
                  <a:extLst>
                    <a:ext uri="{9D8B030D-6E8A-4147-A177-3AD203B41FA5}">
                      <a16:colId xmlns:a16="http://schemas.microsoft.com/office/drawing/2014/main" val="2579843292"/>
                    </a:ext>
                  </a:extLst>
                </a:gridCol>
                <a:gridCol w="1888067">
                  <a:extLst>
                    <a:ext uri="{9D8B030D-6E8A-4147-A177-3AD203B41FA5}">
                      <a16:colId xmlns:a16="http://schemas.microsoft.com/office/drawing/2014/main" val="3841248342"/>
                    </a:ext>
                  </a:extLst>
                </a:gridCol>
                <a:gridCol w="2275417">
                  <a:extLst>
                    <a:ext uri="{9D8B030D-6E8A-4147-A177-3AD203B41FA5}">
                      <a16:colId xmlns:a16="http://schemas.microsoft.com/office/drawing/2014/main" val="1267162539"/>
                    </a:ext>
                  </a:extLst>
                </a:gridCol>
              </a:tblGrid>
              <a:tr h="241170">
                <a:tc>
                  <a:txBody>
                    <a:bodyPr/>
                    <a:lstStyle/>
                    <a:p>
                      <a:pPr marL="91440" marR="0" lvl="0" indent="0" algn="l" defTabSz="609600" rtl="0" eaLnBrk="1" fontAlgn="ctr" latinLnBrk="0" hangingPunct="1">
                        <a:lnSpc>
                          <a:spcPct val="100000"/>
                        </a:lnSpc>
                        <a:spcBef>
                          <a:spcPts val="0"/>
                        </a:spcBef>
                        <a:spcAft>
                          <a:spcPts val="0"/>
                        </a:spcAft>
                        <a:buClrTx/>
                        <a:buSzTx/>
                        <a:buFontTx/>
                        <a:buNone/>
                        <a:tabLst/>
                        <a:defRPr/>
                      </a:pPr>
                      <a:r>
                        <a:rPr lang="en-MY" sz="1800" u="none" strike="noStrike" dirty="0">
                          <a:effectLst/>
                          <a:latin typeface="+mn-lt"/>
                        </a:rPr>
                        <a:t>Process / Capability </a:t>
                      </a:r>
                      <a:endParaRPr lang="en-MY" sz="1800" b="1" i="0" u="none" strike="noStrike" dirty="0">
                        <a:solidFill>
                          <a:srgbClr val="FFFFFF"/>
                        </a:solidFill>
                        <a:effectLst/>
                        <a:latin typeface="+mn-lt"/>
                      </a:endParaRPr>
                    </a:p>
                  </a:txBody>
                  <a:tcPr marL="0" marR="0" marT="0" marB="0"/>
                </a:tc>
                <a:tc>
                  <a:txBody>
                    <a:bodyPr/>
                    <a:lstStyle/>
                    <a:p>
                      <a:pPr marL="91440" algn="l" rtl="0" fontAlgn="ctr"/>
                      <a:r>
                        <a:rPr lang="en-MY" sz="1800" u="none" strike="noStrike" dirty="0">
                          <a:effectLst/>
                          <a:latin typeface="+mn-lt"/>
                        </a:rPr>
                        <a:t>ECS</a:t>
                      </a:r>
                      <a:endParaRPr lang="en-MY" sz="1800" b="1" i="0" u="none" strike="noStrike" dirty="0">
                        <a:solidFill>
                          <a:srgbClr val="FFFFFF"/>
                        </a:solidFill>
                        <a:effectLst/>
                        <a:latin typeface="+mn-lt"/>
                      </a:endParaRPr>
                    </a:p>
                  </a:txBody>
                  <a:tcPr marL="0" marR="0" marT="0" marB="0"/>
                </a:tc>
                <a:tc>
                  <a:txBody>
                    <a:bodyPr/>
                    <a:lstStyle/>
                    <a:p>
                      <a:pPr marL="91440" algn="l" rtl="0" fontAlgn="ctr"/>
                      <a:r>
                        <a:rPr lang="en-MY" sz="1800" u="none" strike="noStrike" dirty="0">
                          <a:effectLst/>
                          <a:latin typeface="+mn-lt"/>
                        </a:rPr>
                        <a:t>LCFC</a:t>
                      </a:r>
                      <a:endParaRPr lang="en-MY" sz="1800" b="1" i="0" u="none" strike="noStrike" dirty="0">
                        <a:solidFill>
                          <a:srgbClr val="FFFFFF"/>
                        </a:solidFill>
                        <a:effectLst/>
                        <a:latin typeface="+mn-lt"/>
                      </a:endParaRPr>
                    </a:p>
                  </a:txBody>
                  <a:tcPr marL="0" marR="0" marT="0" marB="0"/>
                </a:tc>
                <a:tc>
                  <a:txBody>
                    <a:bodyPr/>
                    <a:lstStyle/>
                    <a:p>
                      <a:pPr marL="91440" algn="l" rtl="0" fontAlgn="ctr"/>
                      <a:r>
                        <a:rPr lang="en-MY" sz="1800" u="none" strike="noStrike" dirty="0">
                          <a:effectLst/>
                          <a:latin typeface="+mn-lt"/>
                        </a:rPr>
                        <a:t>FXWH</a:t>
                      </a:r>
                      <a:endParaRPr lang="en-MY" sz="1800" b="1" i="0" u="none" strike="noStrike" dirty="0">
                        <a:solidFill>
                          <a:srgbClr val="FFFFFF"/>
                        </a:solidFill>
                        <a:effectLst/>
                        <a:latin typeface="+mn-lt"/>
                      </a:endParaRPr>
                    </a:p>
                  </a:txBody>
                  <a:tcPr marL="0" marR="0" marT="0" marB="0"/>
                </a:tc>
                <a:tc>
                  <a:txBody>
                    <a:bodyPr/>
                    <a:lstStyle/>
                    <a:p>
                      <a:pPr marL="91440" algn="l" rtl="0" fontAlgn="ctr"/>
                      <a:r>
                        <a:rPr lang="en-MY" sz="1800" u="none" strike="noStrike" dirty="0">
                          <a:effectLst/>
                          <a:latin typeface="+mn-lt"/>
                        </a:rPr>
                        <a:t>LITEON</a:t>
                      </a:r>
                      <a:endParaRPr lang="en-MY" sz="1800" b="1" i="0" u="none" strike="noStrike" dirty="0">
                        <a:solidFill>
                          <a:srgbClr val="FFFFFF"/>
                        </a:solidFill>
                        <a:effectLst/>
                        <a:latin typeface="+mn-lt"/>
                      </a:endParaRPr>
                    </a:p>
                  </a:txBody>
                  <a:tcPr marL="0" marR="0" marT="0" marB="0"/>
                </a:tc>
                <a:extLst>
                  <a:ext uri="{0D108BD9-81ED-4DB2-BD59-A6C34878D82A}">
                    <a16:rowId xmlns:a16="http://schemas.microsoft.com/office/drawing/2014/main" val="3852518198"/>
                  </a:ext>
                </a:extLst>
              </a:tr>
              <a:tr h="428748">
                <a:tc>
                  <a:txBody>
                    <a:bodyPr/>
                    <a:lstStyle/>
                    <a:p>
                      <a:pPr marL="91440" algn="l" fontAlgn="t"/>
                      <a:r>
                        <a:rPr lang="en-US" sz="1600" u="none" strike="noStrike" dirty="0">
                          <a:effectLst/>
                          <a:latin typeface="+mn-lt"/>
                        </a:rPr>
                        <a:t>Are you currently using adhesive for Sockets?</a:t>
                      </a:r>
                      <a:endParaRPr lang="en-US" sz="1600" b="0" i="0" u="none" strike="noStrike" dirty="0">
                        <a:effectLst/>
                        <a:latin typeface="+mn-lt"/>
                      </a:endParaRPr>
                    </a:p>
                  </a:txBody>
                  <a:tcPr marL="0" marR="0" marT="0" marB="0"/>
                </a:tc>
                <a:tc>
                  <a:txBody>
                    <a:bodyPr/>
                    <a:lstStyle/>
                    <a:p>
                      <a:pPr marL="91440" algn="l" fontAlgn="t"/>
                      <a:r>
                        <a:rPr lang="en-MY" sz="1600" u="none" strike="noStrike" dirty="0">
                          <a:effectLst/>
                          <a:latin typeface="+mn-lt"/>
                        </a:rPr>
                        <a:t>No</a:t>
                      </a:r>
                      <a:endParaRPr lang="en-MY" sz="1600" b="0" i="0" u="none" strike="noStrike" dirty="0">
                        <a:solidFill>
                          <a:srgbClr val="0000FF"/>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600" b="0" i="0" u="none" strike="noStrike" kern="0" cap="none" spc="0" normalizeH="0" baseline="0" noProof="0">
                          <a:ln>
                            <a:noFill/>
                          </a:ln>
                          <a:solidFill>
                            <a:srgbClr val="000000"/>
                          </a:solidFill>
                          <a:effectLst/>
                          <a:uLnTx/>
                          <a:uFillTx/>
                          <a:latin typeface="+mn-lt"/>
                          <a:sym typeface="Intel Clear"/>
                        </a:rPr>
                        <a:t>No</a:t>
                      </a:r>
                      <a:endParaRPr kumimoji="0" lang="en-MY" sz="1600" b="0" i="0" u="none" strike="noStrike" kern="0" cap="none" spc="0" normalizeH="0" baseline="0" noProof="0" dirty="0">
                        <a:ln>
                          <a:noFill/>
                        </a:ln>
                        <a:solidFill>
                          <a:srgbClr val="0000FF"/>
                        </a:solidFill>
                        <a:effectLst/>
                        <a:uLnTx/>
                        <a:uFillTx/>
                        <a:latin typeface="+mn-lt"/>
                        <a:sym typeface="Intel Clear"/>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600" b="0" i="0" u="none" strike="noStrike" kern="0" cap="none" spc="0" normalizeH="0" baseline="0" noProof="0">
                          <a:ln>
                            <a:noFill/>
                          </a:ln>
                          <a:solidFill>
                            <a:srgbClr val="000000"/>
                          </a:solidFill>
                          <a:effectLst/>
                          <a:uLnTx/>
                          <a:uFillTx/>
                          <a:latin typeface="+mn-lt"/>
                          <a:sym typeface="Intel Clear"/>
                        </a:rPr>
                        <a:t>No</a:t>
                      </a:r>
                      <a:endParaRPr kumimoji="0" lang="en-MY" sz="1600" b="0" i="0" u="none" strike="noStrike" kern="0" cap="none" spc="0" normalizeH="0" baseline="0" noProof="0" dirty="0">
                        <a:ln>
                          <a:noFill/>
                        </a:ln>
                        <a:solidFill>
                          <a:srgbClr val="0000FF"/>
                        </a:solidFill>
                        <a:effectLst/>
                        <a:uLnTx/>
                        <a:uFillTx/>
                        <a:latin typeface="+mn-lt"/>
                        <a:sym typeface="Intel Clear"/>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600" b="0" i="0" u="none" strike="noStrike" kern="0" cap="none" spc="0" normalizeH="0" baseline="0" noProof="0" dirty="0">
                          <a:ln>
                            <a:noFill/>
                          </a:ln>
                          <a:solidFill>
                            <a:srgbClr val="000000"/>
                          </a:solidFill>
                          <a:effectLst/>
                          <a:uLnTx/>
                          <a:uFillTx/>
                          <a:latin typeface="+mn-lt"/>
                          <a:sym typeface="Intel Clear"/>
                        </a:rPr>
                        <a:t>No</a:t>
                      </a:r>
                      <a:endParaRPr kumimoji="0" lang="en-MY" sz="1600" b="0" i="0" u="none" strike="noStrike" kern="0" cap="none" spc="0" normalizeH="0" baseline="0" noProof="0" dirty="0">
                        <a:ln>
                          <a:noFill/>
                        </a:ln>
                        <a:solidFill>
                          <a:srgbClr val="0000FF"/>
                        </a:solidFill>
                        <a:effectLst/>
                        <a:uLnTx/>
                        <a:uFillTx/>
                        <a:latin typeface="+mn-lt"/>
                        <a:sym typeface="Intel Clear"/>
                      </a:endParaRPr>
                    </a:p>
                  </a:txBody>
                  <a:tcPr marL="0" marR="0" marT="0" marB="0"/>
                </a:tc>
                <a:extLst>
                  <a:ext uri="{0D108BD9-81ED-4DB2-BD59-A6C34878D82A}">
                    <a16:rowId xmlns:a16="http://schemas.microsoft.com/office/drawing/2014/main" val="4178550123"/>
                  </a:ext>
                </a:extLst>
              </a:tr>
              <a:tr h="428748">
                <a:tc>
                  <a:txBody>
                    <a:bodyPr/>
                    <a:lstStyle/>
                    <a:p>
                      <a:pPr marL="91440" algn="l" fontAlgn="t"/>
                      <a:r>
                        <a:rPr lang="en-US" sz="1600" u="none" strike="noStrike" dirty="0">
                          <a:effectLst/>
                          <a:latin typeface="+mn-lt"/>
                        </a:rPr>
                        <a:t>Are you currently using adhesive for BGAs?</a:t>
                      </a:r>
                      <a:endParaRPr lang="en-US" sz="1600" b="0" i="0" u="none" strike="noStrike" dirty="0">
                        <a:effectLst/>
                        <a:latin typeface="+mn-lt"/>
                      </a:endParaRPr>
                    </a:p>
                  </a:txBody>
                  <a:tcPr marL="0" marR="0" marT="0" marB="0"/>
                </a:tc>
                <a:tc>
                  <a:txBody>
                    <a:bodyPr/>
                    <a:lstStyle/>
                    <a:p>
                      <a:pPr marL="91440" algn="l" fontAlgn="t"/>
                      <a:r>
                        <a:rPr lang="en-MY" sz="1600" u="none" strike="noStrike" dirty="0">
                          <a:effectLst/>
                          <a:latin typeface="+mn-lt"/>
                        </a:rPr>
                        <a:t>Yes</a:t>
                      </a:r>
                      <a:endParaRPr lang="en-MY" sz="1600" b="0" i="0" u="none" strike="noStrike" dirty="0">
                        <a:solidFill>
                          <a:srgbClr val="0000FF"/>
                        </a:solidFill>
                        <a:effectLst/>
                        <a:latin typeface="+mn-lt"/>
                      </a:endParaRPr>
                    </a:p>
                  </a:txBody>
                  <a:tcPr marL="0" marR="0" marT="0" marB="0"/>
                </a:tc>
                <a:tc>
                  <a:txBody>
                    <a:bodyPr/>
                    <a:lstStyle/>
                    <a:p>
                      <a:pPr marL="91440" algn="l" fontAlgn="t"/>
                      <a:r>
                        <a:rPr kumimoji="0" lang="en-MY" sz="1600" b="0" i="0" u="none" strike="noStrike" kern="0" cap="none" spc="0" normalizeH="0" baseline="0" noProof="0">
                          <a:ln>
                            <a:noFill/>
                          </a:ln>
                          <a:solidFill>
                            <a:srgbClr val="000000"/>
                          </a:solidFill>
                          <a:effectLst/>
                          <a:uLnTx/>
                          <a:uFillTx/>
                          <a:latin typeface="Intel Clear"/>
                          <a:sym typeface="Intel Clear"/>
                        </a:rPr>
                        <a:t>Yes</a:t>
                      </a:r>
                      <a:endParaRPr lang="en-MY" sz="1600" b="0" i="0" u="none" strike="noStrike" dirty="0">
                        <a:solidFill>
                          <a:srgbClr val="000000"/>
                        </a:solidFill>
                        <a:effectLst/>
                        <a:latin typeface="+mn-lt"/>
                      </a:endParaRPr>
                    </a:p>
                  </a:txBody>
                  <a:tcPr marL="0" marR="0" marT="0" marB="0"/>
                </a:tc>
                <a:tc>
                  <a:txBody>
                    <a:bodyPr/>
                    <a:lstStyle/>
                    <a:p>
                      <a:pPr marL="91440" algn="l" fontAlgn="t"/>
                      <a:r>
                        <a:rPr kumimoji="0" lang="en-MY" sz="1600" b="0" i="0" u="none" strike="noStrike" kern="0" cap="none" spc="0" normalizeH="0" baseline="0" noProof="0" dirty="0">
                          <a:ln>
                            <a:noFill/>
                          </a:ln>
                          <a:solidFill>
                            <a:srgbClr val="000000"/>
                          </a:solidFill>
                          <a:effectLst/>
                          <a:uLnTx/>
                          <a:uFillTx/>
                          <a:latin typeface="Intel Clear"/>
                          <a:sym typeface="Intel Clear"/>
                        </a:rPr>
                        <a:t>Yes</a:t>
                      </a:r>
                      <a:endParaRPr lang="en-MY" sz="1600" b="0" i="0" u="none" strike="noStrike" dirty="0">
                        <a:solidFill>
                          <a:srgbClr val="000000"/>
                        </a:solidFill>
                        <a:effectLst/>
                        <a:latin typeface="+mn-lt"/>
                      </a:endParaRPr>
                    </a:p>
                  </a:txBody>
                  <a:tcPr marL="0" marR="0" marT="0" marB="0"/>
                </a:tc>
                <a:tc>
                  <a:txBody>
                    <a:bodyPr/>
                    <a:lstStyle/>
                    <a:p>
                      <a:pPr marL="91440" algn="l" fontAlgn="t"/>
                      <a:r>
                        <a:rPr lang="en-US" sz="1600" u="none" strike="noStrike" dirty="0">
                          <a:effectLst/>
                          <a:latin typeface="+mn-lt"/>
                        </a:rPr>
                        <a:t>Yes. Depends on different BGA.</a:t>
                      </a:r>
                      <a:endParaRPr lang="en-US" sz="1600" b="0" i="0" u="none" strike="noStrike" dirty="0">
                        <a:solidFill>
                          <a:srgbClr val="000000"/>
                        </a:solidFill>
                        <a:effectLst/>
                        <a:latin typeface="+mn-lt"/>
                      </a:endParaRPr>
                    </a:p>
                  </a:txBody>
                  <a:tcPr marL="0" marR="0" marT="0" marB="0"/>
                </a:tc>
                <a:extLst>
                  <a:ext uri="{0D108BD9-81ED-4DB2-BD59-A6C34878D82A}">
                    <a16:rowId xmlns:a16="http://schemas.microsoft.com/office/drawing/2014/main" val="184200942"/>
                  </a:ext>
                </a:extLst>
              </a:tr>
              <a:tr h="428748">
                <a:tc>
                  <a:txBody>
                    <a:bodyPr/>
                    <a:lstStyle/>
                    <a:p>
                      <a:pPr marL="91440" algn="l" fontAlgn="t"/>
                      <a:r>
                        <a:rPr lang="en-US" sz="1600" u="none" strike="noStrike" dirty="0">
                          <a:effectLst/>
                          <a:latin typeface="+mn-lt"/>
                        </a:rPr>
                        <a:t>What are the primary reasons adhesive is applied?</a:t>
                      </a:r>
                      <a:endParaRPr lang="en-US" sz="1600" b="0" i="0" u="none" strike="noStrike" dirty="0">
                        <a:effectLst/>
                        <a:latin typeface="+mn-lt"/>
                      </a:endParaRPr>
                    </a:p>
                  </a:txBody>
                  <a:tcPr marL="0" marR="0" marT="0" marB="0"/>
                </a:tc>
                <a:tc>
                  <a:txBody>
                    <a:bodyPr/>
                    <a:lstStyle/>
                    <a:p>
                      <a:pPr marL="91440" algn="l" fontAlgn="t"/>
                      <a:r>
                        <a:rPr lang="en-MY" sz="1600" u="none" strike="noStrike" dirty="0">
                          <a:effectLst/>
                          <a:latin typeface="+mn-lt"/>
                        </a:rPr>
                        <a:t>strengthening</a:t>
                      </a:r>
                      <a:endParaRPr lang="en-MY" sz="1600" b="0" i="0" u="none" strike="noStrike" dirty="0">
                        <a:solidFill>
                          <a:srgbClr val="0000FF"/>
                        </a:solidFill>
                        <a:effectLst/>
                        <a:latin typeface="+mn-lt"/>
                      </a:endParaRPr>
                    </a:p>
                  </a:txBody>
                  <a:tcPr marL="0" marR="0" marT="0" marB="0"/>
                </a:tc>
                <a:tc>
                  <a:txBody>
                    <a:bodyPr/>
                    <a:lstStyle/>
                    <a:p>
                      <a:pPr marL="91440" algn="l" fontAlgn="t"/>
                      <a:r>
                        <a:rPr lang="en-MY" sz="1600" u="none" strike="noStrike" dirty="0">
                          <a:effectLst/>
                          <a:latin typeface="+mn-lt"/>
                        </a:rPr>
                        <a:t>solder crack </a:t>
                      </a:r>
                      <a:endParaRPr lang="en-MY" sz="1600" b="0" i="0" u="none" strike="noStrike" dirty="0">
                        <a:solidFill>
                          <a:srgbClr val="000000"/>
                        </a:solidFill>
                        <a:effectLst/>
                        <a:latin typeface="+mn-lt"/>
                      </a:endParaRPr>
                    </a:p>
                  </a:txBody>
                  <a:tcPr marL="0" marR="0" marT="0" marB="0"/>
                </a:tc>
                <a:tc>
                  <a:txBody>
                    <a:bodyPr/>
                    <a:lstStyle/>
                    <a:p>
                      <a:pPr marL="91440" algn="l" fontAlgn="t"/>
                      <a:r>
                        <a:rPr lang="en-MY" sz="1600" u="none" strike="noStrike" dirty="0">
                          <a:solidFill>
                            <a:srgbClr val="FF0000"/>
                          </a:solidFill>
                          <a:effectLst>
                            <a:outerShdw blurRad="38100" dist="38100" dir="2700000" algn="tl">
                              <a:srgbClr val="000000">
                                <a:alpha val="43137"/>
                              </a:srgbClr>
                            </a:outerShdw>
                          </a:effectLst>
                          <a:latin typeface="+mn-lt"/>
                        </a:rPr>
                        <a:t>N/A?</a:t>
                      </a:r>
                      <a:endParaRPr lang="en-MY" sz="1600" b="0" i="0" u="none" strike="noStrike" dirty="0">
                        <a:solidFill>
                          <a:srgbClr val="FF0000"/>
                        </a:solidFill>
                        <a:effectLst>
                          <a:outerShdw blurRad="38100" dist="38100" dir="2700000" algn="tl">
                            <a:srgbClr val="000000">
                              <a:alpha val="43137"/>
                            </a:srgbClr>
                          </a:outerShdw>
                        </a:effectLst>
                        <a:latin typeface="+mn-lt"/>
                      </a:endParaRPr>
                    </a:p>
                  </a:txBody>
                  <a:tcPr marL="0" marR="0" marT="0" marB="0"/>
                </a:tc>
                <a:tc>
                  <a:txBody>
                    <a:bodyPr/>
                    <a:lstStyle/>
                    <a:p>
                      <a:pPr marL="91440" algn="l" fontAlgn="t"/>
                      <a:r>
                        <a:rPr lang="en-MY" sz="1600" u="none" strike="noStrike" dirty="0">
                          <a:solidFill>
                            <a:srgbClr val="FF0000"/>
                          </a:solidFill>
                          <a:effectLst>
                            <a:outerShdw blurRad="38100" dist="38100" dir="2700000" algn="tl">
                              <a:srgbClr val="000000">
                                <a:alpha val="43137"/>
                              </a:srgbClr>
                            </a:outerShdw>
                          </a:effectLst>
                          <a:latin typeface="+mn-lt"/>
                        </a:rPr>
                        <a:t>N/A?</a:t>
                      </a:r>
                      <a:endParaRPr lang="en-MY" sz="1600" b="0" i="0" u="none" strike="noStrike" dirty="0">
                        <a:solidFill>
                          <a:srgbClr val="FF0000"/>
                        </a:solidFill>
                        <a:effectLst>
                          <a:outerShdw blurRad="38100" dist="38100" dir="2700000" algn="tl">
                            <a:srgbClr val="000000">
                              <a:alpha val="43137"/>
                            </a:srgbClr>
                          </a:outerShdw>
                        </a:effectLst>
                        <a:latin typeface="+mn-lt"/>
                      </a:endParaRPr>
                    </a:p>
                  </a:txBody>
                  <a:tcPr marL="0" marR="0" marT="0" marB="0"/>
                </a:tc>
                <a:extLst>
                  <a:ext uri="{0D108BD9-81ED-4DB2-BD59-A6C34878D82A}">
                    <a16:rowId xmlns:a16="http://schemas.microsoft.com/office/drawing/2014/main" val="988664767"/>
                  </a:ext>
                </a:extLst>
              </a:tr>
              <a:tr h="355966">
                <a:tc>
                  <a:txBody>
                    <a:bodyPr/>
                    <a:lstStyle/>
                    <a:p>
                      <a:pPr marL="91440" algn="l" fontAlgn="t"/>
                      <a:r>
                        <a:rPr lang="en-US" sz="1600" u="none" strike="noStrike" dirty="0">
                          <a:effectLst/>
                          <a:latin typeface="+mn-lt"/>
                        </a:rPr>
                        <a:t>What type of adhesive do you use?</a:t>
                      </a:r>
                      <a:endParaRPr lang="en-US" sz="1600" b="0" i="0" u="none" strike="noStrike" dirty="0">
                        <a:effectLst/>
                        <a:latin typeface="+mn-lt"/>
                      </a:endParaRPr>
                    </a:p>
                  </a:txBody>
                  <a:tcPr marL="0" marR="0" marT="0" marB="0"/>
                </a:tc>
                <a:tc>
                  <a:txBody>
                    <a:bodyPr/>
                    <a:lstStyle/>
                    <a:p>
                      <a:pPr marL="91440" algn="l" fontAlgn="t"/>
                      <a:r>
                        <a:rPr lang="en-MY" sz="1600" u="none" strike="noStrike" dirty="0">
                          <a:effectLst/>
                          <a:latin typeface="+mn-lt"/>
                        </a:rPr>
                        <a:t> Corner glue</a:t>
                      </a:r>
                      <a:endParaRPr lang="en-MY" sz="1600" b="0" i="0" u="none" strike="noStrike" dirty="0">
                        <a:solidFill>
                          <a:srgbClr val="0000FF"/>
                        </a:solidFill>
                        <a:effectLst/>
                        <a:latin typeface="+mn-lt"/>
                      </a:endParaRPr>
                    </a:p>
                  </a:txBody>
                  <a:tcPr marL="0" marR="0" marT="0" marB="0"/>
                </a:tc>
                <a:tc>
                  <a:txBody>
                    <a:bodyPr/>
                    <a:lstStyle/>
                    <a:p>
                      <a:pPr marL="91440" algn="l" fontAlgn="t"/>
                      <a:r>
                        <a:rPr lang="en-MY" sz="1600" u="none" strike="noStrike" dirty="0">
                          <a:solidFill>
                            <a:srgbClr val="FF0000"/>
                          </a:solidFill>
                          <a:effectLst>
                            <a:outerShdw blurRad="38100" dist="38100" dir="2700000" algn="tl">
                              <a:srgbClr val="000000">
                                <a:alpha val="43137"/>
                              </a:srgbClr>
                            </a:outerShdw>
                          </a:effectLst>
                          <a:latin typeface="+mn-lt"/>
                        </a:rPr>
                        <a:t>Under fill ?</a:t>
                      </a:r>
                      <a:endParaRPr lang="en-MY" sz="1600" b="0" i="0" u="none" strike="noStrike" dirty="0">
                        <a:solidFill>
                          <a:srgbClr val="FF0000"/>
                        </a:solidFill>
                        <a:effectLst>
                          <a:outerShdw blurRad="38100" dist="38100" dir="2700000" algn="tl">
                            <a:srgbClr val="000000">
                              <a:alpha val="43137"/>
                            </a:srgbClr>
                          </a:outerShdw>
                        </a:effectLst>
                        <a:latin typeface="+mn-lt"/>
                      </a:endParaRPr>
                    </a:p>
                  </a:txBody>
                  <a:tcPr marL="0" marR="0" marT="0" marB="0"/>
                </a:tc>
                <a:tc>
                  <a:txBody>
                    <a:bodyPr/>
                    <a:lstStyle/>
                    <a:p>
                      <a:pPr marL="91440" algn="l" fontAlgn="t"/>
                      <a:r>
                        <a:rPr lang="en-MY" sz="1600" u="none" strike="noStrike" dirty="0">
                          <a:effectLst/>
                          <a:latin typeface="+mn-lt"/>
                        </a:rPr>
                        <a:t>Corner glue</a:t>
                      </a:r>
                      <a:endParaRPr lang="en-MY" sz="1600" b="0" i="0" u="none" strike="noStrike" dirty="0">
                        <a:solidFill>
                          <a:srgbClr val="000000"/>
                        </a:solidFill>
                        <a:effectLst/>
                        <a:latin typeface="+mn-lt"/>
                      </a:endParaRPr>
                    </a:p>
                  </a:txBody>
                  <a:tcPr marL="0" marR="0" marT="0" marB="0"/>
                </a:tc>
                <a:tc>
                  <a:txBody>
                    <a:bodyPr/>
                    <a:lstStyle/>
                    <a:p>
                      <a:pPr marL="91440" algn="l" fontAlgn="t"/>
                      <a:r>
                        <a:rPr lang="en-MY" sz="1600" u="none" strike="noStrike" dirty="0">
                          <a:solidFill>
                            <a:srgbClr val="FF0000"/>
                          </a:solidFill>
                          <a:effectLst>
                            <a:outerShdw blurRad="38100" dist="38100" dir="2700000" algn="tl">
                              <a:srgbClr val="000000">
                                <a:alpha val="43137"/>
                              </a:srgbClr>
                            </a:outerShdw>
                          </a:effectLst>
                          <a:latin typeface="+mn-lt"/>
                        </a:rPr>
                        <a:t>Corner glue?</a:t>
                      </a:r>
                      <a:endParaRPr lang="en-MY" sz="1600" b="0" i="0" u="none" strike="noStrike" dirty="0">
                        <a:solidFill>
                          <a:srgbClr val="FF0000"/>
                        </a:solidFill>
                        <a:effectLst>
                          <a:outerShdw blurRad="38100" dist="38100" dir="2700000" algn="tl">
                            <a:srgbClr val="000000">
                              <a:alpha val="43137"/>
                            </a:srgbClr>
                          </a:outerShdw>
                        </a:effectLst>
                        <a:latin typeface="+mn-lt"/>
                        <a:ea typeface="新細明體" panose="02020500000000000000" pitchFamily="18" charset="-120"/>
                      </a:endParaRPr>
                    </a:p>
                  </a:txBody>
                  <a:tcPr marL="0" marR="0" marT="0" marB="0"/>
                </a:tc>
                <a:extLst>
                  <a:ext uri="{0D108BD9-81ED-4DB2-BD59-A6C34878D82A}">
                    <a16:rowId xmlns:a16="http://schemas.microsoft.com/office/drawing/2014/main" val="2544975839"/>
                  </a:ext>
                </a:extLst>
              </a:tr>
              <a:tr h="643121">
                <a:tc>
                  <a:txBody>
                    <a:bodyPr/>
                    <a:lstStyle/>
                    <a:p>
                      <a:pPr marL="91440" algn="l" fontAlgn="t"/>
                      <a:r>
                        <a:rPr lang="en-US" sz="1600" u="none" strike="noStrike" dirty="0">
                          <a:effectLst/>
                          <a:latin typeface="+mn-lt"/>
                        </a:rPr>
                        <a:t>Is the adhesive dispensed manually (by operator/hand) or automated (by machine)?</a:t>
                      </a:r>
                      <a:endParaRPr lang="en-US" sz="1600" b="0" i="0" u="none" strike="noStrike" dirty="0">
                        <a:effectLst/>
                        <a:latin typeface="+mn-lt"/>
                      </a:endParaRPr>
                    </a:p>
                  </a:txBody>
                  <a:tcPr marL="0" marR="0" marT="0" marB="0"/>
                </a:tc>
                <a:tc>
                  <a:txBody>
                    <a:bodyPr/>
                    <a:lstStyle/>
                    <a:p>
                      <a:pPr marL="91440" algn="l" fontAlgn="t"/>
                      <a:r>
                        <a:rPr lang="en-MY" sz="1600" u="none" strike="noStrike" dirty="0">
                          <a:effectLst/>
                          <a:latin typeface="+mn-lt"/>
                        </a:rPr>
                        <a:t>Automated</a:t>
                      </a:r>
                      <a:endParaRPr lang="en-MY" sz="1600" b="0" i="0" u="none" strike="noStrike" dirty="0">
                        <a:solidFill>
                          <a:srgbClr val="0000FF"/>
                        </a:solidFill>
                        <a:effectLst/>
                        <a:latin typeface="+mn-lt"/>
                      </a:endParaRPr>
                    </a:p>
                  </a:txBody>
                  <a:tcPr marL="0" marR="0" marT="0" marB="0"/>
                </a:tc>
                <a:tc>
                  <a:txBody>
                    <a:bodyPr/>
                    <a:lstStyle/>
                    <a:p>
                      <a:pPr marL="91440" algn="l" fontAlgn="t"/>
                      <a:r>
                        <a:rPr lang="en-MY" sz="1600" u="none" strike="noStrike" dirty="0">
                          <a:effectLst/>
                          <a:latin typeface="+mn-lt"/>
                        </a:rPr>
                        <a:t>Automated </a:t>
                      </a:r>
                      <a:endParaRPr lang="en-MY" sz="1600" b="0" i="0" u="none" strike="noStrike" dirty="0">
                        <a:solidFill>
                          <a:srgbClr val="000000"/>
                        </a:solidFill>
                        <a:effectLst/>
                        <a:latin typeface="+mn-lt"/>
                      </a:endParaRPr>
                    </a:p>
                  </a:txBody>
                  <a:tcPr marL="0" marR="0" marT="0" marB="0"/>
                </a:tc>
                <a:tc>
                  <a:txBody>
                    <a:bodyPr/>
                    <a:lstStyle/>
                    <a:p>
                      <a:pPr marL="91440" algn="l" fontAlgn="t"/>
                      <a:r>
                        <a:rPr lang="en-MY" sz="1600" u="none" strike="noStrike" dirty="0">
                          <a:effectLst/>
                          <a:latin typeface="+mn-lt"/>
                        </a:rPr>
                        <a:t>Automated &amp; Manual</a:t>
                      </a:r>
                      <a:endParaRPr lang="en-MY" sz="1600" b="0" i="0" u="none" strike="noStrike" dirty="0">
                        <a:solidFill>
                          <a:srgbClr val="000000"/>
                        </a:solidFill>
                        <a:effectLst/>
                        <a:latin typeface="+mn-lt"/>
                      </a:endParaRPr>
                    </a:p>
                  </a:txBody>
                  <a:tcPr marL="0" marR="0" marT="0" marB="0"/>
                </a:tc>
                <a:tc>
                  <a:txBody>
                    <a:bodyPr/>
                    <a:lstStyle/>
                    <a:p>
                      <a:pPr marL="91440" algn="l" fontAlgn="t"/>
                      <a:r>
                        <a:rPr lang="en-US" sz="1600" u="none" strike="noStrike" dirty="0">
                          <a:effectLst/>
                          <a:latin typeface="+mn-lt"/>
                        </a:rPr>
                        <a:t>Automated &amp; Manual. Depends on the production forecast.</a:t>
                      </a:r>
                      <a:endParaRPr lang="en-US" sz="1600" b="0" i="0" u="none" strike="noStrike" dirty="0">
                        <a:solidFill>
                          <a:srgbClr val="000000"/>
                        </a:solidFill>
                        <a:effectLst/>
                        <a:latin typeface="+mn-lt"/>
                      </a:endParaRPr>
                    </a:p>
                  </a:txBody>
                  <a:tcPr marL="0" marR="0" marT="0" marB="0"/>
                </a:tc>
                <a:extLst>
                  <a:ext uri="{0D108BD9-81ED-4DB2-BD59-A6C34878D82A}">
                    <a16:rowId xmlns:a16="http://schemas.microsoft.com/office/drawing/2014/main" val="1760666334"/>
                  </a:ext>
                </a:extLst>
              </a:tr>
              <a:tr h="643121">
                <a:tc>
                  <a:txBody>
                    <a:bodyPr/>
                    <a:lstStyle/>
                    <a:p>
                      <a:pPr marL="91440" algn="l" fontAlgn="t"/>
                      <a:r>
                        <a:rPr lang="en-US" sz="1600" u="none" strike="noStrike" dirty="0">
                          <a:effectLst/>
                          <a:latin typeface="+mn-lt"/>
                        </a:rPr>
                        <a:t>What is the vendor name and model of adhesive material you are using?</a:t>
                      </a:r>
                      <a:endParaRPr lang="en-US" sz="1600" b="0" i="0" u="none" strike="noStrike" dirty="0">
                        <a:effectLst/>
                        <a:latin typeface="+mn-lt"/>
                      </a:endParaRPr>
                    </a:p>
                  </a:txBody>
                  <a:tcPr marL="0" marR="0" marT="0" marB="0"/>
                </a:tc>
                <a:tc>
                  <a:txBody>
                    <a:bodyPr/>
                    <a:lstStyle/>
                    <a:p>
                      <a:pPr marL="91440" algn="l" fontAlgn="t"/>
                      <a:r>
                        <a:rPr lang="en-MY" sz="1600" u="none" strike="noStrike" dirty="0" err="1">
                          <a:effectLst/>
                          <a:latin typeface="+mn-lt"/>
                        </a:rPr>
                        <a:t>Easyseal</a:t>
                      </a:r>
                      <a:r>
                        <a:rPr lang="en-MY" sz="1600" u="none" strike="noStrike" dirty="0">
                          <a:effectLst/>
                          <a:latin typeface="+mn-lt"/>
                        </a:rPr>
                        <a:t> (</a:t>
                      </a:r>
                      <a:r>
                        <a:rPr lang="zh-TW" altLang="en-US" sz="1600" u="none" strike="noStrike" dirty="0">
                          <a:effectLst/>
                          <a:latin typeface="+mn-lt"/>
                        </a:rPr>
                        <a:t>易品</a:t>
                      </a:r>
                      <a:r>
                        <a:rPr lang="en-US" altLang="zh-TW" sz="1600" u="none" strike="noStrike" dirty="0">
                          <a:effectLst/>
                          <a:latin typeface="+mn-lt"/>
                        </a:rPr>
                        <a:t>)</a:t>
                      </a:r>
                    </a:p>
                    <a:p>
                      <a:pPr marL="91440" algn="l" fontAlgn="t"/>
                      <a:r>
                        <a:rPr lang="en-MY" sz="1600" u="none" strike="noStrike" dirty="0">
                          <a:effectLst/>
                          <a:latin typeface="+mn-lt"/>
                        </a:rPr>
                        <a:t>E-8369</a:t>
                      </a:r>
                      <a:endParaRPr lang="en-MY" sz="1600" b="0" i="0" u="none" strike="noStrike" dirty="0">
                        <a:solidFill>
                          <a:srgbClr val="0000FF"/>
                        </a:solidFill>
                        <a:effectLst/>
                        <a:latin typeface="+mn-lt"/>
                      </a:endParaRPr>
                    </a:p>
                  </a:txBody>
                  <a:tcPr marL="0" marR="0" marT="0" marB="0"/>
                </a:tc>
                <a:tc>
                  <a:txBody>
                    <a:bodyPr/>
                    <a:lstStyle/>
                    <a:p>
                      <a:pPr marL="91440" algn="l" fontAlgn="t"/>
                      <a:r>
                        <a:rPr lang="en-MY" sz="1600" u="none" strike="noStrike" dirty="0">
                          <a:solidFill>
                            <a:srgbClr val="FF0000"/>
                          </a:solidFill>
                          <a:effectLst>
                            <a:outerShdw blurRad="38100" dist="38100" dir="2700000" algn="tl">
                              <a:srgbClr val="000000">
                                <a:alpha val="43137"/>
                              </a:srgbClr>
                            </a:outerShdw>
                          </a:effectLst>
                          <a:latin typeface="+mn-lt"/>
                        </a:rPr>
                        <a:t>AXXON</a:t>
                      </a:r>
                      <a:endParaRPr lang="en-MY" sz="1600" b="0" i="0" u="none" strike="noStrike" dirty="0">
                        <a:solidFill>
                          <a:srgbClr val="FF0000"/>
                        </a:solidFill>
                        <a:effectLst>
                          <a:outerShdw blurRad="38100" dist="38100" dir="2700000" algn="tl">
                            <a:srgbClr val="000000">
                              <a:alpha val="43137"/>
                            </a:srgbClr>
                          </a:outerShdw>
                        </a:effectLst>
                        <a:latin typeface="+mn-lt"/>
                      </a:endParaRPr>
                    </a:p>
                  </a:txBody>
                  <a:tcPr marL="0" marR="0" marT="0" marB="0"/>
                </a:tc>
                <a:tc>
                  <a:txBody>
                    <a:bodyPr/>
                    <a:lstStyle/>
                    <a:p>
                      <a:pPr marL="91440" algn="l" fontAlgn="t"/>
                      <a:r>
                        <a:rPr lang="en-MY" sz="1600" u="none" strike="noStrike" dirty="0">
                          <a:solidFill>
                            <a:srgbClr val="FF0000"/>
                          </a:solidFill>
                          <a:effectLst>
                            <a:outerShdw blurRad="38100" dist="38100" dir="2700000" algn="tl">
                              <a:srgbClr val="000000">
                                <a:alpha val="43137"/>
                              </a:srgbClr>
                            </a:outerShdw>
                          </a:effectLst>
                          <a:latin typeface="+mn-lt"/>
                        </a:rPr>
                        <a:t>ME</a:t>
                      </a:r>
                      <a:endParaRPr lang="en-MY" sz="1600" b="0" i="0" u="none" strike="noStrike" dirty="0">
                        <a:solidFill>
                          <a:srgbClr val="FF0000"/>
                        </a:solidFill>
                        <a:effectLst>
                          <a:outerShdw blurRad="38100" dist="38100" dir="2700000" algn="tl">
                            <a:srgbClr val="000000">
                              <a:alpha val="43137"/>
                            </a:srgbClr>
                          </a:outerShdw>
                        </a:effectLst>
                        <a:latin typeface="+mn-lt"/>
                      </a:endParaRPr>
                    </a:p>
                  </a:txBody>
                  <a:tcPr marL="0" marR="0" marT="0" marB="0"/>
                </a:tc>
                <a:tc>
                  <a:txBody>
                    <a:bodyPr/>
                    <a:lstStyle/>
                    <a:p>
                      <a:pPr marL="91440" algn="l" fontAlgn="t"/>
                      <a:r>
                        <a:rPr lang="en-MY" sz="1600" u="none" strike="noStrike" dirty="0">
                          <a:effectLst/>
                          <a:latin typeface="+mn-lt"/>
                        </a:rPr>
                        <a:t>EAST PIVOT(</a:t>
                      </a:r>
                      <a:r>
                        <a:rPr lang="zh-TW" altLang="en-US" sz="1600" u="none" strike="noStrike" dirty="0">
                          <a:effectLst/>
                          <a:latin typeface="+mn-lt"/>
                        </a:rPr>
                        <a:t>易品</a:t>
                      </a:r>
                      <a:r>
                        <a:rPr lang="en-US" altLang="zh-TW" sz="1600" u="none" strike="noStrike" dirty="0">
                          <a:effectLst/>
                          <a:latin typeface="+mn-lt"/>
                        </a:rPr>
                        <a:t>) and </a:t>
                      </a:r>
                      <a:r>
                        <a:rPr lang="en-MY" sz="1600" u="none" strike="noStrike" dirty="0">
                          <a:effectLst/>
                          <a:latin typeface="+mn-lt"/>
                        </a:rPr>
                        <a:t>MODEL:4058-2 Series  </a:t>
                      </a:r>
                      <a:endParaRPr lang="en-MY" sz="1600" b="0" i="0" u="none" strike="noStrike" dirty="0">
                        <a:solidFill>
                          <a:srgbClr val="FF0000"/>
                        </a:solidFill>
                        <a:effectLst/>
                        <a:latin typeface="+mn-lt"/>
                        <a:ea typeface="新細明體" panose="02020500000000000000" pitchFamily="18" charset="-120"/>
                      </a:endParaRPr>
                    </a:p>
                  </a:txBody>
                  <a:tcPr marL="0" marR="0" marT="0" marB="0"/>
                </a:tc>
                <a:extLst>
                  <a:ext uri="{0D108BD9-81ED-4DB2-BD59-A6C34878D82A}">
                    <a16:rowId xmlns:a16="http://schemas.microsoft.com/office/drawing/2014/main" val="1157305833"/>
                  </a:ext>
                </a:extLst>
              </a:tr>
              <a:tr h="309616">
                <a:tc>
                  <a:txBody>
                    <a:bodyPr/>
                    <a:lstStyle/>
                    <a:p>
                      <a:pPr marL="91440" algn="l" fontAlgn="t"/>
                      <a:r>
                        <a:rPr lang="en-MY" sz="1600" u="none" strike="noStrike" dirty="0">
                          <a:effectLst/>
                          <a:latin typeface="+mn-lt"/>
                        </a:rPr>
                        <a:t>Is the adhesive reworkable?</a:t>
                      </a:r>
                      <a:endParaRPr lang="en-MY" sz="1600" b="0" i="0" u="none" strike="noStrike" dirty="0">
                        <a:effectLst/>
                        <a:latin typeface="+mn-lt"/>
                      </a:endParaRPr>
                    </a:p>
                  </a:txBody>
                  <a:tcPr marL="0" marR="0" marT="0" marB="0"/>
                </a:tc>
                <a:tc>
                  <a:txBody>
                    <a:bodyPr/>
                    <a:lstStyle/>
                    <a:p>
                      <a:pPr marL="91440" algn="l" fontAlgn="t"/>
                      <a:r>
                        <a:rPr lang="en-MY" sz="1600" u="none" strike="noStrike" dirty="0">
                          <a:effectLst/>
                          <a:latin typeface="+mn-lt"/>
                        </a:rPr>
                        <a:t>Not answered </a:t>
                      </a:r>
                      <a:endParaRPr lang="en-MY" sz="1600" b="0" i="0" u="none" strike="noStrike" dirty="0">
                        <a:solidFill>
                          <a:srgbClr val="0000FF"/>
                        </a:solidFill>
                        <a:effectLst/>
                        <a:latin typeface="+mn-lt"/>
                      </a:endParaRPr>
                    </a:p>
                  </a:txBody>
                  <a:tcPr marL="0" marR="0" marT="0" marB="0"/>
                </a:tc>
                <a:tc>
                  <a:txBody>
                    <a:bodyPr/>
                    <a:lstStyle/>
                    <a:p>
                      <a:pPr marL="91440" algn="l" fontAlgn="t"/>
                      <a:r>
                        <a:rPr lang="en-MY" sz="1600" u="none" strike="noStrike" dirty="0">
                          <a:effectLst/>
                          <a:latin typeface="+mn-lt"/>
                        </a:rPr>
                        <a:t>Yes</a:t>
                      </a:r>
                      <a:endParaRPr lang="en-MY" sz="1600" b="0" i="0" u="none" strike="noStrike" dirty="0">
                        <a:solidFill>
                          <a:srgbClr val="000000"/>
                        </a:solidFill>
                        <a:effectLst/>
                        <a:latin typeface="+mn-lt"/>
                      </a:endParaRPr>
                    </a:p>
                  </a:txBody>
                  <a:tcPr marL="0" marR="0" marT="0" marB="0"/>
                </a:tc>
                <a:tc>
                  <a:txBody>
                    <a:bodyPr/>
                    <a:lstStyle/>
                    <a:p>
                      <a:pPr marL="91440" algn="l" fontAlgn="t"/>
                      <a:r>
                        <a:rPr lang="en-MY" sz="1600" u="none" strike="noStrike" dirty="0">
                          <a:effectLst/>
                          <a:latin typeface="+mn-lt"/>
                        </a:rPr>
                        <a:t>No</a:t>
                      </a:r>
                      <a:endParaRPr lang="en-MY" sz="1600" b="0" i="0" u="none" strike="noStrike" dirty="0">
                        <a:solidFill>
                          <a:srgbClr val="000000"/>
                        </a:solidFill>
                        <a:effectLst/>
                        <a:latin typeface="+mn-lt"/>
                      </a:endParaRPr>
                    </a:p>
                  </a:txBody>
                  <a:tcPr marL="0" marR="0" marT="0" marB="0"/>
                </a:tc>
                <a:tc>
                  <a:txBody>
                    <a:bodyPr/>
                    <a:lstStyle/>
                    <a:p>
                      <a:pPr marL="91440" algn="l" fontAlgn="t"/>
                      <a:r>
                        <a:rPr lang="en-MY" sz="1600" u="none" strike="noStrike" dirty="0">
                          <a:effectLst/>
                          <a:latin typeface="+mn-lt"/>
                        </a:rPr>
                        <a:t>Yes</a:t>
                      </a:r>
                      <a:endParaRPr lang="en-MY" sz="1600" b="0" i="0" u="none" strike="noStrike" dirty="0">
                        <a:solidFill>
                          <a:srgbClr val="000000"/>
                        </a:solidFill>
                        <a:effectLst/>
                        <a:latin typeface="+mn-lt"/>
                      </a:endParaRPr>
                    </a:p>
                  </a:txBody>
                  <a:tcPr marL="0" marR="0" marT="0" marB="0"/>
                </a:tc>
                <a:extLst>
                  <a:ext uri="{0D108BD9-81ED-4DB2-BD59-A6C34878D82A}">
                    <a16:rowId xmlns:a16="http://schemas.microsoft.com/office/drawing/2014/main" val="894298192"/>
                  </a:ext>
                </a:extLst>
              </a:tr>
              <a:tr h="643121">
                <a:tc>
                  <a:txBody>
                    <a:bodyPr/>
                    <a:lstStyle/>
                    <a:p>
                      <a:pPr marL="91440" algn="l" fontAlgn="t"/>
                      <a:r>
                        <a:rPr lang="en-US" sz="1600" u="none" strike="noStrike" dirty="0">
                          <a:effectLst/>
                          <a:latin typeface="+mn-lt"/>
                        </a:rPr>
                        <a:t>Where in the board manufacturing process is the adhesive applied?</a:t>
                      </a:r>
                      <a:endParaRPr lang="en-US" sz="1600" b="0" i="0" u="none" strike="noStrike" dirty="0">
                        <a:effectLst/>
                        <a:latin typeface="+mn-lt"/>
                      </a:endParaRPr>
                    </a:p>
                  </a:txBody>
                  <a:tcPr marL="0" marR="0" marT="0" marB="0"/>
                </a:tc>
                <a:tc>
                  <a:txBody>
                    <a:bodyPr/>
                    <a:lstStyle/>
                    <a:p>
                      <a:pPr marL="91440" algn="l" fontAlgn="t"/>
                      <a:r>
                        <a:rPr lang="en-US" sz="1600" u="none" strike="noStrike" dirty="0">
                          <a:effectLst/>
                          <a:latin typeface="+mn-lt"/>
                        </a:rPr>
                        <a:t>After SMT/Before Test</a:t>
                      </a:r>
                      <a:endParaRPr lang="en-US" sz="1600" b="0" i="0" u="none" strike="noStrike" dirty="0">
                        <a:solidFill>
                          <a:srgbClr val="0000FF"/>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lang="en-MY" sz="1600" u="none" strike="noStrike" dirty="0">
                          <a:effectLst/>
                          <a:latin typeface="+mn-lt"/>
                        </a:rPr>
                        <a:t> </a:t>
                      </a:r>
                      <a:r>
                        <a:rPr lang="en-US" sz="1600" u="none" strike="noStrike" dirty="0">
                          <a:effectLst/>
                          <a:latin typeface="+mn-lt"/>
                        </a:rPr>
                        <a:t>Before Test</a:t>
                      </a:r>
                      <a:endParaRPr lang="en-MY" sz="1600" b="0" i="0" u="none" strike="noStrike" dirty="0">
                        <a:solidFill>
                          <a:srgbClr val="000000"/>
                        </a:solidFill>
                        <a:effectLst/>
                        <a:latin typeface="+mn-lt"/>
                      </a:endParaRPr>
                    </a:p>
                  </a:txBody>
                  <a:tcPr marL="0" marR="0" marT="0" marB="0"/>
                </a:tc>
                <a:tc>
                  <a:txBody>
                    <a:bodyPr/>
                    <a:lstStyle/>
                    <a:p>
                      <a:pPr marL="91440" algn="l" fontAlgn="t"/>
                      <a:r>
                        <a:rPr lang="en-US" sz="1600" u="none" strike="noStrike" dirty="0">
                          <a:effectLst/>
                          <a:latin typeface="+mn-lt"/>
                        </a:rPr>
                        <a:t>After SMT/Before Test</a:t>
                      </a:r>
                      <a:endParaRPr lang="en-US" sz="1600" b="0" i="0" u="none" strike="noStrike" dirty="0">
                        <a:solidFill>
                          <a:srgbClr val="0000FF"/>
                        </a:solidFill>
                        <a:effectLst/>
                        <a:latin typeface="+mn-lt"/>
                      </a:endParaRPr>
                    </a:p>
                  </a:txBody>
                  <a:tcPr marL="0" marR="0" marT="0" marB="0"/>
                </a:tc>
                <a:tc>
                  <a:txBody>
                    <a:bodyPr/>
                    <a:lstStyle/>
                    <a:p>
                      <a:pPr marL="91440" algn="l" fontAlgn="t"/>
                      <a:r>
                        <a:rPr lang="en-MY" sz="1600" u="none" strike="noStrike" dirty="0">
                          <a:effectLst/>
                          <a:latin typeface="+mn-lt"/>
                        </a:rPr>
                        <a:t>Before DIP (wave)</a:t>
                      </a:r>
                      <a:endParaRPr lang="en-MY" sz="1600" b="0" i="0" u="none" strike="noStrike" dirty="0">
                        <a:solidFill>
                          <a:srgbClr val="000000"/>
                        </a:solidFill>
                        <a:effectLst/>
                        <a:latin typeface="+mn-lt"/>
                      </a:endParaRPr>
                    </a:p>
                  </a:txBody>
                  <a:tcPr marL="0" marR="0" marT="0" marB="0"/>
                </a:tc>
                <a:extLst>
                  <a:ext uri="{0D108BD9-81ED-4DB2-BD59-A6C34878D82A}">
                    <a16:rowId xmlns:a16="http://schemas.microsoft.com/office/drawing/2014/main" val="2879692318"/>
                  </a:ext>
                </a:extLst>
              </a:tr>
            </a:tbl>
          </a:graphicData>
        </a:graphic>
      </p:graphicFrame>
      <p:sp>
        <p:nvSpPr>
          <p:cNvPr id="5" name="Rectangle: Rounded Corners 4">
            <a:extLst>
              <a:ext uri="{FF2B5EF4-FFF2-40B4-BE49-F238E27FC236}">
                <a16:creationId xmlns:a16="http://schemas.microsoft.com/office/drawing/2014/main" id="{3D31701E-3AED-4714-8AB0-1D52A274890D}"/>
              </a:ext>
            </a:extLst>
          </p:cNvPr>
          <p:cNvSpPr/>
          <p:nvPr/>
        </p:nvSpPr>
        <p:spPr>
          <a:xfrm>
            <a:off x="661459" y="5223655"/>
            <a:ext cx="10678583"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Customers are not using adhesives for sockets, but they are using it for BGAs</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It is most common for customers to apply adhesives before Test</a:t>
            </a:r>
          </a:p>
        </p:txBody>
      </p:sp>
      <p:sp>
        <p:nvSpPr>
          <p:cNvPr id="6" name="Action Button: Go Home 5">
            <a:hlinkClick r:id="rId2" action="ppaction://hlinksldjump" highlightClick="1"/>
            <a:extLst>
              <a:ext uri="{FF2B5EF4-FFF2-40B4-BE49-F238E27FC236}">
                <a16:creationId xmlns:a16="http://schemas.microsoft.com/office/drawing/2014/main" id="{49894DB8-A811-4352-AA62-6C68A462B20A}"/>
              </a:ext>
            </a:extLst>
          </p:cNvPr>
          <p:cNvSpPr/>
          <p:nvPr/>
        </p:nvSpPr>
        <p:spPr>
          <a:xfrm>
            <a:off x="11399520" y="162560"/>
            <a:ext cx="487680" cy="451311"/>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5852082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A9707-5156-41F3-9BD6-83853633F13F}"/>
              </a:ext>
            </a:extLst>
          </p:cNvPr>
          <p:cNvSpPr>
            <a:spLocks noGrp="1"/>
          </p:cNvSpPr>
          <p:nvPr>
            <p:ph type="title"/>
          </p:nvPr>
        </p:nvSpPr>
        <p:spPr>
          <a:xfrm>
            <a:off x="611716" y="5397"/>
            <a:ext cx="10972800" cy="544936"/>
          </a:xfrm>
        </p:spPr>
        <p:txBody>
          <a:bodyPr/>
          <a:lstStyle/>
          <a:p>
            <a:r>
              <a:rPr lang="en-US" dirty="0"/>
              <a:t>ILM Cover/Lever/Assembly</a:t>
            </a:r>
            <a:endParaRPr lang="en-MY" dirty="0"/>
          </a:p>
        </p:txBody>
      </p:sp>
      <p:graphicFrame>
        <p:nvGraphicFramePr>
          <p:cNvPr id="4" name="Content Placeholder 3">
            <a:extLst>
              <a:ext uri="{FF2B5EF4-FFF2-40B4-BE49-F238E27FC236}">
                <a16:creationId xmlns:a16="http://schemas.microsoft.com/office/drawing/2014/main" id="{F4C4F9EE-9506-4C4C-B40C-F4271BBF6041}"/>
              </a:ext>
            </a:extLst>
          </p:cNvPr>
          <p:cNvGraphicFramePr>
            <a:graphicFrameLocks noGrp="1"/>
          </p:cNvGraphicFramePr>
          <p:nvPr>
            <p:ph sz="quarter" idx="13"/>
            <p:extLst>
              <p:ext uri="{D42A27DB-BD31-4B8C-83A1-F6EECF244321}">
                <p14:modId xmlns:p14="http://schemas.microsoft.com/office/powerpoint/2010/main" val="1647345285"/>
              </p:ext>
            </p:extLst>
          </p:nvPr>
        </p:nvGraphicFramePr>
        <p:xfrm>
          <a:off x="160868" y="548626"/>
          <a:ext cx="11423648" cy="4612324"/>
        </p:xfrm>
        <a:graphic>
          <a:graphicData uri="http://schemas.openxmlformats.org/drawingml/2006/table">
            <a:tbl>
              <a:tblPr firstRow="1" bandRow="1">
                <a:tableStyleId>{69012ECD-51FC-41F1-AA8D-1B2483CD663E}</a:tableStyleId>
              </a:tblPr>
              <a:tblGrid>
                <a:gridCol w="3656083">
                  <a:extLst>
                    <a:ext uri="{9D8B030D-6E8A-4147-A177-3AD203B41FA5}">
                      <a16:colId xmlns:a16="http://schemas.microsoft.com/office/drawing/2014/main" val="766677285"/>
                    </a:ext>
                  </a:extLst>
                </a:gridCol>
                <a:gridCol w="2160769">
                  <a:extLst>
                    <a:ext uri="{9D8B030D-6E8A-4147-A177-3AD203B41FA5}">
                      <a16:colId xmlns:a16="http://schemas.microsoft.com/office/drawing/2014/main" val="3296549446"/>
                    </a:ext>
                  </a:extLst>
                </a:gridCol>
                <a:gridCol w="1769133">
                  <a:extLst>
                    <a:ext uri="{9D8B030D-6E8A-4147-A177-3AD203B41FA5}">
                      <a16:colId xmlns:a16="http://schemas.microsoft.com/office/drawing/2014/main" val="2579843292"/>
                    </a:ext>
                  </a:extLst>
                </a:gridCol>
                <a:gridCol w="1647689">
                  <a:extLst>
                    <a:ext uri="{9D8B030D-6E8A-4147-A177-3AD203B41FA5}">
                      <a16:colId xmlns:a16="http://schemas.microsoft.com/office/drawing/2014/main" val="3841248342"/>
                    </a:ext>
                  </a:extLst>
                </a:gridCol>
                <a:gridCol w="2189974">
                  <a:extLst>
                    <a:ext uri="{9D8B030D-6E8A-4147-A177-3AD203B41FA5}">
                      <a16:colId xmlns:a16="http://schemas.microsoft.com/office/drawing/2014/main" val="1267162539"/>
                    </a:ext>
                  </a:extLst>
                </a:gridCol>
              </a:tblGrid>
              <a:tr h="257763">
                <a:tc>
                  <a:txBody>
                    <a:bodyPr/>
                    <a:lstStyle/>
                    <a:p>
                      <a:pPr marL="91440" marR="0" lvl="0" indent="0" algn="l" defTabSz="609600" rtl="0" eaLnBrk="1" fontAlgn="ctr" latinLnBrk="0" hangingPunct="1">
                        <a:lnSpc>
                          <a:spcPct val="100000"/>
                        </a:lnSpc>
                        <a:spcBef>
                          <a:spcPts val="0"/>
                        </a:spcBef>
                        <a:spcAft>
                          <a:spcPts val="0"/>
                        </a:spcAft>
                        <a:buClrTx/>
                        <a:buSzTx/>
                        <a:buFontTx/>
                        <a:buNone/>
                        <a:tabLst/>
                        <a:defRPr/>
                      </a:pPr>
                      <a:r>
                        <a:rPr lang="en-MY" sz="1800" u="none" strike="noStrike" dirty="0">
                          <a:effectLst/>
                        </a:rPr>
                        <a:t>Parameter / Capability </a:t>
                      </a:r>
                      <a:endParaRPr lang="en-MY" sz="1800" b="1" i="0" u="none" strike="noStrike" dirty="0">
                        <a:solidFill>
                          <a:srgbClr val="FFFFFF"/>
                        </a:solidFill>
                        <a:effectLst/>
                        <a:latin typeface="+mn-lt"/>
                      </a:endParaRPr>
                    </a:p>
                  </a:txBody>
                  <a:tcPr marL="0" marR="0" marT="0" marB="0"/>
                </a:tc>
                <a:tc>
                  <a:txBody>
                    <a:bodyPr/>
                    <a:lstStyle/>
                    <a:p>
                      <a:pPr marL="91440" algn="l" rtl="0" fontAlgn="ctr"/>
                      <a:r>
                        <a:rPr lang="en-MY" sz="1800" u="none" strike="noStrike" dirty="0">
                          <a:effectLst/>
                        </a:rPr>
                        <a:t>ECS</a:t>
                      </a:r>
                      <a:endParaRPr lang="en-MY" sz="1800" b="1" i="0" u="none" strike="noStrike" dirty="0">
                        <a:solidFill>
                          <a:srgbClr val="FFFFFF"/>
                        </a:solidFill>
                        <a:effectLst/>
                        <a:latin typeface="+mn-lt"/>
                      </a:endParaRPr>
                    </a:p>
                  </a:txBody>
                  <a:tcPr marL="0" marR="0" marT="0" marB="0"/>
                </a:tc>
                <a:tc>
                  <a:txBody>
                    <a:bodyPr/>
                    <a:lstStyle/>
                    <a:p>
                      <a:pPr marL="91440" algn="l" rtl="0" fontAlgn="ctr"/>
                      <a:r>
                        <a:rPr lang="en-MY" sz="1800" u="none" strike="noStrike" dirty="0">
                          <a:effectLst/>
                        </a:rPr>
                        <a:t>LCFC</a:t>
                      </a:r>
                      <a:endParaRPr lang="en-MY" sz="1800" b="1" i="0" u="none" strike="noStrike" dirty="0">
                        <a:solidFill>
                          <a:srgbClr val="FFFFFF"/>
                        </a:solidFill>
                        <a:effectLst/>
                        <a:latin typeface="+mn-lt"/>
                      </a:endParaRPr>
                    </a:p>
                  </a:txBody>
                  <a:tcPr marL="0" marR="0" marT="0" marB="0"/>
                </a:tc>
                <a:tc>
                  <a:txBody>
                    <a:bodyPr/>
                    <a:lstStyle/>
                    <a:p>
                      <a:pPr marL="91440" algn="l" rtl="0" fontAlgn="ctr"/>
                      <a:r>
                        <a:rPr lang="en-MY" sz="1800" u="none" strike="noStrike" dirty="0">
                          <a:effectLst/>
                        </a:rPr>
                        <a:t>FXWH</a:t>
                      </a:r>
                      <a:endParaRPr lang="en-MY" sz="1800" b="1" i="0" u="none" strike="noStrike" dirty="0">
                        <a:solidFill>
                          <a:srgbClr val="FFFFFF"/>
                        </a:solidFill>
                        <a:effectLst/>
                        <a:latin typeface="+mn-lt"/>
                      </a:endParaRPr>
                    </a:p>
                  </a:txBody>
                  <a:tcPr marL="0" marR="0" marT="0" marB="0"/>
                </a:tc>
                <a:tc>
                  <a:txBody>
                    <a:bodyPr/>
                    <a:lstStyle/>
                    <a:p>
                      <a:pPr marL="91440" algn="l" rtl="0" fontAlgn="ctr"/>
                      <a:r>
                        <a:rPr lang="en-MY" sz="1800" u="none" strike="noStrike" dirty="0">
                          <a:effectLst/>
                        </a:rPr>
                        <a:t>LITEON</a:t>
                      </a:r>
                      <a:endParaRPr lang="en-MY" sz="1800" b="1" i="0" u="none" strike="noStrike" dirty="0">
                        <a:solidFill>
                          <a:srgbClr val="FFFFFF"/>
                        </a:solidFill>
                        <a:effectLst/>
                        <a:latin typeface="+mn-lt"/>
                      </a:endParaRPr>
                    </a:p>
                  </a:txBody>
                  <a:tcPr marL="0" marR="0" marT="0" marB="0"/>
                </a:tc>
                <a:extLst>
                  <a:ext uri="{0D108BD9-81ED-4DB2-BD59-A6C34878D82A}">
                    <a16:rowId xmlns:a16="http://schemas.microsoft.com/office/drawing/2014/main" val="3852518198"/>
                  </a:ext>
                </a:extLst>
              </a:tr>
              <a:tr h="400964">
                <a:tc>
                  <a:txBody>
                    <a:bodyPr/>
                    <a:lstStyle/>
                    <a:p>
                      <a:pPr marL="91440" algn="l" fontAlgn="t"/>
                      <a:r>
                        <a:rPr lang="en-US" sz="1400" u="none" strike="noStrike" dirty="0">
                          <a:effectLst/>
                        </a:rPr>
                        <a:t>Do you have any feedback on the Socket V ILM Cover design features or markings?</a:t>
                      </a:r>
                      <a:endParaRPr lang="en-US" sz="1400" b="0" i="0" u="none" strike="noStrike" dirty="0">
                        <a:effectLst/>
                        <a:latin typeface="Arial" panose="020B0604020202020204" pitchFamily="34" charset="0"/>
                      </a:endParaRPr>
                    </a:p>
                  </a:txBody>
                  <a:tcPr marL="0" marR="0" marT="0" marB="0"/>
                </a:tc>
                <a:tc>
                  <a:txBody>
                    <a:bodyPr/>
                    <a:lstStyle/>
                    <a:p>
                      <a:pPr marL="91440" algn="l" fontAlgn="ctr"/>
                      <a:r>
                        <a:rPr lang="en-MY" sz="1400" u="none" strike="noStrike" dirty="0">
                          <a:effectLst/>
                        </a:rPr>
                        <a:t> Yes</a:t>
                      </a:r>
                      <a:r>
                        <a:rPr lang="en-MY" sz="1400" u="none" strike="noStrike" dirty="0">
                          <a:effectLst>
                            <a:outerShdw blurRad="38100" dist="38100" dir="2700000" algn="tl">
                              <a:srgbClr val="000000">
                                <a:alpha val="43137"/>
                              </a:srgbClr>
                            </a:outerShdw>
                          </a:effectLst>
                        </a:rPr>
                        <a:t>. </a:t>
                      </a:r>
                      <a:r>
                        <a:rPr lang="en-MY" sz="1400" u="none" strike="noStrike" dirty="0">
                          <a:solidFill>
                            <a:srgbClr val="FF0000"/>
                          </a:solidFill>
                          <a:effectLst>
                            <a:outerShdw blurRad="38100" dist="38100" dir="2700000" algn="tl">
                              <a:srgbClr val="000000">
                                <a:alpha val="43137"/>
                              </a:srgbClr>
                            </a:outerShdw>
                          </a:effectLst>
                        </a:rPr>
                        <a:t>Logo?</a:t>
                      </a:r>
                      <a:endParaRPr lang="en-MY" sz="1400" b="0" i="0" u="none" strike="noStrike" dirty="0">
                        <a:solidFill>
                          <a:srgbClr val="FF0000"/>
                        </a:solidFill>
                        <a:effectLst>
                          <a:outerShdw blurRad="38100" dist="38100" dir="2700000" algn="tl">
                            <a:srgbClr val="000000">
                              <a:alpha val="43137"/>
                            </a:srgbClr>
                          </a:outerShdw>
                        </a:effectLst>
                        <a:latin typeface="Arial" panose="020B0604020202020204" pitchFamily="34" charset="0"/>
                      </a:endParaRPr>
                    </a:p>
                  </a:txBody>
                  <a:tcPr marL="0" marR="0" marT="0" marB="0"/>
                </a:tc>
                <a:tc>
                  <a:txBody>
                    <a:bodyPr/>
                    <a:lstStyle/>
                    <a:p>
                      <a:pPr marL="91440" algn="l" fontAlgn="t"/>
                      <a:r>
                        <a:rPr lang="en-MY" sz="1400" u="none" strike="noStrike" dirty="0">
                          <a:effectLst/>
                        </a:rPr>
                        <a:t>No</a:t>
                      </a:r>
                      <a:endParaRPr lang="en-MY" sz="1400" b="0" i="0" u="none" strike="noStrike" dirty="0">
                        <a:solidFill>
                          <a:srgbClr val="000000"/>
                        </a:solidFill>
                        <a:effectLst/>
                        <a:latin typeface="Arial" panose="020B0604020202020204" pitchFamily="34" charset="0"/>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dirty="0">
                          <a:ln>
                            <a:noFill/>
                          </a:ln>
                          <a:solidFill>
                            <a:srgbClr val="000000"/>
                          </a:solidFill>
                          <a:effectLst/>
                          <a:uLnTx/>
                          <a:uFillTx/>
                          <a:latin typeface="Arial" panose="020B0604020202020204" pitchFamily="34" charset="0"/>
                          <a:sym typeface="Intel Clear"/>
                        </a:rPr>
                        <a:t>not answered</a:t>
                      </a:r>
                    </a:p>
                  </a:txBody>
                  <a:tcPr marL="0" marR="0" marT="0" marB="0"/>
                </a:tc>
                <a:tc>
                  <a:txBody>
                    <a:bodyPr/>
                    <a:lstStyle/>
                    <a:p>
                      <a:pPr marL="91440" algn="l" fontAlgn="t"/>
                      <a:r>
                        <a:rPr kumimoji="0" lang="en-MY" sz="1400" b="0" i="0" u="none" strike="noStrike" kern="0" cap="none" spc="0" normalizeH="0" baseline="0" noProof="0" dirty="0">
                          <a:ln>
                            <a:noFill/>
                          </a:ln>
                          <a:solidFill>
                            <a:srgbClr val="000000"/>
                          </a:solidFill>
                          <a:effectLst/>
                          <a:uLnTx/>
                          <a:uFillTx/>
                          <a:latin typeface="Arial" panose="020B0604020202020204" pitchFamily="34" charset="0"/>
                          <a:sym typeface="Intel Clear"/>
                        </a:rPr>
                        <a:t>not answered</a:t>
                      </a:r>
                      <a:endParaRPr lang="en-MY" sz="1400" b="0" i="0" u="none" strike="noStrike" dirty="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4178550123"/>
                  </a:ext>
                </a:extLst>
              </a:tr>
              <a:tr h="601446">
                <a:tc>
                  <a:txBody>
                    <a:bodyPr/>
                    <a:lstStyle/>
                    <a:p>
                      <a:pPr marL="91440" algn="l" fontAlgn="t"/>
                      <a:r>
                        <a:rPr lang="en-US" sz="1400" u="none" strike="noStrike">
                          <a:effectLst/>
                        </a:rPr>
                        <a:t>What is your ergo spec (maximum limit) for install or remove ILM Cover (all 4 snap features) by manual operator?</a:t>
                      </a:r>
                      <a:endParaRPr lang="en-US" sz="1400" b="0" i="0" u="none" strike="noStrike">
                        <a:solidFill>
                          <a:srgbClr val="000000"/>
                        </a:solidFill>
                        <a:effectLst/>
                        <a:latin typeface="Arial" panose="020B0604020202020204" pitchFamily="34" charset="0"/>
                      </a:endParaRPr>
                    </a:p>
                  </a:txBody>
                  <a:tcPr marL="0" marR="0" marT="0" marB="0"/>
                </a:tc>
                <a:tc>
                  <a:txBody>
                    <a:bodyPr/>
                    <a:lstStyle/>
                    <a:p>
                      <a:pPr marL="91440" algn="l" fontAlgn="ctr"/>
                      <a:r>
                        <a:rPr lang="en-MY" sz="1400" u="none" strike="noStrike" dirty="0">
                          <a:effectLst/>
                        </a:rPr>
                        <a:t>by manual operator</a:t>
                      </a:r>
                      <a:endParaRPr lang="en-MY" sz="1400" b="0" i="0" u="none" strike="noStrike" dirty="0">
                        <a:solidFill>
                          <a:srgbClr val="0000FF"/>
                        </a:solidFill>
                        <a:effectLst/>
                        <a:latin typeface="Arial" panose="020B0604020202020204" pitchFamily="34" charset="0"/>
                      </a:endParaRPr>
                    </a:p>
                  </a:txBody>
                  <a:tcPr marL="0" marR="0" marT="0" marB="0"/>
                </a:tc>
                <a:tc>
                  <a:txBody>
                    <a:bodyPr/>
                    <a:lstStyle/>
                    <a:p>
                      <a:pPr marL="91440" algn="l" fontAlgn="t"/>
                      <a:r>
                        <a:rPr lang="en-MY" sz="1400" u="none" strike="noStrike" dirty="0">
                          <a:effectLst/>
                        </a:rPr>
                        <a:t> not answered</a:t>
                      </a:r>
                      <a:endParaRPr lang="en-MY" sz="1400" b="0" i="0" u="none" strike="noStrike" dirty="0">
                        <a:solidFill>
                          <a:srgbClr val="000000"/>
                        </a:solidFill>
                        <a:effectLst/>
                        <a:latin typeface="Arial" panose="020B0604020202020204" pitchFamily="34" charset="0"/>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dirty="0">
                          <a:ln>
                            <a:noFill/>
                          </a:ln>
                          <a:solidFill>
                            <a:srgbClr val="000000"/>
                          </a:solidFill>
                          <a:effectLst/>
                          <a:uLnTx/>
                          <a:uFillTx/>
                          <a:latin typeface="Arial" panose="020B0604020202020204" pitchFamily="34" charset="0"/>
                          <a:sym typeface="Intel Clear"/>
                        </a:rPr>
                        <a:t>not answered</a:t>
                      </a:r>
                    </a:p>
                  </a:txBody>
                  <a:tcPr marL="0" marR="0" marT="0" marB="0"/>
                </a:tc>
                <a:tc>
                  <a:txBody>
                    <a:bodyPr/>
                    <a:lstStyle/>
                    <a:p>
                      <a:pPr marL="91440" algn="l" fontAlgn="t"/>
                      <a:r>
                        <a:rPr lang="en-MY" sz="1400" u="none" strike="noStrike" dirty="0">
                          <a:solidFill>
                            <a:srgbClr val="FF0000"/>
                          </a:solidFill>
                          <a:effectLst>
                            <a:outerShdw blurRad="38100" dist="38100" dir="2700000" algn="tl">
                              <a:srgbClr val="000000">
                                <a:alpha val="43137"/>
                              </a:srgbClr>
                            </a:outerShdw>
                          </a:effectLst>
                        </a:rPr>
                        <a:t>Torque 5KG via electrical screw driver</a:t>
                      </a:r>
                      <a:endParaRPr lang="en-MY" sz="1400" b="0" i="0" u="none" strike="noStrike" dirty="0">
                        <a:solidFill>
                          <a:srgbClr val="FF0000"/>
                        </a:solidFill>
                        <a:effectLst>
                          <a:outerShdw blurRad="38100" dist="38100" dir="2700000" algn="tl">
                            <a:srgbClr val="000000">
                              <a:alpha val="43137"/>
                            </a:srgbClr>
                          </a:outerShdw>
                        </a:effectLst>
                        <a:latin typeface="Arial" panose="020B0604020202020204" pitchFamily="34" charset="0"/>
                      </a:endParaRPr>
                    </a:p>
                  </a:txBody>
                  <a:tcPr marL="0" marR="0" marT="0" marB="0"/>
                </a:tc>
                <a:extLst>
                  <a:ext uri="{0D108BD9-81ED-4DB2-BD59-A6C34878D82A}">
                    <a16:rowId xmlns:a16="http://schemas.microsoft.com/office/drawing/2014/main" val="184200942"/>
                  </a:ext>
                </a:extLst>
              </a:tr>
              <a:tr h="400964">
                <a:tc>
                  <a:txBody>
                    <a:bodyPr/>
                    <a:lstStyle/>
                    <a:p>
                      <a:pPr marL="91440" algn="l" fontAlgn="t"/>
                      <a:r>
                        <a:rPr lang="en-US" sz="1400" u="none" strike="noStrike">
                          <a:effectLst/>
                        </a:rPr>
                        <a:t>Do you prefer the ILM Covers to be recyclable (per ISO 11469)?</a:t>
                      </a:r>
                      <a:endParaRPr lang="en-US" sz="1400" b="0" i="0" u="none" strike="noStrike">
                        <a:solidFill>
                          <a:srgbClr val="000000"/>
                        </a:solidFill>
                        <a:effectLst/>
                        <a:latin typeface="Arial" panose="020B0604020202020204" pitchFamily="34" charset="0"/>
                      </a:endParaRPr>
                    </a:p>
                  </a:txBody>
                  <a:tcPr marL="0" marR="0" marT="0" marB="0"/>
                </a:tc>
                <a:tc>
                  <a:txBody>
                    <a:bodyPr/>
                    <a:lstStyle/>
                    <a:p>
                      <a:pPr marL="91440" algn="l" fontAlgn="ctr"/>
                      <a:r>
                        <a:rPr lang="en-MY" sz="1400" u="none" strike="noStrike" dirty="0">
                          <a:effectLst/>
                        </a:rPr>
                        <a:t> No</a:t>
                      </a:r>
                      <a:endParaRPr lang="en-MY" sz="1400" b="0" i="0" u="none" strike="noStrike" dirty="0">
                        <a:solidFill>
                          <a:srgbClr val="0000FF"/>
                        </a:solidFill>
                        <a:effectLst/>
                        <a:latin typeface="Arial" panose="020B0604020202020204" pitchFamily="34" charset="0"/>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u="none" strike="noStrike" kern="0" cap="none" spc="0" normalizeH="0" baseline="0" noProof="0">
                          <a:ln>
                            <a:noFill/>
                          </a:ln>
                          <a:effectLst/>
                          <a:uLnTx/>
                          <a:uFillTx/>
                          <a:sym typeface="Intel Clear"/>
                        </a:rPr>
                        <a:t> not answered</a:t>
                      </a:r>
                      <a:endParaRPr kumimoji="0" lang="en-MY" sz="1400" b="0" i="0" u="none" strike="noStrike" kern="0" cap="none" spc="0" normalizeH="0" baseline="0" noProof="0" dirty="0">
                        <a:ln>
                          <a:noFill/>
                        </a:ln>
                        <a:solidFill>
                          <a:srgbClr val="000000"/>
                        </a:solidFill>
                        <a:effectLst/>
                        <a:uLnTx/>
                        <a:uFillTx/>
                        <a:latin typeface="Arial" panose="020B0604020202020204" pitchFamily="34" charset="0"/>
                        <a:sym typeface="Intel Clear"/>
                      </a:endParaRPr>
                    </a:p>
                  </a:txBody>
                  <a:tcPr marL="0" marR="0" marT="0" marB="0"/>
                </a:tc>
                <a:tc>
                  <a:txBody>
                    <a:bodyPr/>
                    <a:lstStyle/>
                    <a:p>
                      <a:pPr marL="91440" algn="l" fontAlgn="t"/>
                      <a:r>
                        <a:rPr lang="en-MY" sz="1400" u="none" strike="noStrike" dirty="0">
                          <a:effectLst/>
                        </a:rPr>
                        <a:t>Yes</a:t>
                      </a:r>
                      <a:endParaRPr lang="en-MY" sz="1400" b="1" i="0" u="none" strike="noStrike" dirty="0">
                        <a:solidFill>
                          <a:srgbClr val="000000"/>
                        </a:solidFill>
                        <a:effectLst/>
                        <a:latin typeface="Arial" panose="020B0604020202020204" pitchFamily="34" charset="0"/>
                      </a:endParaRPr>
                    </a:p>
                  </a:txBody>
                  <a:tcPr marL="0" marR="0" marT="0" marB="0"/>
                </a:tc>
                <a:tc>
                  <a:txBody>
                    <a:bodyPr/>
                    <a:lstStyle/>
                    <a:p>
                      <a:pPr marL="91440" algn="l" fontAlgn="t"/>
                      <a:r>
                        <a:rPr lang="en-MY" sz="1400" u="none" strike="noStrike" dirty="0">
                          <a:effectLst/>
                        </a:rPr>
                        <a:t>No preference</a:t>
                      </a:r>
                      <a:endParaRPr lang="en-MY" sz="1400" b="0" i="0" u="none" strike="noStrike" dirty="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988664767"/>
                  </a:ext>
                </a:extLst>
              </a:tr>
              <a:tr h="650060">
                <a:tc>
                  <a:txBody>
                    <a:bodyPr/>
                    <a:lstStyle/>
                    <a:p>
                      <a:pPr marL="91440" algn="l" fontAlgn="t"/>
                      <a:r>
                        <a:rPr lang="en-US" sz="1400" u="none" strike="noStrike" dirty="0">
                          <a:effectLst/>
                        </a:rPr>
                        <a:t>Should the ILM Cover "pop off" (disengage) when an Intel CPU is placed inside the socket and the ILM cover is closed?</a:t>
                      </a:r>
                      <a:endParaRPr lang="en-US" sz="1400" b="0" i="0" u="none" strike="noStrike" dirty="0">
                        <a:solidFill>
                          <a:srgbClr val="000000"/>
                        </a:solidFill>
                        <a:effectLst/>
                        <a:latin typeface="Arial" panose="020B0604020202020204" pitchFamily="34" charset="0"/>
                      </a:endParaRPr>
                    </a:p>
                  </a:txBody>
                  <a:tcPr marL="0" marR="0" marT="0" marB="0"/>
                </a:tc>
                <a:tc>
                  <a:txBody>
                    <a:bodyPr/>
                    <a:lstStyle/>
                    <a:p>
                      <a:pPr marL="91440" algn="l" fontAlgn="ctr"/>
                      <a:r>
                        <a:rPr lang="en-MY" sz="1400" u="none" strike="noStrike" dirty="0">
                          <a:effectLst/>
                        </a:rPr>
                        <a:t> Yes</a:t>
                      </a:r>
                      <a:endParaRPr lang="en-MY" sz="1400" b="0" i="0" u="none" strike="noStrike" dirty="0">
                        <a:solidFill>
                          <a:srgbClr val="0000FF"/>
                        </a:solidFill>
                        <a:effectLst/>
                        <a:latin typeface="Arial" panose="020B0604020202020204" pitchFamily="34" charset="0"/>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u="none" strike="noStrike" kern="0" cap="none" spc="0" normalizeH="0" baseline="0" noProof="0">
                          <a:ln>
                            <a:noFill/>
                          </a:ln>
                          <a:effectLst/>
                          <a:uLnTx/>
                          <a:uFillTx/>
                          <a:sym typeface="Intel Clear"/>
                        </a:rPr>
                        <a:t> not answered</a:t>
                      </a:r>
                      <a:endParaRPr kumimoji="0" lang="en-MY" sz="1400" b="0" i="0" u="none" strike="noStrike" kern="0" cap="none" spc="0" normalizeH="0" baseline="0" noProof="0" dirty="0">
                        <a:ln>
                          <a:noFill/>
                        </a:ln>
                        <a:solidFill>
                          <a:srgbClr val="000000"/>
                        </a:solidFill>
                        <a:effectLst/>
                        <a:uLnTx/>
                        <a:uFillTx/>
                        <a:latin typeface="Arial" panose="020B0604020202020204" pitchFamily="34" charset="0"/>
                        <a:sym typeface="Intel Clear"/>
                      </a:endParaRPr>
                    </a:p>
                  </a:txBody>
                  <a:tcPr marL="0" marR="0" marT="0" marB="0"/>
                </a:tc>
                <a:tc>
                  <a:txBody>
                    <a:bodyPr/>
                    <a:lstStyle/>
                    <a:p>
                      <a:pPr marL="91440" algn="l" fontAlgn="ctr"/>
                      <a:r>
                        <a:rPr lang="en-MY" sz="1400" u="none" strike="noStrike" dirty="0">
                          <a:effectLst/>
                        </a:rPr>
                        <a:t>Yes</a:t>
                      </a:r>
                      <a:endParaRPr lang="en-MY" sz="1400" b="0" i="0" u="none" strike="noStrike" dirty="0">
                        <a:solidFill>
                          <a:srgbClr val="0000FF"/>
                        </a:solidFill>
                        <a:effectLst/>
                        <a:latin typeface="Arial" panose="020B0604020202020204" pitchFamily="34" charset="0"/>
                      </a:endParaRPr>
                    </a:p>
                  </a:txBody>
                  <a:tcPr marL="0" marR="0" marT="0" marB="0"/>
                </a:tc>
                <a:tc>
                  <a:txBody>
                    <a:bodyPr/>
                    <a:lstStyle/>
                    <a:p>
                      <a:pPr marL="91440" algn="l" fontAlgn="ctr"/>
                      <a:r>
                        <a:rPr lang="en-MY" sz="1400" u="none" strike="noStrike" dirty="0">
                          <a:effectLst/>
                        </a:rPr>
                        <a:t> Yes</a:t>
                      </a:r>
                      <a:endParaRPr lang="en-MY" sz="1400" b="0" i="0" u="none" strike="noStrike" dirty="0">
                        <a:solidFill>
                          <a:srgbClr val="0000FF"/>
                        </a:solidFill>
                        <a:effectLst/>
                        <a:latin typeface="Arial" panose="020B0604020202020204" pitchFamily="34" charset="0"/>
                      </a:endParaRPr>
                    </a:p>
                  </a:txBody>
                  <a:tcPr marL="0" marR="0" marT="0" marB="0"/>
                </a:tc>
                <a:extLst>
                  <a:ext uri="{0D108BD9-81ED-4DB2-BD59-A6C34878D82A}">
                    <a16:rowId xmlns:a16="http://schemas.microsoft.com/office/drawing/2014/main" val="2544975839"/>
                  </a:ext>
                </a:extLst>
              </a:tr>
              <a:tr h="411208">
                <a:tc>
                  <a:txBody>
                    <a:bodyPr/>
                    <a:lstStyle/>
                    <a:p>
                      <a:pPr marL="91440" algn="l" fontAlgn="t"/>
                      <a:r>
                        <a:rPr lang="en-US" sz="1400" u="none" strike="noStrike">
                          <a:effectLst/>
                        </a:rPr>
                        <a:t>Did you see any ESD failures related to Socket H ILM Cover?</a:t>
                      </a:r>
                      <a:endParaRPr lang="en-US" sz="1400" b="0" i="0" u="none" strike="noStrike">
                        <a:solidFill>
                          <a:srgbClr val="000000"/>
                        </a:solidFill>
                        <a:effectLst/>
                        <a:latin typeface="Arial" panose="020B0604020202020204" pitchFamily="34" charset="0"/>
                      </a:endParaRPr>
                    </a:p>
                  </a:txBody>
                  <a:tcPr marL="0" marR="0" marT="0" marB="0"/>
                </a:tc>
                <a:tc>
                  <a:txBody>
                    <a:bodyPr/>
                    <a:lstStyle/>
                    <a:p>
                      <a:pPr marL="91440" algn="l" fontAlgn="ctr"/>
                      <a:r>
                        <a:rPr lang="en-MY" sz="1400" u="none" strike="noStrike" dirty="0">
                          <a:effectLst/>
                        </a:rPr>
                        <a:t> No</a:t>
                      </a:r>
                      <a:endParaRPr lang="en-MY" sz="1400" b="0" i="0" u="none" strike="noStrike" dirty="0">
                        <a:solidFill>
                          <a:srgbClr val="0000FF"/>
                        </a:solidFill>
                        <a:effectLst/>
                        <a:latin typeface="Arial" panose="020B0604020202020204" pitchFamily="34" charset="0"/>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u="none" strike="noStrike" kern="0" cap="none" spc="0" normalizeH="0" baseline="0" noProof="0">
                          <a:ln>
                            <a:noFill/>
                          </a:ln>
                          <a:effectLst/>
                          <a:uLnTx/>
                          <a:uFillTx/>
                          <a:sym typeface="Intel Clear"/>
                        </a:rPr>
                        <a:t> not answered</a:t>
                      </a:r>
                      <a:endParaRPr kumimoji="0" lang="en-MY" sz="1400" b="0" i="0" u="none" strike="noStrike" kern="0" cap="none" spc="0" normalizeH="0" baseline="0" noProof="0" dirty="0">
                        <a:ln>
                          <a:noFill/>
                        </a:ln>
                        <a:solidFill>
                          <a:srgbClr val="000000"/>
                        </a:solidFill>
                        <a:effectLst/>
                        <a:uLnTx/>
                        <a:uFillTx/>
                        <a:latin typeface="Arial" panose="020B0604020202020204" pitchFamily="34" charset="0"/>
                        <a:sym typeface="Intel Clear"/>
                      </a:endParaRPr>
                    </a:p>
                  </a:txBody>
                  <a:tcPr marL="0" marR="0" marT="0" marB="0"/>
                </a:tc>
                <a:tc>
                  <a:txBody>
                    <a:bodyPr/>
                    <a:lstStyle/>
                    <a:p>
                      <a:pPr marL="91440" algn="l" fontAlgn="ctr"/>
                      <a:r>
                        <a:rPr lang="en-MY" sz="1400" u="none" strike="noStrike" dirty="0">
                          <a:effectLst/>
                        </a:rPr>
                        <a:t> No</a:t>
                      </a:r>
                      <a:endParaRPr lang="en-MY" sz="1400" b="0" i="0" u="none" strike="noStrike" dirty="0">
                        <a:solidFill>
                          <a:srgbClr val="0000FF"/>
                        </a:solidFill>
                        <a:effectLst/>
                        <a:latin typeface="Arial" panose="020B0604020202020204" pitchFamily="34" charset="0"/>
                      </a:endParaRPr>
                    </a:p>
                  </a:txBody>
                  <a:tcPr marL="0" marR="0" marT="0" marB="0"/>
                </a:tc>
                <a:tc>
                  <a:txBody>
                    <a:bodyPr/>
                    <a:lstStyle/>
                    <a:p>
                      <a:pPr marL="91440" algn="l" fontAlgn="ctr"/>
                      <a:r>
                        <a:rPr lang="en-MY" sz="1400" u="none" strike="noStrike" dirty="0">
                          <a:effectLst/>
                        </a:rPr>
                        <a:t> No</a:t>
                      </a:r>
                      <a:endParaRPr lang="en-MY" sz="1400" b="0" i="0" u="none" strike="noStrike" dirty="0">
                        <a:solidFill>
                          <a:srgbClr val="0000FF"/>
                        </a:solidFill>
                        <a:effectLst/>
                        <a:latin typeface="Arial" panose="020B0604020202020204" pitchFamily="34" charset="0"/>
                      </a:endParaRPr>
                    </a:p>
                  </a:txBody>
                  <a:tcPr marL="0" marR="0" marT="0" marB="0"/>
                </a:tc>
                <a:extLst>
                  <a:ext uri="{0D108BD9-81ED-4DB2-BD59-A6C34878D82A}">
                    <a16:rowId xmlns:a16="http://schemas.microsoft.com/office/drawing/2014/main" val="1760666334"/>
                  </a:ext>
                </a:extLst>
              </a:tr>
              <a:tr h="601446">
                <a:tc>
                  <a:txBody>
                    <a:bodyPr/>
                    <a:lstStyle/>
                    <a:p>
                      <a:pPr marL="91440" algn="l" fontAlgn="t"/>
                      <a:r>
                        <a:rPr lang="en-US" sz="1400" u="none" strike="noStrike" dirty="0">
                          <a:effectLst/>
                        </a:rPr>
                        <a:t>Do you use a fixture for the assembly of the ILM components? If yes, what kind of fixture?</a:t>
                      </a:r>
                      <a:endParaRPr lang="en-US" sz="1400" b="0" i="0" u="none" strike="noStrike" dirty="0">
                        <a:solidFill>
                          <a:srgbClr val="000000"/>
                        </a:solidFill>
                        <a:effectLst/>
                        <a:latin typeface="Arial" panose="020B0604020202020204" pitchFamily="34" charset="0"/>
                      </a:endParaRPr>
                    </a:p>
                  </a:txBody>
                  <a:tcPr marL="0" marR="0" marT="0" marB="0"/>
                </a:tc>
                <a:tc>
                  <a:txBody>
                    <a:bodyPr/>
                    <a:lstStyle/>
                    <a:p>
                      <a:pPr marL="91440" algn="l" fontAlgn="b"/>
                      <a:r>
                        <a:rPr lang="en-MY" sz="1400" u="none" strike="noStrike" dirty="0">
                          <a:effectLst/>
                        </a:rPr>
                        <a:t> Yes, fixture</a:t>
                      </a:r>
                      <a:endParaRPr lang="en-MY" sz="1400" b="0" i="0" u="none" strike="noStrike" dirty="0">
                        <a:effectLst/>
                        <a:latin typeface="Arial" panose="020B0604020202020204" pitchFamily="34" charset="0"/>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u="none" strike="noStrike" kern="0" cap="none" spc="0" normalizeH="0" baseline="0" noProof="0">
                          <a:ln>
                            <a:noFill/>
                          </a:ln>
                          <a:effectLst/>
                          <a:uLnTx/>
                          <a:uFillTx/>
                          <a:sym typeface="Intel Clear"/>
                        </a:rPr>
                        <a:t> not answered</a:t>
                      </a:r>
                      <a:endParaRPr kumimoji="0" lang="en-MY" sz="1400" b="0" i="0" u="none" strike="noStrike" kern="0" cap="none" spc="0" normalizeH="0" baseline="0" noProof="0" dirty="0">
                        <a:ln>
                          <a:noFill/>
                        </a:ln>
                        <a:solidFill>
                          <a:srgbClr val="000000"/>
                        </a:solidFill>
                        <a:effectLst/>
                        <a:uLnTx/>
                        <a:uFillTx/>
                        <a:latin typeface="Arial" panose="020B0604020202020204" pitchFamily="34" charset="0"/>
                        <a:sym typeface="Intel Clear"/>
                      </a:endParaRPr>
                    </a:p>
                  </a:txBody>
                  <a:tcPr marL="0" marR="0" marT="0" marB="0"/>
                </a:tc>
                <a:tc>
                  <a:txBody>
                    <a:bodyPr/>
                    <a:lstStyle/>
                    <a:p>
                      <a:pPr marL="91440" marR="0" lvl="0" indent="0" algn="l" defTabSz="609600" eaLnBrk="1" fontAlgn="ctr" latinLnBrk="0" hangingPunct="1">
                        <a:lnSpc>
                          <a:spcPct val="100000"/>
                        </a:lnSpc>
                        <a:spcBef>
                          <a:spcPts val="0"/>
                        </a:spcBef>
                        <a:spcAft>
                          <a:spcPts val="0"/>
                        </a:spcAft>
                        <a:buClrTx/>
                        <a:buSzTx/>
                        <a:buFontTx/>
                        <a:buNone/>
                        <a:tabLst/>
                        <a:defRPr/>
                      </a:pPr>
                      <a:r>
                        <a:rPr kumimoji="0" lang="en-MY" sz="1400" u="none" strike="noStrike" kern="0" cap="none" spc="0" normalizeH="0" baseline="0" noProof="0" dirty="0">
                          <a:ln>
                            <a:noFill/>
                          </a:ln>
                          <a:effectLst/>
                          <a:uLnTx/>
                          <a:uFillTx/>
                          <a:sym typeface="Intel Clear"/>
                        </a:rPr>
                        <a:t> No </a:t>
                      </a:r>
                      <a:r>
                        <a:rPr kumimoji="0" lang="en-MY" sz="1400" u="none" strike="noStrike" kern="0" cap="none" spc="0" normalizeH="0" baseline="0" noProof="0" dirty="0">
                          <a:ln>
                            <a:noFill/>
                          </a:ln>
                          <a:solidFill>
                            <a:srgbClr val="FF0000"/>
                          </a:solidFill>
                          <a:effectLst>
                            <a:outerShdw blurRad="38100" dist="38100" dir="2700000" algn="tl">
                              <a:srgbClr val="000000">
                                <a:alpha val="43137"/>
                              </a:srgbClr>
                            </a:outerShdw>
                          </a:effectLst>
                          <a:uLnTx/>
                          <a:uFillTx/>
                          <a:sym typeface="Intel Clear"/>
                        </a:rPr>
                        <a:t>(why no?)</a:t>
                      </a:r>
                      <a:endParaRPr kumimoji="0" lang="en-MY" sz="1400" b="0" i="0" u="none" strike="noStrike" kern="0" cap="none" spc="0" normalizeH="0" baseline="0" noProof="0" dirty="0">
                        <a:ln>
                          <a:noFill/>
                        </a:ln>
                        <a:solidFill>
                          <a:srgbClr val="FF0000"/>
                        </a:solidFill>
                        <a:effectLst>
                          <a:outerShdw blurRad="38100" dist="38100" dir="2700000" algn="tl">
                            <a:srgbClr val="000000">
                              <a:alpha val="43137"/>
                            </a:srgbClr>
                          </a:outerShdw>
                        </a:effectLst>
                        <a:uLnTx/>
                        <a:uFillTx/>
                        <a:latin typeface="Arial" panose="020B0604020202020204" pitchFamily="34" charset="0"/>
                        <a:sym typeface="Intel Clear"/>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lang="en-MY" sz="1400" u="none" strike="noStrike" dirty="0">
                          <a:effectLst/>
                        </a:rPr>
                        <a:t> Yes, fixture </a:t>
                      </a:r>
                      <a:endParaRPr lang="en-MY" sz="1400" b="0" i="0" u="none" strike="noStrike" dirty="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894298192"/>
                  </a:ext>
                </a:extLst>
              </a:tr>
              <a:tr h="601446">
                <a:tc>
                  <a:txBody>
                    <a:bodyPr/>
                    <a:lstStyle/>
                    <a:p>
                      <a:pPr marL="91440" algn="l" fontAlgn="t"/>
                      <a:r>
                        <a:rPr lang="en-US" sz="1400" u="none" strike="noStrike" dirty="0">
                          <a:effectLst/>
                        </a:rPr>
                        <a:t>What is your ergo spec (maximum limit) for opening or closing the ILM lever by manual operator?</a:t>
                      </a:r>
                      <a:endParaRPr lang="en-US" sz="1400" b="0" i="0" u="none" strike="noStrike" dirty="0">
                        <a:solidFill>
                          <a:srgbClr val="000000"/>
                        </a:solidFill>
                        <a:effectLst/>
                        <a:latin typeface="Arial" panose="020B0604020202020204" pitchFamily="34" charset="0"/>
                      </a:endParaRPr>
                    </a:p>
                  </a:txBody>
                  <a:tcPr marL="0" marR="0" marT="0" marB="0"/>
                </a:tc>
                <a:tc>
                  <a:txBody>
                    <a:bodyPr/>
                    <a:lstStyle/>
                    <a:p>
                      <a:pPr marL="91440" algn="l" fontAlgn="ctr"/>
                      <a:r>
                        <a:rPr lang="en-MY" sz="1400" u="none" strike="noStrike" dirty="0">
                          <a:effectLst/>
                        </a:rPr>
                        <a:t> </a:t>
                      </a:r>
                      <a:r>
                        <a:rPr kumimoji="0" lang="en-MY" sz="1400" u="none" strike="noStrike" kern="0" cap="none" spc="0" normalizeH="0" baseline="0" noProof="0" dirty="0">
                          <a:ln>
                            <a:noFill/>
                          </a:ln>
                          <a:effectLst/>
                          <a:uLnTx/>
                          <a:uFillTx/>
                          <a:sym typeface="Intel Clear"/>
                        </a:rPr>
                        <a:t>not answered</a:t>
                      </a:r>
                      <a:endParaRPr lang="en-MY" sz="1400" b="0" i="0" u="none" strike="noStrike" dirty="0">
                        <a:solidFill>
                          <a:srgbClr val="0000FF"/>
                        </a:solidFill>
                        <a:effectLst/>
                        <a:latin typeface="Arial" panose="020B0604020202020204" pitchFamily="34" charset="0"/>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u="none" strike="noStrike" kern="0" cap="none" spc="0" normalizeH="0" baseline="0" noProof="0" dirty="0">
                          <a:ln>
                            <a:noFill/>
                          </a:ln>
                          <a:effectLst/>
                          <a:uLnTx/>
                          <a:uFillTx/>
                          <a:sym typeface="Intel Clear"/>
                        </a:rPr>
                        <a:t> not answered</a:t>
                      </a:r>
                      <a:endParaRPr kumimoji="0" lang="en-MY" sz="1400" b="0" i="0" u="none" strike="noStrike" kern="0" cap="none" spc="0" normalizeH="0" baseline="0" noProof="0" dirty="0">
                        <a:ln>
                          <a:noFill/>
                        </a:ln>
                        <a:solidFill>
                          <a:srgbClr val="000000"/>
                        </a:solidFill>
                        <a:effectLst/>
                        <a:uLnTx/>
                        <a:uFillTx/>
                        <a:latin typeface="Arial" panose="020B0604020202020204" pitchFamily="34" charset="0"/>
                        <a:sym typeface="Intel Clear"/>
                      </a:endParaRPr>
                    </a:p>
                  </a:txBody>
                  <a:tcPr marL="0" marR="0" marT="0" marB="0"/>
                </a:tc>
                <a:tc>
                  <a:txBody>
                    <a:bodyPr/>
                    <a:lstStyle/>
                    <a:p>
                      <a:pPr marL="91440" marR="0" lvl="0" indent="0" algn="l" defTabSz="609600" eaLnBrk="1" fontAlgn="ctr" latinLnBrk="0" hangingPunct="1">
                        <a:lnSpc>
                          <a:spcPct val="100000"/>
                        </a:lnSpc>
                        <a:spcBef>
                          <a:spcPts val="0"/>
                        </a:spcBef>
                        <a:spcAft>
                          <a:spcPts val="0"/>
                        </a:spcAft>
                        <a:buClrTx/>
                        <a:buSzTx/>
                        <a:buFontTx/>
                        <a:buNone/>
                        <a:tabLst/>
                        <a:defRPr/>
                      </a:pPr>
                      <a:r>
                        <a:rPr kumimoji="0" lang="en-MY" sz="1400" u="none" strike="noStrike" kern="0" cap="none" spc="0" normalizeH="0" baseline="0" noProof="0" dirty="0">
                          <a:ln>
                            <a:noFill/>
                          </a:ln>
                          <a:effectLst/>
                          <a:uLnTx/>
                          <a:uFillTx/>
                          <a:sym typeface="Intel Clear"/>
                        </a:rPr>
                        <a:t> </a:t>
                      </a:r>
                      <a:r>
                        <a:rPr kumimoji="0" lang="en-MY" sz="1400" b="0" i="0" u="none" strike="noStrike" kern="0" cap="none" spc="0" normalizeH="0" baseline="0" noProof="0" dirty="0">
                          <a:ln>
                            <a:noFill/>
                          </a:ln>
                          <a:solidFill>
                            <a:srgbClr val="000000"/>
                          </a:solidFill>
                          <a:effectLst/>
                          <a:uLnTx/>
                          <a:uFillTx/>
                          <a:latin typeface="Arial" panose="020B0604020202020204" pitchFamily="34" charset="0"/>
                          <a:sym typeface="Intel Clear"/>
                        </a:rPr>
                        <a:t>not answered</a:t>
                      </a:r>
                      <a:endParaRPr kumimoji="0" lang="en-MY" sz="1400" b="0" i="0" u="none" strike="noStrike" kern="0" cap="none" spc="0" normalizeH="0" baseline="0" noProof="0" dirty="0">
                        <a:ln>
                          <a:noFill/>
                        </a:ln>
                        <a:solidFill>
                          <a:srgbClr val="0000FF"/>
                        </a:solidFill>
                        <a:effectLst/>
                        <a:uLnTx/>
                        <a:uFillTx/>
                        <a:latin typeface="Arial" panose="020B0604020202020204" pitchFamily="34" charset="0"/>
                        <a:sym typeface="Intel Clear"/>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lang="en-MY" sz="1400" u="none" strike="noStrike" dirty="0">
                          <a:solidFill>
                            <a:srgbClr val="FF0000"/>
                          </a:solidFill>
                          <a:effectLst>
                            <a:outerShdw blurRad="38100" dist="38100" dir="2700000" algn="tl">
                              <a:srgbClr val="000000">
                                <a:alpha val="43137"/>
                              </a:srgbClr>
                            </a:outerShdw>
                          </a:effectLst>
                        </a:rPr>
                        <a:t>Torque 5KG via electrical screw driver</a:t>
                      </a:r>
                      <a:endParaRPr lang="en-MY" sz="1400" b="0" i="0" u="none" strike="noStrike" dirty="0">
                        <a:solidFill>
                          <a:srgbClr val="FF0000"/>
                        </a:solidFill>
                        <a:effectLst>
                          <a:outerShdw blurRad="38100" dist="38100" dir="2700000" algn="tl">
                            <a:srgbClr val="000000">
                              <a:alpha val="43137"/>
                            </a:srgbClr>
                          </a:outerShdw>
                        </a:effectLst>
                        <a:latin typeface="Arial" panose="020B0604020202020204" pitchFamily="34" charset="0"/>
                      </a:endParaRPr>
                    </a:p>
                  </a:txBody>
                  <a:tcPr marL="0" marR="0" marT="0" marB="0"/>
                </a:tc>
                <a:extLst>
                  <a:ext uri="{0D108BD9-81ED-4DB2-BD59-A6C34878D82A}">
                    <a16:rowId xmlns:a16="http://schemas.microsoft.com/office/drawing/2014/main" val="2879692318"/>
                  </a:ext>
                </a:extLst>
              </a:tr>
              <a:tr h="487544">
                <a:tc>
                  <a:txBody>
                    <a:bodyPr/>
                    <a:lstStyle/>
                    <a:p>
                      <a:pPr marL="91440" algn="l" fontAlgn="t"/>
                      <a:r>
                        <a:rPr lang="en-US" sz="1400" u="none" strike="noStrike" dirty="0">
                          <a:effectLst/>
                        </a:rPr>
                        <a:t>What is the time required for attaching the ILM Assembly onto the motherboard? (sec)</a:t>
                      </a:r>
                      <a:endParaRPr lang="en-US" sz="1400" b="0" i="0" u="none" strike="noStrike" dirty="0">
                        <a:solidFill>
                          <a:srgbClr val="000000"/>
                        </a:solidFill>
                        <a:effectLst/>
                        <a:latin typeface="Arial" panose="020B0604020202020204" pitchFamily="34" charset="0"/>
                      </a:endParaRPr>
                    </a:p>
                  </a:txBody>
                  <a:tcPr marL="0" marR="0" marT="0" marB="0"/>
                </a:tc>
                <a:tc>
                  <a:txBody>
                    <a:bodyPr/>
                    <a:lstStyle/>
                    <a:p>
                      <a:pPr marL="91440" algn="l" fontAlgn="ctr"/>
                      <a:r>
                        <a:rPr lang="en-MY" sz="1400" u="none" strike="noStrike" dirty="0">
                          <a:effectLst/>
                        </a:rPr>
                        <a:t>24</a:t>
                      </a:r>
                      <a:endParaRPr lang="en-MY" sz="1400" b="0" i="0" u="none" strike="noStrike" dirty="0">
                        <a:solidFill>
                          <a:srgbClr val="0000FF"/>
                        </a:solidFill>
                        <a:effectLst/>
                        <a:latin typeface="Arial" panose="020B0604020202020204" pitchFamily="34" charset="0"/>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u="none" strike="noStrike" kern="0" cap="none" spc="0" normalizeH="0" baseline="0" noProof="0" dirty="0">
                          <a:ln>
                            <a:noFill/>
                          </a:ln>
                          <a:effectLst/>
                          <a:uLnTx/>
                          <a:uFillTx/>
                          <a:sym typeface="Intel Clear"/>
                        </a:rPr>
                        <a:t> not answered</a:t>
                      </a:r>
                      <a:endParaRPr kumimoji="0" lang="en-MY" sz="1400" b="0" i="0" u="none" strike="noStrike" kern="0" cap="none" spc="0" normalizeH="0" baseline="0" noProof="0" dirty="0">
                        <a:ln>
                          <a:noFill/>
                        </a:ln>
                        <a:solidFill>
                          <a:srgbClr val="000000"/>
                        </a:solidFill>
                        <a:effectLst/>
                        <a:uLnTx/>
                        <a:uFillTx/>
                        <a:latin typeface="Arial" panose="020B0604020202020204" pitchFamily="34" charset="0"/>
                        <a:sym typeface="Intel Clear"/>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dirty="0">
                          <a:ln>
                            <a:noFill/>
                          </a:ln>
                          <a:solidFill>
                            <a:srgbClr val="000000"/>
                          </a:solidFill>
                          <a:effectLst/>
                          <a:uLnTx/>
                          <a:uFillTx/>
                          <a:latin typeface="Arial" panose="020B0604020202020204" pitchFamily="34" charset="0"/>
                          <a:sym typeface="Intel Clear"/>
                        </a:rPr>
                        <a:t>not answered</a:t>
                      </a:r>
                    </a:p>
                  </a:txBody>
                  <a:tcPr marL="0" marR="0" marT="0" marB="0"/>
                </a:tc>
                <a:tc>
                  <a:txBody>
                    <a:bodyPr/>
                    <a:lstStyle/>
                    <a:p>
                      <a:pPr marL="91440" algn="l" fontAlgn="t"/>
                      <a:r>
                        <a:rPr lang="en-MY" sz="1400" u="none" strike="noStrike" dirty="0">
                          <a:effectLst/>
                        </a:rPr>
                        <a:t>18</a:t>
                      </a:r>
                      <a:endParaRPr lang="en-MY" sz="1400" b="0" i="0" u="none" strike="noStrike" dirty="0">
                        <a:solidFill>
                          <a:srgbClr val="FF0000"/>
                        </a:solidFill>
                        <a:effectLst/>
                        <a:latin typeface="Arial" panose="020B0604020202020204" pitchFamily="34" charset="0"/>
                      </a:endParaRPr>
                    </a:p>
                  </a:txBody>
                  <a:tcPr marL="0" marR="0" marT="0" marB="0"/>
                </a:tc>
                <a:extLst>
                  <a:ext uri="{0D108BD9-81ED-4DB2-BD59-A6C34878D82A}">
                    <a16:rowId xmlns:a16="http://schemas.microsoft.com/office/drawing/2014/main" val="500339387"/>
                  </a:ext>
                </a:extLst>
              </a:tr>
            </a:tbl>
          </a:graphicData>
        </a:graphic>
      </p:graphicFrame>
      <p:sp>
        <p:nvSpPr>
          <p:cNvPr id="5" name="Rectangle: Rounded Corners 4">
            <a:extLst>
              <a:ext uri="{FF2B5EF4-FFF2-40B4-BE49-F238E27FC236}">
                <a16:creationId xmlns:a16="http://schemas.microsoft.com/office/drawing/2014/main" id="{66CCA380-C600-46A4-80CB-B28BD73DED4B}"/>
              </a:ext>
            </a:extLst>
          </p:cNvPr>
          <p:cNvSpPr/>
          <p:nvPr/>
        </p:nvSpPr>
        <p:spPr>
          <a:xfrm>
            <a:off x="661459" y="5205889"/>
            <a:ext cx="10678583" cy="1339374"/>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Mixed feedback regarding ILM cover recyclability requirement</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Customers prefer the ILM cover to “pop off” with CPU inside socket &amp; ILM cover closed</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Customers have not experienced any ESD failures related to the socket H ILM cover</a:t>
            </a:r>
          </a:p>
        </p:txBody>
      </p:sp>
      <p:sp>
        <p:nvSpPr>
          <p:cNvPr id="6" name="Action Button: Go Home 5">
            <a:hlinkClick r:id="rId2" action="ppaction://hlinksldjump" highlightClick="1"/>
            <a:extLst>
              <a:ext uri="{FF2B5EF4-FFF2-40B4-BE49-F238E27FC236}">
                <a16:creationId xmlns:a16="http://schemas.microsoft.com/office/drawing/2014/main" id="{277D4F7F-2B58-421E-BCE2-D1302D23F034}"/>
              </a:ext>
            </a:extLst>
          </p:cNvPr>
          <p:cNvSpPr/>
          <p:nvPr/>
        </p:nvSpPr>
        <p:spPr>
          <a:xfrm>
            <a:off x="11399520" y="60960"/>
            <a:ext cx="487680" cy="451311"/>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99807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A9707-5156-41F3-9BD6-83853633F13F}"/>
              </a:ext>
            </a:extLst>
          </p:cNvPr>
          <p:cNvSpPr>
            <a:spLocks noGrp="1"/>
          </p:cNvSpPr>
          <p:nvPr>
            <p:ph type="title"/>
          </p:nvPr>
        </p:nvSpPr>
        <p:spPr>
          <a:xfrm>
            <a:off x="552450" y="5397"/>
            <a:ext cx="10972800" cy="612670"/>
          </a:xfrm>
        </p:spPr>
        <p:txBody>
          <a:bodyPr/>
          <a:lstStyle/>
          <a:p>
            <a:r>
              <a:rPr lang="en-US" dirty="0"/>
              <a:t>Process Inspection / Monitoring</a:t>
            </a:r>
            <a:endParaRPr lang="en-MY" dirty="0"/>
          </a:p>
        </p:txBody>
      </p:sp>
      <p:graphicFrame>
        <p:nvGraphicFramePr>
          <p:cNvPr id="4" name="Content Placeholder 3">
            <a:extLst>
              <a:ext uri="{FF2B5EF4-FFF2-40B4-BE49-F238E27FC236}">
                <a16:creationId xmlns:a16="http://schemas.microsoft.com/office/drawing/2014/main" id="{F4C4F9EE-9506-4C4C-B40C-F4271BBF6041}"/>
              </a:ext>
            </a:extLst>
          </p:cNvPr>
          <p:cNvGraphicFramePr>
            <a:graphicFrameLocks noGrp="1"/>
          </p:cNvGraphicFramePr>
          <p:nvPr>
            <p:ph sz="quarter" idx="13"/>
            <p:extLst>
              <p:ext uri="{D42A27DB-BD31-4B8C-83A1-F6EECF244321}">
                <p14:modId xmlns:p14="http://schemas.microsoft.com/office/powerpoint/2010/main" val="984593099"/>
              </p:ext>
            </p:extLst>
          </p:nvPr>
        </p:nvGraphicFramePr>
        <p:xfrm>
          <a:off x="230716" y="574638"/>
          <a:ext cx="11639551" cy="4679172"/>
        </p:xfrm>
        <a:graphic>
          <a:graphicData uri="http://schemas.openxmlformats.org/drawingml/2006/table">
            <a:tbl>
              <a:tblPr firstRow="1" bandRow="1">
                <a:tableStyleId>{69012ECD-51FC-41F1-AA8D-1B2483CD663E}</a:tableStyleId>
              </a:tblPr>
              <a:tblGrid>
                <a:gridCol w="1090084">
                  <a:extLst>
                    <a:ext uri="{9D8B030D-6E8A-4147-A177-3AD203B41FA5}">
                      <a16:colId xmlns:a16="http://schemas.microsoft.com/office/drawing/2014/main" val="1692685995"/>
                    </a:ext>
                  </a:extLst>
                </a:gridCol>
                <a:gridCol w="2825747">
                  <a:extLst>
                    <a:ext uri="{9D8B030D-6E8A-4147-A177-3AD203B41FA5}">
                      <a16:colId xmlns:a16="http://schemas.microsoft.com/office/drawing/2014/main" val="766677285"/>
                    </a:ext>
                  </a:extLst>
                </a:gridCol>
                <a:gridCol w="1280586">
                  <a:extLst>
                    <a:ext uri="{9D8B030D-6E8A-4147-A177-3AD203B41FA5}">
                      <a16:colId xmlns:a16="http://schemas.microsoft.com/office/drawing/2014/main" val="3296549446"/>
                    </a:ext>
                  </a:extLst>
                </a:gridCol>
                <a:gridCol w="1337734">
                  <a:extLst>
                    <a:ext uri="{9D8B030D-6E8A-4147-A177-3AD203B41FA5}">
                      <a16:colId xmlns:a16="http://schemas.microsoft.com/office/drawing/2014/main" val="2579843292"/>
                    </a:ext>
                  </a:extLst>
                </a:gridCol>
                <a:gridCol w="1667933">
                  <a:extLst>
                    <a:ext uri="{9D8B030D-6E8A-4147-A177-3AD203B41FA5}">
                      <a16:colId xmlns:a16="http://schemas.microsoft.com/office/drawing/2014/main" val="3841248342"/>
                    </a:ext>
                  </a:extLst>
                </a:gridCol>
                <a:gridCol w="1572680">
                  <a:extLst>
                    <a:ext uri="{9D8B030D-6E8A-4147-A177-3AD203B41FA5}">
                      <a16:colId xmlns:a16="http://schemas.microsoft.com/office/drawing/2014/main" val="1267162539"/>
                    </a:ext>
                  </a:extLst>
                </a:gridCol>
                <a:gridCol w="1864787">
                  <a:extLst>
                    <a:ext uri="{9D8B030D-6E8A-4147-A177-3AD203B41FA5}">
                      <a16:colId xmlns:a16="http://schemas.microsoft.com/office/drawing/2014/main" val="3430244489"/>
                    </a:ext>
                  </a:extLst>
                </a:gridCol>
              </a:tblGrid>
              <a:tr h="106603">
                <a:tc gridSpan="2">
                  <a:txBody>
                    <a:bodyPr/>
                    <a:lstStyle/>
                    <a:p>
                      <a:pPr marL="91440" marR="0" lvl="0" indent="0" algn="l" defTabSz="609600" rtl="0" eaLnBrk="1" fontAlgn="ctr" latinLnBrk="0" hangingPunct="1">
                        <a:lnSpc>
                          <a:spcPct val="100000"/>
                        </a:lnSpc>
                        <a:spcBef>
                          <a:spcPts val="0"/>
                        </a:spcBef>
                        <a:spcAft>
                          <a:spcPts val="0"/>
                        </a:spcAft>
                        <a:buClrTx/>
                        <a:buSzTx/>
                        <a:buFontTx/>
                        <a:buNone/>
                        <a:tabLst/>
                        <a:defRPr/>
                      </a:pPr>
                      <a:r>
                        <a:rPr lang="en-MY" sz="1800" u="none" strike="noStrike" dirty="0">
                          <a:solidFill>
                            <a:schemeClr val="bg1"/>
                          </a:solidFill>
                          <a:effectLst/>
                          <a:latin typeface="+mn-lt"/>
                        </a:rPr>
                        <a:t>Process Parameter / Capability </a:t>
                      </a:r>
                      <a:endParaRPr lang="en-MY" sz="1800" b="1" i="0" u="none" strike="noStrike" dirty="0">
                        <a:solidFill>
                          <a:schemeClr val="bg1"/>
                        </a:solidFill>
                        <a:effectLst/>
                        <a:latin typeface="+mn-lt"/>
                      </a:endParaRPr>
                    </a:p>
                  </a:txBody>
                  <a:tcPr marL="0" marR="0" marT="0" marB="0"/>
                </a:tc>
                <a:tc hMerge="1">
                  <a:txBody>
                    <a:bodyPr/>
                    <a:lstStyle/>
                    <a:p>
                      <a:pPr marL="91440" marR="0" lvl="0" indent="0" algn="l" defTabSz="609600" rtl="0" eaLnBrk="1" fontAlgn="ctr" latinLnBrk="0" hangingPunct="1">
                        <a:lnSpc>
                          <a:spcPct val="100000"/>
                        </a:lnSpc>
                        <a:spcBef>
                          <a:spcPts val="0"/>
                        </a:spcBef>
                        <a:spcAft>
                          <a:spcPts val="0"/>
                        </a:spcAft>
                        <a:buClrTx/>
                        <a:buSzTx/>
                        <a:buFontTx/>
                        <a:buNone/>
                        <a:tabLst/>
                        <a:defRPr/>
                      </a:pPr>
                      <a:endParaRPr lang="en-MY" sz="1400" b="1" i="0" u="none" strike="noStrike" dirty="0">
                        <a:solidFill>
                          <a:schemeClr val="bg1"/>
                        </a:solidFill>
                        <a:effectLst/>
                        <a:latin typeface="+mn-lt"/>
                      </a:endParaRPr>
                    </a:p>
                  </a:txBody>
                  <a:tcPr marL="0" marR="0" marT="0" marB="0"/>
                </a:tc>
                <a:tc>
                  <a:txBody>
                    <a:bodyPr/>
                    <a:lstStyle/>
                    <a:p>
                      <a:pPr marL="91440" algn="l" rtl="0" fontAlgn="ctr"/>
                      <a:r>
                        <a:rPr lang="en-MY" sz="1800" u="none" strike="noStrike" dirty="0">
                          <a:solidFill>
                            <a:schemeClr val="bg1"/>
                          </a:solidFill>
                          <a:effectLst/>
                          <a:latin typeface="+mn-lt"/>
                        </a:rPr>
                        <a:t>ECS</a:t>
                      </a:r>
                      <a:endParaRPr lang="en-MY" sz="1800" b="1" i="0" u="none" strike="noStrike" dirty="0">
                        <a:solidFill>
                          <a:schemeClr val="bg1"/>
                        </a:solidFill>
                        <a:effectLst/>
                        <a:latin typeface="+mn-lt"/>
                      </a:endParaRPr>
                    </a:p>
                  </a:txBody>
                  <a:tcPr marL="0" marR="0" marT="0" marB="0"/>
                </a:tc>
                <a:tc>
                  <a:txBody>
                    <a:bodyPr/>
                    <a:lstStyle/>
                    <a:p>
                      <a:pPr marL="91440" algn="l" rtl="0" fontAlgn="ctr"/>
                      <a:r>
                        <a:rPr lang="en-MY" sz="1800" u="none" strike="noStrike" dirty="0">
                          <a:solidFill>
                            <a:schemeClr val="bg1"/>
                          </a:solidFill>
                          <a:effectLst/>
                          <a:latin typeface="+mn-lt"/>
                        </a:rPr>
                        <a:t>LCFC</a:t>
                      </a:r>
                      <a:endParaRPr lang="en-MY" sz="1800" b="1" i="0" u="none" strike="noStrike" dirty="0">
                        <a:solidFill>
                          <a:schemeClr val="bg1"/>
                        </a:solidFill>
                        <a:effectLst/>
                        <a:latin typeface="+mn-lt"/>
                      </a:endParaRPr>
                    </a:p>
                  </a:txBody>
                  <a:tcPr marL="0" marR="0" marT="0" marB="0"/>
                </a:tc>
                <a:tc>
                  <a:txBody>
                    <a:bodyPr/>
                    <a:lstStyle/>
                    <a:p>
                      <a:pPr marL="91440" algn="l" rtl="0" fontAlgn="ctr"/>
                      <a:r>
                        <a:rPr lang="en-MY" sz="1800" u="none" strike="noStrike" dirty="0">
                          <a:solidFill>
                            <a:schemeClr val="bg1"/>
                          </a:solidFill>
                          <a:effectLst/>
                          <a:latin typeface="+mn-lt"/>
                        </a:rPr>
                        <a:t>FXWH</a:t>
                      </a:r>
                      <a:endParaRPr lang="en-MY" sz="1800" b="1" i="0" u="none" strike="noStrike" dirty="0">
                        <a:solidFill>
                          <a:schemeClr val="bg1"/>
                        </a:solidFill>
                        <a:effectLst/>
                        <a:latin typeface="+mn-lt"/>
                      </a:endParaRPr>
                    </a:p>
                  </a:txBody>
                  <a:tcPr marL="0" marR="0" marT="0" marB="0"/>
                </a:tc>
                <a:tc>
                  <a:txBody>
                    <a:bodyPr/>
                    <a:lstStyle/>
                    <a:p>
                      <a:pPr marL="91440" algn="l" rtl="0" fontAlgn="ctr"/>
                      <a:r>
                        <a:rPr lang="en-MY" sz="1800" u="none" strike="noStrike" dirty="0">
                          <a:solidFill>
                            <a:schemeClr val="bg1"/>
                          </a:solidFill>
                          <a:effectLst/>
                          <a:latin typeface="+mn-lt"/>
                        </a:rPr>
                        <a:t>LITEON</a:t>
                      </a:r>
                      <a:endParaRPr lang="en-MY" sz="1800" b="1" i="0" u="none" strike="noStrike" dirty="0">
                        <a:solidFill>
                          <a:schemeClr val="bg1"/>
                        </a:solidFill>
                        <a:effectLst/>
                        <a:latin typeface="+mn-lt"/>
                      </a:endParaRPr>
                    </a:p>
                  </a:txBody>
                  <a:tcPr marL="0" marR="0" marT="0" marB="0"/>
                </a:tc>
                <a:tc>
                  <a:txBody>
                    <a:bodyPr/>
                    <a:lstStyle/>
                    <a:p>
                      <a:pPr marL="91440" algn="l" rtl="0" fontAlgn="ctr"/>
                      <a:r>
                        <a:rPr lang="en-MY" sz="1800" b="1" i="0" u="none" strike="noStrike" dirty="0">
                          <a:solidFill>
                            <a:schemeClr val="bg1"/>
                          </a:solidFill>
                          <a:effectLst/>
                          <a:latin typeface="+mn-lt"/>
                        </a:rPr>
                        <a:t>MSI (LENOVO)</a:t>
                      </a:r>
                    </a:p>
                  </a:txBody>
                  <a:tcPr marL="0" marR="0" marT="0" marB="0"/>
                </a:tc>
                <a:extLst>
                  <a:ext uri="{0D108BD9-81ED-4DB2-BD59-A6C34878D82A}">
                    <a16:rowId xmlns:a16="http://schemas.microsoft.com/office/drawing/2014/main" val="3852518198"/>
                  </a:ext>
                </a:extLst>
              </a:tr>
              <a:tr h="172829">
                <a:tc rowSpan="6">
                  <a:txBody>
                    <a:bodyPr/>
                    <a:lstStyle/>
                    <a:p>
                      <a:pPr marL="91440" algn="l" fontAlgn="t"/>
                      <a:r>
                        <a:rPr lang="en-MY" sz="1400" b="0" i="0" u="none" strike="noStrike" dirty="0">
                          <a:solidFill>
                            <a:schemeClr val="tx1"/>
                          </a:solidFill>
                          <a:effectLst/>
                          <a:latin typeface="+mn-lt"/>
                        </a:rPr>
                        <a:t>SPI (Solder Paste Inspection)</a:t>
                      </a:r>
                    </a:p>
                  </a:txBody>
                  <a:tcPr marL="0" marR="0" marT="0" marB="0"/>
                </a:tc>
                <a:tc>
                  <a:txBody>
                    <a:bodyPr/>
                    <a:lstStyle/>
                    <a:p>
                      <a:pPr marL="91440" algn="l" fontAlgn="t"/>
                      <a:r>
                        <a:rPr lang="en-MY" sz="1400" b="0" i="0" u="none" strike="noStrike" dirty="0">
                          <a:solidFill>
                            <a:schemeClr val="tx1"/>
                          </a:solidFill>
                          <a:effectLst/>
                          <a:latin typeface="+mn-lt"/>
                        </a:rPr>
                        <a:t>Sampling rate</a:t>
                      </a:r>
                    </a:p>
                  </a:txBody>
                  <a:tcPr marL="0" marR="0" marT="0" marB="0"/>
                </a:tc>
                <a:tc>
                  <a:txBody>
                    <a:bodyPr/>
                    <a:lstStyle/>
                    <a:p>
                      <a:pPr marL="91440" algn="l" fontAlgn="t"/>
                      <a:r>
                        <a:rPr lang="en-MY" sz="1400" b="0" i="0" u="none" strike="noStrike" dirty="0">
                          <a:solidFill>
                            <a:schemeClr val="tx1"/>
                          </a:solidFill>
                          <a:effectLst/>
                          <a:latin typeface="+mn-lt"/>
                        </a:rPr>
                        <a:t>100%</a:t>
                      </a: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a:ln>
                            <a:noFill/>
                          </a:ln>
                          <a:solidFill>
                            <a:srgbClr val="000000"/>
                          </a:solidFill>
                          <a:effectLst/>
                          <a:uLnTx/>
                          <a:uFillTx/>
                          <a:latin typeface="Intel Clear"/>
                          <a:sym typeface="Intel Clear"/>
                        </a:rPr>
                        <a:t>100%</a:t>
                      </a:r>
                      <a:endParaRPr kumimoji="0" lang="en-MY" sz="1400" b="0" i="0" u="none" strike="noStrike" kern="0" cap="none" spc="0" normalizeH="0" baseline="0" noProof="0" dirty="0">
                        <a:ln>
                          <a:noFill/>
                        </a:ln>
                        <a:solidFill>
                          <a:srgbClr val="000000"/>
                        </a:solidFill>
                        <a:effectLst/>
                        <a:uLnTx/>
                        <a:uFillTx/>
                        <a:latin typeface="Intel Clear"/>
                        <a:sym typeface="Intel Clear"/>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dirty="0">
                          <a:ln>
                            <a:noFill/>
                          </a:ln>
                          <a:solidFill>
                            <a:srgbClr val="000000"/>
                          </a:solidFill>
                          <a:effectLst/>
                          <a:uLnTx/>
                          <a:uFillTx/>
                          <a:latin typeface="Intel Clear"/>
                          <a:sym typeface="Intel Clear"/>
                        </a:rPr>
                        <a:t>100%</a:t>
                      </a:r>
                    </a:p>
                  </a:txBody>
                  <a:tcPr marL="0" marR="0" marT="0" marB="0"/>
                </a:tc>
                <a:tc>
                  <a:txBody>
                    <a:bodyPr/>
                    <a:lstStyle/>
                    <a:p>
                      <a:pPr marL="91440" algn="l" fontAlgn="t"/>
                      <a:r>
                        <a:rPr lang="en-MY" sz="1400" b="0" i="0" u="none" strike="noStrike" dirty="0">
                          <a:solidFill>
                            <a:schemeClr val="tx1"/>
                          </a:solidFill>
                          <a:effectLst/>
                          <a:latin typeface="+mn-lt"/>
                        </a:rPr>
                        <a:t>2 PCB/2.5hrs</a:t>
                      </a: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dirty="0">
                          <a:ln>
                            <a:noFill/>
                          </a:ln>
                          <a:solidFill>
                            <a:srgbClr val="000000"/>
                          </a:solidFill>
                          <a:effectLst/>
                          <a:uLnTx/>
                          <a:uFillTx/>
                          <a:latin typeface="+mn-lt"/>
                          <a:sym typeface="Intel Clear"/>
                        </a:rPr>
                        <a:t>not answered </a:t>
                      </a:r>
                    </a:p>
                  </a:txBody>
                  <a:tcPr marL="0" marR="0" marT="0" marB="0"/>
                </a:tc>
                <a:extLst>
                  <a:ext uri="{0D108BD9-81ED-4DB2-BD59-A6C34878D82A}">
                    <a16:rowId xmlns:a16="http://schemas.microsoft.com/office/drawing/2014/main" val="4178550123"/>
                  </a:ext>
                </a:extLst>
              </a:tr>
              <a:tr h="172829">
                <a:tc vMerge="1">
                  <a:txBody>
                    <a:bodyPr/>
                    <a:lstStyle/>
                    <a:p>
                      <a:endParaRPr lang="en-US"/>
                    </a:p>
                  </a:txBody>
                  <a:tcPr/>
                </a:tc>
                <a:tc>
                  <a:txBody>
                    <a:bodyPr/>
                    <a:lstStyle/>
                    <a:p>
                      <a:pPr marL="91440" algn="l" fontAlgn="t"/>
                      <a:r>
                        <a:rPr lang="en-MY" sz="1400" b="0" i="0" u="none" strike="noStrike" dirty="0">
                          <a:solidFill>
                            <a:schemeClr val="tx1"/>
                          </a:solidFill>
                          <a:effectLst/>
                          <a:latin typeface="+mn-lt"/>
                        </a:rPr>
                        <a:t>Machine</a:t>
                      </a: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a:ln>
                            <a:noFill/>
                          </a:ln>
                          <a:solidFill>
                            <a:srgbClr val="000000"/>
                          </a:solidFill>
                          <a:effectLst/>
                          <a:uLnTx/>
                          <a:uFillTx/>
                          <a:latin typeface="Intel Clear"/>
                          <a:sym typeface="Intel Clear"/>
                        </a:rPr>
                        <a:t>not answered </a:t>
                      </a:r>
                      <a:endParaRPr kumimoji="0" lang="en-MY" sz="1400" b="0" i="0" u="none" strike="noStrike" kern="0" cap="none" spc="0" normalizeH="0" baseline="0" noProof="0" dirty="0">
                        <a:ln>
                          <a:noFill/>
                        </a:ln>
                        <a:solidFill>
                          <a:srgbClr val="000000"/>
                        </a:solidFill>
                        <a:effectLst/>
                        <a:uLnTx/>
                        <a:uFillTx/>
                        <a:latin typeface="Intel Clear"/>
                        <a:sym typeface="Intel Clear"/>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dirty="0">
                          <a:ln>
                            <a:noFill/>
                          </a:ln>
                          <a:solidFill>
                            <a:srgbClr val="000000"/>
                          </a:solidFill>
                          <a:effectLst/>
                          <a:uLnTx/>
                          <a:uFillTx/>
                          <a:latin typeface="Intel Clear"/>
                          <a:sym typeface="Intel Clear"/>
                        </a:rPr>
                        <a:t>not answered </a:t>
                      </a: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dirty="0">
                          <a:ln>
                            <a:noFill/>
                          </a:ln>
                          <a:solidFill>
                            <a:srgbClr val="0068B5"/>
                          </a:solidFill>
                          <a:effectLst/>
                          <a:uLnTx/>
                          <a:uFillTx/>
                          <a:latin typeface="Intel Clear"/>
                          <a:sym typeface="Intel Clear"/>
                        </a:rPr>
                        <a:t>Holly S8030</a:t>
                      </a: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dirty="0">
                          <a:ln>
                            <a:noFill/>
                          </a:ln>
                          <a:solidFill>
                            <a:srgbClr val="000000"/>
                          </a:solidFill>
                          <a:effectLst/>
                          <a:uLnTx/>
                          <a:uFillTx/>
                          <a:latin typeface="+mn-lt"/>
                          <a:sym typeface="Intel Clear"/>
                        </a:rPr>
                        <a:t>not answered </a:t>
                      </a:r>
                    </a:p>
                  </a:txBody>
                  <a:tcPr marL="0" marR="0" marT="0" marB="0"/>
                </a:tc>
                <a:tc>
                  <a:txBody>
                    <a:bodyPr/>
                    <a:lstStyle/>
                    <a:p>
                      <a:pPr marL="91440" algn="l" fontAlgn="t"/>
                      <a:r>
                        <a:rPr lang="en-MY" sz="1400" b="0" i="0" u="none" strike="noStrike" dirty="0">
                          <a:solidFill>
                            <a:srgbClr val="0068B5"/>
                          </a:solidFill>
                          <a:effectLst/>
                          <a:latin typeface="+mn-lt"/>
                        </a:rPr>
                        <a:t>MSI-AOI</a:t>
                      </a:r>
                    </a:p>
                  </a:txBody>
                  <a:tcPr marL="0" marR="0" marT="0" marB="0"/>
                </a:tc>
                <a:extLst>
                  <a:ext uri="{0D108BD9-81ED-4DB2-BD59-A6C34878D82A}">
                    <a16:rowId xmlns:a16="http://schemas.microsoft.com/office/drawing/2014/main" val="3330563705"/>
                  </a:ext>
                </a:extLst>
              </a:tr>
              <a:tr h="259244">
                <a:tc vMerge="1">
                  <a:txBody>
                    <a:bodyPr/>
                    <a:lstStyle/>
                    <a:p>
                      <a:endParaRPr lang="en-MY"/>
                    </a:p>
                  </a:txBody>
                  <a:tcPr/>
                </a:tc>
                <a:tc>
                  <a:txBody>
                    <a:bodyPr/>
                    <a:lstStyle/>
                    <a:p>
                      <a:pPr marL="91440" algn="l" fontAlgn="t"/>
                      <a:r>
                        <a:rPr lang="en-US" sz="1400" b="0" i="0" u="none" strike="noStrike" dirty="0">
                          <a:solidFill>
                            <a:schemeClr val="tx1"/>
                          </a:solidFill>
                          <a:effectLst/>
                          <a:latin typeface="+mn-lt"/>
                        </a:rPr>
                        <a:t>Min/Max Spec and control limit</a:t>
                      </a:r>
                    </a:p>
                  </a:txBody>
                  <a:tcPr marL="0" marR="0" marT="0" marB="0"/>
                </a:tc>
                <a:tc>
                  <a:txBody>
                    <a:bodyPr/>
                    <a:lstStyle/>
                    <a:p>
                      <a:pPr marL="91440" algn="l" fontAlgn="t"/>
                      <a:r>
                        <a:rPr lang="en-MY" sz="1400" b="0" i="0" u="none" strike="noStrike" dirty="0">
                          <a:solidFill>
                            <a:schemeClr val="tx1"/>
                          </a:solidFill>
                          <a:effectLst/>
                          <a:latin typeface="+mn-lt"/>
                        </a:rPr>
                        <a:t>60%-180%</a:t>
                      </a:r>
                    </a:p>
                  </a:txBody>
                  <a:tcPr marL="0" marR="0" marT="0" marB="0"/>
                </a:tc>
                <a:tc>
                  <a:txBody>
                    <a:bodyPr/>
                    <a:lstStyle/>
                    <a:p>
                      <a:pPr marL="91440" algn="l" fontAlgn="t"/>
                      <a:r>
                        <a:rPr lang="en-MY" sz="1400" b="0" i="0" u="none" strike="noStrike" dirty="0">
                          <a:solidFill>
                            <a:schemeClr val="tx1"/>
                          </a:solidFill>
                          <a:effectLst/>
                          <a:latin typeface="+mn-lt"/>
                        </a:rPr>
                        <a:t>not answered </a:t>
                      </a:r>
                    </a:p>
                  </a:txBody>
                  <a:tcPr marL="0" marR="0" marT="0" marB="0"/>
                </a:tc>
                <a:tc>
                  <a:txBody>
                    <a:bodyPr/>
                    <a:lstStyle/>
                    <a:p>
                      <a:pPr marL="91440" algn="l" fontAlgn="ctr"/>
                      <a:r>
                        <a:rPr lang="en-MY" sz="1400" b="0" i="0" u="none" strike="noStrike" dirty="0">
                          <a:solidFill>
                            <a:srgbClr val="0068B5"/>
                          </a:solidFill>
                          <a:effectLst/>
                          <a:latin typeface="+mn-lt"/>
                        </a:rPr>
                        <a:t>50%-180% (paste area). 50%-160% (paste height).</a:t>
                      </a:r>
                    </a:p>
                  </a:txBody>
                  <a:tcPr marL="0" marR="0" marT="0" marB="0"/>
                </a:tc>
                <a:tc>
                  <a:txBody>
                    <a:bodyPr/>
                    <a:lstStyle/>
                    <a:p>
                      <a:pPr marL="91440" algn="l" fontAlgn="t"/>
                      <a:r>
                        <a:rPr lang="sv-SE" sz="1400" b="0" i="0" u="none" strike="noStrike" dirty="0">
                          <a:solidFill>
                            <a:srgbClr val="FF0000"/>
                          </a:solidFill>
                          <a:effectLst>
                            <a:outerShdw blurRad="38100" dist="38100" dir="2700000" algn="tl">
                              <a:srgbClr val="000000">
                                <a:alpha val="43137"/>
                              </a:srgbClr>
                            </a:outerShdw>
                          </a:effectLst>
                          <a:latin typeface="+mn-lt"/>
                        </a:rPr>
                        <a:t>0-0.3mm (0,13 skt, 0.1 BGA) ?</a:t>
                      </a:r>
                    </a:p>
                  </a:txBody>
                  <a:tcPr marL="0" marR="0" marT="0" marB="0"/>
                </a:tc>
                <a:tc>
                  <a:txBody>
                    <a:bodyPr/>
                    <a:lstStyle/>
                    <a:p>
                      <a:pPr marL="91440" algn="l" fontAlgn="t"/>
                      <a:r>
                        <a:rPr lang="sv-SE" sz="1400" b="0" i="0" u="none" strike="noStrike" dirty="0">
                          <a:solidFill>
                            <a:srgbClr val="0068B5"/>
                          </a:solidFill>
                          <a:effectLst/>
                          <a:latin typeface="+mn-lt"/>
                        </a:rPr>
                        <a:t>60%-150% (paste area). 60%-180% (paste height).</a:t>
                      </a:r>
                    </a:p>
                  </a:txBody>
                  <a:tcPr marL="0" marR="0" marT="0" marB="0"/>
                </a:tc>
                <a:extLst>
                  <a:ext uri="{0D108BD9-81ED-4DB2-BD59-A6C34878D82A}">
                    <a16:rowId xmlns:a16="http://schemas.microsoft.com/office/drawing/2014/main" val="184200942"/>
                  </a:ext>
                </a:extLst>
              </a:tr>
              <a:tr h="172829">
                <a:tc vMerge="1">
                  <a:txBody>
                    <a:bodyPr/>
                    <a:lstStyle/>
                    <a:p>
                      <a:endParaRPr lang="en-MY"/>
                    </a:p>
                  </a:txBody>
                  <a:tcPr/>
                </a:tc>
                <a:tc>
                  <a:txBody>
                    <a:bodyPr/>
                    <a:lstStyle/>
                    <a:p>
                      <a:pPr marL="91440" algn="l" fontAlgn="t"/>
                      <a:r>
                        <a:rPr lang="en-US" sz="1400" b="0" i="0" u="none" strike="noStrike">
                          <a:solidFill>
                            <a:schemeClr val="tx1"/>
                          </a:solidFill>
                          <a:effectLst/>
                          <a:latin typeface="+mn-lt"/>
                        </a:rPr>
                        <a:t>Is SPI Performed on selective components or 100%?</a:t>
                      </a:r>
                    </a:p>
                  </a:txBody>
                  <a:tcPr marL="0" marR="0" marT="0" marB="0"/>
                </a:tc>
                <a:tc>
                  <a:txBody>
                    <a:bodyPr/>
                    <a:lstStyle/>
                    <a:p>
                      <a:pPr marL="91440" algn="l" fontAlgn="t"/>
                      <a:r>
                        <a:rPr lang="en-MY" sz="1400" b="0" i="0" u="none" strike="noStrike">
                          <a:solidFill>
                            <a:schemeClr val="tx1"/>
                          </a:solidFill>
                          <a:effectLst/>
                          <a:latin typeface="+mn-lt"/>
                        </a:rPr>
                        <a:t>100%</a:t>
                      </a:r>
                    </a:p>
                  </a:txBody>
                  <a:tcPr marL="0" marR="0" marT="0" marB="0"/>
                </a:tc>
                <a:tc>
                  <a:txBody>
                    <a:bodyPr/>
                    <a:lstStyle/>
                    <a:p>
                      <a:pPr marL="91440" algn="l" fontAlgn="t"/>
                      <a:r>
                        <a:rPr lang="en-MY" sz="1400" b="0" i="0" u="none" strike="noStrike">
                          <a:solidFill>
                            <a:schemeClr val="tx1"/>
                          </a:solidFill>
                          <a:effectLst/>
                          <a:latin typeface="+mn-lt"/>
                        </a:rPr>
                        <a:t>100%</a:t>
                      </a:r>
                    </a:p>
                  </a:txBody>
                  <a:tcPr marL="0" marR="0" marT="0" marB="0"/>
                </a:tc>
                <a:tc>
                  <a:txBody>
                    <a:bodyPr/>
                    <a:lstStyle/>
                    <a:p>
                      <a:pPr marL="91440" algn="l" fontAlgn="ctr"/>
                      <a:r>
                        <a:rPr lang="en-MY" sz="1400" b="0" i="0" u="none" strike="noStrike" dirty="0">
                          <a:solidFill>
                            <a:schemeClr val="tx1"/>
                          </a:solidFill>
                          <a:effectLst/>
                          <a:latin typeface="+mn-lt"/>
                        </a:rPr>
                        <a:t>100%</a:t>
                      </a:r>
                    </a:p>
                  </a:txBody>
                  <a:tcPr marL="0" marR="0" marT="0" marB="0"/>
                </a:tc>
                <a:tc>
                  <a:txBody>
                    <a:bodyPr/>
                    <a:lstStyle/>
                    <a:p>
                      <a:pPr marL="91440" algn="l" fontAlgn="t"/>
                      <a:r>
                        <a:rPr lang="en-MY" sz="1400" b="0" i="0" u="none" strike="noStrike" dirty="0">
                          <a:solidFill>
                            <a:schemeClr val="tx1"/>
                          </a:solidFill>
                          <a:effectLst/>
                          <a:latin typeface="+mn-lt"/>
                        </a:rPr>
                        <a:t>Selective</a:t>
                      </a: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dirty="0">
                          <a:ln>
                            <a:noFill/>
                          </a:ln>
                          <a:solidFill>
                            <a:srgbClr val="000000"/>
                          </a:solidFill>
                          <a:effectLst/>
                          <a:uLnTx/>
                          <a:uFillTx/>
                          <a:latin typeface="Intel Clear"/>
                          <a:sym typeface="Intel Clear"/>
                        </a:rPr>
                        <a:t>not answered </a:t>
                      </a:r>
                    </a:p>
                  </a:txBody>
                  <a:tcPr marL="0" marR="0" marT="0" marB="0"/>
                </a:tc>
                <a:extLst>
                  <a:ext uri="{0D108BD9-81ED-4DB2-BD59-A6C34878D82A}">
                    <a16:rowId xmlns:a16="http://schemas.microsoft.com/office/drawing/2014/main" val="988664767"/>
                  </a:ext>
                </a:extLst>
              </a:tr>
              <a:tr h="345659">
                <a:tc vMerge="1">
                  <a:txBody>
                    <a:bodyPr/>
                    <a:lstStyle/>
                    <a:p>
                      <a:endParaRPr lang="en-MY"/>
                    </a:p>
                  </a:txBody>
                  <a:tcPr/>
                </a:tc>
                <a:tc>
                  <a:txBody>
                    <a:bodyPr/>
                    <a:lstStyle/>
                    <a:p>
                      <a:pPr marL="91440" algn="l" fontAlgn="t"/>
                      <a:r>
                        <a:rPr lang="en-US" sz="1400" b="0" i="0" u="none" strike="noStrike">
                          <a:solidFill>
                            <a:schemeClr val="tx1"/>
                          </a:solidFill>
                          <a:effectLst/>
                          <a:latin typeface="+mn-lt"/>
                        </a:rPr>
                        <a:t>What is the typical percentage rate of board wash?</a:t>
                      </a:r>
                    </a:p>
                  </a:txBody>
                  <a:tcPr marL="0" marR="0" marT="0" marB="0"/>
                </a:tc>
                <a:tc>
                  <a:txBody>
                    <a:bodyPr/>
                    <a:lstStyle/>
                    <a:p>
                      <a:pPr marL="91440" algn="l" fontAlgn="t"/>
                      <a:r>
                        <a:rPr lang="en-MY" sz="1400" b="0" i="0" u="none" strike="noStrike">
                          <a:solidFill>
                            <a:schemeClr val="tx1"/>
                          </a:solidFill>
                          <a:effectLst/>
                          <a:latin typeface="+mn-lt"/>
                        </a:rPr>
                        <a:t>0.10%</a:t>
                      </a:r>
                    </a:p>
                  </a:txBody>
                  <a:tcPr marL="0" marR="0" marT="0" marB="0"/>
                </a:tc>
                <a:tc>
                  <a:txBody>
                    <a:bodyPr/>
                    <a:lstStyle/>
                    <a:p>
                      <a:pPr marL="91440" algn="l" fontAlgn="t"/>
                      <a:r>
                        <a:rPr lang="en-MY" sz="1400" b="0" i="0" u="none" strike="noStrike" dirty="0">
                          <a:solidFill>
                            <a:schemeClr val="tx1"/>
                          </a:solidFill>
                          <a:effectLst/>
                          <a:latin typeface="+mn-lt"/>
                        </a:rPr>
                        <a:t>not answered </a:t>
                      </a:r>
                    </a:p>
                  </a:txBody>
                  <a:tcPr marL="0" marR="0" marT="0" marB="0"/>
                </a:tc>
                <a:tc>
                  <a:txBody>
                    <a:bodyPr/>
                    <a:lstStyle/>
                    <a:p>
                      <a:pPr marL="91440" algn="l" fontAlgn="ctr"/>
                      <a:r>
                        <a:rPr kumimoji="0" lang="en-MY" sz="1400" b="0" i="0" u="none" strike="noStrike" kern="0" cap="none" spc="0" normalizeH="0" baseline="0" noProof="0" dirty="0">
                          <a:ln>
                            <a:noFill/>
                          </a:ln>
                          <a:solidFill>
                            <a:srgbClr val="000000"/>
                          </a:solidFill>
                          <a:effectLst/>
                          <a:uLnTx/>
                          <a:uFillTx/>
                          <a:latin typeface="Intel Clear"/>
                          <a:sym typeface="Intel Clear"/>
                        </a:rPr>
                        <a:t>not answered</a:t>
                      </a:r>
                      <a:endParaRPr lang="en-MY" sz="1400" b="0" i="0" u="none" strike="noStrike" dirty="0">
                        <a:solidFill>
                          <a:schemeClr val="tx1"/>
                        </a:solidFill>
                        <a:effectLst/>
                        <a:latin typeface="+mn-lt"/>
                      </a:endParaRPr>
                    </a:p>
                  </a:txBody>
                  <a:tcPr marL="0" marR="0" marT="0" marB="0"/>
                </a:tc>
                <a:tc>
                  <a:txBody>
                    <a:bodyPr/>
                    <a:lstStyle/>
                    <a:p>
                      <a:pPr marL="91440" algn="l" fontAlgn="t"/>
                      <a:r>
                        <a:rPr kumimoji="0" lang="en-MY" sz="1400" b="0" i="0" u="none" strike="noStrike" kern="0" cap="none" spc="0" normalizeH="0" baseline="0" noProof="0" dirty="0">
                          <a:ln>
                            <a:noFill/>
                          </a:ln>
                          <a:solidFill>
                            <a:srgbClr val="000000"/>
                          </a:solidFill>
                          <a:effectLst/>
                          <a:uLnTx/>
                          <a:uFillTx/>
                          <a:latin typeface="Intel Clear"/>
                          <a:sym typeface="Intel Clear"/>
                        </a:rPr>
                        <a:t>not answered</a:t>
                      </a:r>
                      <a:endParaRPr lang="en-MY" sz="1400" b="0" i="0" u="none" strike="noStrike" dirty="0">
                        <a:solidFill>
                          <a:schemeClr val="tx1"/>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a:ln>
                            <a:noFill/>
                          </a:ln>
                          <a:solidFill>
                            <a:srgbClr val="000000"/>
                          </a:solidFill>
                          <a:effectLst/>
                          <a:uLnTx/>
                          <a:uFillTx/>
                          <a:latin typeface="Intel Clear"/>
                          <a:sym typeface="Intel Clear"/>
                        </a:rPr>
                        <a:t>not answered </a:t>
                      </a:r>
                      <a:endParaRPr kumimoji="0" lang="en-MY" sz="1400" b="0" i="0" u="none" strike="noStrike" kern="0" cap="none" spc="0" normalizeH="0" baseline="0" noProof="0" dirty="0">
                        <a:ln>
                          <a:noFill/>
                        </a:ln>
                        <a:solidFill>
                          <a:srgbClr val="000000"/>
                        </a:solidFill>
                        <a:effectLst/>
                        <a:uLnTx/>
                        <a:uFillTx/>
                        <a:latin typeface="Intel Clear"/>
                        <a:sym typeface="Intel Clear"/>
                      </a:endParaRPr>
                    </a:p>
                  </a:txBody>
                  <a:tcPr marL="0" marR="0" marT="0" marB="0"/>
                </a:tc>
                <a:extLst>
                  <a:ext uri="{0D108BD9-81ED-4DB2-BD59-A6C34878D82A}">
                    <a16:rowId xmlns:a16="http://schemas.microsoft.com/office/drawing/2014/main" val="2544975839"/>
                  </a:ext>
                </a:extLst>
              </a:tr>
              <a:tr h="218653">
                <a:tc vMerge="1">
                  <a:txBody>
                    <a:bodyPr/>
                    <a:lstStyle/>
                    <a:p>
                      <a:endParaRPr lang="en-MY"/>
                    </a:p>
                  </a:txBody>
                  <a:tcPr/>
                </a:tc>
                <a:tc>
                  <a:txBody>
                    <a:bodyPr/>
                    <a:lstStyle/>
                    <a:p>
                      <a:pPr marL="91440" algn="l" fontAlgn="t"/>
                      <a:r>
                        <a:rPr lang="en-US" sz="1400" b="0" i="0" u="none" strike="noStrike" dirty="0">
                          <a:solidFill>
                            <a:schemeClr val="tx1"/>
                          </a:solidFill>
                          <a:effectLst/>
                          <a:latin typeface="+mn-lt"/>
                        </a:rPr>
                        <a:t>Maximum board handling capability (length x width, mm)</a:t>
                      </a:r>
                    </a:p>
                  </a:txBody>
                  <a:tcPr marL="0" marR="0" marT="0" marB="0"/>
                </a:tc>
                <a:tc>
                  <a:txBody>
                    <a:bodyPr/>
                    <a:lstStyle/>
                    <a:p>
                      <a:pPr marL="91440" algn="l" fontAlgn="ctr"/>
                      <a:r>
                        <a:rPr lang="en-MY" sz="1400" b="0" i="0" u="none" strike="noStrike" dirty="0">
                          <a:solidFill>
                            <a:schemeClr val="tx1"/>
                          </a:solidFill>
                          <a:effectLst/>
                          <a:latin typeface="+mn-lt"/>
                        </a:rPr>
                        <a:t>510 x 460</a:t>
                      </a:r>
                    </a:p>
                  </a:txBody>
                  <a:tcPr marL="0" marR="0" marT="0" marB="0"/>
                </a:tc>
                <a:tc>
                  <a:txBody>
                    <a:bodyPr/>
                    <a:lstStyle/>
                    <a:p>
                      <a:pPr marL="91440" algn="l" fontAlgn="t"/>
                      <a:r>
                        <a:rPr lang="en-MY" sz="1400" u="none" strike="noStrike" dirty="0">
                          <a:effectLst/>
                          <a:latin typeface="+mn-lt"/>
                        </a:rPr>
                        <a:t>width 500</a:t>
                      </a:r>
                      <a:endParaRPr lang="en-MY" sz="1400" b="0" i="0" u="none" strike="noStrike" dirty="0">
                        <a:solidFill>
                          <a:schemeClr val="tx1"/>
                        </a:solidFill>
                        <a:effectLst/>
                        <a:latin typeface="+mn-lt"/>
                      </a:endParaRPr>
                    </a:p>
                  </a:txBody>
                  <a:tcPr marL="0" marR="0" marT="0" marB="0"/>
                </a:tc>
                <a:tc>
                  <a:txBody>
                    <a:bodyPr/>
                    <a:lstStyle/>
                    <a:p>
                      <a:pPr marL="91440" algn="l" fontAlgn="ctr"/>
                      <a:r>
                        <a:rPr lang="en-MY" sz="1400" b="0" i="0" u="none" strike="noStrike" dirty="0">
                          <a:solidFill>
                            <a:schemeClr val="tx1"/>
                          </a:solidFill>
                          <a:effectLst/>
                          <a:latin typeface="+mn-lt"/>
                        </a:rPr>
                        <a:t>510 x 460</a:t>
                      </a:r>
                    </a:p>
                  </a:txBody>
                  <a:tcPr marL="0" marR="0" marT="0" marB="0"/>
                </a:tc>
                <a:tc>
                  <a:txBody>
                    <a:bodyPr/>
                    <a:lstStyle/>
                    <a:p>
                      <a:pPr marL="91440" algn="l" fontAlgn="t"/>
                      <a:r>
                        <a:rPr lang="en-MY" sz="1400" b="0" i="0" u="none" strike="noStrike" dirty="0">
                          <a:solidFill>
                            <a:schemeClr val="tx1"/>
                          </a:solidFill>
                          <a:effectLst/>
                          <a:latin typeface="+mn-lt"/>
                        </a:rPr>
                        <a:t>460 x 510</a:t>
                      </a: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a:ln>
                            <a:noFill/>
                          </a:ln>
                          <a:solidFill>
                            <a:srgbClr val="000000"/>
                          </a:solidFill>
                          <a:effectLst/>
                          <a:uLnTx/>
                          <a:uFillTx/>
                          <a:latin typeface="Intel Clear"/>
                          <a:sym typeface="Intel Clear"/>
                        </a:rPr>
                        <a:t>not answered </a:t>
                      </a:r>
                      <a:endParaRPr kumimoji="0" lang="en-MY" sz="1400" b="0" i="0" u="none" strike="noStrike" kern="0" cap="none" spc="0" normalizeH="0" baseline="0" noProof="0" dirty="0">
                        <a:ln>
                          <a:noFill/>
                        </a:ln>
                        <a:solidFill>
                          <a:srgbClr val="000000"/>
                        </a:solidFill>
                        <a:effectLst/>
                        <a:uLnTx/>
                        <a:uFillTx/>
                        <a:latin typeface="Intel Clear"/>
                        <a:sym typeface="Intel Clear"/>
                      </a:endParaRPr>
                    </a:p>
                  </a:txBody>
                  <a:tcPr marL="0" marR="0" marT="0" marB="0"/>
                </a:tc>
                <a:extLst>
                  <a:ext uri="{0D108BD9-81ED-4DB2-BD59-A6C34878D82A}">
                    <a16:rowId xmlns:a16="http://schemas.microsoft.com/office/drawing/2014/main" val="1760666334"/>
                  </a:ext>
                </a:extLst>
              </a:tr>
              <a:tr h="259244">
                <a:tc rowSpan="6">
                  <a:txBody>
                    <a:bodyPr/>
                    <a:lstStyle/>
                    <a:p>
                      <a:pPr marL="91440" algn="l" fontAlgn="t"/>
                      <a:r>
                        <a:rPr lang="en-MY" sz="1400" b="0" i="0" u="none" strike="noStrike" dirty="0">
                          <a:solidFill>
                            <a:schemeClr val="tx1"/>
                          </a:solidFill>
                          <a:effectLst/>
                          <a:latin typeface="+mn-lt"/>
                        </a:rPr>
                        <a:t>AOI (Automated Optical Inspection)</a:t>
                      </a:r>
                    </a:p>
                  </a:txBody>
                  <a:tcPr marL="0" marR="0" marT="0" marB="0"/>
                </a:tc>
                <a:tc>
                  <a:txBody>
                    <a:bodyPr/>
                    <a:lstStyle/>
                    <a:p>
                      <a:pPr marL="91440" algn="l" fontAlgn="t"/>
                      <a:r>
                        <a:rPr lang="en-MY" sz="1400" b="0" i="0" u="none" strike="noStrike" dirty="0">
                          <a:solidFill>
                            <a:schemeClr val="tx1"/>
                          </a:solidFill>
                          <a:effectLst/>
                          <a:latin typeface="+mn-lt"/>
                        </a:rPr>
                        <a:t>In-line / offline ?</a:t>
                      </a: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a:ln>
                            <a:noFill/>
                          </a:ln>
                          <a:solidFill>
                            <a:srgbClr val="000000"/>
                          </a:solidFill>
                          <a:effectLst/>
                          <a:uLnTx/>
                          <a:uFillTx/>
                          <a:latin typeface="Intel Clear"/>
                          <a:sym typeface="Intel Clear"/>
                        </a:rPr>
                        <a:t>In-line</a:t>
                      </a:r>
                      <a:endParaRPr kumimoji="0" lang="en-MY" sz="1400" b="0" i="0" u="none" strike="noStrike" kern="0" cap="none" spc="0" normalizeH="0" baseline="0" noProof="0" dirty="0">
                        <a:ln>
                          <a:noFill/>
                        </a:ln>
                        <a:solidFill>
                          <a:srgbClr val="000000"/>
                        </a:solidFill>
                        <a:effectLst/>
                        <a:uLnTx/>
                        <a:uFillTx/>
                        <a:latin typeface="Intel Clear"/>
                        <a:sym typeface="Intel Clear"/>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a:ln>
                            <a:noFill/>
                          </a:ln>
                          <a:solidFill>
                            <a:srgbClr val="000000"/>
                          </a:solidFill>
                          <a:effectLst/>
                          <a:uLnTx/>
                          <a:uFillTx/>
                          <a:latin typeface="Intel Clear"/>
                          <a:sym typeface="Intel Clear"/>
                        </a:rPr>
                        <a:t>In-line</a:t>
                      </a:r>
                      <a:endParaRPr kumimoji="0" lang="en-MY" sz="1400" b="0" i="0" u="none" strike="noStrike" kern="0" cap="none" spc="0" normalizeH="0" baseline="0" noProof="0" dirty="0">
                        <a:ln>
                          <a:noFill/>
                        </a:ln>
                        <a:solidFill>
                          <a:srgbClr val="000000"/>
                        </a:solidFill>
                        <a:effectLst/>
                        <a:uLnTx/>
                        <a:uFillTx/>
                        <a:latin typeface="Intel Clear"/>
                        <a:sym typeface="Intel Clear"/>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a:ln>
                            <a:noFill/>
                          </a:ln>
                          <a:solidFill>
                            <a:srgbClr val="000000"/>
                          </a:solidFill>
                          <a:effectLst/>
                          <a:uLnTx/>
                          <a:uFillTx/>
                          <a:latin typeface="Intel Clear"/>
                          <a:sym typeface="Intel Clear"/>
                        </a:rPr>
                        <a:t>In-line</a:t>
                      </a:r>
                      <a:endParaRPr kumimoji="0" lang="en-MY" sz="1400" b="0" i="0" u="none" strike="noStrike" kern="0" cap="none" spc="0" normalizeH="0" baseline="0" noProof="0" dirty="0">
                        <a:ln>
                          <a:noFill/>
                        </a:ln>
                        <a:solidFill>
                          <a:srgbClr val="000000"/>
                        </a:solidFill>
                        <a:effectLst/>
                        <a:uLnTx/>
                        <a:uFillTx/>
                        <a:latin typeface="Intel Clear"/>
                        <a:sym typeface="Intel Clear"/>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dirty="0">
                          <a:ln>
                            <a:noFill/>
                          </a:ln>
                          <a:solidFill>
                            <a:srgbClr val="000000"/>
                          </a:solidFill>
                          <a:effectLst/>
                          <a:uLnTx/>
                          <a:uFillTx/>
                          <a:latin typeface="Intel Clear"/>
                          <a:sym typeface="Intel Clear"/>
                        </a:rPr>
                        <a:t>In-line</a:t>
                      </a: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a:ln>
                            <a:noFill/>
                          </a:ln>
                          <a:solidFill>
                            <a:srgbClr val="000000"/>
                          </a:solidFill>
                          <a:effectLst/>
                          <a:uLnTx/>
                          <a:uFillTx/>
                          <a:latin typeface="Intel Clear"/>
                          <a:sym typeface="Intel Clear"/>
                        </a:rPr>
                        <a:t>not answered </a:t>
                      </a:r>
                      <a:endParaRPr kumimoji="0" lang="en-MY" sz="1400" b="0" i="0" u="none" strike="noStrike" kern="0" cap="none" spc="0" normalizeH="0" baseline="0" noProof="0" dirty="0">
                        <a:ln>
                          <a:noFill/>
                        </a:ln>
                        <a:solidFill>
                          <a:srgbClr val="000000"/>
                        </a:solidFill>
                        <a:effectLst/>
                        <a:uLnTx/>
                        <a:uFillTx/>
                        <a:latin typeface="Intel Clear"/>
                        <a:sym typeface="Intel Clear"/>
                      </a:endParaRPr>
                    </a:p>
                  </a:txBody>
                  <a:tcPr marL="0" marR="0" marT="0" marB="0"/>
                </a:tc>
                <a:extLst>
                  <a:ext uri="{0D108BD9-81ED-4DB2-BD59-A6C34878D82A}">
                    <a16:rowId xmlns:a16="http://schemas.microsoft.com/office/drawing/2014/main" val="894298192"/>
                  </a:ext>
                </a:extLst>
              </a:tr>
              <a:tr h="259244">
                <a:tc vMerge="1">
                  <a:txBody>
                    <a:bodyPr/>
                    <a:lstStyle/>
                    <a:p>
                      <a:endParaRPr lang="en-MY"/>
                    </a:p>
                  </a:txBody>
                  <a:tcPr/>
                </a:tc>
                <a:tc>
                  <a:txBody>
                    <a:bodyPr/>
                    <a:lstStyle/>
                    <a:p>
                      <a:pPr marL="91440" algn="l" fontAlgn="t"/>
                      <a:r>
                        <a:rPr lang="en-MY" sz="1400" b="0" i="0" u="none" strike="noStrike" dirty="0">
                          <a:solidFill>
                            <a:schemeClr val="tx1"/>
                          </a:solidFill>
                          <a:effectLst/>
                          <a:latin typeface="+mn-lt"/>
                        </a:rPr>
                        <a:t>Sampling rate ?</a:t>
                      </a:r>
                    </a:p>
                  </a:txBody>
                  <a:tcPr marL="0" marR="0" marT="0" marB="0"/>
                </a:tc>
                <a:tc>
                  <a:txBody>
                    <a:bodyPr/>
                    <a:lstStyle/>
                    <a:p>
                      <a:pPr marL="91440" algn="l" fontAlgn="t"/>
                      <a:r>
                        <a:rPr lang="en-MY" sz="1400" b="0" i="0" u="none" strike="noStrike">
                          <a:solidFill>
                            <a:schemeClr val="tx1"/>
                          </a:solidFill>
                          <a:effectLst/>
                          <a:latin typeface="+mn-lt"/>
                        </a:rPr>
                        <a:t>100%</a:t>
                      </a:r>
                    </a:p>
                  </a:txBody>
                  <a:tcPr marL="0" marR="0" marT="0" marB="0"/>
                </a:tc>
                <a:tc>
                  <a:txBody>
                    <a:bodyPr/>
                    <a:lstStyle/>
                    <a:p>
                      <a:pPr marL="91440" algn="l" fontAlgn="t"/>
                      <a:r>
                        <a:rPr lang="en-MY" sz="1400" b="0" i="0" u="none" strike="noStrike" dirty="0">
                          <a:solidFill>
                            <a:schemeClr val="tx1"/>
                          </a:solidFill>
                          <a:effectLst/>
                          <a:latin typeface="+mn-lt"/>
                        </a:rPr>
                        <a:t>100%</a:t>
                      </a:r>
                    </a:p>
                  </a:txBody>
                  <a:tcPr marL="0" marR="0" marT="0" marB="0"/>
                </a:tc>
                <a:tc>
                  <a:txBody>
                    <a:bodyPr/>
                    <a:lstStyle/>
                    <a:p>
                      <a:pPr marL="91440" algn="l" fontAlgn="t"/>
                      <a:r>
                        <a:rPr lang="en-MY" sz="1400" b="0" i="0" u="none" strike="noStrike" dirty="0">
                          <a:solidFill>
                            <a:schemeClr val="tx1"/>
                          </a:solidFill>
                          <a:effectLst/>
                          <a:latin typeface="+mn-lt"/>
                        </a:rPr>
                        <a:t>100%</a:t>
                      </a:r>
                    </a:p>
                  </a:txBody>
                  <a:tcPr marL="0" marR="0" marT="0" marB="0"/>
                </a:tc>
                <a:tc>
                  <a:txBody>
                    <a:bodyPr/>
                    <a:lstStyle/>
                    <a:p>
                      <a:pPr marL="91440" algn="l" fontAlgn="t"/>
                      <a:r>
                        <a:rPr lang="en-MY" sz="1400" b="0" i="0" u="none" strike="noStrike">
                          <a:solidFill>
                            <a:schemeClr val="tx1"/>
                          </a:solidFill>
                          <a:effectLst/>
                          <a:latin typeface="+mn-lt"/>
                        </a:rPr>
                        <a:t>100%</a:t>
                      </a: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a:ln>
                            <a:noFill/>
                          </a:ln>
                          <a:solidFill>
                            <a:srgbClr val="000000"/>
                          </a:solidFill>
                          <a:effectLst/>
                          <a:uLnTx/>
                          <a:uFillTx/>
                          <a:latin typeface="Intel Clear"/>
                          <a:sym typeface="Intel Clear"/>
                        </a:rPr>
                        <a:t>not answered </a:t>
                      </a:r>
                      <a:endParaRPr kumimoji="0" lang="en-MY" sz="1400" b="0" i="0" u="none" strike="noStrike" kern="0" cap="none" spc="0" normalizeH="0" baseline="0" noProof="0" dirty="0">
                        <a:ln>
                          <a:noFill/>
                        </a:ln>
                        <a:solidFill>
                          <a:srgbClr val="000000"/>
                        </a:solidFill>
                        <a:effectLst/>
                        <a:uLnTx/>
                        <a:uFillTx/>
                        <a:latin typeface="Intel Clear"/>
                        <a:sym typeface="Intel Clear"/>
                      </a:endParaRPr>
                    </a:p>
                  </a:txBody>
                  <a:tcPr marL="0" marR="0" marT="0" marB="0"/>
                </a:tc>
                <a:extLst>
                  <a:ext uri="{0D108BD9-81ED-4DB2-BD59-A6C34878D82A}">
                    <a16:rowId xmlns:a16="http://schemas.microsoft.com/office/drawing/2014/main" val="2879692318"/>
                  </a:ext>
                </a:extLst>
              </a:tr>
              <a:tr h="259244">
                <a:tc vMerge="1">
                  <a:txBody>
                    <a:bodyPr/>
                    <a:lstStyle/>
                    <a:p>
                      <a:endParaRPr lang="en-MY"/>
                    </a:p>
                  </a:txBody>
                  <a:tcPr/>
                </a:tc>
                <a:tc>
                  <a:txBody>
                    <a:bodyPr/>
                    <a:lstStyle/>
                    <a:p>
                      <a:pPr marL="91440" algn="l" fontAlgn="t"/>
                      <a:r>
                        <a:rPr lang="en-US" sz="1400" b="0" i="0" u="none" strike="noStrike">
                          <a:solidFill>
                            <a:schemeClr val="tx1"/>
                          </a:solidFill>
                          <a:effectLst/>
                          <a:latin typeface="+mn-lt"/>
                        </a:rPr>
                        <a:t>How many AOI's are used?</a:t>
                      </a: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lang="en-MY" sz="1400" b="0" i="0" u="none" strike="noStrike" dirty="0">
                          <a:solidFill>
                            <a:schemeClr val="tx1"/>
                          </a:solidFill>
                          <a:effectLst/>
                          <a:latin typeface="+mn-lt"/>
                        </a:rPr>
                        <a:t>not answered </a:t>
                      </a:r>
                    </a:p>
                  </a:txBody>
                  <a:tcPr marL="0" marR="0" marT="0" marB="0"/>
                </a:tc>
                <a:tc>
                  <a:txBody>
                    <a:bodyPr/>
                    <a:lstStyle/>
                    <a:p>
                      <a:pPr marL="91440" algn="l" fontAlgn="t"/>
                      <a:r>
                        <a:rPr lang="en-MY" sz="1400" b="0" i="0" u="none" strike="noStrike">
                          <a:solidFill>
                            <a:schemeClr val="tx1"/>
                          </a:solidFill>
                          <a:effectLst/>
                          <a:latin typeface="+mn-lt"/>
                        </a:rPr>
                        <a:t>2</a:t>
                      </a:r>
                    </a:p>
                  </a:txBody>
                  <a:tcPr marL="0" marR="0" marT="0" marB="0"/>
                </a:tc>
                <a:tc>
                  <a:txBody>
                    <a:bodyPr/>
                    <a:lstStyle/>
                    <a:p>
                      <a:pPr marL="91440" algn="l" fontAlgn="t"/>
                      <a:r>
                        <a:rPr lang="en-MY" sz="1400" b="0" i="0" u="none" strike="noStrike" dirty="0">
                          <a:solidFill>
                            <a:schemeClr val="tx1"/>
                          </a:solidFill>
                          <a:effectLst/>
                          <a:latin typeface="+mn-lt"/>
                        </a:rPr>
                        <a:t>2</a:t>
                      </a:r>
                    </a:p>
                  </a:txBody>
                  <a:tcPr marL="0" marR="0" marT="0" marB="0"/>
                </a:tc>
                <a:tc>
                  <a:txBody>
                    <a:bodyPr/>
                    <a:lstStyle/>
                    <a:p>
                      <a:pPr marL="91440" algn="l" fontAlgn="t"/>
                      <a:r>
                        <a:rPr lang="en-MY" sz="1400" b="0" i="0" u="none" strike="noStrike">
                          <a:solidFill>
                            <a:schemeClr val="tx1"/>
                          </a:solidFill>
                          <a:effectLst/>
                          <a:latin typeface="+mn-lt"/>
                        </a:rPr>
                        <a:t>1pcs/ 1 line</a:t>
                      </a: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a:ln>
                            <a:noFill/>
                          </a:ln>
                          <a:solidFill>
                            <a:srgbClr val="000000"/>
                          </a:solidFill>
                          <a:effectLst/>
                          <a:uLnTx/>
                          <a:uFillTx/>
                          <a:latin typeface="Intel Clear"/>
                          <a:sym typeface="Intel Clear"/>
                        </a:rPr>
                        <a:t>not answered </a:t>
                      </a:r>
                      <a:endParaRPr kumimoji="0" lang="en-MY" sz="1400" b="0" i="0" u="none" strike="noStrike" kern="0" cap="none" spc="0" normalizeH="0" baseline="0" noProof="0" dirty="0">
                        <a:ln>
                          <a:noFill/>
                        </a:ln>
                        <a:solidFill>
                          <a:srgbClr val="000000"/>
                        </a:solidFill>
                        <a:effectLst/>
                        <a:uLnTx/>
                        <a:uFillTx/>
                        <a:latin typeface="Intel Clear"/>
                        <a:sym typeface="Intel Clear"/>
                      </a:endParaRPr>
                    </a:p>
                  </a:txBody>
                  <a:tcPr marL="0" marR="0" marT="0" marB="0"/>
                </a:tc>
                <a:extLst>
                  <a:ext uri="{0D108BD9-81ED-4DB2-BD59-A6C34878D82A}">
                    <a16:rowId xmlns:a16="http://schemas.microsoft.com/office/drawing/2014/main" val="500339387"/>
                  </a:ext>
                </a:extLst>
              </a:tr>
              <a:tr h="259244">
                <a:tc vMerge="1">
                  <a:txBody>
                    <a:bodyPr/>
                    <a:lstStyle/>
                    <a:p>
                      <a:endParaRPr lang="en-MY"/>
                    </a:p>
                  </a:txBody>
                  <a:tcPr/>
                </a:tc>
                <a:tc>
                  <a:txBody>
                    <a:bodyPr/>
                    <a:lstStyle/>
                    <a:p>
                      <a:pPr marL="91440" algn="l" fontAlgn="t"/>
                      <a:r>
                        <a:rPr lang="en-MY" sz="1400" b="0" i="0" u="none" strike="noStrike">
                          <a:solidFill>
                            <a:schemeClr val="tx1"/>
                          </a:solidFill>
                          <a:effectLst/>
                          <a:latin typeface="+mn-lt"/>
                        </a:rPr>
                        <a:t>Where is AOI located?</a:t>
                      </a:r>
                    </a:p>
                  </a:txBody>
                  <a:tcPr marL="0" marR="0" marT="0" marB="0"/>
                </a:tc>
                <a:tc>
                  <a:txBody>
                    <a:bodyPr/>
                    <a:lstStyle/>
                    <a:p>
                      <a:pPr marL="91440" algn="l" fontAlgn="ctr"/>
                      <a:r>
                        <a:rPr lang="en-MY" sz="1400" b="0" i="0" u="none" strike="noStrike" dirty="0">
                          <a:solidFill>
                            <a:schemeClr val="tx1"/>
                          </a:solidFill>
                          <a:effectLst/>
                          <a:latin typeface="+mn-lt"/>
                        </a:rPr>
                        <a:t>After reflow</a:t>
                      </a:r>
                    </a:p>
                  </a:txBody>
                  <a:tcPr marL="0" marR="0" marT="0" marB="0"/>
                </a:tc>
                <a:tc>
                  <a:txBody>
                    <a:bodyPr/>
                    <a:lstStyle/>
                    <a:p>
                      <a:pPr marL="91440" algn="l" fontAlgn="t"/>
                      <a:r>
                        <a:rPr lang="en-US" sz="1400" b="0" i="0" u="none" strike="noStrike" dirty="0">
                          <a:solidFill>
                            <a:schemeClr val="tx1"/>
                          </a:solidFill>
                          <a:effectLst/>
                          <a:latin typeface="+mn-lt"/>
                        </a:rPr>
                        <a:t>after reflow/ before wave </a:t>
                      </a:r>
                    </a:p>
                  </a:txBody>
                  <a:tcPr marL="0" marR="0" marT="0" marB="0"/>
                </a:tc>
                <a:tc>
                  <a:txBody>
                    <a:bodyPr/>
                    <a:lstStyle/>
                    <a:p>
                      <a:pPr marL="91440" algn="l" fontAlgn="ctr"/>
                      <a:r>
                        <a:rPr lang="en-MY" sz="1400" b="0" i="0" u="none" strike="noStrike" dirty="0">
                          <a:solidFill>
                            <a:schemeClr val="tx1"/>
                          </a:solidFill>
                          <a:effectLst/>
                          <a:latin typeface="+mn-lt"/>
                        </a:rPr>
                        <a:t>After reflow</a:t>
                      </a:r>
                    </a:p>
                  </a:txBody>
                  <a:tcPr marL="0" marR="0" marT="0" marB="0"/>
                </a:tc>
                <a:tc>
                  <a:txBody>
                    <a:bodyPr/>
                    <a:lstStyle/>
                    <a:p>
                      <a:pPr marL="91440" algn="l" fontAlgn="ctr"/>
                      <a:r>
                        <a:rPr lang="en-MY" sz="1400" b="0" i="0" u="none" strike="noStrike" dirty="0">
                          <a:solidFill>
                            <a:schemeClr val="tx1"/>
                          </a:solidFill>
                          <a:effectLst/>
                          <a:latin typeface="+mn-lt"/>
                        </a:rPr>
                        <a:t>After reflow</a:t>
                      </a: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a:ln>
                            <a:noFill/>
                          </a:ln>
                          <a:solidFill>
                            <a:srgbClr val="000000"/>
                          </a:solidFill>
                          <a:effectLst/>
                          <a:uLnTx/>
                          <a:uFillTx/>
                          <a:latin typeface="Intel Clear"/>
                          <a:sym typeface="Intel Clear"/>
                        </a:rPr>
                        <a:t>not answered </a:t>
                      </a:r>
                      <a:endParaRPr kumimoji="0" lang="en-MY" sz="1400" b="0" i="0" u="none" strike="noStrike" kern="0" cap="none" spc="0" normalizeH="0" baseline="0" noProof="0" dirty="0">
                        <a:ln>
                          <a:noFill/>
                        </a:ln>
                        <a:solidFill>
                          <a:srgbClr val="000000"/>
                        </a:solidFill>
                        <a:effectLst/>
                        <a:uLnTx/>
                        <a:uFillTx/>
                        <a:latin typeface="Intel Clear"/>
                        <a:sym typeface="Intel Clear"/>
                      </a:endParaRPr>
                    </a:p>
                  </a:txBody>
                  <a:tcPr marL="0" marR="0" marT="0" marB="0"/>
                </a:tc>
                <a:extLst>
                  <a:ext uri="{0D108BD9-81ED-4DB2-BD59-A6C34878D82A}">
                    <a16:rowId xmlns:a16="http://schemas.microsoft.com/office/drawing/2014/main" val="650322897"/>
                  </a:ext>
                </a:extLst>
              </a:tr>
              <a:tr h="259244">
                <a:tc vMerge="1">
                  <a:txBody>
                    <a:bodyPr/>
                    <a:lstStyle/>
                    <a:p>
                      <a:endParaRPr lang="en-MY"/>
                    </a:p>
                  </a:txBody>
                  <a:tcPr/>
                </a:tc>
                <a:tc>
                  <a:txBody>
                    <a:bodyPr/>
                    <a:lstStyle/>
                    <a:p>
                      <a:pPr marL="91440" algn="l" fontAlgn="t"/>
                      <a:r>
                        <a:rPr lang="en-US" sz="1400" b="0" i="0" u="none" strike="noStrike" dirty="0">
                          <a:solidFill>
                            <a:schemeClr val="tx1"/>
                          </a:solidFill>
                          <a:effectLst/>
                          <a:latin typeface="+mn-lt"/>
                        </a:rPr>
                        <a:t>Is AOI Performed on selective components or 100%?</a:t>
                      </a:r>
                    </a:p>
                  </a:txBody>
                  <a:tcPr marL="0" marR="0" marT="0" marB="0"/>
                </a:tc>
                <a:tc>
                  <a:txBody>
                    <a:bodyPr/>
                    <a:lstStyle/>
                    <a:p>
                      <a:pPr marL="91440" algn="l" fontAlgn="t"/>
                      <a:r>
                        <a:rPr lang="en-MY" sz="1400" b="0" i="0" u="none" strike="noStrike">
                          <a:solidFill>
                            <a:schemeClr val="tx1"/>
                          </a:solidFill>
                          <a:effectLst/>
                          <a:latin typeface="+mn-lt"/>
                        </a:rPr>
                        <a:t>100%</a:t>
                      </a:r>
                    </a:p>
                  </a:txBody>
                  <a:tcPr marL="0" marR="0" marT="0" marB="0"/>
                </a:tc>
                <a:tc>
                  <a:txBody>
                    <a:bodyPr/>
                    <a:lstStyle/>
                    <a:p>
                      <a:pPr marL="91440" algn="l" fontAlgn="t"/>
                      <a:r>
                        <a:rPr lang="en-MY" sz="1400" b="0" i="0" u="none" strike="noStrike">
                          <a:solidFill>
                            <a:schemeClr val="tx1"/>
                          </a:solidFill>
                          <a:effectLst/>
                          <a:latin typeface="+mn-lt"/>
                        </a:rPr>
                        <a:t>100%</a:t>
                      </a:r>
                    </a:p>
                  </a:txBody>
                  <a:tcPr marL="0" marR="0" marT="0" marB="0"/>
                </a:tc>
                <a:tc>
                  <a:txBody>
                    <a:bodyPr/>
                    <a:lstStyle/>
                    <a:p>
                      <a:pPr marL="91440" algn="l" fontAlgn="ctr"/>
                      <a:r>
                        <a:rPr lang="en-MY" sz="1400" b="0" i="0" u="none" strike="noStrike" dirty="0">
                          <a:solidFill>
                            <a:schemeClr val="tx1"/>
                          </a:solidFill>
                          <a:effectLst/>
                          <a:latin typeface="+mn-lt"/>
                        </a:rPr>
                        <a:t>100%</a:t>
                      </a:r>
                    </a:p>
                  </a:txBody>
                  <a:tcPr marL="0" marR="0" marT="0" marB="0"/>
                </a:tc>
                <a:tc>
                  <a:txBody>
                    <a:bodyPr/>
                    <a:lstStyle/>
                    <a:p>
                      <a:pPr marL="91440" algn="l" fontAlgn="t"/>
                      <a:r>
                        <a:rPr lang="en-MY" sz="1400" b="0" i="0" u="none" strike="noStrike">
                          <a:solidFill>
                            <a:schemeClr val="tx1"/>
                          </a:solidFill>
                          <a:effectLst/>
                          <a:latin typeface="+mn-lt"/>
                        </a:rPr>
                        <a:t>100%</a:t>
                      </a: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a:ln>
                            <a:noFill/>
                          </a:ln>
                          <a:solidFill>
                            <a:srgbClr val="000000"/>
                          </a:solidFill>
                          <a:effectLst/>
                          <a:uLnTx/>
                          <a:uFillTx/>
                          <a:latin typeface="Intel Clear"/>
                          <a:sym typeface="Intel Clear"/>
                        </a:rPr>
                        <a:t>not answered </a:t>
                      </a:r>
                      <a:endParaRPr kumimoji="0" lang="en-MY" sz="1400" b="0" i="0" u="none" strike="noStrike" kern="0" cap="none" spc="0" normalizeH="0" baseline="0" noProof="0" dirty="0">
                        <a:ln>
                          <a:noFill/>
                        </a:ln>
                        <a:solidFill>
                          <a:srgbClr val="000000"/>
                        </a:solidFill>
                        <a:effectLst/>
                        <a:uLnTx/>
                        <a:uFillTx/>
                        <a:latin typeface="Intel Clear"/>
                        <a:sym typeface="Intel Clear"/>
                      </a:endParaRPr>
                    </a:p>
                  </a:txBody>
                  <a:tcPr marL="0" marR="0" marT="0" marB="0"/>
                </a:tc>
                <a:extLst>
                  <a:ext uri="{0D108BD9-81ED-4DB2-BD59-A6C34878D82A}">
                    <a16:rowId xmlns:a16="http://schemas.microsoft.com/office/drawing/2014/main" val="3083553593"/>
                  </a:ext>
                </a:extLst>
              </a:tr>
              <a:tr h="259244">
                <a:tc vMerge="1">
                  <a:txBody>
                    <a:bodyPr/>
                    <a:lstStyle/>
                    <a:p>
                      <a:endParaRPr lang="en-MY"/>
                    </a:p>
                  </a:txBody>
                  <a:tcPr/>
                </a:tc>
                <a:tc>
                  <a:txBody>
                    <a:bodyPr/>
                    <a:lstStyle/>
                    <a:p>
                      <a:pPr marL="91440" algn="l" fontAlgn="t"/>
                      <a:r>
                        <a:rPr lang="en-US" sz="1400" b="0" i="0" u="none" strike="noStrike" dirty="0">
                          <a:solidFill>
                            <a:schemeClr val="tx1"/>
                          </a:solidFill>
                          <a:effectLst/>
                          <a:latin typeface="+mn-lt"/>
                        </a:rPr>
                        <a:t>Maximum board handling capability (length x width)</a:t>
                      </a:r>
                    </a:p>
                  </a:txBody>
                  <a:tcPr marL="0" marR="0" marT="0" marB="0"/>
                </a:tc>
                <a:tc>
                  <a:txBody>
                    <a:bodyPr/>
                    <a:lstStyle/>
                    <a:p>
                      <a:pPr marL="91440" algn="l" fontAlgn="ctr"/>
                      <a:r>
                        <a:rPr lang="en-MY" sz="1400" b="0" i="0" u="none" strike="noStrike" dirty="0">
                          <a:solidFill>
                            <a:schemeClr val="tx1"/>
                          </a:solidFill>
                          <a:effectLst/>
                          <a:latin typeface="+mn-lt"/>
                        </a:rPr>
                        <a:t>510 x 460</a:t>
                      </a:r>
                    </a:p>
                  </a:txBody>
                  <a:tcPr marL="0" marR="0" marT="0" marB="0"/>
                </a:tc>
                <a:tc>
                  <a:txBody>
                    <a:bodyPr/>
                    <a:lstStyle/>
                    <a:p>
                      <a:pPr marL="91440" algn="l" fontAlgn="t"/>
                      <a:r>
                        <a:rPr lang="en-MY" sz="1400" u="none" strike="noStrike" dirty="0">
                          <a:effectLst/>
                          <a:latin typeface="+mn-lt"/>
                        </a:rPr>
                        <a:t>width 500</a:t>
                      </a:r>
                      <a:endParaRPr lang="en-MY" sz="1400" b="0" i="0" u="none" strike="noStrike" dirty="0">
                        <a:solidFill>
                          <a:schemeClr val="tx1"/>
                        </a:solidFill>
                        <a:effectLst/>
                        <a:latin typeface="+mn-lt"/>
                      </a:endParaRPr>
                    </a:p>
                  </a:txBody>
                  <a:tcPr marL="0" marR="0" marT="0" marB="0"/>
                </a:tc>
                <a:tc>
                  <a:txBody>
                    <a:bodyPr/>
                    <a:lstStyle/>
                    <a:p>
                      <a:pPr marL="91440" algn="l" fontAlgn="ctr"/>
                      <a:r>
                        <a:rPr lang="en-MY" sz="1400" b="0" i="0" u="none" strike="noStrike" dirty="0">
                          <a:solidFill>
                            <a:schemeClr val="tx1"/>
                          </a:solidFill>
                          <a:effectLst/>
                          <a:latin typeface="+mn-lt"/>
                        </a:rPr>
                        <a:t>510 x 460</a:t>
                      </a:r>
                    </a:p>
                  </a:txBody>
                  <a:tcPr marL="0" marR="0" marT="0" marB="0"/>
                </a:tc>
                <a:tc>
                  <a:txBody>
                    <a:bodyPr/>
                    <a:lstStyle/>
                    <a:p>
                      <a:pPr marL="91440" algn="l" fontAlgn="t"/>
                      <a:r>
                        <a:rPr lang="en-MY" sz="1400" b="0" i="0" u="none" strike="noStrike" dirty="0">
                          <a:solidFill>
                            <a:schemeClr val="tx1"/>
                          </a:solidFill>
                          <a:effectLst/>
                          <a:latin typeface="+mn-lt"/>
                        </a:rPr>
                        <a:t>460 x 510</a:t>
                      </a: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400" b="0" i="0" u="none" strike="noStrike" kern="0" cap="none" spc="0" normalizeH="0" baseline="0" noProof="0" dirty="0">
                          <a:ln>
                            <a:noFill/>
                          </a:ln>
                          <a:solidFill>
                            <a:srgbClr val="000000"/>
                          </a:solidFill>
                          <a:effectLst/>
                          <a:uLnTx/>
                          <a:uFillTx/>
                          <a:latin typeface="Intel Clear"/>
                          <a:sym typeface="Intel Clear"/>
                        </a:rPr>
                        <a:t>not answered </a:t>
                      </a:r>
                    </a:p>
                  </a:txBody>
                  <a:tcPr marL="0" marR="0" marT="0" marB="0"/>
                </a:tc>
                <a:extLst>
                  <a:ext uri="{0D108BD9-81ED-4DB2-BD59-A6C34878D82A}">
                    <a16:rowId xmlns:a16="http://schemas.microsoft.com/office/drawing/2014/main" val="2714999655"/>
                  </a:ext>
                </a:extLst>
              </a:tr>
            </a:tbl>
          </a:graphicData>
        </a:graphic>
      </p:graphicFrame>
      <p:sp>
        <p:nvSpPr>
          <p:cNvPr id="5" name="Rectangle: Rounded Corners 4">
            <a:extLst>
              <a:ext uri="{FF2B5EF4-FFF2-40B4-BE49-F238E27FC236}">
                <a16:creationId xmlns:a16="http://schemas.microsoft.com/office/drawing/2014/main" id="{D46858D6-E559-42F1-87B6-29ED7E556A36}"/>
              </a:ext>
            </a:extLst>
          </p:cNvPr>
          <p:cNvSpPr/>
          <p:nvPr/>
        </p:nvSpPr>
        <p:spPr>
          <a:xfrm>
            <a:off x="661459" y="5359123"/>
            <a:ext cx="10678583"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SPI control limits range between 60%-180%</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AOI is performed on 100% of components and located after reflow</a:t>
            </a:r>
          </a:p>
        </p:txBody>
      </p:sp>
      <p:sp>
        <p:nvSpPr>
          <p:cNvPr id="6" name="Action Button: Go Home 5">
            <a:hlinkClick r:id="rId2" action="ppaction://hlinksldjump" highlightClick="1"/>
            <a:extLst>
              <a:ext uri="{FF2B5EF4-FFF2-40B4-BE49-F238E27FC236}">
                <a16:creationId xmlns:a16="http://schemas.microsoft.com/office/drawing/2014/main" id="{802799F0-117C-4580-A1B0-A7DD43295204}"/>
              </a:ext>
            </a:extLst>
          </p:cNvPr>
          <p:cNvSpPr/>
          <p:nvPr/>
        </p:nvSpPr>
        <p:spPr>
          <a:xfrm>
            <a:off x="11399520" y="81280"/>
            <a:ext cx="487680" cy="451311"/>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42477965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A9707-5156-41F3-9BD6-83853633F13F}"/>
              </a:ext>
            </a:extLst>
          </p:cNvPr>
          <p:cNvSpPr>
            <a:spLocks noGrp="1"/>
          </p:cNvSpPr>
          <p:nvPr>
            <p:ph type="title"/>
          </p:nvPr>
        </p:nvSpPr>
        <p:spPr>
          <a:xfrm>
            <a:off x="607484" y="47730"/>
            <a:ext cx="10972800" cy="502603"/>
          </a:xfrm>
        </p:spPr>
        <p:txBody>
          <a:bodyPr/>
          <a:lstStyle/>
          <a:p>
            <a:r>
              <a:rPr lang="en-US" dirty="0"/>
              <a:t>PCBA Test Process</a:t>
            </a:r>
            <a:endParaRPr lang="en-MY" dirty="0"/>
          </a:p>
        </p:txBody>
      </p:sp>
      <p:graphicFrame>
        <p:nvGraphicFramePr>
          <p:cNvPr id="4" name="Content Placeholder 3">
            <a:extLst>
              <a:ext uri="{FF2B5EF4-FFF2-40B4-BE49-F238E27FC236}">
                <a16:creationId xmlns:a16="http://schemas.microsoft.com/office/drawing/2014/main" id="{F4C4F9EE-9506-4C4C-B40C-F4271BBF6041}"/>
              </a:ext>
            </a:extLst>
          </p:cNvPr>
          <p:cNvGraphicFramePr>
            <a:graphicFrameLocks noGrp="1"/>
          </p:cNvGraphicFramePr>
          <p:nvPr>
            <p:ph sz="quarter" idx="13"/>
            <p:extLst>
              <p:ext uri="{D42A27DB-BD31-4B8C-83A1-F6EECF244321}">
                <p14:modId xmlns:p14="http://schemas.microsoft.com/office/powerpoint/2010/main" val="3116275068"/>
              </p:ext>
            </p:extLst>
          </p:nvPr>
        </p:nvGraphicFramePr>
        <p:xfrm>
          <a:off x="158778" y="595490"/>
          <a:ext cx="11592956" cy="4179710"/>
        </p:xfrm>
        <a:graphic>
          <a:graphicData uri="http://schemas.openxmlformats.org/drawingml/2006/table">
            <a:tbl>
              <a:tblPr firstRow="1" bandRow="1">
                <a:tableStyleId>{69012ECD-51FC-41F1-AA8D-1B2483CD663E}</a:tableStyleId>
              </a:tblPr>
              <a:tblGrid>
                <a:gridCol w="1503719">
                  <a:extLst>
                    <a:ext uri="{9D8B030D-6E8A-4147-A177-3AD203B41FA5}">
                      <a16:colId xmlns:a16="http://schemas.microsoft.com/office/drawing/2014/main" val="1692685995"/>
                    </a:ext>
                  </a:extLst>
                </a:gridCol>
                <a:gridCol w="3455235">
                  <a:extLst>
                    <a:ext uri="{9D8B030D-6E8A-4147-A177-3AD203B41FA5}">
                      <a16:colId xmlns:a16="http://schemas.microsoft.com/office/drawing/2014/main" val="766677285"/>
                    </a:ext>
                  </a:extLst>
                </a:gridCol>
                <a:gridCol w="1843578">
                  <a:extLst>
                    <a:ext uri="{9D8B030D-6E8A-4147-A177-3AD203B41FA5}">
                      <a16:colId xmlns:a16="http://schemas.microsoft.com/office/drawing/2014/main" val="1362813313"/>
                    </a:ext>
                  </a:extLst>
                </a:gridCol>
                <a:gridCol w="1705110">
                  <a:extLst>
                    <a:ext uri="{9D8B030D-6E8A-4147-A177-3AD203B41FA5}">
                      <a16:colId xmlns:a16="http://schemas.microsoft.com/office/drawing/2014/main" val="3296549446"/>
                    </a:ext>
                  </a:extLst>
                </a:gridCol>
                <a:gridCol w="1551100">
                  <a:extLst>
                    <a:ext uri="{9D8B030D-6E8A-4147-A177-3AD203B41FA5}">
                      <a16:colId xmlns:a16="http://schemas.microsoft.com/office/drawing/2014/main" val="2579843292"/>
                    </a:ext>
                  </a:extLst>
                </a:gridCol>
                <a:gridCol w="1534214">
                  <a:extLst>
                    <a:ext uri="{9D8B030D-6E8A-4147-A177-3AD203B41FA5}">
                      <a16:colId xmlns:a16="http://schemas.microsoft.com/office/drawing/2014/main" val="3841248342"/>
                    </a:ext>
                  </a:extLst>
                </a:gridCol>
              </a:tblGrid>
              <a:tr h="195298">
                <a:tc gridSpan="2">
                  <a:txBody>
                    <a:bodyPr/>
                    <a:lstStyle/>
                    <a:p>
                      <a:pPr marL="91440" marR="0" lvl="0" indent="0" algn="l" defTabSz="609600" rtl="0" eaLnBrk="1" fontAlgn="ctr" latinLnBrk="0" hangingPunct="1">
                        <a:lnSpc>
                          <a:spcPct val="100000"/>
                        </a:lnSpc>
                        <a:spcBef>
                          <a:spcPts val="0"/>
                        </a:spcBef>
                        <a:spcAft>
                          <a:spcPts val="0"/>
                        </a:spcAft>
                        <a:buClrTx/>
                        <a:buSzTx/>
                        <a:buFontTx/>
                        <a:buNone/>
                        <a:tabLst/>
                        <a:defRPr/>
                      </a:pPr>
                      <a:r>
                        <a:rPr lang="en-US" sz="1600" u="none" strike="noStrike" dirty="0">
                          <a:effectLst/>
                        </a:rPr>
                        <a:t>Process Parameter / Capability</a:t>
                      </a:r>
                      <a:endParaRPr lang="en-MY" sz="1600" b="1" i="0" u="none" strike="noStrike" dirty="0">
                        <a:solidFill>
                          <a:schemeClr val="bg1"/>
                        </a:solidFill>
                        <a:effectLst/>
                        <a:latin typeface="+mn-lt"/>
                      </a:endParaRPr>
                    </a:p>
                  </a:txBody>
                  <a:tcPr marL="0" marR="0" marT="0" marB="0"/>
                </a:tc>
                <a:tc hMerge="1">
                  <a:txBody>
                    <a:bodyPr/>
                    <a:lstStyle/>
                    <a:p>
                      <a:pPr marL="91440" marR="0" lvl="0" indent="0" algn="l" defTabSz="609600" rtl="0" eaLnBrk="1" fontAlgn="ctr" latinLnBrk="0" hangingPunct="1">
                        <a:lnSpc>
                          <a:spcPct val="100000"/>
                        </a:lnSpc>
                        <a:spcBef>
                          <a:spcPts val="0"/>
                        </a:spcBef>
                        <a:spcAft>
                          <a:spcPts val="0"/>
                        </a:spcAft>
                        <a:buClrTx/>
                        <a:buSzTx/>
                        <a:buFontTx/>
                        <a:buNone/>
                        <a:tabLst/>
                        <a:defRPr/>
                      </a:pPr>
                      <a:endParaRPr lang="en-MY" sz="1200" b="1" i="0" u="none" strike="noStrike" dirty="0">
                        <a:solidFill>
                          <a:schemeClr val="bg1"/>
                        </a:solidFill>
                        <a:effectLst/>
                        <a:latin typeface="+mn-lt"/>
                      </a:endParaRPr>
                    </a:p>
                  </a:txBody>
                  <a:tcPr marL="0" marR="0" marT="0" marB="0"/>
                </a:tc>
                <a:tc>
                  <a:txBody>
                    <a:bodyPr/>
                    <a:lstStyle/>
                    <a:p>
                      <a:pPr marL="91440" algn="l" rtl="0" fontAlgn="ctr"/>
                      <a:r>
                        <a:rPr lang="en-MY" sz="1600" u="none" strike="noStrike" dirty="0">
                          <a:effectLst/>
                        </a:rPr>
                        <a:t>ECS</a:t>
                      </a:r>
                      <a:endParaRPr lang="en-MY" sz="1600" b="1" i="0" u="none" strike="noStrike" dirty="0">
                        <a:solidFill>
                          <a:schemeClr val="bg1"/>
                        </a:solidFill>
                        <a:effectLst/>
                        <a:latin typeface="+mn-lt"/>
                      </a:endParaRPr>
                    </a:p>
                  </a:txBody>
                  <a:tcPr marL="0" marR="0" marT="0" marB="0"/>
                </a:tc>
                <a:tc>
                  <a:txBody>
                    <a:bodyPr/>
                    <a:lstStyle/>
                    <a:p>
                      <a:pPr marL="91440" algn="l" rtl="0" fontAlgn="ctr"/>
                      <a:r>
                        <a:rPr lang="en-MY" sz="1600" u="none" strike="noStrike" dirty="0">
                          <a:effectLst/>
                        </a:rPr>
                        <a:t>LCFC</a:t>
                      </a:r>
                      <a:endParaRPr lang="en-MY" sz="1600" b="1" i="0" u="none" strike="noStrike" dirty="0">
                        <a:solidFill>
                          <a:schemeClr val="bg1"/>
                        </a:solidFill>
                        <a:effectLst/>
                        <a:latin typeface="+mn-lt"/>
                      </a:endParaRPr>
                    </a:p>
                  </a:txBody>
                  <a:tcPr marL="0" marR="0" marT="0" marB="0"/>
                </a:tc>
                <a:tc>
                  <a:txBody>
                    <a:bodyPr/>
                    <a:lstStyle/>
                    <a:p>
                      <a:pPr marL="91440" algn="l" rtl="0" fontAlgn="ctr"/>
                      <a:r>
                        <a:rPr lang="en-MY" sz="1600" u="none" strike="noStrike" dirty="0">
                          <a:effectLst/>
                        </a:rPr>
                        <a:t>FXWH</a:t>
                      </a:r>
                      <a:endParaRPr lang="en-MY" sz="1600" b="1" i="0" u="none" strike="noStrike" dirty="0">
                        <a:solidFill>
                          <a:schemeClr val="bg1"/>
                        </a:solidFill>
                        <a:effectLst/>
                        <a:latin typeface="+mn-lt"/>
                      </a:endParaRPr>
                    </a:p>
                  </a:txBody>
                  <a:tcPr marL="0" marR="0" marT="0" marB="0"/>
                </a:tc>
                <a:tc>
                  <a:txBody>
                    <a:bodyPr/>
                    <a:lstStyle/>
                    <a:p>
                      <a:pPr marL="91440" algn="l" rtl="0" fontAlgn="ctr"/>
                      <a:r>
                        <a:rPr lang="en-MY" sz="1600" u="none" strike="noStrike" dirty="0">
                          <a:effectLst/>
                        </a:rPr>
                        <a:t>LITEON</a:t>
                      </a:r>
                      <a:endParaRPr lang="en-MY" sz="1600" b="1" i="0" u="none" strike="noStrike" dirty="0">
                        <a:solidFill>
                          <a:schemeClr val="bg1"/>
                        </a:solidFill>
                        <a:effectLst/>
                        <a:latin typeface="+mn-lt"/>
                      </a:endParaRPr>
                    </a:p>
                  </a:txBody>
                  <a:tcPr marL="0" marR="0" marT="0" marB="0"/>
                </a:tc>
                <a:extLst>
                  <a:ext uri="{0D108BD9-81ED-4DB2-BD59-A6C34878D82A}">
                    <a16:rowId xmlns:a16="http://schemas.microsoft.com/office/drawing/2014/main" val="3852518198"/>
                  </a:ext>
                </a:extLst>
              </a:tr>
              <a:tr h="278997">
                <a:tc rowSpan="6">
                  <a:txBody>
                    <a:bodyPr/>
                    <a:lstStyle/>
                    <a:p>
                      <a:pPr marL="91440" algn="l" fontAlgn="t"/>
                      <a:r>
                        <a:rPr lang="en-MY" sz="1200" u="none" strike="noStrike" dirty="0">
                          <a:effectLst/>
                        </a:rPr>
                        <a:t>Bed of Nails Test</a:t>
                      </a:r>
                      <a:endParaRPr lang="en-MY" sz="1200" b="0" i="0" u="none" strike="noStrike" dirty="0">
                        <a:solidFill>
                          <a:schemeClr val="tx1"/>
                        </a:solidFill>
                        <a:effectLst/>
                        <a:latin typeface="+mn-lt"/>
                      </a:endParaRPr>
                    </a:p>
                  </a:txBody>
                  <a:tcPr marL="0" marR="0" marT="0" marB="0">
                    <a:lnB w="9525" cap="flat" cmpd="sng" algn="ctr">
                      <a:solidFill>
                        <a:schemeClr val="accent1"/>
                      </a:solidFill>
                      <a:prstDash val="solid"/>
                      <a:round/>
                      <a:headEnd type="none" w="med" len="med"/>
                      <a:tailEnd type="none" w="med" len="med"/>
                    </a:lnB>
                  </a:tcPr>
                </a:tc>
                <a:tc>
                  <a:txBody>
                    <a:bodyPr/>
                    <a:lstStyle/>
                    <a:p>
                      <a:pPr marL="91440" algn="l" fontAlgn="t"/>
                      <a:r>
                        <a:rPr lang="en-US" sz="1200" u="none" strike="noStrike" dirty="0">
                          <a:effectLst/>
                        </a:rPr>
                        <a:t>For test, are you doing any kind of bed of nail testing? </a:t>
                      </a:r>
                      <a:endParaRPr lang="en-US"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effectLst/>
                        </a:rPr>
                        <a:t>Yes</a:t>
                      </a:r>
                      <a:endParaRPr lang="en-MY" sz="1200" b="0" i="0" u="none" strike="noStrike" dirty="0">
                        <a:solidFill>
                          <a:schemeClr val="tx1"/>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200" u="none" strike="noStrike" kern="0" cap="none" spc="0" normalizeH="0" baseline="0" noProof="0">
                          <a:ln>
                            <a:noFill/>
                          </a:ln>
                          <a:effectLst/>
                          <a:uLnTx/>
                          <a:uFillTx/>
                          <a:sym typeface="Intel Clear"/>
                        </a:rPr>
                        <a:t>Not answered </a:t>
                      </a:r>
                      <a:endParaRPr kumimoji="0" lang="en-MY" sz="1200" b="0" i="0" u="none" strike="noStrike" kern="0" cap="none" spc="0" normalizeH="0" baseline="0" noProof="0" dirty="0">
                        <a:ln>
                          <a:noFill/>
                        </a:ln>
                        <a:solidFill>
                          <a:schemeClr val="tx1"/>
                        </a:solidFill>
                        <a:effectLst/>
                        <a:uLnTx/>
                        <a:uFillTx/>
                        <a:latin typeface="+mn-lt"/>
                        <a:sym typeface="Intel Clear"/>
                      </a:endParaRPr>
                    </a:p>
                  </a:txBody>
                  <a:tcPr marL="0" marR="0" marT="0" marB="0"/>
                </a:tc>
                <a:tc>
                  <a:txBody>
                    <a:bodyPr/>
                    <a:lstStyle/>
                    <a:p>
                      <a:pPr marL="91440" algn="l" fontAlgn="ctr"/>
                      <a:r>
                        <a:rPr lang="en-MY" sz="1200" u="none" strike="noStrike" dirty="0">
                          <a:effectLst/>
                        </a:rPr>
                        <a:t>ICT</a:t>
                      </a:r>
                      <a:endParaRPr lang="zh-TW" altLang="en-US"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effectLst/>
                        </a:rPr>
                        <a:t>Yes</a:t>
                      </a:r>
                      <a:endParaRPr lang="en-MY" sz="1200" b="0" i="0" u="none" strike="noStrike" dirty="0">
                        <a:solidFill>
                          <a:schemeClr val="tx1"/>
                        </a:solidFill>
                        <a:effectLst/>
                        <a:latin typeface="+mn-lt"/>
                      </a:endParaRPr>
                    </a:p>
                  </a:txBody>
                  <a:tcPr marL="0" marR="0" marT="0" marB="0"/>
                </a:tc>
                <a:extLst>
                  <a:ext uri="{0D108BD9-81ED-4DB2-BD59-A6C34878D82A}">
                    <a16:rowId xmlns:a16="http://schemas.microsoft.com/office/drawing/2014/main" val="4178550123"/>
                  </a:ext>
                </a:extLst>
              </a:tr>
              <a:tr h="418496">
                <a:tc vMerge="1">
                  <a:txBody>
                    <a:bodyPr/>
                    <a:lstStyle/>
                    <a:p>
                      <a:endParaRPr lang="en-MY"/>
                    </a:p>
                  </a:txBody>
                  <a:tcPr/>
                </a:tc>
                <a:tc>
                  <a:txBody>
                    <a:bodyPr/>
                    <a:lstStyle/>
                    <a:p>
                      <a:pPr marL="91440" algn="l" fontAlgn="t"/>
                      <a:r>
                        <a:rPr lang="en-US" sz="1200" u="none" strike="noStrike" dirty="0">
                          <a:effectLst/>
                        </a:rPr>
                        <a:t>For the above question, on which side of board is the testing being done?</a:t>
                      </a:r>
                      <a:endParaRPr lang="en-US" sz="1200" b="0" i="0" u="none" strike="noStrike" dirty="0">
                        <a:solidFill>
                          <a:schemeClr val="tx1"/>
                        </a:solidFill>
                        <a:effectLst/>
                        <a:latin typeface="+mn-lt"/>
                      </a:endParaRPr>
                    </a:p>
                  </a:txBody>
                  <a:tcPr marL="0" marR="0" marT="0" marB="0"/>
                </a:tc>
                <a:tc>
                  <a:txBody>
                    <a:bodyPr/>
                    <a:lstStyle/>
                    <a:p>
                      <a:pPr marL="91440" algn="l" fontAlgn="ctr"/>
                      <a:r>
                        <a:rPr lang="en-MY" sz="1200" u="none" strike="noStrike" dirty="0">
                          <a:effectLst/>
                        </a:rPr>
                        <a:t>Bottom &amp; Top</a:t>
                      </a:r>
                      <a:endParaRPr lang="en-MY" sz="1200" b="0" i="0" u="none" strike="noStrike" dirty="0">
                        <a:solidFill>
                          <a:schemeClr val="tx1"/>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200" u="none" strike="noStrike" kern="0" cap="none" spc="0" normalizeH="0" baseline="0" noProof="0">
                          <a:ln>
                            <a:noFill/>
                          </a:ln>
                          <a:effectLst/>
                          <a:uLnTx/>
                          <a:uFillTx/>
                          <a:sym typeface="Intel Clear"/>
                        </a:rPr>
                        <a:t>Not answered </a:t>
                      </a:r>
                      <a:endParaRPr kumimoji="0" lang="en-MY" sz="1200" b="0" i="0" u="none" strike="noStrike" kern="0" cap="none" spc="0" normalizeH="0" baseline="0" noProof="0" dirty="0">
                        <a:ln>
                          <a:noFill/>
                        </a:ln>
                        <a:solidFill>
                          <a:schemeClr val="tx1"/>
                        </a:solidFill>
                        <a:effectLst/>
                        <a:uLnTx/>
                        <a:uFillTx/>
                        <a:latin typeface="+mn-lt"/>
                        <a:sym typeface="Intel Clear"/>
                      </a:endParaRPr>
                    </a:p>
                  </a:txBody>
                  <a:tcPr marL="0" marR="0" marT="0" marB="0"/>
                </a:tc>
                <a:tc>
                  <a:txBody>
                    <a:bodyPr/>
                    <a:lstStyle/>
                    <a:p>
                      <a:pPr marL="91440" algn="l" fontAlgn="ctr"/>
                      <a:r>
                        <a:rPr kumimoji="0" lang="en-MY" sz="1200" u="none" strike="noStrike" kern="0" cap="none" spc="0" normalizeH="0" baseline="0" noProof="0" dirty="0">
                          <a:ln>
                            <a:noFill/>
                          </a:ln>
                          <a:effectLst/>
                          <a:uLnTx/>
                          <a:uFillTx/>
                          <a:sym typeface="Intel Clear"/>
                        </a:rPr>
                        <a:t>Bottom</a:t>
                      </a:r>
                      <a:endParaRPr lang="zh-TW" altLang="en-US" sz="1200" b="0" i="0" u="none" strike="noStrike" dirty="0">
                        <a:solidFill>
                          <a:schemeClr val="tx1"/>
                        </a:solidFill>
                        <a:effectLst/>
                        <a:latin typeface="+mn-lt"/>
                      </a:endParaRPr>
                    </a:p>
                  </a:txBody>
                  <a:tcPr marL="0" marR="0" marT="0" marB="0"/>
                </a:tc>
                <a:tc>
                  <a:txBody>
                    <a:bodyPr/>
                    <a:lstStyle/>
                    <a:p>
                      <a:pPr marL="91440" algn="l" fontAlgn="t"/>
                      <a:r>
                        <a:rPr kumimoji="0" lang="en-MY" sz="1200" u="none" strike="noStrike" kern="0" cap="none" spc="0" normalizeH="0" baseline="0" noProof="0" dirty="0">
                          <a:ln>
                            <a:noFill/>
                          </a:ln>
                          <a:effectLst/>
                          <a:uLnTx/>
                          <a:uFillTx/>
                          <a:sym typeface="Intel Clear"/>
                        </a:rPr>
                        <a:t>Bottom &amp; Top</a:t>
                      </a:r>
                      <a:endParaRPr lang="en-MY" sz="1200" b="0" i="0" u="none" strike="noStrike" dirty="0">
                        <a:solidFill>
                          <a:schemeClr val="tx1"/>
                        </a:solidFill>
                        <a:effectLst/>
                        <a:latin typeface="+mn-lt"/>
                      </a:endParaRPr>
                    </a:p>
                  </a:txBody>
                  <a:tcPr marL="0" marR="0" marT="0" marB="0"/>
                </a:tc>
                <a:extLst>
                  <a:ext uri="{0D108BD9-81ED-4DB2-BD59-A6C34878D82A}">
                    <a16:rowId xmlns:a16="http://schemas.microsoft.com/office/drawing/2014/main" val="691040990"/>
                  </a:ext>
                </a:extLst>
              </a:tr>
              <a:tr h="278997">
                <a:tc vMerge="1">
                  <a:txBody>
                    <a:bodyPr/>
                    <a:lstStyle/>
                    <a:p>
                      <a:endParaRPr lang="en-MY"/>
                    </a:p>
                  </a:txBody>
                  <a:tcPr/>
                </a:tc>
                <a:tc>
                  <a:txBody>
                    <a:bodyPr/>
                    <a:lstStyle/>
                    <a:p>
                      <a:pPr marL="91440" algn="l" fontAlgn="t"/>
                      <a:r>
                        <a:rPr lang="en-US" sz="1200" u="none" strike="noStrike" dirty="0">
                          <a:effectLst/>
                        </a:rPr>
                        <a:t>How many Bed of Nails tests are used?</a:t>
                      </a:r>
                      <a:endParaRPr lang="en-US" sz="1200" b="0" i="0" u="none" strike="noStrike" dirty="0">
                        <a:solidFill>
                          <a:schemeClr val="tx1"/>
                        </a:solidFill>
                        <a:effectLst/>
                        <a:latin typeface="+mn-lt"/>
                      </a:endParaRPr>
                    </a:p>
                  </a:txBody>
                  <a:tcPr marL="0" marR="0" marT="0" marB="0"/>
                </a:tc>
                <a:tc>
                  <a:txBody>
                    <a:bodyPr/>
                    <a:lstStyle/>
                    <a:p>
                      <a:pPr marL="91440" algn="l" fontAlgn="t"/>
                      <a:r>
                        <a:rPr lang="en-US" sz="1200" u="none" strike="noStrike" dirty="0">
                          <a:effectLst/>
                        </a:rPr>
                        <a:t>Maximum support 3584 test nails</a:t>
                      </a:r>
                      <a:endParaRPr lang="en-US" sz="1200" b="0" i="0" u="none" strike="noStrike" dirty="0">
                        <a:solidFill>
                          <a:schemeClr val="tx1"/>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200" u="none" strike="noStrike" kern="0" cap="none" spc="0" normalizeH="0" baseline="0" noProof="0">
                          <a:ln>
                            <a:noFill/>
                          </a:ln>
                          <a:effectLst/>
                          <a:uLnTx/>
                          <a:uFillTx/>
                          <a:sym typeface="Intel Clear"/>
                        </a:rPr>
                        <a:t>Not answered </a:t>
                      </a:r>
                      <a:endParaRPr kumimoji="0" lang="en-MY" sz="1200" b="0" i="0" u="none" strike="noStrike" kern="0" cap="none" spc="0" normalizeH="0" baseline="0" noProof="0" dirty="0">
                        <a:ln>
                          <a:noFill/>
                        </a:ln>
                        <a:solidFill>
                          <a:schemeClr val="tx1"/>
                        </a:solidFill>
                        <a:effectLst/>
                        <a:uLnTx/>
                        <a:uFillTx/>
                        <a:latin typeface="+mn-lt"/>
                        <a:sym typeface="Intel Clear"/>
                      </a:endParaRPr>
                    </a:p>
                  </a:txBody>
                  <a:tcPr marL="0" marR="0" marT="0" marB="0"/>
                </a:tc>
                <a:tc>
                  <a:txBody>
                    <a:bodyPr/>
                    <a:lstStyle/>
                    <a:p>
                      <a:pPr marL="91440" algn="l" fontAlgn="ctr"/>
                      <a:r>
                        <a:rPr lang="en-MY" sz="1200" u="none" strike="noStrike" dirty="0">
                          <a:effectLst/>
                        </a:rPr>
                        <a:t>1800 - 3000</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effectLst/>
                        </a:rPr>
                        <a:t>Depend on production</a:t>
                      </a:r>
                      <a:endParaRPr lang="en-MY" sz="1200" b="0" i="0" u="none" strike="noStrike" dirty="0">
                        <a:solidFill>
                          <a:schemeClr val="tx1"/>
                        </a:solidFill>
                        <a:effectLst/>
                        <a:latin typeface="+mn-lt"/>
                      </a:endParaRPr>
                    </a:p>
                  </a:txBody>
                  <a:tcPr marL="0" marR="0" marT="0" marB="0"/>
                </a:tc>
                <a:extLst>
                  <a:ext uri="{0D108BD9-81ED-4DB2-BD59-A6C34878D82A}">
                    <a16:rowId xmlns:a16="http://schemas.microsoft.com/office/drawing/2014/main" val="3913651276"/>
                  </a:ext>
                </a:extLst>
              </a:tr>
              <a:tr h="418496">
                <a:tc vMerge="1">
                  <a:txBody>
                    <a:bodyPr/>
                    <a:lstStyle/>
                    <a:p>
                      <a:endParaRPr lang="en-MY"/>
                    </a:p>
                  </a:txBody>
                  <a:tcPr/>
                </a:tc>
                <a:tc>
                  <a:txBody>
                    <a:bodyPr/>
                    <a:lstStyle/>
                    <a:p>
                      <a:pPr marL="91440" algn="l" fontAlgn="t"/>
                      <a:r>
                        <a:rPr lang="en-US" sz="1200" u="none" strike="noStrike" dirty="0">
                          <a:effectLst/>
                        </a:rPr>
                        <a:t>Where is the Bed of nails test located?</a:t>
                      </a:r>
                      <a:endParaRPr lang="en-US" sz="1200" b="0" i="0" u="none" strike="noStrike" dirty="0">
                        <a:solidFill>
                          <a:schemeClr val="tx1"/>
                        </a:solidFill>
                        <a:effectLst/>
                        <a:latin typeface="+mn-lt"/>
                      </a:endParaRPr>
                    </a:p>
                  </a:txBody>
                  <a:tcPr marL="0" marR="0" marT="0" marB="0"/>
                </a:tc>
                <a:tc>
                  <a:txBody>
                    <a:bodyPr/>
                    <a:lstStyle/>
                    <a:p>
                      <a:pPr marL="91440" algn="l" fontAlgn="t"/>
                      <a:r>
                        <a:rPr lang="en-US" sz="1200" u="none" strike="noStrike">
                          <a:effectLst/>
                        </a:rPr>
                        <a:t>After dip before functional test</a:t>
                      </a:r>
                      <a:endParaRPr lang="en-US" sz="1200" b="0" i="0" u="none" strike="noStrike">
                        <a:solidFill>
                          <a:schemeClr val="tx1"/>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200" u="none" strike="noStrike" kern="0" cap="none" spc="0" normalizeH="0" baseline="0" noProof="0" dirty="0">
                          <a:ln>
                            <a:noFill/>
                          </a:ln>
                          <a:effectLst/>
                          <a:uLnTx/>
                          <a:uFillTx/>
                          <a:sym typeface="Intel Clear"/>
                        </a:rPr>
                        <a:t>Not answered </a:t>
                      </a:r>
                      <a:endParaRPr kumimoji="0" lang="en-MY" sz="1200" b="0" i="0" u="none" strike="noStrike" kern="0" cap="none" spc="0" normalizeH="0" baseline="0" noProof="0" dirty="0">
                        <a:ln>
                          <a:noFill/>
                        </a:ln>
                        <a:solidFill>
                          <a:schemeClr val="tx1"/>
                        </a:solidFill>
                        <a:effectLst/>
                        <a:uLnTx/>
                        <a:uFillTx/>
                        <a:latin typeface="+mn-lt"/>
                        <a:sym typeface="Intel Clear"/>
                      </a:endParaRPr>
                    </a:p>
                  </a:txBody>
                  <a:tcPr marL="0" marR="0" marT="0" marB="0"/>
                </a:tc>
                <a:tc>
                  <a:txBody>
                    <a:bodyPr/>
                    <a:lstStyle/>
                    <a:p>
                      <a:pPr marL="91440" algn="l" fontAlgn="ctr"/>
                      <a:r>
                        <a:rPr lang="en-MY" sz="1200" u="none" strike="noStrike" dirty="0">
                          <a:effectLst/>
                        </a:rPr>
                        <a:t>ICT</a:t>
                      </a:r>
                      <a:endParaRPr lang="zh-TW" altLang="en-US" sz="1200" b="0" i="0" u="none" strike="noStrike" dirty="0">
                        <a:solidFill>
                          <a:schemeClr val="tx1"/>
                        </a:solidFill>
                        <a:effectLst/>
                        <a:latin typeface="+mn-lt"/>
                      </a:endParaRPr>
                    </a:p>
                  </a:txBody>
                  <a:tcPr marL="0" marR="0" marT="0" marB="0"/>
                </a:tc>
                <a:tc>
                  <a:txBody>
                    <a:bodyPr/>
                    <a:lstStyle/>
                    <a:p>
                      <a:pPr marL="91440" algn="l" fontAlgn="t"/>
                      <a:r>
                        <a:rPr lang="en-US" sz="1200" u="none" strike="noStrike">
                          <a:effectLst/>
                        </a:rPr>
                        <a:t>After re-flow. Before function test.</a:t>
                      </a:r>
                      <a:endParaRPr lang="en-US" sz="1200" b="0" i="0" u="none" strike="noStrike">
                        <a:solidFill>
                          <a:schemeClr val="tx1"/>
                        </a:solidFill>
                        <a:effectLst/>
                        <a:latin typeface="+mn-lt"/>
                      </a:endParaRPr>
                    </a:p>
                  </a:txBody>
                  <a:tcPr marL="0" marR="0" marT="0" marB="0"/>
                </a:tc>
                <a:extLst>
                  <a:ext uri="{0D108BD9-81ED-4DB2-BD59-A6C34878D82A}">
                    <a16:rowId xmlns:a16="http://schemas.microsoft.com/office/drawing/2014/main" val="2076378246"/>
                  </a:ext>
                </a:extLst>
              </a:tr>
              <a:tr h="580556">
                <a:tc vMerge="1">
                  <a:txBody>
                    <a:bodyPr/>
                    <a:lstStyle/>
                    <a:p>
                      <a:endParaRPr lang="en-MY"/>
                    </a:p>
                  </a:txBody>
                  <a:tcPr/>
                </a:tc>
                <a:tc>
                  <a:txBody>
                    <a:bodyPr/>
                    <a:lstStyle/>
                    <a:p>
                      <a:pPr marL="91440" algn="l" fontAlgn="t"/>
                      <a:r>
                        <a:rPr lang="en-US" sz="1200" u="none" strike="noStrike" dirty="0">
                          <a:effectLst/>
                        </a:rPr>
                        <a:t>Is Bed of Nails test Performed on selective components or 100%?</a:t>
                      </a:r>
                      <a:endParaRPr lang="en-US"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effectLst/>
                        </a:rPr>
                        <a:t>not 100% , need detail mode to analysis</a:t>
                      </a:r>
                      <a:endParaRPr lang="en-US" altLang="zh-TW" sz="1200" b="0" i="0" u="none" strike="noStrike" dirty="0">
                        <a:solidFill>
                          <a:schemeClr val="tx1"/>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200" u="none" strike="noStrike" kern="0" cap="none" spc="0" normalizeH="0" baseline="0" noProof="0">
                          <a:ln>
                            <a:noFill/>
                          </a:ln>
                          <a:effectLst/>
                          <a:uLnTx/>
                          <a:uFillTx/>
                          <a:sym typeface="Intel Clear"/>
                        </a:rPr>
                        <a:t>Not answered </a:t>
                      </a:r>
                      <a:endParaRPr kumimoji="0" lang="en-MY" sz="1200" b="0" i="0" u="none" strike="noStrike" kern="0" cap="none" spc="0" normalizeH="0" baseline="0" noProof="0" dirty="0">
                        <a:ln>
                          <a:noFill/>
                        </a:ln>
                        <a:solidFill>
                          <a:schemeClr val="tx1"/>
                        </a:solidFill>
                        <a:effectLst/>
                        <a:uLnTx/>
                        <a:uFillTx/>
                        <a:latin typeface="+mn-lt"/>
                        <a:sym typeface="Intel Clear"/>
                      </a:endParaRPr>
                    </a:p>
                  </a:txBody>
                  <a:tcPr marL="0" marR="0" marT="0" marB="0"/>
                </a:tc>
                <a:tc>
                  <a:txBody>
                    <a:bodyPr/>
                    <a:lstStyle/>
                    <a:p>
                      <a:pPr marL="91440" algn="l" fontAlgn="ctr"/>
                      <a:r>
                        <a:rPr lang="en-MY" sz="1200" u="none" strike="noStrike" dirty="0">
                          <a:effectLst/>
                        </a:rPr>
                        <a:t>1</a:t>
                      </a:r>
                      <a:endParaRPr lang="en-MY" sz="1200" b="0" i="0" u="none" strike="noStrike" dirty="0">
                        <a:solidFill>
                          <a:schemeClr val="tx1"/>
                        </a:solidFill>
                        <a:effectLst/>
                        <a:latin typeface="+mn-lt"/>
                      </a:endParaRPr>
                    </a:p>
                  </a:txBody>
                  <a:tcPr marL="0" marR="0" marT="0" marB="0"/>
                </a:tc>
                <a:tc>
                  <a:txBody>
                    <a:bodyPr/>
                    <a:lstStyle/>
                    <a:p>
                      <a:pPr marL="91440" algn="l" fontAlgn="t"/>
                      <a:r>
                        <a:rPr lang="en-US" sz="1200" u="none" strike="noStrike" dirty="0">
                          <a:effectLst/>
                        </a:rPr>
                        <a:t>Required 90%. In actual depend on production</a:t>
                      </a:r>
                      <a:endParaRPr lang="en-US" sz="1200" b="0" i="0" u="none" strike="noStrike" dirty="0">
                        <a:solidFill>
                          <a:schemeClr val="tx1"/>
                        </a:solidFill>
                        <a:effectLst/>
                        <a:latin typeface="+mn-lt"/>
                      </a:endParaRPr>
                    </a:p>
                  </a:txBody>
                  <a:tcPr marL="0" marR="0" marT="0" marB="0"/>
                </a:tc>
                <a:extLst>
                  <a:ext uri="{0D108BD9-81ED-4DB2-BD59-A6C34878D82A}">
                    <a16:rowId xmlns:a16="http://schemas.microsoft.com/office/drawing/2014/main" val="2627658710"/>
                  </a:ext>
                </a:extLst>
              </a:tr>
              <a:tr h="418496">
                <a:tc vMerge="1">
                  <a:txBody>
                    <a:bodyPr/>
                    <a:lstStyle/>
                    <a:p>
                      <a:endParaRPr lang="en-MY"/>
                    </a:p>
                  </a:txBody>
                  <a:tcPr/>
                </a:tc>
                <a:tc>
                  <a:txBody>
                    <a:bodyPr/>
                    <a:lstStyle/>
                    <a:p>
                      <a:pPr marL="91440" algn="l" fontAlgn="t"/>
                      <a:r>
                        <a:rPr lang="en-US" sz="1200" u="none" strike="noStrike" dirty="0">
                          <a:effectLst/>
                        </a:rPr>
                        <a:t>Maximum board handling capability (length x width, mm)</a:t>
                      </a:r>
                      <a:endParaRPr lang="en-US" sz="1200" b="0" i="0" u="none" strike="noStrike" dirty="0">
                        <a:solidFill>
                          <a:schemeClr val="tx1"/>
                        </a:solidFill>
                        <a:effectLst/>
                        <a:latin typeface="+mn-lt"/>
                      </a:endParaRPr>
                    </a:p>
                  </a:txBody>
                  <a:tcPr marL="0" marR="0" marT="0" marB="0"/>
                </a:tc>
                <a:tc>
                  <a:txBody>
                    <a:bodyPr/>
                    <a:lstStyle/>
                    <a:p>
                      <a:pPr marL="91440" algn="l" fontAlgn="t"/>
                      <a:r>
                        <a:rPr lang="en-US" sz="1200" u="none" strike="noStrike" dirty="0">
                          <a:effectLst/>
                        </a:rPr>
                        <a:t>520 x 400</a:t>
                      </a:r>
                      <a:endParaRPr lang="en-US" sz="1200" b="0" i="0" u="none" strike="noStrike" dirty="0">
                        <a:solidFill>
                          <a:schemeClr val="tx1"/>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200" u="none" strike="noStrike" kern="0" cap="none" spc="0" normalizeH="0" baseline="0" noProof="0">
                          <a:ln>
                            <a:noFill/>
                          </a:ln>
                          <a:effectLst/>
                          <a:uLnTx/>
                          <a:uFillTx/>
                          <a:sym typeface="Intel Clear"/>
                        </a:rPr>
                        <a:t>Not answered </a:t>
                      </a:r>
                      <a:endParaRPr kumimoji="0" lang="en-MY" sz="1200" b="0" i="0" u="none" strike="noStrike" kern="0" cap="none" spc="0" normalizeH="0" baseline="0" noProof="0" dirty="0">
                        <a:ln>
                          <a:noFill/>
                        </a:ln>
                        <a:solidFill>
                          <a:schemeClr val="tx1"/>
                        </a:solidFill>
                        <a:effectLst/>
                        <a:uLnTx/>
                        <a:uFillTx/>
                        <a:latin typeface="+mn-lt"/>
                        <a:sym typeface="Intel Clear"/>
                      </a:endParaRPr>
                    </a:p>
                  </a:txBody>
                  <a:tcPr marL="0" marR="0" marT="0" marB="0"/>
                </a:tc>
                <a:tc>
                  <a:txBody>
                    <a:bodyPr/>
                    <a:lstStyle/>
                    <a:p>
                      <a:pPr marL="91440" algn="l" fontAlgn="ctr"/>
                      <a:r>
                        <a:rPr lang="en-MY" sz="1200" u="none" strike="noStrike" dirty="0">
                          <a:effectLst/>
                        </a:rPr>
                        <a:t>388 X 320 </a:t>
                      </a:r>
                      <a:r>
                        <a:rPr lang="en-MY" sz="1200" u="none" strike="noStrike" dirty="0">
                          <a:solidFill>
                            <a:srgbClr val="FF0000"/>
                          </a:solidFill>
                          <a:effectLst>
                            <a:outerShdw blurRad="38100" dist="38100" dir="2700000" algn="tl">
                              <a:srgbClr val="000000">
                                <a:alpha val="43137"/>
                              </a:srgbClr>
                            </a:outerShdw>
                          </a:effectLst>
                        </a:rPr>
                        <a:t>(Matira5)</a:t>
                      </a:r>
                      <a:endParaRPr lang="en-MY" sz="1200" b="0" i="0" u="none" strike="noStrike" dirty="0">
                        <a:solidFill>
                          <a:srgbClr val="FF0000"/>
                        </a:solidFill>
                        <a:effectLst>
                          <a:outerShdw blurRad="38100" dist="38100" dir="2700000" algn="tl">
                            <a:srgbClr val="000000">
                              <a:alpha val="43137"/>
                            </a:srgbClr>
                          </a:outerShdw>
                        </a:effectLst>
                        <a:latin typeface="+mn-lt"/>
                      </a:endParaRPr>
                    </a:p>
                  </a:txBody>
                  <a:tcPr marL="0" marR="0" marT="0" marB="0"/>
                </a:tc>
                <a:tc>
                  <a:txBody>
                    <a:bodyPr/>
                    <a:lstStyle/>
                    <a:p>
                      <a:pPr marL="91440" algn="l" fontAlgn="t"/>
                      <a:r>
                        <a:rPr lang="en-MY" sz="1200" u="none" strike="noStrike" dirty="0">
                          <a:effectLst/>
                        </a:rPr>
                        <a:t>500 x 380</a:t>
                      </a:r>
                      <a:endParaRPr lang="en-MY" sz="1200" b="0" i="0" u="none" strike="noStrike" dirty="0">
                        <a:solidFill>
                          <a:schemeClr val="tx1"/>
                        </a:solidFill>
                        <a:effectLst/>
                        <a:latin typeface="+mn-lt"/>
                      </a:endParaRPr>
                    </a:p>
                  </a:txBody>
                  <a:tcPr marL="0" marR="0" marT="0" marB="0"/>
                </a:tc>
                <a:extLst>
                  <a:ext uri="{0D108BD9-81ED-4DB2-BD59-A6C34878D82A}">
                    <a16:rowId xmlns:a16="http://schemas.microsoft.com/office/drawing/2014/main" val="1476538635"/>
                  </a:ext>
                </a:extLst>
              </a:tr>
              <a:tr h="744596">
                <a:tc rowSpan="2">
                  <a:txBody>
                    <a:bodyPr/>
                    <a:lstStyle/>
                    <a:p>
                      <a:pPr marL="91440" algn="l" fontAlgn="t"/>
                      <a:r>
                        <a:rPr lang="en-MY" sz="1200" u="none" strike="noStrike">
                          <a:effectLst/>
                        </a:rPr>
                        <a:t>Functional Test</a:t>
                      </a:r>
                      <a:endParaRPr lang="en-MY" sz="1200" b="0" i="0" u="none" strike="noStrike">
                        <a:solidFill>
                          <a:schemeClr val="tx1"/>
                        </a:solidFill>
                        <a:effectLst/>
                        <a:latin typeface="+mn-lt"/>
                      </a:endParaRPr>
                    </a:p>
                  </a:txBody>
                  <a:tcPr marL="0" marR="0" marT="0" marB="0">
                    <a:lnT w="9525" cap="flat" cmpd="sng" algn="ctr">
                      <a:solidFill>
                        <a:schemeClr val="accent1"/>
                      </a:solidFill>
                      <a:prstDash val="solid"/>
                      <a:round/>
                      <a:headEnd type="none" w="med" len="med"/>
                      <a:tailEnd type="none" w="med" len="med"/>
                    </a:lnT>
                  </a:tcPr>
                </a:tc>
                <a:tc>
                  <a:txBody>
                    <a:bodyPr/>
                    <a:lstStyle/>
                    <a:p>
                      <a:pPr marL="91440" algn="l" fontAlgn="t"/>
                      <a:r>
                        <a:rPr lang="en-US" sz="1200" u="none" strike="noStrike" dirty="0">
                          <a:effectLst/>
                        </a:rPr>
                        <a:t>Factory beat rate target to meet maximum through put requirement for this entire process: </a:t>
                      </a:r>
                      <a:r>
                        <a:rPr lang="en-US" sz="1200" b="1" u="none" strike="noStrike" dirty="0">
                          <a:effectLst/>
                        </a:rPr>
                        <a:t>Open ILM load plate --&gt; Install or Remove an Intel LGA CPU --&gt; Close ILM load plate (sec)</a:t>
                      </a:r>
                      <a:endParaRPr lang="en-US" sz="1200" b="1" i="0" u="none" strike="noStrike" dirty="0">
                        <a:solidFill>
                          <a:srgbClr val="FF0000"/>
                        </a:solidFill>
                        <a:effectLst/>
                        <a:latin typeface="+mn-lt"/>
                      </a:endParaRPr>
                    </a:p>
                  </a:txBody>
                  <a:tcPr marL="0" marR="0" marT="0" marB="0"/>
                </a:tc>
                <a:tc>
                  <a:txBody>
                    <a:bodyPr/>
                    <a:lstStyle/>
                    <a:p>
                      <a:pPr marL="91440" algn="l" fontAlgn="t"/>
                      <a:r>
                        <a:rPr lang="en-MY" sz="1200" u="none" strike="noStrike" dirty="0">
                          <a:effectLst/>
                        </a:rPr>
                        <a:t>15</a:t>
                      </a:r>
                      <a:endParaRPr lang="en-MY" sz="1200" b="0" i="0" u="none" strike="noStrike" dirty="0">
                        <a:solidFill>
                          <a:schemeClr val="tx1"/>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200" u="none" strike="noStrike" kern="0" cap="none" spc="0" normalizeH="0" baseline="0" noProof="0">
                          <a:ln>
                            <a:noFill/>
                          </a:ln>
                          <a:effectLst/>
                          <a:uLnTx/>
                          <a:uFillTx/>
                          <a:sym typeface="Intel Clear"/>
                        </a:rPr>
                        <a:t>Not answered </a:t>
                      </a:r>
                      <a:endParaRPr kumimoji="0" lang="en-MY" sz="1200" b="0" i="0" u="none" strike="noStrike" kern="0" cap="none" spc="0" normalizeH="0" baseline="0" noProof="0" dirty="0">
                        <a:ln>
                          <a:noFill/>
                        </a:ln>
                        <a:solidFill>
                          <a:schemeClr val="tx1"/>
                        </a:solidFill>
                        <a:effectLst/>
                        <a:uLnTx/>
                        <a:uFillTx/>
                        <a:latin typeface="+mn-lt"/>
                        <a:sym typeface="Intel Clear"/>
                      </a:endParaRPr>
                    </a:p>
                  </a:txBody>
                  <a:tcPr marL="0" marR="0" marT="0" marB="0"/>
                </a:tc>
                <a:tc>
                  <a:txBody>
                    <a:bodyPr/>
                    <a:lstStyle/>
                    <a:p>
                      <a:pPr marL="91440" algn="l" fontAlgn="ctr"/>
                      <a:r>
                        <a:rPr lang="en-MY" sz="1200" u="none" strike="noStrike" dirty="0">
                          <a:effectLst/>
                        </a:rPr>
                        <a:t>ILM not suitable for PCBA test, the test is using automated fixture</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u="none" strike="noStrike" dirty="0">
                          <a:effectLst/>
                        </a:rPr>
                        <a:t>12</a:t>
                      </a:r>
                      <a:endParaRPr lang="en-MY" sz="1200" b="0" i="0" u="none" strike="noStrike" dirty="0">
                        <a:solidFill>
                          <a:schemeClr val="tx1"/>
                        </a:solidFill>
                        <a:effectLst/>
                        <a:latin typeface="+mn-lt"/>
                      </a:endParaRPr>
                    </a:p>
                  </a:txBody>
                  <a:tcPr marL="0" marR="0" marT="0" marB="0"/>
                </a:tc>
                <a:extLst>
                  <a:ext uri="{0D108BD9-81ED-4DB2-BD59-A6C34878D82A}">
                    <a16:rowId xmlns:a16="http://schemas.microsoft.com/office/drawing/2014/main" val="161112178"/>
                  </a:ext>
                </a:extLst>
              </a:tr>
              <a:tr h="623710">
                <a:tc vMerge="1">
                  <a:txBody>
                    <a:bodyPr/>
                    <a:lstStyle/>
                    <a:p>
                      <a:endParaRPr lang="en-MY"/>
                    </a:p>
                  </a:txBody>
                  <a:tcPr/>
                </a:tc>
                <a:tc>
                  <a:txBody>
                    <a:bodyPr/>
                    <a:lstStyle/>
                    <a:p>
                      <a:pPr marL="91440" algn="l" fontAlgn="t"/>
                      <a:r>
                        <a:rPr lang="en-US" sz="1200" u="none" strike="noStrike" dirty="0">
                          <a:effectLst/>
                        </a:rPr>
                        <a:t>For Test CPU and Test Heatsink Installation at Functional Test: What is the time required for this entire operation?</a:t>
                      </a:r>
                      <a:endParaRPr lang="en-US" sz="1200" b="0" i="0" u="none" strike="noStrike" dirty="0">
                        <a:solidFill>
                          <a:srgbClr val="FF0000"/>
                        </a:solidFill>
                        <a:effectLst/>
                        <a:latin typeface="+mn-lt"/>
                      </a:endParaRPr>
                    </a:p>
                  </a:txBody>
                  <a:tcPr marL="0" marR="0" marT="0" marB="0"/>
                </a:tc>
                <a:tc>
                  <a:txBody>
                    <a:bodyPr/>
                    <a:lstStyle/>
                    <a:p>
                      <a:pPr marL="91440" algn="l" fontAlgn="t"/>
                      <a:r>
                        <a:rPr lang="en-MY" sz="1200" u="none" strike="noStrike" dirty="0">
                          <a:solidFill>
                            <a:srgbClr val="FF0000"/>
                          </a:solidFill>
                          <a:effectLst>
                            <a:outerShdw blurRad="38100" dist="38100" dir="2700000" algn="tl">
                              <a:srgbClr val="000000">
                                <a:alpha val="43137"/>
                              </a:srgbClr>
                            </a:outerShdw>
                          </a:effectLst>
                        </a:rPr>
                        <a:t>When PCBA testing , we place fan on CPU w/o screw whole 4 corner</a:t>
                      </a:r>
                      <a:endParaRPr lang="en-US" altLang="zh-TW" sz="1200" b="0" i="0" u="none" strike="noStrike" dirty="0">
                        <a:solidFill>
                          <a:srgbClr val="FF0000"/>
                        </a:solidFill>
                        <a:effectLst>
                          <a:outerShdw blurRad="38100" dist="38100" dir="2700000" algn="tl">
                            <a:srgbClr val="000000">
                              <a:alpha val="43137"/>
                            </a:srgbClr>
                          </a:outerShdw>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200" u="none" strike="noStrike" kern="0" cap="none" spc="0" normalizeH="0" baseline="0" noProof="0" dirty="0">
                          <a:ln>
                            <a:noFill/>
                          </a:ln>
                          <a:effectLst/>
                          <a:uLnTx/>
                          <a:uFillTx/>
                          <a:sym typeface="Intel Clear"/>
                        </a:rPr>
                        <a:t>Not answered </a:t>
                      </a:r>
                      <a:endParaRPr kumimoji="0" lang="en-MY" sz="1200" b="0" i="0" u="none" strike="noStrike" kern="0" cap="none" spc="0" normalizeH="0" baseline="0" noProof="0" dirty="0">
                        <a:ln>
                          <a:noFill/>
                        </a:ln>
                        <a:solidFill>
                          <a:schemeClr val="tx1"/>
                        </a:solidFill>
                        <a:effectLst/>
                        <a:uLnTx/>
                        <a:uFillTx/>
                        <a:latin typeface="+mn-lt"/>
                        <a:sym typeface="Intel Clear"/>
                      </a:endParaRPr>
                    </a:p>
                  </a:txBody>
                  <a:tcPr marL="0" marR="0" marT="0" marB="0"/>
                </a:tc>
                <a:tc>
                  <a:txBody>
                    <a:bodyPr/>
                    <a:lstStyle/>
                    <a:p>
                      <a:pPr marL="91440" algn="l" fontAlgn="ctr"/>
                      <a:r>
                        <a:rPr lang="en-MY" sz="1200" u="none" strike="noStrike" dirty="0">
                          <a:solidFill>
                            <a:srgbClr val="FF0000"/>
                          </a:solidFill>
                          <a:effectLst>
                            <a:outerShdw blurRad="38100" dist="38100" dir="2700000" algn="tl">
                              <a:srgbClr val="000000">
                                <a:alpha val="43137"/>
                              </a:srgbClr>
                            </a:outerShdw>
                          </a:effectLst>
                        </a:rPr>
                        <a:t>OBE test typically complete within 10 sec</a:t>
                      </a:r>
                      <a:endParaRPr lang="en-MY" sz="1200" b="0" i="0" u="none" strike="noStrike" dirty="0">
                        <a:solidFill>
                          <a:srgbClr val="FF0000"/>
                        </a:solidFill>
                        <a:effectLst>
                          <a:outerShdw blurRad="38100" dist="38100" dir="2700000" algn="tl">
                            <a:srgbClr val="000000">
                              <a:alpha val="43137"/>
                            </a:srgbClr>
                          </a:outerShdw>
                        </a:effectLst>
                        <a:latin typeface="+mn-lt"/>
                      </a:endParaRPr>
                    </a:p>
                  </a:txBody>
                  <a:tcPr marL="0" marR="0" marT="0" marB="0"/>
                </a:tc>
                <a:tc>
                  <a:txBody>
                    <a:bodyPr/>
                    <a:lstStyle/>
                    <a:p>
                      <a:pPr marL="91440" algn="l" fontAlgn="t"/>
                      <a:r>
                        <a:rPr lang="en-MY" sz="1200" u="none" strike="noStrike" dirty="0">
                          <a:effectLst/>
                        </a:rPr>
                        <a:t>1 minute to complete</a:t>
                      </a:r>
                      <a:endParaRPr lang="en-MY" sz="1200" b="0" i="0" u="none" strike="noStrike" dirty="0">
                        <a:solidFill>
                          <a:schemeClr val="tx1"/>
                        </a:solidFill>
                        <a:effectLst/>
                        <a:latin typeface="+mn-lt"/>
                      </a:endParaRPr>
                    </a:p>
                  </a:txBody>
                  <a:tcPr marL="0" marR="0" marT="0" marB="0"/>
                </a:tc>
                <a:extLst>
                  <a:ext uri="{0D108BD9-81ED-4DB2-BD59-A6C34878D82A}">
                    <a16:rowId xmlns:a16="http://schemas.microsoft.com/office/drawing/2014/main" val="4048944144"/>
                  </a:ext>
                </a:extLst>
              </a:tr>
            </a:tbl>
          </a:graphicData>
        </a:graphic>
      </p:graphicFrame>
      <p:sp>
        <p:nvSpPr>
          <p:cNvPr id="5" name="Rectangle: Rounded Corners 4">
            <a:extLst>
              <a:ext uri="{FF2B5EF4-FFF2-40B4-BE49-F238E27FC236}">
                <a16:creationId xmlns:a16="http://schemas.microsoft.com/office/drawing/2014/main" id="{FEA9A074-ED94-48F3-8159-F4E6E22E9C71}"/>
              </a:ext>
            </a:extLst>
          </p:cNvPr>
          <p:cNvSpPr/>
          <p:nvPr/>
        </p:nvSpPr>
        <p:spPr>
          <a:xfrm>
            <a:off x="615964" y="5229603"/>
            <a:ext cx="10678583"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Most customers are preforming bed of nails and functional tests</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Beat rate to install or remove an Intel LGA CPU from the socket ranges between 12-15 seconds</a:t>
            </a:r>
          </a:p>
        </p:txBody>
      </p:sp>
      <p:sp>
        <p:nvSpPr>
          <p:cNvPr id="6" name="Action Button: Go Home 5">
            <a:hlinkClick r:id="rId2" action="ppaction://hlinksldjump" highlightClick="1"/>
            <a:extLst>
              <a:ext uri="{FF2B5EF4-FFF2-40B4-BE49-F238E27FC236}">
                <a16:creationId xmlns:a16="http://schemas.microsoft.com/office/drawing/2014/main" id="{23EF2FBC-08E3-4F82-9E2A-C9020B579940}"/>
              </a:ext>
            </a:extLst>
          </p:cNvPr>
          <p:cNvSpPr/>
          <p:nvPr/>
        </p:nvSpPr>
        <p:spPr>
          <a:xfrm>
            <a:off x="11399520" y="81280"/>
            <a:ext cx="487680" cy="451311"/>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039787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A9707-5156-41F3-9BD6-83853633F13F}"/>
              </a:ext>
            </a:extLst>
          </p:cNvPr>
          <p:cNvSpPr>
            <a:spLocks noGrp="1"/>
          </p:cNvSpPr>
          <p:nvPr>
            <p:ph type="title"/>
          </p:nvPr>
        </p:nvSpPr>
        <p:spPr>
          <a:xfrm>
            <a:off x="607484" y="-3073"/>
            <a:ext cx="10972800" cy="680404"/>
          </a:xfrm>
        </p:spPr>
        <p:txBody>
          <a:bodyPr/>
          <a:lstStyle/>
          <a:p>
            <a:r>
              <a:rPr lang="en-US" dirty="0"/>
              <a:t>PCBA X-Ray</a:t>
            </a:r>
            <a:endParaRPr lang="en-MY" dirty="0"/>
          </a:p>
        </p:txBody>
      </p:sp>
      <p:graphicFrame>
        <p:nvGraphicFramePr>
          <p:cNvPr id="4" name="Content Placeholder 3">
            <a:extLst>
              <a:ext uri="{FF2B5EF4-FFF2-40B4-BE49-F238E27FC236}">
                <a16:creationId xmlns:a16="http://schemas.microsoft.com/office/drawing/2014/main" id="{F4C4F9EE-9506-4C4C-B40C-F4271BBF6041}"/>
              </a:ext>
            </a:extLst>
          </p:cNvPr>
          <p:cNvGraphicFramePr>
            <a:graphicFrameLocks noGrp="1"/>
          </p:cNvGraphicFramePr>
          <p:nvPr>
            <p:ph sz="quarter" idx="13"/>
            <p:extLst>
              <p:ext uri="{D42A27DB-BD31-4B8C-83A1-F6EECF244321}">
                <p14:modId xmlns:p14="http://schemas.microsoft.com/office/powerpoint/2010/main" val="765877441"/>
              </p:ext>
            </p:extLst>
          </p:nvPr>
        </p:nvGraphicFramePr>
        <p:xfrm>
          <a:off x="132079" y="567604"/>
          <a:ext cx="11518052" cy="4815840"/>
        </p:xfrm>
        <a:graphic>
          <a:graphicData uri="http://schemas.openxmlformats.org/drawingml/2006/table">
            <a:tbl>
              <a:tblPr firstRow="1" bandRow="1">
                <a:tableStyleId>{69012ECD-51FC-41F1-AA8D-1B2483CD663E}</a:tableStyleId>
              </a:tblPr>
              <a:tblGrid>
                <a:gridCol w="3394628">
                  <a:extLst>
                    <a:ext uri="{9D8B030D-6E8A-4147-A177-3AD203B41FA5}">
                      <a16:colId xmlns:a16="http://schemas.microsoft.com/office/drawing/2014/main" val="766677285"/>
                    </a:ext>
                  </a:extLst>
                </a:gridCol>
                <a:gridCol w="1536360">
                  <a:extLst>
                    <a:ext uri="{9D8B030D-6E8A-4147-A177-3AD203B41FA5}">
                      <a16:colId xmlns:a16="http://schemas.microsoft.com/office/drawing/2014/main" val="1362813313"/>
                    </a:ext>
                  </a:extLst>
                </a:gridCol>
                <a:gridCol w="1481666">
                  <a:extLst>
                    <a:ext uri="{9D8B030D-6E8A-4147-A177-3AD203B41FA5}">
                      <a16:colId xmlns:a16="http://schemas.microsoft.com/office/drawing/2014/main" val="3296549446"/>
                    </a:ext>
                  </a:extLst>
                </a:gridCol>
                <a:gridCol w="1625600">
                  <a:extLst>
                    <a:ext uri="{9D8B030D-6E8A-4147-A177-3AD203B41FA5}">
                      <a16:colId xmlns:a16="http://schemas.microsoft.com/office/drawing/2014/main" val="2579843292"/>
                    </a:ext>
                  </a:extLst>
                </a:gridCol>
                <a:gridCol w="1667934">
                  <a:extLst>
                    <a:ext uri="{9D8B030D-6E8A-4147-A177-3AD203B41FA5}">
                      <a16:colId xmlns:a16="http://schemas.microsoft.com/office/drawing/2014/main" val="3841248342"/>
                    </a:ext>
                  </a:extLst>
                </a:gridCol>
                <a:gridCol w="1811864">
                  <a:extLst>
                    <a:ext uri="{9D8B030D-6E8A-4147-A177-3AD203B41FA5}">
                      <a16:colId xmlns:a16="http://schemas.microsoft.com/office/drawing/2014/main" val="1114691269"/>
                    </a:ext>
                  </a:extLst>
                </a:gridCol>
              </a:tblGrid>
              <a:tr h="117877">
                <a:tc>
                  <a:txBody>
                    <a:bodyPr/>
                    <a:lstStyle/>
                    <a:p>
                      <a:pPr marL="91440" marR="0" lvl="0" indent="0" algn="l" defTabSz="609600" rtl="0" eaLnBrk="1" fontAlgn="ctr" latinLnBrk="0" hangingPunct="1">
                        <a:lnSpc>
                          <a:spcPct val="100000"/>
                        </a:lnSpc>
                        <a:spcBef>
                          <a:spcPts val="0"/>
                        </a:spcBef>
                        <a:spcAft>
                          <a:spcPts val="0"/>
                        </a:spcAft>
                        <a:buClrTx/>
                        <a:buSzTx/>
                        <a:buFontTx/>
                        <a:buNone/>
                        <a:tabLst/>
                        <a:defRPr/>
                      </a:pPr>
                      <a:r>
                        <a:rPr lang="en-US" sz="1600" b="1" i="0" u="none" strike="noStrike" dirty="0">
                          <a:solidFill>
                            <a:schemeClr val="bg1"/>
                          </a:solidFill>
                          <a:effectLst/>
                          <a:latin typeface="+mn-lt"/>
                        </a:rPr>
                        <a:t>Process / Capability</a:t>
                      </a:r>
                      <a:endParaRPr lang="en-MY" sz="1600" b="1" i="0" u="none" strike="noStrike" dirty="0">
                        <a:solidFill>
                          <a:schemeClr val="bg1"/>
                        </a:solidFill>
                        <a:effectLst/>
                        <a:latin typeface="+mn-lt"/>
                      </a:endParaRPr>
                    </a:p>
                  </a:txBody>
                  <a:tcPr marL="0" marR="0" marT="0" marB="0"/>
                </a:tc>
                <a:tc>
                  <a:txBody>
                    <a:bodyPr/>
                    <a:lstStyle/>
                    <a:p>
                      <a:pPr marL="91440" algn="l" rtl="0" fontAlgn="ctr"/>
                      <a:r>
                        <a:rPr lang="en-MY" sz="1600" u="none" strike="noStrike" dirty="0">
                          <a:solidFill>
                            <a:schemeClr val="bg1"/>
                          </a:solidFill>
                          <a:effectLst/>
                          <a:latin typeface="+mn-lt"/>
                        </a:rPr>
                        <a:t>ECS</a:t>
                      </a:r>
                      <a:endParaRPr lang="en-MY" sz="1600" b="1" i="0" u="none" strike="noStrike" dirty="0">
                        <a:solidFill>
                          <a:schemeClr val="bg1"/>
                        </a:solidFill>
                        <a:effectLst/>
                        <a:latin typeface="+mn-lt"/>
                      </a:endParaRPr>
                    </a:p>
                  </a:txBody>
                  <a:tcPr marL="0" marR="0" marT="0" marB="0"/>
                </a:tc>
                <a:tc>
                  <a:txBody>
                    <a:bodyPr/>
                    <a:lstStyle/>
                    <a:p>
                      <a:pPr marL="91440" algn="l" rtl="0" fontAlgn="ctr"/>
                      <a:r>
                        <a:rPr lang="en-MY" sz="1600" u="none" strike="noStrike" dirty="0">
                          <a:solidFill>
                            <a:schemeClr val="bg1"/>
                          </a:solidFill>
                          <a:effectLst/>
                          <a:latin typeface="+mn-lt"/>
                        </a:rPr>
                        <a:t>LCFC</a:t>
                      </a:r>
                      <a:endParaRPr lang="en-MY" sz="1600" b="1" i="0" u="none" strike="noStrike" dirty="0">
                        <a:solidFill>
                          <a:schemeClr val="bg1"/>
                        </a:solidFill>
                        <a:effectLst/>
                        <a:latin typeface="+mn-lt"/>
                      </a:endParaRPr>
                    </a:p>
                  </a:txBody>
                  <a:tcPr marL="0" marR="0" marT="0" marB="0"/>
                </a:tc>
                <a:tc>
                  <a:txBody>
                    <a:bodyPr/>
                    <a:lstStyle/>
                    <a:p>
                      <a:pPr marL="91440" algn="l" rtl="0" fontAlgn="ctr"/>
                      <a:r>
                        <a:rPr lang="en-MY" sz="1600" u="none" strike="noStrike" dirty="0">
                          <a:solidFill>
                            <a:schemeClr val="bg1"/>
                          </a:solidFill>
                          <a:effectLst/>
                          <a:latin typeface="+mn-lt"/>
                        </a:rPr>
                        <a:t>FXWH</a:t>
                      </a:r>
                      <a:endParaRPr lang="en-MY" sz="1600" b="1" i="0" u="none" strike="noStrike" dirty="0">
                        <a:solidFill>
                          <a:schemeClr val="bg1"/>
                        </a:solidFill>
                        <a:effectLst/>
                        <a:latin typeface="+mn-lt"/>
                      </a:endParaRPr>
                    </a:p>
                  </a:txBody>
                  <a:tcPr marL="0" marR="0" marT="0" marB="0"/>
                </a:tc>
                <a:tc>
                  <a:txBody>
                    <a:bodyPr/>
                    <a:lstStyle/>
                    <a:p>
                      <a:pPr marL="91440" algn="l" rtl="0" fontAlgn="ctr"/>
                      <a:r>
                        <a:rPr lang="en-MY" sz="1600" u="none" strike="noStrike" dirty="0">
                          <a:solidFill>
                            <a:schemeClr val="bg1"/>
                          </a:solidFill>
                          <a:effectLst/>
                          <a:latin typeface="+mn-lt"/>
                        </a:rPr>
                        <a:t>LITEON</a:t>
                      </a:r>
                      <a:endParaRPr lang="en-MY" sz="1600" b="1" i="0" u="none" strike="noStrike" dirty="0">
                        <a:solidFill>
                          <a:schemeClr val="bg1"/>
                        </a:solidFill>
                        <a:effectLst/>
                        <a:latin typeface="+mn-lt"/>
                      </a:endParaRPr>
                    </a:p>
                  </a:txBody>
                  <a:tcPr marL="0" marR="0" marT="0" marB="0"/>
                </a:tc>
                <a:tc>
                  <a:txBody>
                    <a:bodyPr/>
                    <a:lstStyle/>
                    <a:p>
                      <a:pPr marL="91440" algn="l" rtl="0" fontAlgn="ctr"/>
                      <a:r>
                        <a:rPr lang="en-MY" sz="1600" b="1" i="0" u="none" strike="noStrike" dirty="0">
                          <a:solidFill>
                            <a:schemeClr val="bg1"/>
                          </a:solidFill>
                          <a:effectLst/>
                          <a:latin typeface="+mn-lt"/>
                        </a:rPr>
                        <a:t>MSI (LENOVO)</a:t>
                      </a:r>
                    </a:p>
                  </a:txBody>
                  <a:tcPr marL="0" marR="0" marT="0" marB="0"/>
                </a:tc>
                <a:extLst>
                  <a:ext uri="{0D108BD9-81ED-4DB2-BD59-A6C34878D82A}">
                    <a16:rowId xmlns:a16="http://schemas.microsoft.com/office/drawing/2014/main" val="3852518198"/>
                  </a:ext>
                </a:extLst>
              </a:tr>
              <a:tr h="84198">
                <a:tc>
                  <a:txBody>
                    <a:bodyPr/>
                    <a:lstStyle/>
                    <a:p>
                      <a:pPr marL="91440" algn="l" fontAlgn="t"/>
                      <a:r>
                        <a:rPr lang="en-MY" sz="1200" b="0" i="0" u="none" strike="noStrike" dirty="0">
                          <a:solidFill>
                            <a:schemeClr val="tx1"/>
                          </a:solidFill>
                          <a:effectLst/>
                          <a:latin typeface="+mn-lt"/>
                        </a:rPr>
                        <a:t>Brand/Model</a:t>
                      </a:r>
                    </a:p>
                  </a:txBody>
                  <a:tcPr marL="0" marR="0" marT="0" marB="0"/>
                </a:tc>
                <a:tc>
                  <a:txBody>
                    <a:bodyPr/>
                    <a:lstStyle/>
                    <a:p>
                      <a:pPr marL="91440" algn="l" fontAlgn="t"/>
                      <a:r>
                        <a:rPr lang="en-MY" sz="1200" b="0" i="0" u="none" strike="noStrike" dirty="0">
                          <a:solidFill>
                            <a:schemeClr val="tx1"/>
                          </a:solidFill>
                          <a:effectLst/>
                          <a:latin typeface="+mn-lt"/>
                        </a:rPr>
                        <a:t>not answered</a:t>
                      </a:r>
                    </a:p>
                  </a:txBody>
                  <a:tcPr marL="0" marR="0" marT="0" marB="0"/>
                </a:tc>
                <a:tc>
                  <a:txBody>
                    <a:bodyPr/>
                    <a:lstStyle/>
                    <a:p>
                      <a:pPr marL="91440" algn="l" fontAlgn="t"/>
                      <a:r>
                        <a:rPr lang="en-MY" sz="1200" b="0" i="0" u="none" strike="noStrike" dirty="0">
                          <a:solidFill>
                            <a:schemeClr val="tx1"/>
                          </a:solidFill>
                          <a:effectLst/>
                          <a:latin typeface="+mn-lt"/>
                        </a:rPr>
                        <a:t>not answered</a:t>
                      </a:r>
                    </a:p>
                  </a:txBody>
                  <a:tcPr marL="0" marR="0" marT="0" marB="0"/>
                </a:tc>
                <a:tc>
                  <a:txBody>
                    <a:bodyPr/>
                    <a:lstStyle/>
                    <a:p>
                      <a:pPr marL="91440" algn="l" fontAlgn="t"/>
                      <a:r>
                        <a:rPr lang="en-MY" sz="1200" b="0" i="0" u="none" strike="noStrike" dirty="0">
                          <a:solidFill>
                            <a:srgbClr val="0068B5"/>
                          </a:solidFill>
                          <a:effectLst/>
                          <a:latin typeface="+mn-lt"/>
                        </a:rPr>
                        <a:t>Brand: </a:t>
                      </a:r>
                      <a:r>
                        <a:rPr lang="en-MY" sz="1200" b="0" i="0" u="none" strike="noStrike" dirty="0" err="1">
                          <a:solidFill>
                            <a:srgbClr val="0068B5"/>
                          </a:solidFill>
                          <a:effectLst/>
                          <a:latin typeface="+mn-lt"/>
                        </a:rPr>
                        <a:t>Dage</a:t>
                      </a:r>
                      <a:r>
                        <a:rPr lang="en-MY" sz="1200" b="0" i="0" u="none" strike="noStrike" dirty="0">
                          <a:solidFill>
                            <a:srgbClr val="0068B5"/>
                          </a:solidFill>
                          <a:effectLst/>
                          <a:latin typeface="+mn-lt"/>
                        </a:rPr>
                        <a:t>, Model: XD7500, 2D</a:t>
                      </a:r>
                    </a:p>
                  </a:txBody>
                  <a:tcPr marL="0" marR="0" marT="0" marB="0"/>
                </a:tc>
                <a:tc>
                  <a:txBody>
                    <a:bodyPr/>
                    <a:lstStyle/>
                    <a:p>
                      <a:pPr marL="91440" algn="l" fontAlgn="t"/>
                      <a:r>
                        <a:rPr lang="en-MY" sz="1200" b="0" i="0" u="none" strike="noStrike" dirty="0">
                          <a:solidFill>
                            <a:schemeClr val="tx1"/>
                          </a:solidFill>
                          <a:effectLst/>
                          <a:latin typeface="+mn-lt"/>
                        </a:rPr>
                        <a:t>not answered</a:t>
                      </a:r>
                    </a:p>
                  </a:txBody>
                  <a:tcPr marL="0" marR="0" marT="0" marB="0"/>
                </a:tc>
                <a:tc>
                  <a:txBody>
                    <a:bodyPr/>
                    <a:lstStyle/>
                    <a:p>
                      <a:pPr marL="91440" algn="l" fontAlgn="t"/>
                      <a:r>
                        <a:rPr lang="en-MY" sz="1200" b="0" i="0" u="none" strike="noStrike" dirty="0">
                          <a:solidFill>
                            <a:srgbClr val="0068B5"/>
                          </a:solidFill>
                          <a:effectLst/>
                          <a:latin typeface="+mn-lt"/>
                        </a:rPr>
                        <a:t>Brand: ELT/</a:t>
                      </a:r>
                      <a:r>
                        <a:rPr lang="ja-JP" altLang="en-US" sz="1200" b="0" i="0" u="none" strike="noStrike" dirty="0">
                          <a:solidFill>
                            <a:srgbClr val="0068B5"/>
                          </a:solidFill>
                          <a:effectLst/>
                          <a:latin typeface="+mn-lt"/>
                        </a:rPr>
                        <a:t>艾而特</a:t>
                      </a:r>
                      <a:r>
                        <a:rPr lang="en-MY" altLang="ja-JP" sz="1200" b="0" i="0" u="none" strike="noStrike" dirty="0">
                          <a:solidFill>
                            <a:srgbClr val="0068B5"/>
                          </a:solidFill>
                          <a:effectLst/>
                          <a:latin typeface="+mn-lt"/>
                        </a:rPr>
                        <a:t>, </a:t>
                      </a:r>
                      <a:r>
                        <a:rPr lang="en-MY" sz="1200" b="0" i="0" u="none" strike="noStrike" dirty="0">
                          <a:solidFill>
                            <a:srgbClr val="0068B5"/>
                          </a:solidFill>
                          <a:effectLst/>
                          <a:latin typeface="+mn-lt"/>
                        </a:rPr>
                        <a:t>Model: ST100A, 2D</a:t>
                      </a:r>
                    </a:p>
                  </a:txBody>
                  <a:tcPr marL="0" marR="0" marT="0" marB="0"/>
                </a:tc>
                <a:extLst>
                  <a:ext uri="{0D108BD9-81ED-4DB2-BD59-A6C34878D82A}">
                    <a16:rowId xmlns:a16="http://schemas.microsoft.com/office/drawing/2014/main" val="1148176625"/>
                  </a:ext>
                </a:extLst>
              </a:tr>
              <a:tr h="84198">
                <a:tc>
                  <a:txBody>
                    <a:bodyPr/>
                    <a:lstStyle/>
                    <a:p>
                      <a:pPr marL="91440" algn="l" fontAlgn="t"/>
                      <a:r>
                        <a:rPr lang="en-MY" sz="1200" b="0" i="0" u="none" strike="noStrike" dirty="0">
                          <a:solidFill>
                            <a:schemeClr val="tx1"/>
                          </a:solidFill>
                          <a:effectLst/>
                          <a:latin typeface="+mn-lt"/>
                        </a:rPr>
                        <a:t>Performed In-line / offline</a:t>
                      </a:r>
                    </a:p>
                  </a:txBody>
                  <a:tcPr marL="0" marR="0" marT="0" marB="0"/>
                </a:tc>
                <a:tc>
                  <a:txBody>
                    <a:bodyPr/>
                    <a:lstStyle/>
                    <a:p>
                      <a:pPr marL="91440" algn="l" fontAlgn="t"/>
                      <a:r>
                        <a:rPr lang="en-MY" sz="1200" b="0" i="0" u="none" strike="noStrike" dirty="0">
                          <a:solidFill>
                            <a:schemeClr val="tx1"/>
                          </a:solidFill>
                          <a:effectLst/>
                          <a:latin typeface="+mn-lt"/>
                        </a:rPr>
                        <a:t>Offline</a:t>
                      </a:r>
                    </a:p>
                  </a:txBody>
                  <a:tcPr marL="0" marR="0" marT="0" marB="0"/>
                </a:tc>
                <a:tc>
                  <a:txBody>
                    <a:bodyPr/>
                    <a:lstStyle/>
                    <a:p>
                      <a:pPr marL="91440" algn="l" fontAlgn="t"/>
                      <a:r>
                        <a:rPr lang="en-MY" sz="1200" b="0" i="0" u="none" strike="noStrike" dirty="0">
                          <a:solidFill>
                            <a:schemeClr val="tx1"/>
                          </a:solidFill>
                          <a:effectLst/>
                          <a:latin typeface="+mn-lt"/>
                        </a:rPr>
                        <a:t>Offline</a:t>
                      </a:r>
                    </a:p>
                  </a:txBody>
                  <a:tcPr marL="0" marR="0" marT="0" marB="0"/>
                </a:tc>
                <a:tc>
                  <a:txBody>
                    <a:bodyPr/>
                    <a:lstStyle/>
                    <a:p>
                      <a:pPr marL="91440" algn="l" fontAlgn="t"/>
                      <a:r>
                        <a:rPr lang="en-MY" sz="1200" b="0" i="0" u="none" strike="noStrike" dirty="0">
                          <a:solidFill>
                            <a:schemeClr val="tx1"/>
                          </a:solidFill>
                          <a:effectLst/>
                          <a:latin typeface="+mn-lt"/>
                        </a:rPr>
                        <a:t>Offline </a:t>
                      </a:r>
                    </a:p>
                  </a:txBody>
                  <a:tcPr marL="0" marR="0" marT="0" marB="0"/>
                </a:tc>
                <a:tc>
                  <a:txBody>
                    <a:bodyPr/>
                    <a:lstStyle/>
                    <a:p>
                      <a:pPr marL="91440" algn="l" fontAlgn="t"/>
                      <a:r>
                        <a:rPr lang="en-MY" sz="1200" b="0" i="0" u="none" strike="noStrike" dirty="0">
                          <a:solidFill>
                            <a:schemeClr val="tx1"/>
                          </a:solidFill>
                          <a:effectLst/>
                          <a:latin typeface="+mn-lt"/>
                        </a:rPr>
                        <a:t>Offline</a:t>
                      </a:r>
                    </a:p>
                  </a:txBody>
                  <a:tcPr marL="0" marR="0" marT="0" marB="0"/>
                </a:tc>
                <a:tc>
                  <a:txBody>
                    <a:bodyPr/>
                    <a:lstStyle/>
                    <a:p>
                      <a:pPr marL="91440" algn="l" fontAlgn="t"/>
                      <a:r>
                        <a:rPr kumimoji="0" lang="en-MY" sz="1200" b="0" i="0" u="none" strike="noStrike" kern="0" cap="none" spc="0" normalizeH="0" baseline="0" noProof="0">
                          <a:ln>
                            <a:noFill/>
                          </a:ln>
                          <a:solidFill>
                            <a:srgbClr val="000000"/>
                          </a:solidFill>
                          <a:effectLst/>
                          <a:uLnTx/>
                          <a:uFillTx/>
                          <a:latin typeface="Intel Clear"/>
                          <a:sym typeface="Intel Clear"/>
                        </a:rPr>
                        <a:t>not answered</a:t>
                      </a:r>
                      <a:endParaRPr lang="en-MY" sz="1200" b="0" i="0" u="none" strike="noStrike" dirty="0">
                        <a:solidFill>
                          <a:srgbClr val="0000FF"/>
                        </a:solidFill>
                        <a:effectLst/>
                        <a:latin typeface="+mn-lt"/>
                      </a:endParaRPr>
                    </a:p>
                  </a:txBody>
                  <a:tcPr marL="0" marR="0" marT="0" marB="0"/>
                </a:tc>
                <a:extLst>
                  <a:ext uri="{0D108BD9-81ED-4DB2-BD59-A6C34878D82A}">
                    <a16:rowId xmlns:a16="http://schemas.microsoft.com/office/drawing/2014/main" val="4178550123"/>
                  </a:ext>
                </a:extLst>
              </a:tr>
              <a:tr h="168396">
                <a:tc>
                  <a:txBody>
                    <a:bodyPr/>
                    <a:lstStyle/>
                    <a:p>
                      <a:pPr marL="91440" algn="l" fontAlgn="t"/>
                      <a:r>
                        <a:rPr lang="en-MY" sz="1200" b="0" i="0" u="none" strike="noStrike" dirty="0">
                          <a:solidFill>
                            <a:schemeClr val="tx1"/>
                          </a:solidFill>
                          <a:effectLst/>
                          <a:latin typeface="+mn-lt"/>
                        </a:rPr>
                        <a:t>Sampling rate</a:t>
                      </a:r>
                    </a:p>
                  </a:txBody>
                  <a:tcPr marL="0" marR="0" marT="0" marB="0"/>
                </a:tc>
                <a:tc>
                  <a:txBody>
                    <a:bodyPr/>
                    <a:lstStyle/>
                    <a:p>
                      <a:pPr marL="91440" algn="l" fontAlgn="t"/>
                      <a:r>
                        <a:rPr lang="en-MY" sz="1200" b="0" i="0" u="none" strike="noStrike" dirty="0">
                          <a:solidFill>
                            <a:schemeClr val="tx1"/>
                          </a:solidFill>
                          <a:effectLst/>
                          <a:latin typeface="+mn-lt"/>
                        </a:rPr>
                        <a:t>5 /day/line</a:t>
                      </a:r>
                    </a:p>
                  </a:txBody>
                  <a:tcPr marL="0" marR="0" marT="0" marB="0"/>
                </a:tc>
                <a:tc>
                  <a:txBody>
                    <a:bodyPr/>
                    <a:lstStyle/>
                    <a:p>
                      <a:pPr marL="91440" algn="l" fontAlgn="t"/>
                      <a:r>
                        <a:rPr lang="en-MY" sz="1200" b="0" i="0" u="none" strike="noStrike" dirty="0">
                          <a:solidFill>
                            <a:schemeClr val="tx1"/>
                          </a:solidFill>
                          <a:effectLst/>
                          <a:latin typeface="+mn-lt"/>
                        </a:rPr>
                        <a:t>5 / hrs</a:t>
                      </a:r>
                    </a:p>
                  </a:txBody>
                  <a:tcPr marL="0" marR="0" marT="0" marB="0"/>
                </a:tc>
                <a:tc>
                  <a:txBody>
                    <a:bodyPr/>
                    <a:lstStyle/>
                    <a:p>
                      <a:pPr marL="91440" algn="l" fontAlgn="ctr"/>
                      <a:r>
                        <a:rPr lang="en-MY" sz="1200" b="0" i="0" u="none" strike="noStrike" dirty="0">
                          <a:solidFill>
                            <a:schemeClr val="tx1"/>
                          </a:solidFill>
                          <a:effectLst/>
                          <a:latin typeface="+mn-lt"/>
                          <a:ea typeface="細明體" panose="02020509000000000000" pitchFamily="49" charset="-120"/>
                        </a:rPr>
                        <a:t>2 /6 hrs</a:t>
                      </a:r>
                    </a:p>
                  </a:txBody>
                  <a:tcPr marL="0" marR="0" marT="0" marB="0"/>
                </a:tc>
                <a:tc>
                  <a:txBody>
                    <a:bodyPr/>
                    <a:lstStyle/>
                    <a:p>
                      <a:pPr marL="91440" algn="l" fontAlgn="t"/>
                      <a:r>
                        <a:rPr lang="en-MY" sz="1200" b="0" i="0" u="none" strike="noStrike" dirty="0">
                          <a:solidFill>
                            <a:schemeClr val="tx1"/>
                          </a:solidFill>
                          <a:effectLst/>
                          <a:latin typeface="+mn-lt"/>
                        </a:rPr>
                        <a:t>3~5pcs/ hrs</a:t>
                      </a:r>
                    </a:p>
                  </a:txBody>
                  <a:tcPr marL="0" marR="0" marT="0" marB="0"/>
                </a:tc>
                <a:tc>
                  <a:txBody>
                    <a:bodyPr/>
                    <a:lstStyle/>
                    <a:p>
                      <a:pPr marL="91440" algn="l" fontAlgn="t"/>
                      <a:r>
                        <a:rPr kumimoji="0" lang="en-MY" sz="1200" b="0" i="0" u="none" strike="noStrike" kern="0" cap="none" spc="0" normalizeH="0" baseline="0" noProof="0">
                          <a:ln>
                            <a:noFill/>
                          </a:ln>
                          <a:solidFill>
                            <a:srgbClr val="000000"/>
                          </a:solidFill>
                          <a:effectLst/>
                          <a:uLnTx/>
                          <a:uFillTx/>
                          <a:latin typeface="Intel Clear"/>
                          <a:sym typeface="Intel Clear"/>
                        </a:rPr>
                        <a:t>not answered</a:t>
                      </a:r>
                      <a:endParaRPr lang="en-MY" sz="1200" b="0" i="0" u="none" strike="noStrike" dirty="0">
                        <a:solidFill>
                          <a:srgbClr val="0000FF"/>
                        </a:solidFill>
                        <a:effectLst/>
                        <a:latin typeface="+mn-lt"/>
                      </a:endParaRPr>
                    </a:p>
                  </a:txBody>
                  <a:tcPr marL="0" marR="0" marT="0" marB="0"/>
                </a:tc>
                <a:extLst>
                  <a:ext uri="{0D108BD9-81ED-4DB2-BD59-A6C34878D82A}">
                    <a16:rowId xmlns:a16="http://schemas.microsoft.com/office/drawing/2014/main" val="691040990"/>
                  </a:ext>
                </a:extLst>
              </a:tr>
              <a:tr h="162223">
                <a:tc>
                  <a:txBody>
                    <a:bodyPr/>
                    <a:lstStyle/>
                    <a:p>
                      <a:pPr marL="91440" algn="l" fontAlgn="ctr"/>
                      <a:r>
                        <a:rPr lang="en-US" sz="1200" b="0" i="0" u="none" strike="noStrike" dirty="0">
                          <a:solidFill>
                            <a:schemeClr val="tx1"/>
                          </a:solidFill>
                          <a:effectLst/>
                          <a:latin typeface="+mn-lt"/>
                        </a:rPr>
                        <a:t>Is the Detector - Camera based or Flat Panel?</a:t>
                      </a:r>
                    </a:p>
                  </a:txBody>
                  <a:tcPr marL="0" marR="0" marT="0" marB="0"/>
                </a:tc>
                <a:tc>
                  <a:txBody>
                    <a:bodyPr/>
                    <a:lstStyle/>
                    <a:p>
                      <a:pPr marL="91440" algn="l" fontAlgn="t"/>
                      <a:r>
                        <a:rPr lang="en-MY" sz="1200" b="0" i="0" u="none" strike="noStrike" dirty="0">
                          <a:solidFill>
                            <a:schemeClr val="tx1"/>
                          </a:solidFill>
                          <a:effectLst/>
                          <a:latin typeface="+mn-lt"/>
                        </a:rPr>
                        <a:t> </a:t>
                      </a: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200" b="0" i="0" u="none" strike="noStrike" kern="0" cap="none" spc="0" normalizeH="0" baseline="0" noProof="0">
                          <a:ln>
                            <a:noFill/>
                          </a:ln>
                          <a:solidFill>
                            <a:srgbClr val="000000"/>
                          </a:solidFill>
                          <a:effectLst/>
                          <a:uLnTx/>
                          <a:uFillTx/>
                          <a:latin typeface="Intel Clear"/>
                          <a:sym typeface="Intel Clear"/>
                        </a:rPr>
                        <a:t> not answered</a:t>
                      </a:r>
                      <a:endParaRPr kumimoji="0" lang="en-MY" sz="1200" b="0" i="0" u="none" strike="noStrike" kern="0" cap="none" spc="0" normalizeH="0" baseline="0" noProof="0" dirty="0">
                        <a:ln>
                          <a:noFill/>
                        </a:ln>
                        <a:solidFill>
                          <a:srgbClr val="000000"/>
                        </a:solidFill>
                        <a:effectLst/>
                        <a:uLnTx/>
                        <a:uFillTx/>
                        <a:latin typeface="Intel Clear"/>
                        <a:sym typeface="Intel Clear"/>
                      </a:endParaRPr>
                    </a:p>
                  </a:txBody>
                  <a:tcPr marL="0" marR="0" marT="0" marB="0"/>
                </a:tc>
                <a:tc>
                  <a:txBody>
                    <a:bodyPr/>
                    <a:lstStyle/>
                    <a:p>
                      <a:pPr marL="91440" algn="l" fontAlgn="ctr"/>
                      <a:r>
                        <a:rPr lang="en-MY" sz="1200" b="0" i="0" u="none" strike="noStrike">
                          <a:solidFill>
                            <a:schemeClr val="tx1"/>
                          </a:solidFill>
                          <a:effectLst/>
                          <a:latin typeface="+mn-lt"/>
                        </a:rPr>
                        <a:t>Is based</a:t>
                      </a:r>
                    </a:p>
                  </a:txBody>
                  <a:tcPr marL="0" marR="0" marT="0" marB="0"/>
                </a:tc>
                <a:tc>
                  <a:txBody>
                    <a:bodyPr/>
                    <a:lstStyle/>
                    <a:p>
                      <a:pPr marL="91440" algn="l" fontAlgn="t"/>
                      <a:r>
                        <a:rPr lang="en-MY" sz="1200" b="0" i="0" u="none" strike="noStrike">
                          <a:solidFill>
                            <a:schemeClr val="tx1"/>
                          </a:solidFill>
                          <a:effectLst/>
                          <a:latin typeface="+mn-lt"/>
                        </a:rPr>
                        <a:t>Flat Panel</a:t>
                      </a:r>
                    </a:p>
                  </a:txBody>
                  <a:tcPr marL="0" marR="0" marT="0" marB="0"/>
                </a:tc>
                <a:tc>
                  <a:txBody>
                    <a:bodyPr/>
                    <a:lstStyle/>
                    <a:p>
                      <a:pPr marL="91440" algn="l" fontAlgn="t"/>
                      <a:r>
                        <a:rPr kumimoji="0" lang="en-MY" sz="1200" b="0" i="0" u="none" strike="noStrike" kern="0" cap="none" spc="0" normalizeH="0" baseline="0" noProof="0">
                          <a:ln>
                            <a:noFill/>
                          </a:ln>
                          <a:solidFill>
                            <a:srgbClr val="000000"/>
                          </a:solidFill>
                          <a:effectLst/>
                          <a:uLnTx/>
                          <a:uFillTx/>
                          <a:latin typeface="Intel Clear"/>
                          <a:sym typeface="Intel Clear"/>
                        </a:rPr>
                        <a:t>not answered</a:t>
                      </a:r>
                      <a:endParaRPr lang="en-MY" sz="1200" b="0" i="0" u="none" strike="noStrike" dirty="0">
                        <a:solidFill>
                          <a:srgbClr val="0000FF"/>
                        </a:solidFill>
                        <a:effectLst/>
                        <a:latin typeface="+mn-lt"/>
                      </a:endParaRPr>
                    </a:p>
                  </a:txBody>
                  <a:tcPr marL="0" marR="0" marT="0" marB="0"/>
                </a:tc>
                <a:extLst>
                  <a:ext uri="{0D108BD9-81ED-4DB2-BD59-A6C34878D82A}">
                    <a16:rowId xmlns:a16="http://schemas.microsoft.com/office/drawing/2014/main" val="3913651276"/>
                  </a:ext>
                </a:extLst>
              </a:tr>
              <a:tr h="252594">
                <a:tc>
                  <a:txBody>
                    <a:bodyPr/>
                    <a:lstStyle/>
                    <a:p>
                      <a:pPr marL="91440" algn="l" fontAlgn="ctr"/>
                      <a:r>
                        <a:rPr lang="en-US" sz="1200" b="0" i="0" u="none" strike="noStrike" dirty="0">
                          <a:solidFill>
                            <a:schemeClr val="tx1"/>
                          </a:solidFill>
                          <a:effectLst/>
                          <a:latin typeface="+mn-lt"/>
                        </a:rPr>
                        <a:t>Detector Resolution (Mega Pixel)</a:t>
                      </a:r>
                    </a:p>
                  </a:txBody>
                  <a:tcPr marL="0" marR="0" marT="0" marB="0"/>
                </a:tc>
                <a:tc>
                  <a:txBody>
                    <a:bodyPr/>
                    <a:lstStyle/>
                    <a:p>
                      <a:pPr marL="91440" algn="l" fontAlgn="t"/>
                      <a:r>
                        <a:rPr lang="en-MY" sz="1200" b="0" i="0" u="none" strike="noStrike" dirty="0">
                          <a:solidFill>
                            <a:srgbClr val="FF0000"/>
                          </a:solidFill>
                          <a:effectLst>
                            <a:outerShdw blurRad="38100" dist="38100" dir="2700000" algn="tl">
                              <a:srgbClr val="000000">
                                <a:alpha val="43137"/>
                              </a:srgbClr>
                            </a:outerShdw>
                          </a:effectLst>
                          <a:latin typeface="+mn-lt"/>
                        </a:rPr>
                        <a:t>1um</a:t>
                      </a: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200" b="0" i="0" u="none" strike="noStrike" kern="0" cap="none" spc="0" normalizeH="0" baseline="0" noProof="0" dirty="0">
                          <a:ln>
                            <a:noFill/>
                          </a:ln>
                          <a:solidFill>
                            <a:schemeClr val="tx1"/>
                          </a:solidFill>
                          <a:effectLst/>
                          <a:uLnTx/>
                          <a:uFillTx/>
                          <a:latin typeface="Intel Clear"/>
                          <a:sym typeface="Intel Clear"/>
                        </a:rPr>
                        <a:t> not answered</a:t>
                      </a:r>
                    </a:p>
                  </a:txBody>
                  <a:tcPr marL="0" marR="0" marT="0" marB="0"/>
                </a:tc>
                <a:tc>
                  <a:txBody>
                    <a:bodyPr/>
                    <a:lstStyle/>
                    <a:p>
                      <a:pPr marL="91440" algn="l" fontAlgn="ctr"/>
                      <a:r>
                        <a:rPr lang="en-MY" sz="1200" b="0" i="0" u="none" strike="noStrike" dirty="0">
                          <a:solidFill>
                            <a:srgbClr val="FF0000"/>
                          </a:solidFill>
                          <a:effectLst>
                            <a:outerShdw blurRad="38100" dist="38100" dir="2700000" algn="tl">
                              <a:srgbClr val="000000">
                                <a:alpha val="43137"/>
                              </a:srgbClr>
                            </a:outerShdw>
                          </a:effectLst>
                          <a:latin typeface="+mn-lt"/>
                        </a:rPr>
                        <a:t>0.95um</a:t>
                      </a:r>
                    </a:p>
                  </a:txBody>
                  <a:tcPr marL="0" marR="0" marT="0" marB="0"/>
                </a:tc>
                <a:tc>
                  <a:txBody>
                    <a:bodyPr/>
                    <a:lstStyle/>
                    <a:p>
                      <a:pPr marL="91440" algn="l" fontAlgn="t"/>
                      <a:r>
                        <a:rPr lang="it-IT" sz="1200" b="0" i="0" u="none" strike="noStrike" dirty="0">
                          <a:solidFill>
                            <a:srgbClr val="FF0000"/>
                          </a:solidFill>
                          <a:effectLst>
                            <a:outerShdw blurRad="38100" dist="38100" dir="2700000" algn="tl">
                              <a:srgbClr val="000000">
                                <a:alpha val="43137"/>
                              </a:srgbClr>
                            </a:outerShdw>
                          </a:effectLst>
                          <a:latin typeface="+mn-lt"/>
                        </a:rPr>
                        <a:t>Pixel:1004*1004</a:t>
                      </a:r>
                      <a:br>
                        <a:rPr lang="it-IT" sz="1200" b="0" i="0" u="none" strike="noStrike" dirty="0">
                          <a:solidFill>
                            <a:srgbClr val="FF0000"/>
                          </a:solidFill>
                          <a:effectLst>
                            <a:outerShdw blurRad="38100" dist="38100" dir="2700000" algn="tl">
                              <a:srgbClr val="000000">
                                <a:alpha val="43137"/>
                              </a:srgbClr>
                            </a:outerShdw>
                          </a:effectLst>
                          <a:latin typeface="+mn-lt"/>
                        </a:rPr>
                      </a:br>
                      <a:r>
                        <a:rPr lang="it-IT" sz="1200" b="0" i="0" u="none" strike="noStrike" dirty="0">
                          <a:solidFill>
                            <a:srgbClr val="FF0000"/>
                          </a:solidFill>
                          <a:effectLst>
                            <a:outerShdw blurRad="38100" dist="38100" dir="2700000" algn="tl">
                              <a:srgbClr val="000000">
                                <a:alpha val="43137"/>
                              </a:srgbClr>
                            </a:outerShdw>
                          </a:effectLst>
                          <a:latin typeface="+mn-lt"/>
                        </a:rPr>
                        <a:t>Campo di Visione (max): 102 x 102 mm</a:t>
                      </a:r>
                    </a:p>
                  </a:txBody>
                  <a:tcPr marL="0" marR="0" marT="0" marB="0"/>
                </a:tc>
                <a:tc>
                  <a:txBody>
                    <a:bodyPr/>
                    <a:lstStyle/>
                    <a:p>
                      <a:pPr marL="91440" algn="l" fontAlgn="t"/>
                      <a:r>
                        <a:rPr kumimoji="0" lang="en-MY" sz="1200" b="0" i="0" u="none" strike="noStrike" kern="0" cap="none" spc="0" normalizeH="0" baseline="0" noProof="0">
                          <a:ln>
                            <a:noFill/>
                          </a:ln>
                          <a:solidFill>
                            <a:srgbClr val="000000"/>
                          </a:solidFill>
                          <a:effectLst/>
                          <a:uLnTx/>
                          <a:uFillTx/>
                          <a:latin typeface="Intel Clear"/>
                          <a:sym typeface="Intel Clear"/>
                        </a:rPr>
                        <a:t>not answered</a:t>
                      </a:r>
                      <a:endParaRPr lang="it-IT" sz="1200" b="0" i="0" u="none" strike="noStrike" dirty="0">
                        <a:solidFill>
                          <a:srgbClr val="0000FF"/>
                        </a:solidFill>
                        <a:effectLst/>
                        <a:latin typeface="+mn-lt"/>
                      </a:endParaRPr>
                    </a:p>
                  </a:txBody>
                  <a:tcPr marL="0" marR="0" marT="0" marB="0"/>
                </a:tc>
                <a:extLst>
                  <a:ext uri="{0D108BD9-81ED-4DB2-BD59-A6C34878D82A}">
                    <a16:rowId xmlns:a16="http://schemas.microsoft.com/office/drawing/2014/main" val="2076378246"/>
                  </a:ext>
                </a:extLst>
              </a:tr>
              <a:tr h="252594">
                <a:tc>
                  <a:txBody>
                    <a:bodyPr/>
                    <a:lstStyle/>
                    <a:p>
                      <a:pPr marL="91440" algn="l" fontAlgn="ctr"/>
                      <a:r>
                        <a:rPr lang="en-US" sz="1200" b="0" i="0" u="none" strike="noStrike" dirty="0">
                          <a:solidFill>
                            <a:schemeClr val="tx1"/>
                          </a:solidFill>
                          <a:effectLst/>
                          <a:latin typeface="+mn-lt"/>
                        </a:rPr>
                        <a:t>Built in filter to limit X ray Dosage &amp; filter material/thickness (mm)?</a:t>
                      </a:r>
                    </a:p>
                  </a:txBody>
                  <a:tcPr marL="0" marR="0" marT="0" marB="0"/>
                </a:tc>
                <a:tc>
                  <a:txBody>
                    <a:bodyPr/>
                    <a:lstStyle/>
                    <a:p>
                      <a:pPr marL="91440" algn="l" fontAlgn="t"/>
                      <a:r>
                        <a:rPr lang="en-MY" sz="1200" b="0" i="0" u="none" strike="noStrike" dirty="0">
                          <a:solidFill>
                            <a:srgbClr val="FF0000"/>
                          </a:solidFill>
                          <a:effectLst>
                            <a:outerShdw blurRad="38100" dist="38100" dir="2700000" algn="tl">
                              <a:srgbClr val="000000">
                                <a:alpha val="43137"/>
                              </a:srgbClr>
                            </a:outerShdw>
                          </a:effectLst>
                          <a:latin typeface="+mn-lt"/>
                        </a:rPr>
                        <a:t>1usv/h </a:t>
                      </a: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200" b="0" i="0" u="none" strike="noStrike" kern="0" cap="none" spc="0" normalizeH="0" baseline="0" noProof="0" dirty="0">
                          <a:ln>
                            <a:noFill/>
                          </a:ln>
                          <a:solidFill>
                            <a:schemeClr val="tx1"/>
                          </a:solidFill>
                          <a:effectLst/>
                          <a:uLnTx/>
                          <a:uFillTx/>
                          <a:latin typeface="Intel Clear"/>
                          <a:sym typeface="Intel Clear"/>
                        </a:rPr>
                        <a:t> not answered</a:t>
                      </a:r>
                    </a:p>
                  </a:txBody>
                  <a:tcPr marL="0" marR="0" marT="0" marB="0"/>
                </a:tc>
                <a:tc>
                  <a:txBody>
                    <a:bodyPr/>
                    <a:lstStyle/>
                    <a:p>
                      <a:pPr marL="91440" algn="l" fontAlgn="ctr"/>
                      <a:r>
                        <a:rPr lang="en-MY" sz="1200" b="0" i="0" u="none" strike="noStrike" dirty="0">
                          <a:solidFill>
                            <a:srgbClr val="FF0000"/>
                          </a:solidFill>
                          <a:effectLst>
                            <a:outerShdw blurRad="38100" dist="38100" dir="2700000" algn="tl">
                              <a:srgbClr val="000000">
                                <a:alpha val="43137"/>
                              </a:srgbClr>
                            </a:outerShdw>
                          </a:effectLst>
                          <a:latin typeface="+mn-lt"/>
                        </a:rPr>
                        <a:t>None</a:t>
                      </a:r>
                    </a:p>
                  </a:txBody>
                  <a:tcPr marL="0" marR="0" marT="0" marB="0"/>
                </a:tc>
                <a:tc>
                  <a:txBody>
                    <a:bodyPr/>
                    <a:lstStyle/>
                    <a:p>
                      <a:pPr marL="91440" algn="l" fontAlgn="t"/>
                      <a:r>
                        <a:rPr lang="en-MY" sz="1200" b="0" i="0" u="none" strike="noStrike" dirty="0">
                          <a:solidFill>
                            <a:srgbClr val="FF0000"/>
                          </a:solidFill>
                          <a:effectLst>
                            <a:outerShdw blurRad="38100" dist="38100" dir="2700000" algn="tl">
                              <a:srgbClr val="000000">
                                <a:alpha val="43137"/>
                              </a:srgbClr>
                            </a:outerShdw>
                          </a:effectLst>
                          <a:latin typeface="+mn-lt"/>
                        </a:rPr>
                        <a:t>None</a:t>
                      </a:r>
                    </a:p>
                  </a:txBody>
                  <a:tcPr marL="0" marR="0" marT="0" marB="0"/>
                </a:tc>
                <a:tc>
                  <a:txBody>
                    <a:bodyPr/>
                    <a:lstStyle/>
                    <a:p>
                      <a:pPr marL="91440" algn="l" fontAlgn="t"/>
                      <a:r>
                        <a:rPr kumimoji="0" lang="en-MY" sz="1200" b="0" i="0" u="none" strike="noStrike" kern="0" cap="none" spc="0" normalizeH="0" baseline="0" noProof="0">
                          <a:ln>
                            <a:noFill/>
                          </a:ln>
                          <a:solidFill>
                            <a:srgbClr val="000000"/>
                          </a:solidFill>
                          <a:effectLst/>
                          <a:uLnTx/>
                          <a:uFillTx/>
                          <a:latin typeface="Intel Clear"/>
                          <a:sym typeface="Intel Clear"/>
                        </a:rPr>
                        <a:t>not answered</a:t>
                      </a:r>
                      <a:endParaRPr lang="en-MY" sz="1200" b="0" i="0" u="none" strike="noStrike" dirty="0">
                        <a:solidFill>
                          <a:srgbClr val="0000FF"/>
                        </a:solidFill>
                        <a:effectLst/>
                        <a:latin typeface="+mn-lt"/>
                      </a:endParaRPr>
                    </a:p>
                  </a:txBody>
                  <a:tcPr marL="0" marR="0" marT="0" marB="0"/>
                </a:tc>
                <a:extLst>
                  <a:ext uri="{0D108BD9-81ED-4DB2-BD59-A6C34878D82A}">
                    <a16:rowId xmlns:a16="http://schemas.microsoft.com/office/drawing/2014/main" val="2627658710"/>
                  </a:ext>
                </a:extLst>
              </a:tr>
              <a:tr h="168396">
                <a:tc>
                  <a:txBody>
                    <a:bodyPr/>
                    <a:lstStyle/>
                    <a:p>
                      <a:pPr marL="91440" algn="l" fontAlgn="ctr"/>
                      <a:r>
                        <a:rPr lang="en-US" sz="1200" b="0" i="0" u="none" strike="noStrike" dirty="0">
                          <a:solidFill>
                            <a:schemeClr val="tx1"/>
                          </a:solidFill>
                          <a:effectLst/>
                          <a:latin typeface="+mn-lt"/>
                        </a:rPr>
                        <a:t>What is the maximum angle (+/- degrees) for Oblique (2.5D) viewing?</a:t>
                      </a:r>
                    </a:p>
                  </a:txBody>
                  <a:tcPr marL="0" marR="0" marT="0" marB="0"/>
                </a:tc>
                <a:tc>
                  <a:txBody>
                    <a:bodyPr/>
                    <a:lstStyle/>
                    <a:p>
                      <a:pPr marL="91440" algn="l" fontAlgn="t"/>
                      <a:r>
                        <a:rPr lang="en-MY" sz="1200" b="0" i="0" u="none" strike="noStrike" dirty="0">
                          <a:solidFill>
                            <a:srgbClr val="FF0000"/>
                          </a:solidFill>
                          <a:effectLst>
                            <a:outerShdw blurRad="38100" dist="38100" dir="2700000" algn="tl">
                              <a:srgbClr val="000000">
                                <a:alpha val="43137"/>
                              </a:srgbClr>
                            </a:outerShdw>
                          </a:effectLst>
                          <a:latin typeface="+mn-lt"/>
                        </a:rPr>
                        <a:t>70 angle, (2.5D) viewing</a:t>
                      </a: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200" b="0" i="0" u="none" strike="noStrike" kern="0" cap="none" spc="0" normalizeH="0" baseline="0" noProof="0" dirty="0">
                          <a:ln>
                            <a:noFill/>
                          </a:ln>
                          <a:solidFill>
                            <a:schemeClr val="tx1"/>
                          </a:solidFill>
                          <a:effectLst/>
                          <a:uLnTx/>
                          <a:uFillTx/>
                          <a:latin typeface="Intel Clear"/>
                          <a:sym typeface="Intel Clear"/>
                        </a:rPr>
                        <a:t> not answered</a:t>
                      </a:r>
                    </a:p>
                  </a:txBody>
                  <a:tcPr marL="0" marR="0" marT="0" marB="0"/>
                </a:tc>
                <a:tc>
                  <a:txBody>
                    <a:bodyPr/>
                    <a:lstStyle/>
                    <a:p>
                      <a:pPr marL="91440" algn="l" fontAlgn="ctr"/>
                      <a:r>
                        <a:rPr lang="en-MY" sz="1200" b="0" i="0" u="none" strike="noStrike" dirty="0">
                          <a:solidFill>
                            <a:srgbClr val="FF0000"/>
                          </a:solidFill>
                          <a:effectLst>
                            <a:outerShdw blurRad="38100" dist="38100" dir="2700000" algn="tl">
                              <a:srgbClr val="000000">
                                <a:alpha val="43137"/>
                              </a:srgbClr>
                            </a:outerShdw>
                          </a:effectLst>
                          <a:latin typeface="+mn-lt"/>
                        </a:rPr>
                        <a:t>0-70°</a:t>
                      </a:r>
                    </a:p>
                  </a:txBody>
                  <a:tcPr marL="0" marR="0" marT="0" marB="0"/>
                </a:tc>
                <a:tc>
                  <a:txBody>
                    <a:bodyPr/>
                    <a:lstStyle/>
                    <a:p>
                      <a:pPr marL="91440" algn="l" fontAlgn="t"/>
                      <a:r>
                        <a:rPr lang="en-US" sz="1200" b="0" i="0" u="none" strike="noStrike" dirty="0">
                          <a:solidFill>
                            <a:srgbClr val="FF0000"/>
                          </a:solidFill>
                          <a:effectLst>
                            <a:outerShdw blurRad="38100" dist="38100" dir="2700000" algn="tl">
                              <a:srgbClr val="000000">
                                <a:alpha val="43137"/>
                              </a:srgbClr>
                            </a:outerShdw>
                          </a:effectLst>
                          <a:latin typeface="+mn-lt"/>
                          <a:ea typeface="微软雅黑" panose="020B0503020204020204" pitchFamily="34" charset="-122"/>
                        </a:rPr>
                        <a:t>140° (Right:70°，Left:70°)</a:t>
                      </a:r>
                    </a:p>
                  </a:txBody>
                  <a:tcPr marL="0" marR="0" marT="0" marB="0"/>
                </a:tc>
                <a:tc>
                  <a:txBody>
                    <a:bodyPr/>
                    <a:lstStyle/>
                    <a:p>
                      <a:pPr marL="91440" algn="l" fontAlgn="t"/>
                      <a:r>
                        <a:rPr kumimoji="0" lang="en-MY" sz="1200" b="0" i="0" u="none" strike="noStrike" kern="0" cap="none" spc="0" normalizeH="0" baseline="0" noProof="0">
                          <a:ln>
                            <a:noFill/>
                          </a:ln>
                          <a:solidFill>
                            <a:srgbClr val="000000"/>
                          </a:solidFill>
                          <a:effectLst/>
                          <a:uLnTx/>
                          <a:uFillTx/>
                          <a:latin typeface="Intel Clear"/>
                          <a:sym typeface="Intel Clear"/>
                        </a:rPr>
                        <a:t>not answered</a:t>
                      </a:r>
                      <a:endParaRPr lang="en-US" sz="1200" b="0" i="0" u="none" strike="noStrike" dirty="0">
                        <a:solidFill>
                          <a:srgbClr val="0000FF"/>
                        </a:solidFill>
                        <a:effectLst/>
                        <a:latin typeface="+mn-lt"/>
                        <a:ea typeface="微软雅黑" panose="020B0503020204020204" pitchFamily="34" charset="-122"/>
                      </a:endParaRPr>
                    </a:p>
                  </a:txBody>
                  <a:tcPr marL="0" marR="0" marT="0" marB="0"/>
                </a:tc>
                <a:extLst>
                  <a:ext uri="{0D108BD9-81ED-4DB2-BD59-A6C34878D82A}">
                    <a16:rowId xmlns:a16="http://schemas.microsoft.com/office/drawing/2014/main" val="1476538635"/>
                  </a:ext>
                </a:extLst>
              </a:tr>
              <a:tr h="168396">
                <a:tc>
                  <a:txBody>
                    <a:bodyPr/>
                    <a:lstStyle/>
                    <a:p>
                      <a:pPr marL="91440" algn="l" fontAlgn="ctr"/>
                      <a:r>
                        <a:rPr lang="en-US" sz="1200" b="0" i="0" u="none" strike="noStrike" dirty="0">
                          <a:solidFill>
                            <a:schemeClr val="tx1"/>
                          </a:solidFill>
                          <a:effectLst/>
                          <a:latin typeface="+mn-lt"/>
                        </a:rPr>
                        <a:t>What is the minimum distance of Xray tube Source to Object (BGA device)? (µm)</a:t>
                      </a:r>
                    </a:p>
                  </a:txBody>
                  <a:tcPr marL="0" marR="0" marT="0" marB="0"/>
                </a:tc>
                <a:tc>
                  <a:txBody>
                    <a:bodyPr/>
                    <a:lstStyle/>
                    <a:p>
                      <a:pPr marL="91440" algn="l" fontAlgn="t"/>
                      <a:r>
                        <a:rPr kumimoji="0" lang="en-MY" sz="1200" b="0" i="0" u="none" strike="noStrike" kern="0" cap="none" spc="0" normalizeH="0" baseline="0" noProof="0" dirty="0">
                          <a:ln>
                            <a:noFill/>
                          </a:ln>
                          <a:solidFill>
                            <a:schemeClr val="tx1"/>
                          </a:solidFill>
                          <a:effectLst/>
                          <a:uLnTx/>
                          <a:uFillTx/>
                          <a:latin typeface="+mn-lt"/>
                          <a:sym typeface="Intel Clear"/>
                        </a:rPr>
                        <a:t>not answered</a:t>
                      </a:r>
                      <a:r>
                        <a:rPr lang="en-MY" sz="1200" b="0" i="0" u="none" strike="noStrike" dirty="0">
                          <a:solidFill>
                            <a:schemeClr val="tx1"/>
                          </a:solidFill>
                          <a:effectLst/>
                          <a:latin typeface="+mn-lt"/>
                        </a:rPr>
                        <a:t> </a:t>
                      </a: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200" b="0" i="0" u="none" strike="noStrike" kern="0" cap="none" spc="0" normalizeH="0" baseline="0" noProof="0" dirty="0">
                          <a:ln>
                            <a:noFill/>
                          </a:ln>
                          <a:solidFill>
                            <a:schemeClr val="tx1"/>
                          </a:solidFill>
                          <a:effectLst/>
                          <a:uLnTx/>
                          <a:uFillTx/>
                          <a:latin typeface="Intel Clear"/>
                          <a:sym typeface="Intel Clear"/>
                        </a:rPr>
                        <a:t> not answered</a:t>
                      </a:r>
                    </a:p>
                  </a:txBody>
                  <a:tcPr marL="0" marR="0" marT="0" marB="0"/>
                </a:tc>
                <a:tc>
                  <a:txBody>
                    <a:bodyPr/>
                    <a:lstStyle/>
                    <a:p>
                      <a:pPr marL="91440" algn="l" fontAlgn="ctr"/>
                      <a:r>
                        <a:rPr lang="en-MY" sz="1200" b="0" i="0" u="none" strike="noStrike" dirty="0">
                          <a:solidFill>
                            <a:schemeClr val="tx1"/>
                          </a:solidFill>
                          <a:effectLst/>
                          <a:latin typeface="+mn-lt"/>
                        </a:rPr>
                        <a:t>0.95</a:t>
                      </a:r>
                    </a:p>
                  </a:txBody>
                  <a:tcPr marL="0" marR="0" marT="0" marB="0"/>
                </a:tc>
                <a:tc>
                  <a:txBody>
                    <a:bodyPr/>
                    <a:lstStyle/>
                    <a:p>
                      <a:pPr marL="91440" algn="l" fontAlgn="t"/>
                      <a:r>
                        <a:rPr lang="en-MY" sz="1200" b="0" i="0" u="none" strike="noStrike" dirty="0">
                          <a:solidFill>
                            <a:schemeClr val="tx1"/>
                          </a:solidFill>
                          <a:effectLst/>
                          <a:latin typeface="+mn-lt"/>
                          <a:ea typeface="Microsoft JhengHei" panose="020B0604030504040204" pitchFamily="34" charset="-120"/>
                        </a:rPr>
                        <a:t>2000</a:t>
                      </a:r>
                    </a:p>
                  </a:txBody>
                  <a:tcPr marL="0" marR="0" marT="0" marB="0"/>
                </a:tc>
                <a:tc>
                  <a:txBody>
                    <a:bodyPr/>
                    <a:lstStyle/>
                    <a:p>
                      <a:pPr marL="91440" algn="l" fontAlgn="t"/>
                      <a:r>
                        <a:rPr kumimoji="0" lang="en-MY" sz="1200" b="0" i="0" u="none" strike="noStrike" kern="0" cap="none" spc="0" normalizeH="0" baseline="0" noProof="0">
                          <a:ln>
                            <a:noFill/>
                          </a:ln>
                          <a:solidFill>
                            <a:srgbClr val="000000"/>
                          </a:solidFill>
                          <a:effectLst/>
                          <a:uLnTx/>
                          <a:uFillTx/>
                          <a:latin typeface="Intel Clear"/>
                          <a:sym typeface="Intel Clear"/>
                        </a:rPr>
                        <a:t>not answered</a:t>
                      </a:r>
                      <a:endParaRPr lang="en-MY" sz="1200" b="0" i="0" u="none" strike="noStrike" dirty="0">
                        <a:solidFill>
                          <a:srgbClr val="0000FF"/>
                        </a:solidFill>
                        <a:effectLst/>
                        <a:latin typeface="+mn-lt"/>
                        <a:ea typeface="Microsoft JhengHei" panose="020B0604030504040204" pitchFamily="34" charset="-120"/>
                      </a:endParaRPr>
                    </a:p>
                  </a:txBody>
                  <a:tcPr marL="0" marR="0" marT="0" marB="0"/>
                </a:tc>
                <a:extLst>
                  <a:ext uri="{0D108BD9-81ED-4DB2-BD59-A6C34878D82A}">
                    <a16:rowId xmlns:a16="http://schemas.microsoft.com/office/drawing/2014/main" val="161112178"/>
                  </a:ext>
                </a:extLst>
              </a:tr>
              <a:tr h="168396">
                <a:tc>
                  <a:txBody>
                    <a:bodyPr/>
                    <a:lstStyle/>
                    <a:p>
                      <a:pPr marL="91440" algn="l" fontAlgn="ctr"/>
                      <a:r>
                        <a:rPr lang="en-US" sz="1200" b="0" i="0" u="none" strike="noStrike" dirty="0">
                          <a:solidFill>
                            <a:schemeClr val="tx1"/>
                          </a:solidFill>
                          <a:effectLst/>
                          <a:latin typeface="+mn-lt"/>
                        </a:rPr>
                        <a:t>Is the Source emitting X ray radiation applied from top to BGA device or is it from bottom below the PCB?</a:t>
                      </a:r>
                    </a:p>
                  </a:txBody>
                  <a:tcPr marL="0" marR="0" marT="0" marB="0"/>
                </a:tc>
                <a:tc>
                  <a:txBody>
                    <a:bodyPr/>
                    <a:lstStyle/>
                    <a:p>
                      <a:pPr marL="91440" algn="l" fontAlgn="t"/>
                      <a:r>
                        <a:rPr kumimoji="0" lang="en-MY" sz="1200" b="0" i="0" u="none" strike="noStrike" kern="0" cap="none" spc="0" normalizeH="0" baseline="0" noProof="0" dirty="0">
                          <a:ln>
                            <a:noFill/>
                          </a:ln>
                          <a:solidFill>
                            <a:srgbClr val="000000"/>
                          </a:solidFill>
                          <a:effectLst/>
                          <a:uLnTx/>
                          <a:uFillTx/>
                          <a:latin typeface="+mn-lt"/>
                          <a:sym typeface="Intel Clear"/>
                        </a:rPr>
                        <a:t>not answered</a:t>
                      </a:r>
                      <a:endParaRPr lang="en-MY" sz="1200" b="0" i="0" u="none" strike="noStrike" dirty="0">
                        <a:solidFill>
                          <a:schemeClr val="tx1"/>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200" b="0" i="0" u="none" strike="noStrike" kern="0" cap="none" spc="0" normalizeH="0" baseline="0" noProof="0" dirty="0">
                          <a:ln>
                            <a:noFill/>
                          </a:ln>
                          <a:solidFill>
                            <a:srgbClr val="000000"/>
                          </a:solidFill>
                          <a:effectLst/>
                          <a:uLnTx/>
                          <a:uFillTx/>
                          <a:latin typeface="Intel Clear"/>
                          <a:sym typeface="Intel Clear"/>
                        </a:rPr>
                        <a:t> not answered</a:t>
                      </a:r>
                    </a:p>
                  </a:txBody>
                  <a:tcPr marL="0" marR="0" marT="0" marB="0"/>
                </a:tc>
                <a:tc>
                  <a:txBody>
                    <a:bodyPr/>
                    <a:lstStyle/>
                    <a:p>
                      <a:pPr marL="91440" algn="l" fontAlgn="ctr"/>
                      <a:r>
                        <a:rPr lang="en-US" sz="1200" b="0" i="0" u="none" strike="noStrike" dirty="0">
                          <a:solidFill>
                            <a:schemeClr val="tx1"/>
                          </a:solidFill>
                          <a:effectLst/>
                          <a:latin typeface="+mn-lt"/>
                        </a:rPr>
                        <a:t>PCB bottom side</a:t>
                      </a:r>
                    </a:p>
                  </a:txBody>
                  <a:tcPr marL="0" marR="0" marT="0" marB="0"/>
                </a:tc>
                <a:tc>
                  <a:txBody>
                    <a:bodyPr/>
                    <a:lstStyle/>
                    <a:p>
                      <a:pPr marL="91440" algn="l" fontAlgn="t"/>
                      <a:r>
                        <a:rPr lang="en-US" sz="1200" b="0" i="0" u="none" strike="noStrike" dirty="0">
                          <a:solidFill>
                            <a:schemeClr val="tx1"/>
                          </a:solidFill>
                          <a:effectLst/>
                          <a:latin typeface="+mn-lt"/>
                        </a:rPr>
                        <a:t>PCB top side</a:t>
                      </a:r>
                      <a:endParaRPr lang="en-MY" sz="1200" b="0" i="0" u="none" strike="noStrike" dirty="0">
                        <a:solidFill>
                          <a:schemeClr val="tx1"/>
                        </a:solidFill>
                        <a:effectLst/>
                        <a:latin typeface="+mn-lt"/>
                      </a:endParaRPr>
                    </a:p>
                  </a:txBody>
                  <a:tcPr marL="0" marR="0" marT="0" marB="0"/>
                </a:tc>
                <a:tc>
                  <a:txBody>
                    <a:bodyPr/>
                    <a:lstStyle/>
                    <a:p>
                      <a:pPr marL="91440" algn="l" fontAlgn="t"/>
                      <a:r>
                        <a:rPr kumimoji="0" lang="en-MY" sz="1200" b="0" i="0" u="none" strike="noStrike" kern="0" cap="none" spc="0" normalizeH="0" baseline="0" noProof="0">
                          <a:ln>
                            <a:noFill/>
                          </a:ln>
                          <a:solidFill>
                            <a:srgbClr val="000000"/>
                          </a:solidFill>
                          <a:effectLst/>
                          <a:uLnTx/>
                          <a:uFillTx/>
                          <a:latin typeface="Intel Clear"/>
                          <a:sym typeface="Intel Clear"/>
                        </a:rPr>
                        <a:t>not answered</a:t>
                      </a:r>
                      <a:endParaRPr lang="en-MY" sz="1200" b="0" i="0" u="none" strike="noStrike" dirty="0">
                        <a:solidFill>
                          <a:srgbClr val="0000FF"/>
                        </a:solidFill>
                        <a:effectLst/>
                        <a:latin typeface="+mn-lt"/>
                      </a:endParaRPr>
                    </a:p>
                  </a:txBody>
                  <a:tcPr marL="0" marR="0" marT="0" marB="0"/>
                </a:tc>
                <a:extLst>
                  <a:ext uri="{0D108BD9-81ED-4DB2-BD59-A6C34878D82A}">
                    <a16:rowId xmlns:a16="http://schemas.microsoft.com/office/drawing/2014/main" val="4048944144"/>
                  </a:ext>
                </a:extLst>
              </a:tr>
              <a:tr h="168396">
                <a:tc>
                  <a:txBody>
                    <a:bodyPr/>
                    <a:lstStyle/>
                    <a:p>
                      <a:pPr marL="91440" algn="l" fontAlgn="ctr"/>
                      <a:r>
                        <a:rPr lang="en-US" sz="1200" b="0" i="0" u="none" strike="noStrike" dirty="0">
                          <a:solidFill>
                            <a:schemeClr val="tx1"/>
                          </a:solidFill>
                          <a:effectLst/>
                          <a:latin typeface="+mn-lt"/>
                        </a:rPr>
                        <a:t>Is there a limitation specification for X-Ray (RADS/</a:t>
                      </a:r>
                      <a:r>
                        <a:rPr lang="en-US" sz="1200" b="0" i="0" u="none" strike="noStrike" dirty="0" err="1">
                          <a:solidFill>
                            <a:schemeClr val="tx1"/>
                          </a:solidFill>
                          <a:effectLst/>
                          <a:latin typeface="+mn-lt"/>
                        </a:rPr>
                        <a:t>mGray</a:t>
                      </a:r>
                      <a:r>
                        <a:rPr lang="en-US" sz="1200" b="0" i="0" u="none" strike="noStrike" dirty="0">
                          <a:solidFill>
                            <a:schemeClr val="tx1"/>
                          </a:solidFill>
                          <a:effectLst/>
                          <a:latin typeface="+mn-lt"/>
                        </a:rPr>
                        <a:t>) Dosage exposure? </a:t>
                      </a:r>
                    </a:p>
                  </a:txBody>
                  <a:tcPr marL="0" marR="0" marT="0" marB="0"/>
                </a:tc>
                <a:tc>
                  <a:txBody>
                    <a:bodyPr/>
                    <a:lstStyle/>
                    <a:p>
                      <a:pPr marL="91440" algn="l" fontAlgn="t"/>
                      <a:r>
                        <a:rPr lang="en-MY" sz="1200" b="0" i="0" u="none" strike="noStrike" dirty="0">
                          <a:solidFill>
                            <a:schemeClr val="tx1"/>
                          </a:solidFill>
                          <a:effectLst/>
                          <a:latin typeface="+mn-lt"/>
                        </a:rPr>
                        <a:t>＜5uSv/h</a:t>
                      </a: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200" b="0" i="0" u="none" strike="noStrike" kern="0" cap="none" spc="0" normalizeH="0" baseline="0" noProof="0">
                          <a:ln>
                            <a:noFill/>
                          </a:ln>
                          <a:solidFill>
                            <a:srgbClr val="000000"/>
                          </a:solidFill>
                          <a:effectLst/>
                          <a:uLnTx/>
                          <a:uFillTx/>
                          <a:latin typeface="Intel Clear"/>
                          <a:sym typeface="Intel Clear"/>
                        </a:rPr>
                        <a:t> not answered</a:t>
                      </a:r>
                      <a:endParaRPr kumimoji="0" lang="en-MY" sz="1200" b="0" i="0" u="none" strike="noStrike" kern="0" cap="none" spc="0" normalizeH="0" baseline="0" noProof="0" dirty="0">
                        <a:ln>
                          <a:noFill/>
                        </a:ln>
                        <a:solidFill>
                          <a:srgbClr val="000000"/>
                        </a:solidFill>
                        <a:effectLst/>
                        <a:uLnTx/>
                        <a:uFillTx/>
                        <a:latin typeface="Intel Clear"/>
                        <a:sym typeface="Intel Clear"/>
                      </a:endParaRPr>
                    </a:p>
                  </a:txBody>
                  <a:tcPr marL="0" marR="0" marT="0" marB="0"/>
                </a:tc>
                <a:tc>
                  <a:txBody>
                    <a:bodyPr/>
                    <a:lstStyle/>
                    <a:p>
                      <a:pPr marL="91440" algn="l" fontAlgn="ctr"/>
                      <a:r>
                        <a:rPr lang="en-MY" sz="1200" b="0" i="0" u="none" strike="noStrike">
                          <a:solidFill>
                            <a:schemeClr val="tx1"/>
                          </a:solidFill>
                          <a:effectLst/>
                          <a:latin typeface="+mn-lt"/>
                        </a:rPr>
                        <a:t>Yes</a:t>
                      </a:r>
                    </a:p>
                  </a:txBody>
                  <a:tcPr marL="0" marR="0" marT="0" marB="0"/>
                </a:tc>
                <a:tc>
                  <a:txBody>
                    <a:bodyPr/>
                    <a:lstStyle/>
                    <a:p>
                      <a:pPr marL="91440" algn="l" fontAlgn="t"/>
                      <a:r>
                        <a:rPr lang="en-US" sz="1200" b="0" i="0" u="none" strike="noStrike" dirty="0">
                          <a:solidFill>
                            <a:schemeClr val="tx1"/>
                          </a:solidFill>
                          <a:effectLst/>
                          <a:latin typeface="+mn-lt"/>
                        </a:rPr>
                        <a:t>from bottom below the PCB</a:t>
                      </a:r>
                    </a:p>
                  </a:txBody>
                  <a:tcPr marL="0" marR="0" marT="0" marB="0"/>
                </a:tc>
                <a:tc>
                  <a:txBody>
                    <a:bodyPr/>
                    <a:lstStyle/>
                    <a:p>
                      <a:pPr marL="91440" algn="l" fontAlgn="t"/>
                      <a:r>
                        <a:rPr kumimoji="0" lang="en-MY" sz="1200" b="0" i="0" u="none" strike="noStrike" kern="0" cap="none" spc="0" normalizeH="0" baseline="0" noProof="0">
                          <a:ln>
                            <a:noFill/>
                          </a:ln>
                          <a:solidFill>
                            <a:srgbClr val="000000"/>
                          </a:solidFill>
                          <a:effectLst/>
                          <a:uLnTx/>
                          <a:uFillTx/>
                          <a:latin typeface="Intel Clear"/>
                          <a:sym typeface="Intel Clear"/>
                        </a:rPr>
                        <a:t>not answered</a:t>
                      </a:r>
                      <a:endParaRPr lang="en-US" sz="1200" b="0" i="0" u="none" strike="noStrike" dirty="0">
                        <a:solidFill>
                          <a:srgbClr val="0000FF"/>
                        </a:solidFill>
                        <a:effectLst/>
                        <a:latin typeface="+mn-lt"/>
                      </a:endParaRPr>
                    </a:p>
                  </a:txBody>
                  <a:tcPr marL="0" marR="0" marT="0" marB="0"/>
                </a:tc>
                <a:extLst>
                  <a:ext uri="{0D108BD9-81ED-4DB2-BD59-A6C34878D82A}">
                    <a16:rowId xmlns:a16="http://schemas.microsoft.com/office/drawing/2014/main" val="504902122"/>
                  </a:ext>
                </a:extLst>
              </a:tr>
              <a:tr h="168396">
                <a:tc>
                  <a:txBody>
                    <a:bodyPr/>
                    <a:lstStyle/>
                    <a:p>
                      <a:pPr marL="91440" algn="l" fontAlgn="ctr"/>
                      <a:r>
                        <a:rPr lang="en-US" sz="1200" b="0" i="0" u="none" strike="noStrike" dirty="0">
                          <a:solidFill>
                            <a:schemeClr val="tx1"/>
                          </a:solidFill>
                          <a:effectLst/>
                          <a:latin typeface="+mn-lt"/>
                        </a:rPr>
                        <a:t>What is the cumulative specification for maximum exposure in RADS/</a:t>
                      </a:r>
                      <a:r>
                        <a:rPr lang="en-US" sz="1200" b="0" i="0" u="none" strike="noStrike" dirty="0" err="1">
                          <a:solidFill>
                            <a:schemeClr val="tx1"/>
                          </a:solidFill>
                          <a:effectLst/>
                          <a:latin typeface="+mn-lt"/>
                        </a:rPr>
                        <a:t>mGray</a:t>
                      </a:r>
                      <a:r>
                        <a:rPr lang="en-US" sz="1200" b="0" i="0" u="none" strike="noStrike" dirty="0">
                          <a:solidFill>
                            <a:schemeClr val="tx1"/>
                          </a:solidFill>
                          <a:effectLst/>
                          <a:latin typeface="+mn-lt"/>
                        </a:rPr>
                        <a:t> per scan as measured by a </a:t>
                      </a:r>
                      <a:r>
                        <a:rPr lang="en-US" sz="1200" b="0" i="0" u="none" strike="noStrike" dirty="0" err="1">
                          <a:solidFill>
                            <a:schemeClr val="tx1"/>
                          </a:solidFill>
                          <a:effectLst/>
                          <a:latin typeface="+mn-lt"/>
                        </a:rPr>
                        <a:t>dosomiter</a:t>
                      </a:r>
                      <a:r>
                        <a:rPr lang="en-US" sz="1200" b="0" i="0" u="none" strike="noStrike" dirty="0">
                          <a:solidFill>
                            <a:schemeClr val="tx1"/>
                          </a:solidFill>
                          <a:effectLst/>
                          <a:latin typeface="+mn-lt"/>
                        </a:rPr>
                        <a:t>? </a:t>
                      </a:r>
                    </a:p>
                  </a:txBody>
                  <a:tcPr marL="0" marR="0" marT="0" marB="0"/>
                </a:tc>
                <a:tc>
                  <a:txBody>
                    <a:bodyPr/>
                    <a:lstStyle/>
                    <a:p>
                      <a:pPr marL="91440" algn="l" fontAlgn="t"/>
                      <a:r>
                        <a:rPr kumimoji="0" lang="en-MY" sz="1200" b="0" i="0" u="none" strike="noStrike" kern="0" cap="none" spc="0" normalizeH="0" baseline="0" noProof="0" dirty="0">
                          <a:ln>
                            <a:noFill/>
                          </a:ln>
                          <a:solidFill>
                            <a:srgbClr val="000000"/>
                          </a:solidFill>
                          <a:effectLst/>
                          <a:uLnTx/>
                          <a:uFillTx/>
                          <a:latin typeface="Intel Clear"/>
                          <a:sym typeface="Intel Clear"/>
                        </a:rPr>
                        <a:t>not answered</a:t>
                      </a:r>
                      <a:endParaRPr lang="en-MY" sz="1200" b="0" i="0" u="none" strike="noStrike" dirty="0">
                        <a:solidFill>
                          <a:schemeClr val="tx1"/>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200" b="0" i="0" u="none" strike="noStrike" kern="0" cap="none" spc="0" normalizeH="0" baseline="0" noProof="0">
                          <a:ln>
                            <a:noFill/>
                          </a:ln>
                          <a:solidFill>
                            <a:srgbClr val="000000"/>
                          </a:solidFill>
                          <a:effectLst/>
                          <a:uLnTx/>
                          <a:uFillTx/>
                          <a:latin typeface="Intel Clear"/>
                          <a:sym typeface="Intel Clear"/>
                        </a:rPr>
                        <a:t> not answered</a:t>
                      </a:r>
                      <a:endParaRPr kumimoji="0" lang="en-MY" sz="1200" b="0" i="0" u="none" strike="noStrike" kern="0" cap="none" spc="0" normalizeH="0" baseline="0" noProof="0" dirty="0">
                        <a:ln>
                          <a:noFill/>
                        </a:ln>
                        <a:solidFill>
                          <a:srgbClr val="000000"/>
                        </a:solidFill>
                        <a:effectLst/>
                        <a:uLnTx/>
                        <a:uFillTx/>
                        <a:latin typeface="Intel Clear"/>
                        <a:sym typeface="Intel Clear"/>
                      </a:endParaRPr>
                    </a:p>
                  </a:txBody>
                  <a:tcPr marL="0" marR="0" marT="0" marB="0"/>
                </a:tc>
                <a:tc>
                  <a:txBody>
                    <a:bodyPr/>
                    <a:lstStyle/>
                    <a:p>
                      <a:pPr marL="91440" algn="l" fontAlgn="ctr"/>
                      <a:r>
                        <a:rPr lang="en-MY" sz="1200" b="0" i="0" u="none" strike="noStrike" dirty="0">
                          <a:solidFill>
                            <a:schemeClr val="tx1"/>
                          </a:solidFill>
                          <a:effectLst/>
                          <a:latin typeface="+mn-lt"/>
                        </a:rPr>
                        <a:t>1uSv/ h</a:t>
                      </a:r>
                    </a:p>
                  </a:txBody>
                  <a:tcPr marL="0" marR="0" marT="0" marB="0"/>
                </a:tc>
                <a:tc>
                  <a:txBody>
                    <a:bodyPr/>
                    <a:lstStyle/>
                    <a:p>
                      <a:pPr marL="91440" algn="l" fontAlgn="t"/>
                      <a:r>
                        <a:rPr lang="en-US" sz="1200" b="0" i="0" u="none" strike="noStrike" dirty="0">
                          <a:solidFill>
                            <a:schemeClr val="tx1"/>
                          </a:solidFill>
                          <a:effectLst/>
                          <a:latin typeface="+mn-lt"/>
                        </a:rPr>
                        <a:t>&lt; 1 µ</a:t>
                      </a:r>
                      <a:r>
                        <a:rPr lang="en-US" sz="1200" b="0" i="0" u="none" strike="noStrike" dirty="0" err="1">
                          <a:solidFill>
                            <a:schemeClr val="tx1"/>
                          </a:solidFill>
                          <a:effectLst/>
                          <a:latin typeface="+mn-lt"/>
                        </a:rPr>
                        <a:t>Sv</a:t>
                      </a:r>
                      <a:r>
                        <a:rPr lang="en-US" sz="1200" b="0" i="0" u="none" strike="noStrike" dirty="0">
                          <a:solidFill>
                            <a:schemeClr val="tx1"/>
                          </a:solidFill>
                          <a:effectLst/>
                          <a:latin typeface="+mn-lt"/>
                        </a:rPr>
                        <a:t> / h</a:t>
                      </a:r>
                    </a:p>
                  </a:txBody>
                  <a:tcPr marL="0" marR="0" marT="0" marB="0"/>
                </a:tc>
                <a:tc>
                  <a:txBody>
                    <a:bodyPr/>
                    <a:lstStyle/>
                    <a:p>
                      <a:pPr marL="91440" algn="l" fontAlgn="t"/>
                      <a:r>
                        <a:rPr kumimoji="0" lang="en-MY" sz="1200" b="0" i="0" u="none" strike="noStrike" kern="0" cap="none" spc="0" normalizeH="0" baseline="0" noProof="0">
                          <a:ln>
                            <a:noFill/>
                          </a:ln>
                          <a:solidFill>
                            <a:srgbClr val="000000"/>
                          </a:solidFill>
                          <a:effectLst/>
                          <a:uLnTx/>
                          <a:uFillTx/>
                          <a:latin typeface="Intel Clear"/>
                          <a:sym typeface="Intel Clear"/>
                        </a:rPr>
                        <a:t>not answered</a:t>
                      </a:r>
                      <a:endParaRPr lang="en-US" sz="1200" b="0" i="0" u="none" strike="noStrike" dirty="0">
                        <a:solidFill>
                          <a:srgbClr val="0000FF"/>
                        </a:solidFill>
                        <a:effectLst/>
                        <a:latin typeface="+mn-lt"/>
                      </a:endParaRPr>
                    </a:p>
                  </a:txBody>
                  <a:tcPr marL="0" marR="0" marT="0" marB="0"/>
                </a:tc>
                <a:extLst>
                  <a:ext uri="{0D108BD9-81ED-4DB2-BD59-A6C34878D82A}">
                    <a16:rowId xmlns:a16="http://schemas.microsoft.com/office/drawing/2014/main" val="2963251170"/>
                  </a:ext>
                </a:extLst>
              </a:tr>
              <a:tr h="168396">
                <a:tc>
                  <a:txBody>
                    <a:bodyPr/>
                    <a:lstStyle/>
                    <a:p>
                      <a:pPr marL="91440" algn="l" fontAlgn="ctr"/>
                      <a:r>
                        <a:rPr lang="en-US" sz="1200" b="0" i="0" u="none" strike="noStrike" dirty="0">
                          <a:solidFill>
                            <a:schemeClr val="tx1"/>
                          </a:solidFill>
                          <a:effectLst/>
                          <a:latin typeface="+mn-lt"/>
                        </a:rPr>
                        <a:t>Are Global metal shields used between X-ray source and target SOC/Memory devices to limit dosage exposure?</a:t>
                      </a:r>
                    </a:p>
                  </a:txBody>
                  <a:tcPr marL="0" marR="0" marT="0" marB="0"/>
                </a:tc>
                <a:tc>
                  <a:txBody>
                    <a:bodyPr/>
                    <a:lstStyle/>
                    <a:p>
                      <a:pPr marL="91440" algn="l" fontAlgn="t"/>
                      <a:r>
                        <a:rPr kumimoji="0" lang="en-MY" sz="1200" b="0" i="0" u="none" strike="noStrike" kern="0" cap="none" spc="0" normalizeH="0" baseline="0" noProof="0" dirty="0">
                          <a:ln>
                            <a:noFill/>
                          </a:ln>
                          <a:solidFill>
                            <a:srgbClr val="000000"/>
                          </a:solidFill>
                          <a:effectLst/>
                          <a:uLnTx/>
                          <a:uFillTx/>
                          <a:latin typeface="Intel Clear"/>
                          <a:sym typeface="Intel Clear"/>
                        </a:rPr>
                        <a:t>not answered</a:t>
                      </a:r>
                      <a:endParaRPr lang="en-MY" sz="1200" b="0" i="0" u="none" strike="noStrike" dirty="0">
                        <a:solidFill>
                          <a:schemeClr val="tx1"/>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200" b="0" i="0" u="none" strike="noStrike" kern="0" cap="none" spc="0" normalizeH="0" baseline="0" noProof="0" dirty="0">
                          <a:ln>
                            <a:noFill/>
                          </a:ln>
                          <a:solidFill>
                            <a:srgbClr val="000000"/>
                          </a:solidFill>
                          <a:effectLst/>
                          <a:uLnTx/>
                          <a:uFillTx/>
                          <a:latin typeface="Intel Clear"/>
                          <a:sym typeface="Intel Clear"/>
                        </a:rPr>
                        <a:t> not answered</a:t>
                      </a:r>
                    </a:p>
                  </a:txBody>
                  <a:tcPr marL="0" marR="0" marT="0" marB="0"/>
                </a:tc>
                <a:tc>
                  <a:txBody>
                    <a:bodyPr/>
                    <a:lstStyle/>
                    <a:p>
                      <a:pPr marL="91440" algn="l" fontAlgn="ctr"/>
                      <a:r>
                        <a:rPr lang="en-MY" sz="1200" b="0" i="0" u="none" strike="noStrike">
                          <a:solidFill>
                            <a:schemeClr val="tx1"/>
                          </a:solidFill>
                          <a:effectLst/>
                          <a:latin typeface="+mn-lt"/>
                        </a:rPr>
                        <a:t>Yes</a:t>
                      </a:r>
                    </a:p>
                  </a:txBody>
                  <a:tcPr marL="0" marR="0" marT="0" marB="0"/>
                </a:tc>
                <a:tc>
                  <a:txBody>
                    <a:bodyPr/>
                    <a:lstStyle/>
                    <a:p>
                      <a:pPr marL="91440" algn="l" fontAlgn="t"/>
                      <a:r>
                        <a:rPr lang="en-MY" sz="1200" b="0" i="0" u="none" strike="noStrike" dirty="0">
                          <a:solidFill>
                            <a:schemeClr val="tx1"/>
                          </a:solidFill>
                          <a:effectLst/>
                          <a:latin typeface="+mn-lt"/>
                        </a:rPr>
                        <a:t>Yes</a:t>
                      </a:r>
                    </a:p>
                  </a:txBody>
                  <a:tcPr marL="0" marR="0" marT="0" marB="0"/>
                </a:tc>
                <a:tc>
                  <a:txBody>
                    <a:bodyPr/>
                    <a:lstStyle/>
                    <a:p>
                      <a:pPr marL="91440" algn="l" fontAlgn="t"/>
                      <a:r>
                        <a:rPr kumimoji="0" lang="en-MY" sz="1200" b="0" i="0" u="none" strike="noStrike" kern="0" cap="none" spc="0" normalizeH="0" baseline="0" noProof="0" dirty="0">
                          <a:ln>
                            <a:noFill/>
                          </a:ln>
                          <a:solidFill>
                            <a:srgbClr val="000000"/>
                          </a:solidFill>
                          <a:effectLst/>
                          <a:uLnTx/>
                          <a:uFillTx/>
                          <a:latin typeface="Intel Clear"/>
                          <a:sym typeface="Intel Clear"/>
                        </a:rPr>
                        <a:t>not answered</a:t>
                      </a:r>
                      <a:endParaRPr lang="en-MY" sz="1200" b="0" i="0" u="none" strike="noStrike" dirty="0">
                        <a:solidFill>
                          <a:srgbClr val="0000FF"/>
                        </a:solidFill>
                        <a:effectLst/>
                        <a:latin typeface="+mn-lt"/>
                      </a:endParaRPr>
                    </a:p>
                  </a:txBody>
                  <a:tcPr marL="0" marR="0" marT="0" marB="0"/>
                </a:tc>
                <a:extLst>
                  <a:ext uri="{0D108BD9-81ED-4DB2-BD59-A6C34878D82A}">
                    <a16:rowId xmlns:a16="http://schemas.microsoft.com/office/drawing/2014/main" val="3493957544"/>
                  </a:ext>
                </a:extLst>
              </a:tr>
            </a:tbl>
          </a:graphicData>
        </a:graphic>
      </p:graphicFrame>
      <p:sp>
        <p:nvSpPr>
          <p:cNvPr id="5" name="Rectangle: Rounded Corners 4">
            <a:extLst>
              <a:ext uri="{FF2B5EF4-FFF2-40B4-BE49-F238E27FC236}">
                <a16:creationId xmlns:a16="http://schemas.microsoft.com/office/drawing/2014/main" id="{BDC3C295-B567-4620-8FD0-E9343024764D}"/>
              </a:ext>
            </a:extLst>
          </p:cNvPr>
          <p:cNvSpPr/>
          <p:nvPr/>
        </p:nvSpPr>
        <p:spPr>
          <a:xfrm>
            <a:off x="615964" y="5543708"/>
            <a:ext cx="10678583" cy="726440"/>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Customers are performing PCBA x-ray inspections Offline</a:t>
            </a:r>
          </a:p>
        </p:txBody>
      </p:sp>
      <p:sp>
        <p:nvSpPr>
          <p:cNvPr id="6" name="Action Button: Go Home 5">
            <a:hlinkClick r:id="rId2" action="ppaction://hlinksldjump" highlightClick="1"/>
            <a:extLst>
              <a:ext uri="{FF2B5EF4-FFF2-40B4-BE49-F238E27FC236}">
                <a16:creationId xmlns:a16="http://schemas.microsoft.com/office/drawing/2014/main" id="{F6545A40-960A-4031-BF8B-730B41729805}"/>
              </a:ext>
            </a:extLst>
          </p:cNvPr>
          <p:cNvSpPr/>
          <p:nvPr/>
        </p:nvSpPr>
        <p:spPr>
          <a:xfrm>
            <a:off x="11399520" y="81280"/>
            <a:ext cx="487680" cy="451311"/>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7487190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A9707-5156-41F3-9BD6-83853633F13F}"/>
              </a:ext>
            </a:extLst>
          </p:cNvPr>
          <p:cNvSpPr>
            <a:spLocks noGrp="1"/>
          </p:cNvSpPr>
          <p:nvPr>
            <p:ph type="title"/>
          </p:nvPr>
        </p:nvSpPr>
        <p:spPr>
          <a:xfrm>
            <a:off x="607484" y="56196"/>
            <a:ext cx="10972800" cy="505020"/>
          </a:xfrm>
        </p:spPr>
        <p:txBody>
          <a:bodyPr/>
          <a:lstStyle/>
          <a:p>
            <a:r>
              <a:rPr lang="en-US" dirty="0"/>
              <a:t>Rework</a:t>
            </a:r>
            <a:endParaRPr lang="en-MY" dirty="0"/>
          </a:p>
        </p:txBody>
      </p:sp>
      <p:graphicFrame>
        <p:nvGraphicFramePr>
          <p:cNvPr id="4" name="Content Placeholder 3">
            <a:extLst>
              <a:ext uri="{FF2B5EF4-FFF2-40B4-BE49-F238E27FC236}">
                <a16:creationId xmlns:a16="http://schemas.microsoft.com/office/drawing/2014/main" id="{F4C4F9EE-9506-4C4C-B40C-F4271BBF6041}"/>
              </a:ext>
            </a:extLst>
          </p:cNvPr>
          <p:cNvGraphicFramePr>
            <a:graphicFrameLocks noGrp="1"/>
          </p:cNvGraphicFramePr>
          <p:nvPr>
            <p:ph sz="quarter" idx="13"/>
            <p:extLst>
              <p:ext uri="{D42A27DB-BD31-4B8C-83A1-F6EECF244321}">
                <p14:modId xmlns:p14="http://schemas.microsoft.com/office/powerpoint/2010/main" val="4188857606"/>
              </p:ext>
            </p:extLst>
          </p:nvPr>
        </p:nvGraphicFramePr>
        <p:xfrm>
          <a:off x="135467" y="552173"/>
          <a:ext cx="11514666" cy="4054822"/>
        </p:xfrm>
        <a:graphic>
          <a:graphicData uri="http://schemas.openxmlformats.org/drawingml/2006/table">
            <a:tbl>
              <a:tblPr firstRow="1" bandRow="1">
                <a:tableStyleId>{69012ECD-51FC-41F1-AA8D-1B2483CD663E}</a:tableStyleId>
              </a:tblPr>
              <a:tblGrid>
                <a:gridCol w="1109133">
                  <a:extLst>
                    <a:ext uri="{9D8B030D-6E8A-4147-A177-3AD203B41FA5}">
                      <a16:colId xmlns:a16="http://schemas.microsoft.com/office/drawing/2014/main" val="1692685995"/>
                    </a:ext>
                  </a:extLst>
                </a:gridCol>
                <a:gridCol w="3699933">
                  <a:extLst>
                    <a:ext uri="{9D8B030D-6E8A-4147-A177-3AD203B41FA5}">
                      <a16:colId xmlns:a16="http://schemas.microsoft.com/office/drawing/2014/main" val="766677285"/>
                    </a:ext>
                  </a:extLst>
                </a:gridCol>
                <a:gridCol w="2155045">
                  <a:extLst>
                    <a:ext uri="{9D8B030D-6E8A-4147-A177-3AD203B41FA5}">
                      <a16:colId xmlns:a16="http://schemas.microsoft.com/office/drawing/2014/main" val="1362813313"/>
                    </a:ext>
                  </a:extLst>
                </a:gridCol>
                <a:gridCol w="1553355">
                  <a:extLst>
                    <a:ext uri="{9D8B030D-6E8A-4147-A177-3AD203B41FA5}">
                      <a16:colId xmlns:a16="http://schemas.microsoft.com/office/drawing/2014/main" val="3296549446"/>
                    </a:ext>
                  </a:extLst>
                </a:gridCol>
                <a:gridCol w="1515534">
                  <a:extLst>
                    <a:ext uri="{9D8B030D-6E8A-4147-A177-3AD203B41FA5}">
                      <a16:colId xmlns:a16="http://schemas.microsoft.com/office/drawing/2014/main" val="2579843292"/>
                    </a:ext>
                  </a:extLst>
                </a:gridCol>
                <a:gridCol w="1481666">
                  <a:extLst>
                    <a:ext uri="{9D8B030D-6E8A-4147-A177-3AD203B41FA5}">
                      <a16:colId xmlns:a16="http://schemas.microsoft.com/office/drawing/2014/main" val="3841248342"/>
                    </a:ext>
                  </a:extLst>
                </a:gridCol>
              </a:tblGrid>
              <a:tr h="172129">
                <a:tc gridSpan="2">
                  <a:txBody>
                    <a:bodyPr/>
                    <a:lstStyle/>
                    <a:p>
                      <a:pPr marL="91440" marR="0" lvl="0" indent="0" algn="l" defTabSz="609600" rtl="0" eaLnBrk="1" fontAlgn="ctr" latinLnBrk="0" hangingPunct="1">
                        <a:lnSpc>
                          <a:spcPct val="100000"/>
                        </a:lnSpc>
                        <a:spcBef>
                          <a:spcPts val="0"/>
                        </a:spcBef>
                        <a:spcAft>
                          <a:spcPts val="0"/>
                        </a:spcAft>
                        <a:buClrTx/>
                        <a:buSzTx/>
                        <a:buFontTx/>
                        <a:buNone/>
                        <a:tabLst/>
                        <a:defRPr/>
                      </a:pPr>
                      <a:r>
                        <a:rPr lang="en-US" sz="1400" b="1" i="0" u="none" strike="noStrike" dirty="0">
                          <a:solidFill>
                            <a:schemeClr val="bg1"/>
                          </a:solidFill>
                          <a:effectLst/>
                          <a:latin typeface="+mn-lt"/>
                        </a:rPr>
                        <a:t>Process Parameter / Capability</a:t>
                      </a:r>
                      <a:endParaRPr lang="en-MY" sz="1400" b="1" i="0" u="none" strike="noStrike" dirty="0">
                        <a:solidFill>
                          <a:schemeClr val="bg1"/>
                        </a:solidFill>
                        <a:effectLst/>
                        <a:latin typeface="+mn-lt"/>
                      </a:endParaRPr>
                    </a:p>
                  </a:txBody>
                  <a:tcPr marL="0" marR="0" marT="0" marB="0"/>
                </a:tc>
                <a:tc hMerge="1">
                  <a:txBody>
                    <a:bodyPr/>
                    <a:lstStyle/>
                    <a:p>
                      <a:pPr marL="91440" marR="0" lvl="0" indent="0" algn="l" defTabSz="609600" rtl="0" eaLnBrk="1" fontAlgn="ctr" latinLnBrk="0" hangingPunct="1">
                        <a:lnSpc>
                          <a:spcPct val="100000"/>
                        </a:lnSpc>
                        <a:spcBef>
                          <a:spcPts val="0"/>
                        </a:spcBef>
                        <a:spcAft>
                          <a:spcPts val="0"/>
                        </a:spcAft>
                        <a:buClrTx/>
                        <a:buSzTx/>
                        <a:buFontTx/>
                        <a:buNone/>
                        <a:tabLst/>
                        <a:defRPr/>
                      </a:pPr>
                      <a:endParaRPr lang="en-MY" sz="1200" b="1" i="0" u="none" strike="noStrike" dirty="0">
                        <a:solidFill>
                          <a:schemeClr val="bg1"/>
                        </a:solidFill>
                        <a:effectLst/>
                        <a:latin typeface="+mn-lt"/>
                      </a:endParaRPr>
                    </a:p>
                  </a:txBody>
                  <a:tcPr marL="0" marR="0" marT="0" marB="0"/>
                </a:tc>
                <a:tc>
                  <a:txBody>
                    <a:bodyPr/>
                    <a:lstStyle/>
                    <a:p>
                      <a:pPr marL="91440" algn="l" rtl="0" fontAlgn="ctr"/>
                      <a:r>
                        <a:rPr lang="en-MY" sz="1400" u="none" strike="noStrike" dirty="0">
                          <a:solidFill>
                            <a:schemeClr val="bg1"/>
                          </a:solidFill>
                          <a:effectLst/>
                          <a:latin typeface="+mn-lt"/>
                        </a:rPr>
                        <a:t>ECS</a:t>
                      </a:r>
                      <a:endParaRPr lang="en-MY" sz="1400" b="1" i="0" u="none" strike="noStrike" dirty="0">
                        <a:solidFill>
                          <a:schemeClr val="bg1"/>
                        </a:solidFill>
                        <a:effectLst/>
                        <a:latin typeface="+mn-lt"/>
                      </a:endParaRPr>
                    </a:p>
                  </a:txBody>
                  <a:tcPr marL="0" marR="0" marT="0" marB="0"/>
                </a:tc>
                <a:tc>
                  <a:txBody>
                    <a:bodyPr/>
                    <a:lstStyle/>
                    <a:p>
                      <a:pPr marL="91440" algn="l" rtl="0" fontAlgn="ctr"/>
                      <a:r>
                        <a:rPr lang="en-MY" sz="1400" u="none" strike="noStrike" dirty="0">
                          <a:solidFill>
                            <a:schemeClr val="bg1"/>
                          </a:solidFill>
                          <a:effectLst/>
                          <a:latin typeface="+mn-lt"/>
                        </a:rPr>
                        <a:t>LCFC</a:t>
                      </a:r>
                      <a:endParaRPr lang="en-MY" sz="1400" b="1" i="0" u="none" strike="noStrike" dirty="0">
                        <a:solidFill>
                          <a:schemeClr val="bg1"/>
                        </a:solidFill>
                        <a:effectLst/>
                        <a:latin typeface="+mn-lt"/>
                      </a:endParaRPr>
                    </a:p>
                  </a:txBody>
                  <a:tcPr marL="0" marR="0" marT="0" marB="0"/>
                </a:tc>
                <a:tc>
                  <a:txBody>
                    <a:bodyPr/>
                    <a:lstStyle/>
                    <a:p>
                      <a:pPr marL="91440" algn="l" rtl="0" fontAlgn="ctr"/>
                      <a:r>
                        <a:rPr lang="en-MY" sz="1400" u="none" strike="noStrike" dirty="0">
                          <a:solidFill>
                            <a:schemeClr val="bg1"/>
                          </a:solidFill>
                          <a:effectLst/>
                          <a:latin typeface="+mn-lt"/>
                        </a:rPr>
                        <a:t>FXWH</a:t>
                      </a:r>
                      <a:endParaRPr lang="en-MY" sz="1400" b="1" i="0" u="none" strike="noStrike" dirty="0">
                        <a:solidFill>
                          <a:schemeClr val="bg1"/>
                        </a:solidFill>
                        <a:effectLst/>
                        <a:latin typeface="+mn-lt"/>
                      </a:endParaRPr>
                    </a:p>
                  </a:txBody>
                  <a:tcPr marL="0" marR="0" marT="0" marB="0"/>
                </a:tc>
                <a:tc>
                  <a:txBody>
                    <a:bodyPr/>
                    <a:lstStyle/>
                    <a:p>
                      <a:pPr marL="91440" algn="l" rtl="0" fontAlgn="ctr"/>
                      <a:r>
                        <a:rPr lang="en-MY" sz="1400" u="none" strike="noStrike" dirty="0">
                          <a:solidFill>
                            <a:schemeClr val="bg1"/>
                          </a:solidFill>
                          <a:effectLst/>
                          <a:latin typeface="+mn-lt"/>
                        </a:rPr>
                        <a:t>LITEON</a:t>
                      </a:r>
                      <a:endParaRPr lang="en-MY" sz="1400" b="1" i="0" u="none" strike="noStrike" dirty="0">
                        <a:solidFill>
                          <a:schemeClr val="bg1"/>
                        </a:solidFill>
                        <a:effectLst/>
                        <a:latin typeface="+mn-lt"/>
                      </a:endParaRPr>
                    </a:p>
                  </a:txBody>
                  <a:tcPr marL="0" marR="0" marT="0" marB="0"/>
                </a:tc>
                <a:extLst>
                  <a:ext uri="{0D108BD9-81ED-4DB2-BD59-A6C34878D82A}">
                    <a16:rowId xmlns:a16="http://schemas.microsoft.com/office/drawing/2014/main" val="3852518198"/>
                  </a:ext>
                </a:extLst>
              </a:tr>
              <a:tr h="295078">
                <a:tc rowSpan="5">
                  <a:txBody>
                    <a:bodyPr/>
                    <a:lstStyle/>
                    <a:p>
                      <a:pPr marL="91440" algn="l" fontAlgn="t"/>
                      <a:r>
                        <a:rPr lang="en-MY" sz="1200" b="0" i="0" u="none" strike="noStrike" dirty="0">
                          <a:solidFill>
                            <a:schemeClr val="tx1"/>
                          </a:solidFill>
                          <a:effectLst/>
                          <a:latin typeface="+mn-lt"/>
                        </a:rPr>
                        <a:t>Machine / Profile</a:t>
                      </a:r>
                    </a:p>
                  </a:txBody>
                  <a:tcPr marL="0" marR="0" marT="0" marB="0">
                    <a:lnB w="12700" cap="flat" cmpd="sng" algn="ctr">
                      <a:solidFill>
                        <a:srgbClr val="0068B5"/>
                      </a:solidFill>
                      <a:prstDash val="solid"/>
                      <a:round/>
                      <a:headEnd type="none" w="med" len="med"/>
                      <a:tailEnd type="none" w="med" len="med"/>
                    </a:lnB>
                  </a:tcPr>
                </a:tc>
                <a:tc>
                  <a:txBody>
                    <a:bodyPr/>
                    <a:lstStyle/>
                    <a:p>
                      <a:pPr marL="91440" algn="l" fontAlgn="t"/>
                      <a:r>
                        <a:rPr lang="en-MY" sz="1200" b="0" i="0" u="none" strike="noStrike" dirty="0">
                          <a:solidFill>
                            <a:schemeClr val="tx1"/>
                          </a:solidFill>
                          <a:effectLst/>
                          <a:latin typeface="+mn-lt"/>
                        </a:rPr>
                        <a:t>Peak Temp Range (</a:t>
                      </a:r>
                      <a:r>
                        <a:rPr lang="en-US" altLang="zh-TW" sz="1200" b="0" i="0" u="none" strike="noStrike" dirty="0">
                          <a:solidFill>
                            <a:schemeClr val="tx1"/>
                          </a:solidFill>
                          <a:effectLst/>
                          <a:latin typeface="+mn-lt"/>
                        </a:rPr>
                        <a:t>°</a:t>
                      </a:r>
                      <a:r>
                        <a:rPr lang="en-MY" sz="1200" b="0" i="0" u="none" strike="noStrike" dirty="0">
                          <a:solidFill>
                            <a:schemeClr val="tx1"/>
                          </a:solidFill>
                          <a:effectLst/>
                          <a:latin typeface="+mn-lt"/>
                        </a:rPr>
                        <a:t>C)</a:t>
                      </a:r>
                    </a:p>
                  </a:txBody>
                  <a:tcPr marL="0" marR="0" marT="0" marB="0"/>
                </a:tc>
                <a:tc>
                  <a:txBody>
                    <a:bodyPr/>
                    <a:lstStyle/>
                    <a:p>
                      <a:pPr marL="91440" algn="l" fontAlgn="t"/>
                      <a:r>
                        <a:rPr lang="en-MY" sz="1200" b="0" i="0" u="none" strike="noStrike" dirty="0">
                          <a:solidFill>
                            <a:schemeClr val="tx1"/>
                          </a:solidFill>
                          <a:effectLst/>
                          <a:latin typeface="+mn-lt"/>
                        </a:rPr>
                        <a:t>High Temp process (</a:t>
                      </a:r>
                      <a:r>
                        <a:rPr lang="en-US" altLang="zh-TW" sz="1200" b="0" i="0" u="none" strike="noStrike" dirty="0">
                          <a:solidFill>
                            <a:schemeClr val="tx1"/>
                          </a:solidFill>
                          <a:effectLst/>
                          <a:latin typeface="+mn-lt"/>
                        </a:rPr>
                        <a:t>235-245)</a:t>
                      </a:r>
                      <a:br>
                        <a:rPr lang="en-MY" sz="1200" b="0" i="0" u="none" strike="noStrike" dirty="0">
                          <a:solidFill>
                            <a:schemeClr val="tx1"/>
                          </a:solidFill>
                          <a:effectLst/>
                          <a:latin typeface="+mn-lt"/>
                        </a:rPr>
                      </a:br>
                      <a:r>
                        <a:rPr lang="en-MY" sz="1200" b="0" i="0" u="none" strike="noStrike" dirty="0">
                          <a:solidFill>
                            <a:schemeClr val="tx1"/>
                          </a:solidFill>
                          <a:effectLst/>
                          <a:latin typeface="+mn-lt"/>
                        </a:rPr>
                        <a:t>Low Temp process (</a:t>
                      </a:r>
                      <a:r>
                        <a:rPr lang="en-US" altLang="zh-TW" sz="1200" b="0" i="0" u="none" strike="noStrike" dirty="0">
                          <a:solidFill>
                            <a:schemeClr val="tx1"/>
                          </a:solidFill>
                          <a:effectLst/>
                          <a:latin typeface="+mn-lt"/>
                        </a:rPr>
                        <a:t>175-185</a:t>
                      </a:r>
                      <a:r>
                        <a:rPr lang="en-MY" sz="1200" b="0" i="0" u="none" strike="noStrike" dirty="0">
                          <a:solidFill>
                            <a:schemeClr val="tx1"/>
                          </a:solidFill>
                          <a:effectLst/>
                          <a:latin typeface="+mn-lt"/>
                        </a:rPr>
                        <a:t>)</a:t>
                      </a:r>
                    </a:p>
                  </a:txBody>
                  <a:tcPr marL="0" marR="0" marT="0" marB="0"/>
                </a:tc>
                <a:tc>
                  <a:txBody>
                    <a:bodyPr/>
                    <a:lstStyle/>
                    <a:p>
                      <a:pPr marL="91440" algn="l" fontAlgn="t"/>
                      <a:r>
                        <a:rPr lang="en-MY" sz="1200" b="0" i="0" u="none" strike="noStrike">
                          <a:solidFill>
                            <a:schemeClr val="tx1"/>
                          </a:solidFill>
                          <a:effectLst/>
                          <a:latin typeface="+mn-lt"/>
                        </a:rPr>
                        <a:t>230-250</a:t>
                      </a: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lang="en-MY" sz="1200" b="0" i="0" u="none" strike="noStrike" dirty="0">
                          <a:solidFill>
                            <a:schemeClr val="tx1"/>
                          </a:solidFill>
                          <a:effectLst/>
                          <a:latin typeface="+mn-lt"/>
                        </a:rPr>
                        <a:t>235-245</a:t>
                      </a:r>
                    </a:p>
                  </a:txBody>
                  <a:tcPr marL="0" marR="0" marT="0" marB="0"/>
                </a:tc>
                <a:tc>
                  <a:txBody>
                    <a:bodyPr/>
                    <a:lstStyle/>
                    <a:p>
                      <a:pPr marL="91440" algn="l" fontAlgn="t"/>
                      <a:r>
                        <a:rPr lang="en-MY" sz="1200" b="0" i="0" u="none" strike="noStrike" dirty="0">
                          <a:solidFill>
                            <a:schemeClr val="tx1"/>
                          </a:solidFill>
                          <a:effectLst/>
                          <a:latin typeface="+mn-lt"/>
                        </a:rPr>
                        <a:t>235-245</a:t>
                      </a:r>
                    </a:p>
                  </a:txBody>
                  <a:tcPr marL="0" marR="0" marT="0" marB="0"/>
                </a:tc>
                <a:extLst>
                  <a:ext uri="{0D108BD9-81ED-4DB2-BD59-A6C34878D82A}">
                    <a16:rowId xmlns:a16="http://schemas.microsoft.com/office/drawing/2014/main" val="4178550123"/>
                  </a:ext>
                </a:extLst>
              </a:tr>
              <a:tr h="209146">
                <a:tc vMerge="1">
                  <a:txBody>
                    <a:bodyPr/>
                    <a:lstStyle/>
                    <a:p>
                      <a:endParaRPr lang="en-MY"/>
                    </a:p>
                  </a:txBody>
                  <a:tcPr/>
                </a:tc>
                <a:tc>
                  <a:txBody>
                    <a:bodyPr/>
                    <a:lstStyle/>
                    <a:p>
                      <a:pPr marL="91440" algn="l" fontAlgn="t"/>
                      <a:r>
                        <a:rPr lang="en-MY" sz="1200" b="0" i="0" u="none" strike="noStrike" dirty="0">
                          <a:solidFill>
                            <a:schemeClr val="tx1"/>
                          </a:solidFill>
                          <a:effectLst/>
                          <a:latin typeface="+mn-lt"/>
                        </a:rPr>
                        <a:t>Time above Liquidus  (sec)</a:t>
                      </a:r>
                    </a:p>
                  </a:txBody>
                  <a:tcPr marL="0" marR="0" marT="0" marB="0"/>
                </a:tc>
                <a:tc>
                  <a:txBody>
                    <a:bodyPr/>
                    <a:lstStyle/>
                    <a:p>
                      <a:pPr marL="91440" algn="l" fontAlgn="t"/>
                      <a:r>
                        <a:rPr lang="en-MY" sz="1200" b="0" i="0" u="none" strike="noStrike" dirty="0">
                          <a:solidFill>
                            <a:schemeClr val="tx1"/>
                          </a:solidFill>
                          <a:effectLst/>
                          <a:latin typeface="+mn-lt"/>
                        </a:rPr>
                        <a:t>60-80</a:t>
                      </a:r>
                    </a:p>
                  </a:txBody>
                  <a:tcPr marL="0" marR="0" marT="0" marB="0"/>
                </a:tc>
                <a:tc>
                  <a:txBody>
                    <a:bodyPr/>
                    <a:lstStyle/>
                    <a:p>
                      <a:pPr marL="91440" algn="l" fontAlgn="t"/>
                      <a:r>
                        <a:rPr lang="en-MY" sz="1200" b="0" i="0" u="none" strike="noStrike">
                          <a:solidFill>
                            <a:schemeClr val="tx1"/>
                          </a:solidFill>
                          <a:effectLst/>
                          <a:latin typeface="+mn-lt"/>
                        </a:rPr>
                        <a:t>60-100</a:t>
                      </a:r>
                    </a:p>
                  </a:txBody>
                  <a:tcPr marL="0" marR="0" marT="0" marB="0"/>
                </a:tc>
                <a:tc>
                  <a:txBody>
                    <a:bodyPr/>
                    <a:lstStyle/>
                    <a:p>
                      <a:pPr marL="91440" algn="l" fontAlgn="t"/>
                      <a:r>
                        <a:rPr lang="en-MY" sz="1200" b="0" i="0" u="none" strike="noStrike" dirty="0">
                          <a:solidFill>
                            <a:schemeClr val="tx1"/>
                          </a:solidFill>
                          <a:effectLst/>
                          <a:latin typeface="+mn-lt"/>
                        </a:rPr>
                        <a:t>60-90</a:t>
                      </a:r>
                    </a:p>
                  </a:txBody>
                  <a:tcPr marL="0" marR="0" marT="0" marB="0"/>
                </a:tc>
                <a:tc>
                  <a:txBody>
                    <a:bodyPr/>
                    <a:lstStyle/>
                    <a:p>
                      <a:pPr marL="91440" algn="l" fontAlgn="t"/>
                      <a:r>
                        <a:rPr lang="en-MY" sz="1200" b="0" i="0" u="none" strike="noStrike" dirty="0">
                          <a:solidFill>
                            <a:schemeClr val="tx1"/>
                          </a:solidFill>
                          <a:effectLst/>
                          <a:latin typeface="+mn-lt"/>
                        </a:rPr>
                        <a:t>60-90</a:t>
                      </a:r>
                    </a:p>
                  </a:txBody>
                  <a:tcPr marL="0" marR="0" marT="0" marB="0"/>
                </a:tc>
                <a:extLst>
                  <a:ext uri="{0D108BD9-81ED-4DB2-BD59-A6C34878D82A}">
                    <a16:rowId xmlns:a16="http://schemas.microsoft.com/office/drawing/2014/main" val="691040990"/>
                  </a:ext>
                </a:extLst>
              </a:tr>
              <a:tr h="209146">
                <a:tc vMerge="1">
                  <a:txBody>
                    <a:bodyPr/>
                    <a:lstStyle/>
                    <a:p>
                      <a:endParaRPr lang="en-MY"/>
                    </a:p>
                  </a:txBody>
                  <a:tcPr/>
                </a:tc>
                <a:tc>
                  <a:txBody>
                    <a:bodyPr/>
                    <a:lstStyle/>
                    <a:p>
                      <a:pPr marL="91440" algn="l" fontAlgn="t"/>
                      <a:r>
                        <a:rPr lang="en-US" sz="1200" b="0" i="0" u="none" strike="noStrike" dirty="0">
                          <a:solidFill>
                            <a:schemeClr val="tx1"/>
                          </a:solidFill>
                          <a:effectLst/>
                          <a:latin typeface="+mn-lt"/>
                        </a:rPr>
                        <a:t>Soak Temp Range and Time (sec)</a:t>
                      </a:r>
                    </a:p>
                  </a:txBody>
                  <a:tcPr marL="0" marR="0" marT="0" marB="0"/>
                </a:tc>
                <a:tc>
                  <a:txBody>
                    <a:bodyPr/>
                    <a:lstStyle/>
                    <a:p>
                      <a:pPr marL="91440" algn="l" fontAlgn="t"/>
                      <a:r>
                        <a:rPr lang="en-MY" sz="1200" b="0" i="0" u="none" strike="noStrike" dirty="0">
                          <a:solidFill>
                            <a:schemeClr val="tx1"/>
                          </a:solidFill>
                          <a:effectLst/>
                          <a:latin typeface="+mn-lt"/>
                        </a:rPr>
                        <a:t>90-120</a:t>
                      </a:r>
                    </a:p>
                  </a:txBody>
                  <a:tcPr marL="0" marR="0" marT="0" marB="0"/>
                </a:tc>
                <a:tc>
                  <a:txBody>
                    <a:bodyPr/>
                    <a:lstStyle/>
                    <a:p>
                      <a:pPr marL="91440" algn="l" fontAlgn="t"/>
                      <a:r>
                        <a:rPr lang="en-US" sz="1200" b="0" i="0" u="none" strike="noStrike" dirty="0">
                          <a:solidFill>
                            <a:schemeClr val="tx1"/>
                          </a:solidFill>
                          <a:effectLst/>
                          <a:latin typeface="+mn-lt"/>
                        </a:rPr>
                        <a:t>n</a:t>
                      </a:r>
                      <a:r>
                        <a:rPr lang="en-MY" sz="1200" b="0" i="0" u="none" strike="noStrike" dirty="0" err="1">
                          <a:solidFill>
                            <a:schemeClr val="tx1"/>
                          </a:solidFill>
                          <a:effectLst/>
                          <a:latin typeface="+mn-lt"/>
                        </a:rPr>
                        <a:t>ot</a:t>
                      </a:r>
                      <a:r>
                        <a:rPr lang="en-MY" sz="1200" b="0" i="0" u="none" strike="noStrike" dirty="0">
                          <a:solidFill>
                            <a:schemeClr val="tx1"/>
                          </a:solidFill>
                          <a:effectLst/>
                          <a:latin typeface="+mn-lt"/>
                        </a:rPr>
                        <a:t> answered</a:t>
                      </a:r>
                    </a:p>
                  </a:txBody>
                  <a:tcPr marL="0" marR="0" marT="0" marB="0"/>
                </a:tc>
                <a:tc>
                  <a:txBody>
                    <a:bodyPr/>
                    <a:lstStyle/>
                    <a:p>
                      <a:pPr marL="91440" algn="l" fontAlgn="t"/>
                      <a:r>
                        <a:rPr lang="en-MY" sz="1200" b="0" i="0" u="none" strike="noStrike" dirty="0">
                          <a:solidFill>
                            <a:schemeClr val="tx1"/>
                          </a:solidFill>
                          <a:effectLst/>
                          <a:latin typeface="+mn-lt"/>
                        </a:rPr>
                        <a:t>90-120</a:t>
                      </a:r>
                    </a:p>
                  </a:txBody>
                  <a:tcPr marL="0" marR="0" marT="0" marB="0"/>
                </a:tc>
                <a:tc>
                  <a:txBody>
                    <a:bodyPr/>
                    <a:lstStyle/>
                    <a:p>
                      <a:pPr marL="91440" algn="l" fontAlgn="t"/>
                      <a:r>
                        <a:rPr lang="en-MY" sz="1200" b="0" i="0" u="none" strike="noStrike" dirty="0">
                          <a:solidFill>
                            <a:schemeClr val="tx1"/>
                          </a:solidFill>
                          <a:effectLst/>
                          <a:latin typeface="+mn-lt"/>
                        </a:rPr>
                        <a:t>90-120</a:t>
                      </a:r>
                    </a:p>
                  </a:txBody>
                  <a:tcPr marL="0" marR="0" marT="0" marB="0"/>
                </a:tc>
                <a:extLst>
                  <a:ext uri="{0D108BD9-81ED-4DB2-BD59-A6C34878D82A}">
                    <a16:rowId xmlns:a16="http://schemas.microsoft.com/office/drawing/2014/main" val="3913651276"/>
                  </a:ext>
                </a:extLst>
              </a:tr>
              <a:tr h="209146">
                <a:tc vMerge="1">
                  <a:txBody>
                    <a:bodyPr/>
                    <a:lstStyle/>
                    <a:p>
                      <a:endParaRPr lang="en-MY"/>
                    </a:p>
                  </a:txBody>
                  <a:tcPr/>
                </a:tc>
                <a:tc>
                  <a:txBody>
                    <a:bodyPr/>
                    <a:lstStyle/>
                    <a:p>
                      <a:pPr marL="91440" algn="l" fontAlgn="t"/>
                      <a:r>
                        <a:rPr lang="en-US" sz="1200" b="0" i="0" u="none" strike="noStrike" dirty="0">
                          <a:solidFill>
                            <a:schemeClr val="tx1"/>
                          </a:solidFill>
                          <a:effectLst/>
                          <a:latin typeface="+mn-lt"/>
                        </a:rPr>
                        <a:t>Max BGA weight capability (grams)</a:t>
                      </a:r>
                    </a:p>
                  </a:txBody>
                  <a:tcPr marL="0" marR="0" marT="0" marB="0"/>
                </a:tc>
                <a:tc>
                  <a:txBody>
                    <a:bodyPr/>
                    <a:lstStyle/>
                    <a:p>
                      <a:pPr marL="91440" algn="l" fontAlgn="t"/>
                      <a:r>
                        <a:rPr lang="en-MY" sz="1200" b="0" i="0" u="none" strike="noStrike" dirty="0">
                          <a:solidFill>
                            <a:srgbClr val="FF0000"/>
                          </a:solidFill>
                          <a:effectLst>
                            <a:outerShdw blurRad="38100" dist="38100" dir="2700000" algn="tl">
                              <a:srgbClr val="000000">
                                <a:alpha val="43137"/>
                              </a:srgbClr>
                            </a:outerShdw>
                          </a:effectLst>
                          <a:latin typeface="+mn-lt"/>
                        </a:rPr>
                        <a:t>45mmX24mm</a:t>
                      </a:r>
                    </a:p>
                  </a:txBody>
                  <a:tcPr marL="0" marR="0" marT="0" marB="0"/>
                </a:tc>
                <a:tc>
                  <a:txBody>
                    <a:bodyPr/>
                    <a:lstStyle/>
                    <a:p>
                      <a:pPr marL="91440" algn="l" fontAlgn="t"/>
                      <a:r>
                        <a:rPr lang="en-MY" sz="1200" b="0" i="0" u="none" strike="noStrike" dirty="0">
                          <a:solidFill>
                            <a:schemeClr val="tx1"/>
                          </a:solidFill>
                          <a:effectLst/>
                          <a:latin typeface="+mn-lt"/>
                        </a:rPr>
                        <a:t>30g</a:t>
                      </a: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lang="en-US" sz="1200" b="0" i="0" u="none" strike="noStrike" dirty="0">
                          <a:solidFill>
                            <a:schemeClr val="tx1"/>
                          </a:solidFill>
                          <a:effectLst/>
                          <a:latin typeface="+mn-lt"/>
                        </a:rPr>
                        <a:t>n</a:t>
                      </a:r>
                      <a:r>
                        <a:rPr lang="en-MY" sz="1200" b="0" i="0" u="none" strike="noStrike" dirty="0" err="1">
                          <a:solidFill>
                            <a:schemeClr val="tx1"/>
                          </a:solidFill>
                          <a:effectLst/>
                          <a:latin typeface="+mn-lt"/>
                        </a:rPr>
                        <a:t>ot</a:t>
                      </a:r>
                      <a:r>
                        <a:rPr lang="en-MY" sz="1200" b="0" i="0" u="none" strike="noStrike" dirty="0">
                          <a:solidFill>
                            <a:schemeClr val="tx1"/>
                          </a:solidFill>
                          <a:effectLst/>
                          <a:latin typeface="+mn-lt"/>
                        </a:rPr>
                        <a:t> answered</a:t>
                      </a:r>
                    </a:p>
                  </a:txBody>
                  <a:tcPr marL="0" marR="0" marT="0" marB="0"/>
                </a:tc>
                <a:tc>
                  <a:txBody>
                    <a:bodyPr/>
                    <a:lstStyle/>
                    <a:p>
                      <a:pPr marL="91440" algn="l" fontAlgn="t"/>
                      <a:r>
                        <a:rPr lang="en-MY" sz="1200" b="0" i="0" u="none" strike="noStrike" dirty="0">
                          <a:solidFill>
                            <a:srgbClr val="FF0000"/>
                          </a:solidFill>
                          <a:effectLst>
                            <a:outerShdw blurRad="38100" dist="38100" dir="2700000" algn="tl">
                              <a:srgbClr val="000000">
                                <a:alpha val="43137"/>
                              </a:srgbClr>
                            </a:outerShdw>
                          </a:effectLst>
                          <a:latin typeface="+mn-lt"/>
                        </a:rPr>
                        <a:t>N/A</a:t>
                      </a:r>
                    </a:p>
                  </a:txBody>
                  <a:tcPr marL="0" marR="0" marT="0" marB="0"/>
                </a:tc>
                <a:extLst>
                  <a:ext uri="{0D108BD9-81ED-4DB2-BD59-A6C34878D82A}">
                    <a16:rowId xmlns:a16="http://schemas.microsoft.com/office/drawing/2014/main" val="2076378246"/>
                  </a:ext>
                </a:extLst>
              </a:tr>
              <a:tr h="209146">
                <a:tc vMerge="1">
                  <a:txBody>
                    <a:bodyPr/>
                    <a:lstStyle/>
                    <a:p>
                      <a:endParaRPr lang="en-MY"/>
                    </a:p>
                  </a:txBody>
                  <a:tcPr/>
                </a:tc>
                <a:tc>
                  <a:txBody>
                    <a:bodyPr/>
                    <a:lstStyle/>
                    <a:p>
                      <a:pPr marL="91440" algn="l" fontAlgn="t"/>
                      <a:r>
                        <a:rPr lang="en-US" sz="1200" b="0" i="0" u="none" strike="noStrike" dirty="0">
                          <a:solidFill>
                            <a:schemeClr val="tx1"/>
                          </a:solidFill>
                          <a:effectLst/>
                          <a:latin typeface="+mn-lt"/>
                        </a:rPr>
                        <a:t>Is rework done in air or N2? If N2, what is O2 PPM? </a:t>
                      </a:r>
                    </a:p>
                  </a:txBody>
                  <a:tcPr marL="0" marR="0" marT="0" marB="0"/>
                </a:tc>
                <a:tc>
                  <a:txBody>
                    <a:bodyPr/>
                    <a:lstStyle/>
                    <a:p>
                      <a:pPr marL="91440" algn="l" fontAlgn="t"/>
                      <a:r>
                        <a:rPr lang="en-MY" sz="1200" b="0" i="0" u="none" strike="noStrike" dirty="0">
                          <a:solidFill>
                            <a:schemeClr val="tx1"/>
                          </a:solidFill>
                          <a:effectLst/>
                          <a:latin typeface="+mn-lt"/>
                        </a:rPr>
                        <a:t>N2, 0.3-0.5PPM</a:t>
                      </a:r>
                    </a:p>
                  </a:txBody>
                  <a:tcPr marL="0" marR="0" marT="0" marB="0"/>
                </a:tc>
                <a:tc>
                  <a:txBody>
                    <a:bodyPr/>
                    <a:lstStyle/>
                    <a:p>
                      <a:pPr marL="91440" algn="l" fontAlgn="t"/>
                      <a:r>
                        <a:rPr lang="en-MY" sz="1200" b="0" i="0" u="none" strike="noStrike" dirty="0">
                          <a:solidFill>
                            <a:schemeClr val="tx1"/>
                          </a:solidFill>
                          <a:effectLst/>
                          <a:latin typeface="+mn-lt"/>
                        </a:rPr>
                        <a:t>Air</a:t>
                      </a: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mn-lt"/>
                          <a:sym typeface="Intel Clear"/>
                        </a:rPr>
                        <a:t>n</a:t>
                      </a:r>
                      <a:r>
                        <a:rPr kumimoji="0" lang="en-MY" sz="1200" b="0" i="0" u="none" strike="noStrike" kern="0" cap="none" spc="0" normalizeH="0" baseline="0" noProof="0" dirty="0" err="1">
                          <a:ln>
                            <a:noFill/>
                          </a:ln>
                          <a:solidFill>
                            <a:srgbClr val="000000"/>
                          </a:solidFill>
                          <a:effectLst/>
                          <a:uLnTx/>
                          <a:uFillTx/>
                          <a:latin typeface="+mn-lt"/>
                          <a:sym typeface="Intel Clear"/>
                        </a:rPr>
                        <a:t>ot</a:t>
                      </a:r>
                      <a:r>
                        <a:rPr kumimoji="0" lang="en-MY" sz="1200" b="0" i="0" u="none" strike="noStrike" kern="0" cap="none" spc="0" normalizeH="0" baseline="0" noProof="0" dirty="0">
                          <a:ln>
                            <a:noFill/>
                          </a:ln>
                          <a:solidFill>
                            <a:srgbClr val="000000"/>
                          </a:solidFill>
                          <a:effectLst/>
                          <a:uLnTx/>
                          <a:uFillTx/>
                          <a:latin typeface="+mn-lt"/>
                          <a:sym typeface="Intel Clear"/>
                        </a:rPr>
                        <a:t> answered</a:t>
                      </a:r>
                    </a:p>
                  </a:txBody>
                  <a:tcPr marL="0" marR="0" marT="0" marB="0"/>
                </a:tc>
                <a:tc>
                  <a:txBody>
                    <a:bodyPr/>
                    <a:lstStyle/>
                    <a:p>
                      <a:pPr marL="91440" algn="l" fontAlgn="t"/>
                      <a:r>
                        <a:rPr lang="en-MY" sz="1200" b="0" i="0" u="none" strike="noStrike" dirty="0">
                          <a:solidFill>
                            <a:schemeClr val="tx1"/>
                          </a:solidFill>
                          <a:effectLst/>
                          <a:latin typeface="+mn-lt"/>
                        </a:rPr>
                        <a:t>Air</a:t>
                      </a:r>
                    </a:p>
                  </a:txBody>
                  <a:tcPr marL="0" marR="0" marT="0" marB="0"/>
                </a:tc>
                <a:extLst>
                  <a:ext uri="{0D108BD9-81ED-4DB2-BD59-A6C34878D82A}">
                    <a16:rowId xmlns:a16="http://schemas.microsoft.com/office/drawing/2014/main" val="2627658710"/>
                  </a:ext>
                </a:extLst>
              </a:tr>
              <a:tr h="147539">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lang="en-MY" sz="1200" b="0" i="0" u="none" strike="noStrike" dirty="0">
                          <a:solidFill>
                            <a:schemeClr val="tx1"/>
                          </a:solidFill>
                          <a:effectLst/>
                          <a:latin typeface="+mn-lt"/>
                        </a:rPr>
                        <a:t>Flux</a:t>
                      </a:r>
                    </a:p>
                  </a:txBody>
                  <a:tcPr marL="0" marR="0" marT="0" marB="0">
                    <a:lnL w="12700" cap="flat" cmpd="sng" algn="ctr">
                      <a:solidFill>
                        <a:srgbClr val="0068B5"/>
                      </a:solidFill>
                      <a:prstDash val="solid"/>
                      <a:round/>
                      <a:headEnd type="none" w="med" len="med"/>
                      <a:tailEnd type="none" w="med" len="med"/>
                    </a:lnL>
                    <a:lnR>
                      <a:noFill/>
                    </a:lnR>
                    <a:lnT w="12700" cap="flat" cmpd="sng" algn="ctr">
                      <a:solidFill>
                        <a:srgbClr val="0068B5"/>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tcPr>
                </a:tc>
                <a:tc>
                  <a:txBody>
                    <a:bodyPr/>
                    <a:lstStyle/>
                    <a:p>
                      <a:pPr marL="91440" algn="l" fontAlgn="t"/>
                      <a:r>
                        <a:rPr lang="en-US" sz="1200" b="0" i="0" u="none" strike="noStrike" dirty="0">
                          <a:solidFill>
                            <a:schemeClr val="tx1"/>
                          </a:solidFill>
                          <a:effectLst/>
                          <a:latin typeface="+mn-lt"/>
                        </a:rPr>
                        <a:t>Apply flux on PCB pads?</a:t>
                      </a:r>
                    </a:p>
                  </a:txBody>
                  <a:tcPr marL="0" marR="0" marT="0" marB="0">
                    <a:lnL>
                      <a:noFill/>
                    </a:lnL>
                  </a:tcPr>
                </a:tc>
                <a:tc>
                  <a:txBody>
                    <a:bodyPr/>
                    <a:lstStyle/>
                    <a:p>
                      <a:pPr marL="91440" algn="l" fontAlgn="t"/>
                      <a:r>
                        <a:rPr lang="en-MY" sz="1200" b="0" i="0" u="none" strike="noStrike" dirty="0">
                          <a:solidFill>
                            <a:schemeClr val="tx1"/>
                          </a:solidFill>
                          <a:effectLst/>
                          <a:latin typeface="+mn-lt"/>
                        </a:rPr>
                        <a:t>Yes</a:t>
                      </a:r>
                    </a:p>
                  </a:txBody>
                  <a:tcPr marL="0" marR="0" marT="0" marB="0"/>
                </a:tc>
                <a:tc>
                  <a:txBody>
                    <a:bodyPr/>
                    <a:lstStyle/>
                    <a:p>
                      <a:pPr marL="91440" algn="l" fontAlgn="t"/>
                      <a:r>
                        <a:rPr lang="en-MY" sz="1200" b="0" i="0" u="none" strike="noStrike" dirty="0">
                          <a:solidFill>
                            <a:schemeClr val="tx1"/>
                          </a:solidFill>
                          <a:effectLst/>
                          <a:latin typeface="+mn-lt"/>
                        </a:rPr>
                        <a:t>Yes</a:t>
                      </a:r>
                    </a:p>
                  </a:txBody>
                  <a:tcPr marL="0" marR="0" marT="0" marB="0"/>
                </a:tc>
                <a:tc>
                  <a:txBody>
                    <a:bodyPr/>
                    <a:lstStyle/>
                    <a:p>
                      <a:pPr marL="91440" algn="l" fontAlgn="t"/>
                      <a:r>
                        <a:rPr kumimoji="0" lang="en-MY" sz="1200" b="0" i="0" u="none" strike="noStrike" kern="0" cap="none" spc="0" normalizeH="0" baseline="0" noProof="0" dirty="0">
                          <a:ln>
                            <a:noFill/>
                          </a:ln>
                          <a:solidFill>
                            <a:srgbClr val="000000"/>
                          </a:solidFill>
                          <a:effectLst/>
                          <a:uLnTx/>
                          <a:uFillTx/>
                          <a:latin typeface="+mn-lt"/>
                          <a:sym typeface="Intel Clear"/>
                        </a:rPr>
                        <a:t>Yes</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b="0" i="0" u="none" strike="noStrike" dirty="0">
                          <a:solidFill>
                            <a:schemeClr val="tx1"/>
                          </a:solidFill>
                          <a:effectLst/>
                          <a:latin typeface="+mn-lt"/>
                        </a:rPr>
                        <a:t>No</a:t>
                      </a:r>
                    </a:p>
                  </a:txBody>
                  <a:tcPr marL="0" marR="0" marT="0" marB="0"/>
                </a:tc>
                <a:extLst>
                  <a:ext uri="{0D108BD9-81ED-4DB2-BD59-A6C34878D82A}">
                    <a16:rowId xmlns:a16="http://schemas.microsoft.com/office/drawing/2014/main" val="4048944144"/>
                  </a:ext>
                </a:extLst>
              </a:tr>
              <a:tr h="295078">
                <a:tc>
                  <a:txBody>
                    <a:bodyPr/>
                    <a:lstStyle/>
                    <a:p>
                      <a:pPr marL="91440" algn="l" fontAlgn="t"/>
                      <a:r>
                        <a:rPr lang="en-MY" sz="1200" b="0" i="0" u="none" strike="noStrike" dirty="0">
                          <a:solidFill>
                            <a:schemeClr val="tx1"/>
                          </a:solidFill>
                          <a:effectLst/>
                          <a:latin typeface="+mn-lt"/>
                        </a:rPr>
                        <a:t>LTS</a:t>
                      </a:r>
                    </a:p>
                  </a:txBody>
                  <a:tcPr marL="0" marR="0" marT="0" marB="0">
                    <a:lnT w="9525" cap="flat" cmpd="sng" algn="ctr">
                      <a:noFill/>
                      <a:prstDash val="solid"/>
                    </a:lnT>
                    <a:lnB w="12700" cap="flat" cmpd="sng" algn="ctr">
                      <a:solidFill>
                        <a:srgbClr val="0068B5"/>
                      </a:solidFill>
                      <a:prstDash val="solid"/>
                      <a:round/>
                      <a:headEnd type="none" w="med" len="med"/>
                      <a:tailEnd type="none" w="med" len="med"/>
                    </a:lnB>
                  </a:tcPr>
                </a:tc>
                <a:tc>
                  <a:txBody>
                    <a:bodyPr/>
                    <a:lstStyle/>
                    <a:p>
                      <a:pPr marL="91440" algn="l" fontAlgn="t"/>
                      <a:r>
                        <a:rPr lang="en-US" sz="1200" b="0" i="0" u="none" strike="noStrike" dirty="0">
                          <a:solidFill>
                            <a:schemeClr val="tx1"/>
                          </a:solidFill>
                          <a:effectLst/>
                          <a:latin typeface="+mn-lt"/>
                        </a:rPr>
                        <a:t>Any plans to use LTS (low temperature solder) paste (e.g. peak reflow temp &lt;= 190 Deg C)?</a:t>
                      </a:r>
                    </a:p>
                  </a:txBody>
                  <a:tcPr marL="0" marR="0" marT="0" marB="0"/>
                </a:tc>
                <a:tc>
                  <a:txBody>
                    <a:bodyPr/>
                    <a:lstStyle/>
                    <a:p>
                      <a:pPr marL="91440" algn="l" fontAlgn="t"/>
                      <a:r>
                        <a:rPr lang="en-MY" sz="1200" b="0" i="0" u="none" strike="noStrike" dirty="0">
                          <a:solidFill>
                            <a:schemeClr val="tx1"/>
                          </a:solidFill>
                          <a:effectLst/>
                          <a:latin typeface="+mn-lt"/>
                        </a:rPr>
                        <a:t>Yes</a:t>
                      </a:r>
                    </a:p>
                  </a:txBody>
                  <a:tcPr marL="0" marR="0" marT="0" marB="0"/>
                </a:tc>
                <a:tc>
                  <a:txBody>
                    <a:bodyPr/>
                    <a:lstStyle/>
                    <a:p>
                      <a:pPr marL="91440" algn="l" fontAlgn="t"/>
                      <a:r>
                        <a:rPr lang="en-MY" sz="1200" b="0" i="0" u="none" strike="noStrike" dirty="0">
                          <a:solidFill>
                            <a:schemeClr val="tx1"/>
                          </a:solidFill>
                          <a:effectLst/>
                          <a:latin typeface="+mn-lt"/>
                        </a:rPr>
                        <a:t>No </a:t>
                      </a:r>
                    </a:p>
                  </a:txBody>
                  <a:tcPr marL="0" marR="0" marT="0" marB="0"/>
                </a:tc>
                <a:tc>
                  <a:txBody>
                    <a:bodyPr/>
                    <a:lstStyle/>
                    <a:p>
                      <a:pPr marL="91440" algn="l" fontAlgn="t"/>
                      <a:r>
                        <a:rPr lang="en-MY" sz="1200" b="0" i="0" u="none" strike="noStrike" dirty="0">
                          <a:solidFill>
                            <a:schemeClr val="tx1"/>
                          </a:solidFill>
                          <a:effectLst/>
                          <a:latin typeface="+mn-lt"/>
                        </a:rPr>
                        <a:t>No</a:t>
                      </a:r>
                    </a:p>
                  </a:txBody>
                  <a:tcPr marL="0" marR="0" marT="0" marB="0"/>
                </a:tc>
                <a:tc>
                  <a:txBody>
                    <a:bodyPr/>
                    <a:lstStyle/>
                    <a:p>
                      <a:pPr marL="91440" algn="l" fontAlgn="t"/>
                      <a:r>
                        <a:rPr lang="en-MY" sz="1200" b="0" i="0" u="none" strike="noStrike" dirty="0">
                          <a:solidFill>
                            <a:schemeClr val="tx1"/>
                          </a:solidFill>
                          <a:effectLst/>
                          <a:latin typeface="+mn-lt"/>
                        </a:rPr>
                        <a:t>No</a:t>
                      </a:r>
                    </a:p>
                  </a:txBody>
                  <a:tcPr marL="0" marR="0" marT="0" marB="0"/>
                </a:tc>
                <a:extLst>
                  <a:ext uri="{0D108BD9-81ED-4DB2-BD59-A6C34878D82A}">
                    <a16:rowId xmlns:a16="http://schemas.microsoft.com/office/drawing/2014/main" val="504902122"/>
                  </a:ext>
                </a:extLst>
              </a:tr>
              <a:tr h="209146">
                <a:tc rowSpan="3">
                  <a:txBody>
                    <a:bodyPr/>
                    <a:lstStyle/>
                    <a:p>
                      <a:pPr marL="91440" algn="l" fontAlgn="t"/>
                      <a:r>
                        <a:rPr lang="en-MY" sz="1200" b="0" i="0" u="none" strike="noStrike" dirty="0">
                          <a:solidFill>
                            <a:schemeClr val="tx1"/>
                          </a:solidFill>
                          <a:effectLst/>
                          <a:latin typeface="+mn-lt"/>
                        </a:rPr>
                        <a:t>Process</a:t>
                      </a:r>
                    </a:p>
                  </a:txBody>
                  <a:tcPr marL="0" marR="0" marT="0" marB="0">
                    <a:lnL w="12700" cap="flat" cmpd="sng" algn="ctr">
                      <a:solidFill>
                        <a:srgbClr val="0068B5"/>
                      </a:solidFill>
                      <a:prstDash val="solid"/>
                      <a:round/>
                      <a:headEnd type="none" w="med" len="med"/>
                      <a:tailEnd type="none" w="med" len="med"/>
                    </a:lnL>
                    <a:lnR>
                      <a:noFill/>
                    </a:lnR>
                    <a:lnT w="12700" cap="flat" cmpd="sng" algn="ctr">
                      <a:solidFill>
                        <a:srgbClr val="0068B5"/>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tcPr>
                </a:tc>
                <a:tc>
                  <a:txBody>
                    <a:bodyPr/>
                    <a:lstStyle/>
                    <a:p>
                      <a:pPr marL="91440" algn="l" fontAlgn="t"/>
                      <a:r>
                        <a:rPr lang="en-US" sz="1200" b="0" i="0" u="none" strike="noStrike">
                          <a:solidFill>
                            <a:schemeClr val="tx1"/>
                          </a:solidFill>
                          <a:effectLst/>
                          <a:latin typeface="+mn-lt"/>
                        </a:rPr>
                        <a:t>Print solder paste directly to Solder balls?</a:t>
                      </a:r>
                    </a:p>
                  </a:txBody>
                  <a:tcPr marL="0" marR="0" marT="0" marB="0">
                    <a:lnL>
                      <a:noFill/>
                    </a:lnL>
                  </a:tcPr>
                </a:tc>
                <a:tc>
                  <a:txBody>
                    <a:bodyPr/>
                    <a:lstStyle/>
                    <a:p>
                      <a:pPr marL="91440" algn="l" fontAlgn="t"/>
                      <a:r>
                        <a:rPr lang="en-MY" sz="1200" b="0" i="0" u="none" strike="noStrike" dirty="0">
                          <a:solidFill>
                            <a:schemeClr val="tx1"/>
                          </a:solidFill>
                          <a:effectLst/>
                          <a:latin typeface="+mn-lt"/>
                        </a:rPr>
                        <a:t>Yes</a:t>
                      </a:r>
                    </a:p>
                  </a:txBody>
                  <a:tcPr marL="0" marR="0" marT="0" marB="0"/>
                </a:tc>
                <a:tc>
                  <a:txBody>
                    <a:bodyPr/>
                    <a:lstStyle/>
                    <a:p>
                      <a:pPr marL="91440" algn="l" fontAlgn="t"/>
                      <a:r>
                        <a:rPr lang="en-US" sz="1200" b="0" i="0" u="none" strike="noStrike" dirty="0">
                          <a:solidFill>
                            <a:schemeClr val="tx1"/>
                          </a:solidFill>
                          <a:effectLst/>
                          <a:latin typeface="+mn-lt"/>
                        </a:rPr>
                        <a:t>No</a:t>
                      </a:r>
                      <a:endParaRPr lang="en-MY" sz="1200" b="0" i="0" u="none" strike="noStrike" dirty="0">
                        <a:solidFill>
                          <a:schemeClr val="tx1"/>
                        </a:solidFill>
                        <a:effectLst/>
                        <a:latin typeface="+mn-lt"/>
                      </a:endParaRPr>
                    </a:p>
                  </a:txBody>
                  <a:tcPr marL="0" marR="0" marT="0" marB="0"/>
                </a:tc>
                <a:tc>
                  <a:txBody>
                    <a:bodyPr/>
                    <a:lstStyle/>
                    <a:p>
                      <a:pPr marL="91440" algn="l" fontAlgn="t"/>
                      <a:r>
                        <a:rPr kumimoji="0" lang="en-MY" sz="1200" b="0" i="0" u="none" strike="noStrike" kern="0" cap="none" spc="0" normalizeH="0" baseline="0" noProof="0">
                          <a:ln>
                            <a:noFill/>
                          </a:ln>
                          <a:solidFill>
                            <a:srgbClr val="000000"/>
                          </a:solidFill>
                          <a:effectLst/>
                          <a:uLnTx/>
                          <a:uFillTx/>
                          <a:latin typeface="+mn-lt"/>
                          <a:sym typeface="Intel Clear"/>
                        </a:rPr>
                        <a:t>Yes</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b="0" i="0" u="none" strike="noStrike" dirty="0">
                          <a:solidFill>
                            <a:schemeClr val="tx1"/>
                          </a:solidFill>
                          <a:effectLst/>
                          <a:latin typeface="+mn-lt"/>
                        </a:rPr>
                        <a:t>No</a:t>
                      </a:r>
                    </a:p>
                  </a:txBody>
                  <a:tcPr marL="0" marR="0" marT="0" marB="0"/>
                </a:tc>
                <a:extLst>
                  <a:ext uri="{0D108BD9-81ED-4DB2-BD59-A6C34878D82A}">
                    <a16:rowId xmlns:a16="http://schemas.microsoft.com/office/drawing/2014/main" val="2963251170"/>
                  </a:ext>
                </a:extLst>
              </a:tr>
              <a:tr h="209146">
                <a:tc vMerge="1">
                  <a:txBody>
                    <a:bodyPr/>
                    <a:lstStyle/>
                    <a:p>
                      <a:endParaRPr lang="en-MY"/>
                    </a:p>
                  </a:txBody>
                  <a:tcPr/>
                </a:tc>
                <a:tc>
                  <a:txBody>
                    <a:bodyPr/>
                    <a:lstStyle/>
                    <a:p>
                      <a:pPr marL="91440" algn="l" fontAlgn="t"/>
                      <a:r>
                        <a:rPr lang="en-US" sz="1200" b="0" i="0" u="none" strike="noStrike">
                          <a:solidFill>
                            <a:schemeClr val="tx1"/>
                          </a:solidFill>
                          <a:effectLst/>
                          <a:latin typeface="+mn-lt"/>
                        </a:rPr>
                        <a:t>Print solder paste directly to PCB pads?</a:t>
                      </a:r>
                    </a:p>
                  </a:txBody>
                  <a:tcPr marL="0" marR="0" marT="0" marB="0">
                    <a:lnL>
                      <a:noFill/>
                    </a:lnL>
                  </a:tcPr>
                </a:tc>
                <a:tc>
                  <a:txBody>
                    <a:bodyPr/>
                    <a:lstStyle/>
                    <a:p>
                      <a:pPr marL="91440" algn="l" fontAlgn="t"/>
                      <a:r>
                        <a:rPr lang="en-MY" sz="1200" b="0" i="0" u="none" strike="noStrike" dirty="0">
                          <a:solidFill>
                            <a:schemeClr val="tx1"/>
                          </a:solidFill>
                          <a:effectLst/>
                          <a:latin typeface="+mn-lt"/>
                        </a:rPr>
                        <a:t>Yes</a:t>
                      </a:r>
                    </a:p>
                  </a:txBody>
                  <a:tcPr marL="0" marR="0" marT="0" marB="0"/>
                </a:tc>
                <a:tc>
                  <a:txBody>
                    <a:bodyPr/>
                    <a:lstStyle/>
                    <a:p>
                      <a:pPr marL="91440" algn="l" fontAlgn="t"/>
                      <a:r>
                        <a:rPr lang="en-MY" sz="1200" b="0" i="0" u="none" strike="noStrike" dirty="0">
                          <a:solidFill>
                            <a:schemeClr val="tx1"/>
                          </a:solidFill>
                          <a:effectLst/>
                          <a:latin typeface="+mn-lt"/>
                        </a:rPr>
                        <a:t>Yes</a:t>
                      </a:r>
                    </a:p>
                  </a:txBody>
                  <a:tcPr marL="0" marR="0" marT="0" marB="0"/>
                </a:tc>
                <a:tc>
                  <a:txBody>
                    <a:bodyPr/>
                    <a:lstStyle/>
                    <a:p>
                      <a:pPr marL="91440" algn="l" fontAlgn="t"/>
                      <a:r>
                        <a:rPr kumimoji="0" lang="en-MY" sz="1200" b="0" i="0" u="none" strike="noStrike" kern="0" cap="none" spc="0" normalizeH="0" baseline="0" noProof="0" dirty="0">
                          <a:ln>
                            <a:noFill/>
                          </a:ln>
                          <a:solidFill>
                            <a:srgbClr val="000000"/>
                          </a:solidFill>
                          <a:effectLst/>
                          <a:uLnTx/>
                          <a:uFillTx/>
                          <a:latin typeface="+mn-lt"/>
                          <a:sym typeface="Intel Clear"/>
                        </a:rPr>
                        <a:t>Yes</a:t>
                      </a:r>
                      <a:endParaRPr lang="en-MY" sz="1200" b="0" i="0" u="none" strike="noStrike" dirty="0">
                        <a:solidFill>
                          <a:schemeClr val="tx1"/>
                        </a:solidFill>
                        <a:effectLst/>
                        <a:latin typeface="+mn-lt"/>
                      </a:endParaRPr>
                    </a:p>
                  </a:txBody>
                  <a:tcPr marL="0" marR="0" marT="0" marB="0"/>
                </a:tc>
                <a:tc>
                  <a:txBody>
                    <a:bodyPr/>
                    <a:lstStyle/>
                    <a:p>
                      <a:pPr marL="91440" algn="l" fontAlgn="t"/>
                      <a:r>
                        <a:rPr lang="en-MY" sz="1200" b="0" i="0" u="none" strike="noStrike" dirty="0">
                          <a:solidFill>
                            <a:schemeClr val="tx1"/>
                          </a:solidFill>
                          <a:effectLst/>
                          <a:latin typeface="+mn-lt"/>
                        </a:rPr>
                        <a:t>Yes</a:t>
                      </a:r>
                    </a:p>
                  </a:txBody>
                  <a:tcPr marL="0" marR="0" marT="0" marB="0"/>
                </a:tc>
                <a:extLst>
                  <a:ext uri="{0D108BD9-81ED-4DB2-BD59-A6C34878D82A}">
                    <a16:rowId xmlns:a16="http://schemas.microsoft.com/office/drawing/2014/main" val="3493957544"/>
                  </a:ext>
                </a:extLst>
              </a:tr>
              <a:tr h="209146">
                <a:tc vMerge="1">
                  <a:txBody>
                    <a:bodyPr/>
                    <a:lstStyle/>
                    <a:p>
                      <a:endParaRPr lang="en-MY"/>
                    </a:p>
                  </a:txBody>
                  <a:tcPr/>
                </a:tc>
                <a:tc>
                  <a:txBody>
                    <a:bodyPr/>
                    <a:lstStyle/>
                    <a:p>
                      <a:pPr marL="91440" algn="l" fontAlgn="t"/>
                      <a:r>
                        <a:rPr lang="en-US" sz="1200" b="0" i="0" u="none" strike="noStrike" dirty="0">
                          <a:solidFill>
                            <a:schemeClr val="tx1"/>
                          </a:solidFill>
                          <a:effectLst/>
                          <a:latin typeface="+mn-lt"/>
                        </a:rPr>
                        <a:t>Rework Stencil Thickness used (mm)?</a:t>
                      </a:r>
                    </a:p>
                  </a:txBody>
                  <a:tcPr marL="0" marR="0" marT="0" marB="0">
                    <a:lnL>
                      <a:noFill/>
                    </a:lnL>
                  </a:tcPr>
                </a:tc>
                <a:tc>
                  <a:txBody>
                    <a:bodyPr/>
                    <a:lstStyle/>
                    <a:p>
                      <a:pPr marL="91440" algn="l" fontAlgn="t"/>
                      <a:r>
                        <a:rPr lang="en-MY" sz="1200" b="0" i="0" u="none" strike="noStrike" dirty="0">
                          <a:solidFill>
                            <a:schemeClr val="tx1"/>
                          </a:solidFill>
                          <a:effectLst/>
                          <a:latin typeface="+mn-lt"/>
                        </a:rPr>
                        <a:t>0.12</a:t>
                      </a:r>
                    </a:p>
                  </a:txBody>
                  <a:tcPr marL="0" marR="0" marT="0" marB="0"/>
                </a:tc>
                <a:tc>
                  <a:txBody>
                    <a:bodyPr/>
                    <a:lstStyle/>
                    <a:p>
                      <a:pPr marL="91440" algn="l" fontAlgn="t"/>
                      <a:r>
                        <a:rPr lang="en-MY" sz="1200" b="0" i="0" u="none" strike="noStrike" dirty="0">
                          <a:solidFill>
                            <a:schemeClr val="tx1"/>
                          </a:solidFill>
                          <a:effectLst/>
                          <a:latin typeface="+mn-lt"/>
                        </a:rPr>
                        <a:t>0.13</a:t>
                      </a:r>
                    </a:p>
                  </a:txBody>
                  <a:tcPr marL="0" marR="0" marT="0" marB="0"/>
                </a:tc>
                <a:tc>
                  <a:txBody>
                    <a:bodyPr/>
                    <a:lstStyle/>
                    <a:p>
                      <a:pPr marL="91440" algn="l" fontAlgn="t"/>
                      <a:r>
                        <a:rPr lang="en-MY" sz="1200" b="0" i="0" u="none" strike="noStrike" dirty="0">
                          <a:solidFill>
                            <a:schemeClr val="tx1"/>
                          </a:solidFill>
                          <a:effectLst/>
                          <a:latin typeface="+mn-lt"/>
                        </a:rPr>
                        <a:t>0.15, 0.18</a:t>
                      </a:r>
                    </a:p>
                  </a:txBody>
                  <a:tcPr marL="0" marR="0" marT="0" marB="0"/>
                </a:tc>
                <a:tc>
                  <a:txBody>
                    <a:bodyPr/>
                    <a:lstStyle/>
                    <a:p>
                      <a:pPr marL="91440" algn="l" fontAlgn="t"/>
                      <a:r>
                        <a:rPr lang="en-MY" sz="1200" b="0" i="0" u="none" strike="noStrike" dirty="0">
                          <a:solidFill>
                            <a:schemeClr val="tx1"/>
                          </a:solidFill>
                          <a:effectLst/>
                          <a:latin typeface="+mn-lt"/>
                        </a:rPr>
                        <a:t>0.10</a:t>
                      </a:r>
                    </a:p>
                  </a:txBody>
                  <a:tcPr marL="0" marR="0" marT="0" marB="0"/>
                </a:tc>
                <a:extLst>
                  <a:ext uri="{0D108BD9-81ED-4DB2-BD59-A6C34878D82A}">
                    <a16:rowId xmlns:a16="http://schemas.microsoft.com/office/drawing/2014/main" val="2448030881"/>
                  </a:ext>
                </a:extLst>
              </a:tr>
              <a:tr h="295078">
                <a:tc rowSpan="3">
                  <a:txBody>
                    <a:bodyPr/>
                    <a:lstStyle/>
                    <a:p>
                      <a:pPr marL="91440" algn="l" fontAlgn="t"/>
                      <a:endParaRPr lang="en-MY" sz="1200" b="0" i="0" u="none" strike="noStrike" dirty="0">
                        <a:solidFill>
                          <a:schemeClr val="tx1"/>
                        </a:solidFill>
                        <a:effectLst/>
                        <a:latin typeface="+mn-lt"/>
                      </a:endParaRPr>
                    </a:p>
                  </a:txBody>
                  <a:tcPr marL="0" marR="0" marT="0" marB="0">
                    <a:lnT w="9525" cap="flat" cmpd="sng" algn="ctr">
                      <a:noFill/>
                      <a:prstDash val="solid"/>
                    </a:lnT>
                  </a:tcPr>
                </a:tc>
                <a:tc>
                  <a:txBody>
                    <a:bodyPr/>
                    <a:lstStyle/>
                    <a:p>
                      <a:pPr marL="91440" algn="l" fontAlgn="t"/>
                      <a:r>
                        <a:rPr lang="en-US" sz="1200" b="0" i="0" u="none" strike="noStrike">
                          <a:solidFill>
                            <a:schemeClr val="tx1"/>
                          </a:solidFill>
                          <a:effectLst/>
                          <a:latin typeface="+mn-lt"/>
                        </a:rPr>
                        <a:t>Use a pallet to support the board on the tool or other kind of fixtures?</a:t>
                      </a:r>
                    </a:p>
                  </a:txBody>
                  <a:tcPr marL="0" marR="0" marT="0" marB="0"/>
                </a:tc>
                <a:tc>
                  <a:txBody>
                    <a:bodyPr/>
                    <a:lstStyle/>
                    <a:p>
                      <a:pPr marL="91440" algn="l" fontAlgn="t"/>
                      <a:r>
                        <a:rPr lang="en-MY" sz="1200" b="0" i="0" u="none" strike="noStrike" dirty="0">
                          <a:solidFill>
                            <a:schemeClr val="tx1"/>
                          </a:solidFill>
                          <a:effectLst/>
                          <a:latin typeface="+mn-lt"/>
                        </a:rPr>
                        <a:t>Yes</a:t>
                      </a:r>
                    </a:p>
                  </a:txBody>
                  <a:tcPr marL="0" marR="0" marT="0" marB="0"/>
                </a:tc>
                <a:tc>
                  <a:txBody>
                    <a:bodyPr/>
                    <a:lstStyle/>
                    <a:p>
                      <a:pPr marL="91440" algn="l" fontAlgn="t"/>
                      <a:r>
                        <a:rPr lang="en-MY" sz="1200" b="0" i="0" u="none" strike="noStrike" dirty="0">
                          <a:solidFill>
                            <a:schemeClr val="tx1"/>
                          </a:solidFill>
                          <a:effectLst/>
                          <a:latin typeface="+mn-lt"/>
                        </a:rPr>
                        <a:t>Yes</a:t>
                      </a:r>
                    </a:p>
                  </a:txBody>
                  <a:tcPr marL="0" marR="0" marT="0" marB="0"/>
                </a:tc>
                <a:tc>
                  <a:txBody>
                    <a:bodyPr/>
                    <a:lstStyle/>
                    <a:p>
                      <a:pPr marL="91440" algn="l" fontAlgn="t"/>
                      <a:r>
                        <a:rPr lang="en-MY" sz="1200" b="0" i="0" u="none" strike="noStrike" dirty="0">
                          <a:solidFill>
                            <a:schemeClr val="tx1"/>
                          </a:solidFill>
                          <a:effectLst/>
                          <a:latin typeface="+mn-lt"/>
                        </a:rPr>
                        <a:t>Yes</a:t>
                      </a:r>
                    </a:p>
                  </a:txBody>
                  <a:tcPr marL="0" marR="0" marT="0" marB="0"/>
                </a:tc>
                <a:tc>
                  <a:txBody>
                    <a:bodyPr/>
                    <a:lstStyle/>
                    <a:p>
                      <a:pPr marL="91440" algn="l" fontAlgn="t"/>
                      <a:r>
                        <a:rPr lang="en-MY" sz="1200" b="0" i="0" u="none" strike="noStrike">
                          <a:solidFill>
                            <a:schemeClr val="tx1"/>
                          </a:solidFill>
                          <a:effectLst/>
                          <a:latin typeface="+mn-lt"/>
                        </a:rPr>
                        <a:t>Yes</a:t>
                      </a:r>
                    </a:p>
                  </a:txBody>
                  <a:tcPr marL="0" marR="0" marT="0" marB="0"/>
                </a:tc>
                <a:extLst>
                  <a:ext uri="{0D108BD9-81ED-4DB2-BD59-A6C34878D82A}">
                    <a16:rowId xmlns:a16="http://schemas.microsoft.com/office/drawing/2014/main" val="2437013083"/>
                  </a:ext>
                </a:extLst>
              </a:tr>
              <a:tr h="295078">
                <a:tc vMerge="1">
                  <a:txBody>
                    <a:bodyPr/>
                    <a:lstStyle/>
                    <a:p>
                      <a:endParaRPr lang="en-MY"/>
                    </a:p>
                  </a:txBody>
                  <a:tcPr/>
                </a:tc>
                <a:tc>
                  <a:txBody>
                    <a:bodyPr/>
                    <a:lstStyle/>
                    <a:p>
                      <a:pPr marL="91440" algn="l" fontAlgn="t"/>
                      <a:r>
                        <a:rPr lang="en-US" sz="1200" b="0" i="0" u="none" strike="noStrike" dirty="0">
                          <a:solidFill>
                            <a:schemeClr val="tx1"/>
                          </a:solidFill>
                          <a:effectLst/>
                          <a:latin typeface="+mn-lt"/>
                        </a:rPr>
                        <a:t>Nozzle size used is the exactly same size of the package to repair bigger than it? (mm)</a:t>
                      </a:r>
                    </a:p>
                  </a:txBody>
                  <a:tcPr marL="0" marR="0" marT="0" marB="0"/>
                </a:tc>
                <a:tc>
                  <a:txBody>
                    <a:bodyPr/>
                    <a:lstStyle/>
                    <a:p>
                      <a:pPr marL="91440" algn="l" fontAlgn="t"/>
                      <a:r>
                        <a:rPr lang="en-MY" sz="1200" b="0" i="0" u="none" strike="noStrike" dirty="0">
                          <a:solidFill>
                            <a:schemeClr val="tx1"/>
                          </a:solidFill>
                          <a:effectLst/>
                          <a:latin typeface="+mn-lt"/>
                        </a:rPr>
                        <a:t> 2, 3</a:t>
                      </a:r>
                    </a:p>
                  </a:txBody>
                  <a:tcPr marL="0" marR="0" marT="0" marB="0"/>
                </a:tc>
                <a:tc>
                  <a:txBody>
                    <a:bodyPr/>
                    <a:lstStyle/>
                    <a:p>
                      <a:pPr marL="91440" algn="l" fontAlgn="t"/>
                      <a:r>
                        <a:rPr lang="en-MY" sz="1200" b="0" i="0" u="none" strike="noStrike" dirty="0">
                          <a:solidFill>
                            <a:schemeClr val="tx1"/>
                          </a:solidFill>
                          <a:effectLst/>
                          <a:latin typeface="+mn-lt"/>
                        </a:rPr>
                        <a:t>not answered </a:t>
                      </a:r>
                    </a:p>
                  </a:txBody>
                  <a:tcPr marL="0" marR="0" marT="0" marB="0"/>
                </a:tc>
                <a:tc>
                  <a:txBody>
                    <a:bodyPr/>
                    <a:lstStyle/>
                    <a:p>
                      <a:pPr marL="91440" algn="l" fontAlgn="t"/>
                      <a:r>
                        <a:rPr lang="en-MY" sz="1200" b="0" i="0" u="none" strike="noStrike" dirty="0">
                          <a:solidFill>
                            <a:schemeClr val="tx1"/>
                          </a:solidFill>
                          <a:effectLst/>
                          <a:latin typeface="+mn-lt"/>
                        </a:rPr>
                        <a:t> 2, 3</a:t>
                      </a:r>
                    </a:p>
                  </a:txBody>
                  <a:tcPr marL="0" marR="0" marT="0" marB="0"/>
                </a:tc>
                <a:tc>
                  <a:txBody>
                    <a:bodyPr/>
                    <a:lstStyle/>
                    <a:p>
                      <a:pPr marL="91440" algn="l" fontAlgn="t"/>
                      <a:r>
                        <a:rPr lang="en-MY" sz="1200" b="0" i="0" u="none" strike="noStrike" dirty="0">
                          <a:solidFill>
                            <a:schemeClr val="tx1"/>
                          </a:solidFill>
                          <a:effectLst/>
                          <a:latin typeface="+mn-lt"/>
                        </a:rPr>
                        <a:t>not answered</a:t>
                      </a:r>
                    </a:p>
                  </a:txBody>
                  <a:tcPr marL="0" marR="0" marT="0" marB="0"/>
                </a:tc>
                <a:extLst>
                  <a:ext uri="{0D108BD9-81ED-4DB2-BD59-A6C34878D82A}">
                    <a16:rowId xmlns:a16="http://schemas.microsoft.com/office/drawing/2014/main" val="1348007740"/>
                  </a:ext>
                </a:extLst>
              </a:tr>
              <a:tr h="295078">
                <a:tc vMerge="1">
                  <a:txBody>
                    <a:bodyPr/>
                    <a:lstStyle/>
                    <a:p>
                      <a:endParaRPr lang="en-MY"/>
                    </a:p>
                  </a:txBody>
                  <a:tcPr/>
                </a:tc>
                <a:tc>
                  <a:txBody>
                    <a:bodyPr/>
                    <a:lstStyle/>
                    <a:p>
                      <a:pPr marL="91440" algn="l" fontAlgn="t"/>
                      <a:r>
                        <a:rPr lang="en-US" sz="1200" b="0" i="0" u="none" strike="noStrike">
                          <a:solidFill>
                            <a:schemeClr val="tx1"/>
                          </a:solidFill>
                          <a:effectLst/>
                          <a:latin typeface="+mn-lt"/>
                        </a:rPr>
                        <a:t>Do you perform a manual site dress process or auto scavinging?</a:t>
                      </a:r>
                    </a:p>
                  </a:txBody>
                  <a:tcPr marL="0" marR="0" marT="0" marB="0"/>
                </a:tc>
                <a:tc>
                  <a:txBody>
                    <a:bodyPr/>
                    <a:lstStyle/>
                    <a:p>
                      <a:pPr marL="91440" algn="l" fontAlgn="t"/>
                      <a:r>
                        <a:rPr lang="en-MY" sz="1200" b="0" i="0" u="none" strike="noStrike" dirty="0">
                          <a:solidFill>
                            <a:schemeClr val="tx1"/>
                          </a:solidFill>
                          <a:effectLst/>
                          <a:latin typeface="+mn-lt"/>
                          <a:ea typeface="宋体" panose="02010600030101010101" pitchFamily="2" charset="-122"/>
                        </a:rPr>
                        <a:t>Semi-auto</a:t>
                      </a:r>
                      <a:endParaRPr lang="en-US" altLang="zh-TW" sz="1200" b="0" i="0" u="none" strike="noStrike" dirty="0">
                        <a:solidFill>
                          <a:schemeClr val="tx1"/>
                        </a:solidFill>
                        <a:effectLst/>
                        <a:latin typeface="+mn-lt"/>
                        <a:ea typeface="宋体" panose="02010600030101010101" pitchFamily="2" charset="-122"/>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200" b="0" i="0" u="none" strike="noStrike" kern="0" cap="none" spc="0" normalizeH="0" baseline="0" noProof="0" dirty="0">
                          <a:ln>
                            <a:noFill/>
                          </a:ln>
                          <a:solidFill>
                            <a:srgbClr val="000000"/>
                          </a:solidFill>
                          <a:effectLst/>
                          <a:uLnTx/>
                          <a:uFillTx/>
                          <a:latin typeface="+mn-lt"/>
                          <a:sym typeface="Intel Clear"/>
                        </a:rPr>
                        <a:t>not answered </a:t>
                      </a:r>
                    </a:p>
                  </a:txBody>
                  <a:tcPr marL="0" marR="0" marT="0" marB="0"/>
                </a:tc>
                <a:tc>
                  <a:txBody>
                    <a:bodyPr/>
                    <a:lstStyle/>
                    <a:p>
                      <a:pPr marL="91440" algn="l" fontAlgn="t"/>
                      <a:r>
                        <a:rPr lang="en-MY" sz="1200" b="0" i="0" u="none" strike="noStrike" dirty="0">
                          <a:solidFill>
                            <a:schemeClr val="tx1"/>
                          </a:solidFill>
                          <a:effectLst/>
                          <a:latin typeface="+mn-lt"/>
                        </a:rPr>
                        <a:t>Yes</a:t>
                      </a:r>
                    </a:p>
                  </a:txBody>
                  <a:tcPr marL="0" marR="0" marT="0" marB="0"/>
                </a:tc>
                <a:tc>
                  <a:txBody>
                    <a:bodyPr/>
                    <a:lstStyle/>
                    <a:p>
                      <a:pPr marL="91440" algn="l" fontAlgn="t"/>
                      <a:r>
                        <a:rPr lang="en-MY" sz="1200" b="0" i="0" u="none" strike="noStrike">
                          <a:solidFill>
                            <a:schemeClr val="tx1"/>
                          </a:solidFill>
                          <a:effectLst/>
                          <a:latin typeface="+mn-lt"/>
                        </a:rPr>
                        <a:t>N/A</a:t>
                      </a:r>
                    </a:p>
                  </a:txBody>
                  <a:tcPr marL="0" marR="0" marT="0" marB="0"/>
                </a:tc>
                <a:extLst>
                  <a:ext uri="{0D108BD9-81ED-4DB2-BD59-A6C34878D82A}">
                    <a16:rowId xmlns:a16="http://schemas.microsoft.com/office/drawing/2014/main" val="1944393443"/>
                  </a:ext>
                </a:extLst>
              </a:tr>
              <a:tr h="295078">
                <a:tc>
                  <a:txBody>
                    <a:bodyPr/>
                    <a:lstStyle/>
                    <a:p>
                      <a:pPr marL="91440" algn="l" fontAlgn="t"/>
                      <a:r>
                        <a:rPr lang="en-MY" sz="1200" b="0" i="0" u="none" strike="noStrike" dirty="0">
                          <a:solidFill>
                            <a:schemeClr val="tx1"/>
                          </a:solidFill>
                          <a:effectLst/>
                          <a:latin typeface="+mn-lt"/>
                        </a:rPr>
                        <a:t>Rework Yield Target</a:t>
                      </a:r>
                    </a:p>
                  </a:txBody>
                  <a:tcPr marL="0" marR="0" marT="0" marB="0"/>
                </a:tc>
                <a:tc>
                  <a:txBody>
                    <a:bodyPr/>
                    <a:lstStyle/>
                    <a:p>
                      <a:pPr marL="91440" algn="l" fontAlgn="t"/>
                      <a:r>
                        <a:rPr lang="en-MY" sz="1200" b="0" i="0" u="none" strike="noStrike">
                          <a:solidFill>
                            <a:schemeClr val="tx1"/>
                          </a:solidFill>
                          <a:effectLst/>
                          <a:latin typeface="+mn-lt"/>
                        </a:rPr>
                        <a:t> </a:t>
                      </a:r>
                    </a:p>
                  </a:txBody>
                  <a:tcPr marL="0" marR="0" marT="0" marB="0"/>
                </a:tc>
                <a:tc>
                  <a:txBody>
                    <a:bodyPr/>
                    <a:lstStyle/>
                    <a:p>
                      <a:pPr marL="91440" algn="l" fontAlgn="t"/>
                      <a:r>
                        <a:rPr lang="en-MY" sz="1200" b="0" i="0" u="none" strike="noStrike" dirty="0">
                          <a:solidFill>
                            <a:srgbClr val="FF0000"/>
                          </a:solidFill>
                          <a:effectLst>
                            <a:outerShdw blurRad="38100" dist="38100" dir="2700000" algn="tl">
                              <a:srgbClr val="000000">
                                <a:alpha val="43137"/>
                              </a:srgbClr>
                            </a:outerShdw>
                          </a:effectLst>
                          <a:latin typeface="+mn-lt"/>
                        </a:rPr>
                        <a:t>N/A ?</a:t>
                      </a: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kumimoji="0" lang="en-MY" sz="1200" b="0" i="0" u="none" strike="noStrike" kern="0" cap="none" spc="0" normalizeH="0" baseline="0" noProof="0" dirty="0">
                          <a:ln>
                            <a:noFill/>
                          </a:ln>
                          <a:solidFill>
                            <a:srgbClr val="000000"/>
                          </a:solidFill>
                          <a:effectLst/>
                          <a:uLnTx/>
                          <a:uFillTx/>
                          <a:latin typeface="+mn-lt"/>
                          <a:sym typeface="Intel Clear"/>
                        </a:rPr>
                        <a:t>not answered </a:t>
                      </a:r>
                    </a:p>
                  </a:txBody>
                  <a:tcPr marL="0" marR="0" marT="0" marB="0"/>
                </a:tc>
                <a:tc>
                  <a:txBody>
                    <a:bodyPr/>
                    <a:lstStyle/>
                    <a:p>
                      <a:pPr marL="91440" algn="l" fontAlgn="t"/>
                      <a:r>
                        <a:rPr lang="en-MY" sz="1200" b="0" i="0" u="none" strike="noStrike" dirty="0">
                          <a:solidFill>
                            <a:schemeClr val="tx1"/>
                          </a:solidFill>
                          <a:effectLst/>
                          <a:latin typeface="+mn-lt"/>
                        </a:rPr>
                        <a:t>99.9% (1K DPM)</a:t>
                      </a:r>
                    </a:p>
                  </a:txBody>
                  <a:tcPr marL="0" marR="0" marT="0" marB="0"/>
                </a:tc>
                <a:tc>
                  <a:txBody>
                    <a:bodyPr/>
                    <a:lstStyle/>
                    <a:p>
                      <a:pPr marL="91440" algn="l" fontAlgn="t"/>
                      <a:r>
                        <a:rPr lang="en-MY" sz="1200" b="0" i="0" u="none" strike="noStrike" dirty="0">
                          <a:solidFill>
                            <a:schemeClr val="tx1"/>
                          </a:solidFill>
                          <a:effectLst/>
                          <a:latin typeface="+mn-lt"/>
                        </a:rPr>
                        <a:t>98%</a:t>
                      </a:r>
                    </a:p>
                  </a:txBody>
                  <a:tcPr marL="0" marR="0" marT="0" marB="0"/>
                </a:tc>
                <a:extLst>
                  <a:ext uri="{0D108BD9-81ED-4DB2-BD59-A6C34878D82A}">
                    <a16:rowId xmlns:a16="http://schemas.microsoft.com/office/drawing/2014/main" val="3392727450"/>
                  </a:ext>
                </a:extLst>
              </a:tr>
            </a:tbl>
          </a:graphicData>
        </a:graphic>
      </p:graphicFrame>
      <p:sp>
        <p:nvSpPr>
          <p:cNvPr id="5" name="Rectangle: Rounded Corners 4">
            <a:extLst>
              <a:ext uri="{FF2B5EF4-FFF2-40B4-BE49-F238E27FC236}">
                <a16:creationId xmlns:a16="http://schemas.microsoft.com/office/drawing/2014/main" id="{65403C79-3F2D-4759-BF0B-C05649C85185}"/>
              </a:ext>
            </a:extLst>
          </p:cNvPr>
          <p:cNvSpPr/>
          <p:nvPr/>
        </p:nvSpPr>
        <p:spPr>
          <a:xfrm>
            <a:off x="135468" y="4643742"/>
            <a:ext cx="11444816" cy="1645841"/>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Rework stencil thicknesses used: 0.10, 0.12, 0.13, 0.15, 0.18</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One customer performing rework in N2, others in Air</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Pallets are used for board support during rework</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Customers print solder paste directly to the PCB pads for rework (a few can also print onto the solder balls)</a:t>
            </a:r>
          </a:p>
        </p:txBody>
      </p:sp>
      <p:sp>
        <p:nvSpPr>
          <p:cNvPr id="6" name="Action Button: Go Home 5">
            <a:hlinkClick r:id="rId2" action="ppaction://hlinksldjump" highlightClick="1"/>
            <a:extLst>
              <a:ext uri="{FF2B5EF4-FFF2-40B4-BE49-F238E27FC236}">
                <a16:creationId xmlns:a16="http://schemas.microsoft.com/office/drawing/2014/main" id="{4BFFB81D-7BA5-4B8A-AFF0-7859BD1000D2}"/>
              </a:ext>
            </a:extLst>
          </p:cNvPr>
          <p:cNvSpPr/>
          <p:nvPr/>
        </p:nvSpPr>
        <p:spPr>
          <a:xfrm>
            <a:off x="11399520" y="60960"/>
            <a:ext cx="487680" cy="451311"/>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819921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A9707-5156-41F3-9BD6-83853633F13F}"/>
              </a:ext>
            </a:extLst>
          </p:cNvPr>
          <p:cNvSpPr>
            <a:spLocks noGrp="1"/>
          </p:cNvSpPr>
          <p:nvPr>
            <p:ph type="title"/>
          </p:nvPr>
        </p:nvSpPr>
        <p:spPr>
          <a:xfrm>
            <a:off x="611716" y="123930"/>
            <a:ext cx="10972800" cy="536470"/>
          </a:xfrm>
        </p:spPr>
        <p:txBody>
          <a:bodyPr/>
          <a:lstStyle/>
          <a:p>
            <a:r>
              <a:rPr lang="en-US" dirty="0"/>
              <a:t>Others</a:t>
            </a:r>
            <a:endParaRPr lang="en-MY" dirty="0"/>
          </a:p>
        </p:txBody>
      </p:sp>
      <p:graphicFrame>
        <p:nvGraphicFramePr>
          <p:cNvPr id="4" name="Content Placeholder 3">
            <a:extLst>
              <a:ext uri="{FF2B5EF4-FFF2-40B4-BE49-F238E27FC236}">
                <a16:creationId xmlns:a16="http://schemas.microsoft.com/office/drawing/2014/main" id="{F4C4F9EE-9506-4C4C-B40C-F4271BBF6041}"/>
              </a:ext>
            </a:extLst>
          </p:cNvPr>
          <p:cNvGraphicFramePr>
            <a:graphicFrameLocks noGrp="1"/>
          </p:cNvGraphicFramePr>
          <p:nvPr>
            <p:ph sz="quarter" idx="13"/>
            <p:extLst>
              <p:ext uri="{D42A27DB-BD31-4B8C-83A1-F6EECF244321}">
                <p14:modId xmlns:p14="http://schemas.microsoft.com/office/powerpoint/2010/main" val="2676607554"/>
              </p:ext>
            </p:extLst>
          </p:nvPr>
        </p:nvGraphicFramePr>
        <p:xfrm>
          <a:off x="427568" y="797624"/>
          <a:ext cx="11152716" cy="3688080"/>
        </p:xfrm>
        <a:graphic>
          <a:graphicData uri="http://schemas.openxmlformats.org/drawingml/2006/table">
            <a:tbl>
              <a:tblPr firstRow="1" bandRow="1">
                <a:tableStyleId>{69012ECD-51FC-41F1-AA8D-1B2483CD663E}</a:tableStyleId>
              </a:tblPr>
              <a:tblGrid>
                <a:gridCol w="1374792">
                  <a:extLst>
                    <a:ext uri="{9D8B030D-6E8A-4147-A177-3AD203B41FA5}">
                      <a16:colId xmlns:a16="http://schemas.microsoft.com/office/drawing/2014/main" val="1692685995"/>
                    </a:ext>
                  </a:extLst>
                </a:gridCol>
                <a:gridCol w="3158990">
                  <a:extLst>
                    <a:ext uri="{9D8B030D-6E8A-4147-A177-3AD203B41FA5}">
                      <a16:colId xmlns:a16="http://schemas.microsoft.com/office/drawing/2014/main" val="766677285"/>
                    </a:ext>
                  </a:extLst>
                </a:gridCol>
                <a:gridCol w="1876529">
                  <a:extLst>
                    <a:ext uri="{9D8B030D-6E8A-4147-A177-3AD203B41FA5}">
                      <a16:colId xmlns:a16="http://schemas.microsoft.com/office/drawing/2014/main" val="1362813313"/>
                    </a:ext>
                  </a:extLst>
                </a:gridCol>
                <a:gridCol w="1876529">
                  <a:extLst>
                    <a:ext uri="{9D8B030D-6E8A-4147-A177-3AD203B41FA5}">
                      <a16:colId xmlns:a16="http://schemas.microsoft.com/office/drawing/2014/main" val="3296549446"/>
                    </a:ext>
                  </a:extLst>
                </a:gridCol>
                <a:gridCol w="1197169">
                  <a:extLst>
                    <a:ext uri="{9D8B030D-6E8A-4147-A177-3AD203B41FA5}">
                      <a16:colId xmlns:a16="http://schemas.microsoft.com/office/drawing/2014/main" val="2579843292"/>
                    </a:ext>
                  </a:extLst>
                </a:gridCol>
                <a:gridCol w="1668707">
                  <a:extLst>
                    <a:ext uri="{9D8B030D-6E8A-4147-A177-3AD203B41FA5}">
                      <a16:colId xmlns:a16="http://schemas.microsoft.com/office/drawing/2014/main" val="3841248342"/>
                    </a:ext>
                  </a:extLst>
                </a:gridCol>
              </a:tblGrid>
              <a:tr h="106603">
                <a:tc gridSpan="2">
                  <a:txBody>
                    <a:bodyPr/>
                    <a:lstStyle/>
                    <a:p>
                      <a:pPr marL="91440" marR="0" lvl="0" indent="0" algn="l" defTabSz="609600" rtl="0" eaLnBrk="1" fontAlgn="ctr" latinLnBrk="0" hangingPunct="1">
                        <a:lnSpc>
                          <a:spcPct val="100000"/>
                        </a:lnSpc>
                        <a:spcBef>
                          <a:spcPts val="0"/>
                        </a:spcBef>
                        <a:spcAft>
                          <a:spcPts val="0"/>
                        </a:spcAft>
                        <a:buClrTx/>
                        <a:buSzTx/>
                        <a:buFontTx/>
                        <a:buNone/>
                        <a:tabLst/>
                        <a:defRPr/>
                      </a:pPr>
                      <a:r>
                        <a:rPr lang="en-US" sz="1800" u="none" strike="noStrike" dirty="0">
                          <a:effectLst/>
                        </a:rPr>
                        <a:t>Process</a:t>
                      </a:r>
                      <a:endParaRPr lang="en-MY" sz="1800" b="1" i="0" u="none" strike="noStrike" dirty="0">
                        <a:solidFill>
                          <a:schemeClr val="bg1"/>
                        </a:solidFill>
                        <a:effectLst/>
                        <a:latin typeface="+mn-lt"/>
                      </a:endParaRPr>
                    </a:p>
                  </a:txBody>
                  <a:tcPr marL="0" marR="0" marT="0" marB="0"/>
                </a:tc>
                <a:tc hMerge="1">
                  <a:txBody>
                    <a:bodyPr/>
                    <a:lstStyle/>
                    <a:p>
                      <a:pPr marL="91440" marR="0" lvl="0" indent="0" algn="l" defTabSz="609600" rtl="0" eaLnBrk="1" fontAlgn="ctr" latinLnBrk="0" hangingPunct="1">
                        <a:lnSpc>
                          <a:spcPct val="100000"/>
                        </a:lnSpc>
                        <a:spcBef>
                          <a:spcPts val="0"/>
                        </a:spcBef>
                        <a:spcAft>
                          <a:spcPts val="0"/>
                        </a:spcAft>
                        <a:buClrTx/>
                        <a:buSzTx/>
                        <a:buFontTx/>
                        <a:buNone/>
                        <a:tabLst/>
                        <a:defRPr/>
                      </a:pPr>
                      <a:endParaRPr lang="en-MY" sz="1200" b="1" i="0" u="none" strike="noStrike" dirty="0">
                        <a:solidFill>
                          <a:schemeClr val="bg1"/>
                        </a:solidFill>
                        <a:effectLst/>
                        <a:latin typeface="+mn-lt"/>
                      </a:endParaRPr>
                    </a:p>
                  </a:txBody>
                  <a:tcPr marL="0" marR="0" marT="0" marB="0"/>
                </a:tc>
                <a:tc>
                  <a:txBody>
                    <a:bodyPr/>
                    <a:lstStyle/>
                    <a:p>
                      <a:pPr marL="91440" algn="l" rtl="0" fontAlgn="ctr"/>
                      <a:r>
                        <a:rPr lang="en-MY" sz="1800" u="none" strike="noStrike" dirty="0">
                          <a:effectLst/>
                        </a:rPr>
                        <a:t>ECS</a:t>
                      </a:r>
                      <a:endParaRPr lang="en-MY" sz="1800" b="1" i="0" u="none" strike="noStrike" dirty="0">
                        <a:solidFill>
                          <a:schemeClr val="bg1"/>
                        </a:solidFill>
                        <a:effectLst/>
                        <a:latin typeface="+mn-lt"/>
                      </a:endParaRPr>
                    </a:p>
                  </a:txBody>
                  <a:tcPr marL="0" marR="0" marT="0" marB="0"/>
                </a:tc>
                <a:tc>
                  <a:txBody>
                    <a:bodyPr/>
                    <a:lstStyle/>
                    <a:p>
                      <a:pPr marL="91440" algn="l" rtl="0" fontAlgn="ctr"/>
                      <a:r>
                        <a:rPr lang="en-MY" sz="1800" u="none" strike="noStrike" dirty="0">
                          <a:effectLst/>
                        </a:rPr>
                        <a:t>LCFC</a:t>
                      </a:r>
                      <a:endParaRPr lang="en-MY" sz="1800" b="1" i="0" u="none" strike="noStrike" dirty="0">
                        <a:solidFill>
                          <a:schemeClr val="bg1"/>
                        </a:solidFill>
                        <a:effectLst/>
                        <a:latin typeface="+mn-lt"/>
                      </a:endParaRPr>
                    </a:p>
                  </a:txBody>
                  <a:tcPr marL="0" marR="0" marT="0" marB="0"/>
                </a:tc>
                <a:tc>
                  <a:txBody>
                    <a:bodyPr/>
                    <a:lstStyle/>
                    <a:p>
                      <a:pPr marL="91440" algn="l" rtl="0" fontAlgn="ctr"/>
                      <a:r>
                        <a:rPr lang="en-MY" sz="1800" u="none" strike="noStrike" dirty="0">
                          <a:effectLst/>
                        </a:rPr>
                        <a:t>FXWH</a:t>
                      </a:r>
                      <a:endParaRPr lang="en-MY" sz="1800" b="1" i="0" u="none" strike="noStrike" dirty="0">
                        <a:solidFill>
                          <a:schemeClr val="bg1"/>
                        </a:solidFill>
                        <a:effectLst/>
                        <a:latin typeface="+mn-lt"/>
                      </a:endParaRPr>
                    </a:p>
                  </a:txBody>
                  <a:tcPr marL="0" marR="0" marT="0" marB="0"/>
                </a:tc>
                <a:tc>
                  <a:txBody>
                    <a:bodyPr/>
                    <a:lstStyle/>
                    <a:p>
                      <a:pPr marL="91440" algn="l" rtl="0" fontAlgn="ctr"/>
                      <a:r>
                        <a:rPr lang="en-MY" sz="1800" u="none" strike="noStrike" dirty="0">
                          <a:effectLst/>
                        </a:rPr>
                        <a:t>LITEON</a:t>
                      </a:r>
                      <a:endParaRPr lang="en-MY" sz="1800" b="1" i="0" u="none" strike="noStrike" dirty="0">
                        <a:solidFill>
                          <a:schemeClr val="bg1"/>
                        </a:solidFill>
                        <a:effectLst/>
                        <a:latin typeface="+mn-lt"/>
                      </a:endParaRPr>
                    </a:p>
                  </a:txBody>
                  <a:tcPr marL="0" marR="0" marT="0" marB="0"/>
                </a:tc>
                <a:extLst>
                  <a:ext uri="{0D108BD9-81ED-4DB2-BD59-A6C34878D82A}">
                    <a16:rowId xmlns:a16="http://schemas.microsoft.com/office/drawing/2014/main" val="3852518198"/>
                  </a:ext>
                </a:extLst>
              </a:tr>
              <a:tr h="259244">
                <a:tc>
                  <a:txBody>
                    <a:bodyPr/>
                    <a:lstStyle/>
                    <a:p>
                      <a:pPr marL="91440" algn="l" fontAlgn="t"/>
                      <a:r>
                        <a:rPr lang="en-MY" sz="1400" u="none" strike="noStrike" dirty="0" err="1">
                          <a:effectLst/>
                        </a:rPr>
                        <a:t>Misc</a:t>
                      </a:r>
                      <a:endParaRPr lang="en-MY" sz="1400" b="0" i="0" u="none" strike="noStrike" dirty="0">
                        <a:solidFill>
                          <a:schemeClr val="tx1"/>
                        </a:solidFill>
                        <a:effectLst/>
                        <a:latin typeface="+mn-lt"/>
                      </a:endParaRPr>
                    </a:p>
                  </a:txBody>
                  <a:tcPr marL="0" marR="0" marT="0" marB="0"/>
                </a:tc>
                <a:tc>
                  <a:txBody>
                    <a:bodyPr/>
                    <a:lstStyle/>
                    <a:p>
                      <a:pPr marL="91440" algn="l" fontAlgn="t"/>
                      <a:r>
                        <a:rPr lang="en-US" sz="1400" u="none" strike="noStrike" dirty="0">
                          <a:effectLst/>
                        </a:rPr>
                        <a:t>Do DDR or connectors have a different mfg. process than the Intel CPU?</a:t>
                      </a:r>
                      <a:endParaRPr lang="en-US" sz="1400" b="0" i="0" u="none" strike="noStrike" dirty="0">
                        <a:solidFill>
                          <a:schemeClr val="tx1"/>
                        </a:solidFill>
                        <a:effectLst/>
                        <a:latin typeface="+mn-lt"/>
                      </a:endParaRPr>
                    </a:p>
                  </a:txBody>
                  <a:tcPr marL="0" marR="0" marT="0" marB="0"/>
                </a:tc>
                <a:tc>
                  <a:txBody>
                    <a:bodyPr/>
                    <a:lstStyle/>
                    <a:p>
                      <a:pPr marL="91440" algn="l" fontAlgn="t"/>
                      <a:r>
                        <a:rPr kumimoji="0" lang="en-MY" sz="1400" u="none" strike="noStrike" kern="0" cap="none" spc="0" normalizeH="0" baseline="0" noProof="0" dirty="0">
                          <a:ln>
                            <a:noFill/>
                          </a:ln>
                          <a:effectLst/>
                          <a:uLnTx/>
                          <a:uFillTx/>
                          <a:sym typeface="Intel Clear"/>
                        </a:rPr>
                        <a:t>not answered</a:t>
                      </a:r>
                      <a:endParaRPr lang="en-MY" sz="1400" b="0" i="0" u="none" strike="noStrike" dirty="0">
                        <a:solidFill>
                          <a:schemeClr val="tx1"/>
                        </a:solidFill>
                        <a:effectLst/>
                        <a:latin typeface="+mn-lt"/>
                      </a:endParaRPr>
                    </a:p>
                  </a:txBody>
                  <a:tcPr marL="0" marR="0" marT="0" marB="0"/>
                </a:tc>
                <a:tc>
                  <a:txBody>
                    <a:bodyPr/>
                    <a:lstStyle/>
                    <a:p>
                      <a:pPr marL="91440" algn="l" fontAlgn="t"/>
                      <a:r>
                        <a:rPr kumimoji="0" lang="en-MY" sz="1400" u="none" strike="noStrike" kern="0" cap="none" spc="0" normalizeH="0" baseline="0" noProof="0">
                          <a:ln>
                            <a:noFill/>
                          </a:ln>
                          <a:effectLst/>
                          <a:uLnTx/>
                          <a:uFillTx/>
                          <a:sym typeface="Intel Clear"/>
                        </a:rPr>
                        <a:t>not answered</a:t>
                      </a:r>
                      <a:endParaRPr lang="en-MY" sz="1400" b="0" i="0" u="none" strike="noStrike" dirty="0">
                        <a:solidFill>
                          <a:schemeClr val="tx1"/>
                        </a:solidFill>
                        <a:effectLst/>
                        <a:latin typeface="+mn-lt"/>
                      </a:endParaRPr>
                    </a:p>
                  </a:txBody>
                  <a:tcPr marL="0" marR="0" marT="0" marB="0"/>
                </a:tc>
                <a:tc>
                  <a:txBody>
                    <a:bodyPr/>
                    <a:lstStyle/>
                    <a:p>
                      <a:pPr marL="91440" algn="l" fontAlgn="t"/>
                      <a:r>
                        <a:rPr kumimoji="0" lang="en-MY" sz="1400" u="none" strike="noStrike" kern="0" cap="none" spc="0" normalizeH="0" baseline="0" noProof="0" dirty="0">
                          <a:ln>
                            <a:noFill/>
                          </a:ln>
                          <a:effectLst/>
                          <a:uLnTx/>
                          <a:uFillTx/>
                          <a:sym typeface="Intel Clear"/>
                        </a:rPr>
                        <a:t>Yes</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effectLst/>
                        </a:rPr>
                        <a:t>No</a:t>
                      </a:r>
                      <a:endParaRPr lang="en-MY" sz="1400" b="0" i="0" u="none" strike="noStrike" dirty="0">
                        <a:solidFill>
                          <a:schemeClr val="tx1"/>
                        </a:solidFill>
                        <a:effectLst/>
                        <a:latin typeface="+mn-lt"/>
                      </a:endParaRPr>
                    </a:p>
                  </a:txBody>
                  <a:tcPr marL="0" marR="0" marT="0" marB="0"/>
                </a:tc>
                <a:extLst>
                  <a:ext uri="{0D108BD9-81ED-4DB2-BD59-A6C34878D82A}">
                    <a16:rowId xmlns:a16="http://schemas.microsoft.com/office/drawing/2014/main" val="1476538635"/>
                  </a:ext>
                </a:extLst>
              </a:tr>
              <a:tr h="259244">
                <a:tc>
                  <a:txBody>
                    <a:bodyPr/>
                    <a:lstStyle/>
                    <a:p>
                      <a:pPr marL="91440" algn="l" fontAlgn="t"/>
                      <a:r>
                        <a:rPr lang="en-MY" sz="1400" u="none" strike="noStrike">
                          <a:effectLst/>
                        </a:rPr>
                        <a:t>Heatsink</a:t>
                      </a:r>
                      <a:endParaRPr lang="en-MY" sz="1400" b="0" i="0" u="none" strike="noStrike">
                        <a:solidFill>
                          <a:schemeClr val="tx1"/>
                        </a:solidFill>
                        <a:effectLst/>
                        <a:latin typeface="+mn-lt"/>
                      </a:endParaRPr>
                    </a:p>
                  </a:txBody>
                  <a:tcPr marL="0" marR="0" marT="0" marB="0"/>
                </a:tc>
                <a:tc>
                  <a:txBody>
                    <a:bodyPr/>
                    <a:lstStyle/>
                    <a:p>
                      <a:pPr marL="91440" algn="l" fontAlgn="t"/>
                      <a:r>
                        <a:rPr lang="en-US" sz="1400" u="none" strike="noStrike" dirty="0">
                          <a:effectLst/>
                        </a:rPr>
                        <a:t>How many times during the PCBA assembly process is the socket and package enabled and un-enabled (with a heatsink)?</a:t>
                      </a:r>
                      <a:endParaRPr lang="en-US" sz="1400" b="0" i="0" u="none" strike="noStrike" dirty="0">
                        <a:solidFill>
                          <a:schemeClr val="tx1"/>
                        </a:solidFill>
                        <a:effectLst/>
                        <a:latin typeface="+mn-lt"/>
                      </a:endParaRPr>
                    </a:p>
                  </a:txBody>
                  <a:tcPr marL="0" marR="0" marT="0" marB="0"/>
                </a:tc>
                <a:tc>
                  <a:txBody>
                    <a:bodyPr/>
                    <a:lstStyle/>
                    <a:p>
                      <a:pPr marL="91440" algn="l" fontAlgn="t"/>
                      <a:r>
                        <a:rPr kumimoji="0" lang="en-MY" sz="1400" u="none" strike="noStrike" kern="0" cap="none" spc="0" normalizeH="0" baseline="0" noProof="0" dirty="0">
                          <a:ln>
                            <a:noFill/>
                          </a:ln>
                          <a:effectLst/>
                          <a:uLnTx/>
                          <a:uFillTx/>
                          <a:sym typeface="Intel Clear"/>
                        </a:rPr>
                        <a:t>not answered</a:t>
                      </a:r>
                      <a:endParaRPr lang="en-MY" sz="1400" b="0" i="0" u="none" strike="noStrike" dirty="0">
                        <a:solidFill>
                          <a:schemeClr val="tx1"/>
                        </a:solidFill>
                        <a:effectLst/>
                        <a:latin typeface="+mn-lt"/>
                      </a:endParaRPr>
                    </a:p>
                  </a:txBody>
                  <a:tcPr marL="0" marR="0" marT="0" marB="0"/>
                </a:tc>
                <a:tc>
                  <a:txBody>
                    <a:bodyPr/>
                    <a:lstStyle/>
                    <a:p>
                      <a:pPr marL="91440" algn="l" fontAlgn="t"/>
                      <a:r>
                        <a:rPr kumimoji="0" lang="en-MY" sz="1400" u="none" strike="noStrike" kern="0" cap="none" spc="0" normalizeH="0" baseline="0" noProof="0">
                          <a:ln>
                            <a:noFill/>
                          </a:ln>
                          <a:effectLst/>
                          <a:uLnTx/>
                          <a:uFillTx/>
                          <a:sym typeface="Intel Clear"/>
                        </a:rPr>
                        <a:t>not answered</a:t>
                      </a:r>
                      <a:endParaRPr lang="en-MY" sz="1400" b="0" i="0" u="none" strike="noStrike" dirty="0">
                        <a:solidFill>
                          <a:schemeClr val="tx1"/>
                        </a:solidFill>
                        <a:effectLst/>
                        <a:latin typeface="+mn-lt"/>
                      </a:endParaRPr>
                    </a:p>
                  </a:txBody>
                  <a:tcPr marL="0" marR="0" marT="0" marB="0"/>
                </a:tc>
                <a:tc>
                  <a:txBody>
                    <a:bodyPr/>
                    <a:lstStyle/>
                    <a:p>
                      <a:pPr marL="91440" algn="l" fontAlgn="t"/>
                      <a:r>
                        <a:rPr kumimoji="0" lang="en-MY" sz="1400" u="none" strike="noStrike" kern="0" cap="none" spc="0" normalizeH="0" baseline="0" noProof="0">
                          <a:ln>
                            <a:noFill/>
                          </a:ln>
                          <a:effectLst/>
                          <a:uLnTx/>
                          <a:uFillTx/>
                          <a:sym typeface="Intel Clear"/>
                        </a:rPr>
                        <a:t>Yes</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effectLst/>
                        </a:rPr>
                        <a:t>1x</a:t>
                      </a:r>
                      <a:endParaRPr lang="en-MY" sz="1400" b="0" i="0" u="none" strike="noStrike" dirty="0">
                        <a:solidFill>
                          <a:schemeClr val="tx1"/>
                        </a:solidFill>
                        <a:effectLst/>
                        <a:latin typeface="+mn-lt"/>
                      </a:endParaRPr>
                    </a:p>
                  </a:txBody>
                  <a:tcPr marL="0" marR="0" marT="0" marB="0"/>
                </a:tc>
                <a:extLst>
                  <a:ext uri="{0D108BD9-81ED-4DB2-BD59-A6C34878D82A}">
                    <a16:rowId xmlns:a16="http://schemas.microsoft.com/office/drawing/2014/main" val="161112178"/>
                  </a:ext>
                </a:extLst>
              </a:tr>
              <a:tr h="259244">
                <a:tc>
                  <a:txBody>
                    <a:bodyPr/>
                    <a:lstStyle/>
                    <a:p>
                      <a:pPr marL="91440" algn="l" fontAlgn="t"/>
                      <a:r>
                        <a:rPr lang="en-MY" sz="1400" u="none" strike="noStrike">
                          <a:effectLst/>
                        </a:rPr>
                        <a:t>Shipping</a:t>
                      </a:r>
                      <a:endParaRPr lang="en-MY" sz="1400" b="0" i="0" u="none" strike="noStrike">
                        <a:solidFill>
                          <a:schemeClr val="tx1"/>
                        </a:solidFill>
                        <a:effectLst/>
                        <a:latin typeface="+mn-lt"/>
                      </a:endParaRPr>
                    </a:p>
                  </a:txBody>
                  <a:tcPr marL="0" marR="0" marT="0" marB="0"/>
                </a:tc>
                <a:tc>
                  <a:txBody>
                    <a:bodyPr/>
                    <a:lstStyle/>
                    <a:p>
                      <a:pPr marL="91440" algn="l" fontAlgn="t"/>
                      <a:r>
                        <a:rPr lang="en-US" sz="1400" u="none" strike="noStrike">
                          <a:effectLst/>
                        </a:rPr>
                        <a:t>How do you ship your boards out of the factory (with respect to the CPU and Heatsink installed)?</a:t>
                      </a:r>
                      <a:endParaRPr lang="en-US" sz="1400" b="0" i="0" u="none" strike="noStrike">
                        <a:solidFill>
                          <a:schemeClr val="tx1"/>
                        </a:solidFill>
                        <a:effectLst/>
                        <a:latin typeface="+mn-lt"/>
                      </a:endParaRPr>
                    </a:p>
                  </a:txBody>
                  <a:tcPr marL="0" marR="0" marT="0" marB="0"/>
                </a:tc>
                <a:tc>
                  <a:txBody>
                    <a:bodyPr/>
                    <a:lstStyle/>
                    <a:p>
                      <a:pPr marL="91440" algn="l" fontAlgn="t"/>
                      <a:r>
                        <a:rPr kumimoji="0" lang="en-MY" sz="1400" u="none" strike="noStrike" kern="0" cap="none" spc="0" normalizeH="0" baseline="0" noProof="0">
                          <a:ln>
                            <a:noFill/>
                          </a:ln>
                          <a:effectLst/>
                          <a:uLnTx/>
                          <a:uFillTx/>
                          <a:sym typeface="Intel Clear"/>
                        </a:rPr>
                        <a:t>not answered</a:t>
                      </a:r>
                      <a:endParaRPr lang="en-MY" sz="1400" b="0" i="0" u="none" strike="noStrike">
                        <a:solidFill>
                          <a:schemeClr val="tx1"/>
                        </a:solidFill>
                        <a:effectLst/>
                        <a:latin typeface="+mn-lt"/>
                      </a:endParaRPr>
                    </a:p>
                  </a:txBody>
                  <a:tcPr marL="0" marR="0" marT="0" marB="0"/>
                </a:tc>
                <a:tc>
                  <a:txBody>
                    <a:bodyPr/>
                    <a:lstStyle/>
                    <a:p>
                      <a:pPr marL="91440" algn="l" fontAlgn="t"/>
                      <a:r>
                        <a:rPr kumimoji="0" lang="en-MY" sz="1400" u="none" strike="noStrike" kern="0" cap="none" spc="0" normalizeH="0" baseline="0" noProof="0">
                          <a:ln>
                            <a:noFill/>
                          </a:ln>
                          <a:effectLst/>
                          <a:uLnTx/>
                          <a:uFillTx/>
                          <a:sym typeface="Intel Clear"/>
                        </a:rPr>
                        <a:t>not answered</a:t>
                      </a:r>
                      <a:endParaRPr lang="en-MY" sz="1400" b="0" i="0" u="none" strike="noStrike" dirty="0">
                        <a:solidFill>
                          <a:schemeClr val="tx1"/>
                        </a:solidFill>
                        <a:effectLst/>
                        <a:latin typeface="+mn-lt"/>
                      </a:endParaRPr>
                    </a:p>
                  </a:txBody>
                  <a:tcPr marL="0" marR="0" marT="0" marB="0"/>
                </a:tc>
                <a:tc>
                  <a:txBody>
                    <a:bodyPr/>
                    <a:lstStyle/>
                    <a:p>
                      <a:pPr marL="91440" marR="0" lvl="0" indent="0" algn="l" defTabSz="609600" eaLnBrk="1" fontAlgn="t" latinLnBrk="0" hangingPunct="1">
                        <a:lnSpc>
                          <a:spcPct val="100000"/>
                        </a:lnSpc>
                        <a:spcBef>
                          <a:spcPts val="0"/>
                        </a:spcBef>
                        <a:spcAft>
                          <a:spcPts val="0"/>
                        </a:spcAft>
                        <a:buClrTx/>
                        <a:buSzTx/>
                        <a:buFontTx/>
                        <a:buNone/>
                        <a:tabLst/>
                        <a:defRPr/>
                      </a:pPr>
                      <a:r>
                        <a:rPr lang="en-MY" sz="1400" u="none" strike="noStrike" dirty="0">
                          <a:effectLst/>
                        </a:rPr>
                        <a:t>Without CPU</a:t>
                      </a:r>
                      <a:endParaRPr lang="en-MY" sz="1400" b="0" i="0" u="none" strike="noStrike" dirty="0">
                        <a:solidFill>
                          <a:schemeClr val="tx1"/>
                        </a:solidFill>
                        <a:effectLst/>
                        <a:latin typeface="+mn-lt"/>
                      </a:endParaRPr>
                    </a:p>
                  </a:txBody>
                  <a:tcPr marL="0" marR="0" marT="0" marB="0"/>
                </a:tc>
                <a:tc>
                  <a:txBody>
                    <a:bodyPr/>
                    <a:lstStyle/>
                    <a:p>
                      <a:pPr marL="91440" algn="l" fontAlgn="t"/>
                      <a:r>
                        <a:rPr lang="en-MY" sz="1400" u="none" strike="noStrike" dirty="0">
                          <a:effectLst/>
                        </a:rPr>
                        <a:t>Without CPU</a:t>
                      </a:r>
                      <a:endParaRPr lang="en-MY" sz="1400" b="0" i="0" u="none" strike="noStrike" dirty="0">
                        <a:solidFill>
                          <a:schemeClr val="tx1"/>
                        </a:solidFill>
                        <a:effectLst/>
                        <a:latin typeface="+mn-lt"/>
                      </a:endParaRPr>
                    </a:p>
                  </a:txBody>
                  <a:tcPr marL="0" marR="0" marT="0" marB="0"/>
                </a:tc>
                <a:extLst>
                  <a:ext uri="{0D108BD9-81ED-4DB2-BD59-A6C34878D82A}">
                    <a16:rowId xmlns:a16="http://schemas.microsoft.com/office/drawing/2014/main" val="4048944144"/>
                  </a:ext>
                </a:extLst>
              </a:tr>
              <a:tr h="259244">
                <a:tc rowSpan="2">
                  <a:txBody>
                    <a:bodyPr/>
                    <a:lstStyle/>
                    <a:p>
                      <a:pPr marL="91440" algn="l" fontAlgn="t"/>
                      <a:r>
                        <a:rPr lang="en-MY" sz="1400" u="none" strike="noStrike" dirty="0">
                          <a:effectLst/>
                        </a:rPr>
                        <a:t>MAS / Video</a:t>
                      </a:r>
                      <a:endParaRPr lang="en-MY" sz="1400" b="0" i="0" u="none" strike="noStrike" dirty="0">
                        <a:solidFill>
                          <a:schemeClr val="tx1"/>
                        </a:solidFill>
                        <a:effectLst/>
                        <a:latin typeface="+mn-lt"/>
                      </a:endParaRPr>
                    </a:p>
                  </a:txBody>
                  <a:tcPr marL="0" marR="0" marT="0" marB="0"/>
                </a:tc>
                <a:tc>
                  <a:txBody>
                    <a:bodyPr/>
                    <a:lstStyle/>
                    <a:p>
                      <a:pPr marL="91440" algn="l" fontAlgn="t"/>
                      <a:r>
                        <a:rPr lang="en-US" sz="1400" u="none" strike="noStrike">
                          <a:effectLst/>
                        </a:rPr>
                        <a:t>Do you find the Desktop MAS helpful to understand the PCBA &amp; System Assembly info and requirements?</a:t>
                      </a:r>
                      <a:endParaRPr lang="en-US" sz="1400" b="0" i="0" u="none" strike="noStrike">
                        <a:solidFill>
                          <a:schemeClr val="tx1"/>
                        </a:solidFill>
                        <a:effectLst/>
                        <a:latin typeface="+mn-lt"/>
                      </a:endParaRPr>
                    </a:p>
                  </a:txBody>
                  <a:tcPr marL="0" marR="0" marT="0" marB="0"/>
                </a:tc>
                <a:tc>
                  <a:txBody>
                    <a:bodyPr/>
                    <a:lstStyle/>
                    <a:p>
                      <a:pPr marL="91440" algn="l" fontAlgn="t"/>
                      <a:r>
                        <a:rPr kumimoji="0" lang="en-MY" sz="1400" u="none" strike="noStrike" kern="0" cap="none" spc="0" normalizeH="0" baseline="0" noProof="0">
                          <a:ln>
                            <a:noFill/>
                          </a:ln>
                          <a:effectLst/>
                          <a:uLnTx/>
                          <a:uFillTx/>
                          <a:sym typeface="Intel Clear"/>
                        </a:rPr>
                        <a:t>not answered</a:t>
                      </a:r>
                      <a:endParaRPr lang="en-MY" sz="1400" b="0" i="0" u="none" strike="noStrike">
                        <a:solidFill>
                          <a:schemeClr val="tx1"/>
                        </a:solidFill>
                        <a:effectLst/>
                        <a:latin typeface="+mn-lt"/>
                      </a:endParaRPr>
                    </a:p>
                  </a:txBody>
                  <a:tcPr marL="0" marR="0" marT="0" marB="0"/>
                </a:tc>
                <a:tc>
                  <a:txBody>
                    <a:bodyPr/>
                    <a:lstStyle/>
                    <a:p>
                      <a:pPr marL="91440" algn="l" fontAlgn="t"/>
                      <a:r>
                        <a:rPr kumimoji="0" lang="en-MY" sz="1400" u="none" strike="noStrike" kern="0" cap="none" spc="0" normalizeH="0" baseline="0" noProof="0">
                          <a:ln>
                            <a:noFill/>
                          </a:ln>
                          <a:effectLst/>
                          <a:uLnTx/>
                          <a:uFillTx/>
                          <a:sym typeface="Intel Clear"/>
                        </a:rPr>
                        <a:t>not answered</a:t>
                      </a:r>
                      <a:endParaRPr lang="en-MY" sz="1400" b="0" i="0" u="none" strike="noStrike" dirty="0">
                        <a:solidFill>
                          <a:schemeClr val="tx1"/>
                        </a:solidFill>
                        <a:effectLst/>
                        <a:latin typeface="+mn-lt"/>
                      </a:endParaRPr>
                    </a:p>
                  </a:txBody>
                  <a:tcPr marL="0" marR="0" marT="0" marB="0"/>
                </a:tc>
                <a:tc>
                  <a:txBody>
                    <a:bodyPr/>
                    <a:lstStyle/>
                    <a:p>
                      <a:pPr marL="91440" algn="l" fontAlgn="t"/>
                      <a:r>
                        <a:rPr kumimoji="0" lang="en-MY" sz="1400" u="none" strike="noStrike" kern="0" cap="none" spc="0" normalizeH="0" baseline="0" noProof="0">
                          <a:ln>
                            <a:noFill/>
                          </a:ln>
                          <a:effectLst/>
                          <a:uLnTx/>
                          <a:uFillTx/>
                          <a:sym typeface="Intel Clear"/>
                        </a:rPr>
                        <a:t>Yes</a:t>
                      </a:r>
                      <a:endParaRPr lang="en-MY" sz="1400" b="0" i="0" u="none" strike="noStrike" dirty="0">
                        <a:solidFill>
                          <a:schemeClr val="tx1"/>
                        </a:solidFill>
                        <a:effectLst/>
                        <a:latin typeface="+mn-lt"/>
                      </a:endParaRPr>
                    </a:p>
                  </a:txBody>
                  <a:tcPr marL="0" marR="0" marT="0" marB="0"/>
                </a:tc>
                <a:tc>
                  <a:txBody>
                    <a:bodyPr/>
                    <a:lstStyle/>
                    <a:p>
                      <a:pPr marL="91440" algn="l" fontAlgn="t"/>
                      <a:r>
                        <a:rPr kumimoji="0" lang="en-MY" sz="1400" u="none" strike="noStrike" kern="0" cap="none" spc="0" normalizeH="0" baseline="0" noProof="0">
                          <a:ln>
                            <a:noFill/>
                          </a:ln>
                          <a:effectLst/>
                          <a:uLnTx/>
                          <a:uFillTx/>
                          <a:sym typeface="Intel Clear"/>
                        </a:rPr>
                        <a:t>Yes</a:t>
                      </a:r>
                      <a:endParaRPr lang="en-MY" sz="1400" b="0" i="0" u="none" strike="noStrike" dirty="0">
                        <a:solidFill>
                          <a:schemeClr val="tx1"/>
                        </a:solidFill>
                        <a:effectLst/>
                        <a:latin typeface="+mn-lt"/>
                      </a:endParaRPr>
                    </a:p>
                  </a:txBody>
                  <a:tcPr marL="0" marR="0" marT="0" marB="0"/>
                </a:tc>
                <a:extLst>
                  <a:ext uri="{0D108BD9-81ED-4DB2-BD59-A6C34878D82A}">
                    <a16:rowId xmlns:a16="http://schemas.microsoft.com/office/drawing/2014/main" val="504902122"/>
                  </a:ext>
                </a:extLst>
              </a:tr>
              <a:tr h="259244">
                <a:tc vMerge="1">
                  <a:txBody>
                    <a:bodyPr/>
                    <a:lstStyle/>
                    <a:p>
                      <a:endParaRPr lang="en-MY"/>
                    </a:p>
                  </a:txBody>
                  <a:tcPr/>
                </a:tc>
                <a:tc>
                  <a:txBody>
                    <a:bodyPr/>
                    <a:lstStyle/>
                    <a:p>
                      <a:pPr marL="91440" algn="l" fontAlgn="t"/>
                      <a:r>
                        <a:rPr lang="en-US" sz="1400" u="none" strike="noStrike" dirty="0">
                          <a:effectLst/>
                        </a:rPr>
                        <a:t>Do you think a System Assembly video (provided by Intel) is required or optional?</a:t>
                      </a:r>
                      <a:endParaRPr lang="en-US" sz="1400" b="0" i="0" u="none" strike="noStrike" dirty="0">
                        <a:solidFill>
                          <a:schemeClr val="tx1"/>
                        </a:solidFill>
                        <a:effectLst/>
                        <a:latin typeface="+mn-lt"/>
                      </a:endParaRPr>
                    </a:p>
                  </a:txBody>
                  <a:tcPr marL="0" marR="0" marT="0" marB="0"/>
                </a:tc>
                <a:tc>
                  <a:txBody>
                    <a:bodyPr/>
                    <a:lstStyle/>
                    <a:p>
                      <a:pPr marL="91440" algn="l" fontAlgn="t"/>
                      <a:r>
                        <a:rPr kumimoji="0" lang="en-MY" sz="1400" u="none" strike="noStrike" kern="0" cap="none" spc="0" normalizeH="0" baseline="0" noProof="0">
                          <a:ln>
                            <a:noFill/>
                          </a:ln>
                          <a:effectLst/>
                          <a:uLnTx/>
                          <a:uFillTx/>
                          <a:sym typeface="Intel Clear"/>
                        </a:rPr>
                        <a:t>not answered</a:t>
                      </a:r>
                      <a:endParaRPr lang="en-MY" sz="1400" b="0" i="0" u="none" strike="noStrike" dirty="0">
                        <a:solidFill>
                          <a:schemeClr val="tx1"/>
                        </a:solidFill>
                        <a:effectLst/>
                        <a:latin typeface="+mn-lt"/>
                      </a:endParaRPr>
                    </a:p>
                  </a:txBody>
                  <a:tcPr marL="0" marR="0" marT="0" marB="0"/>
                </a:tc>
                <a:tc>
                  <a:txBody>
                    <a:bodyPr/>
                    <a:lstStyle/>
                    <a:p>
                      <a:pPr marL="91440" algn="l" fontAlgn="t"/>
                      <a:r>
                        <a:rPr kumimoji="0" lang="en-MY" sz="1400" u="none" strike="noStrike" kern="0" cap="none" spc="0" normalizeH="0" baseline="0" noProof="0" dirty="0">
                          <a:ln>
                            <a:noFill/>
                          </a:ln>
                          <a:effectLst/>
                          <a:uLnTx/>
                          <a:uFillTx/>
                          <a:sym typeface="Intel Clear"/>
                        </a:rPr>
                        <a:t>not answered</a:t>
                      </a:r>
                      <a:endParaRPr lang="en-MY" sz="1400" b="0" i="0" u="none" strike="noStrike" dirty="0">
                        <a:solidFill>
                          <a:schemeClr val="tx1"/>
                        </a:solidFill>
                        <a:effectLst/>
                        <a:latin typeface="+mn-lt"/>
                      </a:endParaRPr>
                    </a:p>
                  </a:txBody>
                  <a:tcPr marL="0" marR="0" marT="0" marB="0"/>
                </a:tc>
                <a:tc>
                  <a:txBody>
                    <a:bodyPr/>
                    <a:lstStyle/>
                    <a:p>
                      <a:pPr marL="91440" algn="l" fontAlgn="t"/>
                      <a:r>
                        <a:rPr kumimoji="0" lang="en-MY" sz="1400" u="none" strike="noStrike" kern="0" cap="none" spc="0" normalizeH="0" baseline="0" noProof="0" dirty="0">
                          <a:ln>
                            <a:noFill/>
                          </a:ln>
                          <a:effectLst/>
                          <a:uLnTx/>
                          <a:uFillTx/>
                          <a:sym typeface="Intel Clear"/>
                        </a:rPr>
                        <a:t>Yes</a:t>
                      </a:r>
                      <a:endParaRPr lang="en-MY" sz="1400" b="0" i="0" u="none" strike="noStrike" dirty="0">
                        <a:solidFill>
                          <a:schemeClr val="tx1"/>
                        </a:solidFill>
                        <a:effectLst/>
                        <a:latin typeface="+mn-lt"/>
                      </a:endParaRPr>
                    </a:p>
                  </a:txBody>
                  <a:tcPr marL="0" marR="0" marT="0" marB="0"/>
                </a:tc>
                <a:tc>
                  <a:txBody>
                    <a:bodyPr/>
                    <a:lstStyle/>
                    <a:p>
                      <a:pPr marL="91440" algn="l" fontAlgn="t"/>
                      <a:r>
                        <a:rPr kumimoji="0" lang="en-MY" sz="1400" u="none" strike="noStrike" kern="0" cap="none" spc="0" normalizeH="0" baseline="0" noProof="0" dirty="0">
                          <a:ln>
                            <a:noFill/>
                          </a:ln>
                          <a:effectLst/>
                          <a:uLnTx/>
                          <a:uFillTx/>
                          <a:sym typeface="Intel Clear"/>
                        </a:rPr>
                        <a:t>Yes</a:t>
                      </a:r>
                      <a:endParaRPr lang="en-MY" sz="1400" b="0" i="0" u="none" strike="noStrike" dirty="0">
                        <a:solidFill>
                          <a:schemeClr val="tx1"/>
                        </a:solidFill>
                        <a:effectLst/>
                        <a:latin typeface="+mn-lt"/>
                      </a:endParaRPr>
                    </a:p>
                  </a:txBody>
                  <a:tcPr marL="0" marR="0" marT="0" marB="0"/>
                </a:tc>
                <a:extLst>
                  <a:ext uri="{0D108BD9-81ED-4DB2-BD59-A6C34878D82A}">
                    <a16:rowId xmlns:a16="http://schemas.microsoft.com/office/drawing/2014/main" val="2963251170"/>
                  </a:ext>
                </a:extLst>
              </a:tr>
            </a:tbl>
          </a:graphicData>
        </a:graphic>
      </p:graphicFrame>
      <p:sp>
        <p:nvSpPr>
          <p:cNvPr id="5" name="Rectangle: Rounded Corners 4">
            <a:extLst>
              <a:ext uri="{FF2B5EF4-FFF2-40B4-BE49-F238E27FC236}">
                <a16:creationId xmlns:a16="http://schemas.microsoft.com/office/drawing/2014/main" id="{D33B29D6-63FD-42C8-AF6F-A2222FDE9B42}"/>
              </a:ext>
            </a:extLst>
          </p:cNvPr>
          <p:cNvSpPr/>
          <p:nvPr/>
        </p:nvSpPr>
        <p:spPr>
          <a:xfrm>
            <a:off x="135468" y="4950209"/>
            <a:ext cx="11444816"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Customers find the Desktop MAS helpful and think a System Assembly video is required (customer prefer actual operator performing not animated)</a:t>
            </a:r>
          </a:p>
        </p:txBody>
      </p:sp>
      <p:sp>
        <p:nvSpPr>
          <p:cNvPr id="6" name="Action Button: Go Home 5">
            <a:hlinkClick r:id="rId2" action="ppaction://hlinksldjump" highlightClick="1"/>
            <a:extLst>
              <a:ext uri="{FF2B5EF4-FFF2-40B4-BE49-F238E27FC236}">
                <a16:creationId xmlns:a16="http://schemas.microsoft.com/office/drawing/2014/main" id="{431485F0-EA5D-4347-9A2E-E2AE7E91750B}"/>
              </a:ext>
            </a:extLst>
          </p:cNvPr>
          <p:cNvSpPr/>
          <p:nvPr/>
        </p:nvSpPr>
        <p:spPr>
          <a:xfrm>
            <a:off x="11399520" y="162560"/>
            <a:ext cx="487680" cy="451311"/>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42115891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4">
            <a:extLst>
              <a:ext uri="{FF2B5EF4-FFF2-40B4-BE49-F238E27FC236}">
                <a16:creationId xmlns:a16="http://schemas.microsoft.com/office/drawing/2014/main" id="{E9315576-9792-4CDC-AB21-DB36F2E1F13A}"/>
              </a:ext>
            </a:extLst>
          </p:cNvPr>
          <p:cNvGraphicFramePr>
            <a:graphicFrameLocks noGrp="1"/>
          </p:cNvGraphicFramePr>
          <p:nvPr>
            <p:extLst>
              <p:ext uri="{D42A27DB-BD31-4B8C-83A1-F6EECF244321}">
                <p14:modId xmlns:p14="http://schemas.microsoft.com/office/powerpoint/2010/main" val="337776522"/>
              </p:ext>
            </p:extLst>
          </p:nvPr>
        </p:nvGraphicFramePr>
        <p:xfrm>
          <a:off x="325120" y="374226"/>
          <a:ext cx="11023600" cy="457200"/>
        </p:xfrm>
        <a:graphic>
          <a:graphicData uri="http://schemas.openxmlformats.org/drawingml/2006/table">
            <a:tbl>
              <a:tblPr firstRow="1" bandRow="1">
                <a:tableStyleId>{5940675A-B579-460E-94D1-54222C63F5DA}</a:tableStyleId>
              </a:tblPr>
              <a:tblGrid>
                <a:gridCol w="4815840">
                  <a:extLst>
                    <a:ext uri="{9D8B030D-6E8A-4147-A177-3AD203B41FA5}">
                      <a16:colId xmlns:a16="http://schemas.microsoft.com/office/drawing/2014/main" val="1809939556"/>
                    </a:ext>
                  </a:extLst>
                </a:gridCol>
                <a:gridCol w="6207760">
                  <a:extLst>
                    <a:ext uri="{9D8B030D-6E8A-4147-A177-3AD203B41FA5}">
                      <a16:colId xmlns:a16="http://schemas.microsoft.com/office/drawing/2014/main" val="2219818289"/>
                    </a:ext>
                  </a:extLst>
                </a:gridCol>
              </a:tblGrid>
              <a:tr h="370840">
                <a:tc>
                  <a:txBody>
                    <a:bodyPr/>
                    <a:lstStyle/>
                    <a:p>
                      <a:pPr algn="ctr"/>
                      <a:r>
                        <a:rPr lang="en-US" sz="2400" b="1" dirty="0">
                          <a:solidFill>
                            <a:schemeClr val="tx2"/>
                          </a:solidFill>
                          <a:effectLst>
                            <a:glow rad="228600">
                              <a:schemeClr val="accent6">
                                <a:satMod val="175000"/>
                                <a:alpha val="40000"/>
                              </a:schemeClr>
                            </a:glow>
                          </a:effectLst>
                        </a:rPr>
                        <a:t>Socket-H5 (CML-S/RKL-S)</a:t>
                      </a:r>
                      <a:endParaRPr lang="en-MY" sz="2400" b="1" dirty="0">
                        <a:solidFill>
                          <a:schemeClr val="tx2"/>
                        </a:solidFill>
                        <a:effectLst>
                          <a:glow rad="228600">
                            <a:schemeClr val="accent6">
                              <a:satMod val="175000"/>
                              <a:alpha val="40000"/>
                            </a:schemeClr>
                          </a:glow>
                        </a:effectLs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2"/>
                          </a:solidFill>
                          <a:effectLst>
                            <a:glow rad="228600">
                              <a:schemeClr val="accent6">
                                <a:satMod val="175000"/>
                                <a:alpha val="40000"/>
                              </a:schemeClr>
                            </a:glow>
                          </a:effectLst>
                        </a:rPr>
                        <a:t>Socket-V (ADL-S)</a:t>
                      </a:r>
                      <a:endParaRPr lang="en-MY" sz="2400" b="1" dirty="0">
                        <a:solidFill>
                          <a:schemeClr val="tx2"/>
                        </a:solidFill>
                        <a:effectLst>
                          <a:glow rad="228600">
                            <a:schemeClr val="accent6">
                              <a:satMod val="175000"/>
                              <a:alpha val="40000"/>
                            </a:schemeClr>
                          </a:glow>
                        </a:effectLs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87069952"/>
                  </a:ext>
                </a:extLst>
              </a:tr>
            </a:tbl>
          </a:graphicData>
        </a:graphic>
      </p:graphicFrame>
      <p:sp>
        <p:nvSpPr>
          <p:cNvPr id="7" name="Rectangle 6">
            <a:extLst>
              <a:ext uri="{FF2B5EF4-FFF2-40B4-BE49-F238E27FC236}">
                <a16:creationId xmlns:a16="http://schemas.microsoft.com/office/drawing/2014/main" id="{DF382545-73EC-42A2-91EC-32C9A24425A5}"/>
              </a:ext>
            </a:extLst>
          </p:cNvPr>
          <p:cNvSpPr/>
          <p:nvPr/>
        </p:nvSpPr>
        <p:spPr>
          <a:xfrm>
            <a:off x="193040" y="783500"/>
            <a:ext cx="6517046" cy="547793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 name="Rectangle 7">
            <a:extLst>
              <a:ext uri="{FF2B5EF4-FFF2-40B4-BE49-F238E27FC236}">
                <a16:creationId xmlns:a16="http://schemas.microsoft.com/office/drawing/2014/main" id="{B3C737D5-E13C-4A56-9A81-9323976F9BE1}"/>
              </a:ext>
            </a:extLst>
          </p:cNvPr>
          <p:cNvSpPr/>
          <p:nvPr/>
        </p:nvSpPr>
        <p:spPr>
          <a:xfrm>
            <a:off x="6899818" y="786660"/>
            <a:ext cx="4967062" cy="5477934"/>
          </a:xfrm>
          <a:prstGeom prst="rect">
            <a:avLst/>
          </a:prstGeom>
          <a:solidFill>
            <a:schemeClr val="accent2">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5" name="Picture 4">
            <a:extLst>
              <a:ext uri="{FF2B5EF4-FFF2-40B4-BE49-F238E27FC236}">
                <a16:creationId xmlns:a16="http://schemas.microsoft.com/office/drawing/2014/main" id="{AA6E859E-0D43-43E3-9E4E-A7DD6501E349}"/>
              </a:ext>
            </a:extLst>
          </p:cNvPr>
          <p:cNvPicPr>
            <a:picLocks noChangeAspect="1"/>
          </p:cNvPicPr>
          <p:nvPr/>
        </p:nvPicPr>
        <p:blipFill>
          <a:blip r:embed="rId2"/>
          <a:stretch>
            <a:fillRect/>
          </a:stretch>
        </p:blipFill>
        <p:spPr>
          <a:xfrm>
            <a:off x="325120" y="936410"/>
            <a:ext cx="6125886" cy="4737692"/>
          </a:xfrm>
          <a:prstGeom prst="rect">
            <a:avLst/>
          </a:prstGeom>
        </p:spPr>
      </p:pic>
      <p:pic>
        <p:nvPicPr>
          <p:cNvPr id="10" name="Picture 9">
            <a:extLst>
              <a:ext uri="{FF2B5EF4-FFF2-40B4-BE49-F238E27FC236}">
                <a16:creationId xmlns:a16="http://schemas.microsoft.com/office/drawing/2014/main" id="{D27216B3-1E8B-4B89-9F4B-85B20ADE8D3E}"/>
              </a:ext>
            </a:extLst>
          </p:cNvPr>
          <p:cNvPicPr>
            <a:picLocks noChangeAspect="1"/>
          </p:cNvPicPr>
          <p:nvPr/>
        </p:nvPicPr>
        <p:blipFill>
          <a:blip r:embed="rId3"/>
          <a:stretch>
            <a:fillRect/>
          </a:stretch>
        </p:blipFill>
        <p:spPr>
          <a:xfrm>
            <a:off x="6967179" y="936410"/>
            <a:ext cx="4612193" cy="4620186"/>
          </a:xfrm>
          <a:prstGeom prst="rect">
            <a:avLst/>
          </a:prstGeom>
        </p:spPr>
      </p:pic>
      <p:grpSp>
        <p:nvGrpSpPr>
          <p:cNvPr id="31" name="Group 30">
            <a:extLst>
              <a:ext uri="{FF2B5EF4-FFF2-40B4-BE49-F238E27FC236}">
                <a16:creationId xmlns:a16="http://schemas.microsoft.com/office/drawing/2014/main" id="{8A98BBE5-3143-461E-931A-A96135E523DF}"/>
              </a:ext>
            </a:extLst>
          </p:cNvPr>
          <p:cNvGrpSpPr/>
          <p:nvPr/>
        </p:nvGrpSpPr>
        <p:grpSpPr>
          <a:xfrm>
            <a:off x="3812650" y="1629220"/>
            <a:ext cx="2739225" cy="2974585"/>
            <a:chOff x="3812650" y="1629220"/>
            <a:chExt cx="2739225" cy="2974585"/>
          </a:xfrm>
        </p:grpSpPr>
        <p:cxnSp>
          <p:nvCxnSpPr>
            <p:cNvPr id="12" name="Straight Arrow Connector 11">
              <a:extLst>
                <a:ext uri="{FF2B5EF4-FFF2-40B4-BE49-F238E27FC236}">
                  <a16:creationId xmlns:a16="http://schemas.microsoft.com/office/drawing/2014/main" id="{BD2CB08B-C238-46E3-BFFE-FF70757AF4BB}"/>
                </a:ext>
              </a:extLst>
            </p:cNvPr>
            <p:cNvCxnSpPr/>
            <p:nvPr/>
          </p:nvCxnSpPr>
          <p:spPr>
            <a:xfrm>
              <a:off x="6361044" y="1916264"/>
              <a:ext cx="0" cy="2687541"/>
            </a:xfrm>
            <a:prstGeom prst="straightConnector1">
              <a:avLst/>
            </a:prstGeom>
            <a:ln w="28575">
              <a:headEnd type="triangle" w="med" len="med"/>
              <a:tailEnd type="triangle" w="med" len="med"/>
            </a:ln>
          </p:spPr>
          <p:style>
            <a:lnRef idx="1">
              <a:schemeClr val="accent4"/>
            </a:lnRef>
            <a:fillRef idx="0">
              <a:schemeClr val="accent4"/>
            </a:fillRef>
            <a:effectRef idx="0">
              <a:schemeClr val="accent4"/>
            </a:effectRef>
            <a:fontRef idx="minor">
              <a:schemeClr val="tx1"/>
            </a:fontRef>
          </p:style>
        </p:cxnSp>
        <p:cxnSp>
          <p:nvCxnSpPr>
            <p:cNvPr id="13" name="Straight Arrow Connector 12">
              <a:extLst>
                <a:ext uri="{FF2B5EF4-FFF2-40B4-BE49-F238E27FC236}">
                  <a16:creationId xmlns:a16="http://schemas.microsoft.com/office/drawing/2014/main" id="{0CD50966-7B28-4A1B-9ECE-B1D5DCE40D2A}"/>
                </a:ext>
              </a:extLst>
            </p:cNvPr>
            <p:cNvCxnSpPr>
              <a:cxnSpLocks/>
            </p:cNvCxnSpPr>
            <p:nvPr/>
          </p:nvCxnSpPr>
          <p:spPr>
            <a:xfrm>
              <a:off x="6096000" y="2178696"/>
              <a:ext cx="0" cy="1963934"/>
            </a:xfrm>
            <a:prstGeom prst="straightConnector1">
              <a:avLst/>
            </a:prstGeom>
            <a:ln w="28575">
              <a:solidFill>
                <a:srgbClr val="FF0000"/>
              </a:solidFill>
              <a:headEnd type="triangle" w="med" len="med"/>
              <a:tailEnd type="triangle" w="med" len="med"/>
            </a:ln>
          </p:spPr>
          <p:style>
            <a:lnRef idx="1">
              <a:schemeClr val="accent4"/>
            </a:lnRef>
            <a:fillRef idx="0">
              <a:schemeClr val="accent4"/>
            </a:fillRef>
            <a:effectRef idx="0">
              <a:schemeClr val="accent4"/>
            </a:effectRef>
            <a:fontRef idx="minor">
              <a:schemeClr val="tx1"/>
            </a:fontRef>
          </p:style>
        </p:cxnSp>
        <p:cxnSp>
          <p:nvCxnSpPr>
            <p:cNvPr id="15" name="Straight Arrow Connector 14">
              <a:extLst>
                <a:ext uri="{FF2B5EF4-FFF2-40B4-BE49-F238E27FC236}">
                  <a16:creationId xmlns:a16="http://schemas.microsoft.com/office/drawing/2014/main" id="{55B8A569-5007-427B-A411-5B410440A3DB}"/>
                </a:ext>
              </a:extLst>
            </p:cNvPr>
            <p:cNvCxnSpPr>
              <a:cxnSpLocks/>
            </p:cNvCxnSpPr>
            <p:nvPr/>
          </p:nvCxnSpPr>
          <p:spPr>
            <a:xfrm>
              <a:off x="4260574" y="1916264"/>
              <a:ext cx="2291301" cy="0"/>
            </a:xfrm>
            <a:prstGeom prst="straightConnector1">
              <a:avLst/>
            </a:prstGeom>
            <a:ln w="28575">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17" name="Straight Arrow Connector 16">
              <a:extLst>
                <a:ext uri="{FF2B5EF4-FFF2-40B4-BE49-F238E27FC236}">
                  <a16:creationId xmlns:a16="http://schemas.microsoft.com/office/drawing/2014/main" id="{A27D5A63-94E6-44FB-A590-BD234745A2FB}"/>
                </a:ext>
              </a:extLst>
            </p:cNvPr>
            <p:cNvCxnSpPr>
              <a:cxnSpLocks/>
            </p:cNvCxnSpPr>
            <p:nvPr/>
          </p:nvCxnSpPr>
          <p:spPr>
            <a:xfrm>
              <a:off x="4159705" y="4533571"/>
              <a:ext cx="2291301" cy="0"/>
            </a:xfrm>
            <a:prstGeom prst="straightConnector1">
              <a:avLst/>
            </a:prstGeom>
            <a:ln w="28575">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18" name="Straight Arrow Connector 17">
              <a:extLst>
                <a:ext uri="{FF2B5EF4-FFF2-40B4-BE49-F238E27FC236}">
                  <a16:creationId xmlns:a16="http://schemas.microsoft.com/office/drawing/2014/main" id="{09DA4EEA-B0B9-4033-8995-7BEA0EDB247C}"/>
                </a:ext>
              </a:extLst>
            </p:cNvPr>
            <p:cNvCxnSpPr>
              <a:cxnSpLocks/>
            </p:cNvCxnSpPr>
            <p:nvPr/>
          </p:nvCxnSpPr>
          <p:spPr>
            <a:xfrm>
              <a:off x="3812650" y="4222140"/>
              <a:ext cx="2291301" cy="0"/>
            </a:xfrm>
            <a:prstGeom prst="straightConnector1">
              <a:avLst/>
            </a:prstGeom>
            <a:ln w="28575">
              <a:solidFill>
                <a:srgbClr val="FF0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19" name="Straight Arrow Connector 18">
              <a:extLst>
                <a:ext uri="{FF2B5EF4-FFF2-40B4-BE49-F238E27FC236}">
                  <a16:creationId xmlns:a16="http://schemas.microsoft.com/office/drawing/2014/main" id="{769522BE-DFA7-4E4A-B393-1FFF1BB43A62}"/>
                </a:ext>
              </a:extLst>
            </p:cNvPr>
            <p:cNvCxnSpPr>
              <a:cxnSpLocks/>
            </p:cNvCxnSpPr>
            <p:nvPr/>
          </p:nvCxnSpPr>
          <p:spPr>
            <a:xfrm>
              <a:off x="3820601" y="2186647"/>
              <a:ext cx="2291301" cy="0"/>
            </a:xfrm>
            <a:prstGeom prst="straightConnector1">
              <a:avLst/>
            </a:prstGeom>
            <a:ln w="28575">
              <a:solidFill>
                <a:srgbClr val="FF0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20" name="TextBox 19">
              <a:extLst>
                <a:ext uri="{FF2B5EF4-FFF2-40B4-BE49-F238E27FC236}">
                  <a16:creationId xmlns:a16="http://schemas.microsoft.com/office/drawing/2014/main" id="{89051993-3DED-4EDA-BB09-B56A186D6E4A}"/>
                </a:ext>
              </a:extLst>
            </p:cNvPr>
            <p:cNvSpPr txBox="1"/>
            <p:nvPr/>
          </p:nvSpPr>
          <p:spPr>
            <a:xfrm>
              <a:off x="5414840" y="2473495"/>
              <a:ext cx="772448" cy="21544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FF0000"/>
                  </a:solidFill>
                  <a:effectLst/>
                  <a:uFillTx/>
                  <a:latin typeface="+mn-lt"/>
                  <a:ea typeface="+mn-ea"/>
                  <a:cs typeface="+mn-cs"/>
                  <a:sym typeface="Helvetica Neue"/>
                </a:rPr>
                <a:t>75mm</a:t>
              </a:r>
              <a:endParaRPr kumimoji="0" lang="en-MY" sz="1400" b="0" i="0" u="none" strike="noStrike" cap="none" spc="0" normalizeH="0" baseline="0" dirty="0" err="1">
                <a:ln>
                  <a:noFill/>
                </a:ln>
                <a:solidFill>
                  <a:srgbClr val="FF0000"/>
                </a:solidFill>
                <a:effectLst/>
                <a:uFillTx/>
                <a:latin typeface="+mn-lt"/>
                <a:ea typeface="+mn-ea"/>
                <a:cs typeface="+mn-cs"/>
                <a:sym typeface="Helvetica Neue"/>
              </a:endParaRPr>
            </a:p>
          </p:txBody>
        </p:sp>
        <p:sp>
          <p:nvSpPr>
            <p:cNvPr id="21" name="TextBox 20">
              <a:extLst>
                <a:ext uri="{FF2B5EF4-FFF2-40B4-BE49-F238E27FC236}">
                  <a16:creationId xmlns:a16="http://schemas.microsoft.com/office/drawing/2014/main" id="{97422F39-813E-4FF0-A0B0-6CB6287549F9}"/>
                </a:ext>
              </a:extLst>
            </p:cNvPr>
            <p:cNvSpPr txBox="1"/>
            <p:nvPr/>
          </p:nvSpPr>
          <p:spPr>
            <a:xfrm>
              <a:off x="5582442" y="1629220"/>
              <a:ext cx="772448" cy="21544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r" defTabSz="2438338" rtl="0" fontAlgn="auto" latinLnBrk="0" hangingPunct="0">
                <a:lnSpc>
                  <a:spcPct val="100000"/>
                </a:lnSpc>
                <a:spcBef>
                  <a:spcPts val="0"/>
                </a:spcBef>
                <a:spcAft>
                  <a:spcPts val="0"/>
                </a:spcAft>
                <a:buClrTx/>
                <a:buSzTx/>
                <a:buFontTx/>
                <a:buNone/>
                <a:tabLst/>
              </a:pPr>
              <a:r>
                <a:rPr lang="en-US" sz="1400" dirty="0">
                  <a:solidFill>
                    <a:srgbClr val="FC6467"/>
                  </a:solidFill>
                </a:rPr>
                <a:t>9</a:t>
              </a:r>
              <a:r>
                <a:rPr kumimoji="0" lang="en-US" sz="1400" b="0" i="0" u="none" strike="noStrike" cap="none" spc="0" normalizeH="0" baseline="0" dirty="0">
                  <a:ln>
                    <a:noFill/>
                  </a:ln>
                  <a:solidFill>
                    <a:srgbClr val="FC6467"/>
                  </a:solidFill>
                  <a:effectLst/>
                  <a:uFillTx/>
                  <a:latin typeface="+mn-lt"/>
                  <a:ea typeface="+mn-ea"/>
                  <a:cs typeface="+mn-cs"/>
                  <a:sym typeface="Helvetica Neue"/>
                </a:rPr>
                <a:t>5mm</a:t>
              </a:r>
              <a:endParaRPr kumimoji="0" lang="en-MY" sz="1400" b="0" i="0" u="none" strike="noStrike" cap="none" spc="0" normalizeH="0" baseline="0" dirty="0" err="1">
                <a:ln>
                  <a:noFill/>
                </a:ln>
                <a:solidFill>
                  <a:srgbClr val="FC6467"/>
                </a:solidFill>
                <a:effectLst/>
                <a:uFillTx/>
                <a:latin typeface="+mn-lt"/>
                <a:ea typeface="+mn-ea"/>
                <a:cs typeface="+mn-cs"/>
                <a:sym typeface="Helvetica Neue"/>
              </a:endParaRPr>
            </a:p>
          </p:txBody>
        </p:sp>
      </p:grpSp>
      <p:grpSp>
        <p:nvGrpSpPr>
          <p:cNvPr id="41" name="Group 40">
            <a:extLst>
              <a:ext uri="{FF2B5EF4-FFF2-40B4-BE49-F238E27FC236}">
                <a16:creationId xmlns:a16="http://schemas.microsoft.com/office/drawing/2014/main" id="{6DF65C5B-AB41-4186-99FB-A41622975722}"/>
              </a:ext>
            </a:extLst>
          </p:cNvPr>
          <p:cNvGrpSpPr/>
          <p:nvPr/>
        </p:nvGrpSpPr>
        <p:grpSpPr>
          <a:xfrm>
            <a:off x="9165198" y="1773669"/>
            <a:ext cx="2739225" cy="2974585"/>
            <a:chOff x="3812650" y="1629220"/>
            <a:chExt cx="2739225" cy="2974585"/>
          </a:xfrm>
        </p:grpSpPr>
        <p:cxnSp>
          <p:nvCxnSpPr>
            <p:cNvPr id="42" name="Straight Arrow Connector 41">
              <a:extLst>
                <a:ext uri="{FF2B5EF4-FFF2-40B4-BE49-F238E27FC236}">
                  <a16:creationId xmlns:a16="http://schemas.microsoft.com/office/drawing/2014/main" id="{639BDA94-09BF-4ED7-988A-63386CB0BAA6}"/>
                </a:ext>
              </a:extLst>
            </p:cNvPr>
            <p:cNvCxnSpPr/>
            <p:nvPr/>
          </p:nvCxnSpPr>
          <p:spPr>
            <a:xfrm>
              <a:off x="6361044" y="1916264"/>
              <a:ext cx="0" cy="2687541"/>
            </a:xfrm>
            <a:prstGeom prst="straightConnector1">
              <a:avLst/>
            </a:prstGeom>
            <a:ln w="28575">
              <a:headEnd type="triangle" w="med" len="med"/>
              <a:tailEnd type="triangle" w="med" len="med"/>
            </a:ln>
          </p:spPr>
          <p:style>
            <a:lnRef idx="1">
              <a:schemeClr val="accent4"/>
            </a:lnRef>
            <a:fillRef idx="0">
              <a:schemeClr val="accent4"/>
            </a:fillRef>
            <a:effectRef idx="0">
              <a:schemeClr val="accent4"/>
            </a:effectRef>
            <a:fontRef idx="minor">
              <a:schemeClr val="tx1"/>
            </a:fontRef>
          </p:style>
        </p:cxnSp>
        <p:cxnSp>
          <p:nvCxnSpPr>
            <p:cNvPr id="43" name="Straight Arrow Connector 42">
              <a:extLst>
                <a:ext uri="{FF2B5EF4-FFF2-40B4-BE49-F238E27FC236}">
                  <a16:creationId xmlns:a16="http://schemas.microsoft.com/office/drawing/2014/main" id="{56EFED17-8DD0-4E9C-87A0-F333E99EF099}"/>
                </a:ext>
              </a:extLst>
            </p:cNvPr>
            <p:cNvCxnSpPr>
              <a:cxnSpLocks/>
            </p:cNvCxnSpPr>
            <p:nvPr/>
          </p:nvCxnSpPr>
          <p:spPr>
            <a:xfrm>
              <a:off x="6096000" y="2178696"/>
              <a:ext cx="15902" cy="2067297"/>
            </a:xfrm>
            <a:prstGeom prst="straightConnector1">
              <a:avLst/>
            </a:prstGeom>
            <a:ln w="28575">
              <a:solidFill>
                <a:srgbClr val="FF0000"/>
              </a:solidFill>
              <a:headEnd type="triangle" w="med" len="med"/>
              <a:tailEnd type="triangle" w="med" len="med"/>
            </a:ln>
          </p:spPr>
          <p:style>
            <a:lnRef idx="1">
              <a:schemeClr val="accent4"/>
            </a:lnRef>
            <a:fillRef idx="0">
              <a:schemeClr val="accent4"/>
            </a:fillRef>
            <a:effectRef idx="0">
              <a:schemeClr val="accent4"/>
            </a:effectRef>
            <a:fontRef idx="minor">
              <a:schemeClr val="tx1"/>
            </a:fontRef>
          </p:style>
        </p:cxnSp>
        <p:cxnSp>
          <p:nvCxnSpPr>
            <p:cNvPr id="44" name="Straight Arrow Connector 43">
              <a:extLst>
                <a:ext uri="{FF2B5EF4-FFF2-40B4-BE49-F238E27FC236}">
                  <a16:creationId xmlns:a16="http://schemas.microsoft.com/office/drawing/2014/main" id="{F2865692-B20C-4D05-99FE-883EDAC024EB}"/>
                </a:ext>
              </a:extLst>
            </p:cNvPr>
            <p:cNvCxnSpPr>
              <a:cxnSpLocks/>
            </p:cNvCxnSpPr>
            <p:nvPr/>
          </p:nvCxnSpPr>
          <p:spPr>
            <a:xfrm>
              <a:off x="4260574" y="1916264"/>
              <a:ext cx="2291301" cy="0"/>
            </a:xfrm>
            <a:prstGeom prst="straightConnector1">
              <a:avLst/>
            </a:prstGeom>
            <a:ln w="28575">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45" name="Straight Arrow Connector 44">
              <a:extLst>
                <a:ext uri="{FF2B5EF4-FFF2-40B4-BE49-F238E27FC236}">
                  <a16:creationId xmlns:a16="http://schemas.microsoft.com/office/drawing/2014/main" id="{C0034E1F-9A2B-4C86-966A-AE00DA876E6F}"/>
                </a:ext>
              </a:extLst>
            </p:cNvPr>
            <p:cNvCxnSpPr>
              <a:cxnSpLocks/>
            </p:cNvCxnSpPr>
            <p:nvPr/>
          </p:nvCxnSpPr>
          <p:spPr>
            <a:xfrm>
              <a:off x="4159705" y="4533571"/>
              <a:ext cx="2291301" cy="0"/>
            </a:xfrm>
            <a:prstGeom prst="straightConnector1">
              <a:avLst/>
            </a:prstGeom>
            <a:ln w="28575">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46" name="Straight Arrow Connector 45">
              <a:extLst>
                <a:ext uri="{FF2B5EF4-FFF2-40B4-BE49-F238E27FC236}">
                  <a16:creationId xmlns:a16="http://schemas.microsoft.com/office/drawing/2014/main" id="{5F187D01-079C-48A0-8658-63C8ACA4E55F}"/>
                </a:ext>
              </a:extLst>
            </p:cNvPr>
            <p:cNvCxnSpPr>
              <a:cxnSpLocks/>
            </p:cNvCxnSpPr>
            <p:nvPr/>
          </p:nvCxnSpPr>
          <p:spPr>
            <a:xfrm>
              <a:off x="3812650" y="4245993"/>
              <a:ext cx="2291301" cy="0"/>
            </a:xfrm>
            <a:prstGeom prst="straightConnector1">
              <a:avLst/>
            </a:prstGeom>
            <a:ln w="28575">
              <a:solidFill>
                <a:srgbClr val="FF0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47" name="Straight Arrow Connector 46">
              <a:extLst>
                <a:ext uri="{FF2B5EF4-FFF2-40B4-BE49-F238E27FC236}">
                  <a16:creationId xmlns:a16="http://schemas.microsoft.com/office/drawing/2014/main" id="{EE6691EE-829C-41D5-AF2E-AB3D416C61D2}"/>
                </a:ext>
              </a:extLst>
            </p:cNvPr>
            <p:cNvCxnSpPr>
              <a:cxnSpLocks/>
            </p:cNvCxnSpPr>
            <p:nvPr/>
          </p:nvCxnSpPr>
          <p:spPr>
            <a:xfrm>
              <a:off x="3820601" y="2178696"/>
              <a:ext cx="2291301" cy="0"/>
            </a:xfrm>
            <a:prstGeom prst="straightConnector1">
              <a:avLst/>
            </a:prstGeom>
            <a:ln w="28575">
              <a:solidFill>
                <a:srgbClr val="FF0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48" name="TextBox 47">
              <a:extLst>
                <a:ext uri="{FF2B5EF4-FFF2-40B4-BE49-F238E27FC236}">
                  <a16:creationId xmlns:a16="http://schemas.microsoft.com/office/drawing/2014/main" id="{E74466D8-CAD7-4F41-BC62-BE8B70212F24}"/>
                </a:ext>
              </a:extLst>
            </p:cNvPr>
            <p:cNvSpPr txBox="1"/>
            <p:nvPr/>
          </p:nvSpPr>
          <p:spPr>
            <a:xfrm>
              <a:off x="5414840" y="2473495"/>
              <a:ext cx="772448" cy="21544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FF0000"/>
                  </a:solidFill>
                  <a:effectLst/>
                  <a:uFillTx/>
                  <a:latin typeface="+mn-lt"/>
                  <a:ea typeface="+mn-ea"/>
                  <a:cs typeface="+mn-cs"/>
                  <a:sym typeface="Helvetica Neue"/>
                </a:rPr>
                <a:t>78mm</a:t>
              </a:r>
              <a:endParaRPr kumimoji="0" lang="en-MY" sz="1400" b="0" i="0" u="none" strike="noStrike" cap="none" spc="0" normalizeH="0" baseline="0" dirty="0" err="1">
                <a:ln>
                  <a:noFill/>
                </a:ln>
                <a:solidFill>
                  <a:srgbClr val="FF0000"/>
                </a:solidFill>
                <a:effectLst/>
                <a:uFillTx/>
                <a:latin typeface="+mn-lt"/>
                <a:ea typeface="+mn-ea"/>
                <a:cs typeface="+mn-cs"/>
                <a:sym typeface="Helvetica Neue"/>
              </a:endParaRPr>
            </a:p>
          </p:txBody>
        </p:sp>
        <p:sp>
          <p:nvSpPr>
            <p:cNvPr id="49" name="TextBox 48">
              <a:extLst>
                <a:ext uri="{FF2B5EF4-FFF2-40B4-BE49-F238E27FC236}">
                  <a16:creationId xmlns:a16="http://schemas.microsoft.com/office/drawing/2014/main" id="{4F27BAAF-8F0B-4DEF-BDAA-BBFCA41C8CE2}"/>
                </a:ext>
              </a:extLst>
            </p:cNvPr>
            <p:cNvSpPr txBox="1"/>
            <p:nvPr/>
          </p:nvSpPr>
          <p:spPr>
            <a:xfrm>
              <a:off x="5582442" y="1629220"/>
              <a:ext cx="772448" cy="21544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r" defTabSz="2438338" rtl="0" fontAlgn="auto" latinLnBrk="0" hangingPunct="0">
                <a:lnSpc>
                  <a:spcPct val="100000"/>
                </a:lnSpc>
                <a:spcBef>
                  <a:spcPts val="0"/>
                </a:spcBef>
                <a:spcAft>
                  <a:spcPts val="0"/>
                </a:spcAft>
                <a:buClrTx/>
                <a:buSzTx/>
                <a:buFontTx/>
                <a:buNone/>
                <a:tabLst/>
              </a:pPr>
              <a:r>
                <a:rPr lang="en-US" sz="1400" dirty="0">
                  <a:solidFill>
                    <a:srgbClr val="FC6467"/>
                  </a:solidFill>
                </a:rPr>
                <a:t>9</a:t>
              </a:r>
              <a:r>
                <a:rPr kumimoji="0" lang="en-US" sz="1400" b="0" i="0" u="none" strike="noStrike" cap="none" spc="0" normalizeH="0" baseline="0" dirty="0">
                  <a:ln>
                    <a:noFill/>
                  </a:ln>
                  <a:solidFill>
                    <a:srgbClr val="FC6467"/>
                  </a:solidFill>
                  <a:effectLst/>
                  <a:uFillTx/>
                  <a:latin typeface="+mn-lt"/>
                  <a:ea typeface="+mn-ea"/>
                  <a:cs typeface="+mn-cs"/>
                  <a:sym typeface="Helvetica Neue"/>
                </a:rPr>
                <a:t>5mm</a:t>
              </a:r>
              <a:endParaRPr kumimoji="0" lang="en-MY" sz="1400" b="0" i="0" u="none" strike="noStrike" cap="none" spc="0" normalizeH="0" baseline="0" dirty="0" err="1">
                <a:ln>
                  <a:noFill/>
                </a:ln>
                <a:solidFill>
                  <a:srgbClr val="FC6467"/>
                </a:solidFill>
                <a:effectLst/>
                <a:uFillTx/>
                <a:latin typeface="+mn-lt"/>
                <a:ea typeface="+mn-ea"/>
                <a:cs typeface="+mn-cs"/>
                <a:sym typeface="Helvetica Neue"/>
              </a:endParaRPr>
            </a:p>
          </p:txBody>
        </p:sp>
      </p:grpSp>
      <p:sp>
        <p:nvSpPr>
          <p:cNvPr id="51" name="Action Button: Go Back or Previous 50">
            <a:hlinkClick r:id="rId4" action="ppaction://hlinksldjump" highlightClick="1"/>
            <a:extLst>
              <a:ext uri="{FF2B5EF4-FFF2-40B4-BE49-F238E27FC236}">
                <a16:creationId xmlns:a16="http://schemas.microsoft.com/office/drawing/2014/main" id="{FE151DF7-9D61-4E25-AC1A-B9BF3BB7FE15}"/>
              </a:ext>
            </a:extLst>
          </p:cNvPr>
          <p:cNvSpPr/>
          <p:nvPr/>
        </p:nvSpPr>
        <p:spPr>
          <a:xfrm>
            <a:off x="11321214" y="203200"/>
            <a:ext cx="482340" cy="404316"/>
          </a:xfrm>
          <a:prstGeom prst="actionButtonBackPrevious">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Oval 1">
            <a:extLst>
              <a:ext uri="{FF2B5EF4-FFF2-40B4-BE49-F238E27FC236}">
                <a16:creationId xmlns:a16="http://schemas.microsoft.com/office/drawing/2014/main" id="{1E81551C-1733-4D88-BB2E-9B55B6FD6DB8}"/>
              </a:ext>
            </a:extLst>
          </p:cNvPr>
          <p:cNvSpPr/>
          <p:nvPr/>
        </p:nvSpPr>
        <p:spPr>
          <a:xfrm>
            <a:off x="5414840" y="2323145"/>
            <a:ext cx="940049" cy="501369"/>
          </a:xfrm>
          <a:prstGeom prst="ellipse">
            <a:avLst/>
          </a:prstGeom>
          <a:noFill/>
          <a:ln w="38100" cap="flat">
            <a:solidFill>
              <a:schemeClr val="tx2">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7" name="Oval 26">
            <a:extLst>
              <a:ext uri="{FF2B5EF4-FFF2-40B4-BE49-F238E27FC236}">
                <a16:creationId xmlns:a16="http://schemas.microsoft.com/office/drawing/2014/main" id="{AD9565D9-3241-4C7C-A384-C3DFE0943DAB}"/>
              </a:ext>
            </a:extLst>
          </p:cNvPr>
          <p:cNvSpPr/>
          <p:nvPr/>
        </p:nvSpPr>
        <p:spPr>
          <a:xfrm>
            <a:off x="10635017" y="2465822"/>
            <a:ext cx="940049" cy="501369"/>
          </a:xfrm>
          <a:prstGeom prst="ellipse">
            <a:avLst/>
          </a:prstGeom>
          <a:noFill/>
          <a:ln w="38100" cap="flat">
            <a:solidFill>
              <a:schemeClr val="tx2">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cxnSp>
        <p:nvCxnSpPr>
          <p:cNvPr id="4" name="Straight Arrow Connector 3">
            <a:extLst>
              <a:ext uri="{FF2B5EF4-FFF2-40B4-BE49-F238E27FC236}">
                <a16:creationId xmlns:a16="http://schemas.microsoft.com/office/drawing/2014/main" id="{F1D1846E-E283-43F6-B45F-979212C7DCE6}"/>
              </a:ext>
            </a:extLst>
          </p:cNvPr>
          <p:cNvCxnSpPr>
            <a:cxnSpLocks/>
          </p:cNvCxnSpPr>
          <p:nvPr/>
        </p:nvCxnSpPr>
        <p:spPr>
          <a:xfrm flipV="1">
            <a:off x="5884864" y="2865749"/>
            <a:ext cx="44981" cy="2143276"/>
          </a:xfrm>
          <a:prstGeom prst="straightConnector1">
            <a:avLst/>
          </a:prstGeom>
          <a:noFill/>
          <a:ln w="25400" cap="flat">
            <a:solidFill>
              <a:schemeClr val="tx2">
                <a:lumMod val="60000"/>
                <a:lumOff val="4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 name="Straight Arrow Connector 29">
            <a:extLst>
              <a:ext uri="{FF2B5EF4-FFF2-40B4-BE49-F238E27FC236}">
                <a16:creationId xmlns:a16="http://schemas.microsoft.com/office/drawing/2014/main" id="{85BFD6F8-CD7F-480A-9FA7-92DDD6B51886}"/>
              </a:ext>
            </a:extLst>
          </p:cNvPr>
          <p:cNvCxnSpPr>
            <a:cxnSpLocks/>
            <a:endCxn id="27" idx="3"/>
          </p:cNvCxnSpPr>
          <p:nvPr/>
        </p:nvCxnSpPr>
        <p:spPr>
          <a:xfrm flipV="1">
            <a:off x="5929845" y="2893767"/>
            <a:ext cx="4842839" cy="2099464"/>
          </a:xfrm>
          <a:prstGeom prst="straightConnector1">
            <a:avLst/>
          </a:prstGeom>
          <a:noFill/>
          <a:ln w="25400" cap="flat">
            <a:solidFill>
              <a:schemeClr val="tx2">
                <a:lumMod val="60000"/>
                <a:lumOff val="40000"/>
              </a:schemeClr>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6" name="TextBox 15">
            <a:extLst>
              <a:ext uri="{FF2B5EF4-FFF2-40B4-BE49-F238E27FC236}">
                <a16:creationId xmlns:a16="http://schemas.microsoft.com/office/drawing/2014/main" id="{29A362FE-C575-489B-B37E-FF25CC41DD8B}"/>
              </a:ext>
            </a:extLst>
          </p:cNvPr>
          <p:cNvSpPr txBox="1"/>
          <p:nvPr/>
        </p:nvSpPr>
        <p:spPr>
          <a:xfrm>
            <a:off x="4643120" y="4993231"/>
            <a:ext cx="3673944" cy="1231106"/>
          </a:xfrm>
          <a:prstGeom prst="rect">
            <a:avLst/>
          </a:prstGeom>
          <a:solidFill>
            <a:schemeClr val="bg1"/>
          </a:solidFill>
          <a:ln w="28575" cap="flat">
            <a:solidFill>
              <a:schemeClr val="tx2">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91440" marR="0" indent="0" algn="l" defTabSz="2438338" rtl="0" fontAlgn="auto" latinLnBrk="0" hangingPunct="0">
              <a:lnSpc>
                <a:spcPct val="100000"/>
              </a:lnSpc>
              <a:spcBef>
                <a:spcPts val="0"/>
              </a:spcBef>
              <a:spcAft>
                <a:spcPts val="0"/>
              </a:spcAft>
              <a:buClrTx/>
              <a:buSzTx/>
              <a:buFontTx/>
              <a:buNone/>
              <a:tabLst/>
            </a:pPr>
            <a:r>
              <a:rPr kumimoji="0" lang="en-US" sz="2000" i="0" u="none" strike="noStrike" normalizeH="0" baseline="0" dirty="0">
                <a:ln w="0"/>
                <a:solidFill>
                  <a:srgbClr val="0068B5"/>
                </a:solidFill>
                <a:effectLst>
                  <a:outerShdw blurRad="101600" dist="101600" dir="18900000" algn="bl" rotWithShape="0">
                    <a:srgbClr val="FF0000">
                      <a:alpha val="40000"/>
                    </a:srgbClr>
                  </a:outerShdw>
                </a:effectLst>
                <a:uFillTx/>
                <a:latin typeface="+mn-lt"/>
                <a:ea typeface="+mn-ea"/>
                <a:cs typeface="+mn-cs"/>
                <a:sym typeface="Helvetica Neue"/>
              </a:rPr>
              <a:t>Any possibility in making both hole pattern same for both products to allow same heatsink used ? </a:t>
            </a:r>
            <a:endParaRPr kumimoji="0" lang="en-MY" sz="2000" i="0" u="none" strike="noStrike" normalizeH="0" baseline="0" dirty="0" err="1">
              <a:ln w="0"/>
              <a:solidFill>
                <a:srgbClr val="0068B5"/>
              </a:solidFill>
              <a:effectLst>
                <a:outerShdw blurRad="101600" dist="101600" dir="18900000" algn="bl" rotWithShape="0">
                  <a:srgbClr val="FF0000">
                    <a:alpha val="40000"/>
                  </a:srgbClr>
                </a:outerShdw>
              </a:effectLst>
              <a:uFillTx/>
              <a:latin typeface="+mn-lt"/>
              <a:ea typeface="+mn-ea"/>
              <a:cs typeface="+mn-cs"/>
              <a:sym typeface="Helvetica Neue"/>
            </a:endParaRPr>
          </a:p>
        </p:txBody>
      </p:sp>
    </p:spTree>
    <p:extLst>
      <p:ext uri="{BB962C8B-B14F-4D97-AF65-F5344CB8AC3E}">
        <p14:creationId xmlns:p14="http://schemas.microsoft.com/office/powerpoint/2010/main" val="3824375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E3AE6C-17EE-49B4-A69F-5D453BED1A9B}"/>
              </a:ext>
            </a:extLst>
          </p:cNvPr>
          <p:cNvPicPr>
            <a:picLocks noChangeAspect="1"/>
          </p:cNvPicPr>
          <p:nvPr/>
        </p:nvPicPr>
        <p:blipFill>
          <a:blip r:embed="rId2"/>
          <a:stretch>
            <a:fillRect/>
          </a:stretch>
        </p:blipFill>
        <p:spPr>
          <a:xfrm>
            <a:off x="93717" y="159789"/>
            <a:ext cx="8736200" cy="4882342"/>
          </a:xfrm>
          <a:prstGeom prst="rect">
            <a:avLst/>
          </a:prstGeom>
        </p:spPr>
      </p:pic>
      <p:pic>
        <p:nvPicPr>
          <p:cNvPr id="7" name="Picture 6">
            <a:extLst>
              <a:ext uri="{FF2B5EF4-FFF2-40B4-BE49-F238E27FC236}">
                <a16:creationId xmlns:a16="http://schemas.microsoft.com/office/drawing/2014/main" id="{898533DD-84F0-4BC7-A406-23F1CB9D0514}"/>
              </a:ext>
            </a:extLst>
          </p:cNvPr>
          <p:cNvPicPr>
            <a:picLocks noChangeAspect="1"/>
          </p:cNvPicPr>
          <p:nvPr/>
        </p:nvPicPr>
        <p:blipFill>
          <a:blip r:embed="rId3"/>
          <a:stretch>
            <a:fillRect/>
          </a:stretch>
        </p:blipFill>
        <p:spPr>
          <a:xfrm>
            <a:off x="6738620" y="2806596"/>
            <a:ext cx="5003107" cy="3737713"/>
          </a:xfrm>
          <a:prstGeom prst="rect">
            <a:avLst/>
          </a:prstGeom>
        </p:spPr>
      </p:pic>
      <p:sp>
        <p:nvSpPr>
          <p:cNvPr id="8" name="Rectangle: Rounded Corners 7">
            <a:extLst>
              <a:ext uri="{FF2B5EF4-FFF2-40B4-BE49-F238E27FC236}">
                <a16:creationId xmlns:a16="http://schemas.microsoft.com/office/drawing/2014/main" id="{DCB76315-4384-4354-83B6-1865DF16109F}"/>
              </a:ext>
            </a:extLst>
          </p:cNvPr>
          <p:cNvSpPr/>
          <p:nvPr/>
        </p:nvSpPr>
        <p:spPr>
          <a:xfrm>
            <a:off x="6543040" y="2391619"/>
            <a:ext cx="2286877" cy="274320"/>
          </a:xfrm>
          <a:prstGeom prst="roundRect">
            <a:avLst/>
          </a:prstGeom>
          <a:noFill/>
          <a:ln w="28575"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 name="Rectangle 4">
            <a:extLst>
              <a:ext uri="{FF2B5EF4-FFF2-40B4-BE49-F238E27FC236}">
                <a16:creationId xmlns:a16="http://schemas.microsoft.com/office/drawing/2014/main" id="{BF305F00-73C5-4E55-889B-F50F8ACD8A37}"/>
              </a:ext>
            </a:extLst>
          </p:cNvPr>
          <p:cNvSpPr/>
          <p:nvPr/>
        </p:nvSpPr>
        <p:spPr>
          <a:xfrm>
            <a:off x="8991937" y="1091842"/>
            <a:ext cx="2587770" cy="1644425"/>
          </a:xfrm>
          <a:prstGeom prst="rect">
            <a:avLst/>
          </a:prstGeom>
        </p:spPr>
        <p:txBody>
          <a:bodyPr wrap="square">
            <a:spAutoFit/>
          </a:bodyPr>
          <a:lstStyle/>
          <a:p>
            <a:r>
              <a:rPr lang="en-US" sz="1600" dirty="0">
                <a:solidFill>
                  <a:srgbClr val="FF0000"/>
                </a:solidFill>
              </a:rPr>
              <a:t>LOTES solder ball size is smaller than </a:t>
            </a:r>
            <a:r>
              <a:rPr lang="en-US" sz="1600" dirty="0" err="1">
                <a:solidFill>
                  <a:srgbClr val="FF0000"/>
                </a:solidFill>
              </a:rPr>
              <a:t>Deren</a:t>
            </a:r>
            <a:r>
              <a:rPr lang="en-US" sz="1600" dirty="0">
                <a:solidFill>
                  <a:srgbClr val="FF0000"/>
                </a:solidFill>
              </a:rPr>
              <a:t> &amp; FIT,  customer’s concerns with SJQ with the same paste volume recommended in MAS across all socket supplier.</a:t>
            </a:r>
            <a:endParaRPr lang="en-MY" sz="1600" dirty="0"/>
          </a:p>
        </p:txBody>
      </p:sp>
    </p:spTree>
    <p:extLst>
      <p:ext uri="{BB962C8B-B14F-4D97-AF65-F5344CB8AC3E}">
        <p14:creationId xmlns:p14="http://schemas.microsoft.com/office/powerpoint/2010/main" val="2289109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FAFB1B33-A6D6-44C6-BA06-9C8502D7B70E}"/>
              </a:ext>
            </a:extLst>
          </p:cNvPr>
          <p:cNvPicPr>
            <a:picLocks noChangeAspect="1"/>
          </p:cNvPicPr>
          <p:nvPr/>
        </p:nvPicPr>
        <p:blipFill>
          <a:blip r:embed="rId2"/>
          <a:stretch>
            <a:fillRect/>
          </a:stretch>
        </p:blipFill>
        <p:spPr>
          <a:xfrm>
            <a:off x="5477990" y="1701266"/>
            <a:ext cx="2408141" cy="3186317"/>
          </a:xfrm>
          <a:prstGeom prst="rect">
            <a:avLst/>
          </a:prstGeom>
        </p:spPr>
      </p:pic>
      <p:graphicFrame>
        <p:nvGraphicFramePr>
          <p:cNvPr id="35" name="Table 4">
            <a:extLst>
              <a:ext uri="{FF2B5EF4-FFF2-40B4-BE49-F238E27FC236}">
                <a16:creationId xmlns:a16="http://schemas.microsoft.com/office/drawing/2014/main" id="{99C4501E-0F41-456B-9968-2EDD817DEA2D}"/>
              </a:ext>
            </a:extLst>
          </p:cNvPr>
          <p:cNvGraphicFramePr>
            <a:graphicFrameLocks noGrp="1"/>
          </p:cNvGraphicFramePr>
          <p:nvPr>
            <p:extLst>
              <p:ext uri="{D42A27DB-BD31-4B8C-83A1-F6EECF244321}">
                <p14:modId xmlns:p14="http://schemas.microsoft.com/office/powerpoint/2010/main" val="2759496185"/>
              </p:ext>
            </p:extLst>
          </p:nvPr>
        </p:nvGraphicFramePr>
        <p:xfrm>
          <a:off x="325120" y="272626"/>
          <a:ext cx="11023600" cy="457200"/>
        </p:xfrm>
        <a:graphic>
          <a:graphicData uri="http://schemas.openxmlformats.org/drawingml/2006/table">
            <a:tbl>
              <a:tblPr firstRow="1" bandRow="1">
                <a:tableStyleId>{5940675A-B579-460E-94D1-54222C63F5DA}</a:tableStyleId>
              </a:tblPr>
              <a:tblGrid>
                <a:gridCol w="4815840">
                  <a:extLst>
                    <a:ext uri="{9D8B030D-6E8A-4147-A177-3AD203B41FA5}">
                      <a16:colId xmlns:a16="http://schemas.microsoft.com/office/drawing/2014/main" val="1809939556"/>
                    </a:ext>
                  </a:extLst>
                </a:gridCol>
                <a:gridCol w="6207760">
                  <a:extLst>
                    <a:ext uri="{9D8B030D-6E8A-4147-A177-3AD203B41FA5}">
                      <a16:colId xmlns:a16="http://schemas.microsoft.com/office/drawing/2014/main" val="2219818289"/>
                    </a:ext>
                  </a:extLst>
                </a:gridCol>
              </a:tblGrid>
              <a:tr h="370840">
                <a:tc>
                  <a:txBody>
                    <a:bodyPr/>
                    <a:lstStyle/>
                    <a:p>
                      <a:pPr algn="ctr"/>
                      <a:r>
                        <a:rPr lang="en-US" sz="2400" b="1" dirty="0">
                          <a:solidFill>
                            <a:schemeClr val="tx2"/>
                          </a:solidFill>
                          <a:effectLst>
                            <a:glow rad="228600">
                              <a:schemeClr val="accent6">
                                <a:satMod val="175000"/>
                                <a:alpha val="40000"/>
                              </a:schemeClr>
                            </a:glow>
                          </a:effectLst>
                        </a:rPr>
                        <a:t>Socket-H</a:t>
                      </a:r>
                      <a:endParaRPr lang="en-MY" sz="2400" b="1" dirty="0">
                        <a:solidFill>
                          <a:schemeClr val="tx2"/>
                        </a:solidFill>
                        <a:effectLst>
                          <a:glow rad="228600">
                            <a:schemeClr val="accent6">
                              <a:satMod val="175000"/>
                              <a:alpha val="40000"/>
                            </a:schemeClr>
                          </a:glow>
                        </a:effectLs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2"/>
                          </a:solidFill>
                          <a:effectLst>
                            <a:glow rad="228600">
                              <a:schemeClr val="accent6">
                                <a:satMod val="175000"/>
                                <a:alpha val="40000"/>
                              </a:schemeClr>
                            </a:glow>
                          </a:effectLst>
                        </a:rPr>
                        <a:t>Socket-V</a:t>
                      </a:r>
                      <a:endParaRPr lang="en-MY" sz="2400" b="1" dirty="0">
                        <a:solidFill>
                          <a:schemeClr val="tx2"/>
                        </a:solidFill>
                        <a:effectLst>
                          <a:glow rad="228600">
                            <a:schemeClr val="accent6">
                              <a:satMod val="175000"/>
                              <a:alpha val="40000"/>
                            </a:schemeClr>
                          </a:glow>
                        </a:effectLs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87069952"/>
                  </a:ext>
                </a:extLst>
              </a:tr>
            </a:tbl>
          </a:graphicData>
        </a:graphic>
      </p:graphicFrame>
      <p:cxnSp>
        <p:nvCxnSpPr>
          <p:cNvPr id="37" name="Straight Arrow Connector 36">
            <a:extLst>
              <a:ext uri="{FF2B5EF4-FFF2-40B4-BE49-F238E27FC236}">
                <a16:creationId xmlns:a16="http://schemas.microsoft.com/office/drawing/2014/main" id="{6E6C0E7B-DD24-429E-AF3A-13C60EDA3B94}"/>
              </a:ext>
            </a:extLst>
          </p:cNvPr>
          <p:cNvCxnSpPr>
            <a:cxnSpLocks/>
          </p:cNvCxnSpPr>
          <p:nvPr/>
        </p:nvCxnSpPr>
        <p:spPr>
          <a:xfrm>
            <a:off x="7486610" y="1453839"/>
            <a:ext cx="151202" cy="563011"/>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1" name="Straight Arrow Connector 40">
            <a:extLst>
              <a:ext uri="{FF2B5EF4-FFF2-40B4-BE49-F238E27FC236}">
                <a16:creationId xmlns:a16="http://schemas.microsoft.com/office/drawing/2014/main" id="{F17A19F7-BDCE-4DF7-8820-28D0B66D6BC9}"/>
              </a:ext>
            </a:extLst>
          </p:cNvPr>
          <p:cNvCxnSpPr>
            <a:cxnSpLocks/>
          </p:cNvCxnSpPr>
          <p:nvPr/>
        </p:nvCxnSpPr>
        <p:spPr>
          <a:xfrm flipV="1">
            <a:off x="4097919" y="4785363"/>
            <a:ext cx="1834370" cy="884651"/>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1" name="Straight Arrow Connector 60">
            <a:extLst>
              <a:ext uri="{FF2B5EF4-FFF2-40B4-BE49-F238E27FC236}">
                <a16:creationId xmlns:a16="http://schemas.microsoft.com/office/drawing/2014/main" id="{7B7BE857-128C-431A-8811-ACBEBB6568B9}"/>
              </a:ext>
            </a:extLst>
          </p:cNvPr>
          <p:cNvCxnSpPr>
            <a:cxnSpLocks/>
          </p:cNvCxnSpPr>
          <p:nvPr/>
        </p:nvCxnSpPr>
        <p:spPr>
          <a:xfrm>
            <a:off x="5680869" y="1395229"/>
            <a:ext cx="59444" cy="502136"/>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66" name="Picture 65">
            <a:extLst>
              <a:ext uri="{FF2B5EF4-FFF2-40B4-BE49-F238E27FC236}">
                <a16:creationId xmlns:a16="http://schemas.microsoft.com/office/drawing/2014/main" id="{50157CFF-DD91-4C5E-B457-D4E1E118140C}"/>
              </a:ext>
            </a:extLst>
          </p:cNvPr>
          <p:cNvPicPr>
            <a:picLocks noChangeAspect="1"/>
          </p:cNvPicPr>
          <p:nvPr/>
        </p:nvPicPr>
        <p:blipFill>
          <a:blip r:embed="rId3"/>
          <a:stretch>
            <a:fillRect/>
          </a:stretch>
        </p:blipFill>
        <p:spPr>
          <a:xfrm>
            <a:off x="10161" y="2327480"/>
            <a:ext cx="4030276" cy="2793461"/>
          </a:xfrm>
          <a:prstGeom prst="rect">
            <a:avLst/>
          </a:prstGeom>
        </p:spPr>
      </p:pic>
      <p:sp>
        <p:nvSpPr>
          <p:cNvPr id="67" name="Rectangle 66">
            <a:extLst>
              <a:ext uri="{FF2B5EF4-FFF2-40B4-BE49-F238E27FC236}">
                <a16:creationId xmlns:a16="http://schemas.microsoft.com/office/drawing/2014/main" id="{D6C38222-AD7E-48DD-AC65-E08B86871221}"/>
              </a:ext>
            </a:extLst>
          </p:cNvPr>
          <p:cNvSpPr/>
          <p:nvPr/>
        </p:nvSpPr>
        <p:spPr>
          <a:xfrm>
            <a:off x="3119119" y="1496263"/>
            <a:ext cx="1311825" cy="3936415"/>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34" name="Picture 33">
            <a:extLst>
              <a:ext uri="{FF2B5EF4-FFF2-40B4-BE49-F238E27FC236}">
                <a16:creationId xmlns:a16="http://schemas.microsoft.com/office/drawing/2014/main" id="{9EB817BA-7FC0-44DB-ADFC-C6CC8F265B38}"/>
              </a:ext>
            </a:extLst>
          </p:cNvPr>
          <p:cNvPicPr>
            <a:picLocks noChangeAspect="1"/>
          </p:cNvPicPr>
          <p:nvPr/>
        </p:nvPicPr>
        <p:blipFill>
          <a:blip r:embed="rId4"/>
          <a:stretch>
            <a:fillRect/>
          </a:stretch>
        </p:blipFill>
        <p:spPr>
          <a:xfrm>
            <a:off x="3228271" y="1353045"/>
            <a:ext cx="1849050" cy="3786149"/>
          </a:xfrm>
          <a:prstGeom prst="rect">
            <a:avLst/>
          </a:prstGeom>
        </p:spPr>
      </p:pic>
      <p:cxnSp>
        <p:nvCxnSpPr>
          <p:cNvPr id="71" name="Straight Arrow Connector 70">
            <a:extLst>
              <a:ext uri="{FF2B5EF4-FFF2-40B4-BE49-F238E27FC236}">
                <a16:creationId xmlns:a16="http://schemas.microsoft.com/office/drawing/2014/main" id="{7D8E3A91-7A18-4638-BB48-B30FC6246313}"/>
              </a:ext>
            </a:extLst>
          </p:cNvPr>
          <p:cNvCxnSpPr>
            <a:cxnSpLocks/>
          </p:cNvCxnSpPr>
          <p:nvPr/>
        </p:nvCxnSpPr>
        <p:spPr>
          <a:xfrm flipV="1">
            <a:off x="1771665" y="4785363"/>
            <a:ext cx="69272" cy="647315"/>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7" name="Straight Arrow Connector 46">
            <a:extLst>
              <a:ext uri="{FF2B5EF4-FFF2-40B4-BE49-F238E27FC236}">
                <a16:creationId xmlns:a16="http://schemas.microsoft.com/office/drawing/2014/main" id="{1E3D6E07-192C-4B42-853F-2C47A912A5FF}"/>
              </a:ext>
            </a:extLst>
          </p:cNvPr>
          <p:cNvCxnSpPr>
            <a:cxnSpLocks/>
          </p:cNvCxnSpPr>
          <p:nvPr/>
        </p:nvCxnSpPr>
        <p:spPr>
          <a:xfrm flipV="1">
            <a:off x="3838325" y="5096596"/>
            <a:ext cx="259594" cy="503894"/>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72" name="Rectangle 71">
            <a:extLst>
              <a:ext uri="{FF2B5EF4-FFF2-40B4-BE49-F238E27FC236}">
                <a16:creationId xmlns:a16="http://schemas.microsoft.com/office/drawing/2014/main" id="{83C315A0-7D62-4E45-B2E2-790B1227D0D1}"/>
              </a:ext>
            </a:extLst>
          </p:cNvPr>
          <p:cNvSpPr/>
          <p:nvPr/>
        </p:nvSpPr>
        <p:spPr>
          <a:xfrm>
            <a:off x="0" y="1535003"/>
            <a:ext cx="325121" cy="3936415"/>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cxnSp>
        <p:nvCxnSpPr>
          <p:cNvPr id="79" name="Straight Connector 78">
            <a:extLst>
              <a:ext uri="{FF2B5EF4-FFF2-40B4-BE49-F238E27FC236}">
                <a16:creationId xmlns:a16="http://schemas.microsoft.com/office/drawing/2014/main" id="{6E40E82D-BCEB-4F46-8C1A-02A8E7E455F3}"/>
              </a:ext>
            </a:extLst>
          </p:cNvPr>
          <p:cNvCxnSpPr>
            <a:cxnSpLocks/>
          </p:cNvCxnSpPr>
          <p:nvPr/>
        </p:nvCxnSpPr>
        <p:spPr>
          <a:xfrm>
            <a:off x="5209657" y="438733"/>
            <a:ext cx="0" cy="4700447"/>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80" name="TextBox 79">
            <a:extLst>
              <a:ext uri="{FF2B5EF4-FFF2-40B4-BE49-F238E27FC236}">
                <a16:creationId xmlns:a16="http://schemas.microsoft.com/office/drawing/2014/main" id="{2F88EB04-BED4-463F-9330-D5FBCAE39207}"/>
              </a:ext>
            </a:extLst>
          </p:cNvPr>
          <p:cNvSpPr txBox="1"/>
          <p:nvPr/>
        </p:nvSpPr>
        <p:spPr>
          <a:xfrm>
            <a:off x="1326886" y="859802"/>
            <a:ext cx="1749188" cy="4308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tx1"/>
                </a:solidFill>
                <a:effectLst/>
                <a:uFillTx/>
                <a:latin typeface="+mn-lt"/>
                <a:ea typeface="+mn-ea"/>
                <a:cs typeface="+mn-cs"/>
                <a:sym typeface="Helvetica Neue"/>
              </a:rPr>
              <a:t>Lever latch inward (with right hand)</a:t>
            </a:r>
            <a:endParaRPr kumimoji="0" lang="en-MY" sz="1400" b="0" i="0" u="none" strike="noStrike" cap="none" spc="0" normalizeH="0" baseline="0" dirty="0" err="1">
              <a:ln>
                <a:noFill/>
              </a:ln>
              <a:solidFill>
                <a:schemeClr val="tx1"/>
              </a:solidFill>
              <a:effectLst/>
              <a:uFillTx/>
              <a:latin typeface="+mn-lt"/>
              <a:ea typeface="+mn-ea"/>
              <a:cs typeface="+mn-cs"/>
              <a:sym typeface="Helvetica Neue"/>
            </a:endParaRPr>
          </a:p>
        </p:txBody>
      </p:sp>
      <p:cxnSp>
        <p:nvCxnSpPr>
          <p:cNvPr id="81" name="Straight Arrow Connector 80">
            <a:extLst>
              <a:ext uri="{FF2B5EF4-FFF2-40B4-BE49-F238E27FC236}">
                <a16:creationId xmlns:a16="http://schemas.microsoft.com/office/drawing/2014/main" id="{2C695655-F0D1-4A2F-A5C1-196CC881DAED}"/>
              </a:ext>
            </a:extLst>
          </p:cNvPr>
          <p:cNvCxnSpPr>
            <a:cxnSpLocks/>
          </p:cNvCxnSpPr>
          <p:nvPr/>
        </p:nvCxnSpPr>
        <p:spPr>
          <a:xfrm flipH="1">
            <a:off x="2667134" y="1435119"/>
            <a:ext cx="86141" cy="1805109"/>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 name="Action Button: Go Back or Previous 1">
            <a:hlinkClick r:id="rId5" action="ppaction://hlinksldjump" highlightClick="1"/>
            <a:extLst>
              <a:ext uri="{FF2B5EF4-FFF2-40B4-BE49-F238E27FC236}">
                <a16:creationId xmlns:a16="http://schemas.microsoft.com/office/drawing/2014/main" id="{F3F4962A-6C95-4448-9A0C-8F5F62C444BB}"/>
              </a:ext>
            </a:extLst>
          </p:cNvPr>
          <p:cNvSpPr/>
          <p:nvPr/>
        </p:nvSpPr>
        <p:spPr>
          <a:xfrm>
            <a:off x="11321214" y="203200"/>
            <a:ext cx="482340" cy="404316"/>
          </a:xfrm>
          <a:prstGeom prst="actionButtonBackPrevious">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40" name="TextBox 39">
            <a:extLst>
              <a:ext uri="{FF2B5EF4-FFF2-40B4-BE49-F238E27FC236}">
                <a16:creationId xmlns:a16="http://schemas.microsoft.com/office/drawing/2014/main" id="{3EC59A26-F0CC-4885-BC8E-EDCF78DFB288}"/>
              </a:ext>
            </a:extLst>
          </p:cNvPr>
          <p:cNvSpPr txBox="1"/>
          <p:nvPr/>
        </p:nvSpPr>
        <p:spPr>
          <a:xfrm>
            <a:off x="445855" y="5466596"/>
            <a:ext cx="4339505" cy="8617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tx1"/>
                </a:solidFill>
                <a:effectLst/>
                <a:uFillTx/>
                <a:latin typeface="+mn-lt"/>
                <a:ea typeface="+mn-ea"/>
                <a:cs typeface="+mn-cs"/>
                <a:sym typeface="Helvetica Neue"/>
              </a:rPr>
              <a:t>This site facing operator</a:t>
            </a:r>
          </a:p>
          <a:p>
            <a:pPr marL="0" marR="0" indent="0" algn="ctr" defTabSz="2438338" rtl="0" fontAlgn="auto" latinLnBrk="0" hangingPunct="0">
              <a:lnSpc>
                <a:spcPct val="100000"/>
              </a:lnSpc>
              <a:spcBef>
                <a:spcPts val="0"/>
              </a:spcBef>
              <a:spcAft>
                <a:spcPts val="0"/>
              </a:spcAft>
              <a:buClrTx/>
              <a:buSzTx/>
              <a:buFontTx/>
              <a:buNone/>
              <a:tabLst/>
            </a:pPr>
            <a:r>
              <a:rPr lang="en-US" sz="1400" dirty="0">
                <a:solidFill>
                  <a:schemeClr val="tx1"/>
                </a:solidFill>
              </a:rPr>
              <a:t>(it will be inconvenient for same operator to process </a:t>
            </a:r>
            <a:r>
              <a:rPr lang="en-US" sz="1400" dirty="0" err="1">
                <a:solidFill>
                  <a:schemeClr val="tx1"/>
                </a:solidFill>
              </a:rPr>
              <a:t>skt</a:t>
            </a:r>
            <a:r>
              <a:rPr lang="en-US" sz="1400" dirty="0">
                <a:solidFill>
                  <a:schemeClr val="tx1"/>
                </a:solidFill>
              </a:rPr>
              <a:t>-H and </a:t>
            </a:r>
            <a:r>
              <a:rPr lang="en-US" sz="1400" dirty="0" err="1">
                <a:solidFill>
                  <a:schemeClr val="tx1"/>
                </a:solidFill>
              </a:rPr>
              <a:t>skt</a:t>
            </a:r>
            <a:r>
              <a:rPr lang="en-US" sz="1400" dirty="0">
                <a:solidFill>
                  <a:schemeClr val="tx1"/>
                </a:solidFill>
              </a:rPr>
              <a:t>-V, and possibly error in execution, due to the need to rotate the processor 180° orientation)</a:t>
            </a:r>
            <a:endParaRPr kumimoji="0" lang="en-MY" sz="1400" b="0" i="0" u="none" strike="noStrike" cap="none" spc="0" normalizeH="0" baseline="0" dirty="0" err="1">
              <a:ln>
                <a:noFill/>
              </a:ln>
              <a:solidFill>
                <a:schemeClr val="tx1"/>
              </a:solidFill>
              <a:effectLst/>
              <a:uFillTx/>
              <a:sym typeface="Helvetica Neue"/>
            </a:endParaRPr>
          </a:p>
        </p:txBody>
      </p:sp>
      <p:sp>
        <p:nvSpPr>
          <p:cNvPr id="60" name="TextBox 59">
            <a:extLst>
              <a:ext uri="{FF2B5EF4-FFF2-40B4-BE49-F238E27FC236}">
                <a16:creationId xmlns:a16="http://schemas.microsoft.com/office/drawing/2014/main" id="{4C83D0B2-DEE8-464F-8B73-B5BADDBA5944}"/>
              </a:ext>
            </a:extLst>
          </p:cNvPr>
          <p:cNvSpPr txBox="1"/>
          <p:nvPr/>
        </p:nvSpPr>
        <p:spPr>
          <a:xfrm>
            <a:off x="5288532" y="718168"/>
            <a:ext cx="1134700"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tx1"/>
                </a:solidFill>
                <a:effectLst/>
                <a:uFillTx/>
                <a:latin typeface="+mn-lt"/>
                <a:ea typeface="+mn-ea"/>
                <a:cs typeface="+mn-cs"/>
                <a:sym typeface="Helvetica Neue"/>
              </a:rPr>
              <a:t>Lever latch outward (with left hand)</a:t>
            </a:r>
            <a:endParaRPr kumimoji="0" lang="en-MY" sz="1400" b="0" i="0" u="none" strike="noStrike" cap="none" spc="0" normalizeH="0" baseline="0" dirty="0" err="1">
              <a:ln>
                <a:noFill/>
              </a:ln>
              <a:solidFill>
                <a:schemeClr val="tx1"/>
              </a:solidFill>
              <a:effectLst/>
              <a:uFillTx/>
              <a:latin typeface="+mn-lt"/>
              <a:ea typeface="+mn-ea"/>
              <a:cs typeface="+mn-cs"/>
              <a:sym typeface="Helvetica Neue"/>
            </a:endParaRPr>
          </a:p>
        </p:txBody>
      </p:sp>
      <p:sp>
        <p:nvSpPr>
          <p:cNvPr id="39" name="TextBox 38">
            <a:extLst>
              <a:ext uri="{FF2B5EF4-FFF2-40B4-BE49-F238E27FC236}">
                <a16:creationId xmlns:a16="http://schemas.microsoft.com/office/drawing/2014/main" id="{7629A0D5-1FE1-47D1-B3EF-7510CBF1E67F}"/>
              </a:ext>
            </a:extLst>
          </p:cNvPr>
          <p:cNvSpPr txBox="1"/>
          <p:nvPr/>
        </p:nvSpPr>
        <p:spPr>
          <a:xfrm>
            <a:off x="293687" y="1647153"/>
            <a:ext cx="2066398"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tx1"/>
                </a:solidFill>
                <a:effectLst/>
                <a:uFillTx/>
                <a:latin typeface="+mn-lt"/>
                <a:ea typeface="+mn-ea"/>
                <a:cs typeface="+mn-cs"/>
                <a:sym typeface="Helvetica Neue"/>
              </a:rPr>
              <a:t>Consistent Pin 1 indication on tools and PCB</a:t>
            </a:r>
            <a:endParaRPr kumimoji="0" lang="en-MY" sz="1400" b="0" i="0" u="none" strike="noStrike" cap="none" spc="0" normalizeH="0" baseline="0" dirty="0" err="1">
              <a:ln>
                <a:noFill/>
              </a:ln>
              <a:solidFill>
                <a:schemeClr val="tx1"/>
              </a:solidFill>
              <a:effectLst/>
              <a:uFillTx/>
              <a:latin typeface="+mn-lt"/>
              <a:ea typeface="+mn-ea"/>
              <a:cs typeface="+mn-cs"/>
              <a:sym typeface="Helvetica Neue"/>
            </a:endParaRPr>
          </a:p>
        </p:txBody>
      </p:sp>
      <p:grpSp>
        <p:nvGrpSpPr>
          <p:cNvPr id="70" name="Group 69">
            <a:extLst>
              <a:ext uri="{FF2B5EF4-FFF2-40B4-BE49-F238E27FC236}">
                <a16:creationId xmlns:a16="http://schemas.microsoft.com/office/drawing/2014/main" id="{1CEAEC95-20B1-4208-88BB-8E7EAA688EEF}"/>
              </a:ext>
            </a:extLst>
          </p:cNvPr>
          <p:cNvGrpSpPr/>
          <p:nvPr/>
        </p:nvGrpSpPr>
        <p:grpSpPr>
          <a:xfrm>
            <a:off x="8474888" y="895933"/>
            <a:ext cx="3486552" cy="4488323"/>
            <a:chOff x="8241207" y="895933"/>
            <a:chExt cx="3831139" cy="4741495"/>
          </a:xfrm>
        </p:grpSpPr>
        <p:pic>
          <p:nvPicPr>
            <p:cNvPr id="4" name="Picture 3">
              <a:extLst>
                <a:ext uri="{FF2B5EF4-FFF2-40B4-BE49-F238E27FC236}">
                  <a16:creationId xmlns:a16="http://schemas.microsoft.com/office/drawing/2014/main" id="{05E267B3-3660-4290-BC66-1D49A643A762}"/>
                </a:ext>
              </a:extLst>
            </p:cNvPr>
            <p:cNvPicPr>
              <a:picLocks noChangeAspect="1"/>
            </p:cNvPicPr>
            <p:nvPr/>
          </p:nvPicPr>
          <p:blipFill>
            <a:blip r:embed="rId6"/>
            <a:stretch>
              <a:fillRect/>
            </a:stretch>
          </p:blipFill>
          <p:spPr>
            <a:xfrm>
              <a:off x="8241207" y="3987635"/>
              <a:ext cx="2294541" cy="1649793"/>
            </a:xfrm>
            <a:prstGeom prst="rect">
              <a:avLst/>
            </a:prstGeom>
          </p:spPr>
        </p:pic>
        <p:pic>
          <p:nvPicPr>
            <p:cNvPr id="5" name="Picture 4">
              <a:extLst>
                <a:ext uri="{FF2B5EF4-FFF2-40B4-BE49-F238E27FC236}">
                  <a16:creationId xmlns:a16="http://schemas.microsoft.com/office/drawing/2014/main" id="{ECEBD682-357B-46FA-9033-5DB5EE95E3B9}"/>
                </a:ext>
              </a:extLst>
            </p:cNvPr>
            <p:cNvPicPr>
              <a:picLocks noChangeAspect="1"/>
            </p:cNvPicPr>
            <p:nvPr/>
          </p:nvPicPr>
          <p:blipFill>
            <a:blip r:embed="rId7"/>
            <a:stretch>
              <a:fillRect/>
            </a:stretch>
          </p:blipFill>
          <p:spPr>
            <a:xfrm>
              <a:off x="8257460" y="900852"/>
              <a:ext cx="2216153" cy="3160743"/>
            </a:xfrm>
            <a:prstGeom prst="rect">
              <a:avLst/>
            </a:prstGeom>
          </p:spPr>
        </p:pic>
        <p:cxnSp>
          <p:nvCxnSpPr>
            <p:cNvPr id="7" name="Straight Arrow Connector 6">
              <a:extLst>
                <a:ext uri="{FF2B5EF4-FFF2-40B4-BE49-F238E27FC236}">
                  <a16:creationId xmlns:a16="http://schemas.microsoft.com/office/drawing/2014/main" id="{2E1AFB6C-1A3F-4DC2-86E1-D1EDB7005B70}"/>
                </a:ext>
              </a:extLst>
            </p:cNvPr>
            <p:cNvCxnSpPr>
              <a:cxnSpLocks/>
            </p:cNvCxnSpPr>
            <p:nvPr/>
          </p:nvCxnSpPr>
          <p:spPr>
            <a:xfrm flipH="1">
              <a:off x="10279161" y="1353045"/>
              <a:ext cx="327546" cy="816283"/>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8" name="Straight Arrow Connector 7">
              <a:extLst>
                <a:ext uri="{FF2B5EF4-FFF2-40B4-BE49-F238E27FC236}">
                  <a16:creationId xmlns:a16="http://schemas.microsoft.com/office/drawing/2014/main" id="{3769CF9A-0A6B-49D8-930E-30D3C2ACC3B6}"/>
                </a:ext>
              </a:extLst>
            </p:cNvPr>
            <p:cNvCxnSpPr>
              <a:cxnSpLocks/>
            </p:cNvCxnSpPr>
            <p:nvPr/>
          </p:nvCxnSpPr>
          <p:spPr>
            <a:xfrm flipH="1">
              <a:off x="9574721" y="1423393"/>
              <a:ext cx="1103439" cy="3874331"/>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1" name="Straight Arrow Connector 10">
              <a:extLst>
                <a:ext uri="{FF2B5EF4-FFF2-40B4-BE49-F238E27FC236}">
                  <a16:creationId xmlns:a16="http://schemas.microsoft.com/office/drawing/2014/main" id="{A0B99D18-BDD5-495F-AE2F-E7817A7F0BA0}"/>
                </a:ext>
              </a:extLst>
            </p:cNvPr>
            <p:cNvCxnSpPr>
              <a:cxnSpLocks/>
            </p:cNvCxnSpPr>
            <p:nvPr/>
          </p:nvCxnSpPr>
          <p:spPr>
            <a:xfrm flipH="1">
              <a:off x="9428734" y="1306590"/>
              <a:ext cx="1177973" cy="44784"/>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5" name="Straight Arrow Connector 24">
              <a:extLst>
                <a:ext uri="{FF2B5EF4-FFF2-40B4-BE49-F238E27FC236}">
                  <a16:creationId xmlns:a16="http://schemas.microsoft.com/office/drawing/2014/main" id="{2164F62E-1E8A-41F4-9666-1F6279D2983B}"/>
                </a:ext>
              </a:extLst>
            </p:cNvPr>
            <p:cNvCxnSpPr>
              <a:cxnSpLocks/>
            </p:cNvCxnSpPr>
            <p:nvPr/>
          </p:nvCxnSpPr>
          <p:spPr>
            <a:xfrm flipH="1" flipV="1">
              <a:off x="9265920" y="1799033"/>
              <a:ext cx="91484" cy="1960168"/>
            </a:xfrm>
            <a:prstGeom prst="straightConnector1">
              <a:avLst/>
            </a:prstGeom>
            <a:noFill/>
            <a:ln w="25400" cap="flat">
              <a:solidFill>
                <a:srgbClr val="FF0000"/>
              </a:solidFill>
              <a:prstDash val="solid"/>
              <a:miter lim="400000"/>
              <a:headEnd type="triangle" w="med" len="med"/>
              <a:tailEnd type="triangle" w="med" len="med"/>
            </a:ln>
            <a:effectLst/>
            <a:sp3d/>
          </p:spPr>
          <p:style>
            <a:lnRef idx="0">
              <a:scrgbClr r="0" g="0" b="0"/>
            </a:lnRef>
            <a:fillRef idx="0">
              <a:scrgbClr r="0" g="0" b="0"/>
            </a:fillRef>
            <a:effectRef idx="0">
              <a:scrgbClr r="0" g="0" b="0"/>
            </a:effectRef>
            <a:fontRef idx="none"/>
          </p:style>
        </p:cxnSp>
        <p:sp>
          <p:nvSpPr>
            <p:cNvPr id="10" name="TextBox 9">
              <a:extLst>
                <a:ext uri="{FF2B5EF4-FFF2-40B4-BE49-F238E27FC236}">
                  <a16:creationId xmlns:a16="http://schemas.microsoft.com/office/drawing/2014/main" id="{36E10745-60F8-4EB7-8A54-C2A7F277F90C}"/>
                </a:ext>
              </a:extLst>
            </p:cNvPr>
            <p:cNvSpPr txBox="1"/>
            <p:nvPr/>
          </p:nvSpPr>
          <p:spPr>
            <a:xfrm>
              <a:off x="10808092" y="895933"/>
              <a:ext cx="1162655" cy="6827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tx1"/>
                  </a:solidFill>
                  <a:effectLst/>
                  <a:uFillTx/>
                  <a:latin typeface="+mn-lt"/>
                  <a:ea typeface="+mn-ea"/>
                  <a:cs typeface="+mn-cs"/>
                  <a:sym typeface="Helvetica Neue"/>
                </a:rPr>
                <a:t>Which Pin 1 label is correct ?</a:t>
              </a:r>
            </a:p>
          </p:txBody>
        </p:sp>
        <p:sp>
          <p:nvSpPr>
            <p:cNvPr id="46" name="TextBox 45">
              <a:extLst>
                <a:ext uri="{FF2B5EF4-FFF2-40B4-BE49-F238E27FC236}">
                  <a16:creationId xmlns:a16="http://schemas.microsoft.com/office/drawing/2014/main" id="{F764A44F-30D8-440B-B252-48F0A288452F}"/>
                </a:ext>
              </a:extLst>
            </p:cNvPr>
            <p:cNvSpPr txBox="1"/>
            <p:nvPr/>
          </p:nvSpPr>
          <p:spPr>
            <a:xfrm>
              <a:off x="10634935" y="2472591"/>
              <a:ext cx="1437411" cy="113798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tx1"/>
                  </a:solidFill>
                  <a:effectLst/>
                  <a:uFillTx/>
                  <a:latin typeface="+mn-lt"/>
                  <a:ea typeface="+mn-ea"/>
                  <a:cs typeface="+mn-cs"/>
                  <a:sym typeface="Helvetica Neue"/>
                </a:rPr>
                <a:t>The Pin 1 mark on tools are inconsistent to Pin 1 indicator on PCB </a:t>
              </a:r>
              <a:endParaRPr kumimoji="0" lang="en-MY" sz="1400" b="0" i="0" u="none" strike="noStrike" cap="none" spc="0" normalizeH="0" baseline="0" dirty="0" err="1">
                <a:ln>
                  <a:noFill/>
                </a:ln>
                <a:solidFill>
                  <a:schemeClr val="tx1"/>
                </a:solidFill>
                <a:effectLst/>
                <a:uFillTx/>
                <a:latin typeface="+mn-lt"/>
                <a:ea typeface="+mn-ea"/>
                <a:cs typeface="+mn-cs"/>
                <a:sym typeface="Helvetica Neue"/>
              </a:endParaRPr>
            </a:p>
          </p:txBody>
        </p:sp>
      </p:grpSp>
      <p:sp>
        <p:nvSpPr>
          <p:cNvPr id="51" name="Oval 50">
            <a:extLst>
              <a:ext uri="{FF2B5EF4-FFF2-40B4-BE49-F238E27FC236}">
                <a16:creationId xmlns:a16="http://schemas.microsoft.com/office/drawing/2014/main" id="{B848EA2B-FE61-4758-991D-40967C1C6834}"/>
              </a:ext>
            </a:extLst>
          </p:cNvPr>
          <p:cNvSpPr/>
          <p:nvPr/>
        </p:nvSpPr>
        <p:spPr>
          <a:xfrm>
            <a:off x="850448" y="4419600"/>
            <a:ext cx="577043" cy="518160"/>
          </a:xfrm>
          <a:prstGeom prst="ellipse">
            <a:avLst/>
          </a:prstGeom>
          <a:noFill/>
          <a:ln w="38100"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2" name="Oval 61">
            <a:extLst>
              <a:ext uri="{FF2B5EF4-FFF2-40B4-BE49-F238E27FC236}">
                <a16:creationId xmlns:a16="http://schemas.microsoft.com/office/drawing/2014/main" id="{8D10650A-D19D-4589-A89E-ED3A5A889DD5}"/>
              </a:ext>
            </a:extLst>
          </p:cNvPr>
          <p:cNvSpPr/>
          <p:nvPr/>
        </p:nvSpPr>
        <p:spPr>
          <a:xfrm>
            <a:off x="3480982" y="2378055"/>
            <a:ext cx="577043" cy="518160"/>
          </a:xfrm>
          <a:prstGeom prst="ellipse">
            <a:avLst/>
          </a:prstGeom>
          <a:noFill/>
          <a:ln w="38100"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3" name="Oval 62">
            <a:extLst>
              <a:ext uri="{FF2B5EF4-FFF2-40B4-BE49-F238E27FC236}">
                <a16:creationId xmlns:a16="http://schemas.microsoft.com/office/drawing/2014/main" id="{9ABBA8D8-E8EF-4549-9F76-3F152976ABDA}"/>
              </a:ext>
            </a:extLst>
          </p:cNvPr>
          <p:cNvSpPr/>
          <p:nvPr/>
        </p:nvSpPr>
        <p:spPr>
          <a:xfrm>
            <a:off x="3188597" y="4586528"/>
            <a:ext cx="577043" cy="518160"/>
          </a:xfrm>
          <a:prstGeom prst="ellipse">
            <a:avLst/>
          </a:prstGeom>
          <a:noFill/>
          <a:ln w="38100"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4" name="Oval 63">
            <a:extLst>
              <a:ext uri="{FF2B5EF4-FFF2-40B4-BE49-F238E27FC236}">
                <a16:creationId xmlns:a16="http://schemas.microsoft.com/office/drawing/2014/main" id="{77573952-8A4B-43A1-855F-AA4E4B09A011}"/>
              </a:ext>
            </a:extLst>
          </p:cNvPr>
          <p:cNvSpPr/>
          <p:nvPr/>
        </p:nvSpPr>
        <p:spPr>
          <a:xfrm>
            <a:off x="3627744" y="1458843"/>
            <a:ext cx="577043" cy="518160"/>
          </a:xfrm>
          <a:prstGeom prst="ellipse">
            <a:avLst/>
          </a:prstGeom>
          <a:noFill/>
          <a:ln w="38100"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2" name="Rectangle 51">
            <a:extLst>
              <a:ext uri="{FF2B5EF4-FFF2-40B4-BE49-F238E27FC236}">
                <a16:creationId xmlns:a16="http://schemas.microsoft.com/office/drawing/2014/main" id="{F13CA224-9908-4B40-AD89-FDF1CEBA2981}"/>
              </a:ext>
            </a:extLst>
          </p:cNvPr>
          <p:cNvSpPr/>
          <p:nvPr/>
        </p:nvSpPr>
        <p:spPr>
          <a:xfrm>
            <a:off x="3277411" y="2027082"/>
            <a:ext cx="832279" cy="370486"/>
          </a:xfrm>
          <a:prstGeom prst="rect">
            <a:avLst/>
          </a:prstGeom>
        </p:spPr>
        <p:txBody>
          <a:bodyPr wrap="none">
            <a:spAutoFit/>
          </a:bodyPr>
          <a:lstStyle/>
          <a:p>
            <a:r>
              <a:rPr lang="en-US" sz="2000" dirty="0">
                <a:solidFill>
                  <a:srgbClr val="FF0000"/>
                </a:solidFill>
              </a:rPr>
              <a:t>Pin 1 </a:t>
            </a:r>
            <a:endParaRPr lang="en-MY" sz="2000" dirty="0"/>
          </a:p>
        </p:txBody>
      </p:sp>
      <p:sp>
        <p:nvSpPr>
          <p:cNvPr id="65" name="Rectangle 64">
            <a:extLst>
              <a:ext uri="{FF2B5EF4-FFF2-40B4-BE49-F238E27FC236}">
                <a16:creationId xmlns:a16="http://schemas.microsoft.com/office/drawing/2014/main" id="{A816C954-2C2D-4003-B135-CEF085AF951B}"/>
              </a:ext>
            </a:extLst>
          </p:cNvPr>
          <p:cNvSpPr/>
          <p:nvPr/>
        </p:nvSpPr>
        <p:spPr>
          <a:xfrm>
            <a:off x="3138670" y="4221083"/>
            <a:ext cx="832279" cy="370486"/>
          </a:xfrm>
          <a:prstGeom prst="rect">
            <a:avLst/>
          </a:prstGeom>
        </p:spPr>
        <p:txBody>
          <a:bodyPr wrap="none">
            <a:spAutoFit/>
          </a:bodyPr>
          <a:lstStyle/>
          <a:p>
            <a:r>
              <a:rPr lang="en-US" sz="2000" dirty="0">
                <a:solidFill>
                  <a:srgbClr val="FF0000"/>
                </a:solidFill>
              </a:rPr>
              <a:t>Pin 1 </a:t>
            </a:r>
            <a:endParaRPr lang="en-MY" sz="2000" dirty="0"/>
          </a:p>
        </p:txBody>
      </p:sp>
      <p:sp>
        <p:nvSpPr>
          <p:cNvPr id="68" name="Rectangle 67">
            <a:extLst>
              <a:ext uri="{FF2B5EF4-FFF2-40B4-BE49-F238E27FC236}">
                <a16:creationId xmlns:a16="http://schemas.microsoft.com/office/drawing/2014/main" id="{51513C08-DF88-496F-899D-B968F6053695}"/>
              </a:ext>
            </a:extLst>
          </p:cNvPr>
          <p:cNvSpPr/>
          <p:nvPr/>
        </p:nvSpPr>
        <p:spPr>
          <a:xfrm>
            <a:off x="464241" y="4210113"/>
            <a:ext cx="832279" cy="370486"/>
          </a:xfrm>
          <a:prstGeom prst="rect">
            <a:avLst/>
          </a:prstGeom>
        </p:spPr>
        <p:txBody>
          <a:bodyPr wrap="none">
            <a:spAutoFit/>
          </a:bodyPr>
          <a:lstStyle/>
          <a:p>
            <a:r>
              <a:rPr lang="en-US" sz="2000" dirty="0">
                <a:solidFill>
                  <a:srgbClr val="FF0000"/>
                </a:solidFill>
              </a:rPr>
              <a:t>Pin 1 </a:t>
            </a:r>
            <a:endParaRPr lang="en-MY" sz="2000" dirty="0"/>
          </a:p>
        </p:txBody>
      </p:sp>
      <p:sp>
        <p:nvSpPr>
          <p:cNvPr id="69" name="TextBox 68">
            <a:extLst>
              <a:ext uri="{FF2B5EF4-FFF2-40B4-BE49-F238E27FC236}">
                <a16:creationId xmlns:a16="http://schemas.microsoft.com/office/drawing/2014/main" id="{D0C06CBA-4ABB-4402-BCE7-64BCBD19310F}"/>
              </a:ext>
            </a:extLst>
          </p:cNvPr>
          <p:cNvSpPr txBox="1"/>
          <p:nvPr/>
        </p:nvSpPr>
        <p:spPr>
          <a:xfrm>
            <a:off x="6522719" y="5200755"/>
            <a:ext cx="5455215" cy="15081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91440" defTabSz="2438338">
              <a:lnSpc>
                <a:spcPct val="100000"/>
              </a:lnSpc>
              <a:spcBef>
                <a:spcPts val="0"/>
              </a:spcBef>
            </a:pPr>
            <a:r>
              <a:rPr kumimoji="0" lang="en-US" sz="1400" b="1" i="0" u="sng" strike="noStrike" cap="none" spc="0" normalizeH="0" baseline="0" dirty="0">
                <a:ln>
                  <a:noFill/>
                </a:ln>
                <a:solidFill>
                  <a:srgbClr val="FF0000"/>
                </a:solidFill>
                <a:effectLst/>
                <a:uFillTx/>
                <a:latin typeface="+mn-lt"/>
                <a:ea typeface="+mn-ea"/>
                <a:cs typeface="+mn-cs"/>
                <a:sym typeface="Helvetica Neue"/>
              </a:rPr>
              <a:t>Note: </a:t>
            </a:r>
          </a:p>
          <a:p>
            <a:pPr marL="434340" indent="-342900" defTabSz="2438338">
              <a:lnSpc>
                <a:spcPct val="100000"/>
              </a:lnSpc>
              <a:spcBef>
                <a:spcPts val="0"/>
              </a:spcBef>
              <a:buFont typeface="+mj-lt"/>
              <a:buAutoNum type="arabicParenR"/>
            </a:pPr>
            <a:r>
              <a:rPr kumimoji="0" lang="en-US" sz="1400" b="0" i="0" u="none" strike="noStrike" cap="none" spc="0" normalizeH="0" baseline="0" dirty="0">
                <a:ln>
                  <a:noFill/>
                </a:ln>
                <a:solidFill>
                  <a:srgbClr val="FF0000"/>
                </a:solidFill>
                <a:effectLst/>
                <a:uFillTx/>
                <a:latin typeface="+mn-lt"/>
                <a:ea typeface="+mn-ea"/>
                <a:cs typeface="+mn-cs"/>
                <a:sym typeface="Helvetica Neue"/>
              </a:rPr>
              <a:t>Operator needs to rotate processor 180° from PnP tool/stage  in order to align to PCB Pin 1. </a:t>
            </a:r>
          </a:p>
          <a:p>
            <a:pPr marL="434340" indent="-342900" defTabSz="2438338">
              <a:lnSpc>
                <a:spcPct val="100000"/>
              </a:lnSpc>
              <a:spcBef>
                <a:spcPts val="0"/>
              </a:spcBef>
              <a:buFont typeface="+mj-lt"/>
              <a:buAutoNum type="arabicParenR"/>
            </a:pPr>
            <a:r>
              <a:rPr kumimoji="0" lang="en-US" sz="1400" b="0" i="0" u="none" strike="noStrike" cap="none" spc="0" normalizeH="0" baseline="0" dirty="0">
                <a:ln>
                  <a:noFill/>
                </a:ln>
                <a:solidFill>
                  <a:srgbClr val="FF0000"/>
                </a:solidFill>
                <a:effectLst/>
                <a:uFillTx/>
                <a:latin typeface="+mn-lt"/>
                <a:ea typeface="+mn-ea"/>
                <a:cs typeface="+mn-cs"/>
                <a:sym typeface="Helvetica Neue"/>
              </a:rPr>
              <a:t>Any possibility to make changes for socket-V the ILM to allow customer process transparency and mitigate execution error for  manual process ?</a:t>
            </a:r>
            <a:r>
              <a:rPr kumimoji="0" lang="en-US" sz="1400" b="0" i="0" u="none" strike="noStrike" cap="none" spc="0" normalizeH="0" baseline="0" dirty="0" err="1">
                <a:ln>
                  <a:noFill/>
                </a:ln>
                <a:solidFill>
                  <a:srgbClr val="FF0000"/>
                </a:solidFill>
                <a:effectLst/>
                <a:uFillTx/>
                <a:latin typeface="+mn-lt"/>
                <a:ea typeface="+mn-ea"/>
                <a:cs typeface="+mn-cs"/>
                <a:sym typeface="Helvetica Neue"/>
              </a:rPr>
              <a:t>eg.</a:t>
            </a:r>
            <a:r>
              <a:rPr kumimoji="0" lang="en-US" sz="1400" b="0" i="0" u="none" strike="noStrike" cap="none" spc="0" normalizeH="0" baseline="0" dirty="0">
                <a:ln>
                  <a:noFill/>
                </a:ln>
                <a:solidFill>
                  <a:srgbClr val="FF0000"/>
                </a:solidFill>
                <a:effectLst/>
                <a:uFillTx/>
                <a:latin typeface="+mn-lt"/>
                <a:ea typeface="+mn-ea"/>
                <a:cs typeface="+mn-cs"/>
                <a:sym typeface="Helvetica Neue"/>
              </a:rPr>
              <a:t> 180° </a:t>
            </a:r>
            <a:r>
              <a:rPr lang="en-US" sz="1400" dirty="0">
                <a:solidFill>
                  <a:srgbClr val="FF0000"/>
                </a:solidFill>
              </a:rPr>
              <a:t>marking orientation change on ILM cover marking</a:t>
            </a:r>
          </a:p>
        </p:txBody>
      </p:sp>
      <p:cxnSp>
        <p:nvCxnSpPr>
          <p:cNvPr id="44" name="Straight Arrow Connector 43">
            <a:extLst>
              <a:ext uri="{FF2B5EF4-FFF2-40B4-BE49-F238E27FC236}">
                <a16:creationId xmlns:a16="http://schemas.microsoft.com/office/drawing/2014/main" id="{AAC0214F-1DD1-47CA-81E1-DD2FE9867726}"/>
              </a:ext>
            </a:extLst>
          </p:cNvPr>
          <p:cNvCxnSpPr>
            <a:cxnSpLocks/>
          </p:cNvCxnSpPr>
          <p:nvPr/>
        </p:nvCxnSpPr>
        <p:spPr>
          <a:xfrm flipV="1">
            <a:off x="4707973" y="4785364"/>
            <a:ext cx="3769837" cy="912064"/>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6" name="TextBox 35">
            <a:extLst>
              <a:ext uri="{FF2B5EF4-FFF2-40B4-BE49-F238E27FC236}">
                <a16:creationId xmlns:a16="http://schemas.microsoft.com/office/drawing/2014/main" id="{6BCD6E56-AA20-4A79-9EDD-DB3A6FADD33D}"/>
              </a:ext>
            </a:extLst>
          </p:cNvPr>
          <p:cNvSpPr txBox="1"/>
          <p:nvPr/>
        </p:nvSpPr>
        <p:spPr>
          <a:xfrm>
            <a:off x="6694309" y="739684"/>
            <a:ext cx="1828071" cy="8617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tx1"/>
                </a:solidFill>
                <a:effectLst/>
                <a:uFillTx/>
                <a:latin typeface="+mn-lt"/>
                <a:ea typeface="+mn-ea"/>
                <a:cs typeface="+mn-cs"/>
                <a:sym typeface="Helvetica Neue"/>
              </a:rPr>
              <a:t>Pin 1, diagonally opposite compare to </a:t>
            </a:r>
            <a:r>
              <a:rPr kumimoji="0" lang="en-US" sz="1400" b="0" i="0" u="none" strike="noStrike" cap="none" spc="0" normalizeH="0" baseline="0" dirty="0" err="1">
                <a:ln>
                  <a:noFill/>
                </a:ln>
                <a:solidFill>
                  <a:schemeClr val="tx1"/>
                </a:solidFill>
                <a:effectLst/>
                <a:uFillTx/>
                <a:latin typeface="+mn-lt"/>
                <a:ea typeface="+mn-ea"/>
                <a:cs typeface="+mn-cs"/>
                <a:sym typeface="Helvetica Neue"/>
              </a:rPr>
              <a:t>skt</a:t>
            </a:r>
            <a:r>
              <a:rPr kumimoji="0" lang="en-US" sz="1400" b="0" i="0" u="none" strike="noStrike" cap="none" spc="0" normalizeH="0" baseline="0" dirty="0">
                <a:ln>
                  <a:noFill/>
                </a:ln>
                <a:solidFill>
                  <a:schemeClr val="tx1"/>
                </a:solidFill>
                <a:effectLst/>
                <a:uFillTx/>
                <a:latin typeface="+mn-lt"/>
                <a:ea typeface="+mn-ea"/>
                <a:cs typeface="+mn-cs"/>
                <a:sym typeface="Helvetica Neue"/>
              </a:rPr>
              <a:t>-H &amp; also PnP tool / stage</a:t>
            </a:r>
            <a:endParaRPr kumimoji="0" lang="en-MY" sz="1400" b="0" i="0" u="none" strike="noStrike" cap="none" spc="0" normalizeH="0" baseline="0" dirty="0" err="1">
              <a:ln>
                <a:noFill/>
              </a:ln>
              <a:solidFill>
                <a:schemeClr val="tx1"/>
              </a:solidFill>
              <a:effectLst/>
              <a:uFillTx/>
              <a:latin typeface="+mn-lt"/>
              <a:ea typeface="+mn-ea"/>
              <a:cs typeface="+mn-cs"/>
              <a:sym typeface="Helvetica Neue"/>
            </a:endParaRPr>
          </a:p>
        </p:txBody>
      </p:sp>
      <p:sp>
        <p:nvSpPr>
          <p:cNvPr id="56" name="Oval 55">
            <a:extLst>
              <a:ext uri="{FF2B5EF4-FFF2-40B4-BE49-F238E27FC236}">
                <a16:creationId xmlns:a16="http://schemas.microsoft.com/office/drawing/2014/main" id="{0B5BDF9C-F893-44EA-A494-13CEDE3F1743}"/>
              </a:ext>
            </a:extLst>
          </p:cNvPr>
          <p:cNvSpPr/>
          <p:nvPr/>
        </p:nvSpPr>
        <p:spPr>
          <a:xfrm>
            <a:off x="10097272" y="3414646"/>
            <a:ext cx="103367" cy="85300"/>
          </a:xfrm>
          <a:prstGeom prst="ellipse">
            <a:avLst/>
          </a:prstGeom>
          <a:solidFill>
            <a:srgbClr val="FF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407386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B58BD70-DDC2-4DC7-8F55-ABF37B8B4226}"/>
              </a:ext>
            </a:extLst>
          </p:cNvPr>
          <p:cNvSpPr txBox="1"/>
          <p:nvPr/>
        </p:nvSpPr>
        <p:spPr>
          <a:xfrm>
            <a:off x="6303835" y="4759940"/>
            <a:ext cx="5136323" cy="1384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just" defTabSz="2438338"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0000"/>
                </a:solidFill>
                <a:effectLst/>
                <a:uFillTx/>
                <a:latin typeface="+mn-lt"/>
                <a:ea typeface="+mn-ea"/>
                <a:cs typeface="+mn-cs"/>
                <a:sym typeface="Helvetica Neue"/>
              </a:rPr>
              <a:t>Piece Parts </a:t>
            </a:r>
            <a:r>
              <a:rPr kumimoji="0" lang="en-US" sz="1800" b="0" i="0" u="sng" strike="noStrike" cap="none" spc="0" normalizeH="0" baseline="0" dirty="0" err="1">
                <a:ln>
                  <a:noFill/>
                </a:ln>
                <a:solidFill>
                  <a:srgbClr val="FF0000"/>
                </a:solidFill>
                <a:effectLst/>
                <a:uFillTx/>
                <a:latin typeface="+mn-lt"/>
                <a:ea typeface="+mn-ea"/>
                <a:cs typeface="+mn-cs"/>
                <a:sym typeface="Helvetica Neue"/>
              </a:rPr>
              <a:t>Interchangability</a:t>
            </a:r>
            <a:r>
              <a:rPr kumimoji="0" lang="en-US" sz="1800" b="0" i="0" u="sng" strike="noStrike" cap="none" spc="0" normalizeH="0" baseline="0" dirty="0">
                <a:ln>
                  <a:noFill/>
                </a:ln>
                <a:solidFill>
                  <a:srgbClr val="FF0000"/>
                </a:solidFill>
                <a:effectLst/>
                <a:uFillTx/>
                <a:latin typeface="+mn-lt"/>
                <a:ea typeface="+mn-ea"/>
                <a:cs typeface="+mn-cs"/>
                <a:sym typeface="Helvetica Neue"/>
              </a:rPr>
              <a:t> </a:t>
            </a:r>
          </a:p>
          <a:p>
            <a:pPr marL="342900" marR="0" indent="-342900" algn="just" defTabSz="2438338" rtl="0" fontAlgn="auto" latinLnBrk="0" hangingPunct="0">
              <a:lnSpc>
                <a:spcPct val="100000"/>
              </a:lnSpc>
              <a:spcBef>
                <a:spcPts val="0"/>
              </a:spcBef>
              <a:spcAft>
                <a:spcPts val="0"/>
              </a:spcAft>
              <a:buClrTx/>
              <a:buSzTx/>
              <a:buFontTx/>
              <a:buAutoNum type="arabicParenR"/>
              <a:tabLst/>
            </a:pPr>
            <a:r>
              <a:rPr lang="en-US" sz="1800" dirty="0">
                <a:solidFill>
                  <a:srgbClr val="FF0000"/>
                </a:solidFill>
              </a:rPr>
              <a:t>Need to ensure all 4 mounting screws are same part number# .</a:t>
            </a:r>
          </a:p>
          <a:p>
            <a:pPr marL="342900" marR="0" indent="-342900" algn="just" defTabSz="2438338" rtl="0" fontAlgn="auto" latinLnBrk="0" hangingPunct="0">
              <a:lnSpc>
                <a:spcPct val="100000"/>
              </a:lnSpc>
              <a:spcBef>
                <a:spcPts val="0"/>
              </a:spcBef>
              <a:spcAft>
                <a:spcPts val="0"/>
              </a:spcAft>
              <a:buClrTx/>
              <a:buSzTx/>
              <a:buFontTx/>
              <a:buAutoNum type="arabicParenR"/>
              <a:tabLst/>
            </a:pPr>
            <a:r>
              <a:rPr kumimoji="0" lang="en-US" sz="1800" b="0" i="0" u="none" strike="noStrike" cap="none" spc="0" normalizeH="0" baseline="0" dirty="0">
                <a:ln>
                  <a:noFill/>
                </a:ln>
                <a:solidFill>
                  <a:srgbClr val="FF0000"/>
                </a:solidFill>
                <a:effectLst/>
                <a:uFillTx/>
                <a:latin typeface="+mn-lt"/>
                <a:ea typeface="+mn-ea"/>
                <a:cs typeface="+mn-cs"/>
                <a:sym typeface="Helvetica Neue"/>
              </a:rPr>
              <a:t>Allow mixed vendor for piece parts (including different socket vendors to ILM vendors).</a:t>
            </a:r>
            <a:endParaRPr kumimoji="0" lang="en-MY" sz="1800" b="0" i="0" u="none" strike="noStrike" cap="none" spc="0" normalizeH="0" baseline="0" dirty="0" err="1">
              <a:ln>
                <a:noFill/>
              </a:ln>
              <a:solidFill>
                <a:srgbClr val="FF0000"/>
              </a:solidFill>
              <a:effectLst/>
              <a:uFillTx/>
              <a:latin typeface="+mn-lt"/>
              <a:ea typeface="+mn-ea"/>
              <a:cs typeface="+mn-cs"/>
              <a:sym typeface="Helvetica Neue"/>
            </a:endParaRPr>
          </a:p>
        </p:txBody>
      </p:sp>
      <p:cxnSp>
        <p:nvCxnSpPr>
          <p:cNvPr id="7" name="Straight Arrow Connector 6">
            <a:extLst>
              <a:ext uri="{FF2B5EF4-FFF2-40B4-BE49-F238E27FC236}">
                <a16:creationId xmlns:a16="http://schemas.microsoft.com/office/drawing/2014/main" id="{6B93C086-84F4-4896-94A9-FD5148A2E700}"/>
              </a:ext>
            </a:extLst>
          </p:cNvPr>
          <p:cNvCxnSpPr>
            <a:cxnSpLocks/>
          </p:cNvCxnSpPr>
          <p:nvPr/>
        </p:nvCxnSpPr>
        <p:spPr>
          <a:xfrm flipH="1" flipV="1">
            <a:off x="8938262" y="1412240"/>
            <a:ext cx="1160778" cy="2397760"/>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1" name="Picture 10">
            <a:extLst>
              <a:ext uri="{FF2B5EF4-FFF2-40B4-BE49-F238E27FC236}">
                <a16:creationId xmlns:a16="http://schemas.microsoft.com/office/drawing/2014/main" id="{52FBE374-A856-4B3E-8958-14C41D955E2B}"/>
              </a:ext>
            </a:extLst>
          </p:cNvPr>
          <p:cNvPicPr>
            <a:picLocks noChangeAspect="1"/>
          </p:cNvPicPr>
          <p:nvPr/>
        </p:nvPicPr>
        <p:blipFill>
          <a:blip r:embed="rId2"/>
          <a:stretch>
            <a:fillRect/>
          </a:stretch>
        </p:blipFill>
        <p:spPr>
          <a:xfrm>
            <a:off x="6370100" y="516585"/>
            <a:ext cx="4996786" cy="4237312"/>
          </a:xfrm>
          <a:prstGeom prst="rect">
            <a:avLst/>
          </a:prstGeom>
        </p:spPr>
      </p:pic>
      <p:cxnSp>
        <p:nvCxnSpPr>
          <p:cNvPr id="12" name="Straight Connector 11">
            <a:extLst>
              <a:ext uri="{FF2B5EF4-FFF2-40B4-BE49-F238E27FC236}">
                <a16:creationId xmlns:a16="http://schemas.microsoft.com/office/drawing/2014/main" id="{913AA0B3-FA80-433D-85BF-1FEF4DE6547C}"/>
              </a:ext>
            </a:extLst>
          </p:cNvPr>
          <p:cNvCxnSpPr>
            <a:cxnSpLocks/>
          </p:cNvCxnSpPr>
          <p:nvPr/>
        </p:nvCxnSpPr>
        <p:spPr>
          <a:xfrm>
            <a:off x="5961494" y="1153396"/>
            <a:ext cx="0" cy="4700447"/>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nvGrpSpPr>
          <p:cNvPr id="27" name="Group 26">
            <a:extLst>
              <a:ext uri="{FF2B5EF4-FFF2-40B4-BE49-F238E27FC236}">
                <a16:creationId xmlns:a16="http://schemas.microsoft.com/office/drawing/2014/main" id="{A0EFB353-537F-4C88-89AB-2A07E6D980C3}"/>
              </a:ext>
            </a:extLst>
          </p:cNvPr>
          <p:cNvGrpSpPr/>
          <p:nvPr/>
        </p:nvGrpSpPr>
        <p:grpSpPr>
          <a:xfrm>
            <a:off x="562592" y="1412240"/>
            <a:ext cx="4857648" cy="3884164"/>
            <a:chOff x="395071" y="930003"/>
            <a:chExt cx="5224083" cy="4237312"/>
          </a:xfrm>
        </p:grpSpPr>
        <p:pic>
          <p:nvPicPr>
            <p:cNvPr id="10" name="Picture 9">
              <a:extLst>
                <a:ext uri="{FF2B5EF4-FFF2-40B4-BE49-F238E27FC236}">
                  <a16:creationId xmlns:a16="http://schemas.microsoft.com/office/drawing/2014/main" id="{781C6CB4-E55B-4D21-8718-744E77C3DAAF}"/>
                </a:ext>
              </a:extLst>
            </p:cNvPr>
            <p:cNvPicPr>
              <a:picLocks noChangeAspect="1"/>
            </p:cNvPicPr>
            <p:nvPr/>
          </p:nvPicPr>
          <p:blipFill>
            <a:blip r:embed="rId3"/>
            <a:stretch>
              <a:fillRect/>
            </a:stretch>
          </p:blipFill>
          <p:spPr>
            <a:xfrm>
              <a:off x="395071" y="930003"/>
              <a:ext cx="5224083" cy="4237312"/>
            </a:xfrm>
            <a:prstGeom prst="rect">
              <a:avLst/>
            </a:prstGeom>
          </p:spPr>
        </p:pic>
        <p:grpSp>
          <p:nvGrpSpPr>
            <p:cNvPr id="18" name="Group 17">
              <a:extLst>
                <a:ext uri="{FF2B5EF4-FFF2-40B4-BE49-F238E27FC236}">
                  <a16:creationId xmlns:a16="http://schemas.microsoft.com/office/drawing/2014/main" id="{B05C985A-3587-4ADE-9F98-BDC621DD117D}"/>
                </a:ext>
              </a:extLst>
            </p:cNvPr>
            <p:cNvGrpSpPr/>
            <p:nvPr/>
          </p:nvGrpSpPr>
          <p:grpSpPr>
            <a:xfrm rot="19451769" flipV="1">
              <a:off x="1894949" y="1125787"/>
              <a:ext cx="1593506" cy="3356739"/>
              <a:chOff x="3982728" y="3964083"/>
              <a:chExt cx="1593506" cy="1605280"/>
            </a:xfrm>
            <a:effectLst>
              <a:glow rad="228600">
                <a:schemeClr val="accent3">
                  <a:satMod val="175000"/>
                  <a:alpha val="40000"/>
                </a:schemeClr>
              </a:glow>
            </a:effectLst>
          </p:grpSpPr>
          <p:sp>
            <p:nvSpPr>
              <p:cNvPr id="19" name="Arc 18">
                <a:extLst>
                  <a:ext uri="{FF2B5EF4-FFF2-40B4-BE49-F238E27FC236}">
                    <a16:creationId xmlns:a16="http://schemas.microsoft.com/office/drawing/2014/main" id="{6C0DBB46-F119-41CB-89FD-D9F4A376EAA7}"/>
                  </a:ext>
                </a:extLst>
              </p:cNvPr>
              <p:cNvSpPr/>
              <p:nvPr/>
            </p:nvSpPr>
            <p:spPr>
              <a:xfrm>
                <a:off x="3982728" y="3964083"/>
                <a:ext cx="1593506" cy="1605280"/>
              </a:xfrm>
              <a:prstGeom prst="arc">
                <a:avLst/>
              </a:prstGeom>
              <a:noFill/>
              <a:ln w="57150" cap="flat">
                <a:solidFill>
                  <a:srgbClr val="FF0000"/>
                </a:solidFill>
                <a:prstDash val="solid"/>
                <a:miter lim="400000"/>
                <a:headEnd type="stealth" w="lg" len="lg"/>
                <a:tailEnd type="none" w="med" len="me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MY" sz="1800" b="0" i="0" u="none" strike="noStrike" cap="none" spc="0" normalizeH="0" baseline="0">
                  <a:ln>
                    <a:noFill/>
                  </a:ln>
                  <a:solidFill>
                    <a:srgbClr val="000000"/>
                  </a:solidFill>
                  <a:effectLst>
                    <a:outerShdw blurRad="38100" dist="38100" dir="2700000" algn="tl">
                      <a:srgbClr val="000000">
                        <a:alpha val="43137"/>
                      </a:srgbClr>
                    </a:outerShdw>
                  </a:effectLst>
                  <a:uFillTx/>
                </a:endParaRPr>
              </a:p>
            </p:txBody>
          </p:sp>
          <p:sp>
            <p:nvSpPr>
              <p:cNvPr id="20" name="Arc 19">
                <a:extLst>
                  <a:ext uri="{FF2B5EF4-FFF2-40B4-BE49-F238E27FC236}">
                    <a16:creationId xmlns:a16="http://schemas.microsoft.com/office/drawing/2014/main" id="{87BBE647-E1FE-406B-9E8B-A7EE48C80AC8}"/>
                  </a:ext>
                </a:extLst>
              </p:cNvPr>
              <p:cNvSpPr/>
              <p:nvPr/>
            </p:nvSpPr>
            <p:spPr>
              <a:xfrm flipV="1">
                <a:off x="3982728" y="3964083"/>
                <a:ext cx="1593506" cy="1605280"/>
              </a:xfrm>
              <a:prstGeom prst="arc">
                <a:avLst/>
              </a:prstGeom>
              <a:noFill/>
              <a:ln w="57150" cap="flat">
                <a:solidFill>
                  <a:srgbClr val="FF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MY" sz="1800" b="0" i="0" u="none" strike="noStrike" cap="none" spc="0" normalizeH="0" baseline="0">
                  <a:ln>
                    <a:noFill/>
                  </a:ln>
                  <a:solidFill>
                    <a:srgbClr val="000000"/>
                  </a:solidFill>
                  <a:effectLst>
                    <a:outerShdw blurRad="38100" dist="38100" dir="2700000" algn="tl">
                      <a:srgbClr val="000000">
                        <a:alpha val="43137"/>
                      </a:srgbClr>
                    </a:outerShdw>
                  </a:effectLst>
                  <a:uFillTx/>
                </a:endParaRPr>
              </a:p>
            </p:txBody>
          </p:sp>
        </p:grpSp>
        <p:grpSp>
          <p:nvGrpSpPr>
            <p:cNvPr id="21" name="Group 20">
              <a:extLst>
                <a:ext uri="{FF2B5EF4-FFF2-40B4-BE49-F238E27FC236}">
                  <a16:creationId xmlns:a16="http://schemas.microsoft.com/office/drawing/2014/main" id="{12FBAECA-BE3C-4D57-B4AF-C1EA619CD751}"/>
                </a:ext>
              </a:extLst>
            </p:cNvPr>
            <p:cNvGrpSpPr/>
            <p:nvPr/>
          </p:nvGrpSpPr>
          <p:grpSpPr>
            <a:xfrm rot="4397958" flipH="1" flipV="1">
              <a:off x="2493684" y="2024443"/>
              <a:ext cx="1026854" cy="2658034"/>
              <a:chOff x="3982728" y="3964083"/>
              <a:chExt cx="1593506" cy="1605280"/>
            </a:xfrm>
            <a:effectLst>
              <a:glow rad="228600">
                <a:schemeClr val="accent3">
                  <a:satMod val="175000"/>
                  <a:alpha val="40000"/>
                </a:schemeClr>
              </a:glow>
            </a:effectLst>
          </p:grpSpPr>
          <p:sp>
            <p:nvSpPr>
              <p:cNvPr id="22" name="Arc 21">
                <a:extLst>
                  <a:ext uri="{FF2B5EF4-FFF2-40B4-BE49-F238E27FC236}">
                    <a16:creationId xmlns:a16="http://schemas.microsoft.com/office/drawing/2014/main" id="{D2BF165C-F5D6-461D-A840-472240FBB1E5}"/>
                  </a:ext>
                </a:extLst>
              </p:cNvPr>
              <p:cNvSpPr/>
              <p:nvPr/>
            </p:nvSpPr>
            <p:spPr>
              <a:xfrm>
                <a:off x="3982728" y="3964083"/>
                <a:ext cx="1593506" cy="1605280"/>
              </a:xfrm>
              <a:prstGeom prst="arc">
                <a:avLst/>
              </a:prstGeom>
              <a:noFill/>
              <a:ln w="57150" cap="flat">
                <a:solidFill>
                  <a:srgbClr val="FF0000"/>
                </a:solidFill>
                <a:prstDash val="solid"/>
                <a:miter lim="400000"/>
                <a:headEnd type="stealth" w="lg" len="lg"/>
                <a:tailEnd type="none" w="med" len="me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MY" sz="1800" b="0" i="0" u="none" strike="noStrike" cap="none" spc="0" normalizeH="0" baseline="0">
                  <a:ln>
                    <a:noFill/>
                  </a:ln>
                  <a:solidFill>
                    <a:srgbClr val="000000"/>
                  </a:solidFill>
                  <a:effectLst>
                    <a:outerShdw blurRad="38100" dist="38100" dir="2700000" algn="tl">
                      <a:srgbClr val="000000">
                        <a:alpha val="43137"/>
                      </a:srgbClr>
                    </a:outerShdw>
                  </a:effectLst>
                  <a:uFillTx/>
                </a:endParaRPr>
              </a:p>
            </p:txBody>
          </p:sp>
          <p:sp>
            <p:nvSpPr>
              <p:cNvPr id="23" name="Arc 22">
                <a:extLst>
                  <a:ext uri="{FF2B5EF4-FFF2-40B4-BE49-F238E27FC236}">
                    <a16:creationId xmlns:a16="http://schemas.microsoft.com/office/drawing/2014/main" id="{3A227B41-1B51-422A-98D3-A99E2A826D0D}"/>
                  </a:ext>
                </a:extLst>
              </p:cNvPr>
              <p:cNvSpPr/>
              <p:nvPr/>
            </p:nvSpPr>
            <p:spPr>
              <a:xfrm flipV="1">
                <a:off x="3982728" y="3964083"/>
                <a:ext cx="1593506" cy="1605280"/>
              </a:xfrm>
              <a:prstGeom prst="arc">
                <a:avLst/>
              </a:prstGeom>
              <a:noFill/>
              <a:ln w="57150" cap="flat">
                <a:solidFill>
                  <a:srgbClr val="FF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MY" sz="1800" b="0" i="0" u="none" strike="noStrike" cap="none" spc="0" normalizeH="0" baseline="0">
                  <a:ln>
                    <a:noFill/>
                  </a:ln>
                  <a:solidFill>
                    <a:srgbClr val="000000"/>
                  </a:solidFill>
                  <a:effectLst>
                    <a:outerShdw blurRad="38100" dist="38100" dir="2700000" algn="tl">
                      <a:srgbClr val="000000">
                        <a:alpha val="43137"/>
                      </a:srgbClr>
                    </a:outerShdw>
                  </a:effectLst>
                  <a:uFillTx/>
                </a:endParaRPr>
              </a:p>
            </p:txBody>
          </p:sp>
        </p:grpSp>
      </p:grpSp>
      <p:pic>
        <p:nvPicPr>
          <p:cNvPr id="26" name="Picture 25">
            <a:extLst>
              <a:ext uri="{FF2B5EF4-FFF2-40B4-BE49-F238E27FC236}">
                <a16:creationId xmlns:a16="http://schemas.microsoft.com/office/drawing/2014/main" id="{816D9F23-4171-4024-8A04-F0EF7185C490}"/>
              </a:ext>
            </a:extLst>
          </p:cNvPr>
          <p:cNvPicPr>
            <a:picLocks noChangeAspect="1"/>
          </p:cNvPicPr>
          <p:nvPr/>
        </p:nvPicPr>
        <p:blipFill>
          <a:blip r:embed="rId4"/>
          <a:stretch>
            <a:fillRect/>
          </a:stretch>
        </p:blipFill>
        <p:spPr>
          <a:xfrm>
            <a:off x="3387745" y="399006"/>
            <a:ext cx="2069131" cy="1013234"/>
          </a:xfrm>
          <a:prstGeom prst="rect">
            <a:avLst/>
          </a:prstGeom>
        </p:spPr>
      </p:pic>
      <p:sp>
        <p:nvSpPr>
          <p:cNvPr id="13" name="TextBox 12">
            <a:extLst>
              <a:ext uri="{FF2B5EF4-FFF2-40B4-BE49-F238E27FC236}">
                <a16:creationId xmlns:a16="http://schemas.microsoft.com/office/drawing/2014/main" id="{28A427CB-8117-4F78-A867-D3D7C78A4B52}"/>
              </a:ext>
            </a:extLst>
          </p:cNvPr>
          <p:cNvSpPr txBox="1"/>
          <p:nvPr/>
        </p:nvSpPr>
        <p:spPr>
          <a:xfrm>
            <a:off x="394380" y="4712234"/>
            <a:ext cx="5491503" cy="166199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just" defTabSz="2438338"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0000"/>
                </a:solidFill>
                <a:effectLst/>
                <a:uFillTx/>
                <a:latin typeface="+mn-lt"/>
                <a:ea typeface="+mn-ea"/>
                <a:cs typeface="+mn-cs"/>
                <a:sym typeface="Helvetica Neue"/>
              </a:rPr>
              <a:t>Manual </a:t>
            </a:r>
            <a:r>
              <a:rPr kumimoji="0" lang="en-US" sz="1800" b="0" i="0" u="sng" strike="noStrike" cap="none" spc="0" normalizeH="0" baseline="0" dirty="0" err="1">
                <a:ln>
                  <a:noFill/>
                </a:ln>
                <a:solidFill>
                  <a:srgbClr val="FF0000"/>
                </a:solidFill>
                <a:effectLst/>
                <a:uFillTx/>
                <a:latin typeface="+mn-lt"/>
                <a:ea typeface="+mn-ea"/>
                <a:cs typeface="+mn-cs"/>
                <a:sym typeface="Helvetica Neue"/>
              </a:rPr>
              <a:t>Asembly</a:t>
            </a:r>
            <a:r>
              <a:rPr kumimoji="0" lang="en-US" sz="1800" b="0" i="0" u="sng" strike="noStrike" cap="none" spc="0" normalizeH="0" baseline="0" dirty="0">
                <a:ln>
                  <a:noFill/>
                </a:ln>
                <a:solidFill>
                  <a:srgbClr val="FF0000"/>
                </a:solidFill>
                <a:effectLst/>
                <a:uFillTx/>
                <a:latin typeface="+mn-lt"/>
                <a:ea typeface="+mn-ea"/>
                <a:cs typeface="+mn-cs"/>
                <a:sym typeface="Helvetica Neue"/>
              </a:rPr>
              <a:t> risk</a:t>
            </a:r>
          </a:p>
          <a:p>
            <a:pPr marL="342900" marR="0" indent="-342900" algn="just" defTabSz="2438338" rtl="0" fontAlgn="auto" latinLnBrk="0" hangingPunct="0">
              <a:lnSpc>
                <a:spcPct val="100000"/>
              </a:lnSpc>
              <a:spcBef>
                <a:spcPts val="0"/>
              </a:spcBef>
              <a:spcAft>
                <a:spcPts val="0"/>
              </a:spcAft>
              <a:buClrTx/>
              <a:buSzTx/>
              <a:buFontTx/>
              <a:buAutoNum type="arabicParenR"/>
              <a:tabLst/>
            </a:pPr>
            <a:r>
              <a:rPr kumimoji="0" lang="en-US" sz="1800" b="0" i="0" u="none" strike="noStrike" cap="none" spc="0" normalizeH="0" baseline="0" dirty="0">
                <a:ln>
                  <a:noFill/>
                </a:ln>
                <a:solidFill>
                  <a:srgbClr val="FF0000"/>
                </a:solidFill>
                <a:effectLst/>
                <a:uFillTx/>
                <a:latin typeface="+mn-lt"/>
                <a:ea typeface="+mn-ea"/>
                <a:cs typeface="+mn-cs"/>
                <a:sym typeface="Helvetica Neue"/>
              </a:rPr>
              <a:t>PCB Top Side&gt; Potential/risk for operator swapped lever frame and load plate locations during assembly.</a:t>
            </a:r>
          </a:p>
          <a:p>
            <a:pPr marL="342900" marR="0" indent="-342900" algn="just" defTabSz="2438338" rtl="0" fontAlgn="auto" latinLnBrk="0" hangingPunct="0">
              <a:lnSpc>
                <a:spcPct val="100000"/>
              </a:lnSpc>
              <a:spcBef>
                <a:spcPts val="0"/>
              </a:spcBef>
              <a:spcAft>
                <a:spcPts val="0"/>
              </a:spcAft>
              <a:buClrTx/>
              <a:buSzTx/>
              <a:buFontTx/>
              <a:buAutoNum type="arabicParenR"/>
              <a:tabLst/>
            </a:pPr>
            <a:r>
              <a:rPr kumimoji="0" lang="en-US" sz="1800" b="0" i="0" u="none" strike="noStrike" cap="none" spc="0" normalizeH="0" baseline="0" dirty="0">
                <a:ln>
                  <a:noFill/>
                </a:ln>
                <a:solidFill>
                  <a:srgbClr val="FF0000"/>
                </a:solidFill>
                <a:effectLst/>
                <a:uFillTx/>
                <a:latin typeface="+mn-lt"/>
                <a:ea typeface="+mn-ea"/>
                <a:cs typeface="+mn-cs"/>
                <a:sym typeface="Helvetica Neue"/>
              </a:rPr>
              <a:t>Backplate&gt; Potentially 180° orientation assembled.</a:t>
            </a:r>
            <a:endParaRPr kumimoji="0" lang="en-MY" sz="1800" b="0" i="0" u="none" strike="noStrike" cap="none" spc="0" normalizeH="0" baseline="0" dirty="0" err="1">
              <a:ln>
                <a:noFill/>
              </a:ln>
              <a:solidFill>
                <a:srgbClr val="FF0000"/>
              </a:solidFill>
              <a:effectLst/>
              <a:uFillTx/>
              <a:latin typeface="+mn-lt"/>
              <a:ea typeface="+mn-ea"/>
              <a:cs typeface="+mn-cs"/>
              <a:sym typeface="Helvetica Neue"/>
            </a:endParaRPr>
          </a:p>
        </p:txBody>
      </p:sp>
      <p:sp>
        <p:nvSpPr>
          <p:cNvPr id="28" name="TextBox 27">
            <a:extLst>
              <a:ext uri="{FF2B5EF4-FFF2-40B4-BE49-F238E27FC236}">
                <a16:creationId xmlns:a16="http://schemas.microsoft.com/office/drawing/2014/main" id="{B7356D0A-1F2D-494E-A224-516B7F1B0D3E}"/>
              </a:ext>
            </a:extLst>
          </p:cNvPr>
          <p:cNvSpPr txBox="1"/>
          <p:nvPr/>
        </p:nvSpPr>
        <p:spPr>
          <a:xfrm>
            <a:off x="1455181" y="209396"/>
            <a:ext cx="2069131"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err="1">
                <a:ln>
                  <a:noFill/>
                </a:ln>
                <a:solidFill>
                  <a:schemeClr val="tx2"/>
                </a:solidFill>
                <a:effectLst/>
                <a:uFillTx/>
                <a:latin typeface="+mn-lt"/>
                <a:ea typeface="+mn-ea"/>
                <a:cs typeface="+mn-cs"/>
                <a:sym typeface="Helvetica Neue"/>
              </a:rPr>
              <a:t>Skt</a:t>
            </a:r>
            <a:r>
              <a:rPr kumimoji="0" lang="en-US" sz="1600" b="1" i="0" u="none" strike="noStrike" cap="none" spc="0" normalizeH="0" baseline="0" dirty="0">
                <a:ln>
                  <a:noFill/>
                </a:ln>
                <a:solidFill>
                  <a:schemeClr val="tx2"/>
                </a:solidFill>
                <a:effectLst/>
                <a:uFillTx/>
                <a:latin typeface="+mn-lt"/>
                <a:ea typeface="+mn-ea"/>
                <a:cs typeface="+mn-cs"/>
                <a:sym typeface="Helvetica Neue"/>
              </a:rPr>
              <a:t>-H, fool proof for wrong orientation</a:t>
            </a:r>
            <a:endParaRPr kumimoji="0" lang="en-MY" sz="1600" b="1" i="0" u="none" strike="noStrike" cap="none" spc="0" normalizeH="0" baseline="0" dirty="0" err="1">
              <a:ln>
                <a:noFill/>
              </a:ln>
              <a:solidFill>
                <a:schemeClr val="tx2"/>
              </a:solidFill>
              <a:effectLst/>
              <a:uFillTx/>
              <a:latin typeface="+mn-lt"/>
              <a:ea typeface="+mn-ea"/>
              <a:cs typeface="+mn-cs"/>
              <a:sym typeface="Helvetica Neue"/>
            </a:endParaRPr>
          </a:p>
        </p:txBody>
      </p:sp>
      <p:sp>
        <p:nvSpPr>
          <p:cNvPr id="30" name="Arc 29">
            <a:extLst>
              <a:ext uri="{FF2B5EF4-FFF2-40B4-BE49-F238E27FC236}">
                <a16:creationId xmlns:a16="http://schemas.microsoft.com/office/drawing/2014/main" id="{25720318-872E-480D-BE48-50A46E7CBC78}"/>
              </a:ext>
            </a:extLst>
          </p:cNvPr>
          <p:cNvSpPr/>
          <p:nvPr/>
        </p:nvSpPr>
        <p:spPr>
          <a:xfrm rot="15754488" flipV="1">
            <a:off x="2850568" y="-447921"/>
            <a:ext cx="1481732" cy="2944869"/>
          </a:xfrm>
          <a:prstGeom prst="arc">
            <a:avLst/>
          </a:prstGeom>
          <a:noFill/>
          <a:ln w="28575" cap="flat">
            <a:solidFill>
              <a:srgbClr val="FF0000"/>
            </a:solidFill>
            <a:prstDash val="solid"/>
            <a:miter lim="400000"/>
            <a:headEnd type="stealth" w="lg" len="lg"/>
            <a:tailEnd type="none" w="med" len="me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MY" sz="1800" b="0" i="0" u="none" strike="noStrike" cap="none" spc="0" normalizeH="0" baseline="0">
              <a:ln>
                <a:noFill/>
              </a:ln>
              <a:solidFill>
                <a:srgbClr val="000000"/>
              </a:solidFill>
              <a:effectLst>
                <a:outerShdw blurRad="38100" dist="38100" dir="2700000" algn="tl">
                  <a:srgbClr val="000000">
                    <a:alpha val="43137"/>
                  </a:srgbClr>
                </a:outerShdw>
              </a:effectLst>
              <a:uFillTx/>
            </a:endParaRPr>
          </a:p>
        </p:txBody>
      </p:sp>
      <p:sp>
        <p:nvSpPr>
          <p:cNvPr id="32" name="TextBox 31">
            <a:extLst>
              <a:ext uri="{FF2B5EF4-FFF2-40B4-BE49-F238E27FC236}">
                <a16:creationId xmlns:a16="http://schemas.microsoft.com/office/drawing/2014/main" id="{EDFE1EFE-034B-420D-A617-206BB59062A9}"/>
              </a:ext>
            </a:extLst>
          </p:cNvPr>
          <p:cNvSpPr txBox="1"/>
          <p:nvPr/>
        </p:nvSpPr>
        <p:spPr>
          <a:xfrm>
            <a:off x="1640" y="3474575"/>
            <a:ext cx="1546283" cy="498621"/>
          </a:xfrm>
          <a:prstGeom prst="rect">
            <a:avLst/>
          </a:prstGeom>
          <a:noFill/>
        </p:spPr>
        <p:txBody>
          <a:bodyPr vert="horz" wrap="square" lIns="0" tIns="0" rIns="0" bIns="0" rtlCol="0">
            <a:noAutofit/>
          </a:bodyPr>
          <a:lstStyle/>
          <a:p>
            <a:pPr algn="ctr"/>
            <a:r>
              <a:rPr lang="en-US" sz="1400" b="1" dirty="0">
                <a:solidFill>
                  <a:schemeClr val="tx2"/>
                </a:solidFill>
              </a:rPr>
              <a:t>Socket V0 ILM Sub-Assemblies</a:t>
            </a:r>
          </a:p>
        </p:txBody>
      </p:sp>
    </p:spTree>
    <p:extLst>
      <p:ext uri="{BB962C8B-B14F-4D97-AF65-F5344CB8AC3E}">
        <p14:creationId xmlns:p14="http://schemas.microsoft.com/office/powerpoint/2010/main" val="3072379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B5C42F-4A51-46AA-9F25-4CF75ECE87C0}"/>
              </a:ext>
            </a:extLst>
          </p:cNvPr>
          <p:cNvPicPr>
            <a:picLocks noChangeAspect="1"/>
          </p:cNvPicPr>
          <p:nvPr/>
        </p:nvPicPr>
        <p:blipFill>
          <a:blip r:embed="rId2"/>
          <a:stretch>
            <a:fillRect/>
          </a:stretch>
        </p:blipFill>
        <p:spPr>
          <a:xfrm>
            <a:off x="652650" y="496394"/>
            <a:ext cx="10292080" cy="4181158"/>
          </a:xfrm>
          <a:prstGeom prst="rect">
            <a:avLst/>
          </a:prstGeom>
        </p:spPr>
      </p:pic>
      <p:sp>
        <p:nvSpPr>
          <p:cNvPr id="5" name="TextBox 4">
            <a:extLst>
              <a:ext uri="{FF2B5EF4-FFF2-40B4-BE49-F238E27FC236}">
                <a16:creationId xmlns:a16="http://schemas.microsoft.com/office/drawing/2014/main" id="{61D1FAA4-A82A-4BB1-9B22-2E471DB38CB0}"/>
              </a:ext>
            </a:extLst>
          </p:cNvPr>
          <p:cNvSpPr txBox="1"/>
          <p:nvPr/>
        </p:nvSpPr>
        <p:spPr>
          <a:xfrm>
            <a:off x="7943851" y="5030582"/>
            <a:ext cx="3595500" cy="110799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FF0000"/>
                </a:solidFill>
                <a:effectLst/>
                <a:uFillTx/>
                <a:latin typeface="+mn-lt"/>
                <a:ea typeface="+mn-ea"/>
                <a:cs typeface="+mn-cs"/>
                <a:sym typeface="Helvetica Neue"/>
              </a:rPr>
              <a:t>Where is the locking position for load plate to push the ILM cover to pop-up ? Should </a:t>
            </a:r>
            <a:r>
              <a:rPr lang="en-US" sz="1800" dirty="0">
                <a:solidFill>
                  <a:srgbClr val="FF0000"/>
                </a:solidFill>
              </a:rPr>
              <a:t>the cover pop-up happen after </a:t>
            </a:r>
            <a:r>
              <a:rPr kumimoji="0" lang="en-US" sz="1800" b="0" i="0" u="none" strike="noStrike" cap="none" spc="0" normalizeH="0" baseline="0" dirty="0">
                <a:ln>
                  <a:noFill/>
                </a:ln>
                <a:solidFill>
                  <a:srgbClr val="FF0000"/>
                </a:solidFill>
                <a:effectLst/>
                <a:uFillTx/>
                <a:latin typeface="+mn-lt"/>
                <a:ea typeface="+mn-ea"/>
                <a:cs typeface="+mn-cs"/>
                <a:sym typeface="Helvetica Neue"/>
              </a:rPr>
              <a:t>lever is latch ?</a:t>
            </a:r>
            <a:endParaRPr kumimoji="0" lang="en-MY" sz="1800" b="0" i="0" u="none" strike="noStrike" cap="none" spc="0" normalizeH="0" baseline="0" dirty="0" err="1">
              <a:ln>
                <a:noFill/>
              </a:ln>
              <a:solidFill>
                <a:srgbClr val="FF0000"/>
              </a:solidFill>
              <a:effectLst/>
              <a:uFillTx/>
              <a:latin typeface="+mn-lt"/>
              <a:ea typeface="+mn-ea"/>
              <a:cs typeface="+mn-cs"/>
              <a:sym typeface="Helvetica Neue"/>
            </a:endParaRPr>
          </a:p>
        </p:txBody>
      </p:sp>
      <p:cxnSp>
        <p:nvCxnSpPr>
          <p:cNvPr id="6" name="Straight Arrow Connector 5">
            <a:extLst>
              <a:ext uri="{FF2B5EF4-FFF2-40B4-BE49-F238E27FC236}">
                <a16:creationId xmlns:a16="http://schemas.microsoft.com/office/drawing/2014/main" id="{B22486E9-B465-440A-8831-25C6CF785CD3}"/>
              </a:ext>
            </a:extLst>
          </p:cNvPr>
          <p:cNvCxnSpPr>
            <a:cxnSpLocks/>
          </p:cNvCxnSpPr>
          <p:nvPr/>
        </p:nvCxnSpPr>
        <p:spPr>
          <a:xfrm flipH="1" flipV="1">
            <a:off x="7249031" y="4376799"/>
            <a:ext cx="1061849" cy="635596"/>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1" name="TextBox 10">
            <a:extLst>
              <a:ext uri="{FF2B5EF4-FFF2-40B4-BE49-F238E27FC236}">
                <a16:creationId xmlns:a16="http://schemas.microsoft.com/office/drawing/2014/main" id="{6B1A8BE2-6141-40DD-BA2A-9543775DE983}"/>
              </a:ext>
            </a:extLst>
          </p:cNvPr>
          <p:cNvSpPr txBox="1"/>
          <p:nvPr/>
        </p:nvSpPr>
        <p:spPr>
          <a:xfrm>
            <a:off x="652649" y="4735397"/>
            <a:ext cx="6794631" cy="166199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0000"/>
                </a:solidFill>
                <a:effectLst/>
                <a:uFillTx/>
                <a:latin typeface="+mn-lt"/>
                <a:ea typeface="+mn-ea"/>
                <a:cs typeface="+mn-cs"/>
                <a:sym typeface="Helvetica Neue"/>
              </a:rPr>
              <a:t>Automation Assessment/concerns: </a:t>
            </a:r>
          </a:p>
          <a:p>
            <a:pPr marL="342900" indent="-342900" defTabSz="2438338">
              <a:lnSpc>
                <a:spcPct val="100000"/>
              </a:lnSpc>
              <a:spcBef>
                <a:spcPts val="0"/>
              </a:spcBef>
              <a:buFontTx/>
              <a:buAutoNum type="arabicParenR"/>
            </a:pPr>
            <a:r>
              <a:rPr kumimoji="0" lang="en-US" sz="1800" b="0" i="0" u="none" strike="noStrike" cap="none" spc="0" normalizeH="0" baseline="0" dirty="0">
                <a:ln>
                  <a:noFill/>
                </a:ln>
                <a:solidFill>
                  <a:srgbClr val="FF0000"/>
                </a:solidFill>
                <a:effectLst/>
                <a:uFillTx/>
                <a:latin typeface="+mn-lt"/>
                <a:ea typeface="+mn-ea"/>
                <a:cs typeface="+mn-cs"/>
                <a:sym typeface="Helvetica Neue"/>
              </a:rPr>
              <a:t>Will the top plate &amp; lever arm will stay permanently (height &amp; angle) when moving at conveyor </a:t>
            </a:r>
            <a:r>
              <a:rPr lang="en-US" sz="1800" dirty="0">
                <a:solidFill>
                  <a:srgbClr val="FF0000"/>
                </a:solidFill>
              </a:rPr>
              <a:t>belt to next process/operator to install processor ? </a:t>
            </a:r>
            <a:endParaRPr kumimoji="0" lang="en-US" sz="1800" b="0" i="0" u="none" strike="noStrike" cap="none" spc="0" normalizeH="0" baseline="0" dirty="0">
              <a:ln>
                <a:noFill/>
              </a:ln>
              <a:solidFill>
                <a:srgbClr val="FF0000"/>
              </a:solidFill>
              <a:effectLst/>
              <a:uFillTx/>
              <a:latin typeface="+mn-lt"/>
              <a:ea typeface="+mn-ea"/>
              <a:cs typeface="+mn-cs"/>
              <a:sym typeface="Helvetica Neue"/>
            </a:endParaRPr>
          </a:p>
          <a:p>
            <a:pPr marL="342900" marR="0" indent="-342900" algn="l" defTabSz="2438338" rtl="0" fontAlgn="auto" latinLnBrk="0" hangingPunct="0">
              <a:lnSpc>
                <a:spcPct val="100000"/>
              </a:lnSpc>
              <a:spcBef>
                <a:spcPts val="0"/>
              </a:spcBef>
              <a:spcAft>
                <a:spcPts val="0"/>
              </a:spcAft>
              <a:buClrTx/>
              <a:buSzTx/>
              <a:buFontTx/>
              <a:buAutoNum type="arabicParenR"/>
              <a:tabLst/>
            </a:pPr>
            <a:r>
              <a:rPr kumimoji="0" lang="en-US" sz="1800" b="0" i="0" u="none" strike="noStrike" cap="none" spc="0" normalizeH="0" baseline="0" dirty="0">
                <a:ln>
                  <a:noFill/>
                </a:ln>
                <a:solidFill>
                  <a:srgbClr val="FF0000"/>
                </a:solidFill>
                <a:effectLst/>
                <a:uFillTx/>
                <a:latin typeface="+mn-lt"/>
                <a:ea typeface="+mn-ea"/>
                <a:cs typeface="+mn-cs"/>
                <a:sym typeface="Helvetica Neue"/>
              </a:rPr>
              <a:t>What is the height / angle of the top-plate and lever arm ? (Machine PnP assessment)</a:t>
            </a:r>
            <a:endParaRPr kumimoji="0" lang="en-MY" sz="1800" b="0" i="0" u="none" strike="noStrike" cap="none" spc="0" normalizeH="0" baseline="0" dirty="0" err="1">
              <a:ln>
                <a:noFill/>
              </a:ln>
              <a:solidFill>
                <a:srgbClr val="FF0000"/>
              </a:solidFill>
              <a:effectLst/>
              <a:uFillTx/>
              <a:latin typeface="+mn-lt"/>
              <a:ea typeface="+mn-ea"/>
              <a:cs typeface="+mn-cs"/>
              <a:sym typeface="Helvetica Neue"/>
            </a:endParaRPr>
          </a:p>
        </p:txBody>
      </p:sp>
      <p:cxnSp>
        <p:nvCxnSpPr>
          <p:cNvPr id="12" name="Straight Arrow Connector 11">
            <a:extLst>
              <a:ext uri="{FF2B5EF4-FFF2-40B4-BE49-F238E27FC236}">
                <a16:creationId xmlns:a16="http://schemas.microsoft.com/office/drawing/2014/main" id="{9F0EA1C1-5DDC-48C2-BFCF-2F06BDF5D61D}"/>
              </a:ext>
            </a:extLst>
          </p:cNvPr>
          <p:cNvCxnSpPr>
            <a:cxnSpLocks/>
          </p:cNvCxnSpPr>
          <p:nvPr/>
        </p:nvCxnSpPr>
        <p:spPr>
          <a:xfrm flipH="1" flipV="1">
            <a:off x="942342" y="2397760"/>
            <a:ext cx="1160778" cy="2397760"/>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6" name="Action Button: Go Back or Previous 15">
            <a:hlinkClick r:id="rId3" action="ppaction://hlinksldjump" highlightClick="1"/>
            <a:extLst>
              <a:ext uri="{FF2B5EF4-FFF2-40B4-BE49-F238E27FC236}">
                <a16:creationId xmlns:a16="http://schemas.microsoft.com/office/drawing/2014/main" id="{2868E0D1-C4D6-416A-9C04-BC0D535D3868}"/>
              </a:ext>
            </a:extLst>
          </p:cNvPr>
          <p:cNvSpPr/>
          <p:nvPr/>
        </p:nvSpPr>
        <p:spPr>
          <a:xfrm>
            <a:off x="11311054" y="203200"/>
            <a:ext cx="482340" cy="404316"/>
          </a:xfrm>
          <a:prstGeom prst="actionButtonBackPrevious">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cxnSp>
        <p:nvCxnSpPr>
          <p:cNvPr id="17" name="Straight Arrow Connector 16">
            <a:extLst>
              <a:ext uri="{FF2B5EF4-FFF2-40B4-BE49-F238E27FC236}">
                <a16:creationId xmlns:a16="http://schemas.microsoft.com/office/drawing/2014/main" id="{3022B845-71D3-4E8B-9383-B73BF21CFF1D}"/>
              </a:ext>
            </a:extLst>
          </p:cNvPr>
          <p:cNvCxnSpPr>
            <a:cxnSpLocks/>
          </p:cNvCxnSpPr>
          <p:nvPr/>
        </p:nvCxnSpPr>
        <p:spPr>
          <a:xfrm flipV="1">
            <a:off x="2392812" y="2770847"/>
            <a:ext cx="1161332" cy="1980758"/>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0" name="Straight Arrow Connector 19">
            <a:extLst>
              <a:ext uri="{FF2B5EF4-FFF2-40B4-BE49-F238E27FC236}">
                <a16:creationId xmlns:a16="http://schemas.microsoft.com/office/drawing/2014/main" id="{858C8360-3FC4-49E9-837D-51C67F38B53D}"/>
              </a:ext>
            </a:extLst>
          </p:cNvPr>
          <p:cNvCxnSpPr>
            <a:cxnSpLocks/>
          </p:cNvCxnSpPr>
          <p:nvPr/>
        </p:nvCxnSpPr>
        <p:spPr>
          <a:xfrm flipV="1">
            <a:off x="9398000" y="4236721"/>
            <a:ext cx="193040" cy="793861"/>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921995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B5970D3-27B8-4E00-8EB2-A8523D0A4F50}"/>
              </a:ext>
            </a:extLst>
          </p:cNvPr>
          <p:cNvPicPr>
            <a:picLocks noChangeAspect="1"/>
          </p:cNvPicPr>
          <p:nvPr/>
        </p:nvPicPr>
        <p:blipFill>
          <a:blip r:embed="rId2"/>
          <a:stretch>
            <a:fillRect/>
          </a:stretch>
        </p:blipFill>
        <p:spPr>
          <a:xfrm>
            <a:off x="5689601" y="944457"/>
            <a:ext cx="4875906" cy="4191876"/>
          </a:xfrm>
          <a:prstGeom prst="rect">
            <a:avLst/>
          </a:prstGeom>
        </p:spPr>
      </p:pic>
      <p:sp>
        <p:nvSpPr>
          <p:cNvPr id="5" name="Action Button: Go Back or Previous 4">
            <a:hlinkClick r:id="rId3" action="ppaction://hlinksldjump" highlightClick="1"/>
            <a:extLst>
              <a:ext uri="{FF2B5EF4-FFF2-40B4-BE49-F238E27FC236}">
                <a16:creationId xmlns:a16="http://schemas.microsoft.com/office/drawing/2014/main" id="{B5A6FDD5-611A-414E-937F-465FD2838EE5}"/>
              </a:ext>
            </a:extLst>
          </p:cNvPr>
          <p:cNvSpPr/>
          <p:nvPr/>
        </p:nvSpPr>
        <p:spPr>
          <a:xfrm>
            <a:off x="11321214" y="203200"/>
            <a:ext cx="482340" cy="404316"/>
          </a:xfrm>
          <a:prstGeom prst="actionButtonBackPrevious">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9" name="Picture 8">
            <a:extLst>
              <a:ext uri="{FF2B5EF4-FFF2-40B4-BE49-F238E27FC236}">
                <a16:creationId xmlns:a16="http://schemas.microsoft.com/office/drawing/2014/main" id="{3BAB8498-5835-4A5E-81BB-C907B3385D69}"/>
              </a:ext>
            </a:extLst>
          </p:cNvPr>
          <p:cNvPicPr>
            <a:picLocks noChangeAspect="1"/>
          </p:cNvPicPr>
          <p:nvPr/>
        </p:nvPicPr>
        <p:blipFill>
          <a:blip r:embed="rId4"/>
          <a:stretch>
            <a:fillRect/>
          </a:stretch>
        </p:blipFill>
        <p:spPr>
          <a:xfrm>
            <a:off x="1027055" y="946787"/>
            <a:ext cx="3544946" cy="2443864"/>
          </a:xfrm>
          <a:prstGeom prst="rect">
            <a:avLst/>
          </a:prstGeom>
        </p:spPr>
      </p:pic>
      <p:pic>
        <p:nvPicPr>
          <p:cNvPr id="10" name="Picture 9">
            <a:extLst>
              <a:ext uri="{FF2B5EF4-FFF2-40B4-BE49-F238E27FC236}">
                <a16:creationId xmlns:a16="http://schemas.microsoft.com/office/drawing/2014/main" id="{49D30782-C73C-46B5-BC0A-62F1DF978296}"/>
              </a:ext>
            </a:extLst>
          </p:cNvPr>
          <p:cNvPicPr>
            <a:picLocks noChangeAspect="1"/>
          </p:cNvPicPr>
          <p:nvPr/>
        </p:nvPicPr>
        <p:blipFill>
          <a:blip r:embed="rId5"/>
          <a:stretch>
            <a:fillRect/>
          </a:stretch>
        </p:blipFill>
        <p:spPr>
          <a:xfrm>
            <a:off x="751840" y="3535044"/>
            <a:ext cx="4142319" cy="2376169"/>
          </a:xfrm>
          <a:prstGeom prst="rect">
            <a:avLst/>
          </a:prstGeom>
        </p:spPr>
      </p:pic>
      <p:graphicFrame>
        <p:nvGraphicFramePr>
          <p:cNvPr id="11" name="Table 4">
            <a:extLst>
              <a:ext uri="{FF2B5EF4-FFF2-40B4-BE49-F238E27FC236}">
                <a16:creationId xmlns:a16="http://schemas.microsoft.com/office/drawing/2014/main" id="{3E9FACBB-6D5D-43ED-8D55-B8CFEEEEEA28}"/>
              </a:ext>
            </a:extLst>
          </p:cNvPr>
          <p:cNvGraphicFramePr>
            <a:graphicFrameLocks noGrp="1"/>
          </p:cNvGraphicFramePr>
          <p:nvPr>
            <p:extLst>
              <p:ext uri="{D42A27DB-BD31-4B8C-83A1-F6EECF244321}">
                <p14:modId xmlns:p14="http://schemas.microsoft.com/office/powerpoint/2010/main" val="3788036562"/>
              </p:ext>
            </p:extLst>
          </p:nvPr>
        </p:nvGraphicFramePr>
        <p:xfrm>
          <a:off x="325120" y="374226"/>
          <a:ext cx="11023600" cy="457200"/>
        </p:xfrm>
        <a:graphic>
          <a:graphicData uri="http://schemas.openxmlformats.org/drawingml/2006/table">
            <a:tbl>
              <a:tblPr firstRow="1" bandRow="1">
                <a:tableStyleId>{5940675A-B579-460E-94D1-54222C63F5DA}</a:tableStyleId>
              </a:tblPr>
              <a:tblGrid>
                <a:gridCol w="4815840">
                  <a:extLst>
                    <a:ext uri="{9D8B030D-6E8A-4147-A177-3AD203B41FA5}">
                      <a16:colId xmlns:a16="http://schemas.microsoft.com/office/drawing/2014/main" val="1809939556"/>
                    </a:ext>
                  </a:extLst>
                </a:gridCol>
                <a:gridCol w="6207760">
                  <a:extLst>
                    <a:ext uri="{9D8B030D-6E8A-4147-A177-3AD203B41FA5}">
                      <a16:colId xmlns:a16="http://schemas.microsoft.com/office/drawing/2014/main" val="2219818289"/>
                    </a:ext>
                  </a:extLst>
                </a:gridCol>
              </a:tblGrid>
              <a:tr h="370840">
                <a:tc>
                  <a:txBody>
                    <a:bodyPr/>
                    <a:lstStyle/>
                    <a:p>
                      <a:pPr algn="ctr"/>
                      <a:r>
                        <a:rPr lang="en-US" sz="2400" b="1" dirty="0">
                          <a:solidFill>
                            <a:schemeClr val="tx2"/>
                          </a:solidFill>
                          <a:effectLst>
                            <a:glow rad="228600">
                              <a:schemeClr val="accent6">
                                <a:satMod val="175000"/>
                                <a:alpha val="40000"/>
                              </a:schemeClr>
                            </a:glow>
                          </a:effectLst>
                        </a:rPr>
                        <a:t>Socket-H</a:t>
                      </a:r>
                      <a:endParaRPr lang="en-MY" sz="2400" b="1" dirty="0">
                        <a:solidFill>
                          <a:schemeClr val="tx2"/>
                        </a:solidFill>
                        <a:effectLst>
                          <a:glow rad="228600">
                            <a:schemeClr val="accent6">
                              <a:satMod val="175000"/>
                              <a:alpha val="40000"/>
                            </a:schemeClr>
                          </a:glow>
                        </a:effectLs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2"/>
                          </a:solidFill>
                          <a:effectLst>
                            <a:glow rad="228600">
                              <a:schemeClr val="accent6">
                                <a:satMod val="175000"/>
                                <a:alpha val="40000"/>
                              </a:schemeClr>
                            </a:glow>
                          </a:effectLst>
                        </a:rPr>
                        <a:t>Socket-V</a:t>
                      </a:r>
                      <a:endParaRPr lang="en-MY" sz="2400" b="1" dirty="0">
                        <a:solidFill>
                          <a:schemeClr val="tx2"/>
                        </a:solidFill>
                        <a:effectLst>
                          <a:glow rad="228600">
                            <a:schemeClr val="accent6">
                              <a:satMod val="175000"/>
                              <a:alpha val="40000"/>
                            </a:schemeClr>
                          </a:glow>
                        </a:effectLs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87069952"/>
                  </a:ext>
                </a:extLst>
              </a:tr>
            </a:tbl>
          </a:graphicData>
        </a:graphic>
      </p:graphicFrame>
      <p:sp>
        <p:nvSpPr>
          <p:cNvPr id="12" name="TextBox 11">
            <a:extLst>
              <a:ext uri="{FF2B5EF4-FFF2-40B4-BE49-F238E27FC236}">
                <a16:creationId xmlns:a16="http://schemas.microsoft.com/office/drawing/2014/main" id="{725491F9-2635-4576-934E-FE7DB811C3B2}"/>
              </a:ext>
            </a:extLst>
          </p:cNvPr>
          <p:cNvSpPr txBox="1"/>
          <p:nvPr/>
        </p:nvSpPr>
        <p:spPr>
          <a:xfrm>
            <a:off x="904477" y="6004560"/>
            <a:ext cx="2429383"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lang="en-US" sz="1800" dirty="0">
                <a:solidFill>
                  <a:srgbClr val="FF0000"/>
                </a:solidFill>
              </a:rPr>
              <a:t>1-pcs ILM top plate</a:t>
            </a:r>
            <a:endParaRPr kumimoji="0" lang="en-MY" sz="1800" b="0" i="0" u="none" strike="noStrike" cap="none" spc="0" normalizeH="0" baseline="0" dirty="0" err="1">
              <a:ln>
                <a:noFill/>
              </a:ln>
              <a:solidFill>
                <a:srgbClr val="FF0000"/>
              </a:solidFill>
              <a:effectLst/>
              <a:uFillTx/>
              <a:latin typeface="+mn-lt"/>
              <a:ea typeface="+mn-ea"/>
              <a:cs typeface="+mn-cs"/>
              <a:sym typeface="Helvetica Neue"/>
            </a:endParaRPr>
          </a:p>
        </p:txBody>
      </p:sp>
      <p:cxnSp>
        <p:nvCxnSpPr>
          <p:cNvPr id="13" name="Straight Arrow Connector 12">
            <a:extLst>
              <a:ext uri="{FF2B5EF4-FFF2-40B4-BE49-F238E27FC236}">
                <a16:creationId xmlns:a16="http://schemas.microsoft.com/office/drawing/2014/main" id="{EA84242C-8756-422D-A8B8-82A8406B7423}"/>
              </a:ext>
            </a:extLst>
          </p:cNvPr>
          <p:cNvCxnSpPr>
            <a:cxnSpLocks/>
            <a:stCxn id="12" idx="0"/>
          </p:cNvCxnSpPr>
          <p:nvPr/>
        </p:nvCxnSpPr>
        <p:spPr>
          <a:xfrm flipV="1">
            <a:off x="2119169" y="5175392"/>
            <a:ext cx="271205" cy="829168"/>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4" name="TextBox 13">
            <a:extLst>
              <a:ext uri="{FF2B5EF4-FFF2-40B4-BE49-F238E27FC236}">
                <a16:creationId xmlns:a16="http://schemas.microsoft.com/office/drawing/2014/main" id="{62727C0B-311B-49C8-9D07-08F9CBA530BA}"/>
              </a:ext>
            </a:extLst>
          </p:cNvPr>
          <p:cNvSpPr txBox="1"/>
          <p:nvPr/>
        </p:nvSpPr>
        <p:spPr>
          <a:xfrm>
            <a:off x="5490281" y="5136501"/>
            <a:ext cx="2429383"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lang="en-US" sz="1800" dirty="0">
                <a:solidFill>
                  <a:srgbClr val="FF0000"/>
                </a:solidFill>
              </a:rPr>
              <a:t>2-pcs ILM : top plate and lever frame</a:t>
            </a:r>
            <a:endParaRPr kumimoji="0" lang="en-MY" sz="1800" b="0" i="0" u="none" strike="noStrike" cap="none" spc="0" normalizeH="0" baseline="0" dirty="0" err="1">
              <a:ln>
                <a:noFill/>
              </a:ln>
              <a:solidFill>
                <a:srgbClr val="FF0000"/>
              </a:solidFill>
              <a:effectLst/>
              <a:uFillTx/>
              <a:latin typeface="+mn-lt"/>
              <a:ea typeface="+mn-ea"/>
              <a:cs typeface="+mn-cs"/>
              <a:sym typeface="Helvetica Neue"/>
            </a:endParaRPr>
          </a:p>
        </p:txBody>
      </p:sp>
      <p:cxnSp>
        <p:nvCxnSpPr>
          <p:cNvPr id="15" name="Straight Arrow Connector 14">
            <a:extLst>
              <a:ext uri="{FF2B5EF4-FFF2-40B4-BE49-F238E27FC236}">
                <a16:creationId xmlns:a16="http://schemas.microsoft.com/office/drawing/2014/main" id="{EEF7C9A8-F008-4DDF-929D-8E58101EE651}"/>
              </a:ext>
            </a:extLst>
          </p:cNvPr>
          <p:cNvCxnSpPr>
            <a:cxnSpLocks/>
          </p:cNvCxnSpPr>
          <p:nvPr/>
        </p:nvCxnSpPr>
        <p:spPr>
          <a:xfrm flipV="1">
            <a:off x="6546668" y="3698240"/>
            <a:ext cx="2282372" cy="1438093"/>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9" name="Straight Arrow Connector 18">
            <a:extLst>
              <a:ext uri="{FF2B5EF4-FFF2-40B4-BE49-F238E27FC236}">
                <a16:creationId xmlns:a16="http://schemas.microsoft.com/office/drawing/2014/main" id="{EADA0F84-398F-40C7-B849-AFB50DD75DA3}"/>
              </a:ext>
            </a:extLst>
          </p:cNvPr>
          <p:cNvCxnSpPr>
            <a:cxnSpLocks/>
          </p:cNvCxnSpPr>
          <p:nvPr/>
        </p:nvCxnSpPr>
        <p:spPr>
          <a:xfrm flipV="1">
            <a:off x="6399571" y="2442262"/>
            <a:ext cx="166944" cy="2728475"/>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4" name="Straight Arrow Connector 23">
            <a:extLst>
              <a:ext uri="{FF2B5EF4-FFF2-40B4-BE49-F238E27FC236}">
                <a16:creationId xmlns:a16="http://schemas.microsoft.com/office/drawing/2014/main" id="{A0120C49-B1FF-4D6E-8FE7-F02A32B5DC78}"/>
              </a:ext>
            </a:extLst>
          </p:cNvPr>
          <p:cNvCxnSpPr>
            <a:cxnSpLocks/>
          </p:cNvCxnSpPr>
          <p:nvPr/>
        </p:nvCxnSpPr>
        <p:spPr>
          <a:xfrm flipH="1">
            <a:off x="6546668" y="932671"/>
            <a:ext cx="3586479" cy="789974"/>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 name="Straight Arrow Connector 26">
            <a:extLst>
              <a:ext uri="{FF2B5EF4-FFF2-40B4-BE49-F238E27FC236}">
                <a16:creationId xmlns:a16="http://schemas.microsoft.com/office/drawing/2014/main" id="{89332A9E-491E-43B6-BA2B-8C4D63770705}"/>
              </a:ext>
            </a:extLst>
          </p:cNvPr>
          <p:cNvCxnSpPr>
            <a:cxnSpLocks/>
          </p:cNvCxnSpPr>
          <p:nvPr/>
        </p:nvCxnSpPr>
        <p:spPr>
          <a:xfrm flipH="1">
            <a:off x="7000240" y="1003919"/>
            <a:ext cx="3413761" cy="260973"/>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 name="Straight Arrow Connector 29">
            <a:extLst>
              <a:ext uri="{FF2B5EF4-FFF2-40B4-BE49-F238E27FC236}">
                <a16:creationId xmlns:a16="http://schemas.microsoft.com/office/drawing/2014/main" id="{5D882D07-67D5-4333-93A6-94EF99E6202E}"/>
              </a:ext>
            </a:extLst>
          </p:cNvPr>
          <p:cNvCxnSpPr>
            <a:cxnSpLocks/>
          </p:cNvCxnSpPr>
          <p:nvPr/>
        </p:nvCxnSpPr>
        <p:spPr>
          <a:xfrm flipH="1">
            <a:off x="8682528" y="991556"/>
            <a:ext cx="1619831" cy="1797748"/>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3" name="Straight Arrow Connector 32">
            <a:extLst>
              <a:ext uri="{FF2B5EF4-FFF2-40B4-BE49-F238E27FC236}">
                <a16:creationId xmlns:a16="http://schemas.microsoft.com/office/drawing/2014/main" id="{DC272DE4-F82C-48CD-8938-4356AB4BC981}"/>
              </a:ext>
            </a:extLst>
          </p:cNvPr>
          <p:cNvCxnSpPr>
            <a:cxnSpLocks/>
          </p:cNvCxnSpPr>
          <p:nvPr/>
        </p:nvCxnSpPr>
        <p:spPr>
          <a:xfrm flipH="1">
            <a:off x="9469122" y="1043872"/>
            <a:ext cx="772159" cy="1398389"/>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40" name="TextBox 39">
            <a:extLst>
              <a:ext uri="{FF2B5EF4-FFF2-40B4-BE49-F238E27FC236}">
                <a16:creationId xmlns:a16="http://schemas.microsoft.com/office/drawing/2014/main" id="{BDCD3423-8353-4009-A573-CA6F732C171F}"/>
              </a:ext>
            </a:extLst>
          </p:cNvPr>
          <p:cNvSpPr txBox="1"/>
          <p:nvPr/>
        </p:nvSpPr>
        <p:spPr>
          <a:xfrm>
            <a:off x="9482966" y="872022"/>
            <a:ext cx="1361440" cy="369332"/>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dirty="0">
                <a:solidFill>
                  <a:srgbClr val="FF0000"/>
                </a:solidFill>
              </a:rPr>
              <a:t>4-screw</a:t>
            </a:r>
            <a:endParaRPr kumimoji="0" lang="en-MY" b="0" i="0" u="none" strike="noStrike" cap="none" spc="0" normalizeH="0" baseline="0" dirty="0" err="1">
              <a:ln>
                <a:noFill/>
              </a:ln>
              <a:solidFill>
                <a:srgbClr val="FF0000"/>
              </a:solidFill>
              <a:effectLst/>
              <a:uFillTx/>
              <a:latin typeface="+mn-lt"/>
              <a:ea typeface="+mn-ea"/>
              <a:cs typeface="+mn-cs"/>
              <a:sym typeface="Helvetica Neue"/>
            </a:endParaRPr>
          </a:p>
        </p:txBody>
      </p:sp>
      <p:cxnSp>
        <p:nvCxnSpPr>
          <p:cNvPr id="41" name="Straight Arrow Connector 40">
            <a:extLst>
              <a:ext uri="{FF2B5EF4-FFF2-40B4-BE49-F238E27FC236}">
                <a16:creationId xmlns:a16="http://schemas.microsoft.com/office/drawing/2014/main" id="{3E197372-996E-4701-978F-758CAE84BBCA}"/>
              </a:ext>
            </a:extLst>
          </p:cNvPr>
          <p:cNvCxnSpPr>
            <a:cxnSpLocks/>
          </p:cNvCxnSpPr>
          <p:nvPr/>
        </p:nvCxnSpPr>
        <p:spPr>
          <a:xfrm flipH="1">
            <a:off x="1328239" y="2845220"/>
            <a:ext cx="2954084" cy="2413444"/>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3" name="Straight Arrow Connector 42">
            <a:extLst>
              <a:ext uri="{FF2B5EF4-FFF2-40B4-BE49-F238E27FC236}">
                <a16:creationId xmlns:a16="http://schemas.microsoft.com/office/drawing/2014/main" id="{F62D3CA2-8F7B-4F7C-8B04-C80619935945}"/>
              </a:ext>
            </a:extLst>
          </p:cNvPr>
          <p:cNvCxnSpPr>
            <a:cxnSpLocks/>
          </p:cNvCxnSpPr>
          <p:nvPr/>
        </p:nvCxnSpPr>
        <p:spPr>
          <a:xfrm flipH="1">
            <a:off x="1617451" y="2845220"/>
            <a:ext cx="2664872" cy="1760895"/>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6" name="Straight Arrow Connector 45">
            <a:extLst>
              <a:ext uri="{FF2B5EF4-FFF2-40B4-BE49-F238E27FC236}">
                <a16:creationId xmlns:a16="http://schemas.microsoft.com/office/drawing/2014/main" id="{1937FB72-9D6F-42F4-B0AE-B572B0190C97}"/>
              </a:ext>
            </a:extLst>
          </p:cNvPr>
          <p:cNvCxnSpPr>
            <a:cxnSpLocks/>
          </p:cNvCxnSpPr>
          <p:nvPr/>
        </p:nvCxnSpPr>
        <p:spPr>
          <a:xfrm flipH="1" flipV="1">
            <a:off x="3437800" y="2425562"/>
            <a:ext cx="1242344" cy="276998"/>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49" name="TextBox 48">
            <a:extLst>
              <a:ext uri="{FF2B5EF4-FFF2-40B4-BE49-F238E27FC236}">
                <a16:creationId xmlns:a16="http://schemas.microsoft.com/office/drawing/2014/main" id="{44A25CA0-3E90-442F-9342-F6C60BACB828}"/>
              </a:ext>
            </a:extLst>
          </p:cNvPr>
          <p:cNvSpPr txBox="1"/>
          <p:nvPr/>
        </p:nvSpPr>
        <p:spPr>
          <a:xfrm>
            <a:off x="3988422" y="2537443"/>
            <a:ext cx="1147450" cy="30777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sz="2000" dirty="0">
                <a:solidFill>
                  <a:srgbClr val="FF0000"/>
                </a:solidFill>
              </a:rPr>
              <a:t>3-screw</a:t>
            </a:r>
            <a:endParaRPr kumimoji="0" lang="en-MY" sz="2000" b="0" i="0" u="none" strike="noStrike" cap="none" spc="0" normalizeH="0" baseline="0" dirty="0" err="1">
              <a:ln>
                <a:noFill/>
              </a:ln>
              <a:solidFill>
                <a:srgbClr val="FF0000"/>
              </a:solidFill>
              <a:effectLst/>
              <a:uFillTx/>
              <a:latin typeface="+mn-lt"/>
              <a:ea typeface="+mn-ea"/>
              <a:cs typeface="+mn-cs"/>
              <a:sym typeface="Helvetica Neue"/>
            </a:endParaRPr>
          </a:p>
        </p:txBody>
      </p:sp>
      <p:cxnSp>
        <p:nvCxnSpPr>
          <p:cNvPr id="21" name="Straight Connector 20">
            <a:extLst>
              <a:ext uri="{FF2B5EF4-FFF2-40B4-BE49-F238E27FC236}">
                <a16:creationId xmlns:a16="http://schemas.microsoft.com/office/drawing/2014/main" id="{7BCE360B-2603-4301-B4CD-42CF7075AD10}"/>
              </a:ext>
            </a:extLst>
          </p:cNvPr>
          <p:cNvCxnSpPr>
            <a:cxnSpLocks/>
          </p:cNvCxnSpPr>
          <p:nvPr/>
        </p:nvCxnSpPr>
        <p:spPr>
          <a:xfrm>
            <a:off x="5209657" y="1129613"/>
            <a:ext cx="0" cy="4700447"/>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23" name="TextBox 22">
            <a:extLst>
              <a:ext uri="{FF2B5EF4-FFF2-40B4-BE49-F238E27FC236}">
                <a16:creationId xmlns:a16="http://schemas.microsoft.com/office/drawing/2014/main" id="{6493DFE2-D168-40FD-A738-1878764E0D4E}"/>
              </a:ext>
            </a:extLst>
          </p:cNvPr>
          <p:cNvSpPr txBox="1"/>
          <p:nvPr/>
        </p:nvSpPr>
        <p:spPr>
          <a:xfrm>
            <a:off x="8361684" y="5201851"/>
            <a:ext cx="3353184" cy="110799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defTabSz="2438338">
              <a:lnSpc>
                <a:spcPct val="100000"/>
              </a:lnSpc>
              <a:spcBef>
                <a:spcPts val="0"/>
              </a:spcBef>
            </a:pPr>
            <a:r>
              <a:rPr kumimoji="0" lang="en-US" sz="1800" b="0" i="0" u="none" strike="noStrike" cap="none" spc="0" normalizeH="0" baseline="0" dirty="0">
                <a:ln>
                  <a:noFill/>
                </a:ln>
                <a:solidFill>
                  <a:srgbClr val="FF0000"/>
                </a:solidFill>
                <a:effectLst/>
                <a:uFillTx/>
                <a:latin typeface="+mn-lt"/>
                <a:ea typeface="+mn-ea"/>
                <a:cs typeface="+mn-cs"/>
                <a:sym typeface="Helvetica Neue"/>
              </a:rPr>
              <a:t>Customer needs to mix vendors for backplate,  load plate, lever frame, screws &amp; </a:t>
            </a:r>
            <a:r>
              <a:rPr kumimoji="0" lang="en-US" sz="1800" b="0" i="0" u="none" strike="noStrike" cap="none" spc="0" normalizeH="0" baseline="0" dirty="0" err="1">
                <a:ln>
                  <a:noFill/>
                </a:ln>
                <a:solidFill>
                  <a:srgbClr val="FF0000"/>
                </a:solidFill>
                <a:effectLst/>
                <a:uFillTx/>
                <a:latin typeface="+mn-lt"/>
                <a:ea typeface="+mn-ea"/>
                <a:cs typeface="+mn-cs"/>
                <a:sym typeface="Helvetica Neue"/>
              </a:rPr>
              <a:t>etc</a:t>
            </a:r>
            <a:r>
              <a:rPr kumimoji="0" lang="en-US" sz="1800" b="0" i="0" u="none" strike="noStrike" cap="none" spc="0" normalizeH="0" baseline="0" dirty="0">
                <a:ln>
                  <a:noFill/>
                </a:ln>
                <a:solidFill>
                  <a:srgbClr val="FF0000"/>
                </a:solidFill>
                <a:effectLst/>
                <a:uFillTx/>
                <a:latin typeface="+mn-lt"/>
                <a:ea typeface="+mn-ea"/>
                <a:cs typeface="+mn-cs"/>
                <a:sym typeface="Helvetica Neue"/>
              </a:rPr>
              <a:t>, is this allowable ?</a:t>
            </a:r>
            <a:endParaRPr kumimoji="0" lang="en-MY" sz="1800" b="0" i="0" u="none" strike="noStrike" cap="none" spc="0" normalizeH="0" baseline="0" dirty="0" err="1">
              <a:ln>
                <a:noFill/>
              </a:ln>
              <a:solidFill>
                <a:srgbClr val="FF0000"/>
              </a:solidFill>
              <a:effectLst/>
              <a:uFillTx/>
              <a:latin typeface="+mn-lt"/>
              <a:ea typeface="+mn-ea"/>
              <a:cs typeface="+mn-cs"/>
              <a:sym typeface="Helvetica Neue"/>
            </a:endParaRPr>
          </a:p>
        </p:txBody>
      </p:sp>
    </p:spTree>
    <p:extLst>
      <p:ext uri="{BB962C8B-B14F-4D97-AF65-F5344CB8AC3E}">
        <p14:creationId xmlns:p14="http://schemas.microsoft.com/office/powerpoint/2010/main" val="1569816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00CD3CC0-FA4B-45CB-B239-A538CEF1D611}"/>
              </a:ext>
            </a:extLst>
          </p:cNvPr>
          <p:cNvGraphicFramePr>
            <a:graphicFrameLocks noGrp="1"/>
          </p:cNvGraphicFramePr>
          <p:nvPr>
            <p:extLst>
              <p:ext uri="{D42A27DB-BD31-4B8C-83A1-F6EECF244321}">
                <p14:modId xmlns:p14="http://schemas.microsoft.com/office/powerpoint/2010/main" val="147407351"/>
              </p:ext>
            </p:extLst>
          </p:nvPr>
        </p:nvGraphicFramePr>
        <p:xfrm>
          <a:off x="325120" y="374226"/>
          <a:ext cx="11023600" cy="457200"/>
        </p:xfrm>
        <a:graphic>
          <a:graphicData uri="http://schemas.openxmlformats.org/drawingml/2006/table">
            <a:tbl>
              <a:tblPr firstRow="1" bandRow="1">
                <a:tableStyleId>{5940675A-B579-460E-94D1-54222C63F5DA}</a:tableStyleId>
              </a:tblPr>
              <a:tblGrid>
                <a:gridCol w="4815840">
                  <a:extLst>
                    <a:ext uri="{9D8B030D-6E8A-4147-A177-3AD203B41FA5}">
                      <a16:colId xmlns:a16="http://schemas.microsoft.com/office/drawing/2014/main" val="1809939556"/>
                    </a:ext>
                  </a:extLst>
                </a:gridCol>
                <a:gridCol w="6207760">
                  <a:extLst>
                    <a:ext uri="{9D8B030D-6E8A-4147-A177-3AD203B41FA5}">
                      <a16:colId xmlns:a16="http://schemas.microsoft.com/office/drawing/2014/main" val="2219818289"/>
                    </a:ext>
                  </a:extLst>
                </a:gridCol>
              </a:tblGrid>
              <a:tr h="370840">
                <a:tc>
                  <a:txBody>
                    <a:bodyPr/>
                    <a:lstStyle/>
                    <a:p>
                      <a:pPr algn="ctr"/>
                      <a:r>
                        <a:rPr lang="en-US" sz="2400" b="1" dirty="0">
                          <a:solidFill>
                            <a:schemeClr val="tx2"/>
                          </a:solidFill>
                          <a:effectLst>
                            <a:glow rad="228600">
                              <a:schemeClr val="accent6">
                                <a:satMod val="175000"/>
                                <a:alpha val="40000"/>
                              </a:schemeClr>
                            </a:glow>
                          </a:effectLst>
                        </a:rPr>
                        <a:t>Socket-H MAS CDI# 561049</a:t>
                      </a:r>
                      <a:endParaRPr lang="en-MY" sz="2400" b="1" dirty="0">
                        <a:solidFill>
                          <a:schemeClr val="tx2"/>
                        </a:solidFill>
                        <a:effectLst>
                          <a:glow rad="228600">
                            <a:schemeClr val="accent6">
                              <a:satMod val="175000"/>
                              <a:alpha val="40000"/>
                            </a:schemeClr>
                          </a:glow>
                        </a:effectLs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2"/>
                          </a:solidFill>
                          <a:effectLst>
                            <a:glow rad="228600">
                              <a:schemeClr val="accent6">
                                <a:satMod val="175000"/>
                                <a:alpha val="40000"/>
                              </a:schemeClr>
                            </a:glow>
                          </a:effectLst>
                        </a:rPr>
                        <a:t>Socket-V, Socket-P and Socket P4/5 MAS</a:t>
                      </a:r>
                      <a:endParaRPr lang="en-MY" sz="2400" b="1" dirty="0">
                        <a:solidFill>
                          <a:schemeClr val="tx2"/>
                        </a:solidFill>
                        <a:effectLst>
                          <a:glow rad="228600">
                            <a:schemeClr val="accent6">
                              <a:satMod val="175000"/>
                              <a:alpha val="40000"/>
                            </a:schemeClr>
                          </a:glow>
                        </a:effectLs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87069952"/>
                  </a:ext>
                </a:extLst>
              </a:tr>
            </a:tbl>
          </a:graphicData>
        </a:graphic>
      </p:graphicFrame>
      <p:sp>
        <p:nvSpPr>
          <p:cNvPr id="15" name="Arrow: Right 14">
            <a:extLst>
              <a:ext uri="{FF2B5EF4-FFF2-40B4-BE49-F238E27FC236}">
                <a16:creationId xmlns:a16="http://schemas.microsoft.com/office/drawing/2014/main" id="{DB2CD9CC-7351-449F-BEED-C919E96E6646}"/>
              </a:ext>
            </a:extLst>
          </p:cNvPr>
          <p:cNvSpPr/>
          <p:nvPr/>
        </p:nvSpPr>
        <p:spPr>
          <a:xfrm>
            <a:off x="4891231" y="1303130"/>
            <a:ext cx="615490" cy="556150"/>
          </a:xfrm>
          <a:prstGeom prst="rightArrow">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8" name="Rectangle 17">
            <a:extLst>
              <a:ext uri="{FF2B5EF4-FFF2-40B4-BE49-F238E27FC236}">
                <a16:creationId xmlns:a16="http://schemas.microsoft.com/office/drawing/2014/main" id="{DFB8CDF4-2AFE-4498-B6AA-C465DBD1B4ED}"/>
              </a:ext>
            </a:extLst>
          </p:cNvPr>
          <p:cNvSpPr/>
          <p:nvPr/>
        </p:nvSpPr>
        <p:spPr>
          <a:xfrm>
            <a:off x="601212" y="831426"/>
            <a:ext cx="4216449" cy="547793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3" name="Picture 2">
            <a:extLst>
              <a:ext uri="{FF2B5EF4-FFF2-40B4-BE49-F238E27FC236}">
                <a16:creationId xmlns:a16="http://schemas.microsoft.com/office/drawing/2014/main" id="{E78CFA22-D1BB-45BA-BBCC-36F7306EC7D9}"/>
              </a:ext>
            </a:extLst>
          </p:cNvPr>
          <p:cNvPicPr>
            <a:picLocks noChangeAspect="1"/>
          </p:cNvPicPr>
          <p:nvPr/>
        </p:nvPicPr>
        <p:blipFill>
          <a:blip r:embed="rId2"/>
          <a:stretch>
            <a:fillRect/>
          </a:stretch>
        </p:blipFill>
        <p:spPr>
          <a:xfrm>
            <a:off x="890144" y="925891"/>
            <a:ext cx="3515384" cy="2597574"/>
          </a:xfrm>
          <a:prstGeom prst="rect">
            <a:avLst/>
          </a:prstGeom>
        </p:spPr>
      </p:pic>
      <p:pic>
        <p:nvPicPr>
          <p:cNvPr id="14" name="Picture 13">
            <a:extLst>
              <a:ext uri="{FF2B5EF4-FFF2-40B4-BE49-F238E27FC236}">
                <a16:creationId xmlns:a16="http://schemas.microsoft.com/office/drawing/2014/main" id="{1531B576-E1FB-4E89-82B1-ECF7C32E0DED}"/>
              </a:ext>
            </a:extLst>
          </p:cNvPr>
          <p:cNvPicPr>
            <a:picLocks noChangeAspect="1"/>
          </p:cNvPicPr>
          <p:nvPr/>
        </p:nvPicPr>
        <p:blipFill>
          <a:blip r:embed="rId3"/>
          <a:stretch>
            <a:fillRect/>
          </a:stretch>
        </p:blipFill>
        <p:spPr>
          <a:xfrm>
            <a:off x="845549" y="3523465"/>
            <a:ext cx="3604575" cy="2735343"/>
          </a:xfrm>
          <a:prstGeom prst="rect">
            <a:avLst/>
          </a:prstGeom>
        </p:spPr>
      </p:pic>
      <p:sp>
        <p:nvSpPr>
          <p:cNvPr id="19" name="Rectangle 18">
            <a:extLst>
              <a:ext uri="{FF2B5EF4-FFF2-40B4-BE49-F238E27FC236}">
                <a16:creationId xmlns:a16="http://schemas.microsoft.com/office/drawing/2014/main" id="{1C3E3223-407C-47B3-8B93-BF69BE1C5D97}"/>
              </a:ext>
            </a:extLst>
          </p:cNvPr>
          <p:cNvSpPr/>
          <p:nvPr/>
        </p:nvSpPr>
        <p:spPr>
          <a:xfrm>
            <a:off x="5535083" y="801793"/>
            <a:ext cx="6055705" cy="5477934"/>
          </a:xfrm>
          <a:prstGeom prst="rect">
            <a:avLst/>
          </a:prstGeom>
          <a:solidFill>
            <a:schemeClr val="accent2">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10" name="Picture 9">
            <a:extLst>
              <a:ext uri="{FF2B5EF4-FFF2-40B4-BE49-F238E27FC236}">
                <a16:creationId xmlns:a16="http://schemas.microsoft.com/office/drawing/2014/main" id="{C88B3D21-C70E-4352-8A43-034E920D72A4}"/>
              </a:ext>
            </a:extLst>
          </p:cNvPr>
          <p:cNvPicPr>
            <a:picLocks noChangeAspect="1"/>
          </p:cNvPicPr>
          <p:nvPr/>
        </p:nvPicPr>
        <p:blipFill>
          <a:blip r:embed="rId4"/>
          <a:stretch>
            <a:fillRect/>
          </a:stretch>
        </p:blipFill>
        <p:spPr>
          <a:xfrm>
            <a:off x="5799426" y="844861"/>
            <a:ext cx="3517294" cy="2632069"/>
          </a:xfrm>
          <a:prstGeom prst="rect">
            <a:avLst/>
          </a:prstGeom>
        </p:spPr>
      </p:pic>
      <p:pic>
        <p:nvPicPr>
          <p:cNvPr id="12" name="Picture 11">
            <a:extLst>
              <a:ext uri="{FF2B5EF4-FFF2-40B4-BE49-F238E27FC236}">
                <a16:creationId xmlns:a16="http://schemas.microsoft.com/office/drawing/2014/main" id="{016ACE3E-267E-4DF1-823D-5237CEA25D55}"/>
              </a:ext>
            </a:extLst>
          </p:cNvPr>
          <p:cNvPicPr>
            <a:picLocks noChangeAspect="1"/>
          </p:cNvPicPr>
          <p:nvPr/>
        </p:nvPicPr>
        <p:blipFill>
          <a:blip r:embed="rId5"/>
          <a:stretch>
            <a:fillRect/>
          </a:stretch>
        </p:blipFill>
        <p:spPr>
          <a:xfrm>
            <a:off x="5789267" y="3570393"/>
            <a:ext cx="3436014" cy="2575557"/>
          </a:xfrm>
          <a:prstGeom prst="rect">
            <a:avLst/>
          </a:prstGeom>
        </p:spPr>
      </p:pic>
      <p:sp>
        <p:nvSpPr>
          <p:cNvPr id="20" name="TextBox 19">
            <a:extLst>
              <a:ext uri="{FF2B5EF4-FFF2-40B4-BE49-F238E27FC236}">
                <a16:creationId xmlns:a16="http://schemas.microsoft.com/office/drawing/2014/main" id="{960FAE36-EAB1-4561-B7BF-C8B9884B72D5}"/>
              </a:ext>
            </a:extLst>
          </p:cNvPr>
          <p:cNvSpPr txBox="1"/>
          <p:nvPr/>
        </p:nvSpPr>
        <p:spPr>
          <a:xfrm>
            <a:off x="5789268" y="2918275"/>
            <a:ext cx="3436014" cy="246221"/>
          </a:xfrm>
          <a:prstGeom prst="rect">
            <a:avLst/>
          </a:prstGeom>
          <a:solidFill>
            <a:schemeClr val="bg1"/>
          </a:solidFill>
          <a:ln w="12700"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0000"/>
                </a:solidFill>
                <a:effectLst/>
                <a:uFillTx/>
                <a:latin typeface="+mn-lt"/>
                <a:ea typeface="+mn-ea"/>
                <a:cs typeface="+mn-cs"/>
                <a:sym typeface="Helvetica Neue"/>
              </a:rPr>
              <a:t>&gt;±0.125mm or ± 1.5 width of contact</a:t>
            </a:r>
            <a:endParaRPr kumimoji="0" lang="en-MY" sz="1600" b="0" i="0" u="none" strike="noStrike" cap="none" spc="0" normalizeH="0" baseline="0" dirty="0" err="1">
              <a:ln>
                <a:noFill/>
              </a:ln>
              <a:solidFill>
                <a:srgbClr val="FF0000"/>
              </a:solidFill>
              <a:effectLst/>
              <a:uFillTx/>
              <a:latin typeface="+mn-lt"/>
              <a:ea typeface="+mn-ea"/>
              <a:cs typeface="+mn-cs"/>
              <a:sym typeface="Helvetica Neue"/>
            </a:endParaRPr>
          </a:p>
        </p:txBody>
      </p:sp>
      <p:sp>
        <p:nvSpPr>
          <p:cNvPr id="22" name="TextBox 21">
            <a:extLst>
              <a:ext uri="{FF2B5EF4-FFF2-40B4-BE49-F238E27FC236}">
                <a16:creationId xmlns:a16="http://schemas.microsoft.com/office/drawing/2014/main" id="{08F073FE-F547-49EB-B553-37DA4CB5A50A}"/>
              </a:ext>
            </a:extLst>
          </p:cNvPr>
          <p:cNvSpPr txBox="1"/>
          <p:nvPr/>
        </p:nvSpPr>
        <p:spPr>
          <a:xfrm>
            <a:off x="1149236" y="3056774"/>
            <a:ext cx="2244204" cy="246221"/>
          </a:xfrm>
          <a:prstGeom prst="rect">
            <a:avLst/>
          </a:prstGeom>
          <a:solidFill>
            <a:schemeClr val="bg1"/>
          </a:solidFill>
          <a:ln w="12700"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0000"/>
                </a:solidFill>
                <a:effectLst/>
                <a:uFillTx/>
                <a:latin typeface="+mn-lt"/>
                <a:ea typeface="+mn-ea"/>
                <a:cs typeface="+mn-cs"/>
                <a:sym typeface="Helvetica Neue"/>
              </a:rPr>
              <a:t>&gt;1 width of contact</a:t>
            </a:r>
            <a:endParaRPr kumimoji="0" lang="en-MY" sz="1600" b="0" i="0" u="none" strike="noStrike" cap="none" spc="0" normalizeH="0" baseline="0" dirty="0" err="1">
              <a:ln>
                <a:noFill/>
              </a:ln>
              <a:solidFill>
                <a:srgbClr val="FF0000"/>
              </a:solidFill>
              <a:effectLst/>
              <a:uFillTx/>
              <a:latin typeface="+mn-lt"/>
              <a:ea typeface="+mn-ea"/>
              <a:cs typeface="+mn-cs"/>
              <a:sym typeface="Helvetica Neue"/>
            </a:endParaRPr>
          </a:p>
        </p:txBody>
      </p:sp>
      <p:sp>
        <p:nvSpPr>
          <p:cNvPr id="23" name="TextBox 22">
            <a:extLst>
              <a:ext uri="{FF2B5EF4-FFF2-40B4-BE49-F238E27FC236}">
                <a16:creationId xmlns:a16="http://schemas.microsoft.com/office/drawing/2014/main" id="{191281A9-AF2C-4EA4-8E1B-FF9D0859036C}"/>
              </a:ext>
            </a:extLst>
          </p:cNvPr>
          <p:cNvSpPr txBox="1"/>
          <p:nvPr/>
        </p:nvSpPr>
        <p:spPr>
          <a:xfrm>
            <a:off x="9443137" y="925891"/>
            <a:ext cx="2119247" cy="236988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defTabSz="2438338">
              <a:lnSpc>
                <a:spcPct val="100000"/>
              </a:lnSpc>
              <a:spcBef>
                <a:spcPts val="0"/>
              </a:spcBef>
            </a:pPr>
            <a:r>
              <a:rPr kumimoji="0" lang="en-US" sz="1400" b="0" i="0" u="none" strike="noStrike" cap="none" spc="0" normalizeH="0" baseline="0" dirty="0">
                <a:ln>
                  <a:noFill/>
                </a:ln>
                <a:solidFill>
                  <a:schemeClr val="tx1"/>
                </a:solidFill>
                <a:effectLst/>
                <a:uFillTx/>
                <a:latin typeface="+mn-lt"/>
                <a:ea typeface="+mn-ea"/>
                <a:cs typeface="+mn-cs"/>
                <a:sym typeface="Helvetica Neue"/>
              </a:rPr>
              <a:t>Is the pin contact always contacted at the center of the LGA pad or near pad edge </a:t>
            </a:r>
            <a:r>
              <a:rPr lang="en-US" sz="1400" dirty="0">
                <a:solidFill>
                  <a:schemeClr val="tx1"/>
                </a:solidFill>
              </a:rPr>
              <a:t>? with the process variation and X-Y shift, will </a:t>
            </a:r>
            <a:r>
              <a:rPr kumimoji="0" lang="en-US" sz="1400" b="0" i="0" u="none" strike="noStrike" cap="none" spc="0" normalizeH="0" baseline="0" dirty="0">
                <a:ln>
                  <a:noFill/>
                </a:ln>
                <a:solidFill>
                  <a:schemeClr val="tx1"/>
                </a:solidFill>
                <a:effectLst/>
                <a:uFillTx/>
                <a:latin typeface="+mn-lt"/>
                <a:ea typeface="+mn-ea"/>
                <a:cs typeface="+mn-cs"/>
                <a:sym typeface="Helvetica Neue"/>
              </a:rPr>
              <a:t>the pin be touching LGA Au pad or outside the Au pad (Solder resist area) or adjacent Au pad ?  -- Need Intel design to assess</a:t>
            </a:r>
            <a:endParaRPr kumimoji="0" lang="en-MY" sz="1400" b="0" i="0" u="none" strike="noStrike" cap="none" spc="0" normalizeH="0" baseline="0" dirty="0" err="1">
              <a:ln>
                <a:noFill/>
              </a:ln>
              <a:solidFill>
                <a:schemeClr val="tx1"/>
              </a:solidFill>
              <a:effectLst/>
              <a:uFillTx/>
              <a:latin typeface="+mn-lt"/>
              <a:ea typeface="+mn-ea"/>
              <a:cs typeface="+mn-cs"/>
              <a:sym typeface="Helvetica Neue"/>
            </a:endParaRPr>
          </a:p>
        </p:txBody>
      </p:sp>
      <p:grpSp>
        <p:nvGrpSpPr>
          <p:cNvPr id="17" name="Group 16">
            <a:extLst>
              <a:ext uri="{FF2B5EF4-FFF2-40B4-BE49-F238E27FC236}">
                <a16:creationId xmlns:a16="http://schemas.microsoft.com/office/drawing/2014/main" id="{BFAF71BD-502B-40C9-AE53-9BE0D7E67904}"/>
              </a:ext>
            </a:extLst>
          </p:cNvPr>
          <p:cNvGrpSpPr/>
          <p:nvPr/>
        </p:nvGrpSpPr>
        <p:grpSpPr>
          <a:xfrm>
            <a:off x="9595233" y="3168287"/>
            <a:ext cx="1788081" cy="2963813"/>
            <a:chOff x="9574913" y="2396127"/>
            <a:chExt cx="1788081" cy="2963813"/>
          </a:xfrm>
        </p:grpSpPr>
        <p:pic>
          <p:nvPicPr>
            <p:cNvPr id="5" name="Picture 4">
              <a:extLst>
                <a:ext uri="{FF2B5EF4-FFF2-40B4-BE49-F238E27FC236}">
                  <a16:creationId xmlns:a16="http://schemas.microsoft.com/office/drawing/2014/main" id="{8B7E700E-B6D3-45F9-808B-9192A472732B}"/>
                </a:ext>
              </a:extLst>
            </p:cNvPr>
            <p:cNvPicPr>
              <a:picLocks noChangeAspect="1"/>
            </p:cNvPicPr>
            <p:nvPr/>
          </p:nvPicPr>
          <p:blipFill>
            <a:blip r:embed="rId6"/>
            <a:stretch>
              <a:fillRect/>
            </a:stretch>
          </p:blipFill>
          <p:spPr>
            <a:xfrm>
              <a:off x="9574913" y="3840560"/>
              <a:ext cx="1788081" cy="1519380"/>
            </a:xfrm>
            <a:prstGeom prst="rect">
              <a:avLst/>
            </a:prstGeom>
          </p:spPr>
        </p:pic>
        <p:pic>
          <p:nvPicPr>
            <p:cNvPr id="9" name="Picture 8">
              <a:extLst>
                <a:ext uri="{FF2B5EF4-FFF2-40B4-BE49-F238E27FC236}">
                  <a16:creationId xmlns:a16="http://schemas.microsoft.com/office/drawing/2014/main" id="{BBC21EFA-8AC5-48F1-9A57-8BFB546973FB}"/>
                </a:ext>
              </a:extLst>
            </p:cNvPr>
            <p:cNvPicPr>
              <a:picLocks noChangeAspect="1"/>
            </p:cNvPicPr>
            <p:nvPr/>
          </p:nvPicPr>
          <p:blipFill>
            <a:blip r:embed="rId7"/>
            <a:stretch>
              <a:fillRect/>
            </a:stretch>
          </p:blipFill>
          <p:spPr>
            <a:xfrm>
              <a:off x="9832807" y="2396127"/>
              <a:ext cx="1407560" cy="1131025"/>
            </a:xfrm>
            <a:prstGeom prst="ellipse">
              <a:avLst/>
            </a:prstGeom>
            <a:ln w="28575" cap="rnd">
              <a:solidFill>
                <a:srgbClr val="FF0000"/>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1" name="Oval 10">
              <a:extLst>
                <a:ext uri="{FF2B5EF4-FFF2-40B4-BE49-F238E27FC236}">
                  <a16:creationId xmlns:a16="http://schemas.microsoft.com/office/drawing/2014/main" id="{0A5C5A83-C05D-485C-94B3-12B1C4D31804}"/>
                </a:ext>
              </a:extLst>
            </p:cNvPr>
            <p:cNvSpPr/>
            <p:nvPr/>
          </p:nvSpPr>
          <p:spPr>
            <a:xfrm>
              <a:off x="9749974" y="3870193"/>
              <a:ext cx="277650" cy="173487"/>
            </a:xfrm>
            <a:prstGeom prst="ellipse">
              <a:avLst/>
            </a:prstGeom>
            <a:noFill/>
            <a:ln w="28575"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cxnSp>
          <p:nvCxnSpPr>
            <p:cNvPr id="16" name="Straight Arrow Connector 15">
              <a:extLst>
                <a:ext uri="{FF2B5EF4-FFF2-40B4-BE49-F238E27FC236}">
                  <a16:creationId xmlns:a16="http://schemas.microsoft.com/office/drawing/2014/main" id="{A86C7326-9A2B-41E4-9C8B-D1AB170CAA3F}"/>
                </a:ext>
              </a:extLst>
            </p:cNvPr>
            <p:cNvCxnSpPr/>
            <p:nvPr/>
          </p:nvCxnSpPr>
          <p:spPr>
            <a:xfrm flipH="1">
              <a:off x="9832807" y="3444240"/>
              <a:ext cx="296713" cy="425953"/>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grpSp>
      <p:sp>
        <p:nvSpPr>
          <p:cNvPr id="24" name="TextBox 23">
            <a:extLst>
              <a:ext uri="{FF2B5EF4-FFF2-40B4-BE49-F238E27FC236}">
                <a16:creationId xmlns:a16="http://schemas.microsoft.com/office/drawing/2014/main" id="{3CAD0620-541B-4026-9501-0B381AB65BB0}"/>
              </a:ext>
            </a:extLst>
          </p:cNvPr>
          <p:cNvSpPr txBox="1"/>
          <p:nvPr/>
        </p:nvSpPr>
        <p:spPr>
          <a:xfrm>
            <a:off x="5651610" y="5661582"/>
            <a:ext cx="3845917" cy="492443"/>
          </a:xfrm>
          <a:prstGeom prst="rect">
            <a:avLst/>
          </a:prstGeom>
          <a:solidFill>
            <a:schemeClr val="bg1"/>
          </a:solidFill>
          <a:ln w="12700"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0000"/>
                </a:solidFill>
                <a:effectLst/>
                <a:uFillTx/>
                <a:latin typeface="+mn-lt"/>
                <a:ea typeface="+mn-ea"/>
                <a:cs typeface="+mn-cs"/>
                <a:sym typeface="Helvetica Neue"/>
              </a:rPr>
              <a:t>Tighter pitch but more relax criteria ? </a:t>
            </a:r>
          </a:p>
          <a:p>
            <a:pPr marL="285750" marR="0" indent="-285750" algn="l" defTabSz="2438338"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0000"/>
                </a:solidFill>
                <a:effectLst/>
                <a:uFillTx/>
                <a:latin typeface="+mn-lt"/>
                <a:ea typeface="+mn-ea"/>
                <a:cs typeface="+mn-cs"/>
                <a:sym typeface="Helvetica Neue"/>
              </a:rPr>
              <a:t>origina</a:t>
            </a:r>
            <a:r>
              <a:rPr lang="en-US" sz="1600" dirty="0">
                <a:solidFill>
                  <a:srgbClr val="FF0000"/>
                </a:solidFill>
              </a:rPr>
              <a:t>l &gt;1 width vs current &gt;1.5 width</a:t>
            </a:r>
            <a:endParaRPr kumimoji="0" lang="en-MY" sz="1600" b="0" i="0" u="none" strike="noStrike" cap="none" spc="0" normalizeH="0" baseline="0" dirty="0" err="1">
              <a:ln>
                <a:noFill/>
              </a:ln>
              <a:solidFill>
                <a:srgbClr val="FF0000"/>
              </a:solidFill>
              <a:effectLst/>
              <a:uFillTx/>
              <a:latin typeface="+mn-lt"/>
              <a:ea typeface="+mn-ea"/>
              <a:cs typeface="+mn-cs"/>
              <a:sym typeface="Helvetica Neue"/>
            </a:endParaRPr>
          </a:p>
        </p:txBody>
      </p:sp>
      <p:sp>
        <p:nvSpPr>
          <p:cNvPr id="2" name="Oval 1">
            <a:extLst>
              <a:ext uri="{FF2B5EF4-FFF2-40B4-BE49-F238E27FC236}">
                <a16:creationId xmlns:a16="http://schemas.microsoft.com/office/drawing/2014/main" id="{EA67A234-916D-4672-B0D9-D97C0466E0E5}"/>
              </a:ext>
            </a:extLst>
          </p:cNvPr>
          <p:cNvSpPr/>
          <p:nvPr/>
        </p:nvSpPr>
        <p:spPr>
          <a:xfrm>
            <a:off x="10525101" y="3411676"/>
            <a:ext cx="103367" cy="85300"/>
          </a:xfrm>
          <a:prstGeom prst="ellipse">
            <a:avLst/>
          </a:prstGeom>
          <a:solidFill>
            <a:srgbClr val="FC6467"/>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5" name="Oval 24">
            <a:extLst>
              <a:ext uri="{FF2B5EF4-FFF2-40B4-BE49-F238E27FC236}">
                <a16:creationId xmlns:a16="http://schemas.microsoft.com/office/drawing/2014/main" id="{5F4BE23F-3F9E-4468-9F42-124EC2CEED15}"/>
              </a:ext>
            </a:extLst>
          </p:cNvPr>
          <p:cNvSpPr/>
          <p:nvPr/>
        </p:nvSpPr>
        <p:spPr>
          <a:xfrm>
            <a:off x="10123334" y="3390793"/>
            <a:ext cx="103367" cy="85300"/>
          </a:xfrm>
          <a:prstGeom prst="ellipse">
            <a:avLst/>
          </a:prstGeom>
          <a:solidFill>
            <a:srgbClr val="FC6467"/>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6" name="Oval 25">
            <a:extLst>
              <a:ext uri="{FF2B5EF4-FFF2-40B4-BE49-F238E27FC236}">
                <a16:creationId xmlns:a16="http://schemas.microsoft.com/office/drawing/2014/main" id="{95779E5D-B774-4DBF-BD6D-F0C617D56332}"/>
              </a:ext>
            </a:extLst>
          </p:cNvPr>
          <p:cNvSpPr/>
          <p:nvPr/>
        </p:nvSpPr>
        <p:spPr>
          <a:xfrm>
            <a:off x="10923990" y="3397100"/>
            <a:ext cx="103367" cy="85300"/>
          </a:xfrm>
          <a:prstGeom prst="ellipse">
            <a:avLst/>
          </a:prstGeom>
          <a:solidFill>
            <a:srgbClr val="FC6467"/>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7" name="Oval 26">
            <a:extLst>
              <a:ext uri="{FF2B5EF4-FFF2-40B4-BE49-F238E27FC236}">
                <a16:creationId xmlns:a16="http://schemas.microsoft.com/office/drawing/2014/main" id="{6C8CD580-632D-478A-8810-CD201AC3B712}"/>
              </a:ext>
            </a:extLst>
          </p:cNvPr>
          <p:cNvSpPr/>
          <p:nvPr/>
        </p:nvSpPr>
        <p:spPr>
          <a:xfrm>
            <a:off x="10510521" y="3834419"/>
            <a:ext cx="103367" cy="85300"/>
          </a:xfrm>
          <a:prstGeom prst="ellipse">
            <a:avLst/>
          </a:prstGeom>
          <a:solidFill>
            <a:srgbClr val="FC6467"/>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8" name="Oval 27">
            <a:extLst>
              <a:ext uri="{FF2B5EF4-FFF2-40B4-BE49-F238E27FC236}">
                <a16:creationId xmlns:a16="http://schemas.microsoft.com/office/drawing/2014/main" id="{A2AA664F-BB36-46F3-8F71-F63D1449AEAB}"/>
              </a:ext>
            </a:extLst>
          </p:cNvPr>
          <p:cNvSpPr/>
          <p:nvPr/>
        </p:nvSpPr>
        <p:spPr>
          <a:xfrm>
            <a:off x="10108754" y="3813536"/>
            <a:ext cx="103367" cy="85300"/>
          </a:xfrm>
          <a:prstGeom prst="ellipse">
            <a:avLst/>
          </a:prstGeom>
          <a:solidFill>
            <a:srgbClr val="FC6467"/>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9" name="Oval 28">
            <a:extLst>
              <a:ext uri="{FF2B5EF4-FFF2-40B4-BE49-F238E27FC236}">
                <a16:creationId xmlns:a16="http://schemas.microsoft.com/office/drawing/2014/main" id="{418BFFAD-866E-46F7-BCCB-B0A956C9BFE2}"/>
              </a:ext>
            </a:extLst>
          </p:cNvPr>
          <p:cNvSpPr/>
          <p:nvPr/>
        </p:nvSpPr>
        <p:spPr>
          <a:xfrm>
            <a:off x="10909410" y="3819843"/>
            <a:ext cx="103367" cy="85300"/>
          </a:xfrm>
          <a:prstGeom prst="ellipse">
            <a:avLst/>
          </a:prstGeom>
          <a:solidFill>
            <a:srgbClr val="FC6467"/>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0" name="Action Button: Go Back or Previous 29">
            <a:hlinkClick r:id="rId8" action="ppaction://hlinksldjump" highlightClick="1"/>
            <a:extLst>
              <a:ext uri="{FF2B5EF4-FFF2-40B4-BE49-F238E27FC236}">
                <a16:creationId xmlns:a16="http://schemas.microsoft.com/office/drawing/2014/main" id="{213BA3E2-6AF8-4B0C-ADAE-5B98744B49C6}"/>
              </a:ext>
            </a:extLst>
          </p:cNvPr>
          <p:cNvSpPr/>
          <p:nvPr/>
        </p:nvSpPr>
        <p:spPr>
          <a:xfrm>
            <a:off x="11321214" y="203200"/>
            <a:ext cx="482340" cy="404316"/>
          </a:xfrm>
          <a:prstGeom prst="actionButtonBackPrevious">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MY"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62008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21_BasicWhite">
  <a:themeElements>
    <a:clrScheme name="Custom 2">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99CC"/>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f81e1b74fd94b9f916141b297ac694c0">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1cd7c1c097ec62e7a9d31b3de7be00f6"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01C66F3-FBD8-4B0F-98D9-445FE3649D01}">
  <ds:schemaRefs>
    <ds:schemaRef ds:uri="http://schemas.microsoft.com/sharepoint/v3/contenttype/forms"/>
  </ds:schemaRefs>
</ds:datastoreItem>
</file>

<file path=customXml/itemProps2.xml><?xml version="1.0" encoding="utf-8"?>
<ds:datastoreItem xmlns:ds="http://schemas.openxmlformats.org/officeDocument/2006/customXml" ds:itemID="{724B8A99-8161-4D52-8DFD-478F5C1B3170}">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420D76CC-79EE-492D-AE38-3A3948F63947}"/>
</file>

<file path=docProps/app.xml><?xml version="1.0" encoding="utf-8"?>
<Properties xmlns="http://schemas.openxmlformats.org/officeDocument/2006/extended-properties" xmlns:vt="http://schemas.openxmlformats.org/officeDocument/2006/docPropsVTypes">
  <Template/>
  <TotalTime>18246</TotalTime>
  <Words>9836</Words>
  <Application>Microsoft Office PowerPoint</Application>
  <PresentationFormat>Widescreen</PresentationFormat>
  <Paragraphs>1550</Paragraphs>
  <Slides>41</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41</vt:i4>
      </vt:variant>
    </vt:vector>
  </HeadingPairs>
  <TitlesOfParts>
    <vt:vector size="52" baseType="lpstr">
      <vt:lpstr>Helvetica Neue</vt:lpstr>
      <vt:lpstr>Helvetica Neue Medium</vt:lpstr>
      <vt:lpstr>Arial</vt:lpstr>
      <vt:lpstr>Calibri</vt:lpstr>
      <vt:lpstr>Courier New</vt:lpstr>
      <vt:lpstr>Helvetica</vt:lpstr>
      <vt:lpstr>Intel Clear</vt:lpstr>
      <vt:lpstr>Intel Clear Light</vt:lpstr>
      <vt:lpstr>Intel Clear Pro</vt:lpstr>
      <vt:lpstr>Wingdings</vt:lpstr>
      <vt:lpstr>21_BasicWhite</vt:lpstr>
      <vt:lpstr>Alder Lake-S OEM &amp; ODM CRD Survey Report  (Desktop Segment)</vt:lpstr>
      <vt:lpstr>Revision History</vt:lpstr>
      <vt:lpstr>Agenda</vt:lpstr>
      <vt:lpstr>2020 Desktop Customer Landscape</vt:lpstr>
      <vt:lpstr>Key Takeaway (1)</vt:lpstr>
      <vt:lpstr>Key Takeaway (2)</vt:lpstr>
      <vt:lpstr>Key Takeaway (3)</vt:lpstr>
      <vt:lpstr>Additional Feedback/ Concerns (1)</vt:lpstr>
      <vt:lpstr>Additional Feedback/ Concerns (2)</vt:lpstr>
      <vt:lpstr>Observation &amp; Next Step</vt:lpstr>
      <vt:lpstr>Acknowledgment </vt:lpstr>
      <vt:lpstr>Back Up</vt:lpstr>
      <vt:lpstr>Printed Circuit Board Design (1)</vt:lpstr>
      <vt:lpstr>Printed Circuit Board Design (2)</vt:lpstr>
      <vt:lpstr>Printed Circuit Board Design (3)</vt:lpstr>
      <vt:lpstr>Printed Circuit Board Design (4)</vt:lpstr>
      <vt:lpstr>Printed Circuit Board Design (5)</vt:lpstr>
      <vt:lpstr>Printed Circuit Board Design (6)</vt:lpstr>
      <vt:lpstr>Printed Circuit Board Design (7)</vt:lpstr>
      <vt:lpstr>Printed Circuit Board Design (8)</vt:lpstr>
      <vt:lpstr>Printed Circuit Board Design (9)</vt:lpstr>
      <vt:lpstr>PCBA Factory Automation</vt:lpstr>
      <vt:lpstr>Paste Printing Process</vt:lpstr>
      <vt:lpstr>Pick &amp; Place Process</vt:lpstr>
      <vt:lpstr>Reflow Process (1)</vt:lpstr>
      <vt:lpstr>Reflow Process (2)</vt:lpstr>
      <vt:lpstr>Wave Solder</vt:lpstr>
      <vt:lpstr>Board Level Adhesives</vt:lpstr>
      <vt:lpstr>ILM Cover/Lever/Assembly</vt:lpstr>
      <vt:lpstr>Process Inspection / Monitoring</vt:lpstr>
      <vt:lpstr>PCBA Test Process</vt:lpstr>
      <vt:lpstr>PCBA X-Ray</vt:lpstr>
      <vt:lpstr>Rework</vt:lpstr>
      <vt:lpstr>Others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Killeen, Kristine</dc:creator>
  <cp:keywords>CTPClassification=CTP_NT</cp:keywords>
  <cp:lastModifiedBy>Mak, Tzee Sing</cp:lastModifiedBy>
  <cp:revision>185</cp:revision>
  <dcterms:modified xsi:type="dcterms:W3CDTF">2020-11-11T03:25:08Z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ies>
</file>