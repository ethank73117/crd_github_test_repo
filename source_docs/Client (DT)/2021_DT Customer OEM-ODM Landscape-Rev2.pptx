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370CD-2AA6-40EC-8894-AEFE5066EEDC}" v="5" dt="2020-11-03T21:45:04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kholder, Dan S" userId="9ba5b14c-4df1-4e1a-b82b-b994ae8072a6" providerId="ADAL" clId="{AAB370CD-2AA6-40EC-8894-AEFE5066EEDC}"/>
    <pc:docChg chg="delSld modSld">
      <pc:chgData name="Burkholder, Dan S" userId="9ba5b14c-4df1-4e1a-b82b-b994ae8072a6" providerId="ADAL" clId="{AAB370CD-2AA6-40EC-8894-AEFE5066EEDC}" dt="2020-11-03T21:45:55.179" v="152" actId="2696"/>
      <pc:docMkLst>
        <pc:docMk/>
      </pc:docMkLst>
      <pc:sldChg chg="del">
        <pc:chgData name="Burkholder, Dan S" userId="9ba5b14c-4df1-4e1a-b82b-b994ae8072a6" providerId="ADAL" clId="{AAB370CD-2AA6-40EC-8894-AEFE5066EEDC}" dt="2020-11-03T21:45:55.179" v="152" actId="2696"/>
        <pc:sldMkLst>
          <pc:docMk/>
          <pc:sldMk cId="1904526235" sldId="256"/>
        </pc:sldMkLst>
      </pc:sldChg>
      <pc:sldChg chg="addSp modSp">
        <pc:chgData name="Burkholder, Dan S" userId="9ba5b14c-4df1-4e1a-b82b-b994ae8072a6" providerId="ADAL" clId="{AAB370CD-2AA6-40EC-8894-AEFE5066EEDC}" dt="2020-11-03T21:45:47.660" v="151" actId="20577"/>
        <pc:sldMkLst>
          <pc:docMk/>
          <pc:sldMk cId="3043661848" sldId="257"/>
        </pc:sldMkLst>
        <pc:spChg chg="mod">
          <ac:chgData name="Burkholder, Dan S" userId="9ba5b14c-4df1-4e1a-b82b-b994ae8072a6" providerId="ADAL" clId="{AAB370CD-2AA6-40EC-8894-AEFE5066EEDC}" dt="2020-11-03T20:28:06.553" v="5" actId="122"/>
          <ac:spMkLst>
            <pc:docMk/>
            <pc:sldMk cId="3043661848" sldId="257"/>
            <ac:spMk id="2" creationId="{CA8F1C59-9F37-45D0-988D-8249FA39E828}"/>
          </ac:spMkLst>
        </pc:spChg>
        <pc:spChg chg="mod">
          <ac:chgData name="Burkholder, Dan S" userId="9ba5b14c-4df1-4e1a-b82b-b994ae8072a6" providerId="ADAL" clId="{AAB370CD-2AA6-40EC-8894-AEFE5066EEDC}" dt="2020-11-03T21:45:13.876" v="128" actId="20577"/>
          <ac:spMkLst>
            <pc:docMk/>
            <pc:sldMk cId="3043661848" sldId="257"/>
            <ac:spMk id="4" creationId="{B56C78B9-9AC1-4B29-B1CD-962A75A21B35}"/>
          </ac:spMkLst>
        </pc:spChg>
        <pc:spChg chg="mod">
          <ac:chgData name="Burkholder, Dan S" userId="9ba5b14c-4df1-4e1a-b82b-b994ae8072a6" providerId="ADAL" clId="{AAB370CD-2AA6-40EC-8894-AEFE5066EEDC}" dt="2020-11-03T21:45:01.236" v="113" actId="207"/>
          <ac:spMkLst>
            <pc:docMk/>
            <pc:sldMk cId="3043661848" sldId="257"/>
            <ac:spMk id="7" creationId="{624111CA-E33C-433E-9B41-67CAA06B142A}"/>
          </ac:spMkLst>
        </pc:spChg>
        <pc:spChg chg="add mod">
          <ac:chgData name="Burkholder, Dan S" userId="9ba5b14c-4df1-4e1a-b82b-b994ae8072a6" providerId="ADAL" clId="{AAB370CD-2AA6-40EC-8894-AEFE5066EEDC}" dt="2020-11-03T21:45:04.219" v="114" actId="207"/>
          <ac:spMkLst>
            <pc:docMk/>
            <pc:sldMk cId="3043661848" sldId="257"/>
            <ac:spMk id="9" creationId="{414F4869-B2E5-41BC-A2D3-3BFD6BD54AF4}"/>
          </ac:spMkLst>
        </pc:spChg>
        <pc:graphicFrameChg chg="add mod modGraphic">
          <ac:chgData name="Burkholder, Dan S" userId="9ba5b14c-4df1-4e1a-b82b-b994ae8072a6" providerId="ADAL" clId="{AAB370CD-2AA6-40EC-8894-AEFE5066EEDC}" dt="2020-11-03T21:45:47.660" v="151" actId="20577"/>
          <ac:graphicFrameMkLst>
            <pc:docMk/>
            <pc:sldMk cId="3043661848" sldId="257"/>
            <ac:graphicFrameMk id="6" creationId="{E66DB83C-B10F-4C1F-A41A-3119218EAFC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3DB5-1142-4C06-8EBE-6491FBC04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53A8D-6D62-47AC-AE02-896897B56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59039-C64F-4FDB-8A52-280CF88F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C2195-C307-46C0-AE27-8A026D9D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6228B-AFD2-4872-B5DC-4A39A66C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7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4C55-8782-463D-A229-4F8DE8C6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E9360-FE17-4784-9D2B-36ACC52A6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03FD3-84FF-4191-9DED-55E3A3C5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3B3B6-417A-4201-B1A4-8D505A325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FB519-77EA-4FA7-BACC-59EC57D3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3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D31B-A9BB-4373-B321-4B18BD59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AE867-C07A-4C57-B945-53A842A5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C0DC5-C28F-4985-AE2F-9823DED5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DEDA-541C-476D-9224-B3057895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AABD3-2E8B-4FB1-8E7B-4984FAD5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6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C345-B56F-4AD0-919D-C4AAF38F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47C1-EFE7-4D87-B486-44DE72ECC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9C214-6D0D-41BC-8BD1-7E53E6723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CBF63-5849-4731-8294-85D6B55C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69F93-158C-4AA6-88DE-A207EFD2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F0510-0EF9-46EC-A03C-6C5A3A5B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29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A53A-4E28-4A4F-897F-05737F15E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13F02-6E0F-4956-ABBF-245D414DD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1720-61A3-459E-933D-92C1E6365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6359F0-2D87-44F6-ADEC-0F05EE80C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B77EC-280E-4C52-8122-C79471AC3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FDDBA-D510-4442-B028-B63CEE62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F902D-690F-46D3-8A26-01D7EAEE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30DFD-84CF-41EF-A251-01D51A1B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2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2B82-DE93-415D-9F9E-0B661564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B60BE-4518-42FF-8E81-B5052792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59BC0-6108-4055-B0D4-D32419D5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A4342-8841-4B3E-970E-8009B43F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5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B80DA-F22A-4B91-9661-B84B814B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53C62-7EE2-41B3-ADEC-D5DE0632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E5F0B-0A39-4D09-AE37-70CC99F5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6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7EFE-97D4-4759-8488-6400E31A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508AD-42B9-4853-83CE-CB63BDE7E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C4E9F-82E8-420B-BB77-A94496AE5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28CF4-A471-4FCC-AC39-2139FF16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3E3A0-F9D9-489B-AB68-FF3FF0D7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524A3-F7B2-4FFA-BDB5-D442FB02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5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5787-0A03-4F74-B189-E7E87020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2CAB1-CF3C-4B92-A785-A63ADC1DF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ABCA2-2651-4F96-A824-AD96074EF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D3148-928D-462B-959A-83061E1C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11D83-8607-44F0-B57E-8C79537B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9E199-F7DF-4631-8E19-DB2583A8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5D75-B747-4295-9E42-44C23189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89483-2341-4D83-8F2D-A313EF956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D096-10F7-4D79-8D4E-E3B3A763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3582F-E8B0-419C-9C52-B5BAB3BD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A716D-F0A9-41A4-817E-80D10C987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2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4CE22-F5CD-4FA4-B389-A3EAB1449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D70AC-2102-467B-914D-1184C5582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BF363-B6A8-4035-A986-BD16E272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FF321-4006-4C50-92F4-D5947401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5682A-44C9-4A3B-BC60-4552905C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15D94D-9BEE-4465-B9C5-F263A0D0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AA46E-5B85-4427-9515-31873E8A2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380A5-B40B-4F90-913C-F277B3869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DA68-8455-482F-A358-C1BF75F36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5D28-CC6F-4038-9479-8FF443392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7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1C59-9F37-45D0-988D-8249FA39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13" y="56348"/>
            <a:ext cx="10515600" cy="62468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2020 Desktop Customer Landscape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72726B4B-537C-4843-88ED-51F681FF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667" y="1132345"/>
            <a:ext cx="226695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6C78B9-9AC1-4B29-B1CD-962A75A21B35}"/>
              </a:ext>
            </a:extLst>
          </p:cNvPr>
          <p:cNvSpPr txBox="1"/>
          <p:nvPr/>
        </p:nvSpPr>
        <p:spPr>
          <a:xfrm>
            <a:off x="4555515" y="5167236"/>
            <a:ext cx="156433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Gigabyte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Rock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SuperMicro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02AEECC-9934-40EA-A18C-31EB2F4C36EA}"/>
              </a:ext>
            </a:extLst>
          </p:cNvPr>
          <p:cNvSpPr/>
          <p:nvPr/>
        </p:nvSpPr>
        <p:spPr>
          <a:xfrm rot="5400000">
            <a:off x="4832662" y="4593619"/>
            <a:ext cx="558990" cy="52293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111CA-E33C-433E-9B41-67CAA06B142A}"/>
              </a:ext>
            </a:extLst>
          </p:cNvPr>
          <p:cNvSpPr txBox="1"/>
          <p:nvPr/>
        </p:nvSpPr>
        <p:spPr>
          <a:xfrm>
            <a:off x="5000862" y="731050"/>
            <a:ext cx="1396536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OEM MSS%</a:t>
            </a:r>
          </a:p>
        </p:txBody>
      </p:sp>
    </p:spTree>
    <p:extLst>
      <p:ext uri="{BB962C8B-B14F-4D97-AF65-F5344CB8AC3E}">
        <p14:creationId xmlns:p14="http://schemas.microsoft.com/office/powerpoint/2010/main" val="304366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1C59-9F37-45D0-988D-8249FA39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41" y="-151434"/>
            <a:ext cx="10515600" cy="624689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OEM-ODM Pairing &amp; Approximate Site Volume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EB14AE-5C24-4F76-BFB4-7F3891962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693577"/>
              </p:ext>
            </p:extLst>
          </p:nvPr>
        </p:nvGraphicFramePr>
        <p:xfrm>
          <a:off x="40820" y="327840"/>
          <a:ext cx="10360478" cy="6543772"/>
        </p:xfrm>
        <a:graphic>
          <a:graphicData uri="http://schemas.openxmlformats.org/drawingml/2006/table">
            <a:tbl>
              <a:tblPr/>
              <a:tblGrid>
                <a:gridCol w="863372">
                  <a:extLst>
                    <a:ext uri="{9D8B030D-6E8A-4147-A177-3AD203B41FA5}">
                      <a16:colId xmlns:a16="http://schemas.microsoft.com/office/drawing/2014/main" val="1897789592"/>
                    </a:ext>
                  </a:extLst>
                </a:gridCol>
                <a:gridCol w="2060957">
                  <a:extLst>
                    <a:ext uri="{9D8B030D-6E8A-4147-A177-3AD203B41FA5}">
                      <a16:colId xmlns:a16="http://schemas.microsoft.com/office/drawing/2014/main" val="1756217360"/>
                    </a:ext>
                  </a:extLst>
                </a:gridCol>
                <a:gridCol w="1406461">
                  <a:extLst>
                    <a:ext uri="{9D8B030D-6E8A-4147-A177-3AD203B41FA5}">
                      <a16:colId xmlns:a16="http://schemas.microsoft.com/office/drawing/2014/main" val="4198224679"/>
                    </a:ext>
                  </a:extLst>
                </a:gridCol>
                <a:gridCol w="1002627">
                  <a:extLst>
                    <a:ext uri="{9D8B030D-6E8A-4147-A177-3AD203B41FA5}">
                      <a16:colId xmlns:a16="http://schemas.microsoft.com/office/drawing/2014/main" val="719016594"/>
                    </a:ext>
                  </a:extLst>
                </a:gridCol>
                <a:gridCol w="1643197">
                  <a:extLst>
                    <a:ext uri="{9D8B030D-6E8A-4147-A177-3AD203B41FA5}">
                      <a16:colId xmlns:a16="http://schemas.microsoft.com/office/drawing/2014/main" val="806777933"/>
                    </a:ext>
                  </a:extLst>
                </a:gridCol>
                <a:gridCol w="849447">
                  <a:extLst>
                    <a:ext uri="{9D8B030D-6E8A-4147-A177-3AD203B41FA5}">
                      <a16:colId xmlns:a16="http://schemas.microsoft.com/office/drawing/2014/main" val="1673358365"/>
                    </a:ext>
                  </a:extLst>
                </a:gridCol>
                <a:gridCol w="849447">
                  <a:extLst>
                    <a:ext uri="{9D8B030D-6E8A-4147-A177-3AD203B41FA5}">
                      <a16:colId xmlns:a16="http://schemas.microsoft.com/office/drawing/2014/main" val="1275803859"/>
                    </a:ext>
                  </a:extLst>
                </a:gridCol>
                <a:gridCol w="1684970">
                  <a:extLst>
                    <a:ext uri="{9D8B030D-6E8A-4147-A177-3AD203B41FA5}">
                      <a16:colId xmlns:a16="http://schemas.microsoft.com/office/drawing/2014/main" val="2881925432"/>
                    </a:ext>
                  </a:extLst>
                </a:gridCol>
              </a:tblGrid>
              <a:tr h="7587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26275"/>
                  </a:ext>
                </a:extLst>
              </a:tr>
              <a:tr h="41100">
                <a:tc rowSpan="9"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Lenovo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Zhonghsan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Wistron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80ku/qtr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104864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Dongguan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Liteon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400ku/qtr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201078"/>
                  </a:ext>
                </a:extLst>
              </a:tr>
              <a:tr h="24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Shenzhen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ECS (SMT &amp; SI)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USI (SMT)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MSI (SMT)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200ku/qtr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176165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Wuhan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425646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Hefei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LCFC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230ku/qtr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63540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Kunshan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Compal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5575045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Hungary - Sarvar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Flextronics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Low volume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2752667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Brazil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Lenovo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Digiboard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~15ku/qtr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2916834"/>
                  </a:ext>
                </a:extLst>
              </a:tr>
              <a:tr h="24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Mexico - Monterrey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Lenovo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08973"/>
                  </a:ext>
                </a:extLst>
              </a:tr>
              <a:tr h="754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8901"/>
                  </a:ext>
                </a:extLst>
              </a:tr>
              <a:tr h="41100">
                <a:tc rowSpan="12"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HPI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Brazil - Sao Paolo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Flextronics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20-50ku/qtr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193860"/>
                  </a:ext>
                </a:extLst>
              </a:tr>
              <a:tr h="754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Chech Republic - Pardubice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600ku/qtr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166968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Japan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HP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300ku/qtr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0875227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India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HP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60ku/qtr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710800"/>
                  </a:ext>
                </a:extLst>
              </a:tr>
              <a:tr h="24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Wuhan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600ku/qtr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815472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ChongQing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HP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135ku/qtr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8600165"/>
                  </a:ext>
                </a:extLst>
              </a:tr>
              <a:tr h="2876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ChongQing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Quanta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1Mu/qtr   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755918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Zhonghsan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Wistron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500ku/qtr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304723"/>
                  </a:ext>
                </a:extLst>
              </a:tr>
              <a:tr h="2054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Mexico - Juarez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800ku/qtr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81661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Indianapolis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Workstation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9919449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Indianapolis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Biz PC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0009553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ChongQing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Inventec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9843069"/>
                  </a:ext>
                </a:extLst>
              </a:tr>
              <a:tr h="754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961524"/>
                  </a:ext>
                </a:extLst>
              </a:tr>
              <a:tr h="246600">
                <a:tc rowSpan="5"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Dell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Wuhan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" panose="020B0604020203020204" pitchFamily="34" charset="0"/>
                        </a:rPr>
                        <a:t>Unknown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55733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Zhongshan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Wistron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" panose="020B0604020203020204" pitchFamily="34" charset="0"/>
                        </a:rPr>
                        <a:t>Unknown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8729077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Suzhou or Chongqing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" panose="020B0604020203020204" pitchFamily="34" charset="0"/>
                        </a:rPr>
                        <a:t>Unknown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Pegatron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" panose="020B0604020203020204" pitchFamily="34" charset="0"/>
                        </a:rPr>
                        <a:t>Unknown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07755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Brazil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Dell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80 and 100ku/qtr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819049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Mexico - Juarez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Foxconn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400ku/qtr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724370"/>
                  </a:ext>
                </a:extLst>
              </a:tr>
              <a:tr h="754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552328"/>
                  </a:ext>
                </a:extLst>
              </a:tr>
              <a:tr h="41100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Acer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Zhonghsan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Wistron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200ku/qtr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635402"/>
                  </a:ext>
                </a:extLst>
              </a:tr>
              <a:tr h="4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Shenzhen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ECS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70ku/qtr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6025776"/>
                  </a:ext>
                </a:extLst>
              </a:tr>
              <a:tr h="754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208176"/>
                  </a:ext>
                </a:extLst>
              </a:tr>
              <a:tr h="411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Asus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Shenzhen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&amp; 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FIC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60ku/qtr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8439008"/>
                  </a:ext>
                </a:extLst>
              </a:tr>
              <a:tr h="754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86641"/>
                  </a:ext>
                </a:extLst>
              </a:tr>
              <a:tr h="4635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Gigabyte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Taiwan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(Primary) &amp; </a:t>
                      </a:r>
                      <a:r>
                        <a:rPr lang="en-US" sz="800" b="0" i="0" u="none" strike="sng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Gigabyte own Factory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1.8Mu/qtr (7Mu/year) (motherboards only)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220765"/>
                  </a:ext>
                </a:extLst>
              </a:tr>
              <a:tr h="754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411929"/>
                  </a:ext>
                </a:extLst>
              </a:tr>
              <a:tr h="410999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MSI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Taiwan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(Primary) &amp; </a:t>
                      </a:r>
                      <a:r>
                        <a:rPr lang="en-US" sz="800" b="0" i="0" u="none" strike="sng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MSI own Factory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1Mu/qtr (4Mu/year) (motherboards only)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6736648"/>
                  </a:ext>
                </a:extLst>
              </a:tr>
              <a:tr h="754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40111"/>
                  </a:ext>
                </a:extLst>
              </a:tr>
              <a:tr h="7587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AS Rock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Taiwan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DT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EMS in Vietnam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 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600ku/qtr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15613"/>
                  </a:ext>
                </a:extLst>
              </a:tr>
              <a:tr h="7587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OEM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Site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SMT or SI or Both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Segment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ODM1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ODM2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ODM3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qty/qtr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218279"/>
                  </a:ext>
                </a:extLst>
              </a:tr>
              <a:tr h="113815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Intel Clear" panose="020B0604020203020204" pitchFamily="34" charset="0"/>
                        </a:rPr>
                        <a:t>SuperMicro</a:t>
                      </a: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" marR="1304" marT="130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561809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5292F4-6B5D-458C-8816-C4E18A1477C0}"/>
              </a:ext>
            </a:extLst>
          </p:cNvPr>
          <p:cNvSpPr txBox="1"/>
          <p:nvPr/>
        </p:nvSpPr>
        <p:spPr>
          <a:xfrm>
            <a:off x="10588006" y="741890"/>
            <a:ext cx="14955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Color Codes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</a:t>
            </a:r>
          </a:p>
          <a:p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  <a:latin typeface="Calibri" panose="020F0502020204030204" pitchFamily="34" charset="0"/>
              </a:rPr>
              <a:t>Brown = OEMs</a:t>
            </a:r>
          </a:p>
          <a:p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Yellow = Customers covered for the ADL-DT Intro &amp; CRD/Survey</a:t>
            </a:r>
          </a:p>
          <a:p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</a:rPr>
              <a:t>Blue = MV Activity with these Customers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67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9CE2FE-F6BF-48D9-AFD9-F83D6DC58A9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F3F594C-68FF-4916-830D-C1E157D055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05916A-C49B-4B60-92DB-E42B12EE1E0B}"/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549</Words>
  <Application>Microsoft Office PowerPoint</Application>
  <PresentationFormat>Widescreen</PresentationFormat>
  <Paragraphs>319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Intel Clear</vt:lpstr>
      <vt:lpstr>Office Theme</vt:lpstr>
      <vt:lpstr>2020 Desktop Customer Landscape</vt:lpstr>
      <vt:lpstr>OEM-ODM Pairing &amp; Approximate Site Volume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Burkholder, Dan S</dc:creator>
  <cp:lastModifiedBy>Burkholder, Dan S</cp:lastModifiedBy>
  <cp:revision>7</cp:revision>
  <dcterms:created xsi:type="dcterms:W3CDTF">2020-11-03T20:22:00Z</dcterms:created>
  <dcterms:modified xsi:type="dcterms:W3CDTF">2021-12-08T17:00:45Z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