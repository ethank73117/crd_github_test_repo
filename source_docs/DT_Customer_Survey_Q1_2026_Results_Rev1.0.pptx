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8"/>
  </p:notesMasterIdLst>
  <p:handoutMasterIdLst>
    <p:handoutMasterId r:id="rId19"/>
  </p:handoutMasterIdLst>
  <p:sldIdLst>
    <p:sldId id="262" r:id="rId5"/>
    <p:sldId id="351" r:id="rId6"/>
    <p:sldId id="624" r:id="rId7"/>
    <p:sldId id="615" r:id="rId8"/>
    <p:sldId id="616" r:id="rId9"/>
    <p:sldId id="622" r:id="rId10"/>
    <p:sldId id="617" r:id="rId11"/>
    <p:sldId id="618" r:id="rId12"/>
    <p:sldId id="619" r:id="rId13"/>
    <p:sldId id="620" r:id="rId14"/>
    <p:sldId id="623" r:id="rId15"/>
    <p:sldId id="621" r:id="rId16"/>
    <p:sldId id="292" r:id="rId17"/>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tz, Ethan" initials="KE" lastIdx="1" clrIdx="0">
    <p:extLst>
      <p:ext uri="{19B8F6BF-5375-455C-9EA6-DF929625EA0E}">
        <p15:presenceInfo xmlns:p15="http://schemas.microsoft.com/office/powerpoint/2012/main" userId="S::ethan.katz@intel.com::425085e1-a8f0-41cb-8888-36ef66bd07f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DAFF"/>
    <a:srgbClr val="60B5FF"/>
    <a:srgbClr val="FBE594"/>
    <a:srgbClr val="EABB09"/>
    <a:srgbClr val="0071C5"/>
    <a:srgbClr val="DEE7D1"/>
    <a:srgbClr val="9BBB59"/>
    <a:srgbClr val="6E6E6E"/>
    <a:srgbClr val="2872C5"/>
    <a:srgbClr val="5252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7A774B-F1BE-4FEF-B88B-10B5EEB49DD9}" v="107" dt="2026-03-31T21:33:29.13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872" autoAdjust="0"/>
  </p:normalViewPr>
  <p:slideViewPr>
    <p:cSldViewPr snapToGrid="0">
      <p:cViewPr varScale="1">
        <p:scale>
          <a:sx n="130" d="100"/>
          <a:sy n="130" d="100"/>
        </p:scale>
        <p:origin x="446" y="79"/>
      </p:cViewPr>
      <p:guideLst>
        <p:guide orient="horz" pos="4032"/>
        <p:guide pos="7392"/>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z, Ethan" userId="425085e1-a8f0-41cb-8888-36ef66bd07fe" providerId="ADAL" clId="{67BAD32D-5CEC-467C-9366-ED277C63016D}"/>
    <pc:docChg chg="undo custSel addSld delSld modSld">
      <pc:chgData name="Katz, Ethan" userId="425085e1-a8f0-41cb-8888-36ef66bd07fe" providerId="ADAL" clId="{67BAD32D-5CEC-467C-9366-ED277C63016D}" dt="2026-04-06T23:29:27.305" v="4864" actId="20577"/>
      <pc:docMkLst>
        <pc:docMk/>
      </pc:docMkLst>
      <pc:sldChg chg="modSp mod">
        <pc:chgData name="Katz, Ethan" userId="425085e1-a8f0-41cb-8888-36ef66bd07fe" providerId="ADAL" clId="{67BAD32D-5CEC-467C-9366-ED277C63016D}" dt="2026-03-31T21:39:17.832" v="4859" actId="20577"/>
        <pc:sldMkLst>
          <pc:docMk/>
          <pc:sldMk cId="3102934450" sldId="262"/>
        </pc:sldMkLst>
        <pc:spChg chg="mod">
          <ac:chgData name="Katz, Ethan" userId="425085e1-a8f0-41cb-8888-36ef66bd07fe" providerId="ADAL" clId="{67BAD32D-5CEC-467C-9366-ED277C63016D}" dt="2026-03-30T16:55:24.404" v="55" actId="20577"/>
          <ac:spMkLst>
            <pc:docMk/>
            <pc:sldMk cId="3102934450" sldId="262"/>
            <ac:spMk id="12" creationId="{40D3A6DA-A319-94A1-5E89-24928DE5A8FE}"/>
          </ac:spMkLst>
        </pc:spChg>
        <pc:spChg chg="mod">
          <ac:chgData name="Katz, Ethan" userId="425085e1-a8f0-41cb-8888-36ef66bd07fe" providerId="ADAL" clId="{67BAD32D-5CEC-467C-9366-ED277C63016D}" dt="2026-03-31T21:39:17.832" v="4859" actId="20577"/>
          <ac:spMkLst>
            <pc:docMk/>
            <pc:sldMk cId="3102934450" sldId="262"/>
            <ac:spMk id="13" creationId="{60A42416-9174-95DC-517A-3F22D6C7FBE6}"/>
          </ac:spMkLst>
        </pc:spChg>
      </pc:sldChg>
      <pc:sldChg chg="addSp delSp modSp mod">
        <pc:chgData name="Katz, Ethan" userId="425085e1-a8f0-41cb-8888-36ef66bd07fe" providerId="ADAL" clId="{67BAD32D-5CEC-467C-9366-ED277C63016D}" dt="2026-03-30T21:07:39.673" v="2930" actId="20577"/>
        <pc:sldMkLst>
          <pc:docMk/>
          <pc:sldMk cId="2091245160" sldId="615"/>
        </pc:sldMkLst>
        <pc:spChg chg="mod">
          <ac:chgData name="Katz, Ethan" userId="425085e1-a8f0-41cb-8888-36ef66bd07fe" providerId="ADAL" clId="{67BAD32D-5CEC-467C-9366-ED277C63016D}" dt="2026-03-30T16:55:50.584" v="82" actId="20577"/>
          <ac:spMkLst>
            <pc:docMk/>
            <pc:sldMk cId="2091245160" sldId="615"/>
            <ac:spMk id="2" creationId="{B4320536-9159-B8A4-44CD-E13AFA339BBF}"/>
          </ac:spMkLst>
        </pc:spChg>
        <pc:spChg chg="mod">
          <ac:chgData name="Katz, Ethan" userId="425085e1-a8f0-41cb-8888-36ef66bd07fe" providerId="ADAL" clId="{67BAD32D-5CEC-467C-9366-ED277C63016D}" dt="2026-03-30T21:07:39.673" v="2930" actId="20577"/>
          <ac:spMkLst>
            <pc:docMk/>
            <pc:sldMk cId="2091245160" sldId="615"/>
            <ac:spMk id="3" creationId="{6F07DB29-80DB-83D6-4A3B-3C1C80B6336A}"/>
          </ac:spMkLst>
        </pc:spChg>
      </pc:sldChg>
      <pc:sldChg chg="addSp delSp modSp add mod">
        <pc:chgData name="Katz, Ethan" userId="425085e1-a8f0-41cb-8888-36ef66bd07fe" providerId="ADAL" clId="{67BAD32D-5CEC-467C-9366-ED277C63016D}" dt="2026-03-30T21:08:46.412" v="2938" actId="255"/>
        <pc:sldMkLst>
          <pc:docMk/>
          <pc:sldMk cId="2057544830" sldId="616"/>
        </pc:sldMkLst>
        <pc:spChg chg="mod">
          <ac:chgData name="Katz, Ethan" userId="425085e1-a8f0-41cb-8888-36ef66bd07fe" providerId="ADAL" clId="{67BAD32D-5CEC-467C-9366-ED277C63016D}" dt="2026-03-30T17:45:21.602" v="1518" actId="20577"/>
          <ac:spMkLst>
            <pc:docMk/>
            <pc:sldMk cId="2057544830" sldId="616"/>
            <ac:spMk id="2" creationId="{CD83EFB4-4E4E-FEE1-F001-3777CF3712AA}"/>
          </ac:spMkLst>
        </pc:spChg>
        <pc:graphicFrameChg chg="add mod modGraphic">
          <ac:chgData name="Katz, Ethan" userId="425085e1-a8f0-41cb-8888-36ef66bd07fe" providerId="ADAL" clId="{67BAD32D-5CEC-467C-9366-ED277C63016D}" dt="2026-03-30T21:08:46.412" v="2938" actId="255"/>
          <ac:graphicFrameMkLst>
            <pc:docMk/>
            <pc:sldMk cId="2057544830" sldId="616"/>
            <ac:graphicFrameMk id="6" creationId="{F2F7DA93-E7AD-0FC0-F3A4-44D02A543BF6}"/>
          </ac:graphicFrameMkLst>
        </pc:graphicFrameChg>
      </pc:sldChg>
      <pc:sldChg chg="modSp add mod">
        <pc:chgData name="Katz, Ethan" userId="425085e1-a8f0-41cb-8888-36ef66bd07fe" providerId="ADAL" clId="{67BAD32D-5CEC-467C-9366-ED277C63016D}" dt="2026-03-30T18:05:09.449" v="1759"/>
        <pc:sldMkLst>
          <pc:docMk/>
          <pc:sldMk cId="4007762539" sldId="617"/>
        </pc:sldMkLst>
        <pc:spChg chg="mod">
          <ac:chgData name="Katz, Ethan" userId="425085e1-a8f0-41cb-8888-36ef66bd07fe" providerId="ADAL" clId="{67BAD32D-5CEC-467C-9366-ED277C63016D}" dt="2026-03-30T17:11:30.924" v="1023" actId="20577"/>
          <ac:spMkLst>
            <pc:docMk/>
            <pc:sldMk cId="4007762539" sldId="617"/>
            <ac:spMk id="2" creationId="{EB8767D8-4784-59B4-BFFE-A7D9BBE481D4}"/>
          </ac:spMkLst>
        </pc:spChg>
        <pc:graphicFrameChg chg="mod modGraphic">
          <ac:chgData name="Katz, Ethan" userId="425085e1-a8f0-41cb-8888-36ef66bd07fe" providerId="ADAL" clId="{67BAD32D-5CEC-467C-9366-ED277C63016D}" dt="2026-03-30T18:05:09.449" v="1759"/>
          <ac:graphicFrameMkLst>
            <pc:docMk/>
            <pc:sldMk cId="4007762539" sldId="617"/>
            <ac:graphicFrameMk id="6" creationId="{85023CBC-410A-3500-93F6-D105C2A4FD1C}"/>
          </ac:graphicFrameMkLst>
        </pc:graphicFrameChg>
      </pc:sldChg>
      <pc:sldChg chg="modSp add mod">
        <pc:chgData name="Katz, Ethan" userId="425085e1-a8f0-41cb-8888-36ef66bd07fe" providerId="ADAL" clId="{67BAD32D-5CEC-467C-9366-ED277C63016D}" dt="2026-03-30T18:30:41.832" v="1816" actId="20577"/>
        <pc:sldMkLst>
          <pc:docMk/>
          <pc:sldMk cId="3991126254" sldId="618"/>
        </pc:sldMkLst>
        <pc:spChg chg="mod">
          <ac:chgData name="Katz, Ethan" userId="425085e1-a8f0-41cb-8888-36ef66bd07fe" providerId="ADAL" clId="{67BAD32D-5CEC-467C-9366-ED277C63016D}" dt="2026-03-30T17:13:50.042" v="1058" actId="20577"/>
          <ac:spMkLst>
            <pc:docMk/>
            <pc:sldMk cId="3991126254" sldId="618"/>
            <ac:spMk id="2" creationId="{940A6032-BEF1-74FC-93C3-F144B35F41FE}"/>
          </ac:spMkLst>
        </pc:spChg>
        <pc:graphicFrameChg chg="mod modGraphic">
          <ac:chgData name="Katz, Ethan" userId="425085e1-a8f0-41cb-8888-36ef66bd07fe" providerId="ADAL" clId="{67BAD32D-5CEC-467C-9366-ED277C63016D}" dt="2026-03-30T18:30:41.832" v="1816" actId="20577"/>
          <ac:graphicFrameMkLst>
            <pc:docMk/>
            <pc:sldMk cId="3991126254" sldId="618"/>
            <ac:graphicFrameMk id="6" creationId="{5EC036EC-988B-5BF9-CB42-E3E82515EBE4}"/>
          </ac:graphicFrameMkLst>
        </pc:graphicFrameChg>
      </pc:sldChg>
      <pc:sldChg chg="modSp add mod">
        <pc:chgData name="Katz, Ethan" userId="425085e1-a8f0-41cb-8888-36ef66bd07fe" providerId="ADAL" clId="{67BAD32D-5CEC-467C-9366-ED277C63016D}" dt="2026-03-30T18:34:58.305" v="1819" actId="20577"/>
        <pc:sldMkLst>
          <pc:docMk/>
          <pc:sldMk cId="128209185" sldId="619"/>
        </pc:sldMkLst>
        <pc:spChg chg="mod">
          <ac:chgData name="Katz, Ethan" userId="425085e1-a8f0-41cb-8888-36ef66bd07fe" providerId="ADAL" clId="{67BAD32D-5CEC-467C-9366-ED277C63016D}" dt="2026-03-30T17:16:22.171" v="1118" actId="20577"/>
          <ac:spMkLst>
            <pc:docMk/>
            <pc:sldMk cId="128209185" sldId="619"/>
            <ac:spMk id="2" creationId="{B920E902-72C4-2FC9-C550-026DA867125C}"/>
          </ac:spMkLst>
        </pc:spChg>
        <pc:graphicFrameChg chg="mod modGraphic">
          <ac:chgData name="Katz, Ethan" userId="425085e1-a8f0-41cb-8888-36ef66bd07fe" providerId="ADAL" clId="{67BAD32D-5CEC-467C-9366-ED277C63016D}" dt="2026-03-30T18:34:58.305" v="1819" actId="20577"/>
          <ac:graphicFrameMkLst>
            <pc:docMk/>
            <pc:sldMk cId="128209185" sldId="619"/>
            <ac:graphicFrameMk id="6" creationId="{87AAE27B-D638-FB90-53D2-58C3210FDEF5}"/>
          </ac:graphicFrameMkLst>
        </pc:graphicFrameChg>
      </pc:sldChg>
      <pc:sldChg chg="addSp delSp modSp add mod">
        <pc:chgData name="Katz, Ethan" userId="425085e1-a8f0-41cb-8888-36ef66bd07fe" providerId="ADAL" clId="{67BAD32D-5CEC-467C-9366-ED277C63016D}" dt="2026-03-30T21:09:08.341" v="2940" actId="255"/>
        <pc:sldMkLst>
          <pc:docMk/>
          <pc:sldMk cId="2778448474" sldId="620"/>
        </pc:sldMkLst>
        <pc:spChg chg="mod">
          <ac:chgData name="Katz, Ethan" userId="425085e1-a8f0-41cb-8888-36ef66bd07fe" providerId="ADAL" clId="{67BAD32D-5CEC-467C-9366-ED277C63016D}" dt="2026-03-30T17:17:27.479" v="1160" actId="20577"/>
          <ac:spMkLst>
            <pc:docMk/>
            <pc:sldMk cId="2778448474" sldId="620"/>
            <ac:spMk id="2" creationId="{59314733-9CC7-B1F7-07EF-229671B51F58}"/>
          </ac:spMkLst>
        </pc:spChg>
        <pc:graphicFrameChg chg="mod modGraphic">
          <ac:chgData name="Katz, Ethan" userId="425085e1-a8f0-41cb-8888-36ef66bd07fe" providerId="ADAL" clId="{67BAD32D-5CEC-467C-9366-ED277C63016D}" dt="2026-03-30T21:09:08.341" v="2940" actId="255"/>
          <ac:graphicFrameMkLst>
            <pc:docMk/>
            <pc:sldMk cId="2778448474" sldId="620"/>
            <ac:graphicFrameMk id="6" creationId="{04567D7A-B89F-FB03-F8F4-038273A2C71D}"/>
          </ac:graphicFrameMkLst>
        </pc:graphicFrameChg>
      </pc:sldChg>
      <pc:sldChg chg="modSp add mod">
        <pc:chgData name="Katz, Ethan" userId="425085e1-a8f0-41cb-8888-36ef66bd07fe" providerId="ADAL" clId="{67BAD32D-5CEC-467C-9366-ED277C63016D}" dt="2026-04-06T23:29:27.305" v="4864" actId="20577"/>
        <pc:sldMkLst>
          <pc:docMk/>
          <pc:sldMk cId="203813236" sldId="621"/>
        </pc:sldMkLst>
        <pc:spChg chg="mod">
          <ac:chgData name="Katz, Ethan" userId="425085e1-a8f0-41cb-8888-36ef66bd07fe" providerId="ADAL" clId="{67BAD32D-5CEC-467C-9366-ED277C63016D}" dt="2026-04-06T23:29:27.305" v="4864" actId="20577"/>
          <ac:spMkLst>
            <pc:docMk/>
            <pc:sldMk cId="203813236" sldId="621"/>
            <ac:spMk id="2" creationId="{A2606B91-2C50-EBA8-CBAB-1575B84C9963}"/>
          </ac:spMkLst>
        </pc:spChg>
        <pc:spChg chg="mod">
          <ac:chgData name="Katz, Ethan" userId="425085e1-a8f0-41cb-8888-36ef66bd07fe" providerId="ADAL" clId="{67BAD32D-5CEC-467C-9366-ED277C63016D}" dt="2026-03-31T21:39:00.373" v="4842" actId="20577"/>
          <ac:spMkLst>
            <pc:docMk/>
            <pc:sldMk cId="203813236" sldId="621"/>
            <ac:spMk id="3" creationId="{2DE06EC5-439B-119E-A9F5-542F0C49DFBE}"/>
          </ac:spMkLst>
        </pc:spChg>
      </pc:sldChg>
      <pc:sldChg chg="addSp delSp modSp add mod">
        <pc:chgData name="Katz, Ethan" userId="425085e1-a8f0-41cb-8888-36ef66bd07fe" providerId="ADAL" clId="{67BAD32D-5CEC-467C-9366-ED277C63016D}" dt="2026-04-06T23:20:53.714" v="4863" actId="20577"/>
        <pc:sldMkLst>
          <pc:docMk/>
          <pc:sldMk cId="3691205409" sldId="622"/>
        </pc:sldMkLst>
        <pc:graphicFrameChg chg="mod modGraphic">
          <ac:chgData name="Katz, Ethan" userId="425085e1-a8f0-41cb-8888-36ef66bd07fe" providerId="ADAL" clId="{67BAD32D-5CEC-467C-9366-ED277C63016D}" dt="2026-04-06T23:20:53.714" v="4863" actId="20577"/>
          <ac:graphicFrameMkLst>
            <pc:docMk/>
            <pc:sldMk cId="3691205409" sldId="622"/>
            <ac:graphicFrameMk id="6" creationId="{3920FEE8-B9BC-A8DD-EB75-3A419D3D5E7A}"/>
          </ac:graphicFrameMkLst>
        </pc:graphicFrameChg>
      </pc:sldChg>
      <pc:sldChg chg="addSp modSp add mod">
        <pc:chgData name="Katz, Ethan" userId="425085e1-a8f0-41cb-8888-36ef66bd07fe" providerId="ADAL" clId="{67BAD32D-5CEC-467C-9366-ED277C63016D}" dt="2026-03-30T17:58:15.805" v="1725" actId="1076"/>
        <pc:sldMkLst>
          <pc:docMk/>
          <pc:sldMk cId="3818256706" sldId="623"/>
        </pc:sldMkLst>
        <pc:graphicFrameChg chg="mod modGraphic">
          <ac:chgData name="Katz, Ethan" userId="425085e1-a8f0-41cb-8888-36ef66bd07fe" providerId="ADAL" clId="{67BAD32D-5CEC-467C-9366-ED277C63016D}" dt="2026-03-30T17:58:15.805" v="1725" actId="1076"/>
          <ac:graphicFrameMkLst>
            <pc:docMk/>
            <pc:sldMk cId="3818256706" sldId="623"/>
            <ac:graphicFrameMk id="6" creationId="{6DD75516-EFA7-F5E0-6BF1-C1F9512BA498}"/>
          </ac:graphicFrameMkLst>
        </pc:graphicFrameChg>
        <pc:picChg chg="add mod">
          <ac:chgData name="Katz, Ethan" userId="425085e1-a8f0-41cb-8888-36ef66bd07fe" providerId="ADAL" clId="{67BAD32D-5CEC-467C-9366-ED277C63016D}" dt="2026-03-30T17:58:00.117" v="1724" actId="1076"/>
          <ac:picMkLst>
            <pc:docMk/>
            <pc:sldMk cId="3818256706" sldId="623"/>
            <ac:picMk id="3" creationId="{AD2ECE28-6805-B585-3B20-88123B29282B}"/>
          </ac:picMkLst>
        </pc:picChg>
      </pc:sldChg>
      <pc:sldChg chg="modSp add mod">
        <pc:chgData name="Katz, Ethan" userId="425085e1-a8f0-41cb-8888-36ef66bd07fe" providerId="ADAL" clId="{67BAD32D-5CEC-467C-9366-ED277C63016D}" dt="2026-03-30T23:45:29.282" v="3108" actId="20577"/>
        <pc:sldMkLst>
          <pc:docMk/>
          <pc:sldMk cId="3863714589" sldId="624"/>
        </pc:sldMkLst>
        <pc:spChg chg="mod">
          <ac:chgData name="Katz, Ethan" userId="425085e1-a8f0-41cb-8888-36ef66bd07fe" providerId="ADAL" clId="{67BAD32D-5CEC-467C-9366-ED277C63016D}" dt="2026-03-30T23:44:41.891" v="2947" actId="20577"/>
          <ac:spMkLst>
            <pc:docMk/>
            <pc:sldMk cId="3863714589" sldId="624"/>
            <ac:spMk id="2" creationId="{F2F2C521-6654-A9D8-373D-ACD183C6F17D}"/>
          </ac:spMkLst>
        </pc:spChg>
        <pc:spChg chg="mod">
          <ac:chgData name="Katz, Ethan" userId="425085e1-a8f0-41cb-8888-36ef66bd07fe" providerId="ADAL" clId="{67BAD32D-5CEC-467C-9366-ED277C63016D}" dt="2026-03-30T23:45:29.282" v="3108" actId="20577"/>
          <ac:spMkLst>
            <pc:docMk/>
            <pc:sldMk cId="3863714589" sldId="624"/>
            <ac:spMk id="3" creationId="{5BCBFEF5-48E8-EA1B-B2B6-5AAA71D1ACB2}"/>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Intel Clear Light" panose="020B0404020203020204" pitchFamily="34" charset="0"/>
            </a:endParaRPr>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latin typeface="Intel Clear Light" panose="020B0404020203020204" pitchFamily="34" charset="0"/>
              </a:rPr>
              <a:t>4/6/2026</a:t>
            </a:fld>
            <a:endParaRPr lang="en-US">
              <a:latin typeface="Intel Clear Light" panose="020B0404020203020204" pitchFamily="34" charset="0"/>
            </a:endParaRPr>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Intel Clear Light" panose="020B0404020203020204" pitchFamily="34" charset="0"/>
            </a:endParaRPr>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latin typeface="Intel Clear Light" panose="020B0404020203020204" pitchFamily="34" charset="0"/>
              </a:rPr>
              <a:t>‹#›</a:t>
            </a:fld>
            <a:endParaRPr lang="en-US">
              <a:latin typeface="Intel Clear Light" panose="020B0404020203020204" pitchFamily="34" charset="0"/>
            </a:endParaRPr>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691459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5000">
                <a:solidFill>
                  <a:schemeClr val="bg1"/>
                </a:solidFill>
              </a:defRPr>
            </a:lvl1pPr>
          </a:lstStyle>
          <a:p>
            <a:r>
              <a:rPr lang="en-US"/>
              <a:t>50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6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5000">
                <a:solidFill>
                  <a:schemeClr val="bg1"/>
                </a:solidFill>
              </a:defRPr>
            </a:lvl1pPr>
          </a:lstStyle>
          <a:p>
            <a:r>
              <a:rPr lang="en-US"/>
              <a:t>50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6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rgbClr val="525252"/>
                </a:solidFill>
              </a:defRPr>
            </a:lvl1pPr>
          </a:lstStyle>
          <a:p>
            <a:r>
              <a:rPr lang="en-US"/>
              <a:t>75 </a:t>
            </a:r>
            <a:r>
              <a:rPr lang="en-US" err="1"/>
              <a:t>pt</a:t>
            </a:r>
            <a:r>
              <a:rPr lang="en-US"/>
              <a:t> Intel Clear</a:t>
            </a:r>
            <a:endParaRPr/>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3200">
                <a:solidFill>
                  <a:srgbClr val="525252"/>
                </a:solidFill>
              </a:defRPr>
            </a:lvl1pPr>
          </a:lstStyle>
          <a:p>
            <a:r>
              <a:rPr lang="en-US"/>
              <a:t>32pt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3200">
                <a:solidFill>
                  <a:srgbClr val="525252"/>
                </a:solidFill>
              </a:defRPr>
            </a:lvl1pPr>
          </a:lstStyle>
          <a:p>
            <a:r>
              <a:rPr lang="en-US"/>
              <a:t>32pt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3200">
                <a:solidFill>
                  <a:srgbClr val="525252"/>
                </a:solidFill>
              </a:defRPr>
            </a:lvl1pPr>
          </a:lstStyle>
          <a:p>
            <a:r>
              <a:rPr lang="en-US"/>
              <a:t>32pt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3200">
                <a:solidFill>
                  <a:srgbClr val="525252"/>
                </a:solidFill>
              </a:defRPr>
            </a:lvl1pPr>
          </a:lstStyle>
          <a:p>
            <a:r>
              <a:rPr lang="en-US"/>
              <a:t>32pt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3200">
                <a:solidFill>
                  <a:srgbClr val="525252"/>
                </a:solidFill>
              </a:defRPr>
            </a:lvl1pPr>
          </a:lstStyle>
          <a:p>
            <a:r>
              <a:rPr lang="en-US"/>
              <a:t>32pt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3200">
                <a:solidFill>
                  <a:srgbClr val="525252"/>
                </a:solidFill>
              </a:defRPr>
            </a:lvl1pPr>
          </a:lstStyle>
          <a:p>
            <a:r>
              <a:rPr lang="en-US"/>
              <a:t>32pt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3200">
                <a:solidFill>
                  <a:srgbClr val="525252"/>
                </a:solidFill>
              </a:defRPr>
            </a:lvl1pPr>
          </a:lstStyle>
          <a:p>
            <a:r>
              <a:rPr lang="en-US"/>
              <a:t>32pt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32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3200">
                <a:solidFill>
                  <a:srgbClr val="525252"/>
                </a:solidFill>
              </a:defRPr>
            </a:lvl1pPr>
          </a:lstStyle>
          <a:p>
            <a:r>
              <a:rPr lang="en-US"/>
              <a:t>32pt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3200">
                <a:solidFill>
                  <a:schemeClr val="bg1"/>
                </a:solidFill>
              </a:defRPr>
            </a:lvl1pPr>
          </a:lstStyle>
          <a:p>
            <a:r>
              <a:rPr lang="en-US"/>
              <a:t>32pt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4762141" y="6562504"/>
            <a:ext cx="2667718" cy="231410"/>
          </a:xfrm>
          <a:prstGeom prst="rect">
            <a:avLst/>
          </a:prstGeom>
        </p:spPr>
        <p:txBody>
          <a:bodyPr wrap="none">
            <a:spAutoFit/>
          </a:bodyPr>
          <a:lstStyle/>
          <a:p>
            <a:pPr algn="ctr"/>
            <a:r>
              <a:rPr lang="en-US" sz="1000">
                <a:solidFill>
                  <a:schemeClr val="bg1"/>
                </a:solidFill>
              </a:rPr>
              <a:t>Intel Confidential | For use under NDA only</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2287806" cy="231410"/>
          </a:xfrm>
          <a:prstGeom prst="rect">
            <a:avLst/>
          </a:prstGeom>
        </p:spPr>
        <p:txBody>
          <a:bodyPr wrap="none">
            <a:spAutoFit/>
          </a:bodyPr>
          <a:lstStyle/>
          <a:p>
            <a:pPr algn="l"/>
            <a:r>
              <a:rPr lang="en-US" sz="1000" b="1">
                <a:solidFill>
                  <a:schemeClr val="bg1"/>
                </a:solidFill>
              </a:rPr>
              <a:t>CQR |</a:t>
            </a:r>
            <a:r>
              <a:rPr lang="en-US" sz="1000" b="0">
                <a:solidFill>
                  <a:schemeClr val="bg1"/>
                </a:solidFill>
              </a:rPr>
              <a:t> Customer Quality &amp; Reliability</a:t>
            </a:r>
            <a:endParaRPr lang="en-US" sz="1000" b="1">
              <a:solidFill>
                <a:schemeClr val="bg1"/>
              </a:solidFill>
            </a:endParaRP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8" name="TextBox 17">
            <a:extLst>
              <a:ext uri="{FF2B5EF4-FFF2-40B4-BE49-F238E27FC236}">
                <a16:creationId xmlns:a16="http://schemas.microsoft.com/office/drawing/2014/main" id="{2A5E3323-FEDE-4CB8-82C2-EEEDE46CF046}"/>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1"/>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1"/>
              </a:solidFill>
              <a:effectLst/>
              <a:uFillTx/>
              <a:latin typeface="+mn-lt"/>
              <a:ea typeface="+mn-ea"/>
              <a:cs typeface="+mn-cs"/>
              <a:sym typeface="Helvetica Neue"/>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1151433" y="6543018"/>
            <a:ext cx="491250" cy="190501"/>
          </a:xfrm>
          <a:prstGeom prst="rect">
            <a:avLst/>
          </a:prstGeom>
          <a:ln w="12700">
            <a:miter lim="400000"/>
          </a:ln>
        </p:spPr>
      </p:pic>
      <p:sp>
        <p:nvSpPr>
          <p:cNvPr id="13" name="Rectangle 12">
            <a:extLst>
              <a:ext uri="{FF2B5EF4-FFF2-40B4-BE49-F238E27FC236}">
                <a16:creationId xmlns:a16="http://schemas.microsoft.com/office/drawing/2014/main" id="{ED4D76E8-466A-4C06-9261-BDE1AA914749}"/>
              </a:ext>
            </a:extLst>
          </p:cNvPr>
          <p:cNvSpPr/>
          <p:nvPr userDrawn="1"/>
        </p:nvSpPr>
        <p:spPr>
          <a:xfrm>
            <a:off x="4762141" y="6562504"/>
            <a:ext cx="2667718" cy="231410"/>
          </a:xfrm>
          <a:prstGeom prst="rect">
            <a:avLst/>
          </a:prstGeom>
        </p:spPr>
        <p:txBody>
          <a:bodyPr wrap="none">
            <a:spAutoFit/>
          </a:bodyPr>
          <a:lstStyle/>
          <a:p>
            <a:pPr algn="ctr"/>
            <a:r>
              <a:rPr lang="en-US" sz="1000">
                <a:solidFill>
                  <a:schemeClr val="bg1"/>
                </a:solidFill>
              </a:rPr>
              <a:t>Intel Confidential | For use under NDA only</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2287806" cy="231410"/>
          </a:xfrm>
          <a:prstGeom prst="rect">
            <a:avLst/>
          </a:prstGeom>
        </p:spPr>
        <p:txBody>
          <a:bodyPr wrap="none">
            <a:spAutoFit/>
          </a:bodyPr>
          <a:lstStyle/>
          <a:p>
            <a:pPr algn="l"/>
            <a:r>
              <a:rPr lang="en-US" sz="1000" b="1">
                <a:solidFill>
                  <a:schemeClr val="bg1"/>
                </a:solidFill>
              </a:rPr>
              <a:t>CQR |</a:t>
            </a:r>
            <a:r>
              <a:rPr lang="en-US" sz="1000" b="0">
                <a:solidFill>
                  <a:schemeClr val="bg1"/>
                </a:solidFill>
              </a:rPr>
              <a:t> Customer Quality &amp; Reliability</a:t>
            </a:r>
            <a:endParaRPr lang="en-US" sz="1000" b="1">
              <a:solidFill>
                <a:schemeClr val="bg1"/>
              </a:solidFill>
            </a:endParaRP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3600">
                <a:solidFill>
                  <a:schemeClr val="bg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normAutofit/>
          </a:bodyPr>
          <a:lstStyle>
            <a:lvl1pPr marL="0" indent="0">
              <a:buNone/>
              <a:defRPr sz="20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8" name="TextBox 17">
            <a:extLst>
              <a:ext uri="{FF2B5EF4-FFF2-40B4-BE49-F238E27FC236}">
                <a16:creationId xmlns:a16="http://schemas.microsoft.com/office/drawing/2014/main" id="{A0910E25-43C9-4568-960F-11A46A2EFBC1}"/>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1"/>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1"/>
              </a:solidFill>
              <a:effectLst/>
              <a:uFillTx/>
              <a:latin typeface="+mn-lt"/>
              <a:ea typeface="+mn-ea"/>
              <a:cs typeface="+mn-cs"/>
              <a:sym typeface="Helvetica Neue"/>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4762141" y="6562504"/>
            <a:ext cx="2667718" cy="231410"/>
          </a:xfrm>
          <a:prstGeom prst="rect">
            <a:avLst/>
          </a:prstGeom>
        </p:spPr>
        <p:txBody>
          <a:bodyPr wrap="none">
            <a:spAutoFit/>
          </a:bodyPr>
          <a:lstStyle/>
          <a:p>
            <a:pPr algn="ctr"/>
            <a:r>
              <a:rPr lang="en-US" sz="1000">
                <a:solidFill>
                  <a:schemeClr val="bg1"/>
                </a:solidFill>
              </a:rPr>
              <a:t>Intel Confidential | For use under NDA only</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2287806" cy="231410"/>
          </a:xfrm>
          <a:prstGeom prst="rect">
            <a:avLst/>
          </a:prstGeom>
        </p:spPr>
        <p:txBody>
          <a:bodyPr wrap="none">
            <a:spAutoFit/>
          </a:bodyPr>
          <a:lstStyle/>
          <a:p>
            <a:pPr algn="l"/>
            <a:r>
              <a:rPr lang="en-US" sz="1000" b="1">
                <a:solidFill>
                  <a:schemeClr val="bg1"/>
                </a:solidFill>
              </a:rPr>
              <a:t>CQR |</a:t>
            </a:r>
            <a:r>
              <a:rPr lang="en-US" sz="1000" b="0">
                <a:solidFill>
                  <a:schemeClr val="bg1"/>
                </a:solidFill>
              </a:rPr>
              <a:t> Customer Quality &amp; Reliability</a:t>
            </a:r>
            <a:endParaRPr lang="en-US" sz="1000" b="1">
              <a:solidFill>
                <a:schemeClr val="bg1"/>
              </a:solidFill>
            </a:endParaRP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3600">
                <a:solidFill>
                  <a:schemeClr val="bg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normAutofit/>
          </a:bodyPr>
          <a:lstStyle>
            <a:lvl1pPr marL="0" indent="0">
              <a:buNone/>
              <a:defRPr sz="2000">
                <a:solidFill>
                  <a:schemeClr val="bg1"/>
                </a:solidFill>
                <a:latin typeface="+mn-lt"/>
              </a:defRPr>
            </a:lvl1pPr>
            <a:lvl2pPr marL="228600" indent="0">
              <a:buNone/>
              <a:defRPr/>
            </a:lvl2pPr>
          </a:lstStyle>
          <a:p>
            <a:pPr lvl="0"/>
            <a:r>
              <a:rPr lang="en-US"/>
              <a:t>Click to edit Master text styles</a:t>
            </a:r>
          </a:p>
        </p:txBody>
      </p:sp>
      <p:sp>
        <p:nvSpPr>
          <p:cNvPr id="19" name="TextBox 18">
            <a:extLst>
              <a:ext uri="{FF2B5EF4-FFF2-40B4-BE49-F238E27FC236}">
                <a16:creationId xmlns:a16="http://schemas.microsoft.com/office/drawing/2014/main" id="{BC322D61-6126-4319-820C-35616367FA34}"/>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1"/>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1"/>
              </a:solidFill>
              <a:effectLst/>
              <a:uFillTx/>
              <a:latin typeface="+mn-lt"/>
              <a:ea typeface="+mn-ea"/>
              <a:cs typeface="+mn-cs"/>
              <a:sym typeface="Helvetica Neue"/>
            </a:endParaRP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1151433" y="6543018"/>
            <a:ext cx="491250" cy="190501"/>
          </a:xfrm>
          <a:prstGeom prst="rect">
            <a:avLst/>
          </a:prstGeom>
          <a:ln w="12700">
            <a:miter lim="400000"/>
          </a:ln>
        </p:spPr>
      </p:pic>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4762141" y="6562504"/>
            <a:ext cx="2667718" cy="231410"/>
          </a:xfrm>
          <a:prstGeom prst="rect">
            <a:avLst/>
          </a:prstGeom>
        </p:spPr>
        <p:txBody>
          <a:bodyPr wrap="none">
            <a:spAutoFit/>
          </a:bodyPr>
          <a:lstStyle/>
          <a:p>
            <a:pPr algn="ctr"/>
            <a:r>
              <a:rPr lang="en-US" sz="1000">
                <a:solidFill>
                  <a:schemeClr val="bg1"/>
                </a:solidFill>
              </a:rPr>
              <a:t>Intel Confidential | For use under NDA only</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2287806" cy="231410"/>
          </a:xfrm>
          <a:prstGeom prst="rect">
            <a:avLst/>
          </a:prstGeom>
        </p:spPr>
        <p:txBody>
          <a:bodyPr wrap="none">
            <a:spAutoFit/>
          </a:bodyPr>
          <a:lstStyle/>
          <a:p>
            <a:pPr algn="l"/>
            <a:r>
              <a:rPr lang="en-US" sz="1000" b="1">
                <a:solidFill>
                  <a:schemeClr val="bg1"/>
                </a:solidFill>
              </a:rPr>
              <a:t>CQR |</a:t>
            </a:r>
            <a:r>
              <a:rPr lang="en-US" sz="1000" b="0">
                <a:solidFill>
                  <a:schemeClr val="bg1"/>
                </a:solidFill>
              </a:rPr>
              <a:t> Customer Quality &amp; Reliability</a:t>
            </a:r>
            <a:endParaRPr lang="en-US" sz="1000" b="1">
              <a:solidFill>
                <a:schemeClr val="bg1"/>
              </a:solidFill>
            </a:endParaRP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6" name="TextBox 15">
            <a:extLst>
              <a:ext uri="{FF2B5EF4-FFF2-40B4-BE49-F238E27FC236}">
                <a16:creationId xmlns:a16="http://schemas.microsoft.com/office/drawing/2014/main" id="{7C211D62-F94A-4E00-8150-1C815DA181B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1"/>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1"/>
              </a:solidFill>
              <a:effectLst/>
              <a:uFillTx/>
              <a:latin typeface="+mn-lt"/>
              <a:ea typeface="+mn-ea"/>
              <a:cs typeface="+mn-cs"/>
              <a:sym typeface="Helvetica Neue"/>
            </a:endParaRP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1151433" y="6543018"/>
            <a:ext cx="491250" cy="190501"/>
          </a:xfrm>
          <a:prstGeom prst="rect">
            <a:avLst/>
          </a:prstGeom>
          <a:ln w="12700">
            <a:miter lim="400000"/>
          </a:ln>
        </p:spPr>
      </p:pic>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4762141" y="6562504"/>
            <a:ext cx="2667718" cy="231410"/>
          </a:xfrm>
          <a:prstGeom prst="rect">
            <a:avLst/>
          </a:prstGeom>
        </p:spPr>
        <p:txBody>
          <a:bodyPr wrap="none">
            <a:spAutoFit/>
          </a:bodyPr>
          <a:lstStyle/>
          <a:p>
            <a:pPr algn="ctr"/>
            <a:r>
              <a:rPr lang="en-US" sz="1000">
                <a:solidFill>
                  <a:schemeClr val="bg1"/>
                </a:solidFill>
              </a:rPr>
              <a:t>Intel Confidential | For use under NDA only</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2287806" cy="231410"/>
          </a:xfrm>
          <a:prstGeom prst="rect">
            <a:avLst/>
          </a:prstGeom>
        </p:spPr>
        <p:txBody>
          <a:bodyPr wrap="none">
            <a:spAutoFit/>
          </a:bodyPr>
          <a:lstStyle/>
          <a:p>
            <a:pPr algn="l"/>
            <a:r>
              <a:rPr lang="en-US" sz="1000" b="1">
                <a:solidFill>
                  <a:schemeClr val="bg1"/>
                </a:solidFill>
              </a:rPr>
              <a:t>CQR |</a:t>
            </a:r>
            <a:r>
              <a:rPr lang="en-US" sz="1000" b="0">
                <a:solidFill>
                  <a:schemeClr val="bg1"/>
                </a:solidFill>
              </a:rPr>
              <a:t> Customer Quality &amp; Reliability</a:t>
            </a:r>
            <a:endParaRPr lang="en-US" sz="1000" b="1">
              <a:solidFill>
                <a:schemeClr val="bg1"/>
              </a:solidFill>
            </a:endParaRP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7" name="TextBox 16">
            <a:extLst>
              <a:ext uri="{FF2B5EF4-FFF2-40B4-BE49-F238E27FC236}">
                <a16:creationId xmlns:a16="http://schemas.microsoft.com/office/drawing/2014/main" id="{454CF3F3-1402-4F7A-A3B1-C26EAAE58ECC}"/>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1"/>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1"/>
              </a:solidFill>
              <a:effectLst/>
              <a:uFillTx/>
              <a:latin typeface="+mn-lt"/>
              <a:ea typeface="+mn-ea"/>
              <a:cs typeface="+mn-cs"/>
              <a:sym typeface="Helvetica Neue"/>
            </a:endParaRP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4762141" y="6562504"/>
            <a:ext cx="2667718" cy="231410"/>
          </a:xfrm>
          <a:prstGeom prst="rect">
            <a:avLst/>
          </a:prstGeom>
        </p:spPr>
        <p:txBody>
          <a:bodyPr wrap="none">
            <a:spAutoFit/>
          </a:bodyPr>
          <a:lstStyle/>
          <a:p>
            <a:pPr algn="ctr"/>
            <a:r>
              <a:rPr lang="en-US" sz="1000">
                <a:solidFill>
                  <a:schemeClr val="bg1"/>
                </a:solidFill>
              </a:rPr>
              <a:t>Intel Confidential | For use under NDA only</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2287806" cy="231410"/>
          </a:xfrm>
          <a:prstGeom prst="rect">
            <a:avLst/>
          </a:prstGeom>
        </p:spPr>
        <p:txBody>
          <a:bodyPr wrap="none">
            <a:spAutoFit/>
          </a:bodyPr>
          <a:lstStyle/>
          <a:p>
            <a:pPr algn="l"/>
            <a:r>
              <a:rPr lang="en-US" sz="1000" b="1">
                <a:solidFill>
                  <a:schemeClr val="bg1"/>
                </a:solidFill>
              </a:rPr>
              <a:t>CQR |</a:t>
            </a:r>
            <a:r>
              <a:rPr lang="en-US" sz="1000" b="0">
                <a:solidFill>
                  <a:schemeClr val="bg1"/>
                </a:solidFill>
              </a:rPr>
              <a:t> Customer Quality &amp; Reliability</a:t>
            </a:r>
            <a:endParaRPr lang="en-US" sz="1000" b="1">
              <a:solidFill>
                <a:schemeClr val="bg1"/>
              </a:solidFill>
            </a:endParaRP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22" name="TextBox 21">
            <a:extLst>
              <a:ext uri="{FF2B5EF4-FFF2-40B4-BE49-F238E27FC236}">
                <a16:creationId xmlns:a16="http://schemas.microsoft.com/office/drawing/2014/main" id="{5308A50B-73B5-4936-8201-D493E8E2A2DD}"/>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1"/>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1"/>
              </a:solidFill>
              <a:effectLst/>
              <a:uFillTx/>
              <a:latin typeface="+mn-lt"/>
              <a:ea typeface="+mn-ea"/>
              <a:cs typeface="+mn-cs"/>
              <a:sym typeface="Helvetica Neue"/>
            </a:endParaRP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2"/>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4762141" y="6562504"/>
            <a:ext cx="2667718" cy="231410"/>
          </a:xfrm>
          <a:prstGeom prst="rect">
            <a:avLst/>
          </a:prstGeom>
        </p:spPr>
        <p:txBody>
          <a:bodyPr wrap="none">
            <a:spAutoFit/>
          </a:bodyPr>
          <a:lstStyle/>
          <a:p>
            <a:pPr algn="ctr"/>
            <a:r>
              <a:rPr lang="en-US" sz="1000">
                <a:solidFill>
                  <a:schemeClr val="bg1"/>
                </a:solidFill>
              </a:rPr>
              <a:t>Intel Confidential | For use under NDA only</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2287806" cy="231410"/>
          </a:xfrm>
          <a:prstGeom prst="rect">
            <a:avLst/>
          </a:prstGeom>
        </p:spPr>
        <p:txBody>
          <a:bodyPr wrap="none">
            <a:spAutoFit/>
          </a:bodyPr>
          <a:lstStyle/>
          <a:p>
            <a:pPr algn="l"/>
            <a:r>
              <a:rPr lang="en-US" sz="1000" b="1">
                <a:solidFill>
                  <a:schemeClr val="bg1"/>
                </a:solidFill>
              </a:rPr>
              <a:t>CQR |</a:t>
            </a:r>
            <a:r>
              <a:rPr lang="en-US" sz="1000" b="0">
                <a:solidFill>
                  <a:schemeClr val="bg1"/>
                </a:solidFill>
              </a:rPr>
              <a:t> Customer Quality &amp; Reliability</a:t>
            </a:r>
            <a:endParaRPr lang="en-US" sz="1000" b="1">
              <a:solidFill>
                <a:schemeClr val="bg1"/>
              </a:solidFill>
            </a:endParaRP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TextBox 15">
            <a:extLst>
              <a:ext uri="{FF2B5EF4-FFF2-40B4-BE49-F238E27FC236}">
                <a16:creationId xmlns:a16="http://schemas.microsoft.com/office/drawing/2014/main" id="{B747B2F2-98A1-4D62-B433-AFBFF60B6511}"/>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1"/>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1"/>
              </a:solidFill>
              <a:effectLst/>
              <a:uFillTx/>
              <a:latin typeface="+mn-lt"/>
              <a:ea typeface="+mn-ea"/>
              <a:cs typeface="+mn-cs"/>
              <a:sym typeface="Helvetica Neue"/>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4762141" y="6562504"/>
            <a:ext cx="2667718" cy="231410"/>
          </a:xfrm>
          <a:prstGeom prst="rect">
            <a:avLst/>
          </a:prstGeom>
        </p:spPr>
        <p:txBody>
          <a:bodyPr wrap="none">
            <a:spAutoFit/>
          </a:bodyPr>
          <a:lstStyle/>
          <a:p>
            <a:pPr algn="ctr"/>
            <a:r>
              <a:rPr lang="en-US" sz="1000">
                <a:solidFill>
                  <a:schemeClr val="bg1"/>
                </a:solidFill>
              </a:rPr>
              <a:t>Intel Confidential | For use under NDA only</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2287806" cy="231410"/>
          </a:xfrm>
          <a:prstGeom prst="rect">
            <a:avLst/>
          </a:prstGeom>
        </p:spPr>
        <p:txBody>
          <a:bodyPr wrap="none">
            <a:spAutoFit/>
          </a:bodyPr>
          <a:lstStyle/>
          <a:p>
            <a:pPr algn="l"/>
            <a:r>
              <a:rPr lang="en-US" sz="1000" b="1">
                <a:solidFill>
                  <a:schemeClr val="bg1"/>
                </a:solidFill>
              </a:rPr>
              <a:t>CQR |</a:t>
            </a:r>
            <a:r>
              <a:rPr lang="en-US" sz="1000" b="0">
                <a:solidFill>
                  <a:schemeClr val="bg1"/>
                </a:solidFill>
              </a:rPr>
              <a:t> Customer Quality &amp; Reliability</a:t>
            </a:r>
            <a:endParaRPr lang="en-US" sz="1000" b="1">
              <a:solidFill>
                <a:schemeClr val="bg1"/>
              </a:solidFill>
            </a:endParaRP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TextBox 12">
            <a:extLst>
              <a:ext uri="{FF2B5EF4-FFF2-40B4-BE49-F238E27FC236}">
                <a16:creationId xmlns:a16="http://schemas.microsoft.com/office/drawing/2014/main" id="{2F293A02-6BD2-4820-81BD-F9A1B072F1E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1"/>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1"/>
              </a:solidFill>
              <a:effectLst/>
              <a:uFillTx/>
              <a:latin typeface="+mn-lt"/>
              <a:ea typeface="+mn-ea"/>
              <a:cs typeface="+mn-cs"/>
              <a:sym typeface="Helvetica Neue"/>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8" name="Rectangle 7">
            <a:extLst>
              <a:ext uri="{FF2B5EF4-FFF2-40B4-BE49-F238E27FC236}">
                <a16:creationId xmlns:a16="http://schemas.microsoft.com/office/drawing/2014/main" id="{41A778AB-F6EC-4101-87E6-DECF7944E661}"/>
              </a:ext>
            </a:extLst>
          </p:cNvPr>
          <p:cNvSpPr/>
          <p:nvPr userDrawn="1"/>
        </p:nvSpPr>
        <p:spPr>
          <a:xfrm>
            <a:off x="4762141" y="6562504"/>
            <a:ext cx="2667718" cy="231410"/>
          </a:xfrm>
          <a:prstGeom prst="rect">
            <a:avLst/>
          </a:prstGeom>
        </p:spPr>
        <p:txBody>
          <a:bodyPr wrap="none">
            <a:spAutoFit/>
          </a:bodyPr>
          <a:lstStyle/>
          <a:p>
            <a:pPr algn="ctr"/>
            <a:r>
              <a:rPr lang="en-US" sz="1000">
                <a:solidFill>
                  <a:schemeClr val="bg1"/>
                </a:solidFill>
              </a:rPr>
              <a:t>Intel Confidential | For use under NDA only</a:t>
            </a:r>
          </a:p>
        </p:txBody>
      </p:sp>
      <p:sp>
        <p:nvSpPr>
          <p:cNvPr id="9" name="Rectangle 8">
            <a:extLst>
              <a:ext uri="{FF2B5EF4-FFF2-40B4-BE49-F238E27FC236}">
                <a16:creationId xmlns:a16="http://schemas.microsoft.com/office/drawing/2014/main" id="{F6E1F1A6-2FDF-4676-B713-F9746DD3A821}"/>
              </a:ext>
            </a:extLst>
          </p:cNvPr>
          <p:cNvSpPr/>
          <p:nvPr userDrawn="1"/>
        </p:nvSpPr>
        <p:spPr>
          <a:xfrm>
            <a:off x="483010" y="6562504"/>
            <a:ext cx="2287806" cy="231410"/>
          </a:xfrm>
          <a:prstGeom prst="rect">
            <a:avLst/>
          </a:prstGeom>
        </p:spPr>
        <p:txBody>
          <a:bodyPr wrap="none">
            <a:spAutoFit/>
          </a:bodyPr>
          <a:lstStyle/>
          <a:p>
            <a:pPr algn="l"/>
            <a:r>
              <a:rPr lang="en-US" sz="1000" b="1">
                <a:solidFill>
                  <a:schemeClr val="bg1"/>
                </a:solidFill>
              </a:rPr>
              <a:t>CQR |</a:t>
            </a:r>
            <a:r>
              <a:rPr lang="en-US" sz="1000" b="0">
                <a:solidFill>
                  <a:schemeClr val="bg1"/>
                </a:solidFill>
              </a:rPr>
              <a:t> Customer Quality &amp; Reliability</a:t>
            </a:r>
            <a:endParaRPr lang="en-US" sz="1000" b="1">
              <a:solidFill>
                <a:schemeClr val="bg1"/>
              </a:solidFill>
            </a:endParaRP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
        <p:nvSpPr>
          <p:cNvPr id="12" name="TextBox 11">
            <a:extLst>
              <a:ext uri="{FF2B5EF4-FFF2-40B4-BE49-F238E27FC236}">
                <a16:creationId xmlns:a16="http://schemas.microsoft.com/office/drawing/2014/main" id="{AD273128-06AE-42E5-9D3B-A2147429275C}"/>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1"/>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1"/>
              </a:solidFill>
              <a:effectLst/>
              <a:uFillTx/>
              <a:latin typeface="+mn-lt"/>
              <a:ea typeface="+mn-ea"/>
              <a:cs typeface="+mn-cs"/>
              <a:sym typeface="Helvetica Neue"/>
            </a:endParaRP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8" name="Rectangle 7">
            <a:extLst>
              <a:ext uri="{FF2B5EF4-FFF2-40B4-BE49-F238E27FC236}">
                <a16:creationId xmlns:a16="http://schemas.microsoft.com/office/drawing/2014/main" id="{52E60B70-5DF3-4398-B558-301661292DFC}"/>
              </a:ext>
            </a:extLst>
          </p:cNvPr>
          <p:cNvSpPr/>
          <p:nvPr userDrawn="1"/>
        </p:nvSpPr>
        <p:spPr>
          <a:xfrm>
            <a:off x="4762141" y="6562504"/>
            <a:ext cx="2667718" cy="231410"/>
          </a:xfrm>
          <a:prstGeom prst="rect">
            <a:avLst/>
          </a:prstGeom>
        </p:spPr>
        <p:txBody>
          <a:bodyPr wrap="none">
            <a:spAutoFit/>
          </a:bodyPr>
          <a:lstStyle/>
          <a:p>
            <a:pPr algn="ctr"/>
            <a:r>
              <a:rPr lang="en-US" sz="1000">
                <a:solidFill>
                  <a:schemeClr val="bg1"/>
                </a:solidFill>
              </a:rPr>
              <a:t>Intel Confidential | For use under NDA only</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2287806" cy="231410"/>
          </a:xfrm>
          <a:prstGeom prst="rect">
            <a:avLst/>
          </a:prstGeom>
        </p:spPr>
        <p:txBody>
          <a:bodyPr wrap="none">
            <a:spAutoFit/>
          </a:bodyPr>
          <a:lstStyle/>
          <a:p>
            <a:pPr algn="l"/>
            <a:r>
              <a:rPr lang="en-US" sz="1000" b="1">
                <a:solidFill>
                  <a:schemeClr val="bg1"/>
                </a:solidFill>
              </a:rPr>
              <a:t>CQR |</a:t>
            </a:r>
            <a:r>
              <a:rPr lang="en-US" sz="1000" b="0">
                <a:solidFill>
                  <a:schemeClr val="bg1"/>
                </a:solidFill>
              </a:rPr>
              <a:t> Customer Quality &amp; Reliability</a:t>
            </a:r>
            <a:endParaRPr lang="en-US" sz="1000" b="1">
              <a:solidFill>
                <a:schemeClr val="bg1"/>
              </a:solidFill>
            </a:endParaRP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
        <p:nvSpPr>
          <p:cNvPr id="12" name="TextBox 11">
            <a:extLst>
              <a:ext uri="{FF2B5EF4-FFF2-40B4-BE49-F238E27FC236}">
                <a16:creationId xmlns:a16="http://schemas.microsoft.com/office/drawing/2014/main" id="{6321C1AF-31FF-4B7C-A994-1207296D9698}"/>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1"/>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1"/>
              </a:solidFill>
              <a:effectLst/>
              <a:uFillTx/>
              <a:latin typeface="+mn-lt"/>
              <a:ea typeface="+mn-ea"/>
              <a:cs typeface="+mn-cs"/>
              <a:sym typeface="Helvetica Neue"/>
            </a:endParaRP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TextBox 8">
            <a:extLst>
              <a:ext uri="{FF2B5EF4-FFF2-40B4-BE49-F238E27FC236}">
                <a16:creationId xmlns:a16="http://schemas.microsoft.com/office/drawing/2014/main" id="{460B2194-F481-46CE-ACB3-172D21B4CC8C}"/>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1"/>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1"/>
              </a:solidFill>
              <a:effectLst/>
              <a:uFillTx/>
              <a:latin typeface="+mn-lt"/>
              <a:ea typeface="+mn-ea"/>
              <a:cs typeface="+mn-cs"/>
              <a:sym typeface="Helvetica Neue"/>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rPr lang="en-US"/>
              <a:t>Body copy Intel clear light 28 point</a:t>
            </a:r>
          </a:p>
          <a:p>
            <a:pPr lvl="1"/>
            <a:r>
              <a:rPr lang="en-US"/>
              <a:t>Sub Bullet one 24 point</a:t>
            </a:r>
          </a:p>
          <a:p>
            <a:pPr lvl="2"/>
            <a:r>
              <a:rPr lang="en-US"/>
              <a:t>Sub Bullet two 20 point</a:t>
            </a:r>
          </a:p>
          <a:p>
            <a:pPr lvl="3"/>
            <a:r>
              <a:rPr lang="en-US"/>
              <a:t>Sub Bullet three 18 point</a:t>
            </a:r>
          </a:p>
          <a:p>
            <a:pPr lvl="4"/>
            <a:r>
              <a:rPr lang="en-US"/>
              <a:t>Sub Bullet four 16 point</a:t>
            </a:r>
            <a:br>
              <a:rPr lang="en-US"/>
            </a:br>
            <a:endParaRPr lang="en-US"/>
          </a:p>
          <a:p>
            <a:pPr lvl="2"/>
            <a:endParaRPr/>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p>
            <a:r>
              <a:rPr lang="en-US"/>
              <a:t>32pt Intel Clear Light Text Goes Here</a:t>
            </a:r>
            <a:endParaRPr/>
          </a:p>
        </p:txBody>
      </p:sp>
      <p:sp>
        <p:nvSpPr>
          <p:cNvPr id="2" name="Rectangle 1">
            <a:extLst>
              <a:ext uri="{FF2B5EF4-FFF2-40B4-BE49-F238E27FC236}">
                <a16:creationId xmlns:a16="http://schemas.microsoft.com/office/drawing/2014/main" id="{6D33D527-2918-4752-A9A7-0BDBA010BB39}"/>
              </a:ext>
            </a:extLst>
          </p:cNvPr>
          <p:cNvSpPr/>
          <p:nvPr userDrawn="1"/>
        </p:nvSpPr>
        <p:spPr>
          <a:xfrm>
            <a:off x="4762144" y="6562504"/>
            <a:ext cx="2667718" cy="231410"/>
          </a:xfrm>
          <a:prstGeom prst="rect">
            <a:avLst/>
          </a:prstGeom>
        </p:spPr>
        <p:txBody>
          <a:bodyPr wrap="none">
            <a:spAutoFit/>
          </a:bodyPr>
          <a:lstStyle/>
          <a:p>
            <a:pPr algn="ctr"/>
            <a:r>
              <a:rPr lang="en-US" sz="1000">
                <a:solidFill>
                  <a:schemeClr val="bg2"/>
                </a:solidFill>
              </a:rPr>
              <a:t>Intel Confidential | For use under NDA only</a:t>
            </a:r>
          </a:p>
        </p:txBody>
      </p:sp>
      <p:sp>
        <p:nvSpPr>
          <p:cNvPr id="5" name="Rectangle 4">
            <a:extLst>
              <a:ext uri="{FF2B5EF4-FFF2-40B4-BE49-F238E27FC236}">
                <a16:creationId xmlns:a16="http://schemas.microsoft.com/office/drawing/2014/main" id="{7FE2005A-EE28-4562-A018-55A90BB1BA11}"/>
              </a:ext>
            </a:extLst>
          </p:cNvPr>
          <p:cNvSpPr/>
          <p:nvPr userDrawn="1"/>
        </p:nvSpPr>
        <p:spPr>
          <a:xfrm>
            <a:off x="483010" y="6562504"/>
            <a:ext cx="2319866" cy="231410"/>
          </a:xfrm>
          <a:prstGeom prst="rect">
            <a:avLst/>
          </a:prstGeom>
        </p:spPr>
        <p:txBody>
          <a:bodyPr wrap="none">
            <a:spAutoFit/>
          </a:bodyPr>
          <a:lstStyle/>
          <a:p>
            <a:pPr algn="l"/>
            <a:r>
              <a:rPr lang="en-US" sz="1000" b="1">
                <a:solidFill>
                  <a:schemeClr val="bg2"/>
                </a:solidFill>
              </a:rPr>
              <a:t>CQR | </a:t>
            </a:r>
            <a:r>
              <a:rPr lang="en-US" sz="1000" b="0">
                <a:solidFill>
                  <a:schemeClr val="bg2"/>
                </a:solidFill>
              </a:rPr>
              <a:t> Customer Quality &amp; Reliability</a:t>
            </a:r>
            <a:endParaRPr lang="en-US" sz="1000" b="1">
              <a:solidFill>
                <a:schemeClr val="bg2"/>
              </a:solidFill>
            </a:endParaRP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28" cstate="print">
            <a:extLst>
              <a:ext uri="{28A0092B-C50C-407E-A947-70E740481C1C}">
                <a14:useLocalDpi xmlns:a14="http://schemas.microsoft.com/office/drawing/2010/main"/>
              </a:ext>
              <a:ext uri="{96DAC541-7B7A-43D3-8B79-37D633B846F1}">
                <asvg:svgBlip xmlns:asvg="http://schemas.microsoft.com/office/drawing/2016/SVG/main" r:embed="rId29"/>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2"/>
              </a:solidFill>
              <a:effectLst/>
              <a:uFillTx/>
              <a:latin typeface="+mn-lt"/>
              <a:ea typeface="+mn-ea"/>
              <a:cs typeface="+mn-cs"/>
              <a:sym typeface="Helvetica Neue"/>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32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4">
            <a:extLst>
              <a:ext uri="{FF2B5EF4-FFF2-40B4-BE49-F238E27FC236}">
                <a16:creationId xmlns:a16="http://schemas.microsoft.com/office/drawing/2014/main" id="{40D3A6DA-A319-94A1-5E89-24928DE5A8FE}"/>
              </a:ext>
            </a:extLst>
          </p:cNvPr>
          <p:cNvSpPr>
            <a:spLocks noGrp="1"/>
          </p:cNvSpPr>
          <p:nvPr>
            <p:ph type="title"/>
          </p:nvPr>
        </p:nvSpPr>
        <p:spPr>
          <a:xfrm>
            <a:off x="1895476" y="2389908"/>
            <a:ext cx="9284848" cy="2183289"/>
          </a:xfrm>
        </p:spPr>
        <p:txBody>
          <a:bodyPr/>
          <a:lstStyle/>
          <a:p>
            <a:r>
              <a:rPr lang="en-US" sz="4400" dirty="0"/>
              <a:t>Q1-2026 Desktop Customer Survey Results </a:t>
            </a:r>
          </a:p>
        </p:txBody>
      </p:sp>
      <p:sp>
        <p:nvSpPr>
          <p:cNvPr id="13" name="Text Placeholder 8">
            <a:extLst>
              <a:ext uri="{FF2B5EF4-FFF2-40B4-BE49-F238E27FC236}">
                <a16:creationId xmlns:a16="http://schemas.microsoft.com/office/drawing/2014/main" id="{60A42416-9174-95DC-517A-3F22D6C7FBE6}"/>
              </a:ext>
            </a:extLst>
          </p:cNvPr>
          <p:cNvSpPr txBox="1">
            <a:spLocks/>
          </p:cNvSpPr>
          <p:nvPr/>
        </p:nvSpPr>
        <p:spPr>
          <a:xfrm>
            <a:off x="1908348" y="4778608"/>
            <a:ext cx="10283651" cy="12065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marL="0" marR="0" indent="0" algn="l" defTabSz="609600" latinLnBrk="0">
              <a:lnSpc>
                <a:spcPct val="100000"/>
              </a:lnSpc>
              <a:spcBef>
                <a:spcPts val="1200"/>
              </a:spcBef>
              <a:spcAft>
                <a:spcPts val="0"/>
              </a:spcAft>
              <a:buClrTx/>
              <a:buSzTx/>
              <a:buFont typeface="Wingdings" pitchFamily="2" charset="2"/>
              <a:buNone/>
              <a:tabLst/>
              <a:defRPr sz="1600" b="0" i="0" u="none" strike="noStrike" cap="none" spc="0" baseline="0">
                <a:solidFill>
                  <a:schemeClr val="bg1"/>
                </a:solidFill>
                <a:uFillTx/>
                <a:latin typeface="Intel Clear" panose="020B0604020203020204" pitchFamily="34" charset="0"/>
                <a:ea typeface="Intel Clear" panose="020B0604020203020204" pitchFamily="34" charset="0"/>
                <a:cs typeface="Intel Clear" panose="020B06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a:lstStyle>
          <a:p>
            <a:pPr hangingPunct="1">
              <a:spcBef>
                <a:spcPts val="0"/>
              </a:spcBef>
            </a:pPr>
            <a:r>
              <a:rPr lang="en-US" sz="2000" dirty="0">
                <a:latin typeface="Intel Clear Light" panose="020B0404020203020204" pitchFamily="34" charset="0"/>
                <a:ea typeface="Intel Clear Light" panose="020B0404020203020204" pitchFamily="34" charset="0"/>
                <a:cs typeface="Intel Clear Light" panose="020B0404020203020204" pitchFamily="34" charset="0"/>
              </a:rPr>
              <a:t>Ethan Katz (CMEE)</a:t>
            </a:r>
          </a:p>
          <a:p>
            <a:pPr hangingPunct="1">
              <a:spcBef>
                <a:spcPts val="0"/>
              </a:spcBef>
            </a:pPr>
            <a:r>
              <a:rPr lang="en-US" sz="2000" dirty="0">
                <a:latin typeface="Intel Clear Light" panose="020B0404020203020204" pitchFamily="34" charset="0"/>
                <a:ea typeface="Intel Clear Light" panose="020B0404020203020204" pitchFamily="34" charset="0"/>
                <a:cs typeface="Intel Clear Light" panose="020B0404020203020204" pitchFamily="34" charset="0"/>
              </a:rPr>
              <a:t>Q2 2026</a:t>
            </a:r>
          </a:p>
        </p:txBody>
      </p:sp>
    </p:spTree>
    <p:extLst>
      <p:ext uri="{BB962C8B-B14F-4D97-AF65-F5344CB8AC3E}">
        <p14:creationId xmlns:p14="http://schemas.microsoft.com/office/powerpoint/2010/main" val="3102934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EA30A-F6A0-4C93-A2FA-99CFB1FC61C9}"/>
              </a:ext>
            </a:extLst>
          </p:cNvPr>
          <p:cNvSpPr>
            <a:spLocks noGrp="1"/>
          </p:cNvSpPr>
          <p:nvPr>
            <p:ph type="title"/>
          </p:nvPr>
        </p:nvSpPr>
        <p:spPr/>
        <p:txBody>
          <a:bodyPr/>
          <a:lstStyle/>
          <a:p>
            <a:r>
              <a:rPr lang="en-US" sz="3200"/>
              <a:t>Legal Disclaimer</a:t>
            </a:r>
          </a:p>
        </p:txBody>
      </p:sp>
      <p:sp>
        <p:nvSpPr>
          <p:cNvPr id="6" name="Content Placeholder 4">
            <a:extLst>
              <a:ext uri="{FF2B5EF4-FFF2-40B4-BE49-F238E27FC236}">
                <a16:creationId xmlns:a16="http://schemas.microsoft.com/office/drawing/2014/main" id="{A32CB7CE-23E3-2AB9-5B3A-D331611C7126}"/>
              </a:ext>
            </a:extLst>
          </p:cNvPr>
          <p:cNvSpPr txBox="1">
            <a:spLocks/>
          </p:cNvSpPr>
          <p:nvPr/>
        </p:nvSpPr>
        <p:spPr>
          <a:xfrm>
            <a:off x="798513" y="1206679"/>
            <a:ext cx="10453687" cy="5184596"/>
          </a:xfrm>
          <a:prstGeom prst="rect">
            <a:avLst/>
          </a:prstGeom>
        </p:spPr>
        <p:txBody>
          <a:bodyPr>
            <a:normAutofit fontScale="92500" lnSpcReduction="10000"/>
          </a:bodyPr>
          <a:lstStyle>
            <a:lvl1pPr marL="0" indent="0" algn="l" defTabSz="457200" rtl="0" eaLnBrk="1" latinLnBrk="0" hangingPunct="1">
              <a:spcBef>
                <a:spcPts val="1200"/>
              </a:spcBef>
              <a:spcAft>
                <a:spcPts val="0"/>
              </a:spcAft>
              <a:buFont typeface="Wingdings" panose="05000000000000000000" pitchFamily="2" charset="2"/>
              <a:buNone/>
              <a:defRPr sz="2200" b="0" kern="1200">
                <a:solidFill>
                  <a:srgbClr val="0071C5"/>
                </a:solidFill>
                <a:latin typeface="+mn-lt"/>
                <a:ea typeface="+mn-ea"/>
                <a:cs typeface="Intel Clear" panose="020B0604020203020204" pitchFamily="34" charset="0"/>
              </a:defRPr>
            </a:lvl1pPr>
            <a:lvl2pPr marL="225425" indent="-225425" algn="l" defTabSz="457200" rtl="0" eaLnBrk="1" latinLnBrk="0" hangingPunct="1">
              <a:spcBef>
                <a:spcPts val="1200"/>
              </a:spcBef>
              <a:buFont typeface="Wingdings" charset="2"/>
              <a:buChar char="§"/>
              <a:defRPr sz="1800" kern="1200" baseline="0">
                <a:solidFill>
                  <a:schemeClr val="tx2"/>
                </a:solidFill>
                <a:latin typeface="+mn-lt"/>
                <a:ea typeface="+mn-ea"/>
                <a:cs typeface="Intel Clear" panose="020B0604020203020204" pitchFamily="34" charset="0"/>
              </a:defRPr>
            </a:lvl2pPr>
            <a:lvl3pPr marL="571500" indent="-228600" algn="l" defTabSz="457200" rtl="0" eaLnBrk="1" latinLnBrk="0" hangingPunct="1">
              <a:spcBef>
                <a:spcPts val="800"/>
              </a:spcBef>
              <a:buFont typeface="Wingdings" charset="2"/>
              <a:buChar char="§"/>
              <a:defRPr sz="1800" kern="1200">
                <a:solidFill>
                  <a:schemeClr val="tx2"/>
                </a:solidFill>
                <a:latin typeface="+mn-lt"/>
                <a:ea typeface="+mn-ea"/>
                <a:cs typeface="Intel Clear" panose="020B0604020203020204" pitchFamily="34" charset="0"/>
              </a:defRPr>
            </a:lvl3pPr>
            <a:lvl4pPr marL="969963" indent="-228600" algn="l" defTabSz="457200" rtl="0" eaLnBrk="1" latinLnBrk="0" hangingPunct="1">
              <a:spcBef>
                <a:spcPct val="20000"/>
              </a:spcBef>
              <a:buFont typeface="Arial"/>
              <a:buChar char="–"/>
              <a:defRPr sz="1600" kern="1200">
                <a:solidFill>
                  <a:schemeClr val="tx2"/>
                </a:solidFill>
                <a:latin typeface="+mn-lt"/>
                <a:ea typeface="+mn-ea"/>
                <a:cs typeface="Intel Clear" panose="020B0604020203020204" pitchFamily="34" charset="0"/>
              </a:defRPr>
            </a:lvl4pPr>
            <a:lvl5pPr marL="1319213" indent="-228600" algn="l" defTabSz="457200" rtl="0" eaLnBrk="1" latinLnBrk="0" hangingPunct="1">
              <a:spcBef>
                <a:spcPct val="20000"/>
              </a:spcBef>
              <a:buFont typeface="Intel Clear" panose="020B0604020203020204" pitchFamily="34" charset="0"/>
              <a:buChar char="–"/>
              <a:defRPr sz="1400" kern="1200">
                <a:solidFill>
                  <a:schemeClr val="tx2"/>
                </a:solidFill>
                <a:latin typeface="+mn-lt"/>
                <a:ea typeface="+mn-ea"/>
                <a:cs typeface="Intel Clear" panose="020B0604020203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defTabSz="914400">
              <a:buFont typeface="Arial" panose="020B0604020202020204" pitchFamily="34" charset="0"/>
              <a:buNone/>
            </a:pPr>
            <a:r>
              <a:rPr lang="en-US" sz="1800" kern="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Your costs and results may vary.</a:t>
            </a:r>
          </a:p>
          <a:p>
            <a:pPr marL="0" indent="0">
              <a:buNone/>
            </a:pPr>
            <a:r>
              <a:rPr lang="en-US" sz="1800" kern="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No product or component can be absolutely secure. </a:t>
            </a:r>
          </a:p>
          <a:p>
            <a:pPr marL="0" indent="0">
              <a:buNone/>
            </a:pPr>
            <a:r>
              <a:rPr lang="en-US" sz="1800" kern="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All product plans and roadmaps are subject to change without notice. </a:t>
            </a:r>
          </a:p>
          <a:p>
            <a:pPr marL="0" indent="0">
              <a:buNone/>
            </a:pPr>
            <a:r>
              <a:rPr lang="en-US" sz="1800" kern="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Intel technologies may require enabled hardware, software or service activation.</a:t>
            </a:r>
          </a:p>
          <a:p>
            <a:pPr marL="0" indent="0" defTabSz="914400">
              <a:buFont typeface="Arial" panose="020B0604020202020204" pitchFamily="34" charset="0"/>
              <a:buNone/>
            </a:pPr>
            <a:r>
              <a:rPr lang="en-US" sz="1800" b="0" i="0" dirty="0">
                <a:solidFill>
                  <a:schemeClr val="tx1"/>
                </a:solidFill>
                <a:effectLst/>
                <a:latin typeface="Intel Clear Light" panose="020B0404020203020204" pitchFamily="34" charset="0"/>
                <a:ea typeface="Intel Clear Light" panose="020B0404020203020204" pitchFamily="34" charset="0"/>
                <a:cs typeface="Intel Clear Light" panose="020B0404020203020204" pitchFamily="34" charset="0"/>
              </a:rPr>
              <a:t>Intel does not control or audit third-party data.  You should consult other sources to evaluate accuracy.</a:t>
            </a:r>
            <a:r>
              <a:rPr lang="en-US" sz="1800" kern="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 </a:t>
            </a:r>
          </a:p>
          <a:p>
            <a:pPr marL="0" indent="0" defTabSz="914400">
              <a:buFont typeface="Arial" panose="020B0604020202020204" pitchFamily="34" charset="0"/>
              <a:buNone/>
            </a:pPr>
            <a:r>
              <a:rPr lang="en-US" sz="1800" kern="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No license (express or implied, by estoppel or otherwise) to any intellectual property rights is granted by this document.</a:t>
            </a:r>
          </a:p>
          <a:p>
            <a:pPr marL="0" indent="0" defTabSz="914400">
              <a:buFont typeface="Arial" panose="020B0604020202020204" pitchFamily="34" charset="0"/>
              <a:buNone/>
            </a:pPr>
            <a:r>
              <a:rPr lang="en-US" sz="1800" kern="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Customer is responsible for safety of the overall system, including compliance with applicable safety-related requirements or standards.</a:t>
            </a:r>
          </a:p>
          <a:p>
            <a:pPr marL="0" indent="0" defTabSz="914400">
              <a:buFont typeface="Arial" panose="020B0604020202020204" pitchFamily="34" charset="0"/>
              <a:buNone/>
            </a:pPr>
            <a:r>
              <a:rPr lang="en-US" sz="1800" kern="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Code names are used by Intel to identify products, technologies, or services that are in development and not publicly available. These are not "commercial" names and not intended to function as trademarks.</a:t>
            </a:r>
          </a:p>
          <a:p>
            <a:pPr marL="0" indent="0" defTabSz="914400">
              <a:buFont typeface="Arial" panose="020B0604020202020204" pitchFamily="34" charset="0"/>
              <a:buNone/>
            </a:pPr>
            <a:r>
              <a:rPr lang="en-US" sz="1800" kern="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Intel disclaims all express and implied warranties, including without limitation, the implied warranties of merchantability, fitness for a particular purpose, and non-infringement, as well as any warranty arising from course of performance, course of dealing, or usage in trade.</a:t>
            </a:r>
          </a:p>
          <a:p>
            <a:pPr marL="0" indent="0" defTabSz="914400">
              <a:buFont typeface="Arial" panose="020B0604020202020204" pitchFamily="34" charset="0"/>
              <a:buNone/>
            </a:pPr>
            <a:r>
              <a:rPr lang="en-US" sz="1800" kern="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 Intel Corporation.  Intel, the Intel logo, and other Intel marks are trademarks of Intel Corporation or its subsidiaries.  </a:t>
            </a:r>
          </a:p>
          <a:p>
            <a:pPr marL="0" indent="0" defTabSz="914400">
              <a:buNone/>
            </a:pPr>
            <a:r>
              <a:rPr lang="en-US" sz="1800" kern="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*Other names and brands may be claimed as the property of others. </a:t>
            </a:r>
          </a:p>
        </p:txBody>
      </p:sp>
    </p:spTree>
    <p:extLst>
      <p:ext uri="{BB962C8B-B14F-4D97-AF65-F5344CB8AC3E}">
        <p14:creationId xmlns:p14="http://schemas.microsoft.com/office/powerpoint/2010/main" val="2320481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B928B-BC70-2BDE-B6DE-677A60EB6B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F2C521-6654-A9D8-373D-ACD183C6F17D}"/>
              </a:ext>
            </a:extLst>
          </p:cNvPr>
          <p:cNvSpPr>
            <a:spLocks noGrp="1"/>
          </p:cNvSpPr>
          <p:nvPr>
            <p:ph type="title"/>
          </p:nvPr>
        </p:nvSpPr>
        <p:spPr/>
        <p:txBody>
          <a:bodyPr/>
          <a:lstStyle/>
          <a:p>
            <a:r>
              <a:rPr lang="en-US" sz="3200" dirty="0"/>
              <a:t>Agenda</a:t>
            </a:r>
          </a:p>
        </p:txBody>
      </p:sp>
      <p:sp>
        <p:nvSpPr>
          <p:cNvPr id="3" name="Content Placeholder 2">
            <a:extLst>
              <a:ext uri="{FF2B5EF4-FFF2-40B4-BE49-F238E27FC236}">
                <a16:creationId xmlns:a16="http://schemas.microsoft.com/office/drawing/2014/main" id="{5BCBFEF5-48E8-EA1B-B2B6-5AAA71D1ACB2}"/>
              </a:ext>
            </a:extLst>
          </p:cNvPr>
          <p:cNvSpPr>
            <a:spLocks noGrp="1"/>
          </p:cNvSpPr>
          <p:nvPr>
            <p:ph sz="quarter" idx="28"/>
          </p:nvPr>
        </p:nvSpPr>
        <p:spPr>
          <a:xfrm>
            <a:off x="541292" y="1162112"/>
            <a:ext cx="11010900" cy="2885576"/>
          </a:xfrm>
        </p:spPr>
        <p:txBody>
          <a:bodyPr lIns="0" tIns="0" rIns="0" bIns="0" anchor="t">
            <a:normAutofit/>
          </a:bodyPr>
          <a:lstStyle/>
          <a:p>
            <a:pPr>
              <a:spcBef>
                <a:spcPts val="600"/>
              </a:spcBef>
            </a:pPr>
            <a:r>
              <a:rPr lang="en-US" sz="1800" dirty="0">
                <a:solidFill>
                  <a:schemeClr val="tx1"/>
                </a:solidFill>
                <a:latin typeface="Intel Clear Light"/>
                <a:ea typeface="Intel Clear Light"/>
                <a:cs typeface="Intel Clear Light"/>
              </a:rPr>
              <a:t>Background</a:t>
            </a:r>
          </a:p>
          <a:p>
            <a:pPr>
              <a:spcBef>
                <a:spcPts val="600"/>
              </a:spcBef>
            </a:pPr>
            <a:r>
              <a:rPr lang="en-US" sz="1800" dirty="0">
                <a:solidFill>
                  <a:schemeClr val="tx1"/>
                </a:solidFill>
                <a:latin typeface="Intel Clear Light"/>
                <a:ea typeface="Intel Clear Light"/>
                <a:cs typeface="Intel Clear Light"/>
              </a:rPr>
              <a:t>Customer Survey Results</a:t>
            </a:r>
          </a:p>
          <a:p>
            <a:pPr lvl="1">
              <a:spcBef>
                <a:spcPts val="600"/>
              </a:spcBef>
            </a:pPr>
            <a:r>
              <a:rPr lang="en-US" sz="1400" dirty="0">
                <a:solidFill>
                  <a:schemeClr val="tx1"/>
                </a:solidFill>
                <a:latin typeface="Intel Clear Light"/>
                <a:ea typeface="Intel Clear Light"/>
                <a:cs typeface="Intel Clear Light"/>
              </a:rPr>
              <a:t>Heatsink Mounting &amp; Design</a:t>
            </a:r>
          </a:p>
          <a:p>
            <a:pPr lvl="1">
              <a:spcBef>
                <a:spcPts val="600"/>
              </a:spcBef>
            </a:pPr>
            <a:r>
              <a:rPr lang="en-US" sz="1400" dirty="0">
                <a:solidFill>
                  <a:schemeClr val="tx1"/>
                </a:solidFill>
                <a:latin typeface="Intel Clear Light"/>
                <a:ea typeface="Intel Clear Light"/>
                <a:cs typeface="Intel Clear Light"/>
              </a:rPr>
              <a:t>Height &amp; Physical Constraints</a:t>
            </a:r>
          </a:p>
          <a:p>
            <a:pPr lvl="1">
              <a:spcBef>
                <a:spcPts val="600"/>
              </a:spcBef>
            </a:pPr>
            <a:r>
              <a:rPr lang="en-US" sz="1400" dirty="0">
                <a:solidFill>
                  <a:schemeClr val="tx1"/>
                </a:solidFill>
                <a:latin typeface="Intel Clear Light"/>
                <a:ea typeface="Intel Clear Light"/>
                <a:cs typeface="Intel Clear Light"/>
              </a:rPr>
              <a:t>TIM</a:t>
            </a:r>
          </a:p>
          <a:p>
            <a:pPr lvl="1">
              <a:spcBef>
                <a:spcPts val="600"/>
              </a:spcBef>
            </a:pPr>
            <a:r>
              <a:rPr lang="en-US" sz="1400" dirty="0">
                <a:solidFill>
                  <a:schemeClr val="tx1"/>
                </a:solidFill>
                <a:latin typeface="Intel Clear Light"/>
                <a:ea typeface="Intel Clear Light"/>
                <a:cs typeface="Intel Clear Light"/>
              </a:rPr>
              <a:t>ILM Requirements</a:t>
            </a:r>
          </a:p>
          <a:p>
            <a:pPr lvl="1">
              <a:spcBef>
                <a:spcPts val="600"/>
              </a:spcBef>
            </a:pPr>
            <a:r>
              <a:rPr lang="en-US" sz="1400" dirty="0">
                <a:solidFill>
                  <a:schemeClr val="tx1"/>
                </a:solidFill>
                <a:latin typeface="Intel Clear Light"/>
                <a:ea typeface="Intel Clear Light"/>
                <a:cs typeface="Intel Clear Light"/>
              </a:rPr>
              <a:t>Open Feedback</a:t>
            </a:r>
          </a:p>
          <a:p>
            <a:pPr>
              <a:spcBef>
                <a:spcPts val="600"/>
              </a:spcBef>
            </a:pPr>
            <a:r>
              <a:rPr lang="en-US" sz="1800" dirty="0">
                <a:solidFill>
                  <a:schemeClr val="tx1"/>
                </a:solidFill>
                <a:latin typeface="Intel Clear Light"/>
                <a:ea typeface="Intel Clear Light"/>
                <a:cs typeface="Intel Clear Light"/>
              </a:rPr>
              <a:t>Summary</a:t>
            </a:r>
          </a:p>
        </p:txBody>
      </p:sp>
    </p:spTree>
    <p:extLst>
      <p:ext uri="{BB962C8B-B14F-4D97-AF65-F5344CB8AC3E}">
        <p14:creationId xmlns:p14="http://schemas.microsoft.com/office/powerpoint/2010/main" val="3863714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671CE-62F6-D53F-65C7-05B7B6500E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320536-9159-B8A4-44CD-E13AFA339BBF}"/>
              </a:ext>
            </a:extLst>
          </p:cNvPr>
          <p:cNvSpPr>
            <a:spLocks noGrp="1"/>
          </p:cNvSpPr>
          <p:nvPr>
            <p:ph type="title"/>
          </p:nvPr>
        </p:nvSpPr>
        <p:spPr/>
        <p:txBody>
          <a:bodyPr/>
          <a:lstStyle/>
          <a:p>
            <a:r>
              <a:rPr lang="en-US" sz="3200" dirty="0"/>
              <a:t>Background</a:t>
            </a:r>
          </a:p>
        </p:txBody>
      </p:sp>
      <p:sp>
        <p:nvSpPr>
          <p:cNvPr id="3" name="Content Placeholder 2">
            <a:extLst>
              <a:ext uri="{FF2B5EF4-FFF2-40B4-BE49-F238E27FC236}">
                <a16:creationId xmlns:a16="http://schemas.microsoft.com/office/drawing/2014/main" id="{6F07DB29-80DB-83D6-4A3B-3C1C80B6336A}"/>
              </a:ext>
            </a:extLst>
          </p:cNvPr>
          <p:cNvSpPr>
            <a:spLocks noGrp="1"/>
          </p:cNvSpPr>
          <p:nvPr>
            <p:ph sz="quarter" idx="28"/>
          </p:nvPr>
        </p:nvSpPr>
        <p:spPr>
          <a:xfrm>
            <a:off x="541292" y="1162112"/>
            <a:ext cx="11010900" cy="2885576"/>
          </a:xfrm>
        </p:spPr>
        <p:txBody>
          <a:bodyPr lIns="0" tIns="0" rIns="0" bIns="0" anchor="t">
            <a:normAutofit lnSpcReduction="10000"/>
          </a:bodyPr>
          <a:lstStyle/>
          <a:p>
            <a:pPr>
              <a:spcBef>
                <a:spcPts val="600"/>
              </a:spcBef>
            </a:pPr>
            <a:r>
              <a:rPr lang="en-US" sz="1800" dirty="0">
                <a:solidFill>
                  <a:schemeClr val="tx1"/>
                </a:solidFill>
                <a:latin typeface="Intel Clear Light"/>
                <a:ea typeface="Intel Clear Light"/>
                <a:cs typeface="Intel Clear Light"/>
              </a:rPr>
              <a:t>CCG made a request to CMEE to obtain Desktop Customer feedback regarding HS mounting/design, physical constraints, TIM (thermal interface material), and ILM (independent loading mechanism) Requirements.</a:t>
            </a:r>
          </a:p>
          <a:p>
            <a:pPr>
              <a:spcBef>
                <a:spcPts val="600"/>
              </a:spcBef>
            </a:pPr>
            <a:r>
              <a:rPr lang="en-US" sz="1800" dirty="0">
                <a:solidFill>
                  <a:schemeClr val="tx1"/>
                </a:solidFill>
                <a:latin typeface="Intel Clear Light"/>
                <a:ea typeface="Intel Clear Light"/>
                <a:cs typeface="Intel Clear Light"/>
              </a:rPr>
              <a:t>Survey purpose:</a:t>
            </a:r>
          </a:p>
          <a:p>
            <a:pPr lvl="1">
              <a:spcBef>
                <a:spcPts val="600"/>
              </a:spcBef>
            </a:pPr>
            <a:r>
              <a:rPr lang="en-US" sz="1800" dirty="0">
                <a:solidFill>
                  <a:schemeClr val="tx1"/>
                </a:solidFill>
                <a:latin typeface="Intel Clear Light"/>
                <a:ea typeface="Intel Clear Light"/>
                <a:cs typeface="Intel Clear Light"/>
              </a:rPr>
              <a:t>As we (CCG) are preparing to architect future platforms, our mechanical architecture team would like to understand how Intel customers are using our enabling solutions. The purpose of this survey is to grow better understanding on this topic so we can consider customer feedback during the design process</a:t>
            </a:r>
          </a:p>
          <a:p>
            <a:pPr>
              <a:spcBef>
                <a:spcPts val="600"/>
              </a:spcBef>
            </a:pPr>
            <a:r>
              <a:rPr lang="en-US" sz="1800" dirty="0">
                <a:solidFill>
                  <a:schemeClr val="tx1"/>
                </a:solidFill>
                <a:latin typeface="Intel Clear Light"/>
                <a:ea typeface="Intel Clear Light"/>
                <a:cs typeface="Intel Clear Light"/>
              </a:rPr>
              <a:t>4 of the largest Desktop customers (OEMs) were surveyed: Asus, Dell, HP, and Lenovo. </a:t>
            </a:r>
          </a:p>
          <a:p>
            <a:pPr>
              <a:spcBef>
                <a:spcPts val="600"/>
              </a:spcBef>
            </a:pPr>
            <a:r>
              <a:rPr lang="en-US" sz="1800" dirty="0">
                <a:solidFill>
                  <a:schemeClr val="tx1"/>
                </a:solidFill>
                <a:latin typeface="Intel Clear Light"/>
                <a:ea typeface="Intel Clear Light"/>
                <a:cs typeface="Intel Clear Light"/>
              </a:rPr>
              <a:t>All OEMs, except HP, have provided responses</a:t>
            </a:r>
          </a:p>
          <a:p>
            <a:pPr>
              <a:spcBef>
                <a:spcPts val="600"/>
              </a:spcBef>
            </a:pPr>
            <a:r>
              <a:rPr lang="en-US" sz="1800" dirty="0">
                <a:solidFill>
                  <a:schemeClr val="tx1"/>
                </a:solidFill>
                <a:latin typeface="Intel Clear Light"/>
                <a:ea typeface="Intel Clear Light"/>
                <a:cs typeface="Intel Clear Light"/>
              </a:rPr>
              <a:t>Dell provided survey responses from both their Thermal Engineering and Services Engineering teams</a:t>
            </a:r>
          </a:p>
        </p:txBody>
      </p:sp>
    </p:spTree>
    <p:extLst>
      <p:ext uri="{BB962C8B-B14F-4D97-AF65-F5344CB8AC3E}">
        <p14:creationId xmlns:p14="http://schemas.microsoft.com/office/powerpoint/2010/main" val="2091245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CA3E8-3B56-26DE-3C8B-2DB0E9614C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83EFB4-4E4E-FEE1-F001-3777CF3712AA}"/>
              </a:ext>
            </a:extLst>
          </p:cNvPr>
          <p:cNvSpPr>
            <a:spLocks noGrp="1"/>
          </p:cNvSpPr>
          <p:nvPr>
            <p:ph type="title"/>
          </p:nvPr>
        </p:nvSpPr>
        <p:spPr>
          <a:xfrm>
            <a:off x="571370" y="87664"/>
            <a:ext cx="11010816" cy="952499"/>
          </a:xfrm>
        </p:spPr>
        <p:txBody>
          <a:bodyPr/>
          <a:lstStyle/>
          <a:p>
            <a:r>
              <a:rPr lang="en-US" sz="3200" dirty="0"/>
              <a:t>Customer Survey Results – Heatsink Mounting &amp; Design</a:t>
            </a:r>
          </a:p>
        </p:txBody>
      </p:sp>
      <p:graphicFrame>
        <p:nvGraphicFramePr>
          <p:cNvPr id="6" name="Table 5">
            <a:extLst>
              <a:ext uri="{FF2B5EF4-FFF2-40B4-BE49-F238E27FC236}">
                <a16:creationId xmlns:a16="http://schemas.microsoft.com/office/drawing/2014/main" id="{F2F7DA93-E7AD-0FC0-F3A4-44D02A543BF6}"/>
              </a:ext>
            </a:extLst>
          </p:cNvPr>
          <p:cNvGraphicFramePr>
            <a:graphicFrameLocks noGrp="1"/>
          </p:cNvGraphicFramePr>
          <p:nvPr>
            <p:extLst>
              <p:ext uri="{D42A27DB-BD31-4B8C-83A1-F6EECF244321}">
                <p14:modId xmlns:p14="http://schemas.microsoft.com/office/powerpoint/2010/main" val="762949078"/>
              </p:ext>
            </p:extLst>
          </p:nvPr>
        </p:nvGraphicFramePr>
        <p:xfrm>
          <a:off x="168675" y="693036"/>
          <a:ext cx="11451955" cy="4720673"/>
        </p:xfrm>
        <a:graphic>
          <a:graphicData uri="http://schemas.openxmlformats.org/drawingml/2006/table">
            <a:tbl>
              <a:tblPr firstRow="1" bandRow="1">
                <a:tableStyleId>{5C22544A-7EE6-4342-B048-85BDC9FD1C3A}</a:tableStyleId>
              </a:tblPr>
              <a:tblGrid>
                <a:gridCol w="2290391">
                  <a:extLst>
                    <a:ext uri="{9D8B030D-6E8A-4147-A177-3AD203B41FA5}">
                      <a16:colId xmlns:a16="http://schemas.microsoft.com/office/drawing/2014/main" val="3422954971"/>
                    </a:ext>
                  </a:extLst>
                </a:gridCol>
                <a:gridCol w="2290391">
                  <a:extLst>
                    <a:ext uri="{9D8B030D-6E8A-4147-A177-3AD203B41FA5}">
                      <a16:colId xmlns:a16="http://schemas.microsoft.com/office/drawing/2014/main" val="1739319744"/>
                    </a:ext>
                  </a:extLst>
                </a:gridCol>
                <a:gridCol w="2290391">
                  <a:extLst>
                    <a:ext uri="{9D8B030D-6E8A-4147-A177-3AD203B41FA5}">
                      <a16:colId xmlns:a16="http://schemas.microsoft.com/office/drawing/2014/main" val="1756552807"/>
                    </a:ext>
                  </a:extLst>
                </a:gridCol>
                <a:gridCol w="2290391">
                  <a:extLst>
                    <a:ext uri="{9D8B030D-6E8A-4147-A177-3AD203B41FA5}">
                      <a16:colId xmlns:a16="http://schemas.microsoft.com/office/drawing/2014/main" val="3027617895"/>
                    </a:ext>
                  </a:extLst>
                </a:gridCol>
                <a:gridCol w="2290391">
                  <a:extLst>
                    <a:ext uri="{9D8B030D-6E8A-4147-A177-3AD203B41FA5}">
                      <a16:colId xmlns:a16="http://schemas.microsoft.com/office/drawing/2014/main" val="2037702015"/>
                    </a:ext>
                  </a:extLst>
                </a:gridCol>
              </a:tblGrid>
              <a:tr h="624036">
                <a:tc>
                  <a:txBody>
                    <a:bodyPr/>
                    <a:lstStyle/>
                    <a:p>
                      <a:pPr algn="ctr"/>
                      <a:r>
                        <a:rPr lang="en-US" sz="1800" b="1" dirty="0"/>
                        <a:t>Asus</a:t>
                      </a:r>
                    </a:p>
                  </a:txBody>
                  <a:tcPr anchor="ctr"/>
                </a:tc>
                <a:tc>
                  <a:txBody>
                    <a:bodyPr/>
                    <a:lstStyle/>
                    <a:p>
                      <a:pPr algn="ctr"/>
                      <a:r>
                        <a:rPr lang="en-US" sz="1800" b="1" dirty="0"/>
                        <a:t>Dell</a:t>
                      </a:r>
                    </a:p>
                    <a:p>
                      <a:pPr algn="ctr"/>
                      <a:r>
                        <a:rPr lang="en-US" sz="1800" b="1" dirty="0"/>
                        <a:t>(Thermal Eng.)</a:t>
                      </a:r>
                    </a:p>
                  </a:txBody>
                  <a:tcPr anchor="ctr"/>
                </a:tc>
                <a:tc>
                  <a:txBody>
                    <a:bodyPr/>
                    <a:lstStyle/>
                    <a:p>
                      <a:pPr algn="ctr"/>
                      <a:r>
                        <a:rPr lang="en-US" sz="1800" b="1" dirty="0"/>
                        <a:t>Dell </a:t>
                      </a:r>
                    </a:p>
                    <a:p>
                      <a:pPr algn="ctr"/>
                      <a:r>
                        <a:rPr lang="en-US" sz="1800" b="1" dirty="0"/>
                        <a:t>(Services Eng.)</a:t>
                      </a:r>
                    </a:p>
                  </a:txBody>
                  <a:tcPr anchor="ctr"/>
                </a:tc>
                <a:tc>
                  <a:txBody>
                    <a:bodyPr/>
                    <a:lstStyle/>
                    <a:p>
                      <a:pPr algn="ctr"/>
                      <a:r>
                        <a:rPr lang="en-US" sz="1800" b="1" dirty="0"/>
                        <a:t>HP</a:t>
                      </a:r>
                    </a:p>
                  </a:txBody>
                  <a:tcPr anchor="ctr"/>
                </a:tc>
                <a:tc>
                  <a:txBody>
                    <a:bodyPr/>
                    <a:lstStyle/>
                    <a:p>
                      <a:pPr algn="ctr"/>
                      <a:r>
                        <a:rPr lang="en-US" sz="1800" b="1" dirty="0"/>
                        <a:t>Lenovo</a:t>
                      </a:r>
                    </a:p>
                  </a:txBody>
                  <a:tcPr anchor="ctr"/>
                </a:tc>
                <a:extLst>
                  <a:ext uri="{0D108BD9-81ED-4DB2-BD59-A6C34878D82A}">
                    <a16:rowId xmlns:a16="http://schemas.microsoft.com/office/drawing/2014/main" val="1931140537"/>
                  </a:ext>
                </a:extLst>
              </a:tr>
              <a:tr h="784441">
                <a:tc gridSpan="5">
                  <a:txBody>
                    <a:bodyPr/>
                    <a:lstStyle/>
                    <a:p>
                      <a:pPr algn="ctr"/>
                      <a:r>
                        <a:rPr lang="en-US" sz="1200" b="1" dirty="0"/>
                        <a:t>Q1: Do you find value in removing heatsink holes on PCB and directly attaching the heatsink to the loading mechanism? (e.g. to the loading mechanism fasteners) </a:t>
                      </a:r>
                    </a:p>
                    <a:p>
                      <a:pPr algn="ctr"/>
                      <a:endParaRPr lang="en-US" sz="1200" b="1" dirty="0"/>
                    </a:p>
                    <a:p>
                      <a:pPr algn="ctr"/>
                      <a:r>
                        <a:rPr lang="en-US" sz="1200" b="1" dirty="0"/>
                        <a:t>How important is this (rate from 1(not important) to 5(Very important) ?</a:t>
                      </a:r>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a:p>
                  </a:txBody>
                  <a:tcPr anchor="ctr"/>
                </a:tc>
                <a:extLst>
                  <a:ext uri="{0D108BD9-81ED-4DB2-BD59-A6C34878D82A}">
                    <a16:rowId xmlns:a16="http://schemas.microsoft.com/office/drawing/2014/main" val="1762083462"/>
                  </a:ext>
                </a:extLst>
              </a:tr>
              <a:tr h="1115892">
                <a:tc>
                  <a:txBody>
                    <a:bodyPr/>
                    <a:lstStyle/>
                    <a:p>
                      <a:pPr algn="ctr"/>
                      <a:r>
                        <a:rPr lang="en-US" sz="1200" dirty="0"/>
                        <a:t>no (This will limit design space for top fan), 4 </a:t>
                      </a:r>
                    </a:p>
                  </a:txBody>
                  <a:tcPr anchor="ctr"/>
                </a:tc>
                <a:tc>
                  <a:txBody>
                    <a:bodyPr/>
                    <a:lstStyle/>
                    <a:p>
                      <a:pPr algn="ctr"/>
                      <a:r>
                        <a:rPr lang="en-US" sz="1200" dirty="0"/>
                        <a:t>yes, 5</a:t>
                      </a:r>
                    </a:p>
                    <a:p>
                      <a:pPr algn="ctr"/>
                      <a:r>
                        <a:rPr lang="en-US" sz="1200" dirty="0"/>
                        <a:t>I would like to reserve the flexibility to keep the current mounting patten for tower cooler (heat pipes routing)</a:t>
                      </a:r>
                    </a:p>
                  </a:txBody>
                  <a:tcPr anchor="ctr"/>
                </a:tc>
                <a:tc>
                  <a:txBody>
                    <a:bodyPr/>
                    <a:lstStyle/>
                    <a:p>
                      <a:pPr algn="ctr"/>
                      <a:r>
                        <a:rPr lang="en-US" sz="1200" dirty="0"/>
                        <a:t>yes</a:t>
                      </a:r>
                    </a:p>
                    <a:p>
                      <a:pPr algn="ctr"/>
                      <a:r>
                        <a:rPr lang="en-US" sz="1200" dirty="0"/>
                        <a:t>very important - makes it more serviceable</a:t>
                      </a:r>
                    </a:p>
                  </a:txBody>
                  <a:tcPr anchor="ctr"/>
                </a:tc>
                <a:tc>
                  <a:txBody>
                    <a:bodyPr/>
                    <a:lstStyle/>
                    <a:p>
                      <a:pPr algn="ctr"/>
                      <a:r>
                        <a:rPr lang="en-US" sz="1200" dirty="0"/>
                        <a:t>No response</a:t>
                      </a:r>
                    </a:p>
                  </a:txBody>
                  <a:tcPr anchor="ctr"/>
                </a:tc>
                <a:tc>
                  <a:txBody>
                    <a:bodyPr/>
                    <a:lstStyle/>
                    <a:p>
                      <a:pPr algn="ctr"/>
                      <a:r>
                        <a:rPr lang="en-US" sz="1200" dirty="0"/>
                        <a:t>Yes, 3. </a:t>
                      </a:r>
                    </a:p>
                    <a:p>
                      <a:pPr algn="ctr"/>
                      <a:r>
                        <a:rPr lang="en-US" sz="1200" dirty="0"/>
                        <a:t>(Maybe strain gauge impact due to heavy heatsink）</a:t>
                      </a:r>
                    </a:p>
                  </a:txBody>
                  <a:tcPr anchor="ctr"/>
                </a:tc>
                <a:extLst>
                  <a:ext uri="{0D108BD9-81ED-4DB2-BD59-A6C34878D82A}">
                    <a16:rowId xmlns:a16="http://schemas.microsoft.com/office/drawing/2014/main" val="982522789"/>
                  </a:ext>
                </a:extLst>
              </a:tr>
              <a:tr h="784441">
                <a:tc gridSpan="5">
                  <a:txBody>
                    <a:bodyPr/>
                    <a:lstStyle/>
                    <a:p>
                      <a:pPr algn="ctr"/>
                      <a:r>
                        <a:rPr lang="en-US" sz="1200" b="1" dirty="0"/>
                        <a:t>Q2: Do you find value in a backplate that extends to heatsink holes, to enable one combined backplate that is shared for both the socket loading mechanism and the heatsink anchors?</a:t>
                      </a:r>
                    </a:p>
                    <a:p>
                      <a:pPr algn="ctr"/>
                      <a:endParaRPr lang="en-US" sz="1200" b="1" dirty="0"/>
                    </a:p>
                    <a:p>
                      <a:pPr algn="ctr"/>
                      <a:r>
                        <a:rPr lang="en-US" sz="1200" b="1" dirty="0"/>
                        <a:t>How important is this (rate from 1(not important) to 5(Very important) ?</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a:p>
                  </a:txBody>
                  <a:tcPr anchor="ctr"/>
                </a:tc>
                <a:extLst>
                  <a:ext uri="{0D108BD9-81ED-4DB2-BD59-A6C34878D82A}">
                    <a16:rowId xmlns:a16="http://schemas.microsoft.com/office/drawing/2014/main" val="283596028"/>
                  </a:ext>
                </a:extLst>
              </a:tr>
              <a:tr h="710113">
                <a:tc>
                  <a:txBody>
                    <a:bodyPr/>
                    <a:lstStyle/>
                    <a:p>
                      <a:pPr algn="ctr"/>
                      <a:r>
                        <a:rPr lang="en-US" sz="1200" dirty="0"/>
                        <a:t>yes (cost benefit), 4</a:t>
                      </a:r>
                    </a:p>
                  </a:txBody>
                  <a:tcPr anchor="ctr"/>
                </a:tc>
                <a:tc>
                  <a:txBody>
                    <a:bodyPr/>
                    <a:lstStyle/>
                    <a:p>
                      <a:pPr algn="ctr"/>
                      <a:r>
                        <a:rPr lang="en-US" sz="1200" dirty="0"/>
                        <a:t>No</a:t>
                      </a:r>
                    </a:p>
                  </a:txBody>
                  <a:tcPr anchor="ctr"/>
                </a:tc>
                <a:tc>
                  <a:txBody>
                    <a:bodyPr/>
                    <a:lstStyle/>
                    <a:p>
                      <a:pPr algn="ctr"/>
                      <a:r>
                        <a:rPr lang="en-US" sz="1200" dirty="0"/>
                        <a:t>yes</a:t>
                      </a:r>
                    </a:p>
                    <a:p>
                      <a:pPr algn="ctr"/>
                      <a:r>
                        <a:rPr lang="en-US" sz="1200" dirty="0"/>
                        <a:t>very important - makes it more serviceable</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Yes, 4. </a:t>
                      </a:r>
                    </a:p>
                  </a:txBody>
                  <a:tcPr anchor="ctr"/>
                </a:tc>
                <a:extLst>
                  <a:ext uri="{0D108BD9-81ED-4DB2-BD59-A6C34878D82A}">
                    <a16:rowId xmlns:a16="http://schemas.microsoft.com/office/drawing/2014/main" val="1997562691"/>
                  </a:ext>
                </a:extLst>
              </a:tr>
              <a:tr h="304334">
                <a:tc gridSpan="5">
                  <a:txBody>
                    <a:bodyPr/>
                    <a:lstStyle/>
                    <a:p>
                      <a:pPr algn="ctr"/>
                      <a:r>
                        <a:rPr lang="en-US" sz="1200" b="1" dirty="0"/>
                        <a:t>Q3: If known, can you share load provided by heatsinks on the systems you design? (Min &amp; max)</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extLst>
                  <a:ext uri="{0D108BD9-81ED-4DB2-BD59-A6C34878D82A}">
                    <a16:rowId xmlns:a16="http://schemas.microsoft.com/office/drawing/2014/main" val="824335499"/>
                  </a:ext>
                </a:extLst>
              </a:tr>
              <a:tr h="304334">
                <a:tc>
                  <a:txBody>
                    <a:bodyPr/>
                    <a:lstStyle/>
                    <a:p>
                      <a:pPr algn="ctr"/>
                      <a:r>
                        <a:rPr lang="en-US" sz="1200" dirty="0"/>
                        <a:t>min:19kg, max:24kg</a:t>
                      </a:r>
                    </a:p>
                  </a:txBody>
                  <a:tcPr anchor="ctr"/>
                </a:tc>
                <a:tc>
                  <a:txBody>
                    <a:bodyPr/>
                    <a:lstStyle/>
                    <a:p>
                      <a:pPr algn="ctr"/>
                      <a:r>
                        <a:rPr lang="en-US" sz="1200" dirty="0"/>
                        <a:t>20-40 </a:t>
                      </a:r>
                      <a:r>
                        <a:rPr lang="en-US" sz="1200" dirty="0" err="1"/>
                        <a:t>lbf</a:t>
                      </a:r>
                      <a:endParaRPr lang="en-US" sz="1200" dirty="0"/>
                    </a:p>
                  </a:txBody>
                  <a:tcPr anchor="ctr"/>
                </a:tc>
                <a:tc>
                  <a:txBody>
                    <a:bodyPr/>
                    <a:lstStyle/>
                    <a:p>
                      <a:pPr algn="ctr"/>
                      <a:r>
                        <a:rPr lang="en-US" sz="1200" dirty="0"/>
                        <a:t>No response</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45±5 </a:t>
                      </a:r>
                      <a:r>
                        <a:rPr lang="en-US" sz="1200" dirty="0" err="1"/>
                        <a:t>lbf</a:t>
                      </a:r>
                      <a:endParaRPr lang="en-US" sz="1200" dirty="0"/>
                    </a:p>
                  </a:txBody>
                  <a:tcPr anchor="ctr"/>
                </a:tc>
                <a:extLst>
                  <a:ext uri="{0D108BD9-81ED-4DB2-BD59-A6C34878D82A}">
                    <a16:rowId xmlns:a16="http://schemas.microsoft.com/office/drawing/2014/main" val="3632333155"/>
                  </a:ext>
                </a:extLst>
              </a:tr>
            </a:tbl>
          </a:graphicData>
        </a:graphic>
      </p:graphicFrame>
    </p:spTree>
    <p:extLst>
      <p:ext uri="{BB962C8B-B14F-4D97-AF65-F5344CB8AC3E}">
        <p14:creationId xmlns:p14="http://schemas.microsoft.com/office/powerpoint/2010/main" val="2057544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9650D-B217-5A37-7E15-9BFD150D2B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B4A276-CFAB-3A4B-D1C1-7D448CA88B6A}"/>
              </a:ext>
            </a:extLst>
          </p:cNvPr>
          <p:cNvSpPr>
            <a:spLocks noGrp="1"/>
          </p:cNvSpPr>
          <p:nvPr>
            <p:ph type="title"/>
          </p:nvPr>
        </p:nvSpPr>
        <p:spPr>
          <a:xfrm>
            <a:off x="571370" y="87664"/>
            <a:ext cx="11010816" cy="952499"/>
          </a:xfrm>
        </p:spPr>
        <p:txBody>
          <a:bodyPr/>
          <a:lstStyle/>
          <a:p>
            <a:r>
              <a:rPr lang="en-US" sz="3200" dirty="0"/>
              <a:t>Customer Survey Results – Heatsink Mounting &amp; Design</a:t>
            </a:r>
          </a:p>
        </p:txBody>
      </p:sp>
      <p:graphicFrame>
        <p:nvGraphicFramePr>
          <p:cNvPr id="6" name="Table 5">
            <a:extLst>
              <a:ext uri="{FF2B5EF4-FFF2-40B4-BE49-F238E27FC236}">
                <a16:creationId xmlns:a16="http://schemas.microsoft.com/office/drawing/2014/main" id="{3920FEE8-B9BC-A8DD-EB75-3A419D3D5E7A}"/>
              </a:ext>
            </a:extLst>
          </p:cNvPr>
          <p:cNvGraphicFramePr>
            <a:graphicFrameLocks noGrp="1"/>
          </p:cNvGraphicFramePr>
          <p:nvPr>
            <p:extLst>
              <p:ext uri="{D42A27DB-BD31-4B8C-83A1-F6EECF244321}">
                <p14:modId xmlns:p14="http://schemas.microsoft.com/office/powerpoint/2010/main" val="2521081264"/>
              </p:ext>
            </p:extLst>
          </p:nvPr>
        </p:nvGraphicFramePr>
        <p:xfrm>
          <a:off x="168675" y="693035"/>
          <a:ext cx="11451955" cy="3682851"/>
        </p:xfrm>
        <a:graphic>
          <a:graphicData uri="http://schemas.openxmlformats.org/drawingml/2006/table">
            <a:tbl>
              <a:tblPr firstRow="1" bandRow="1">
                <a:tableStyleId>{5C22544A-7EE6-4342-B048-85BDC9FD1C3A}</a:tableStyleId>
              </a:tblPr>
              <a:tblGrid>
                <a:gridCol w="2290391">
                  <a:extLst>
                    <a:ext uri="{9D8B030D-6E8A-4147-A177-3AD203B41FA5}">
                      <a16:colId xmlns:a16="http://schemas.microsoft.com/office/drawing/2014/main" val="3422954971"/>
                    </a:ext>
                  </a:extLst>
                </a:gridCol>
                <a:gridCol w="2290391">
                  <a:extLst>
                    <a:ext uri="{9D8B030D-6E8A-4147-A177-3AD203B41FA5}">
                      <a16:colId xmlns:a16="http://schemas.microsoft.com/office/drawing/2014/main" val="1739319744"/>
                    </a:ext>
                  </a:extLst>
                </a:gridCol>
                <a:gridCol w="2290391">
                  <a:extLst>
                    <a:ext uri="{9D8B030D-6E8A-4147-A177-3AD203B41FA5}">
                      <a16:colId xmlns:a16="http://schemas.microsoft.com/office/drawing/2014/main" val="1756552807"/>
                    </a:ext>
                  </a:extLst>
                </a:gridCol>
                <a:gridCol w="2290391">
                  <a:extLst>
                    <a:ext uri="{9D8B030D-6E8A-4147-A177-3AD203B41FA5}">
                      <a16:colId xmlns:a16="http://schemas.microsoft.com/office/drawing/2014/main" val="3027617895"/>
                    </a:ext>
                  </a:extLst>
                </a:gridCol>
                <a:gridCol w="2290391">
                  <a:extLst>
                    <a:ext uri="{9D8B030D-6E8A-4147-A177-3AD203B41FA5}">
                      <a16:colId xmlns:a16="http://schemas.microsoft.com/office/drawing/2014/main" val="2037702015"/>
                    </a:ext>
                  </a:extLst>
                </a:gridCol>
              </a:tblGrid>
              <a:tr h="640080">
                <a:tc>
                  <a:txBody>
                    <a:bodyPr/>
                    <a:lstStyle/>
                    <a:p>
                      <a:pPr algn="ctr"/>
                      <a:r>
                        <a:rPr lang="en-US" sz="1800" b="1" dirty="0"/>
                        <a:t>Asus</a:t>
                      </a:r>
                    </a:p>
                  </a:txBody>
                  <a:tcPr anchor="ctr"/>
                </a:tc>
                <a:tc>
                  <a:txBody>
                    <a:bodyPr/>
                    <a:lstStyle/>
                    <a:p>
                      <a:pPr algn="ctr"/>
                      <a:r>
                        <a:rPr lang="en-US" sz="1800" b="1" dirty="0"/>
                        <a:t>Dell</a:t>
                      </a:r>
                    </a:p>
                    <a:p>
                      <a:pPr algn="ctr"/>
                      <a:r>
                        <a:rPr lang="en-US" sz="1800" b="1" dirty="0"/>
                        <a:t>(Thermal Eng.)</a:t>
                      </a:r>
                    </a:p>
                  </a:txBody>
                  <a:tcPr anchor="ctr"/>
                </a:tc>
                <a:tc>
                  <a:txBody>
                    <a:bodyPr/>
                    <a:lstStyle/>
                    <a:p>
                      <a:pPr algn="ctr"/>
                      <a:r>
                        <a:rPr lang="en-US" sz="1800" b="1" dirty="0"/>
                        <a:t>Dell </a:t>
                      </a:r>
                    </a:p>
                    <a:p>
                      <a:pPr algn="ctr"/>
                      <a:r>
                        <a:rPr lang="en-US" sz="1800" b="1" dirty="0"/>
                        <a:t>(Services Eng.)</a:t>
                      </a:r>
                    </a:p>
                  </a:txBody>
                  <a:tcPr anchor="ctr"/>
                </a:tc>
                <a:tc>
                  <a:txBody>
                    <a:bodyPr/>
                    <a:lstStyle/>
                    <a:p>
                      <a:pPr algn="ctr"/>
                      <a:r>
                        <a:rPr lang="en-US" sz="1800" b="1" dirty="0"/>
                        <a:t>HP</a:t>
                      </a:r>
                    </a:p>
                  </a:txBody>
                  <a:tcPr anchor="ctr"/>
                </a:tc>
                <a:tc>
                  <a:txBody>
                    <a:bodyPr/>
                    <a:lstStyle/>
                    <a:p>
                      <a:pPr algn="ctr"/>
                      <a:r>
                        <a:rPr lang="en-US" sz="1800" b="1" dirty="0"/>
                        <a:t>Lenovo</a:t>
                      </a:r>
                    </a:p>
                  </a:txBody>
                  <a:tcPr anchor="ctr"/>
                </a:tc>
                <a:extLst>
                  <a:ext uri="{0D108BD9-81ED-4DB2-BD59-A6C34878D82A}">
                    <a16:rowId xmlns:a16="http://schemas.microsoft.com/office/drawing/2014/main" val="1931140537"/>
                  </a:ext>
                </a:extLst>
              </a:tr>
              <a:tr h="326011">
                <a:tc gridSpan="5">
                  <a:txBody>
                    <a:bodyPr/>
                    <a:lstStyle/>
                    <a:p>
                      <a:pPr algn="ctr"/>
                      <a:r>
                        <a:rPr lang="en-US" sz="1200" b="1" dirty="0"/>
                        <a:t>Q4: Do you have experience with Heatsinks that include a pedestal in the cold plate that sits on top of IHS? </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extLst>
                  <a:ext uri="{0D108BD9-81ED-4DB2-BD59-A6C34878D82A}">
                    <a16:rowId xmlns:a16="http://schemas.microsoft.com/office/drawing/2014/main" val="2168337005"/>
                  </a:ext>
                </a:extLst>
              </a:tr>
              <a:tr h="326011">
                <a:tc>
                  <a:txBody>
                    <a:bodyPr/>
                    <a:lstStyle/>
                    <a:p>
                      <a:pPr algn="ctr"/>
                      <a:r>
                        <a:rPr lang="en-US" sz="1200" dirty="0"/>
                        <a:t>Yes</a:t>
                      </a:r>
                    </a:p>
                  </a:txBody>
                  <a:tcPr anchor="ctr"/>
                </a:tc>
                <a:tc>
                  <a:txBody>
                    <a:bodyPr/>
                    <a:lstStyle/>
                    <a:p>
                      <a:pPr algn="ctr"/>
                      <a:r>
                        <a:rPr lang="en-US" sz="1200" dirty="0"/>
                        <a:t>Yes</a:t>
                      </a:r>
                    </a:p>
                  </a:txBody>
                  <a:tcPr anchor="ctr"/>
                </a:tc>
                <a:tc>
                  <a:txBody>
                    <a:bodyPr/>
                    <a:lstStyle/>
                    <a:p>
                      <a:pPr algn="ctr"/>
                      <a:r>
                        <a:rPr lang="en-US" sz="1200" dirty="0"/>
                        <a:t>No</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No</a:t>
                      </a:r>
                    </a:p>
                  </a:txBody>
                  <a:tcPr anchor="ctr"/>
                </a:tc>
                <a:extLst>
                  <a:ext uri="{0D108BD9-81ED-4DB2-BD59-A6C34878D82A}">
                    <a16:rowId xmlns:a16="http://schemas.microsoft.com/office/drawing/2014/main" val="1680805303"/>
                  </a:ext>
                </a:extLst>
              </a:tr>
              <a:tr h="326011">
                <a:tc gridSpan="5">
                  <a:txBody>
                    <a:bodyPr/>
                    <a:lstStyle/>
                    <a:p>
                      <a:pPr algn="ctr"/>
                      <a:r>
                        <a:rPr lang="en-US" sz="1200" b="1" dirty="0"/>
                        <a:t>Q5: If yes to the above question, what challenges have you encountered or foresee with pedestal designs?</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extLst>
                  <a:ext uri="{0D108BD9-81ED-4DB2-BD59-A6C34878D82A}">
                    <a16:rowId xmlns:a16="http://schemas.microsoft.com/office/drawing/2014/main" val="4262287651"/>
                  </a:ext>
                </a:extLst>
              </a:tr>
              <a:tr h="760693">
                <a:tc>
                  <a:txBody>
                    <a:bodyPr/>
                    <a:lstStyle/>
                    <a:p>
                      <a:pPr algn="ctr"/>
                      <a:r>
                        <a:rPr lang="en-US" sz="1200" dirty="0"/>
                        <a:t>Heat sink static loading force, strain gauge test, CPU contact for hotspot</a:t>
                      </a:r>
                    </a:p>
                  </a:txBody>
                  <a:tcPr anchor="ctr"/>
                </a:tc>
                <a:tc>
                  <a:txBody>
                    <a:bodyPr/>
                    <a:lstStyle/>
                    <a:p>
                      <a:pPr algn="ctr"/>
                      <a:r>
                        <a:rPr lang="en-US" sz="1200" dirty="0"/>
                        <a:t>tolerance of Z-height stack up</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N/A</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N/A</a:t>
                      </a:r>
                    </a:p>
                  </a:txBody>
                  <a:tcPr anchor="ctr"/>
                </a:tc>
                <a:extLst>
                  <a:ext uri="{0D108BD9-81ED-4DB2-BD59-A6C34878D82A}">
                    <a16:rowId xmlns:a16="http://schemas.microsoft.com/office/drawing/2014/main" val="2807914062"/>
                  </a:ext>
                </a:extLst>
              </a:tr>
              <a:tr h="326011">
                <a:tc gridSpan="5">
                  <a:txBody>
                    <a:bodyPr/>
                    <a:lstStyle/>
                    <a:p>
                      <a:pPr algn="ctr"/>
                      <a:r>
                        <a:rPr lang="en-US" sz="1200" b="1" dirty="0"/>
                        <a:t>Q6: Could you share the mechanical validation processes of heatsinks installed in your platform? </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extLst>
                  <a:ext uri="{0D108BD9-81ED-4DB2-BD59-A6C34878D82A}">
                    <a16:rowId xmlns:a16="http://schemas.microsoft.com/office/drawing/2014/main" val="784461565"/>
                  </a:ext>
                </a:extLst>
              </a:tr>
              <a:tr h="978034">
                <a:tc>
                  <a:txBody>
                    <a:bodyPr/>
                    <a:lstStyle/>
                    <a:p>
                      <a:pPr algn="ctr"/>
                      <a:r>
                        <a:rPr lang="en-US" sz="1200" dirty="0"/>
                        <a:t>thermal, shock, vibration, drop test , strain gauge test</a:t>
                      </a:r>
                    </a:p>
                  </a:txBody>
                  <a:tcPr anchor="ctr"/>
                </a:tc>
                <a:tc>
                  <a:txBody>
                    <a:bodyPr/>
                    <a:lstStyle/>
                    <a:p>
                      <a:pPr algn="ctr"/>
                      <a:r>
                        <a:rPr lang="en-US" sz="1200" dirty="0"/>
                        <a:t>Thermal performance</a:t>
                      </a:r>
                    </a:p>
                    <a:p>
                      <a:pPr algn="ctr"/>
                      <a:r>
                        <a:rPr lang="en-US" sz="1200" dirty="0"/>
                        <a:t>Interference check</a:t>
                      </a:r>
                    </a:p>
                    <a:p>
                      <a:pPr algn="ctr"/>
                      <a:r>
                        <a:rPr lang="en-US" sz="1200" dirty="0"/>
                        <a:t>Tolerance analysis</a:t>
                      </a:r>
                    </a:p>
                    <a:p>
                      <a:pPr algn="ctr"/>
                      <a:r>
                        <a:rPr lang="en-US" sz="1200" dirty="0"/>
                        <a:t>shock &amp; vibration</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thermal analysis, structural analysis, durability, </a:t>
                      </a:r>
                      <a:r>
                        <a:rPr lang="en-US" sz="1200" dirty="0" err="1"/>
                        <a:t>shoke</a:t>
                      </a:r>
                      <a:r>
                        <a:rPr lang="en-US" sz="1200" dirty="0"/>
                        <a:t>, vibration</a:t>
                      </a:r>
                    </a:p>
                  </a:txBody>
                  <a:tcPr anchor="ctr"/>
                </a:tc>
                <a:extLst>
                  <a:ext uri="{0D108BD9-81ED-4DB2-BD59-A6C34878D82A}">
                    <a16:rowId xmlns:a16="http://schemas.microsoft.com/office/drawing/2014/main" val="3390909692"/>
                  </a:ext>
                </a:extLst>
              </a:tr>
            </a:tbl>
          </a:graphicData>
        </a:graphic>
      </p:graphicFrame>
    </p:spTree>
    <p:extLst>
      <p:ext uri="{BB962C8B-B14F-4D97-AF65-F5344CB8AC3E}">
        <p14:creationId xmlns:p14="http://schemas.microsoft.com/office/powerpoint/2010/main" val="3691205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0361F-7482-9B54-9FC5-015A77A30E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8767D8-4784-59B4-BFFE-A7D9BBE481D4}"/>
              </a:ext>
            </a:extLst>
          </p:cNvPr>
          <p:cNvSpPr>
            <a:spLocks noGrp="1"/>
          </p:cNvSpPr>
          <p:nvPr>
            <p:ph type="title"/>
          </p:nvPr>
        </p:nvSpPr>
        <p:spPr>
          <a:xfrm>
            <a:off x="571370" y="87664"/>
            <a:ext cx="11010816" cy="952499"/>
          </a:xfrm>
        </p:spPr>
        <p:txBody>
          <a:bodyPr/>
          <a:lstStyle/>
          <a:p>
            <a:r>
              <a:rPr lang="en-US" sz="3200" dirty="0"/>
              <a:t>Customer Survey Results – Height &amp; Physical Constraints</a:t>
            </a:r>
          </a:p>
        </p:txBody>
      </p:sp>
      <p:graphicFrame>
        <p:nvGraphicFramePr>
          <p:cNvPr id="6" name="Table 5">
            <a:extLst>
              <a:ext uri="{FF2B5EF4-FFF2-40B4-BE49-F238E27FC236}">
                <a16:creationId xmlns:a16="http://schemas.microsoft.com/office/drawing/2014/main" id="{85023CBC-410A-3500-93F6-D105C2A4FD1C}"/>
              </a:ext>
            </a:extLst>
          </p:cNvPr>
          <p:cNvGraphicFramePr>
            <a:graphicFrameLocks noGrp="1"/>
          </p:cNvGraphicFramePr>
          <p:nvPr>
            <p:extLst>
              <p:ext uri="{D42A27DB-BD31-4B8C-83A1-F6EECF244321}">
                <p14:modId xmlns:p14="http://schemas.microsoft.com/office/powerpoint/2010/main" val="2929464479"/>
              </p:ext>
            </p:extLst>
          </p:nvPr>
        </p:nvGraphicFramePr>
        <p:xfrm>
          <a:off x="168675" y="693036"/>
          <a:ext cx="11451955" cy="4763997"/>
        </p:xfrm>
        <a:graphic>
          <a:graphicData uri="http://schemas.openxmlformats.org/drawingml/2006/table">
            <a:tbl>
              <a:tblPr firstRow="1" bandRow="1">
                <a:tableStyleId>{5C22544A-7EE6-4342-B048-85BDC9FD1C3A}</a:tableStyleId>
              </a:tblPr>
              <a:tblGrid>
                <a:gridCol w="2290391">
                  <a:extLst>
                    <a:ext uri="{9D8B030D-6E8A-4147-A177-3AD203B41FA5}">
                      <a16:colId xmlns:a16="http://schemas.microsoft.com/office/drawing/2014/main" val="3422954971"/>
                    </a:ext>
                  </a:extLst>
                </a:gridCol>
                <a:gridCol w="2290391">
                  <a:extLst>
                    <a:ext uri="{9D8B030D-6E8A-4147-A177-3AD203B41FA5}">
                      <a16:colId xmlns:a16="http://schemas.microsoft.com/office/drawing/2014/main" val="1739319744"/>
                    </a:ext>
                  </a:extLst>
                </a:gridCol>
                <a:gridCol w="2290391">
                  <a:extLst>
                    <a:ext uri="{9D8B030D-6E8A-4147-A177-3AD203B41FA5}">
                      <a16:colId xmlns:a16="http://schemas.microsoft.com/office/drawing/2014/main" val="1756552807"/>
                    </a:ext>
                  </a:extLst>
                </a:gridCol>
                <a:gridCol w="2290391">
                  <a:extLst>
                    <a:ext uri="{9D8B030D-6E8A-4147-A177-3AD203B41FA5}">
                      <a16:colId xmlns:a16="http://schemas.microsoft.com/office/drawing/2014/main" val="3027617895"/>
                    </a:ext>
                  </a:extLst>
                </a:gridCol>
                <a:gridCol w="2290391">
                  <a:extLst>
                    <a:ext uri="{9D8B030D-6E8A-4147-A177-3AD203B41FA5}">
                      <a16:colId xmlns:a16="http://schemas.microsoft.com/office/drawing/2014/main" val="2037702015"/>
                    </a:ext>
                  </a:extLst>
                </a:gridCol>
              </a:tblGrid>
              <a:tr h="640080">
                <a:tc>
                  <a:txBody>
                    <a:bodyPr/>
                    <a:lstStyle/>
                    <a:p>
                      <a:pPr algn="ctr"/>
                      <a:r>
                        <a:rPr lang="en-US" sz="1800" b="1" dirty="0"/>
                        <a:t>Asus</a:t>
                      </a:r>
                    </a:p>
                  </a:txBody>
                  <a:tcPr anchor="ctr"/>
                </a:tc>
                <a:tc>
                  <a:txBody>
                    <a:bodyPr/>
                    <a:lstStyle/>
                    <a:p>
                      <a:pPr algn="ctr"/>
                      <a:r>
                        <a:rPr lang="en-US" sz="1800" b="1" dirty="0"/>
                        <a:t>Dell</a:t>
                      </a:r>
                    </a:p>
                    <a:p>
                      <a:pPr algn="ctr"/>
                      <a:r>
                        <a:rPr lang="en-US" sz="1800" b="1" dirty="0"/>
                        <a:t>(Thermal Eng.)</a:t>
                      </a:r>
                    </a:p>
                  </a:txBody>
                  <a:tcPr anchor="ctr"/>
                </a:tc>
                <a:tc>
                  <a:txBody>
                    <a:bodyPr/>
                    <a:lstStyle/>
                    <a:p>
                      <a:pPr algn="ctr"/>
                      <a:r>
                        <a:rPr lang="en-US" sz="1800" b="1" dirty="0"/>
                        <a:t>Dell </a:t>
                      </a:r>
                    </a:p>
                    <a:p>
                      <a:pPr algn="ctr"/>
                      <a:r>
                        <a:rPr lang="en-US" sz="1800" b="1" dirty="0"/>
                        <a:t>(Services Eng.)</a:t>
                      </a:r>
                    </a:p>
                  </a:txBody>
                  <a:tcPr anchor="ctr"/>
                </a:tc>
                <a:tc>
                  <a:txBody>
                    <a:bodyPr/>
                    <a:lstStyle/>
                    <a:p>
                      <a:pPr algn="ctr"/>
                      <a:r>
                        <a:rPr lang="en-US" sz="1800" b="1" dirty="0"/>
                        <a:t>HP</a:t>
                      </a:r>
                    </a:p>
                  </a:txBody>
                  <a:tcPr anchor="ctr"/>
                </a:tc>
                <a:tc>
                  <a:txBody>
                    <a:bodyPr/>
                    <a:lstStyle/>
                    <a:p>
                      <a:pPr algn="ctr"/>
                      <a:r>
                        <a:rPr lang="en-US" sz="1800" b="1" dirty="0"/>
                        <a:t>Lenovo</a:t>
                      </a:r>
                    </a:p>
                  </a:txBody>
                  <a:tcPr anchor="ctr"/>
                </a:tc>
                <a:extLst>
                  <a:ext uri="{0D108BD9-81ED-4DB2-BD59-A6C34878D82A}">
                    <a16:rowId xmlns:a16="http://schemas.microsoft.com/office/drawing/2014/main" val="1931140537"/>
                  </a:ext>
                </a:extLst>
              </a:tr>
              <a:tr h="621353">
                <a:tc gridSpan="5">
                  <a:txBody>
                    <a:bodyPr/>
                    <a:lstStyle/>
                    <a:p>
                      <a:pPr algn="ctr"/>
                      <a:r>
                        <a:rPr lang="en-US" sz="1200" b="1" dirty="0"/>
                        <a:t>Q7: Could your systems accommodate a thicker back-plate (&gt;2.2mm) to improve socket loading the deflection? </a:t>
                      </a:r>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a:p>
                  </a:txBody>
                  <a:tcPr anchor="ctr"/>
                </a:tc>
                <a:extLst>
                  <a:ext uri="{0D108BD9-81ED-4DB2-BD59-A6C34878D82A}">
                    <a16:rowId xmlns:a16="http://schemas.microsoft.com/office/drawing/2014/main" val="1762083462"/>
                  </a:ext>
                </a:extLst>
              </a:tr>
              <a:tr h="405552">
                <a:tc>
                  <a:txBody>
                    <a:bodyPr/>
                    <a:lstStyle/>
                    <a:p>
                      <a:pPr algn="ctr"/>
                      <a:r>
                        <a:rPr lang="en-US" sz="1200" dirty="0"/>
                        <a:t>Yes</a:t>
                      </a:r>
                    </a:p>
                  </a:txBody>
                  <a:tcPr anchor="ctr"/>
                </a:tc>
                <a:tc>
                  <a:txBody>
                    <a:bodyPr/>
                    <a:lstStyle/>
                    <a:p>
                      <a:pPr algn="ctr"/>
                      <a:r>
                        <a:rPr lang="en-US" sz="1200" dirty="0"/>
                        <a:t>depends on platforms</a:t>
                      </a:r>
                    </a:p>
                  </a:txBody>
                  <a:tcPr anchor="ctr"/>
                </a:tc>
                <a:tc>
                  <a:txBody>
                    <a:bodyPr/>
                    <a:lstStyle/>
                    <a:p>
                      <a:pPr algn="ctr"/>
                      <a:r>
                        <a:rPr lang="en-US" sz="1200" dirty="0"/>
                        <a:t>Don’t know</a:t>
                      </a:r>
                    </a:p>
                  </a:txBody>
                  <a:tcPr anchor="ctr"/>
                </a:tc>
                <a:tc>
                  <a:txBody>
                    <a:bodyPr/>
                    <a:lstStyle/>
                    <a:p>
                      <a:pPr algn="ctr"/>
                      <a:r>
                        <a:rPr lang="en-US" sz="1200" dirty="0"/>
                        <a:t>No response</a:t>
                      </a:r>
                    </a:p>
                  </a:txBody>
                  <a:tcPr anchor="ctr"/>
                </a:tc>
                <a:tc>
                  <a:txBody>
                    <a:bodyPr/>
                    <a:lstStyle/>
                    <a:p>
                      <a:pPr algn="ctr"/>
                      <a:r>
                        <a:rPr lang="en-US" sz="1200" dirty="0"/>
                        <a:t>No</a:t>
                      </a:r>
                    </a:p>
                  </a:txBody>
                  <a:tcPr anchor="ctr"/>
                </a:tc>
                <a:extLst>
                  <a:ext uri="{0D108BD9-81ED-4DB2-BD59-A6C34878D82A}">
                    <a16:rowId xmlns:a16="http://schemas.microsoft.com/office/drawing/2014/main" val="982522789"/>
                  </a:ext>
                </a:extLst>
              </a:tr>
              <a:tr h="798883">
                <a:tc gridSpan="5">
                  <a:txBody>
                    <a:bodyPr/>
                    <a:lstStyle/>
                    <a:p>
                      <a:pPr algn="ctr"/>
                      <a:r>
                        <a:rPr lang="en-US" sz="1200" b="1" dirty="0"/>
                        <a:t>Q8: If yes to the above question, can you provide value of available clearance on the bottom of the PCB  (Available space to grow back-plate thickness)?</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a:p>
                  </a:txBody>
                  <a:tcPr anchor="ctr"/>
                </a:tc>
                <a:extLst>
                  <a:ext uri="{0D108BD9-81ED-4DB2-BD59-A6C34878D82A}">
                    <a16:rowId xmlns:a16="http://schemas.microsoft.com/office/drawing/2014/main" val="283596028"/>
                  </a:ext>
                </a:extLst>
              </a:tr>
              <a:tr h="405552">
                <a:tc>
                  <a:txBody>
                    <a:bodyPr/>
                    <a:lstStyle/>
                    <a:p>
                      <a:pPr algn="ctr"/>
                      <a:r>
                        <a:rPr lang="en-US" sz="1200" dirty="0"/>
                        <a:t>2.54mm</a:t>
                      </a:r>
                    </a:p>
                  </a:txBody>
                  <a:tcPr anchor="ctr"/>
                </a:tc>
                <a:tc>
                  <a:txBody>
                    <a:bodyPr/>
                    <a:lstStyle/>
                    <a:p>
                      <a:pPr algn="ctr"/>
                      <a:r>
                        <a:rPr lang="en-US" sz="1200" dirty="0"/>
                        <a:t>depends on platforms</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N/A</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N/A</a:t>
                      </a:r>
                    </a:p>
                  </a:txBody>
                  <a:tcPr anchor="ctr"/>
                </a:tc>
                <a:extLst>
                  <a:ext uri="{0D108BD9-81ED-4DB2-BD59-A6C34878D82A}">
                    <a16:rowId xmlns:a16="http://schemas.microsoft.com/office/drawing/2014/main" val="1997562691"/>
                  </a:ext>
                </a:extLst>
              </a:tr>
              <a:tr h="405552">
                <a:tc gridSpan="5">
                  <a:txBody>
                    <a:bodyPr/>
                    <a:lstStyle/>
                    <a:p>
                      <a:pPr algn="ctr"/>
                      <a:r>
                        <a:rPr lang="en-US" sz="1200" b="1" dirty="0"/>
                        <a:t>Q9: Can you share the PCB thickness used along with LGA products on your systems? </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extLst>
                  <a:ext uri="{0D108BD9-81ED-4DB2-BD59-A6C34878D82A}">
                    <a16:rowId xmlns:a16="http://schemas.microsoft.com/office/drawing/2014/main" val="824335499"/>
                  </a:ext>
                </a:extLst>
              </a:tr>
              <a:tr h="405552">
                <a:tc>
                  <a:txBody>
                    <a:bodyPr/>
                    <a:lstStyle/>
                    <a:p>
                      <a:pPr algn="ctr"/>
                      <a:r>
                        <a:rPr lang="en-US" sz="1200" dirty="0"/>
                        <a:t>1.55mm</a:t>
                      </a:r>
                    </a:p>
                  </a:txBody>
                  <a:tcPr anchor="ctr"/>
                </a:tc>
                <a:tc>
                  <a:txBody>
                    <a:bodyPr/>
                    <a:lstStyle/>
                    <a:p>
                      <a:pPr algn="ctr"/>
                      <a:r>
                        <a:rPr lang="en-US" sz="1200" dirty="0"/>
                        <a:t>~1.6mm in most platforms</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1.6mm / 1.2mm</a:t>
                      </a:r>
                    </a:p>
                  </a:txBody>
                  <a:tcPr anchor="ctr"/>
                </a:tc>
                <a:extLst>
                  <a:ext uri="{0D108BD9-81ED-4DB2-BD59-A6C34878D82A}">
                    <a16:rowId xmlns:a16="http://schemas.microsoft.com/office/drawing/2014/main" val="3632333155"/>
                  </a:ext>
                </a:extLst>
              </a:tr>
              <a:tr h="405552">
                <a:tc gridSpan="5">
                  <a:txBody>
                    <a:bodyPr/>
                    <a:lstStyle/>
                    <a:p>
                      <a:pPr algn="ctr"/>
                      <a:r>
                        <a:rPr lang="en-US" sz="1200" b="1" dirty="0"/>
                        <a:t>Q10: If possible, share any issues you can identify regarding the interaction between loading mechanism and other board components</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extLst>
                  <a:ext uri="{0D108BD9-81ED-4DB2-BD59-A6C34878D82A}">
                    <a16:rowId xmlns:a16="http://schemas.microsoft.com/office/drawing/2014/main" val="2168337005"/>
                  </a:ext>
                </a:extLst>
              </a:tr>
              <a:tr h="675921">
                <a:tc>
                  <a:txBody>
                    <a:bodyPr/>
                    <a:lstStyle/>
                    <a:p>
                      <a:pPr algn="ctr"/>
                      <a:r>
                        <a:rPr lang="en-US" sz="1200" dirty="0"/>
                        <a:t>N/A</a:t>
                      </a:r>
                    </a:p>
                  </a:txBody>
                  <a:tcPr anchor="ctr"/>
                </a:tc>
                <a:tc>
                  <a:txBody>
                    <a:bodyPr/>
                    <a:lstStyle/>
                    <a:p>
                      <a:pPr algn="ctr"/>
                      <a:r>
                        <a:rPr lang="en-US" sz="1200" dirty="0"/>
                        <a:t>heat sink hits the VR component, like cap, chock</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No response</a:t>
                      </a:r>
                    </a:p>
                  </a:txBody>
                  <a:tcPr anchor="ctr"/>
                </a:tc>
                <a:extLst>
                  <a:ext uri="{0D108BD9-81ED-4DB2-BD59-A6C34878D82A}">
                    <a16:rowId xmlns:a16="http://schemas.microsoft.com/office/drawing/2014/main" val="1680805303"/>
                  </a:ext>
                </a:extLst>
              </a:tr>
            </a:tbl>
          </a:graphicData>
        </a:graphic>
      </p:graphicFrame>
    </p:spTree>
    <p:extLst>
      <p:ext uri="{BB962C8B-B14F-4D97-AF65-F5344CB8AC3E}">
        <p14:creationId xmlns:p14="http://schemas.microsoft.com/office/powerpoint/2010/main" val="4007762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2264B-8CB6-01C2-9E02-37BAB91ADD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0A6032-BEF1-74FC-93C3-F144B35F41FE}"/>
              </a:ext>
            </a:extLst>
          </p:cNvPr>
          <p:cNvSpPr>
            <a:spLocks noGrp="1"/>
          </p:cNvSpPr>
          <p:nvPr>
            <p:ph type="title"/>
          </p:nvPr>
        </p:nvSpPr>
        <p:spPr>
          <a:xfrm>
            <a:off x="571370" y="87664"/>
            <a:ext cx="11010816" cy="952499"/>
          </a:xfrm>
        </p:spPr>
        <p:txBody>
          <a:bodyPr/>
          <a:lstStyle/>
          <a:p>
            <a:r>
              <a:rPr lang="en-US" sz="3200" dirty="0"/>
              <a:t>Customer Survey Results – TIM</a:t>
            </a:r>
          </a:p>
        </p:txBody>
      </p:sp>
      <p:graphicFrame>
        <p:nvGraphicFramePr>
          <p:cNvPr id="6" name="Table 5">
            <a:extLst>
              <a:ext uri="{FF2B5EF4-FFF2-40B4-BE49-F238E27FC236}">
                <a16:creationId xmlns:a16="http://schemas.microsoft.com/office/drawing/2014/main" id="{5EC036EC-988B-5BF9-CB42-E3E82515EBE4}"/>
              </a:ext>
            </a:extLst>
          </p:cNvPr>
          <p:cNvGraphicFramePr>
            <a:graphicFrameLocks noGrp="1"/>
          </p:cNvGraphicFramePr>
          <p:nvPr>
            <p:extLst>
              <p:ext uri="{D42A27DB-BD31-4B8C-83A1-F6EECF244321}">
                <p14:modId xmlns:p14="http://schemas.microsoft.com/office/powerpoint/2010/main" val="67004433"/>
              </p:ext>
            </p:extLst>
          </p:nvPr>
        </p:nvGraphicFramePr>
        <p:xfrm>
          <a:off x="168675" y="693035"/>
          <a:ext cx="11451955" cy="4446613"/>
        </p:xfrm>
        <a:graphic>
          <a:graphicData uri="http://schemas.openxmlformats.org/drawingml/2006/table">
            <a:tbl>
              <a:tblPr firstRow="1" bandRow="1">
                <a:tableStyleId>{5C22544A-7EE6-4342-B048-85BDC9FD1C3A}</a:tableStyleId>
              </a:tblPr>
              <a:tblGrid>
                <a:gridCol w="2290391">
                  <a:extLst>
                    <a:ext uri="{9D8B030D-6E8A-4147-A177-3AD203B41FA5}">
                      <a16:colId xmlns:a16="http://schemas.microsoft.com/office/drawing/2014/main" val="3422954971"/>
                    </a:ext>
                  </a:extLst>
                </a:gridCol>
                <a:gridCol w="2290391">
                  <a:extLst>
                    <a:ext uri="{9D8B030D-6E8A-4147-A177-3AD203B41FA5}">
                      <a16:colId xmlns:a16="http://schemas.microsoft.com/office/drawing/2014/main" val="1739319744"/>
                    </a:ext>
                  </a:extLst>
                </a:gridCol>
                <a:gridCol w="2290391">
                  <a:extLst>
                    <a:ext uri="{9D8B030D-6E8A-4147-A177-3AD203B41FA5}">
                      <a16:colId xmlns:a16="http://schemas.microsoft.com/office/drawing/2014/main" val="1756552807"/>
                    </a:ext>
                  </a:extLst>
                </a:gridCol>
                <a:gridCol w="2290391">
                  <a:extLst>
                    <a:ext uri="{9D8B030D-6E8A-4147-A177-3AD203B41FA5}">
                      <a16:colId xmlns:a16="http://schemas.microsoft.com/office/drawing/2014/main" val="3027617895"/>
                    </a:ext>
                  </a:extLst>
                </a:gridCol>
                <a:gridCol w="2290391">
                  <a:extLst>
                    <a:ext uri="{9D8B030D-6E8A-4147-A177-3AD203B41FA5}">
                      <a16:colId xmlns:a16="http://schemas.microsoft.com/office/drawing/2014/main" val="2037702015"/>
                    </a:ext>
                  </a:extLst>
                </a:gridCol>
              </a:tblGrid>
              <a:tr h="640080">
                <a:tc>
                  <a:txBody>
                    <a:bodyPr/>
                    <a:lstStyle/>
                    <a:p>
                      <a:pPr algn="ctr"/>
                      <a:r>
                        <a:rPr lang="en-US" sz="1800" b="1" dirty="0"/>
                        <a:t>Asus</a:t>
                      </a:r>
                    </a:p>
                  </a:txBody>
                  <a:tcPr anchor="ctr"/>
                </a:tc>
                <a:tc>
                  <a:txBody>
                    <a:bodyPr/>
                    <a:lstStyle/>
                    <a:p>
                      <a:pPr algn="ctr"/>
                      <a:r>
                        <a:rPr lang="en-US" sz="1800" b="1" dirty="0"/>
                        <a:t>Dell</a:t>
                      </a:r>
                    </a:p>
                    <a:p>
                      <a:pPr algn="ctr"/>
                      <a:r>
                        <a:rPr lang="en-US" sz="1800" b="1" dirty="0"/>
                        <a:t>(Thermal Eng.)</a:t>
                      </a:r>
                    </a:p>
                  </a:txBody>
                  <a:tcPr anchor="ctr"/>
                </a:tc>
                <a:tc>
                  <a:txBody>
                    <a:bodyPr/>
                    <a:lstStyle/>
                    <a:p>
                      <a:pPr algn="ctr"/>
                      <a:r>
                        <a:rPr lang="en-US" sz="1800" b="1" dirty="0"/>
                        <a:t>Dell </a:t>
                      </a:r>
                    </a:p>
                    <a:p>
                      <a:pPr algn="ctr"/>
                      <a:r>
                        <a:rPr lang="en-US" sz="1800" b="1" dirty="0"/>
                        <a:t>(Services Eng.)</a:t>
                      </a:r>
                    </a:p>
                  </a:txBody>
                  <a:tcPr anchor="ctr"/>
                </a:tc>
                <a:tc>
                  <a:txBody>
                    <a:bodyPr/>
                    <a:lstStyle/>
                    <a:p>
                      <a:pPr algn="ctr"/>
                      <a:r>
                        <a:rPr lang="en-US" sz="1800" b="1" dirty="0"/>
                        <a:t>HP</a:t>
                      </a:r>
                    </a:p>
                  </a:txBody>
                  <a:tcPr anchor="ctr"/>
                </a:tc>
                <a:tc>
                  <a:txBody>
                    <a:bodyPr/>
                    <a:lstStyle/>
                    <a:p>
                      <a:pPr algn="ctr"/>
                      <a:r>
                        <a:rPr lang="en-US" sz="1800" b="1" dirty="0"/>
                        <a:t>Lenovo</a:t>
                      </a:r>
                    </a:p>
                  </a:txBody>
                  <a:tcPr anchor="ctr"/>
                </a:tc>
                <a:extLst>
                  <a:ext uri="{0D108BD9-81ED-4DB2-BD59-A6C34878D82A}">
                    <a16:rowId xmlns:a16="http://schemas.microsoft.com/office/drawing/2014/main" val="1931140537"/>
                  </a:ext>
                </a:extLst>
              </a:tr>
              <a:tr h="682965">
                <a:tc gridSpan="5">
                  <a:txBody>
                    <a:bodyPr/>
                    <a:lstStyle/>
                    <a:p>
                      <a:pPr algn="ctr"/>
                      <a:r>
                        <a:rPr lang="en-US" sz="1200" b="1" dirty="0"/>
                        <a:t>Q11: What are the current TIM pastes you use?</a:t>
                      </a:r>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a:p>
                  </a:txBody>
                  <a:tcPr anchor="ctr"/>
                </a:tc>
                <a:extLst>
                  <a:ext uri="{0D108BD9-81ED-4DB2-BD59-A6C34878D82A}">
                    <a16:rowId xmlns:a16="http://schemas.microsoft.com/office/drawing/2014/main" val="1762083462"/>
                  </a:ext>
                </a:extLst>
              </a:tr>
              <a:tr h="374245">
                <a:tc>
                  <a:txBody>
                    <a:bodyPr/>
                    <a:lstStyle/>
                    <a:p>
                      <a:pPr algn="ctr"/>
                      <a:r>
                        <a:rPr lang="en-US" sz="1200" dirty="0"/>
                        <a:t>7762、TC-5026</a:t>
                      </a:r>
                    </a:p>
                  </a:txBody>
                  <a:tcPr anchor="ctr"/>
                </a:tc>
                <a:tc>
                  <a:txBody>
                    <a:bodyPr/>
                    <a:lstStyle/>
                    <a:p>
                      <a:pPr algn="ctr"/>
                      <a:r>
                        <a:rPr lang="en-US" sz="1200" dirty="0"/>
                        <a:t>Dow and </a:t>
                      </a:r>
                      <a:r>
                        <a:rPr lang="en-US" sz="1200" dirty="0" err="1"/>
                        <a:t>Shinetsu</a:t>
                      </a:r>
                      <a:r>
                        <a:rPr lang="en-US" sz="1200" dirty="0"/>
                        <a:t> series</a:t>
                      </a:r>
                    </a:p>
                  </a:txBody>
                  <a:tcPr anchor="ctr"/>
                </a:tc>
                <a:tc>
                  <a:txBody>
                    <a:bodyPr/>
                    <a:lstStyle/>
                    <a:p>
                      <a:pPr algn="ctr"/>
                      <a:r>
                        <a:rPr lang="en-US" sz="1200" dirty="0"/>
                        <a:t>Don’t know</a:t>
                      </a:r>
                    </a:p>
                  </a:txBody>
                  <a:tcPr anchor="ctr"/>
                </a:tc>
                <a:tc>
                  <a:txBody>
                    <a:bodyPr/>
                    <a:lstStyle/>
                    <a:p>
                      <a:pPr algn="ctr"/>
                      <a:r>
                        <a:rPr lang="en-US" sz="1200" dirty="0"/>
                        <a:t>No response</a:t>
                      </a:r>
                    </a:p>
                  </a:txBody>
                  <a:tcPr anchor="ctr"/>
                </a:tc>
                <a:tc>
                  <a:txBody>
                    <a:bodyPr/>
                    <a:lstStyle/>
                    <a:p>
                      <a:pPr algn="ctr"/>
                      <a:r>
                        <a:rPr lang="en-US" sz="1200" dirty="0"/>
                        <a:t>TC 5622 or equivalent</a:t>
                      </a:r>
                    </a:p>
                  </a:txBody>
                  <a:tcPr anchor="ctr"/>
                </a:tc>
                <a:extLst>
                  <a:ext uri="{0D108BD9-81ED-4DB2-BD59-A6C34878D82A}">
                    <a16:rowId xmlns:a16="http://schemas.microsoft.com/office/drawing/2014/main" val="982522789"/>
                  </a:ext>
                </a:extLst>
              </a:tr>
              <a:tr h="878098">
                <a:tc gridSpan="5">
                  <a:txBody>
                    <a:bodyPr/>
                    <a:lstStyle/>
                    <a:p>
                      <a:pPr algn="ctr"/>
                      <a:r>
                        <a:rPr lang="en-US" sz="1200" b="1" dirty="0"/>
                        <a:t>Q12: Do you use Liquid Metal TIM on any of your designs?</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a:p>
                  </a:txBody>
                  <a:tcPr anchor="ctr"/>
                </a:tc>
                <a:extLst>
                  <a:ext uri="{0D108BD9-81ED-4DB2-BD59-A6C34878D82A}">
                    <a16:rowId xmlns:a16="http://schemas.microsoft.com/office/drawing/2014/main" val="283596028"/>
                  </a:ext>
                </a:extLst>
              </a:tr>
              <a:tr h="374245">
                <a:tc>
                  <a:txBody>
                    <a:bodyPr/>
                    <a:lstStyle/>
                    <a:p>
                      <a:pPr algn="ctr"/>
                      <a:r>
                        <a:rPr lang="en-US" sz="1200" dirty="0"/>
                        <a:t>No</a:t>
                      </a:r>
                    </a:p>
                  </a:txBody>
                  <a:tcPr anchor="ctr"/>
                </a:tc>
                <a:tc>
                  <a:txBody>
                    <a:bodyPr/>
                    <a:lstStyle/>
                    <a:p>
                      <a:pPr algn="ctr"/>
                      <a:r>
                        <a:rPr lang="en-US" sz="1200" dirty="0"/>
                        <a:t>Yes, but not in Intel platform</a:t>
                      </a:r>
                    </a:p>
                  </a:txBody>
                  <a:tcPr anchor="ctr"/>
                </a:tc>
                <a:tc>
                  <a:txBody>
                    <a:bodyPr/>
                    <a:lstStyle/>
                    <a:p>
                      <a:pPr algn="ctr"/>
                      <a:r>
                        <a:rPr lang="en-US" sz="1200" dirty="0"/>
                        <a:t>I think so - portable Alienware.</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No</a:t>
                      </a:r>
                    </a:p>
                  </a:txBody>
                  <a:tcPr anchor="ctr"/>
                </a:tc>
                <a:extLst>
                  <a:ext uri="{0D108BD9-81ED-4DB2-BD59-A6C34878D82A}">
                    <a16:rowId xmlns:a16="http://schemas.microsoft.com/office/drawing/2014/main" val="1997562691"/>
                  </a:ext>
                </a:extLst>
              </a:tr>
              <a:tr h="374245">
                <a:tc gridSpan="5">
                  <a:txBody>
                    <a:bodyPr/>
                    <a:lstStyle/>
                    <a:p>
                      <a:pPr algn="ctr"/>
                      <a:r>
                        <a:rPr lang="en-US" sz="1200" b="1" dirty="0"/>
                        <a:t>Q13: If yes to the above question, what specific Liquid Metal TIM do you use?</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extLst>
                  <a:ext uri="{0D108BD9-81ED-4DB2-BD59-A6C34878D82A}">
                    <a16:rowId xmlns:a16="http://schemas.microsoft.com/office/drawing/2014/main" val="824335499"/>
                  </a:ext>
                </a:extLst>
              </a:tr>
              <a:tr h="374245">
                <a:tc>
                  <a:txBody>
                    <a:bodyPr/>
                    <a:lstStyle/>
                    <a:p>
                      <a:pPr algn="ctr"/>
                      <a:r>
                        <a:rPr lang="en-US" sz="1200" dirty="0"/>
                        <a:t>N/A</a:t>
                      </a:r>
                    </a:p>
                  </a:txBody>
                  <a:tcPr anchor="ctr"/>
                </a:tc>
                <a:tc>
                  <a:txBody>
                    <a:bodyPr/>
                    <a:lstStyle/>
                    <a:p>
                      <a:pPr algn="ctr"/>
                      <a:r>
                        <a:rPr lang="en-US" sz="1200" dirty="0"/>
                        <a:t>trade secret</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Don’t know</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N/A</a:t>
                      </a:r>
                    </a:p>
                  </a:txBody>
                  <a:tcPr anchor="ctr"/>
                </a:tc>
                <a:extLst>
                  <a:ext uri="{0D108BD9-81ED-4DB2-BD59-A6C34878D82A}">
                    <a16:rowId xmlns:a16="http://schemas.microsoft.com/office/drawing/2014/main" val="3632333155"/>
                  </a:ext>
                </a:extLst>
              </a:tr>
              <a:tr h="374245">
                <a:tc gridSpan="5">
                  <a:txBody>
                    <a:bodyPr/>
                    <a:lstStyle/>
                    <a:p>
                      <a:pPr algn="ctr"/>
                      <a:r>
                        <a:rPr lang="en-US" sz="1200" b="1" dirty="0"/>
                        <a:t>Q14: Would you find use in a Loading Mechanism solution to enable de-lidded packages?</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extLst>
                  <a:ext uri="{0D108BD9-81ED-4DB2-BD59-A6C34878D82A}">
                    <a16:rowId xmlns:a16="http://schemas.microsoft.com/office/drawing/2014/main" val="2168337005"/>
                  </a:ext>
                </a:extLst>
              </a:tr>
              <a:tr h="374245">
                <a:tc>
                  <a:txBody>
                    <a:bodyPr/>
                    <a:lstStyle/>
                    <a:p>
                      <a:pPr algn="ctr"/>
                      <a:r>
                        <a:rPr lang="en-US" sz="1200" dirty="0"/>
                        <a:t>No</a:t>
                      </a:r>
                    </a:p>
                  </a:txBody>
                  <a:tcPr anchor="ctr"/>
                </a:tc>
                <a:tc>
                  <a:txBody>
                    <a:bodyPr/>
                    <a:lstStyle/>
                    <a:p>
                      <a:pPr algn="ctr"/>
                      <a:r>
                        <a:rPr lang="en-US" sz="1200" dirty="0"/>
                        <a:t>Yes</a:t>
                      </a:r>
                    </a:p>
                  </a:txBody>
                  <a:tcPr anchor="ctr"/>
                </a:tc>
                <a:tc>
                  <a:txBody>
                    <a:bodyPr/>
                    <a:lstStyle/>
                    <a:p>
                      <a:pPr algn="ctr"/>
                      <a:r>
                        <a:rPr lang="en-US" sz="1200" dirty="0"/>
                        <a:t>Yes</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No</a:t>
                      </a:r>
                    </a:p>
                  </a:txBody>
                  <a:tcPr anchor="ctr"/>
                </a:tc>
                <a:extLst>
                  <a:ext uri="{0D108BD9-81ED-4DB2-BD59-A6C34878D82A}">
                    <a16:rowId xmlns:a16="http://schemas.microsoft.com/office/drawing/2014/main" val="1680805303"/>
                  </a:ext>
                </a:extLst>
              </a:tr>
            </a:tbl>
          </a:graphicData>
        </a:graphic>
      </p:graphicFrame>
    </p:spTree>
    <p:extLst>
      <p:ext uri="{BB962C8B-B14F-4D97-AF65-F5344CB8AC3E}">
        <p14:creationId xmlns:p14="http://schemas.microsoft.com/office/powerpoint/2010/main" val="3991126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7450B-6231-3C66-BD46-0F9777B89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20E902-72C4-2FC9-C550-026DA867125C}"/>
              </a:ext>
            </a:extLst>
          </p:cNvPr>
          <p:cNvSpPr>
            <a:spLocks noGrp="1"/>
          </p:cNvSpPr>
          <p:nvPr>
            <p:ph type="title"/>
          </p:nvPr>
        </p:nvSpPr>
        <p:spPr>
          <a:xfrm>
            <a:off x="571370" y="87664"/>
            <a:ext cx="11010816" cy="952499"/>
          </a:xfrm>
        </p:spPr>
        <p:txBody>
          <a:bodyPr/>
          <a:lstStyle/>
          <a:p>
            <a:r>
              <a:rPr lang="en-US" sz="3200" dirty="0"/>
              <a:t>Customer Survey Results – ILM Requirements</a:t>
            </a:r>
          </a:p>
        </p:txBody>
      </p:sp>
      <p:graphicFrame>
        <p:nvGraphicFramePr>
          <p:cNvPr id="6" name="Table 5">
            <a:extLst>
              <a:ext uri="{FF2B5EF4-FFF2-40B4-BE49-F238E27FC236}">
                <a16:creationId xmlns:a16="http://schemas.microsoft.com/office/drawing/2014/main" id="{87AAE27B-D638-FB90-53D2-58C3210FDEF5}"/>
              </a:ext>
            </a:extLst>
          </p:cNvPr>
          <p:cNvGraphicFramePr>
            <a:graphicFrameLocks noGrp="1"/>
          </p:cNvGraphicFramePr>
          <p:nvPr>
            <p:extLst>
              <p:ext uri="{D42A27DB-BD31-4B8C-83A1-F6EECF244321}">
                <p14:modId xmlns:p14="http://schemas.microsoft.com/office/powerpoint/2010/main" val="1515953138"/>
              </p:ext>
            </p:extLst>
          </p:nvPr>
        </p:nvGraphicFramePr>
        <p:xfrm>
          <a:off x="168675" y="693035"/>
          <a:ext cx="11451955" cy="3955218"/>
        </p:xfrm>
        <a:graphic>
          <a:graphicData uri="http://schemas.openxmlformats.org/drawingml/2006/table">
            <a:tbl>
              <a:tblPr firstRow="1" bandRow="1">
                <a:tableStyleId>{5C22544A-7EE6-4342-B048-85BDC9FD1C3A}</a:tableStyleId>
              </a:tblPr>
              <a:tblGrid>
                <a:gridCol w="2290391">
                  <a:extLst>
                    <a:ext uri="{9D8B030D-6E8A-4147-A177-3AD203B41FA5}">
                      <a16:colId xmlns:a16="http://schemas.microsoft.com/office/drawing/2014/main" val="3422954971"/>
                    </a:ext>
                  </a:extLst>
                </a:gridCol>
                <a:gridCol w="2290391">
                  <a:extLst>
                    <a:ext uri="{9D8B030D-6E8A-4147-A177-3AD203B41FA5}">
                      <a16:colId xmlns:a16="http://schemas.microsoft.com/office/drawing/2014/main" val="1739319744"/>
                    </a:ext>
                  </a:extLst>
                </a:gridCol>
                <a:gridCol w="2290391">
                  <a:extLst>
                    <a:ext uri="{9D8B030D-6E8A-4147-A177-3AD203B41FA5}">
                      <a16:colId xmlns:a16="http://schemas.microsoft.com/office/drawing/2014/main" val="1756552807"/>
                    </a:ext>
                  </a:extLst>
                </a:gridCol>
                <a:gridCol w="2290391">
                  <a:extLst>
                    <a:ext uri="{9D8B030D-6E8A-4147-A177-3AD203B41FA5}">
                      <a16:colId xmlns:a16="http://schemas.microsoft.com/office/drawing/2014/main" val="3027617895"/>
                    </a:ext>
                  </a:extLst>
                </a:gridCol>
                <a:gridCol w="2290391">
                  <a:extLst>
                    <a:ext uri="{9D8B030D-6E8A-4147-A177-3AD203B41FA5}">
                      <a16:colId xmlns:a16="http://schemas.microsoft.com/office/drawing/2014/main" val="2037702015"/>
                    </a:ext>
                  </a:extLst>
                </a:gridCol>
              </a:tblGrid>
              <a:tr h="324960">
                <a:tc>
                  <a:txBody>
                    <a:bodyPr/>
                    <a:lstStyle/>
                    <a:p>
                      <a:pPr algn="ctr"/>
                      <a:r>
                        <a:rPr lang="en-US" sz="1800" b="1" dirty="0"/>
                        <a:t>Asus</a:t>
                      </a:r>
                    </a:p>
                  </a:txBody>
                  <a:tcPr anchor="ctr"/>
                </a:tc>
                <a:tc>
                  <a:txBody>
                    <a:bodyPr/>
                    <a:lstStyle/>
                    <a:p>
                      <a:pPr algn="ctr"/>
                      <a:r>
                        <a:rPr lang="en-US" sz="1800" b="1" dirty="0"/>
                        <a:t>Dell</a:t>
                      </a:r>
                    </a:p>
                    <a:p>
                      <a:pPr algn="ctr"/>
                      <a:r>
                        <a:rPr lang="en-US" sz="1800" b="1" dirty="0"/>
                        <a:t>(Thermal Eng.)</a:t>
                      </a:r>
                    </a:p>
                  </a:txBody>
                  <a:tcPr anchor="ctr"/>
                </a:tc>
                <a:tc>
                  <a:txBody>
                    <a:bodyPr/>
                    <a:lstStyle/>
                    <a:p>
                      <a:pPr algn="ctr"/>
                      <a:r>
                        <a:rPr lang="en-US" sz="1800" b="1" dirty="0"/>
                        <a:t>Dell </a:t>
                      </a:r>
                    </a:p>
                    <a:p>
                      <a:pPr algn="ctr"/>
                      <a:r>
                        <a:rPr lang="en-US" sz="1800" b="1" dirty="0"/>
                        <a:t>(Services Eng.)</a:t>
                      </a:r>
                    </a:p>
                  </a:txBody>
                  <a:tcPr anchor="ctr"/>
                </a:tc>
                <a:tc>
                  <a:txBody>
                    <a:bodyPr/>
                    <a:lstStyle/>
                    <a:p>
                      <a:pPr algn="ctr"/>
                      <a:r>
                        <a:rPr lang="en-US" sz="1800" b="1" dirty="0"/>
                        <a:t>HP</a:t>
                      </a:r>
                    </a:p>
                  </a:txBody>
                  <a:tcPr anchor="ctr"/>
                </a:tc>
                <a:tc>
                  <a:txBody>
                    <a:bodyPr/>
                    <a:lstStyle/>
                    <a:p>
                      <a:pPr algn="ctr"/>
                      <a:r>
                        <a:rPr lang="en-US" sz="1800" b="1" dirty="0"/>
                        <a:t>Lenovo</a:t>
                      </a:r>
                    </a:p>
                  </a:txBody>
                  <a:tcPr anchor="ctr"/>
                </a:tc>
                <a:extLst>
                  <a:ext uri="{0D108BD9-81ED-4DB2-BD59-A6C34878D82A}">
                    <a16:rowId xmlns:a16="http://schemas.microsoft.com/office/drawing/2014/main" val="1931140537"/>
                  </a:ext>
                </a:extLst>
              </a:tr>
              <a:tr h="568679">
                <a:tc gridSpan="5">
                  <a:txBody>
                    <a:bodyPr/>
                    <a:lstStyle/>
                    <a:p>
                      <a:pPr algn="ctr"/>
                      <a:r>
                        <a:rPr lang="en-US" sz="1200" b="1" dirty="0"/>
                        <a:t>Q15: Is Lever actuated ILM (tool-less) necessary for your high-performance applications and designs? </a:t>
                      </a:r>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a:p>
                  </a:txBody>
                  <a:tcPr anchor="ctr"/>
                </a:tc>
                <a:extLst>
                  <a:ext uri="{0D108BD9-81ED-4DB2-BD59-A6C34878D82A}">
                    <a16:rowId xmlns:a16="http://schemas.microsoft.com/office/drawing/2014/main" val="1762083462"/>
                  </a:ext>
                </a:extLst>
              </a:tr>
              <a:tr h="311620">
                <a:tc>
                  <a:txBody>
                    <a:bodyPr/>
                    <a:lstStyle/>
                    <a:p>
                      <a:pPr algn="ctr"/>
                      <a:r>
                        <a:rPr lang="en-US" sz="1200" dirty="0"/>
                        <a:t>Yes</a:t>
                      </a:r>
                    </a:p>
                  </a:txBody>
                  <a:tcPr anchor="ctr"/>
                </a:tc>
                <a:tc>
                  <a:txBody>
                    <a:bodyPr/>
                    <a:lstStyle/>
                    <a:p>
                      <a:pPr algn="ctr"/>
                      <a:r>
                        <a:rPr lang="en-US" sz="1200" dirty="0"/>
                        <a:t>Yes</a:t>
                      </a:r>
                    </a:p>
                  </a:txBody>
                  <a:tcPr anchor="ctr"/>
                </a:tc>
                <a:tc>
                  <a:txBody>
                    <a:bodyPr/>
                    <a:lstStyle/>
                    <a:p>
                      <a:pPr algn="ctr"/>
                      <a:r>
                        <a:rPr lang="en-US" sz="1200" dirty="0"/>
                        <a:t>sometimes - depends on system</a:t>
                      </a:r>
                    </a:p>
                  </a:txBody>
                  <a:tcPr anchor="ctr"/>
                </a:tc>
                <a:tc>
                  <a:txBody>
                    <a:bodyPr/>
                    <a:lstStyle/>
                    <a:p>
                      <a:pPr algn="ctr"/>
                      <a:r>
                        <a:rPr lang="en-US" sz="1200" dirty="0"/>
                        <a:t>No response</a:t>
                      </a:r>
                    </a:p>
                  </a:txBody>
                  <a:tcPr anchor="ctr"/>
                </a:tc>
                <a:tc>
                  <a:txBody>
                    <a:bodyPr/>
                    <a:lstStyle/>
                    <a:p>
                      <a:pPr algn="ctr"/>
                      <a:r>
                        <a:rPr lang="en-US" sz="1200" dirty="0"/>
                        <a:t>Yes</a:t>
                      </a:r>
                    </a:p>
                  </a:txBody>
                  <a:tcPr anchor="ctr"/>
                </a:tc>
                <a:extLst>
                  <a:ext uri="{0D108BD9-81ED-4DB2-BD59-A6C34878D82A}">
                    <a16:rowId xmlns:a16="http://schemas.microsoft.com/office/drawing/2014/main" val="982522789"/>
                  </a:ext>
                </a:extLst>
              </a:tr>
              <a:tr h="731159">
                <a:tc gridSpan="5">
                  <a:txBody>
                    <a:bodyPr/>
                    <a:lstStyle/>
                    <a:p>
                      <a:pPr algn="ctr"/>
                      <a:r>
                        <a:rPr lang="en-US" sz="1200" b="1" dirty="0"/>
                        <a:t>Q16: Is an ILM solution requiring a tool for package installation be acceptable?</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a:p>
                  </a:txBody>
                  <a:tcPr anchor="ctr"/>
                </a:tc>
                <a:extLst>
                  <a:ext uri="{0D108BD9-81ED-4DB2-BD59-A6C34878D82A}">
                    <a16:rowId xmlns:a16="http://schemas.microsoft.com/office/drawing/2014/main" val="283596028"/>
                  </a:ext>
                </a:extLst>
              </a:tr>
              <a:tr h="311620">
                <a:tc>
                  <a:txBody>
                    <a:bodyPr/>
                    <a:lstStyle/>
                    <a:p>
                      <a:pPr algn="ctr"/>
                      <a:r>
                        <a:rPr lang="en-US" sz="1200" dirty="0"/>
                        <a:t>Yes</a:t>
                      </a:r>
                    </a:p>
                  </a:txBody>
                  <a:tcPr anchor="ctr"/>
                </a:tc>
                <a:tc>
                  <a:txBody>
                    <a:bodyPr/>
                    <a:lstStyle/>
                    <a:p>
                      <a:pPr algn="ctr"/>
                      <a:r>
                        <a:rPr lang="en-US" sz="1200" dirty="0"/>
                        <a:t>No</a:t>
                      </a:r>
                    </a:p>
                  </a:txBody>
                  <a:tcPr anchor="ctr"/>
                </a:tc>
                <a:tc>
                  <a:txBody>
                    <a:bodyPr/>
                    <a:lstStyle/>
                    <a:p>
                      <a:pPr algn="ctr"/>
                      <a:r>
                        <a:rPr lang="en-US" sz="1200" dirty="0"/>
                        <a:t>No</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No</a:t>
                      </a:r>
                    </a:p>
                  </a:txBody>
                  <a:tcPr anchor="ctr"/>
                </a:tc>
                <a:extLst>
                  <a:ext uri="{0D108BD9-81ED-4DB2-BD59-A6C34878D82A}">
                    <a16:rowId xmlns:a16="http://schemas.microsoft.com/office/drawing/2014/main" val="1997562691"/>
                  </a:ext>
                </a:extLst>
              </a:tr>
              <a:tr h="311620">
                <a:tc gridSpan="5">
                  <a:txBody>
                    <a:bodyPr/>
                    <a:lstStyle/>
                    <a:p>
                      <a:pPr algn="ctr"/>
                      <a:r>
                        <a:rPr lang="en-US" sz="1200" b="1" dirty="0"/>
                        <a:t>Q17: Is your organization currently modifying/customizing the ILM certified by Intel in any way to address system needs?</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extLst>
                  <a:ext uri="{0D108BD9-81ED-4DB2-BD59-A6C34878D82A}">
                    <a16:rowId xmlns:a16="http://schemas.microsoft.com/office/drawing/2014/main" val="824335499"/>
                  </a:ext>
                </a:extLst>
              </a:tr>
              <a:tr h="311620">
                <a:tc>
                  <a:txBody>
                    <a:bodyPr/>
                    <a:lstStyle/>
                    <a:p>
                      <a:pPr algn="ctr"/>
                      <a:r>
                        <a:rPr lang="en-US" sz="1200" dirty="0"/>
                        <a:t>No</a:t>
                      </a:r>
                    </a:p>
                  </a:txBody>
                  <a:tcPr anchor="ctr"/>
                </a:tc>
                <a:tc>
                  <a:txBody>
                    <a:bodyPr/>
                    <a:lstStyle/>
                    <a:p>
                      <a:pPr algn="ctr"/>
                      <a:r>
                        <a:rPr lang="en-US" sz="1200" dirty="0"/>
                        <a:t>No</a:t>
                      </a:r>
                    </a:p>
                  </a:txBody>
                  <a:tcPr anchor="ctr"/>
                </a:tc>
                <a:tc>
                  <a:txBody>
                    <a:bodyPr/>
                    <a:lstStyle/>
                    <a:p>
                      <a:pPr algn="ctr"/>
                      <a:r>
                        <a:rPr lang="en-US" sz="1200" dirty="0"/>
                        <a:t>No</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Yes</a:t>
                      </a:r>
                    </a:p>
                  </a:txBody>
                  <a:tcPr anchor="ctr"/>
                </a:tc>
                <a:extLst>
                  <a:ext uri="{0D108BD9-81ED-4DB2-BD59-A6C34878D82A}">
                    <a16:rowId xmlns:a16="http://schemas.microsoft.com/office/drawing/2014/main" val="3632333155"/>
                  </a:ext>
                </a:extLst>
              </a:tr>
              <a:tr h="311620">
                <a:tc gridSpan="5">
                  <a:txBody>
                    <a:bodyPr/>
                    <a:lstStyle/>
                    <a:p>
                      <a:pPr algn="ctr"/>
                      <a:r>
                        <a:rPr lang="en-US" sz="1200" b="1" dirty="0"/>
                        <a:t>Q18: If yes to the above question, please share how you're modifying/ customizing Intel's certified ILM design.</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extLst>
                  <a:ext uri="{0D108BD9-81ED-4DB2-BD59-A6C34878D82A}">
                    <a16:rowId xmlns:a16="http://schemas.microsoft.com/office/drawing/2014/main" val="2168337005"/>
                  </a:ext>
                </a:extLst>
              </a:tr>
              <a:tr h="311620">
                <a:tc>
                  <a:txBody>
                    <a:bodyPr/>
                    <a:lstStyle/>
                    <a:p>
                      <a:pPr algn="ctr"/>
                      <a:r>
                        <a:rPr lang="en-US" sz="1200" dirty="0"/>
                        <a:t>N/A</a:t>
                      </a:r>
                    </a:p>
                  </a:txBody>
                  <a:tcPr anchor="ctr"/>
                </a:tc>
                <a:tc>
                  <a:txBody>
                    <a:bodyPr/>
                    <a:lstStyle/>
                    <a:p>
                      <a:pPr algn="ctr"/>
                      <a:r>
                        <a:rPr lang="en-US" sz="1200" dirty="0"/>
                        <a:t>N/A</a:t>
                      </a:r>
                    </a:p>
                  </a:txBody>
                  <a:tcPr anchor="ctr"/>
                </a:tc>
                <a:tc>
                  <a:txBody>
                    <a:bodyPr/>
                    <a:lstStyle/>
                    <a:p>
                      <a:pPr algn="ctr"/>
                      <a:r>
                        <a:rPr lang="en-US" sz="1200" dirty="0"/>
                        <a:t>N/A</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No response</a:t>
                      </a:r>
                    </a:p>
                  </a:txBody>
                  <a:tcPr anchor="ctr"/>
                </a:tc>
                <a:extLst>
                  <a:ext uri="{0D108BD9-81ED-4DB2-BD59-A6C34878D82A}">
                    <a16:rowId xmlns:a16="http://schemas.microsoft.com/office/drawing/2014/main" val="1680805303"/>
                  </a:ext>
                </a:extLst>
              </a:tr>
            </a:tbl>
          </a:graphicData>
        </a:graphic>
      </p:graphicFrame>
    </p:spTree>
    <p:extLst>
      <p:ext uri="{BB962C8B-B14F-4D97-AF65-F5344CB8AC3E}">
        <p14:creationId xmlns:p14="http://schemas.microsoft.com/office/powerpoint/2010/main" val="128209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B5B2B-20F9-4691-2D3D-41F3E069EA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314733-9CC7-B1F7-07EF-229671B51F58}"/>
              </a:ext>
            </a:extLst>
          </p:cNvPr>
          <p:cNvSpPr>
            <a:spLocks noGrp="1"/>
          </p:cNvSpPr>
          <p:nvPr>
            <p:ph type="title"/>
          </p:nvPr>
        </p:nvSpPr>
        <p:spPr>
          <a:xfrm>
            <a:off x="571370" y="87664"/>
            <a:ext cx="11010816" cy="952499"/>
          </a:xfrm>
        </p:spPr>
        <p:txBody>
          <a:bodyPr/>
          <a:lstStyle/>
          <a:p>
            <a:r>
              <a:rPr lang="en-US" sz="3200" dirty="0"/>
              <a:t>Customer Survey Results – Open Feedback</a:t>
            </a:r>
          </a:p>
        </p:txBody>
      </p:sp>
      <p:graphicFrame>
        <p:nvGraphicFramePr>
          <p:cNvPr id="6" name="Table 5">
            <a:extLst>
              <a:ext uri="{FF2B5EF4-FFF2-40B4-BE49-F238E27FC236}">
                <a16:creationId xmlns:a16="http://schemas.microsoft.com/office/drawing/2014/main" id="{04567D7A-B89F-FB03-F8F4-038273A2C71D}"/>
              </a:ext>
            </a:extLst>
          </p:cNvPr>
          <p:cNvGraphicFramePr>
            <a:graphicFrameLocks noGrp="1"/>
          </p:cNvGraphicFramePr>
          <p:nvPr>
            <p:extLst>
              <p:ext uri="{D42A27DB-BD31-4B8C-83A1-F6EECF244321}">
                <p14:modId xmlns:p14="http://schemas.microsoft.com/office/powerpoint/2010/main" val="3688623816"/>
              </p:ext>
            </p:extLst>
          </p:nvPr>
        </p:nvGraphicFramePr>
        <p:xfrm>
          <a:off x="168675" y="693035"/>
          <a:ext cx="11451955" cy="5667603"/>
        </p:xfrm>
        <a:graphic>
          <a:graphicData uri="http://schemas.openxmlformats.org/drawingml/2006/table">
            <a:tbl>
              <a:tblPr firstRow="1" bandRow="1">
                <a:tableStyleId>{5C22544A-7EE6-4342-B048-85BDC9FD1C3A}</a:tableStyleId>
              </a:tblPr>
              <a:tblGrid>
                <a:gridCol w="2290391">
                  <a:extLst>
                    <a:ext uri="{9D8B030D-6E8A-4147-A177-3AD203B41FA5}">
                      <a16:colId xmlns:a16="http://schemas.microsoft.com/office/drawing/2014/main" val="3422954971"/>
                    </a:ext>
                  </a:extLst>
                </a:gridCol>
                <a:gridCol w="2290391">
                  <a:extLst>
                    <a:ext uri="{9D8B030D-6E8A-4147-A177-3AD203B41FA5}">
                      <a16:colId xmlns:a16="http://schemas.microsoft.com/office/drawing/2014/main" val="1739319744"/>
                    </a:ext>
                  </a:extLst>
                </a:gridCol>
                <a:gridCol w="2290391">
                  <a:extLst>
                    <a:ext uri="{9D8B030D-6E8A-4147-A177-3AD203B41FA5}">
                      <a16:colId xmlns:a16="http://schemas.microsoft.com/office/drawing/2014/main" val="1756552807"/>
                    </a:ext>
                  </a:extLst>
                </a:gridCol>
                <a:gridCol w="2290391">
                  <a:extLst>
                    <a:ext uri="{9D8B030D-6E8A-4147-A177-3AD203B41FA5}">
                      <a16:colId xmlns:a16="http://schemas.microsoft.com/office/drawing/2014/main" val="3027617895"/>
                    </a:ext>
                  </a:extLst>
                </a:gridCol>
                <a:gridCol w="2290391">
                  <a:extLst>
                    <a:ext uri="{9D8B030D-6E8A-4147-A177-3AD203B41FA5}">
                      <a16:colId xmlns:a16="http://schemas.microsoft.com/office/drawing/2014/main" val="2037702015"/>
                    </a:ext>
                  </a:extLst>
                </a:gridCol>
              </a:tblGrid>
              <a:tr h="640080">
                <a:tc>
                  <a:txBody>
                    <a:bodyPr/>
                    <a:lstStyle/>
                    <a:p>
                      <a:pPr algn="ctr"/>
                      <a:r>
                        <a:rPr lang="en-US" sz="1800" b="1" dirty="0"/>
                        <a:t>Asus</a:t>
                      </a:r>
                    </a:p>
                  </a:txBody>
                  <a:tcPr anchor="ctr"/>
                </a:tc>
                <a:tc>
                  <a:txBody>
                    <a:bodyPr/>
                    <a:lstStyle/>
                    <a:p>
                      <a:pPr algn="ctr"/>
                      <a:r>
                        <a:rPr lang="en-US" sz="1800" b="1" dirty="0"/>
                        <a:t>Dell</a:t>
                      </a:r>
                    </a:p>
                    <a:p>
                      <a:pPr algn="ctr"/>
                      <a:r>
                        <a:rPr lang="en-US" sz="1800" b="1" dirty="0"/>
                        <a:t>(Thermal Eng.)</a:t>
                      </a:r>
                    </a:p>
                  </a:txBody>
                  <a:tcPr anchor="ctr"/>
                </a:tc>
                <a:tc>
                  <a:txBody>
                    <a:bodyPr/>
                    <a:lstStyle/>
                    <a:p>
                      <a:pPr algn="ctr"/>
                      <a:r>
                        <a:rPr lang="en-US" sz="1800" b="1" dirty="0"/>
                        <a:t>Dell </a:t>
                      </a:r>
                    </a:p>
                    <a:p>
                      <a:pPr algn="ctr"/>
                      <a:r>
                        <a:rPr lang="en-US" sz="1800" b="1" dirty="0"/>
                        <a:t>(Services Eng.)</a:t>
                      </a:r>
                    </a:p>
                  </a:txBody>
                  <a:tcPr anchor="ctr"/>
                </a:tc>
                <a:tc>
                  <a:txBody>
                    <a:bodyPr/>
                    <a:lstStyle/>
                    <a:p>
                      <a:pPr algn="ctr"/>
                      <a:r>
                        <a:rPr lang="en-US" sz="1800" b="1" dirty="0"/>
                        <a:t>HP</a:t>
                      </a:r>
                    </a:p>
                  </a:txBody>
                  <a:tcPr anchor="ctr"/>
                </a:tc>
                <a:tc>
                  <a:txBody>
                    <a:bodyPr/>
                    <a:lstStyle/>
                    <a:p>
                      <a:pPr algn="ctr"/>
                      <a:r>
                        <a:rPr lang="en-US" sz="1800" b="1" dirty="0"/>
                        <a:t>Lenovo</a:t>
                      </a:r>
                    </a:p>
                  </a:txBody>
                  <a:tcPr anchor="ctr"/>
                </a:tc>
                <a:extLst>
                  <a:ext uri="{0D108BD9-81ED-4DB2-BD59-A6C34878D82A}">
                    <a16:rowId xmlns:a16="http://schemas.microsoft.com/office/drawing/2014/main" val="1931140537"/>
                  </a:ext>
                </a:extLst>
              </a:tr>
              <a:tr h="286712">
                <a:tc gridSpan="5">
                  <a:txBody>
                    <a:bodyPr/>
                    <a:lstStyle/>
                    <a:p>
                      <a:pPr algn="ctr"/>
                      <a:r>
                        <a:rPr lang="en-US" sz="1200" b="1" dirty="0"/>
                        <a:t>Q19: Please provide general feedback on the design of the Intel ILM</a:t>
                      </a:r>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a:p>
                  </a:txBody>
                  <a:tcPr anchor="ctr"/>
                </a:tc>
                <a:extLst>
                  <a:ext uri="{0D108BD9-81ED-4DB2-BD59-A6C34878D82A}">
                    <a16:rowId xmlns:a16="http://schemas.microsoft.com/office/drawing/2014/main" val="1762083462"/>
                  </a:ext>
                </a:extLst>
              </a:tr>
              <a:tr h="2566281">
                <a:tc>
                  <a:txBody>
                    <a:bodyPr/>
                    <a:lstStyle/>
                    <a:p>
                      <a:pPr algn="ctr"/>
                      <a:r>
                        <a:rPr lang="en-US" sz="1200" dirty="0"/>
                        <a:t>Please provide strain gauge and PCB deformation specification.</a:t>
                      </a:r>
                    </a:p>
                  </a:txBody>
                  <a:tcPr anchor="ctr"/>
                </a:tc>
                <a:tc>
                  <a:txBody>
                    <a:bodyPr/>
                    <a:lstStyle/>
                    <a:p>
                      <a:pPr algn="ctr"/>
                      <a:r>
                        <a:rPr lang="en-US" sz="1200" dirty="0"/>
                        <a:t>Need to address the deformation after stress applied</a:t>
                      </a:r>
                    </a:p>
                    <a:p>
                      <a:pPr algn="ctr"/>
                      <a:endParaRPr lang="en-US" sz="1200" dirty="0"/>
                    </a:p>
                    <a:p>
                      <a:pPr algn="ctr"/>
                      <a:r>
                        <a:rPr lang="en-US" sz="1200" dirty="0"/>
                        <a:t>Since ADL (or LGA1700), the IHS deformation is obviously after the ILM applies force on it. We measured the flatness and it becomes 0.15~0.3mm. It makes me no choice to increase the TIM thickness and scarify the performance to cover the tolerances.</a:t>
                      </a:r>
                    </a:p>
                  </a:txBody>
                  <a:tcPr anchor="ctr"/>
                </a:tc>
                <a:tc>
                  <a:txBody>
                    <a:bodyPr/>
                    <a:lstStyle/>
                    <a:p>
                      <a:pPr algn="ctr"/>
                      <a:r>
                        <a:rPr lang="en-US" sz="1200" dirty="0"/>
                        <a:t>design is adequate</a:t>
                      </a:r>
                    </a:p>
                  </a:txBody>
                  <a:tcPr anchor="ctr"/>
                </a:tc>
                <a:tc>
                  <a:txBody>
                    <a:bodyPr/>
                    <a:lstStyle/>
                    <a:p>
                      <a:pPr algn="ctr"/>
                      <a:r>
                        <a:rPr lang="en-US" sz="1200" dirty="0"/>
                        <a:t>No response</a:t>
                      </a:r>
                    </a:p>
                  </a:txBody>
                  <a:tcPr anchor="ctr"/>
                </a:tc>
                <a:tc>
                  <a:txBody>
                    <a:bodyPr/>
                    <a:lstStyle/>
                    <a:p>
                      <a:pPr algn="ctr"/>
                      <a:r>
                        <a:rPr lang="en-US" sz="1200" dirty="0"/>
                        <a:t>Better tolerance control to avoid interference between Part A/B/C/D (We found that the tolerance definitions for A/B/C/D in the illustration were incomplete on other platforms, which led to interference and breakage issues. We hope to define appropriate tolerances to avoid interference.)</a:t>
                      </a:r>
                    </a:p>
                  </a:txBody>
                  <a:tcPr anchor="ctr"/>
                </a:tc>
                <a:extLst>
                  <a:ext uri="{0D108BD9-81ED-4DB2-BD59-A6C34878D82A}">
                    <a16:rowId xmlns:a16="http://schemas.microsoft.com/office/drawing/2014/main" val="982522789"/>
                  </a:ext>
                </a:extLst>
              </a:tr>
              <a:tr h="368629">
                <a:tc gridSpan="5">
                  <a:txBody>
                    <a:bodyPr/>
                    <a:lstStyle/>
                    <a:p>
                      <a:pPr algn="ctr"/>
                      <a:r>
                        <a:rPr lang="en-US" sz="1200" b="1" dirty="0"/>
                        <a:t>Q20: Please provide general feedback on HVM (High Volume Manufacturing) assembly of the Intel ILM</a:t>
                      </a:r>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dirty="0"/>
                    </a:p>
                  </a:txBody>
                  <a:tcPr anchor="ctr"/>
                </a:tc>
                <a:tc hMerge="1">
                  <a:txBody>
                    <a:bodyPr/>
                    <a:lstStyle/>
                    <a:p>
                      <a:pPr algn="ctr"/>
                      <a:endParaRPr lang="en-US" sz="1200"/>
                    </a:p>
                  </a:txBody>
                  <a:tcPr anchor="ctr"/>
                </a:tc>
                <a:extLst>
                  <a:ext uri="{0D108BD9-81ED-4DB2-BD59-A6C34878D82A}">
                    <a16:rowId xmlns:a16="http://schemas.microsoft.com/office/drawing/2014/main" val="283596028"/>
                  </a:ext>
                </a:extLst>
              </a:tr>
              <a:tr h="1805901">
                <a:tc>
                  <a:txBody>
                    <a:bodyPr/>
                    <a:lstStyle/>
                    <a:p>
                      <a:pPr algn="ctr"/>
                      <a:r>
                        <a:rPr lang="en-US" sz="1200" dirty="0"/>
                        <a:t>N/A</a:t>
                      </a:r>
                    </a:p>
                  </a:txBody>
                  <a:tcPr anchor="ctr"/>
                </a:tc>
                <a:tc>
                  <a:txBody>
                    <a:bodyPr/>
                    <a:lstStyle/>
                    <a:p>
                      <a:pPr algn="ctr"/>
                      <a:r>
                        <a:rPr lang="en-US" sz="1200" dirty="0"/>
                        <a:t>No</a:t>
                      </a:r>
                    </a:p>
                  </a:txBody>
                  <a:tcPr anchor="ctr"/>
                </a:tc>
                <a:tc>
                  <a:txBody>
                    <a:bodyPr/>
                    <a:lstStyle/>
                    <a:p>
                      <a:pPr algn="ctr"/>
                      <a:r>
                        <a:rPr lang="en-US" sz="1200" dirty="0"/>
                        <a:t>servicing current solution is established and has no issues</a:t>
                      </a:r>
                    </a:p>
                  </a:txBody>
                  <a:tcPr anchor="ct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200" dirty="0"/>
                        <a:t>No response</a:t>
                      </a:r>
                    </a:p>
                  </a:txBody>
                  <a:tcPr anchor="ctr"/>
                </a:tc>
                <a:tc>
                  <a:txBody>
                    <a:bodyPr/>
                    <a:lstStyle/>
                    <a:p>
                      <a:pPr algn="ctr"/>
                      <a:r>
                        <a:rPr lang="en-US" sz="1200" dirty="0"/>
                        <a:t>Need to qualify Socket vendor A w/ backplane &amp; ILM B for mass production.(The socket and the ILM/backplane are used at different stations. We hope that the socket from vendor A can be compatible with the ILM/backplane from vendor B.)</a:t>
                      </a:r>
                    </a:p>
                  </a:txBody>
                  <a:tcPr anchor="ctr"/>
                </a:tc>
                <a:extLst>
                  <a:ext uri="{0D108BD9-81ED-4DB2-BD59-A6C34878D82A}">
                    <a16:rowId xmlns:a16="http://schemas.microsoft.com/office/drawing/2014/main" val="1997562691"/>
                  </a:ext>
                </a:extLst>
              </a:tr>
            </a:tbl>
          </a:graphicData>
        </a:graphic>
      </p:graphicFrame>
    </p:spTree>
    <p:extLst>
      <p:ext uri="{BB962C8B-B14F-4D97-AF65-F5344CB8AC3E}">
        <p14:creationId xmlns:p14="http://schemas.microsoft.com/office/powerpoint/2010/main" val="2778448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936CB-FE57-E892-315F-BF777DE7ED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57A69C-DC31-E4AC-DA3B-A9A3DE9BB7FD}"/>
              </a:ext>
            </a:extLst>
          </p:cNvPr>
          <p:cNvSpPr>
            <a:spLocks noGrp="1"/>
          </p:cNvSpPr>
          <p:nvPr>
            <p:ph type="title"/>
          </p:nvPr>
        </p:nvSpPr>
        <p:spPr>
          <a:xfrm>
            <a:off x="571370" y="87664"/>
            <a:ext cx="11010816" cy="952499"/>
          </a:xfrm>
        </p:spPr>
        <p:txBody>
          <a:bodyPr/>
          <a:lstStyle/>
          <a:p>
            <a:r>
              <a:rPr lang="en-US" sz="3200" dirty="0"/>
              <a:t>Customer Survey Results – Open Feedback</a:t>
            </a:r>
          </a:p>
        </p:txBody>
      </p:sp>
      <p:graphicFrame>
        <p:nvGraphicFramePr>
          <p:cNvPr id="6" name="Table 5">
            <a:extLst>
              <a:ext uri="{FF2B5EF4-FFF2-40B4-BE49-F238E27FC236}">
                <a16:creationId xmlns:a16="http://schemas.microsoft.com/office/drawing/2014/main" id="{6DD75516-EFA7-F5E0-6BF1-C1F9512BA498}"/>
              </a:ext>
            </a:extLst>
          </p:cNvPr>
          <p:cNvGraphicFramePr>
            <a:graphicFrameLocks noGrp="1"/>
          </p:cNvGraphicFramePr>
          <p:nvPr>
            <p:extLst>
              <p:ext uri="{D42A27DB-BD31-4B8C-83A1-F6EECF244321}">
                <p14:modId xmlns:p14="http://schemas.microsoft.com/office/powerpoint/2010/main" val="2491808522"/>
              </p:ext>
            </p:extLst>
          </p:nvPr>
        </p:nvGraphicFramePr>
        <p:xfrm>
          <a:off x="168675" y="638507"/>
          <a:ext cx="4407519" cy="1371600"/>
        </p:xfrm>
        <a:graphic>
          <a:graphicData uri="http://schemas.openxmlformats.org/drawingml/2006/table">
            <a:tbl>
              <a:tblPr firstRow="1" bandRow="1">
                <a:tableStyleId>{5C22544A-7EE6-4342-B048-85BDC9FD1C3A}</a:tableStyleId>
              </a:tblPr>
              <a:tblGrid>
                <a:gridCol w="4407519">
                  <a:extLst>
                    <a:ext uri="{9D8B030D-6E8A-4147-A177-3AD203B41FA5}">
                      <a16:colId xmlns:a16="http://schemas.microsoft.com/office/drawing/2014/main" val="2037702015"/>
                    </a:ext>
                  </a:extLst>
                </a:gridCol>
              </a:tblGrid>
              <a:tr h="324960">
                <a:tc>
                  <a:txBody>
                    <a:bodyPr/>
                    <a:lstStyle/>
                    <a:p>
                      <a:pPr algn="ctr"/>
                      <a:r>
                        <a:rPr lang="en-US" sz="1800" b="1" dirty="0"/>
                        <a:t>Lenovo</a:t>
                      </a:r>
                    </a:p>
                  </a:txBody>
                  <a:tcPr anchor="ctr"/>
                </a:tc>
                <a:extLst>
                  <a:ext uri="{0D108BD9-81ED-4DB2-BD59-A6C34878D82A}">
                    <a16:rowId xmlns:a16="http://schemas.microsoft.com/office/drawing/2014/main" val="1931140537"/>
                  </a:ext>
                </a:extLst>
              </a:tr>
              <a:tr h="311620">
                <a:tc>
                  <a:txBody>
                    <a:bodyPr/>
                    <a:lstStyle/>
                    <a:p>
                      <a:pPr algn="ctr"/>
                      <a:r>
                        <a:rPr lang="en-US" sz="1200" dirty="0"/>
                        <a:t>Better tolerance control to avoid interference between Part A/B/C/D (We found that the tolerance definitions for A/B/C/D in the illustration were incomplete on other platforms, which led to interference and breakage issues. We hope to define appropriate tolerances to avoid interference.)</a:t>
                      </a:r>
                    </a:p>
                  </a:txBody>
                  <a:tcPr anchor="ctr"/>
                </a:tc>
                <a:extLst>
                  <a:ext uri="{0D108BD9-81ED-4DB2-BD59-A6C34878D82A}">
                    <a16:rowId xmlns:a16="http://schemas.microsoft.com/office/drawing/2014/main" val="982522789"/>
                  </a:ext>
                </a:extLst>
              </a:tr>
            </a:tbl>
          </a:graphicData>
        </a:graphic>
      </p:graphicFrame>
      <p:pic>
        <p:nvPicPr>
          <p:cNvPr id="3" name="图片 1">
            <a:extLst>
              <a:ext uri="{FF2B5EF4-FFF2-40B4-BE49-F238E27FC236}">
                <a16:creationId xmlns:a16="http://schemas.microsoft.com/office/drawing/2014/main" id="{AD2ECE28-6805-B585-3B20-88123B29282B}"/>
              </a:ext>
            </a:extLst>
          </p:cNvPr>
          <p:cNvPicPr>
            <a:picLocks noChangeAspect="1"/>
          </p:cNvPicPr>
          <p:nvPr/>
        </p:nvPicPr>
        <p:blipFill>
          <a:blip r:embed="rId2"/>
          <a:stretch>
            <a:fillRect/>
          </a:stretch>
        </p:blipFill>
        <p:spPr>
          <a:xfrm>
            <a:off x="1833834" y="2119164"/>
            <a:ext cx="8610169" cy="4201941"/>
          </a:xfrm>
          <a:prstGeom prst="rect">
            <a:avLst/>
          </a:prstGeom>
        </p:spPr>
      </p:pic>
    </p:spTree>
    <p:extLst>
      <p:ext uri="{BB962C8B-B14F-4D97-AF65-F5344CB8AC3E}">
        <p14:creationId xmlns:p14="http://schemas.microsoft.com/office/powerpoint/2010/main" val="3818256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F3B5C-5557-4260-489E-5FD5866977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606B91-2C50-EBA8-CBAB-1575B84C9963}"/>
              </a:ext>
            </a:extLst>
          </p:cNvPr>
          <p:cNvSpPr>
            <a:spLocks noGrp="1"/>
          </p:cNvSpPr>
          <p:nvPr>
            <p:ph type="title"/>
          </p:nvPr>
        </p:nvSpPr>
        <p:spPr>
          <a:xfrm>
            <a:off x="571286" y="307256"/>
            <a:ext cx="11010816" cy="514865"/>
          </a:xfrm>
        </p:spPr>
        <p:txBody>
          <a:bodyPr/>
          <a:lstStyle/>
          <a:p>
            <a:r>
              <a:rPr lang="en-US" sz="3200" dirty="0"/>
              <a:t>Summary</a:t>
            </a:r>
          </a:p>
        </p:txBody>
      </p:sp>
      <p:sp>
        <p:nvSpPr>
          <p:cNvPr id="3" name="Content Placeholder 2">
            <a:extLst>
              <a:ext uri="{FF2B5EF4-FFF2-40B4-BE49-F238E27FC236}">
                <a16:creationId xmlns:a16="http://schemas.microsoft.com/office/drawing/2014/main" id="{2DE06EC5-439B-119E-A9F5-542F0C49DFBE}"/>
              </a:ext>
            </a:extLst>
          </p:cNvPr>
          <p:cNvSpPr>
            <a:spLocks noGrp="1"/>
          </p:cNvSpPr>
          <p:nvPr>
            <p:ph sz="quarter" idx="28"/>
          </p:nvPr>
        </p:nvSpPr>
        <p:spPr>
          <a:xfrm>
            <a:off x="571286" y="964734"/>
            <a:ext cx="11010900" cy="5402510"/>
          </a:xfrm>
        </p:spPr>
        <p:txBody>
          <a:bodyPr lIns="0" tIns="0" rIns="0" bIns="0" anchor="t">
            <a:normAutofit/>
          </a:bodyPr>
          <a:lstStyle/>
          <a:p>
            <a:pPr>
              <a:spcBef>
                <a:spcPts val="300"/>
              </a:spcBef>
            </a:pPr>
            <a:r>
              <a:rPr lang="en-US" sz="1600" dirty="0">
                <a:solidFill>
                  <a:schemeClr val="tx1"/>
                </a:solidFill>
                <a:latin typeface="Intel Clear Light"/>
                <a:ea typeface="Intel Clear Light"/>
                <a:cs typeface="Intel Clear Light"/>
              </a:rPr>
              <a:t>The summarized results below include Asus, Dell (Thermal Eng.), Dell (Services Eng.), and Lenovo</a:t>
            </a:r>
          </a:p>
          <a:p>
            <a:pPr>
              <a:spcBef>
                <a:spcPts val="300"/>
              </a:spcBef>
            </a:pPr>
            <a:r>
              <a:rPr lang="en-US" sz="1600" u="sng" dirty="0">
                <a:solidFill>
                  <a:schemeClr val="tx1"/>
                </a:solidFill>
                <a:latin typeface="Intel Clear Light"/>
                <a:ea typeface="Intel Clear Light"/>
                <a:cs typeface="Intel Clear Light"/>
              </a:rPr>
              <a:t>Heatsink Mounting &amp; Design:</a:t>
            </a:r>
          </a:p>
          <a:p>
            <a:pPr lvl="1">
              <a:spcBef>
                <a:spcPts val="300"/>
              </a:spcBef>
            </a:pPr>
            <a:r>
              <a:rPr lang="en-US" sz="1200" dirty="0">
                <a:solidFill>
                  <a:schemeClr val="tx1"/>
                </a:solidFill>
                <a:latin typeface="Intel Clear Light"/>
                <a:ea typeface="Intel Clear Light"/>
                <a:cs typeface="Intel Clear Light"/>
              </a:rPr>
              <a:t>3/4 OEMs find value in removing PCB heatsink holes and directly attaching heatsink to ILM</a:t>
            </a:r>
          </a:p>
          <a:p>
            <a:pPr lvl="1">
              <a:spcBef>
                <a:spcPts val="300"/>
              </a:spcBef>
            </a:pPr>
            <a:r>
              <a:rPr lang="en-US" sz="1200" dirty="0">
                <a:solidFill>
                  <a:schemeClr val="tx1"/>
                </a:solidFill>
                <a:latin typeface="Intel Clear Light"/>
                <a:ea typeface="Intel Clear Light"/>
                <a:cs typeface="Intel Clear Light"/>
              </a:rPr>
              <a:t>3/4 OEMs find value in extending backplate for connecting both socket LM and heatsink anchors</a:t>
            </a:r>
          </a:p>
          <a:p>
            <a:pPr lvl="1">
              <a:spcBef>
                <a:spcPts val="300"/>
              </a:spcBef>
            </a:pPr>
            <a:r>
              <a:rPr lang="en-US" sz="1200" dirty="0">
                <a:solidFill>
                  <a:schemeClr val="tx1"/>
                </a:solidFill>
                <a:latin typeface="Intel Clear Light"/>
                <a:ea typeface="Intel Clear Light"/>
                <a:cs typeface="Intel Clear Light"/>
              </a:rPr>
              <a:t>OEMs HS min/max load range: ~20lbf to ~53lbf</a:t>
            </a:r>
          </a:p>
          <a:p>
            <a:pPr lvl="1">
              <a:spcBef>
                <a:spcPts val="300"/>
              </a:spcBef>
            </a:pPr>
            <a:r>
              <a:rPr lang="en-US" sz="1200" dirty="0">
                <a:solidFill>
                  <a:schemeClr val="tx1"/>
                </a:solidFill>
                <a:latin typeface="Intel Clear Light"/>
                <a:ea typeface="Intel Clear Light"/>
                <a:cs typeface="Intel Clear Light"/>
              </a:rPr>
              <a:t>2/4 OEMs have experience with HS w/ pedestal in the cold plate. Some challenges from pedestal design are HS static loading, strain gage testing, CPU contact for hotspot, and Z-height stack up tolerance</a:t>
            </a:r>
          </a:p>
          <a:p>
            <a:pPr lvl="1">
              <a:spcBef>
                <a:spcPts val="300"/>
              </a:spcBef>
            </a:pPr>
            <a:r>
              <a:rPr lang="en-US" sz="1200" dirty="0">
                <a:solidFill>
                  <a:schemeClr val="tx1"/>
                </a:solidFill>
                <a:latin typeface="Intel Clear Light"/>
                <a:ea typeface="Intel Clear Light"/>
                <a:cs typeface="Intel Clear Light"/>
              </a:rPr>
              <a:t>Common HS mechanical validation processes: Drop, Durability, Interference, Shock, Strain, Structural Analysis, Thermal, Tolerance, Vibration</a:t>
            </a:r>
          </a:p>
          <a:p>
            <a:pPr>
              <a:spcBef>
                <a:spcPts val="300"/>
              </a:spcBef>
            </a:pPr>
            <a:r>
              <a:rPr lang="en-US" sz="1600" u="sng" dirty="0">
                <a:solidFill>
                  <a:schemeClr val="tx1"/>
                </a:solidFill>
                <a:latin typeface="Intel Clear Light"/>
                <a:ea typeface="Intel Clear Light"/>
                <a:cs typeface="Intel Clear Light"/>
              </a:rPr>
              <a:t>Height and Physical Constraints:</a:t>
            </a:r>
          </a:p>
          <a:p>
            <a:pPr lvl="1">
              <a:spcBef>
                <a:spcPts val="300"/>
              </a:spcBef>
            </a:pPr>
            <a:r>
              <a:rPr lang="en-US" sz="1200" dirty="0">
                <a:solidFill>
                  <a:schemeClr val="tx1"/>
                </a:solidFill>
                <a:latin typeface="Intel Clear Light"/>
                <a:ea typeface="Intel Clear Light"/>
                <a:cs typeface="Intel Clear Light"/>
              </a:rPr>
              <a:t>1/4 OEMs can accommodate a backplate thicker than 2.2mm. The available clearance from this customer is 2.54mm</a:t>
            </a:r>
          </a:p>
          <a:p>
            <a:pPr lvl="1">
              <a:spcBef>
                <a:spcPts val="300"/>
              </a:spcBef>
            </a:pPr>
            <a:r>
              <a:rPr lang="en-US" sz="1200" dirty="0">
                <a:solidFill>
                  <a:schemeClr val="tx1"/>
                </a:solidFill>
                <a:latin typeface="Intel Clear Light"/>
                <a:ea typeface="Intel Clear Light"/>
                <a:cs typeface="Intel Clear Light"/>
              </a:rPr>
              <a:t>3/4 OEMs PCB thickness for LGA product systems is ~1.55-1.6mm (1 of the 3 also mentioned 1.2mm)</a:t>
            </a:r>
          </a:p>
          <a:p>
            <a:pPr lvl="1">
              <a:spcBef>
                <a:spcPts val="300"/>
              </a:spcBef>
            </a:pPr>
            <a:r>
              <a:rPr lang="en-US" sz="1200" dirty="0">
                <a:solidFill>
                  <a:schemeClr val="tx1"/>
                </a:solidFill>
                <a:latin typeface="Intel Clear Light"/>
                <a:ea typeface="Intel Clear Light"/>
                <a:cs typeface="Intel Clear Light"/>
              </a:rPr>
              <a:t>1/4 OEMs provided potential issues between LM and other board components (e.g. HS hits VR component, like a cap or choke)</a:t>
            </a:r>
          </a:p>
          <a:p>
            <a:pPr>
              <a:spcBef>
                <a:spcPts val="300"/>
              </a:spcBef>
            </a:pPr>
            <a:r>
              <a:rPr lang="en-US" sz="1600" u="sng" dirty="0">
                <a:solidFill>
                  <a:schemeClr val="tx1"/>
                </a:solidFill>
                <a:latin typeface="Intel Clear Light"/>
                <a:ea typeface="Intel Clear Light"/>
                <a:cs typeface="Intel Clear Light"/>
              </a:rPr>
              <a:t>ILM Requirements:</a:t>
            </a:r>
          </a:p>
          <a:p>
            <a:pPr lvl="1">
              <a:spcBef>
                <a:spcPts val="300"/>
              </a:spcBef>
            </a:pPr>
            <a:r>
              <a:rPr lang="en-US" sz="1200" dirty="0">
                <a:solidFill>
                  <a:schemeClr val="tx1"/>
                </a:solidFill>
                <a:latin typeface="Intel Clear Light"/>
                <a:ea typeface="Intel Clear Light"/>
                <a:cs typeface="Intel Clear Light"/>
              </a:rPr>
              <a:t>3/4 OEMs say that a lever actuated ILM (tool-less) is necessary for their high-performance applications &amp; designs (1/4 says it depends on the system)</a:t>
            </a:r>
          </a:p>
          <a:p>
            <a:pPr lvl="1">
              <a:spcBef>
                <a:spcPts val="300"/>
              </a:spcBef>
            </a:pPr>
            <a:r>
              <a:rPr lang="en-US" sz="1200" dirty="0">
                <a:solidFill>
                  <a:schemeClr val="tx1"/>
                </a:solidFill>
                <a:latin typeface="Intel Clear Light"/>
                <a:ea typeface="Intel Clear Light"/>
                <a:cs typeface="Intel Clear Light"/>
              </a:rPr>
              <a:t>3/4 OEMs say that an ILM solution involving a tool is not acceptable</a:t>
            </a:r>
          </a:p>
          <a:p>
            <a:pPr lvl="1">
              <a:spcBef>
                <a:spcPts val="300"/>
              </a:spcBef>
            </a:pPr>
            <a:r>
              <a:rPr lang="en-US" sz="1200" dirty="0">
                <a:solidFill>
                  <a:schemeClr val="tx1"/>
                </a:solidFill>
                <a:latin typeface="Intel Clear Light"/>
                <a:ea typeface="Intel Clear Light"/>
                <a:cs typeface="Intel Clear Light"/>
              </a:rPr>
              <a:t>1/4 OEMs say they modify/customize the Intel certified ILM to address their system needs, but did not provide any further details</a:t>
            </a:r>
          </a:p>
          <a:p>
            <a:pPr>
              <a:spcBef>
                <a:spcPts val="300"/>
              </a:spcBef>
            </a:pPr>
            <a:r>
              <a:rPr lang="en-US" sz="1600" u="sng" dirty="0">
                <a:solidFill>
                  <a:schemeClr val="tx1"/>
                </a:solidFill>
                <a:latin typeface="Intel Clear Light"/>
                <a:ea typeface="Intel Clear Light"/>
                <a:cs typeface="Intel Clear Light"/>
              </a:rPr>
              <a:t>Open Feedback:</a:t>
            </a:r>
          </a:p>
          <a:p>
            <a:pPr lvl="1">
              <a:spcBef>
                <a:spcPts val="300"/>
              </a:spcBef>
            </a:pPr>
            <a:r>
              <a:rPr lang="en-US" sz="1200" dirty="0">
                <a:solidFill>
                  <a:schemeClr val="tx1"/>
                </a:solidFill>
                <a:latin typeface="Intel Clear Light"/>
                <a:ea typeface="Intel Clear Light"/>
                <a:cs typeface="Intel Clear Light"/>
              </a:rPr>
              <a:t>Asus requested strain gage and PCB deformation spec</a:t>
            </a:r>
          </a:p>
          <a:p>
            <a:pPr lvl="1">
              <a:spcBef>
                <a:spcPts val="300"/>
              </a:spcBef>
            </a:pPr>
            <a:r>
              <a:rPr lang="en-US" sz="1200" dirty="0">
                <a:solidFill>
                  <a:schemeClr val="tx1"/>
                </a:solidFill>
                <a:latin typeface="Intel Clear Light"/>
                <a:ea typeface="Intel Clear Light"/>
                <a:cs typeface="Intel Clear Light"/>
              </a:rPr>
              <a:t>Dell (Thermal Eng.) OEMs requested the IHS deformation post ILM closure to be addressed</a:t>
            </a:r>
          </a:p>
          <a:p>
            <a:pPr lvl="1">
              <a:spcBef>
                <a:spcPts val="300"/>
              </a:spcBef>
            </a:pPr>
            <a:r>
              <a:rPr lang="en-US" sz="1200" dirty="0">
                <a:solidFill>
                  <a:schemeClr val="tx1"/>
                </a:solidFill>
                <a:latin typeface="Intel Clear Light"/>
                <a:ea typeface="Intel Clear Light"/>
                <a:cs typeface="Intel Clear Light"/>
              </a:rPr>
              <a:t>Dell (Services Eng.) stated that the design is adequate for servicing and has no issues </a:t>
            </a:r>
          </a:p>
          <a:p>
            <a:pPr lvl="1">
              <a:spcBef>
                <a:spcPts val="300"/>
              </a:spcBef>
            </a:pPr>
            <a:r>
              <a:rPr lang="en-US" sz="1200" dirty="0">
                <a:solidFill>
                  <a:schemeClr val="tx1"/>
                </a:solidFill>
                <a:latin typeface="Intel Clear Light"/>
                <a:ea typeface="Intel Clear Light"/>
                <a:cs typeface="Intel Clear Light"/>
              </a:rPr>
              <a:t>Lenovo requested:</a:t>
            </a:r>
          </a:p>
          <a:p>
            <a:pPr lvl="2">
              <a:spcBef>
                <a:spcPts val="300"/>
              </a:spcBef>
            </a:pPr>
            <a:r>
              <a:rPr lang="en-US" sz="1200" dirty="0">
                <a:solidFill>
                  <a:schemeClr val="tx1"/>
                </a:solidFill>
                <a:latin typeface="Intel Clear Light"/>
                <a:ea typeface="Intel Clear Light"/>
                <a:cs typeface="Intel Clear Light"/>
              </a:rPr>
              <a:t>Better tolerance control, as they found the tolerance illustrations incomplete (leading to interference and breakage issues)</a:t>
            </a:r>
          </a:p>
          <a:p>
            <a:pPr lvl="2">
              <a:spcBef>
                <a:spcPts val="300"/>
              </a:spcBef>
            </a:pPr>
            <a:r>
              <a:rPr lang="en-US" sz="1200" dirty="0">
                <a:solidFill>
                  <a:schemeClr val="tx1"/>
                </a:solidFill>
                <a:latin typeface="Intel Clear Light"/>
                <a:ea typeface="Intel Clear Light"/>
                <a:cs typeface="Intel Clear Light"/>
              </a:rPr>
              <a:t>Qualification of Socket Vendor and ILM vendor mixing (e.g. Socket Vendor A to work with ILM Vendor B for mass production)</a:t>
            </a:r>
          </a:p>
        </p:txBody>
      </p:sp>
    </p:spTree>
    <p:extLst>
      <p:ext uri="{BB962C8B-B14F-4D97-AF65-F5344CB8AC3E}">
        <p14:creationId xmlns:p14="http://schemas.microsoft.com/office/powerpoint/2010/main" val="203813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920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f81e1b74fd94b9f916141b297ac694c0">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1cd7c1c097ec62e7a9d31b3de7be00f6"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24B8A99-8161-4D52-8DFD-478F5C1B3170}">
  <ds:schemaRefs>
    <ds:schemaRef ds:uri="http://purl.org/dc/elements/1.1/"/>
    <ds:schemaRef ds:uri="http://schemas.openxmlformats.org/package/2006/metadata/core-properties"/>
    <ds:schemaRef ds:uri="http://schemas.microsoft.com/office/2006/documentManagement/types"/>
    <ds:schemaRef ds:uri="http://purl.org/dc/terms/"/>
    <ds:schemaRef ds:uri="a7bc6c04-a6f3-4b85-abcc-278c78dc556b"/>
    <ds:schemaRef ds:uri="http://schemas.microsoft.com/office/infopath/2007/PartnerControls"/>
    <ds:schemaRef ds:uri="http://www.w3.org/XML/1998/namespace"/>
    <ds:schemaRef ds:uri="http://purl.org/dc/dcmitype/"/>
    <ds:schemaRef ds:uri="5e37b643-6edd-4e99-882c-9f9c6c52fc16"/>
    <ds:schemaRef ds:uri="b0a3e817-7ff1-4682-9cdc-9e68f1944ac6"/>
    <ds:schemaRef ds:uri="http://schemas.microsoft.com/office/2006/metadata/properties"/>
  </ds:schemaRefs>
</ds:datastoreItem>
</file>

<file path=customXml/itemProps2.xml><?xml version="1.0" encoding="utf-8"?>
<ds:datastoreItem xmlns:ds="http://schemas.openxmlformats.org/officeDocument/2006/customXml" ds:itemID="{36142D2C-681D-48AE-BA59-6B6EC3AFD1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0a3e817-7ff1-4682-9cdc-9e68f1944ac6"/>
    <ds:schemaRef ds:uri="5e37b643-6edd-4e99-882c-9f9c6c52fc16"/>
    <ds:schemaRef ds:uri="a7bc6c04-a6f3-4b85-abcc-278c78dc55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01C66F3-FBD8-4B0F-98D9-445FE3649D0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2929</TotalTime>
  <Words>1866</Words>
  <Application>Microsoft Office PowerPoint</Application>
  <PresentationFormat>Widescreen</PresentationFormat>
  <Paragraphs>238</Paragraphs>
  <Slides>13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Helvetica</vt:lpstr>
      <vt:lpstr>Helvetica Neue</vt:lpstr>
      <vt:lpstr>Helvetica Neue Medium</vt:lpstr>
      <vt:lpstr>Intel Clear</vt:lpstr>
      <vt:lpstr>Intel Clear Light</vt:lpstr>
      <vt:lpstr>Wingdings</vt:lpstr>
      <vt:lpstr>21_BasicWhite</vt:lpstr>
      <vt:lpstr>Q1-2026 Desktop Customer Survey Results </vt:lpstr>
      <vt:lpstr>Legal Disclaimer</vt:lpstr>
      <vt:lpstr>Agenda</vt:lpstr>
      <vt:lpstr>Background</vt:lpstr>
      <vt:lpstr>Customer Survey Results – Heatsink Mounting &amp; Design</vt:lpstr>
      <vt:lpstr>Customer Survey Results – Heatsink Mounting &amp; Design</vt:lpstr>
      <vt:lpstr>Customer Survey Results – Height &amp; Physical Constraints</vt:lpstr>
      <vt:lpstr>Customer Survey Results – TIM</vt:lpstr>
      <vt:lpstr>Customer Survey Results – ILM Requirements</vt:lpstr>
      <vt:lpstr>Customer Survey Results – Open Feedback</vt:lpstr>
      <vt:lpstr>Customer Survey Results – Open Feedback</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Q1-2026 Desktop Customer Survey Results </dc:title>
  <dc:subject>MAS Document</dc:subject>
  <dc:creator>© Intel Corporation</dc:creator>
  <cp:keywords/>
  <cp:lastModifiedBy>Katz, Ethan</cp:lastModifiedBy>
  <cp:revision>1</cp:revision>
  <dcterms:modified xsi:type="dcterms:W3CDTF">2026-04-06T23:29:29Z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y fmtid="{D5CDD505-2E9C-101B-9397-08002B2CF9AE}" pid="9" name="MediaServiceImageTags">
    <vt:lpwstr/>
  </property>
</Properties>
</file>