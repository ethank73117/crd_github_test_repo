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9" r:id="rId2"/>
    <p:sldId id="261" r:id="rId3"/>
    <p:sldId id="310" r:id="rId4"/>
    <p:sldId id="314" r:id="rId5"/>
    <p:sldId id="317" r:id="rId6"/>
    <p:sldId id="315" r:id="rId7"/>
    <p:sldId id="311" r:id="rId8"/>
    <p:sldId id="31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7143" autoAdjust="0"/>
  </p:normalViewPr>
  <p:slideViewPr>
    <p:cSldViewPr snapToGrid="0">
      <p:cViewPr varScale="1">
        <p:scale>
          <a:sx n="79" d="100"/>
          <a:sy n="79" d="100"/>
        </p:scale>
        <p:origin x="122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07185-9FD8-40D7-866C-EA52F4AE1B2F}" type="datetimeFigureOut">
              <a:rPr lang="en-US" smtClean="0"/>
              <a:t>12/11/2017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5B860-0185-49D0-AE43-85F1D2C2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8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1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3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94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el_rgb_17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538163"/>
            <a:ext cx="12985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90550" y="4005263"/>
            <a:ext cx="2368550" cy="2424112"/>
          </a:xfrm>
          <a:prstGeom prst="octagon">
            <a:avLst>
              <a:gd name="adj" fmla="val 29287"/>
            </a:avLst>
          </a:prstGeom>
          <a:solidFill>
            <a:srgbClr val="FF0000">
              <a:alpha val="89803"/>
            </a:srgbClr>
          </a:solidFill>
          <a:ln w="254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/>
            <a:endParaRPr lang="en-US" sz="14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STOP</a:t>
            </a:r>
          </a:p>
          <a:p>
            <a:pPr eaLnBrk="1" hangingPunct="1"/>
            <a:endParaRPr lang="en-US" sz="12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Customer Information </a:t>
            </a:r>
          </a:p>
          <a:p>
            <a:pPr eaLnBrk="1" hangingPunct="1"/>
            <a:r>
              <a:rPr lang="en-US" sz="1200" u="sng" dirty="0">
                <a:solidFill>
                  <a:schemeClr val="bg1"/>
                </a:solidFill>
                <a:latin typeface="Arial" charset="0"/>
              </a:rPr>
              <a:t>Under </a:t>
            </a:r>
            <a:r>
              <a:rPr lang="en-US" sz="1200" b="1" u="sng" dirty="0">
                <a:solidFill>
                  <a:schemeClr val="bg1"/>
                </a:solidFill>
                <a:latin typeface="Arial" charset="0"/>
              </a:rPr>
              <a:t>NDA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Intel Internal Use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Only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4791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55D9A-6D29-4D50-86F0-F4CC0ABF6DBC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1B834-8D6B-43A4-B359-26F0172CC6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90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B6771-761A-4868-9897-D385611F56FD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6763-BC50-44E5-9DBE-C7A656843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1600"/>
            <a:ext cx="40417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371600"/>
            <a:ext cx="4043362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C44E5-98D4-40D3-AB6C-F311509DDB6F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E6DCE-B720-403C-87F1-09E529B416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343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05A29-211D-4F9D-8907-940E34D9B9ED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AD820-A819-425B-8E97-67125C85A9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5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C14D2-064D-4138-AD2B-B67FF0F7A6A1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A5A58-08C7-4F99-AFE2-9F0A58578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551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9D7B2-60A3-4196-8D9D-1D56C57857BC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AF4E6-0A42-41FC-9642-27C1443E85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09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0B1C0-6FD2-4E4C-A81E-8DB559E815F3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DF728-A66D-44A5-A1CE-54676FF5B5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96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25597-6124-4EBC-881A-3309B4FE72E0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163C3-19C0-4F2C-B682-45D0A79B4F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74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2CB96-30D1-476F-A434-DDFBF1F7FC64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BC3B9-46E7-4CB0-A2B0-71B9EAC77D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9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4163" y="273050"/>
            <a:ext cx="2058987" cy="54419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26150" cy="54419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BBF505-F994-430B-94D1-F16AEBFA583A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E9BD9-62AA-4464-862A-BA385D06D0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43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white">
          <a:xfrm>
            <a:off x="3175" y="6029325"/>
            <a:ext cx="9140825" cy="828675"/>
          </a:xfrm>
          <a:prstGeom prst="rect">
            <a:avLst/>
          </a:prstGeom>
          <a:solidFill>
            <a:srgbClr val="0860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37537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371600"/>
            <a:ext cx="823753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5988" y="6357938"/>
            <a:ext cx="752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649DA84E-7B68-4ADA-9629-27ADCEECE955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8788" y="63579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F0025F06-8835-4059-B522-FA96843AA8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8" descr="Intel_whit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6169025"/>
            <a:ext cx="81121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49425" y="6357938"/>
            <a:ext cx="576103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4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6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46063" indent="-244475" algn="l" rtl="0" eaLnBrk="0" fontAlgn="base" hangingPunct="0">
        <a:spcBef>
          <a:spcPct val="40000"/>
        </a:spcBef>
        <a:spcAft>
          <a:spcPct val="0"/>
        </a:spcAft>
        <a:buSzPct val="125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571500" indent="-3238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3pPr>
      <a:lvl4pPr marL="725488" indent="-1524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4pPr>
      <a:lvl5pPr marL="1136650" indent="-409575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5pPr>
      <a:lvl6pPr marL="15938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6pPr>
      <a:lvl7pPr marL="20510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7pPr>
      <a:lvl8pPr marL="25082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8pPr>
      <a:lvl9pPr marL="29654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3200" y="2217005"/>
            <a:ext cx="6172200" cy="1970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dirty="0" smtClean="0"/>
              <a:t>2017 CNL_ICL Customers CRD Summary Report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u="sng" dirty="0" smtClean="0"/>
              <a:t>Adhesive Section Only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43250" y="4478338"/>
            <a:ext cx="5829300" cy="984250"/>
          </a:xfrm>
        </p:spPr>
        <p:txBody>
          <a:bodyPr wrap="square">
            <a:normAutofit/>
          </a:bodyPr>
          <a:lstStyle/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Prepared by: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Harry Yu, SA Moy, Jagadeesh, Dan Burkholder</a:t>
            </a:r>
          </a:p>
        </p:txBody>
      </p:sp>
    </p:spTree>
    <p:extLst>
      <p:ext uri="{BB962C8B-B14F-4D97-AF65-F5344CB8AC3E}">
        <p14:creationId xmlns:p14="http://schemas.microsoft.com/office/powerpoint/2010/main" val="87854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CFC3799B-C3A7-4AD7-B835-49C51ED163C0}" type="datetime1">
              <a:rPr lang="en-US" sz="800" smtClean="0">
                <a:solidFill>
                  <a:srgbClr val="FFFFFF"/>
                </a:solidFill>
              </a:rPr>
              <a:t>12/11/2017</a:t>
            </a:fld>
            <a:endParaRPr lang="en-US" sz="800" dirty="0" smtClean="0">
              <a:solidFill>
                <a:srgbClr val="FFFFFF"/>
              </a:solidFill>
            </a:endParaRP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2D8B441-F742-4634-AB10-E80DE781C58B}" type="slidenum">
              <a:rPr lang="en-US" sz="800" smtClean="0">
                <a:solidFill>
                  <a:schemeClr val="bg1"/>
                </a:solidFill>
              </a:rPr>
              <a:pPr/>
              <a:t>2</a:t>
            </a:fld>
            <a:endParaRPr lang="en-US" sz="800" dirty="0" smtClean="0">
              <a:solidFill>
                <a:schemeClr val="bg1"/>
              </a:solidFill>
            </a:endParaRPr>
          </a:p>
        </p:txBody>
      </p:sp>
      <p:sp>
        <p:nvSpPr>
          <p:cNvPr id="4100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4774"/>
            <a:ext cx="8237538" cy="612775"/>
          </a:xfrm>
        </p:spPr>
        <p:txBody>
          <a:bodyPr/>
          <a:lstStyle/>
          <a:p>
            <a:pPr eaLnBrk="1" hangingPunct="1"/>
            <a:r>
              <a:rPr lang="en-US" dirty="0" smtClean="0"/>
              <a:t>Objectives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816" y="717549"/>
            <a:ext cx="8669383" cy="5049837"/>
          </a:xfrm>
        </p:spPr>
        <p:txBody>
          <a:bodyPr/>
          <a:lstStyle/>
          <a:p>
            <a:pPr marL="0" indent="0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00"/>
                </a:solidFill>
              </a:rPr>
              <a:t>Share Findings from CMEE Mobile Industry Data Collection (CNL/ICL platform customer survey) 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Summarize data collected from the Mobile Customers manufacturers: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Inventec CQ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Compal CQ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Quanta CQ/SH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 smtClean="0">
                <a:solidFill>
                  <a:srgbClr val="000000"/>
                </a:solidFill>
              </a:rPr>
              <a:t> LCFC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Compal KS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MSFT/JDM1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Pegatron SZ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Wistron KS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 smtClean="0">
                <a:solidFill>
                  <a:srgbClr val="000000"/>
                </a:solidFill>
              </a:rPr>
              <a:t> MSI KS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 smtClean="0">
                <a:solidFill>
                  <a:srgbClr val="000000"/>
                </a:solidFill>
              </a:rPr>
              <a:t> Pegatron CQ (ICL ORS) 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altLang="zh-CN" dirty="0" smtClean="0">
                <a:solidFill>
                  <a:srgbClr val="000000"/>
                </a:solidFill>
              </a:rPr>
              <a:t> Foxconn WH </a:t>
            </a:r>
            <a:r>
              <a:rPr lang="en-US" altLang="zh-CN" dirty="0">
                <a:solidFill>
                  <a:srgbClr val="000000"/>
                </a:solidFill>
              </a:rPr>
              <a:t>(ICL </a:t>
            </a:r>
            <a:r>
              <a:rPr lang="en-US" altLang="zh-CN" dirty="0" smtClean="0">
                <a:solidFill>
                  <a:srgbClr val="000000"/>
                </a:solidFill>
              </a:rPr>
              <a:t>ORS) 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altLang="zh-CN" dirty="0" smtClean="0">
                <a:solidFill>
                  <a:srgbClr val="000000"/>
                </a:solidFill>
              </a:rPr>
              <a:t> Huaqin </a:t>
            </a:r>
            <a:r>
              <a:rPr lang="en-US" altLang="zh-CN" dirty="0">
                <a:solidFill>
                  <a:srgbClr val="000000"/>
                </a:solidFill>
              </a:rPr>
              <a:t>(ICL </a:t>
            </a:r>
            <a:r>
              <a:rPr lang="en-US" altLang="zh-CN" dirty="0" smtClean="0">
                <a:solidFill>
                  <a:srgbClr val="000000"/>
                </a:solidFill>
              </a:rPr>
              <a:t>ORS) </a:t>
            </a:r>
            <a:endParaRPr lang="en-US" dirty="0" smtClean="0">
              <a:solidFill>
                <a:srgbClr val="000000"/>
              </a:solidFill>
            </a:endParaRP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38800" y="5528846"/>
            <a:ext cx="3228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ORS=ODM Reference System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82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1ABE2FC7-05C3-4E29-9CB5-29E80127A999}" type="datetime1">
              <a:rPr lang="en-US" sz="800" smtClean="0">
                <a:solidFill>
                  <a:srgbClr val="FFFFFF"/>
                </a:solidFill>
              </a:rPr>
              <a:t>12/11/2017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Adhesive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5793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2" y="25699"/>
            <a:ext cx="8237537" cy="328160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46148" y="504098"/>
            <a:ext cx="8237537" cy="4343400"/>
          </a:xfrm>
        </p:spPr>
        <p:txBody>
          <a:bodyPr/>
          <a:lstStyle/>
          <a:p>
            <a:pPr marL="0" indent="0"/>
            <a:r>
              <a:rPr lang="en-US" b="1" dirty="0" smtClean="0"/>
              <a:t>Adhesive questions that were recently asked during Cannon Lake Platform Introduction: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pPr marL="0" indent="0"/>
            <a:r>
              <a:rPr lang="en-US" b="1" dirty="0" smtClean="0">
                <a:solidFill>
                  <a:srgbClr val="00B050"/>
                </a:solidFill>
              </a:rPr>
              <a:t>Previously we had not been asking                                           customers about adhesive usage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t="20402"/>
          <a:stretch/>
        </p:blipFill>
        <p:spPr>
          <a:xfrm>
            <a:off x="5612179" y="828433"/>
            <a:ext cx="2578343" cy="5406082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4321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18255" y="3488155"/>
            <a:ext cx="4100061" cy="391886"/>
          </a:xfrm>
        </p:spPr>
        <p:txBody>
          <a:bodyPr/>
          <a:lstStyle/>
          <a:p>
            <a:r>
              <a:rPr lang="en-US" b="1" dirty="0" smtClean="0"/>
              <a:t>Pre-SMT </a:t>
            </a:r>
            <a:r>
              <a:rPr lang="en-US" b="1" dirty="0" err="1" smtClean="0"/>
              <a:t>Under</a:t>
            </a:r>
            <a:r>
              <a:rPr lang="en-US" b="1" u="sng" dirty="0" err="1" smtClean="0"/>
              <a:t>film</a:t>
            </a:r>
            <a:r>
              <a:rPr lang="en-US" b="1" dirty="0" smtClean="0"/>
              <a:t> - Concept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2" y="88219"/>
            <a:ext cx="8237537" cy="328160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4" y="3730079"/>
            <a:ext cx="5761037" cy="2163213"/>
          </a:xfrm>
          <a:prstGeom prst="rect">
            <a:avLst/>
          </a:prstGeom>
        </p:spPr>
      </p:pic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3"/>
          <a:srcRect l="12729" t="13287" r="19065" b="14406"/>
          <a:stretch/>
        </p:blipFill>
        <p:spPr>
          <a:xfrm rot="16200000">
            <a:off x="884954" y="357000"/>
            <a:ext cx="2345872" cy="3758437"/>
          </a:xfrm>
          <a:prstGeom prst="rect">
            <a:avLst/>
          </a:prstGeom>
        </p:spPr>
      </p:pic>
      <p:sp>
        <p:nvSpPr>
          <p:cNvPr id="9" name="Content Placeholder 1"/>
          <p:cNvSpPr txBox="1">
            <a:spLocks/>
          </p:cNvSpPr>
          <p:nvPr/>
        </p:nvSpPr>
        <p:spPr bwMode="auto">
          <a:xfrm>
            <a:off x="87272" y="671398"/>
            <a:ext cx="4102783" cy="39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6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6063" indent="-244475" algn="l" rtl="0" eaLnBrk="0" fontAlgn="base" hangingPunct="0">
              <a:spcBef>
                <a:spcPct val="40000"/>
              </a:spcBef>
              <a:spcAft>
                <a:spcPct val="0"/>
              </a:spcAft>
              <a:buSzPct val="125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571500" indent="-3238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725488" indent="-152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136650" indent="-409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5938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20510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5082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9654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 smtClean="0"/>
              <a:t>Corner “L-Shaped” Adhesive</a:t>
            </a:r>
            <a:endParaRPr lang="en-US" b="1" kern="0" dirty="0"/>
          </a:p>
        </p:txBody>
      </p:sp>
      <p:pic>
        <p:nvPicPr>
          <p:cNvPr id="10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174" y="1109797"/>
            <a:ext cx="4184030" cy="2111580"/>
          </a:xfrm>
          <a:prstGeom prst="rect">
            <a:avLst/>
          </a:prstGeom>
        </p:spPr>
      </p:pic>
      <p:sp>
        <p:nvSpPr>
          <p:cNvPr id="11" name="Content Placeholder 1"/>
          <p:cNvSpPr txBox="1">
            <a:spLocks/>
          </p:cNvSpPr>
          <p:nvPr/>
        </p:nvSpPr>
        <p:spPr bwMode="auto">
          <a:xfrm>
            <a:off x="4629249" y="681964"/>
            <a:ext cx="4700942" cy="39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6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6063" indent="-244475" algn="l" rtl="0" eaLnBrk="0" fontAlgn="base" hangingPunct="0">
              <a:spcBef>
                <a:spcPct val="40000"/>
              </a:spcBef>
              <a:spcAft>
                <a:spcPct val="0"/>
              </a:spcAft>
              <a:buSzPct val="125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571500" indent="-3238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725488" indent="-152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136650" indent="-409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5938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20510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5082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9654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 smtClean="0"/>
              <a:t>Corner Dot (Big or Small) Adhesive</a:t>
            </a:r>
            <a:endParaRPr 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42197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706" y="61323"/>
            <a:ext cx="8237537" cy="328160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sp>
        <p:nvSpPr>
          <p:cNvPr id="9" name="Content Placeholder 1"/>
          <p:cNvSpPr txBox="1">
            <a:spLocks/>
          </p:cNvSpPr>
          <p:nvPr/>
        </p:nvSpPr>
        <p:spPr bwMode="auto">
          <a:xfrm>
            <a:off x="87272" y="476410"/>
            <a:ext cx="5916840" cy="39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6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6063" indent="-244475" algn="l" rtl="0" eaLnBrk="0" fontAlgn="base" hangingPunct="0">
              <a:spcBef>
                <a:spcPct val="40000"/>
              </a:spcBef>
              <a:spcAft>
                <a:spcPct val="0"/>
              </a:spcAft>
              <a:buSzPct val="125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571500" indent="-3238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725488" indent="-152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136650" indent="-409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5938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20510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5082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9654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 smtClean="0"/>
              <a:t>Corner Underfill (Lenovo Confidential)</a:t>
            </a:r>
            <a:endParaRPr lang="en-US" b="1" kern="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b="43087"/>
          <a:stretch/>
        </p:blipFill>
        <p:spPr>
          <a:xfrm>
            <a:off x="4915400" y="2043956"/>
            <a:ext cx="4233487" cy="19239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" y="2448334"/>
            <a:ext cx="5170255" cy="15527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6007"/>
            <a:ext cx="9144000" cy="197880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7795"/>
            <a:ext cx="5607424" cy="167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4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7C5307-4D7E-4EAF-95D5-3B9F35D670D9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790" y="-32051"/>
            <a:ext cx="90662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Adhesive</a:t>
            </a:r>
            <a:r>
              <a:rPr lang="en-US" b="1" dirty="0"/>
              <a:t> </a:t>
            </a:r>
            <a:r>
              <a:rPr lang="en-US" b="1" dirty="0" smtClean="0"/>
              <a:t>on Intel BGA (Focused on Laptop </a:t>
            </a:r>
            <a:r>
              <a:rPr lang="en-US" b="1" dirty="0"/>
              <a:t>&amp;</a:t>
            </a:r>
            <a:r>
              <a:rPr lang="en-US" b="1" dirty="0" smtClean="0"/>
              <a:t> 2-in-1 Manufacturing)</a:t>
            </a:r>
            <a:endParaRPr lang="en-US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21806"/>
              </p:ext>
            </p:extLst>
          </p:nvPr>
        </p:nvGraphicFramePr>
        <p:xfrm>
          <a:off x="152399" y="301762"/>
          <a:ext cx="8890748" cy="457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425"/>
                <a:gridCol w="584517"/>
                <a:gridCol w="1416226"/>
                <a:gridCol w="2360375"/>
                <a:gridCol w="1730942"/>
                <a:gridCol w="786792"/>
                <a:gridCol w="86547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Customer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Y/N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Adhesive shape/location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Vendor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name/Model#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Where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applied in Factory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Rework-able?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On/Off line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Loctite 3619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</a:t>
                      </a:r>
                      <a:r>
                        <a:rPr lang="en-US" sz="1000" baseline="0" dirty="0" smtClean="0">
                          <a:latin typeface="+mn-lt"/>
                        </a:rPr>
                        <a:t> FT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On</a:t>
                      </a:r>
                      <a:r>
                        <a:rPr lang="en-US" sz="1000" baseline="0" dirty="0" smtClean="0">
                          <a:latin typeface="+mn-lt"/>
                        </a:rPr>
                        <a:t> line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Loctite 3609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Loctite 3609, EICT (UV)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</a:t>
                      </a:r>
                      <a:r>
                        <a:rPr lang="en-US" sz="1000" baseline="0" dirty="0" smtClean="0">
                          <a:latin typeface="+mn-lt"/>
                        </a:rPr>
                        <a:t> ICT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17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U-BOND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UB-4305 (UV)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ICT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‘L’, Corner Underfill (Lenovo)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‘L’: Loctite 3705 (UV)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 Underfill:</a:t>
                      </a:r>
                      <a:r>
                        <a:rPr lang="en-US" sz="1000" baseline="0" dirty="0" smtClean="0">
                          <a:latin typeface="+mn-lt"/>
                        </a:rPr>
                        <a:t> Likely Loctite 3910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</a:t>
                      </a:r>
                      <a:r>
                        <a:rPr lang="en-US" sz="1000" baseline="0" dirty="0" smtClean="0">
                          <a:latin typeface="+mn-lt"/>
                        </a:rPr>
                        <a:t> ‘L’: Before FT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latin typeface="+mn-lt"/>
                        </a:rPr>
                        <a:t>C Underfill: After ICT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Yes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Hard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Dot,</a:t>
                      </a:r>
                      <a:r>
                        <a:rPr lang="en-US" sz="1000" baseline="0" dirty="0" smtClean="0">
                          <a:latin typeface="+mn-lt"/>
                        </a:rPr>
                        <a:t> Corner Underfill (Lenovo)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Dot: Panasonic ADE480D-1</a:t>
                      </a:r>
                      <a:endParaRPr lang="en-US" sz="1000" baseline="0" dirty="0" smtClean="0">
                        <a:latin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 Underfill: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ASEC-AS3910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Dot:</a:t>
                      </a:r>
                      <a:r>
                        <a:rPr lang="en-US" sz="1000" baseline="0" dirty="0" smtClean="0">
                          <a:latin typeface="+mn-lt"/>
                        </a:rPr>
                        <a:t> Before SMT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 Underfill:</a:t>
                      </a:r>
                      <a:r>
                        <a:rPr lang="en-US" sz="1000" baseline="0" dirty="0" smtClean="0">
                          <a:latin typeface="+mn-lt"/>
                        </a:rPr>
                        <a:t> Before FT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Hard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100%</a:t>
                      </a:r>
                      <a:r>
                        <a:rPr lang="en-US" sz="1000" baseline="0" dirty="0" smtClean="0">
                          <a:latin typeface="+mn-lt"/>
                        </a:rPr>
                        <a:t> Corner Underfill (Lenovo)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 Underfill: ACES, COOTEK, </a:t>
                      </a:r>
                      <a:r>
                        <a:rPr lang="en-US" sz="1000" dirty="0" err="1" smtClean="0">
                          <a:latin typeface="+mn-lt"/>
                        </a:rPr>
                        <a:t>TaiLiDe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After 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Hard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latin typeface="+mn-lt"/>
                        </a:rPr>
                        <a:t>視域</a:t>
                      </a:r>
                      <a:r>
                        <a:rPr lang="en-US" altLang="zh-CN" sz="1000" dirty="0" smtClean="0">
                          <a:latin typeface="+mn-lt"/>
                        </a:rPr>
                        <a:t>:</a:t>
                      </a:r>
                      <a:r>
                        <a:rPr lang="en-US" sz="1000" dirty="0" smtClean="0">
                          <a:latin typeface="+mn-lt"/>
                        </a:rPr>
                        <a:t>UV649/</a:t>
                      </a:r>
                      <a:r>
                        <a:rPr lang="zh-CN" altLang="en-US" sz="1000" dirty="0" smtClean="0">
                          <a:latin typeface="+mn-lt"/>
                        </a:rPr>
                        <a:t>信友</a:t>
                      </a:r>
                      <a:r>
                        <a:rPr lang="en-US" altLang="zh-CN" sz="1000" dirty="0" smtClean="0">
                          <a:latin typeface="+mn-lt"/>
                        </a:rPr>
                        <a:t>:3329/</a:t>
                      </a:r>
                      <a:r>
                        <a:rPr lang="en-US" sz="1000" dirty="0" smtClean="0">
                          <a:latin typeface="+mn-lt"/>
                        </a:rPr>
                        <a:t>DYMAX 9-20558/Loctite 3705 (All 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rgbClr val="00B050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ZhongYu</a:t>
                      </a:r>
                      <a:r>
                        <a:rPr lang="en-US" sz="1000" dirty="0" smtClean="0">
                          <a:latin typeface="+mn-lt"/>
                        </a:rPr>
                        <a:t> ZY-303</a:t>
                      </a:r>
                      <a:r>
                        <a:rPr lang="en-US" sz="1000" baseline="0" dirty="0" smtClean="0">
                          <a:latin typeface="+mn-lt"/>
                        </a:rPr>
                        <a:t> (UV)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</a:t>
                      </a:r>
                      <a:r>
                        <a:rPr lang="en-US" sz="1000" baseline="0" dirty="0" smtClean="0">
                          <a:latin typeface="+mn-lt"/>
                        </a:rPr>
                        <a:t> ICT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Pegatron CQ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Xin You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zh-CN" sz="1000" dirty="0" smtClean="0">
                          <a:latin typeface="+mn-lt"/>
                        </a:rPr>
                        <a:t>UV3329 (UV)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Foxconn WH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Glue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Loctite 3705 (UV)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After</a:t>
                      </a:r>
                      <a:r>
                        <a:rPr lang="en-US" sz="1000" baseline="0" dirty="0" smtClean="0">
                          <a:latin typeface="+mn-lt"/>
                        </a:rPr>
                        <a:t> SMT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Samsung*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err="1" smtClean="0">
                          <a:latin typeface="+mn-lt"/>
                        </a:rPr>
                        <a:t>Under</a:t>
                      </a:r>
                      <a:r>
                        <a:rPr lang="en-US" altLang="zh-CN" sz="1000" u="sng" dirty="0" err="1" smtClean="0">
                          <a:latin typeface="+mn-lt"/>
                        </a:rPr>
                        <a:t>film</a:t>
                      </a:r>
                      <a:endParaRPr lang="en-US" altLang="zh-CN" sz="1000" u="sng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Unknown.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Placed by PnP machine onto bd pads.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SMT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Unknown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144084" y="4857429"/>
            <a:ext cx="7625437" cy="14982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100" dirty="0" smtClean="0">
                <a:cs typeface="Arial" pitchFamily="34" charset="0"/>
              </a:rPr>
              <a:t>All </a:t>
            </a:r>
            <a:r>
              <a:rPr lang="en-US" sz="1100" dirty="0">
                <a:cs typeface="Arial" pitchFamily="34" charset="0"/>
              </a:rPr>
              <a:t>m</a:t>
            </a:r>
            <a:r>
              <a:rPr lang="en-US" sz="1100" dirty="0" smtClean="0">
                <a:cs typeface="Arial" pitchFamily="34" charset="0"/>
              </a:rPr>
              <a:t>ajor customers applying adhesive on Intel BGA except MSFT (adhesive decision is based on the reliability test results-to prevent SJ cracks)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100" dirty="0" smtClean="0">
                <a:cs typeface="Arial" pitchFamily="34" charset="0"/>
              </a:rPr>
              <a:t>All major customers are applying adhesive after SMT but before FT test (to prevent SJ crack during FT test), except with the underfill process (it is hard to rework)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100" dirty="0" smtClean="0">
                <a:cs typeface="Arial" pitchFamily="34" charset="0"/>
              </a:rPr>
              <a:t>Lenovo’s corner underfill covers a minimum of 5 solderballs in all 4 corners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100" dirty="0" smtClean="0">
                <a:cs typeface="Arial" pitchFamily="34" charset="0"/>
              </a:rPr>
              <a:t>UV glue is more popular than thermal glue, due to less factory floor space &amp; easy to cure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100" dirty="0" smtClean="0">
                <a:cs typeface="Arial" pitchFamily="34" charset="0"/>
              </a:rPr>
              <a:t>*We know Samsung uses </a:t>
            </a:r>
            <a:r>
              <a:rPr lang="en-US" sz="1100" dirty="0" err="1" smtClean="0">
                <a:cs typeface="Arial" pitchFamily="34" charset="0"/>
              </a:rPr>
              <a:t>under</a:t>
            </a:r>
            <a:r>
              <a:rPr lang="en-US" sz="1100" u="sng" dirty="0" err="1" smtClean="0">
                <a:cs typeface="Arial" pitchFamily="34" charset="0"/>
              </a:rPr>
              <a:t>film</a:t>
            </a:r>
            <a:r>
              <a:rPr lang="en-US" sz="1100" dirty="0" smtClean="0">
                <a:cs typeface="Arial" pitchFamily="34" charset="0"/>
              </a:rPr>
              <a:t> but CMEE team did not visit them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100" dirty="0">
                <a:cs typeface="Arial" pitchFamily="34" charset="0"/>
              </a:rPr>
              <a:t>Top DT customers (Gigabyte &amp; MSI) seldom add adhesive on Intel PCH (one exception: Asustek)</a:t>
            </a:r>
            <a:endParaRPr lang="en-US" sz="1100" dirty="0" smtClean="0">
              <a:cs typeface="Arial" pitchFamily="34" charset="0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220419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273050"/>
            <a:ext cx="8237537" cy="455612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77459" y="1535602"/>
            <a:ext cx="8228012" cy="138499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I had looked at teardowns of Intel and non-Intel based </a:t>
            </a:r>
            <a:r>
              <a:rPr kumimoji="0" lang="en-US" sz="1800" b="1" i="0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tablets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 (back when we were still focused on Tablets). At that time, I noticed that all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SoCs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 (Intel and non-Intel) had corner glue or underfill. So, I would safely say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adhesives are common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laptop / 2-in-1 / tablets / cellphones </a:t>
            </a:r>
            <a:r>
              <a:rPr kumimoji="0" lang="en-US" sz="180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(</a:t>
            </a:r>
            <a:r>
              <a:rPr lang="en-US" b="1" noProof="0" dirty="0" smtClean="0">
                <a:latin typeface="Intel Clear"/>
              </a:rPr>
              <a:t>c</a:t>
            </a:r>
            <a:r>
              <a:rPr lang="en-US" b="1" dirty="0" smtClean="0">
                <a:latin typeface="Intel Clear"/>
              </a:rPr>
              <a:t>ell </a:t>
            </a:r>
            <a:r>
              <a:rPr lang="en-US" b="1" dirty="0">
                <a:latin typeface="Intel Clear"/>
              </a:rPr>
              <a:t>phones tend to have full </a:t>
            </a:r>
            <a:r>
              <a:rPr lang="en-US" b="1" dirty="0" smtClean="0">
                <a:latin typeface="Intel Clear"/>
              </a:rPr>
              <a:t>underfill</a:t>
            </a:r>
            <a:r>
              <a:rPr lang="en-US" dirty="0" smtClean="0">
                <a:latin typeface="Intel Clear"/>
              </a:rPr>
              <a:t>),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and adhesives are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less prevalent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DT and servers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1C5"/>
              </a:solidFill>
              <a:effectLst/>
              <a:uLnTx/>
              <a:uFillTx/>
              <a:latin typeface="Intel Clear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itle 3"/>
          <p:cNvSpPr txBox="1">
            <a:spLocks/>
          </p:cNvSpPr>
          <p:nvPr/>
        </p:nvSpPr>
        <p:spPr>
          <a:xfrm>
            <a:off x="377459" y="1067625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2"/>
                </a:solidFill>
                <a:latin typeface="+mj-lt"/>
                <a:ea typeface="Intel Clear"/>
                <a:cs typeface="Arial" panose="020B0604020202020204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"/>
                <a:ea typeface="Intel Clear"/>
                <a:cs typeface="Arial" panose="020B0604020202020204" pitchFamily="34" charset="0"/>
              </a:rPr>
              <a:t>Additional </a:t>
            </a:r>
            <a:r>
              <a:rPr lang="en-US" noProof="0" dirty="0" smtClean="0">
                <a:solidFill>
                  <a:srgbClr val="003C71"/>
                </a:solidFill>
                <a:latin typeface="Intel Clear"/>
              </a:rPr>
              <a:t>Adhesive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"/>
                <a:ea typeface="Intel Clear"/>
                <a:cs typeface="Arial" panose="020B0604020202020204" pitchFamily="34" charset="0"/>
              </a:rPr>
              <a:t>Info per Jagadeesh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Intel Clear"/>
              <a:ea typeface="Intel Clear"/>
              <a:cs typeface="Arial" panose="020B0604020202020204" pitchFamily="34" charset="0"/>
            </a:endParaRPr>
          </a:p>
        </p:txBody>
      </p:sp>
      <p:sp>
        <p:nvSpPr>
          <p:cNvPr id="13" name="Title 3"/>
          <p:cNvSpPr txBox="1">
            <a:spLocks/>
          </p:cNvSpPr>
          <p:nvPr/>
        </p:nvSpPr>
        <p:spPr>
          <a:xfrm>
            <a:off x="377459" y="3343580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2"/>
                </a:solidFill>
                <a:latin typeface="+mj-lt"/>
                <a:ea typeface="Intel Clear"/>
                <a:cs typeface="Arial" panose="020B0604020202020204" pitchFamily="34" charset="0"/>
              </a:defRPr>
            </a:lvl1pPr>
          </a:lstStyle>
          <a:p>
            <a:r>
              <a:rPr lang="en-US" dirty="0" smtClean="0">
                <a:solidFill>
                  <a:srgbClr val="003C71"/>
                </a:solidFill>
                <a:latin typeface="Intel Clear"/>
              </a:rPr>
              <a:t>Additional Adhesive Info per SA Moy</a:t>
            </a:r>
            <a:endParaRPr lang="en-US" dirty="0">
              <a:solidFill>
                <a:srgbClr val="003C71"/>
              </a:solidFill>
              <a:latin typeface="Intel Clear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77459" y="3885102"/>
            <a:ext cx="8228012" cy="166199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ntel Clear"/>
              </a:rPr>
              <a:t>For </a:t>
            </a:r>
            <a:r>
              <a:rPr lang="en-US" b="1" dirty="0" smtClean="0">
                <a:latin typeface="Intel Clear"/>
              </a:rPr>
              <a:t>tablets</a:t>
            </a:r>
            <a:r>
              <a:rPr lang="en-US" dirty="0" smtClean="0">
                <a:latin typeface="Intel Clear"/>
              </a:rPr>
              <a:t>, </a:t>
            </a:r>
            <a:r>
              <a:rPr lang="en-US" dirty="0">
                <a:latin typeface="Intel Clear"/>
              </a:rPr>
              <a:t>I think it is much more sensitive on mobility (drop test performance). Moreover, if our future is also focusing on </a:t>
            </a:r>
            <a:r>
              <a:rPr lang="en-US" b="1" dirty="0">
                <a:latin typeface="Intel Clear"/>
              </a:rPr>
              <a:t>LTS process</a:t>
            </a:r>
            <a:r>
              <a:rPr lang="en-US" dirty="0">
                <a:latin typeface="Intel Clear"/>
              </a:rPr>
              <a:t>, solder joint protection with </a:t>
            </a:r>
            <a:r>
              <a:rPr lang="en-US" b="1" dirty="0">
                <a:latin typeface="Intel Clear"/>
              </a:rPr>
              <a:t>using adhesive is </a:t>
            </a:r>
            <a:r>
              <a:rPr lang="en-US" b="1" dirty="0" smtClean="0">
                <a:latin typeface="Intel Clear"/>
              </a:rPr>
              <a:t>key</a:t>
            </a:r>
            <a:r>
              <a:rPr lang="en-US" dirty="0">
                <a:latin typeface="Intel Clear"/>
              </a:rPr>
              <a:t>. In this case, we also need to remind package platform guys that to </a:t>
            </a:r>
            <a:r>
              <a:rPr lang="en-US" b="1" dirty="0">
                <a:latin typeface="Intel Clear"/>
              </a:rPr>
              <a:t>consider keep out zone for adhesive</a:t>
            </a:r>
            <a:r>
              <a:rPr lang="en-US" dirty="0">
                <a:latin typeface="Intel Clear"/>
              </a:rPr>
              <a:t> (corner glue</a:t>
            </a:r>
            <a:r>
              <a:rPr lang="en-US" dirty="0" smtClean="0">
                <a:latin typeface="Intel Clear"/>
              </a:rPr>
              <a:t>). FYI</a:t>
            </a:r>
            <a:r>
              <a:rPr lang="en-US" dirty="0">
                <a:latin typeface="Intel Clear"/>
              </a:rPr>
              <a:t>…. During LTS sharing, a customer even asking us what type of adhesive that Intel recommended</a:t>
            </a:r>
            <a:r>
              <a:rPr lang="en-US" dirty="0" smtClean="0">
                <a:latin typeface="Intel Clear"/>
              </a:rPr>
              <a:t>.</a:t>
            </a:r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30627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l_template_1_111605_WHITE">
  <a:themeElements>
    <a:clrScheme name="intel_template_1_111605_WHITE 2">
      <a:dk1>
        <a:srgbClr val="0860A8"/>
      </a:dk1>
      <a:lt1>
        <a:srgbClr val="FFFFFF"/>
      </a:lt1>
      <a:dk2>
        <a:srgbClr val="F5E647"/>
      </a:dk2>
      <a:lt2>
        <a:srgbClr val="FF5C47"/>
      </a:lt2>
      <a:accent1>
        <a:srgbClr val="A6CAE1"/>
      </a:accent1>
      <a:accent2>
        <a:srgbClr val="567EB9"/>
      </a:accent2>
      <a:accent3>
        <a:srgbClr val="FFFFFF"/>
      </a:accent3>
      <a:accent4>
        <a:srgbClr val="06518F"/>
      </a:accent4>
      <a:accent5>
        <a:srgbClr val="D0E1EE"/>
      </a:accent5>
      <a:accent6>
        <a:srgbClr val="4D72A7"/>
      </a:accent6>
      <a:hlink>
        <a:srgbClr val="0C2E86"/>
      </a:hlink>
      <a:folHlink>
        <a:srgbClr val="AA014C"/>
      </a:folHlink>
    </a:clrScheme>
    <a:fontScheme name="intel_template_1_111605_WHI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intel_template_1_111605_WHIT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_template_1_111605_WHIT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79FE61D9-DD85-4D81-8CDC-C6473E0006E2}"/>
</file>

<file path=customXml/itemProps2.xml><?xml version="1.0" encoding="utf-8"?>
<ds:datastoreItem xmlns:ds="http://schemas.openxmlformats.org/officeDocument/2006/customXml" ds:itemID="{8D7AC599-1016-4D24-B341-C22D11BD3CB7}"/>
</file>

<file path=customXml/itemProps3.xml><?xml version="1.0" encoding="utf-8"?>
<ds:datastoreItem xmlns:ds="http://schemas.openxmlformats.org/officeDocument/2006/customXml" ds:itemID="{91F5E111-FA58-423B-B07A-1DAF2B0F9F9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13178</TotalTime>
  <Words>875</Words>
  <Application>Microsoft Office PowerPoint</Application>
  <PresentationFormat>On-screen Show (4:3)</PresentationFormat>
  <Paragraphs>169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宋体</vt:lpstr>
      <vt:lpstr>Arial</vt:lpstr>
      <vt:lpstr>Calibri</vt:lpstr>
      <vt:lpstr>Intel Clear</vt:lpstr>
      <vt:lpstr>Times</vt:lpstr>
      <vt:lpstr>Verdana</vt:lpstr>
      <vt:lpstr>Wingdings</vt:lpstr>
      <vt:lpstr>intel_template_1_111605_WHITE</vt:lpstr>
      <vt:lpstr>2017 CNL_ICL Customers CRD Summary Report  Adhesive Section Only  </vt:lpstr>
      <vt:lpstr>Objectives</vt:lpstr>
      <vt:lpstr>Adhesive</vt:lpstr>
      <vt:lpstr>Adhesive on Intel BGA</vt:lpstr>
      <vt:lpstr>Adhesive on Intel BGA</vt:lpstr>
      <vt:lpstr>Adhesive on Intel BGA</vt:lpstr>
      <vt:lpstr>PowerPoint Presentation</vt:lpstr>
      <vt:lpstr>Adhesive on Intel BGA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smoy</dc:creator>
  <cp:keywords>CTPClassification=CTP_IC:VisualMarkings=</cp:keywords>
  <cp:lastModifiedBy>Burkholder, Dan S</cp:lastModifiedBy>
  <cp:revision>332</cp:revision>
  <dcterms:created xsi:type="dcterms:W3CDTF">2011-10-18T02:30:40Z</dcterms:created>
  <dcterms:modified xsi:type="dcterms:W3CDTF">2017-12-11T21:38:07Z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bbf65b74-c0a3-4adc-8d60-4d240b1f7a6e</vt:lpwstr>
  </property>
  <property fmtid="{D5CDD505-2E9C-101B-9397-08002B2CF9AE}" pid="3" name="CTP_BU">
    <vt:lpwstr>TECHNOLOGY MANUFACTURING GROUP</vt:lpwstr>
  </property>
  <property fmtid="{D5CDD505-2E9C-101B-9397-08002B2CF9AE}" pid="4" name="CTP_TimeStamp">
    <vt:lpwstr>2017-12-11 21:38:07Z</vt:lpwstr>
  </property>
  <property fmtid="{D5CDD505-2E9C-101B-9397-08002B2CF9AE}" pid="5" name="CTPClassification">
    <vt:lpwstr>CTP_IC</vt:lpwstr>
  </property>
  <property fmtid="{D5CDD505-2E9C-101B-9397-08002B2CF9AE}" pid="6" name="ContentTypeId">
    <vt:lpwstr>0x010100C25921F9D4874B40A69C72F5C132575A</vt:lpwstr>
  </property>
</Properties>
</file>