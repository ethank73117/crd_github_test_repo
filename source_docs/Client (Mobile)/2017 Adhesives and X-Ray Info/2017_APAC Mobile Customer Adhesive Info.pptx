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9" r:id="rId3"/>
    <p:sldId id="261" r:id="rId4"/>
    <p:sldId id="260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C5"/>
    <a:srgbClr val="F83308"/>
    <a:srgbClr val="FD9208"/>
    <a:srgbClr val="009FDF"/>
    <a:srgbClr val="F3D54E"/>
    <a:srgbClr val="F0CE3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39" autoAdjust="0"/>
    <p:restoredTop sz="85417" autoAdjust="0"/>
  </p:normalViewPr>
  <p:slideViewPr>
    <p:cSldViewPr snapToGrid="0">
      <p:cViewPr varScale="1">
        <p:scale>
          <a:sx n="109" d="100"/>
          <a:sy n="109" d="100"/>
        </p:scale>
        <p:origin x="120" y="594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-319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Arial" panose="020B0604020202020204" pitchFamily="34" charset="0"/>
              </a:rPr>
              <a:pPr/>
              <a:t>4/24/2017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D7FC5FE-6F0D-D34A-8EE6-C95B4F5F4DC8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9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5000" b="0" spc="0" baseline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50pt Intel Clear pro Title</a:t>
            </a:r>
            <a:br>
              <a:rPr lang="en-US" dirty="0" smtClean="0"/>
            </a:br>
            <a:r>
              <a:rPr lang="en-US" dirty="0" smtClean="0"/>
              <a:t>with Linear gradient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16pt Intel Clear Subhead, Date, Etc.</a:t>
            </a:r>
            <a:endParaRPr lang="en-US" dirty="0"/>
          </a:p>
        </p:txBody>
      </p:sp>
      <p:pic>
        <p:nvPicPr>
          <p:cNvPr id="5" name="Picture 4" descr="int_experience_hrz_wht_rgb_1500.png"/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93" y="389228"/>
            <a:ext cx="2121766" cy="887284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3569780" y="4830734"/>
            <a:ext cx="203100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Intel</a:t>
            </a:r>
            <a:r>
              <a:rPr lang="en-US" sz="900" baseline="0" dirty="0" smtClean="0">
                <a:solidFill>
                  <a:schemeClr val="bg1"/>
                </a:solidFill>
              </a:rPr>
              <a:t> Confidential – For Use Under NDA</a:t>
            </a:r>
          </a:p>
          <a:p>
            <a:pPr algn="ctr"/>
            <a:r>
              <a:rPr lang="en-US" sz="900" baseline="0" dirty="0" smtClean="0">
                <a:solidFill>
                  <a:schemeClr val="bg1"/>
                </a:solidFill>
              </a:rPr>
              <a:t>Do Not Reproduce</a:t>
            </a:r>
            <a:endParaRPr lang="en-US" sz="9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00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613387"/>
            <a:ext cx="8228012" cy="4015764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18pt Intel Clear body text</a:t>
            </a:r>
          </a:p>
          <a:p>
            <a:pPr lvl="1"/>
            <a:r>
              <a:rPr lang="en-US" dirty="0" smtClean="0"/>
              <a:t>18pt Intel Clear bullet one</a:t>
            </a:r>
          </a:p>
          <a:p>
            <a:pPr lvl="2"/>
            <a:r>
              <a:rPr lang="en-US" dirty="0" smtClean="0"/>
              <a:t>16pt Intel Clear sub-bullet</a:t>
            </a:r>
          </a:p>
          <a:p>
            <a:pPr lvl="3"/>
            <a:r>
              <a:rPr lang="en-US" dirty="0" smtClean="0"/>
              <a:t>14pt Intel Clear fourth level</a:t>
            </a:r>
          </a:p>
          <a:p>
            <a:pPr lvl="4"/>
            <a:r>
              <a:rPr lang="en-US" dirty="0" smtClean="0"/>
              <a:t>12pt Intel Clear fifth level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55613" y="145410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55613" y="145410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607708"/>
            <a:ext cx="4006851" cy="4021442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smtClean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 smtClean="0"/>
              <a:t>16pt Intel Clear bullet one</a:t>
            </a:r>
          </a:p>
          <a:p>
            <a:pPr lvl="2"/>
            <a:r>
              <a:rPr lang="en-US" dirty="0" err="1" smtClean="0"/>
              <a:t>14pt</a:t>
            </a:r>
            <a:r>
              <a:rPr lang="en-US" dirty="0" smtClean="0"/>
              <a:t> Intel Clear third level</a:t>
            </a:r>
          </a:p>
          <a:p>
            <a:pPr lvl="3"/>
            <a:r>
              <a:rPr lang="en-US" dirty="0" err="1" smtClean="0"/>
              <a:t>12pt</a:t>
            </a:r>
            <a:r>
              <a:rPr lang="en-US" dirty="0" smtClean="0"/>
              <a:t> Intel Clear fourth level</a:t>
            </a:r>
          </a:p>
          <a:p>
            <a:pPr lvl="4"/>
            <a:r>
              <a:rPr lang="en-US" dirty="0" err="1" smtClean="0"/>
              <a:t>12pt</a:t>
            </a:r>
            <a:r>
              <a:rPr lang="en-US" dirty="0" smtClean="0"/>
              <a:t> Intel Clear fifth level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683081" y="607708"/>
            <a:ext cx="4005072" cy="402336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 smtClean="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55613" y="145410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607708"/>
            <a:ext cx="4006851" cy="4021442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smtClean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 smtClean="0"/>
              <a:t>16pt Intel Clear bullet one</a:t>
            </a:r>
          </a:p>
          <a:p>
            <a:pPr lvl="2"/>
            <a:r>
              <a:rPr lang="en-US" dirty="0" err="1" smtClean="0"/>
              <a:t>14pt</a:t>
            </a:r>
            <a:r>
              <a:rPr lang="en-US" dirty="0" smtClean="0"/>
              <a:t> Intel Clear third level</a:t>
            </a:r>
          </a:p>
          <a:p>
            <a:pPr lvl="3"/>
            <a:r>
              <a:rPr lang="en-US" dirty="0" err="1" smtClean="0"/>
              <a:t>12pt</a:t>
            </a:r>
            <a:r>
              <a:rPr lang="en-US" dirty="0" smtClean="0"/>
              <a:t> Intel Clear fourth level</a:t>
            </a:r>
          </a:p>
          <a:p>
            <a:pPr lvl="4"/>
            <a:r>
              <a:rPr lang="en-US" dirty="0" err="1" smtClean="0"/>
              <a:t>12pt</a:t>
            </a:r>
            <a:r>
              <a:rPr lang="en-US" dirty="0" smtClean="0"/>
              <a:t> Intel Clear 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607708"/>
            <a:ext cx="4005264" cy="401576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smtClean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 smtClean="0"/>
              <a:t>16pt Intel Clear bullet one</a:t>
            </a:r>
          </a:p>
          <a:p>
            <a:pPr lvl="2"/>
            <a:r>
              <a:rPr lang="en-US" dirty="0" err="1" smtClean="0"/>
              <a:t>14pt</a:t>
            </a:r>
            <a:r>
              <a:rPr lang="en-US" dirty="0" smtClean="0"/>
              <a:t> Intel Clear third level</a:t>
            </a:r>
          </a:p>
          <a:p>
            <a:pPr lvl="3"/>
            <a:r>
              <a:rPr lang="en-US" dirty="0" err="1" smtClean="0"/>
              <a:t>12pt</a:t>
            </a:r>
            <a:r>
              <a:rPr lang="en-US" dirty="0" smtClean="0"/>
              <a:t> Intel Clear fourth level</a:t>
            </a:r>
          </a:p>
          <a:p>
            <a:pPr lvl="4"/>
            <a:r>
              <a:rPr lang="en-US" dirty="0" err="1" smtClean="0"/>
              <a:t>12pt</a:t>
            </a:r>
            <a:r>
              <a:rPr lang="en-US" dirty="0" smtClean="0"/>
              <a:t> Intel Clear 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55613" y="145410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40pt Intel Clear Pro</a:t>
            </a:r>
            <a:br>
              <a:rPr lang="en-US" dirty="0" smtClean="0"/>
            </a:br>
            <a:r>
              <a:rPr lang="en-US" dirty="0" smtClean="0"/>
              <a:t>white section break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16pt Intel Clear Subhead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40pt Intel Clear Pro</a:t>
            </a:r>
            <a:br>
              <a:rPr lang="en-US" dirty="0" smtClean="0"/>
            </a:br>
            <a:r>
              <a:rPr lang="en-US" dirty="0" smtClean="0"/>
              <a:t>blue section break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16pt Intel Clear Subhead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3569780" y="4849206"/>
            <a:ext cx="203100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Intel</a:t>
            </a:r>
            <a:r>
              <a:rPr lang="en-US" sz="900" baseline="0" dirty="0" smtClean="0">
                <a:solidFill>
                  <a:schemeClr val="bg1"/>
                </a:solidFill>
              </a:rPr>
              <a:t> Confidential – For Use Under NDA</a:t>
            </a:r>
          </a:p>
          <a:p>
            <a:pPr algn="ctr"/>
            <a:r>
              <a:rPr lang="en-US" sz="900" baseline="0" dirty="0" smtClean="0">
                <a:solidFill>
                  <a:schemeClr val="bg1"/>
                </a:solidFill>
              </a:rPr>
              <a:t>Do Not Reproduce</a:t>
            </a:r>
            <a:endParaRPr lang="en-US" sz="9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3569780" y="4830734"/>
            <a:ext cx="203100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Intel</a:t>
            </a:r>
            <a:r>
              <a:rPr lang="en-US" sz="900" baseline="0" dirty="0" smtClean="0">
                <a:solidFill>
                  <a:schemeClr val="bg1"/>
                </a:solidFill>
              </a:rPr>
              <a:t> Confidential – For Use Under NDA</a:t>
            </a:r>
          </a:p>
          <a:p>
            <a:pPr algn="ctr"/>
            <a:r>
              <a:rPr lang="en-US" sz="900" baseline="0" dirty="0" smtClean="0">
                <a:solidFill>
                  <a:schemeClr val="bg1"/>
                </a:solidFill>
              </a:rPr>
              <a:t>Do Not Reproduce</a:t>
            </a:r>
            <a:endParaRPr lang="en-US" sz="9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32000">
                <a:schemeClr val="tx2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145410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28pt Intel Clear Headline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596349"/>
            <a:ext cx="8228012" cy="40328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18pt Intel Clear body text</a:t>
            </a:r>
          </a:p>
          <a:p>
            <a:pPr lvl="1"/>
            <a:r>
              <a:rPr lang="en-US" dirty="0" smtClean="0"/>
              <a:t>16pt Intel Clear bullet one</a:t>
            </a:r>
          </a:p>
          <a:p>
            <a:pPr lvl="2"/>
            <a:r>
              <a:rPr lang="en-US" dirty="0" smtClean="0"/>
              <a:t>16pt Intel Clear sub-bullet</a:t>
            </a:r>
          </a:p>
          <a:p>
            <a:pPr lvl="3"/>
            <a:r>
              <a:rPr lang="en-US" dirty="0" err="1" smtClean="0"/>
              <a:t>14pt</a:t>
            </a:r>
            <a:r>
              <a:rPr lang="en-US" dirty="0" smtClean="0"/>
              <a:t> Intel Clear fourth level</a:t>
            </a:r>
          </a:p>
          <a:p>
            <a:pPr lvl="4"/>
            <a:r>
              <a:rPr lang="en-US" dirty="0" err="1" smtClean="0"/>
              <a:t>14pt</a:t>
            </a:r>
            <a:r>
              <a:rPr lang="en-US" dirty="0" smtClean="0"/>
              <a:t> Intel Clear 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3569780" y="4830734"/>
            <a:ext cx="203100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Intel</a:t>
            </a:r>
            <a:r>
              <a:rPr lang="en-US" sz="900" baseline="0" dirty="0" smtClean="0">
                <a:solidFill>
                  <a:schemeClr val="bg1"/>
                </a:solidFill>
              </a:rPr>
              <a:t> Confidential – For Use Under NDA</a:t>
            </a:r>
          </a:p>
          <a:p>
            <a:pPr algn="ctr"/>
            <a:r>
              <a:rPr lang="en-US" sz="900" baseline="0" dirty="0" smtClean="0">
                <a:solidFill>
                  <a:schemeClr val="bg1"/>
                </a:solidFill>
              </a:rPr>
              <a:t>Do Not Reproduce</a:t>
            </a:r>
            <a:endParaRPr lang="en-US" sz="900" dirty="0" smtClean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7" y="4740415"/>
            <a:ext cx="380104" cy="39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0" r:id="rId2"/>
    <p:sldLayoutId id="2147483654" r:id="rId3"/>
    <p:sldLayoutId id="2147483684" r:id="rId4"/>
    <p:sldLayoutId id="2147483652" r:id="rId5"/>
    <p:sldLayoutId id="2147483655" r:id="rId6"/>
    <p:sldLayoutId id="2147483672" r:id="rId7"/>
    <p:sldLayoutId id="2147483651" r:id="rId8"/>
    <p:sldLayoutId id="2147483681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i="0" kern="1200" spc="0" baseline="0">
          <a:solidFill>
            <a:schemeClr val="tx2"/>
          </a:solidFill>
          <a:latin typeface="+mj-lt"/>
          <a:ea typeface="Intel Clear"/>
          <a:cs typeface="Arial" panose="020B0604020202020204" pitchFamily="34" charset="0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Arial" panose="020B0604020202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687" y="2093757"/>
            <a:ext cx="8212886" cy="1102519"/>
          </a:xfrm>
        </p:spPr>
        <p:txBody>
          <a:bodyPr/>
          <a:lstStyle/>
          <a:p>
            <a:r>
              <a:rPr lang="en-US" dirty="0" smtClean="0"/>
              <a:t>APAC Client ODM - BGA Adhesive Usage Information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86" y="3791182"/>
            <a:ext cx="8699313" cy="92536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Updated as of WW16’17</a:t>
            </a:r>
          </a:p>
          <a:p>
            <a:r>
              <a:rPr lang="en-US" dirty="0" smtClean="0"/>
              <a:t>Ack: CMEE Team for collecting this information (SA Moy, Harry Yu, Jagadeesh Radhakrishnan)</a:t>
            </a:r>
            <a:endParaRPr lang="en-US" dirty="0"/>
          </a:p>
        </p:txBody>
      </p:sp>
      <p:sp>
        <p:nvSpPr>
          <p:cNvPr id="4" name="Regular Pentagon 3"/>
          <p:cNvSpPr/>
          <p:nvPr/>
        </p:nvSpPr>
        <p:spPr>
          <a:xfrm>
            <a:off x="4843550" y="0"/>
            <a:ext cx="2072640" cy="1956262"/>
          </a:xfrm>
          <a:prstGeom prst="pentagon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smtClean="0">
                <a:solidFill>
                  <a:srgbClr val="FF0000"/>
                </a:solidFill>
              </a:rPr>
              <a:t>Customer Sensitive Information – Never Forward, Never Share</a:t>
            </a:r>
            <a:endParaRPr lang="en-US" sz="1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3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898" y="0"/>
            <a:ext cx="8229600" cy="399808"/>
          </a:xfrm>
        </p:spPr>
        <p:txBody>
          <a:bodyPr/>
          <a:lstStyle/>
          <a:p>
            <a:r>
              <a:rPr lang="en-US" dirty="0" smtClean="0"/>
              <a:t>BGA Adhesive Usage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88026331"/>
              </p:ext>
            </p:extLst>
          </p:nvPr>
        </p:nvGraphicFramePr>
        <p:xfrm>
          <a:off x="131762" y="969937"/>
          <a:ext cx="8930984" cy="3752613"/>
        </p:xfrm>
        <a:graphic>
          <a:graphicData uri="http://schemas.openxmlformats.org/drawingml/2006/table">
            <a:tbl>
              <a:tblPr/>
              <a:tblGrid>
                <a:gridCol w="89924"/>
                <a:gridCol w="1289484"/>
                <a:gridCol w="696686"/>
                <a:gridCol w="628261"/>
                <a:gridCol w="615821"/>
                <a:gridCol w="653143"/>
                <a:gridCol w="608700"/>
                <a:gridCol w="568154"/>
                <a:gridCol w="568154"/>
                <a:gridCol w="568154"/>
                <a:gridCol w="568154"/>
                <a:gridCol w="568154"/>
                <a:gridCol w="1508195"/>
              </a:tblGrid>
              <a:tr h="73574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BGA Adhesive</a:t>
                      </a: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722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Inventec CQ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Quanta CQ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Quanta SH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Compal CQ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Compal 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Wistron 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LCFC / Lenovo</a:t>
                      </a:r>
                      <a:endParaRPr lang="en-US" sz="1000" b="1" i="0" u="none" strike="noStrike" dirty="0">
                        <a:solidFill>
                          <a:srgbClr val="E26B0A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Pega SZ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MSFT / JDM1</a:t>
                      </a:r>
                      <a:endParaRPr lang="en-US" sz="1000" b="1" i="0" u="none" strike="noStrike" dirty="0">
                        <a:solidFill>
                          <a:srgbClr val="E26B0A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26B0A"/>
                          </a:solidFill>
                          <a:effectLst/>
                          <a:latin typeface="Intel Clear" panose="020B0604020203020204" pitchFamily="34" charset="0"/>
                        </a:rPr>
                        <a:t>MSI 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</a:rPr>
                        <a:t>Summary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722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Are you currently using adhestive for Intel BGA in HVM?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100% underfill for all projects request by customer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Not for Intel CPU, because pass reliability test w/o glue.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Except for Microsoft,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all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customers are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using corner glue (Red glue or UV glue), LCFC/Lenovo are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also using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underfill.</a:t>
                      </a:r>
                    </a:p>
                  </a:txBody>
                  <a:tcPr marL="3066" marR="3066" marT="306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148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What's the reason you apply adhesive for Intel BGA?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Enhancing BGA balls' solderability &amp; reliability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Prevent solder crack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Prevent solder crack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Customer request (Major customer Acer)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reliability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crack resistance 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Reliability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Reliability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Increase strength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Reliability, prevent solder crack</a:t>
                      </a:r>
                    </a:p>
                  </a:txBody>
                  <a:tcPr marL="3066" marR="3066" marT="306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148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What are you using (Example: Corner Glue, Corner dot, underfill, underfilm, corner fill)?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corner glue.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Corner Glue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Corner Glue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Corner Glue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Plant 3: Corner Glue, </a:t>
                      </a:r>
                      <a:endParaRPr lang="en-US" sz="700" b="0" i="0" u="none" strike="noStrike" dirty="0" smtClean="0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Plant </a:t>
                      </a: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4: Underfill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Corner Glue / Underfill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Underfill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UV coner bond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Corner Glue, cover until 6th balls.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Corner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glue is predominantly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used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722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What's the vendor name and model of the adhesive material you are using?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Loctite 3619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Loctite 3609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Loctite 3609, UV glue (EICT)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UV (Vendor: U-BOND; Model</a:t>
                      </a:r>
                      <a:r>
                        <a:rPr lang="en-US" sz="700" b="0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: UB-4305</a:t>
                      </a: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Plant 3: Loctite 3705 (UV Glue), </a:t>
                      </a:r>
                      <a:r>
                        <a:rPr lang="en-US" sz="700" b="0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  <a:p>
                      <a:pPr algn="ctr" fontAlgn="b"/>
                      <a:r>
                        <a:rPr lang="en-US" sz="700" b="0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Plant </a:t>
                      </a: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4: TBD…..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Corner Glue dot: Panasonic ADE480D-1</a:t>
                      </a:r>
                      <a:b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Underfill:ASEC-AS3910 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ACES, COOTEK, TaiLiDe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視域</a:t>
                      </a:r>
                      <a:r>
                        <a:rPr lang="en-US" altLang="ja-JP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:</a:t>
                      </a: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UV649/</a:t>
                      </a:r>
                      <a:r>
                        <a:rPr lang="ja-JP" alt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信友</a:t>
                      </a:r>
                      <a:r>
                        <a:rPr lang="en-US" altLang="ja-JP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:3329/</a:t>
                      </a: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DYMAX </a:t>
                      </a:r>
                      <a:r>
                        <a:rPr lang="en-US" sz="700" b="0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9-20558 /</a:t>
                      </a: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Loctite 3705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Vendor </a:t>
                      </a:r>
                      <a:r>
                        <a:rPr lang="en-US" sz="700" b="0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: </a:t>
                      </a:r>
                      <a:r>
                        <a:rPr lang="en-US" sz="700" b="0" i="0" u="none" strike="noStrike" dirty="0" err="1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ZhongYu</a:t>
                      </a:r>
                      <a:r>
                        <a:rPr lang="en-US" sz="700" b="0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    </a:t>
                      </a: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Model</a:t>
                      </a:r>
                      <a:r>
                        <a:rPr lang="en-US" sz="700" b="0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: ZY-303</a:t>
                      </a: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/>
                      </a:r>
                      <a:b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UV cure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66" marR="3066" marT="306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86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Where in the board manufacturing process is the adhesive applied (Ex. Before SMT (or) After SMT/Before Functional Test (or) After SMT/After Functional Test)?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After SMT / Before Functional Test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After SMT/Before Functional Test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After SMT/Before ICT Test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After SMT/Before ICT or ATE test 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Plant 3: After reflow, before ICT, </a:t>
                      </a:r>
                      <a:endParaRPr lang="en-US" sz="700" b="0" i="0" u="none" strike="noStrike" dirty="0" smtClean="0">
                        <a:solidFill>
                          <a:srgbClr val="E26B0A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smtClean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Plant </a:t>
                      </a:r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4: After ICT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After SMT / Before Functional Test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After function test (ATE test still on for most project unless test coverage very low)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After SMT/Before Functional Test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After SMT, passing AOI, Glue --&gt; Routing --&gt; ICT 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Surprisingly,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almost all customer applying  adhesive after SMT,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but before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ICT test, to prevent solder crack during the test. LCFC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applies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underfill after test because underfill hard to rework</a:t>
                      </a:r>
                    </a:p>
                  </a:txBody>
                  <a:tcPr marL="3066" marR="3066" marT="306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574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 the adhesive reworkable?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Yes.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Plant 3: Yes, Plant 4: difficult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Reworkable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Yes, but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Compal said the underfill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 hard to rework</a:t>
                      </a:r>
                    </a:p>
                  </a:txBody>
                  <a:tcPr marL="3066" marR="3066" marT="306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574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 the adhesive applied in-line or off-line process?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in-line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In line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In line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in-line 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on line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In-line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in line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in-line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E26B0A"/>
                          </a:solidFill>
                          <a:effectLst/>
                          <a:latin typeface="+mn-lt"/>
                        </a:rPr>
                        <a:t>In-line</a:t>
                      </a:r>
                    </a:p>
                  </a:txBody>
                  <a:tcPr marL="3066" marR="3066" marT="30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all in line</a:t>
                      </a:r>
                    </a:p>
                  </a:txBody>
                  <a:tcPr marL="3066" marR="3066" marT="306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0812" y="444838"/>
            <a:ext cx="90322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information was capture during the Cannon Lake Platform Intro tour. These 10 </a:t>
            </a:r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 customers are </a:t>
            </a:r>
            <a:r>
              <a:rPr lang="en-US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focused </a:t>
            </a:r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laptop </a:t>
            </a:r>
            <a:r>
              <a:rPr lang="en-US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&amp; </a:t>
            </a:r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2-in-1 </a:t>
            </a:r>
            <a:r>
              <a:rPr lang="en-US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manufacturing, so this Q&amp;A </a:t>
            </a:r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more toward to this segment.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9169" y="53457"/>
            <a:ext cx="5237018" cy="41549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vert="horz" wrap="square" lIns="91440" tIns="0" rIns="91440" bIns="0" rtlCol="0">
            <a:spAutoFit/>
          </a:bodyPr>
          <a:lstStyle/>
          <a:p>
            <a:r>
              <a:rPr lang="en-US" sz="900" dirty="0" smtClean="0">
                <a:solidFill>
                  <a:srgbClr val="003C71"/>
                </a:solidFill>
              </a:rPr>
              <a:t>Update as of April 2017. Clarification from Lenovo: For BGA adhesives they don’t use a full underfill, instead they use “corner fill” (Loctite 3910 adhesive), which covers a min of 5 solderballs in all 4 corners. It could be applied at any of their key ODM sites: Wistron, Quanta &amp; Compal.</a:t>
            </a:r>
          </a:p>
        </p:txBody>
      </p:sp>
    </p:spTree>
    <p:extLst>
      <p:ext uri="{BB962C8B-B14F-4D97-AF65-F5344CB8AC3E}">
        <p14:creationId xmlns:p14="http://schemas.microsoft.com/office/powerpoint/2010/main" val="429250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5613" y="613387"/>
            <a:ext cx="8228012" cy="1384995"/>
          </a:xfrm>
        </p:spPr>
        <p:txBody>
          <a:bodyPr>
            <a:spAutoFit/>
          </a:bodyPr>
          <a:lstStyle/>
          <a:p>
            <a:r>
              <a:rPr lang="en-US" dirty="0"/>
              <a:t>I had looked at teardowns of Intel and non-Intel based tablets (back when we were still focused on Tablets</a:t>
            </a:r>
            <a:r>
              <a:rPr lang="en-US" dirty="0" smtClean="0"/>
              <a:t>). At </a:t>
            </a:r>
            <a:r>
              <a:rPr lang="en-US" dirty="0"/>
              <a:t>that time, I noticed that all </a:t>
            </a:r>
            <a:r>
              <a:rPr lang="en-US" dirty="0" err="1"/>
              <a:t>SoCs</a:t>
            </a:r>
            <a:r>
              <a:rPr lang="en-US" dirty="0"/>
              <a:t> (Intel and non-Intel) had corner glue or </a:t>
            </a:r>
            <a:r>
              <a:rPr lang="en-US" dirty="0" smtClean="0"/>
              <a:t>underfill. So</a:t>
            </a:r>
            <a:r>
              <a:rPr lang="en-US" dirty="0"/>
              <a:t>, I would safely say adhesives are common in </a:t>
            </a:r>
            <a:r>
              <a:rPr lang="en-US" dirty="0" smtClean="0"/>
              <a:t>laptop / 2-in-1 / tablets / cellphones, and adhesives </a:t>
            </a:r>
            <a:r>
              <a:rPr lang="en-US" dirty="0"/>
              <a:t>are less prevalent in DT and </a:t>
            </a:r>
            <a:r>
              <a:rPr lang="en-US" dirty="0" smtClean="0"/>
              <a:t>servers.</a:t>
            </a:r>
            <a:r>
              <a:rPr lang="en-US" dirty="0"/>
              <a:t> </a:t>
            </a:r>
            <a:r>
              <a:rPr lang="en-US" dirty="0" smtClean="0"/>
              <a:t>Cell </a:t>
            </a:r>
            <a:r>
              <a:rPr lang="en-US" dirty="0"/>
              <a:t>phones tend to have full underfill.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Info per Jagadeesh</a:t>
            </a:r>
            <a:endParaRPr lang="en-US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455613" y="2421365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2"/>
                </a:solidFill>
                <a:latin typeface="+mj-lt"/>
                <a:ea typeface="Intel Clear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Additional Info per SA Moy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5613" y="2962887"/>
            <a:ext cx="8228012" cy="166199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tablet, I think it is much more sensitive on mobility (drop test performance). Moreover, if our future is also focusing on LTS process, solder joint protection with using adhesive is a key. In this case, we also need to remind package platform guys that to consider keep out zone for adhesive (corner glue</a:t>
            </a:r>
            <a:r>
              <a:rPr lang="en-US" dirty="0" smtClean="0"/>
              <a:t>). FYI</a:t>
            </a:r>
            <a:r>
              <a:rPr lang="en-US" dirty="0"/>
              <a:t>…. During LTS sharing, a customer even asking us what type of adhesive that Intel recommended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08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4824413"/>
            <a:ext cx="2133600" cy="273050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71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 [Read-Only]" id="{2C1B126A-0C34-4084-9959-FD334E8EA775}" vid="{154EFC2F-8E87-4429-B41D-4A4F48671A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6A28F57F-B5AB-4997-8584-10029FD37FEC}"/>
</file>

<file path=customXml/itemProps2.xml><?xml version="1.0" encoding="utf-8"?>
<ds:datastoreItem xmlns:ds="http://schemas.openxmlformats.org/officeDocument/2006/customXml" ds:itemID="{2419563D-BC48-4333-AA03-BEF8AA1AB51A}"/>
</file>

<file path=customXml/itemProps3.xml><?xml version="1.0" encoding="utf-8"?>
<ds:datastoreItem xmlns:ds="http://schemas.openxmlformats.org/officeDocument/2006/customXml" ds:itemID="{FF1895BF-5F1B-425A-B057-B71CDF12B4B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786</Words>
  <Application>Microsoft Office PowerPoint</Application>
  <PresentationFormat>On-screen Show (16:9)</PresentationFormat>
  <Paragraphs>120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Intel Clear</vt:lpstr>
      <vt:lpstr>Times New Roman</vt:lpstr>
      <vt:lpstr>Wingdings</vt:lpstr>
      <vt:lpstr>Int_PPT Template_ClearPro_16x9</vt:lpstr>
      <vt:lpstr>APAC Client ODM - BGA Adhesive Usage Information</vt:lpstr>
      <vt:lpstr>BGA Adhesive Usage</vt:lpstr>
      <vt:lpstr>Additional Info per Jagadeesh</vt:lpstr>
      <vt:lpstr>PowerPoint Presentation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CTPClassification=CTP_IC:VisualMarkings=</cp:keywords>
  <cp:lastModifiedBy/>
  <cp:revision>1</cp:revision>
  <dcterms:created xsi:type="dcterms:W3CDTF">2015-11-03T21:25:37Z</dcterms:created>
  <dcterms:modified xsi:type="dcterms:W3CDTF">2017-04-24T21:48:26Z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47f5bf47-3334-46f3-bc69-0212febd8c91</vt:lpwstr>
  </property>
  <property fmtid="{D5CDD505-2E9C-101B-9397-08002B2CF9AE}" pid="3" name="CTP_BU">
    <vt:lpwstr>TECHNOLOGY MANUFACTURING GROUP</vt:lpwstr>
  </property>
  <property fmtid="{D5CDD505-2E9C-101B-9397-08002B2CF9AE}" pid="4" name="CTP_TimeStamp">
    <vt:lpwstr>2016-09-27 15:44:45Z</vt:lpwstr>
  </property>
  <property fmtid="{D5CDD505-2E9C-101B-9397-08002B2CF9AE}" pid="5" name="CTPClassification">
    <vt:lpwstr>CTP_IC</vt:lpwstr>
  </property>
  <property fmtid="{D5CDD505-2E9C-101B-9397-08002B2CF9AE}" pid="6" name="ContentTypeId">
    <vt:lpwstr>0x010100C25921F9D4874B40A69C72F5C132575A</vt:lpwstr>
  </property>
</Properties>
</file>