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48" r:id="rId1"/>
  </p:sldMasterIdLst>
  <p:sldIdLst>
    <p:sldId id="256" r:id="rId2"/>
    <p:sldId id="261" r:id="rId3"/>
    <p:sldId id="257" r:id="rId4"/>
    <p:sldId id="260" r:id="rId5"/>
    <p:sldId id="258" r:id="rId6"/>
    <p:sldId id="259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1">
          <p15:clr>
            <a:srgbClr val="A4A3A4"/>
          </p15:clr>
        </p15:guide>
        <p15:guide id="2" orient="horz" pos="3004">
          <p15:clr>
            <a:srgbClr val="A4A3A4"/>
          </p15:clr>
        </p15:guide>
        <p15:guide id="3" orient="horz" pos="422">
          <p15:clr>
            <a:srgbClr val="A4A3A4"/>
          </p15:clr>
        </p15:guide>
        <p15:guide id="4" orient="horz" pos="824">
          <p15:clr>
            <a:srgbClr val="A4A3A4"/>
          </p15:clr>
        </p15:guide>
        <p15:guide id="5" orient="horz" pos="2916">
          <p15:clr>
            <a:srgbClr val="A4A3A4"/>
          </p15:clr>
        </p15:guide>
        <p15:guide id="6" orient="horz" pos="1643">
          <p15:clr>
            <a:srgbClr val="A4A3A4"/>
          </p15:clr>
        </p15:guide>
        <p15:guide id="7" pos="5470">
          <p15:clr>
            <a:srgbClr val="A4A3A4"/>
          </p15:clr>
        </p15:guide>
        <p15:guide id="8" pos="287">
          <p15:clr>
            <a:srgbClr val="A4A3A4"/>
          </p15:clr>
        </p15:guide>
        <p15:guide id="9" pos="2909">
          <p15:clr>
            <a:srgbClr val="A4A3A4"/>
          </p15:clr>
        </p15:guide>
        <p15:guide id="10" pos="2811">
          <p15:clr>
            <a:srgbClr val="A4A3A4"/>
          </p15:clr>
        </p15:guide>
        <p15:guide id="11" pos="285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26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80" y="136"/>
      </p:cViewPr>
      <p:guideLst>
        <p:guide orient="horz" pos="1581"/>
        <p:guide orient="horz" pos="3004"/>
        <p:guide orient="horz" pos="422"/>
        <p:guide orient="horz" pos="824"/>
        <p:guide orient="horz" pos="2916"/>
        <p:guide orient="horz" pos="1643"/>
        <p:guide pos="5470"/>
        <p:guide pos="287"/>
        <p:guide pos="2909"/>
        <p:guide pos="2811"/>
        <p:guide pos="285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with Radial Gradient">
    <p:bg>
      <p:bgPr>
        <a:blipFill dpi="0"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1977814"/>
            <a:ext cx="8212886" cy="1604128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/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 smtClean="0"/>
              <a:t>Intel Clear pro Title</a:t>
            </a:r>
            <a:br>
              <a:rPr lang="en-US" dirty="0" smtClean="0"/>
            </a:br>
            <a:r>
              <a:rPr lang="en-US" dirty="0" smtClean="0"/>
              <a:t>with radial gradient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44687" y="3581942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Intel Clear Subhead, Date, Etc.</a:t>
            </a:r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83241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b="0" i="0" baseline="0">
                <a:solidFill>
                  <a:srgbClr val="003C71"/>
                </a:solidFill>
                <a:latin typeface="Intel Clear"/>
                <a:cs typeface="Intel Clear"/>
              </a:defRPr>
            </a:lvl1pPr>
          </a:lstStyle>
          <a:p>
            <a:r>
              <a:rPr lang="en-US" dirty="0" smtClean="0"/>
              <a:t>28pt Intel Clear Headline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455613" y="1225001"/>
            <a:ext cx="8228012" cy="3498975"/>
          </a:xfrm>
        </p:spPr>
        <p:txBody>
          <a:bodyPr/>
          <a:lstStyle>
            <a:lvl1pPr>
              <a:defRPr baseline="0">
                <a:solidFill>
                  <a:srgbClr val="0071C5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 smtClean="0"/>
              <a:t>Intro sentence or paragraph has no bullet and is Intel Blue</a:t>
            </a:r>
          </a:p>
          <a:p>
            <a:pPr lvl="1"/>
            <a:r>
              <a:rPr lang="en-US" dirty="0" smtClean="0"/>
              <a:t>Intel Clear bullet one</a:t>
            </a:r>
          </a:p>
          <a:p>
            <a:pPr lvl="2"/>
            <a:r>
              <a:rPr lang="en-US" dirty="0" smtClean="0"/>
              <a:t>Intel Clear sub-bullet</a:t>
            </a:r>
          </a:p>
          <a:p>
            <a:pPr lvl="3"/>
            <a:r>
              <a:rPr lang="en-US" dirty="0" smtClean="0"/>
              <a:t>Intel Clear fourth level</a:t>
            </a:r>
          </a:p>
          <a:p>
            <a:pPr lvl="4"/>
            <a:r>
              <a:rPr lang="en-US" dirty="0" smtClean="0"/>
              <a:t>Intel Clear 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5118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4678363" y="1"/>
            <a:ext cx="4465637" cy="4768849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Insert photo here. Drag picture to placeholder or click icon to add.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4006850" cy="868680"/>
          </a:xfrm>
        </p:spPr>
        <p:txBody>
          <a:bodyPr>
            <a:noAutofit/>
          </a:bodyPr>
          <a:lstStyle>
            <a:lvl1pPr>
              <a:defRPr sz="2400" b="0" i="0" baseline="0">
                <a:latin typeface="Intel Clear"/>
                <a:cs typeface="Intel Clear"/>
              </a:defRPr>
            </a:lvl1pPr>
          </a:lstStyle>
          <a:p>
            <a:r>
              <a:rPr lang="en-US" dirty="0" smtClean="0"/>
              <a:t>Intel Clear Headline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4" y="1325244"/>
            <a:ext cx="4006850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sz="1400" dirty="0" smtClean="0"/>
            </a:lvl3pPr>
            <a:lvl4pPr>
              <a:defRPr lang="en-US" sz="1200" dirty="0" smtClean="0"/>
            </a:lvl4pPr>
            <a:lvl5pPr>
              <a:defRPr lang="en-US" sz="1100" dirty="0"/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smtClean="0"/>
              <a:t>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 smtClean="0"/>
              <a:t>Intel Clear bullet one</a:t>
            </a:r>
          </a:p>
          <a:p>
            <a:pPr lvl="2"/>
            <a:r>
              <a:rPr lang="en-US" dirty="0" smtClean="0"/>
              <a:t>Intel Clear third level</a:t>
            </a:r>
          </a:p>
          <a:p>
            <a:pPr lvl="3"/>
            <a:r>
              <a:rPr lang="en-US" dirty="0" smtClean="0"/>
              <a:t>Intel Clear fourth level</a:t>
            </a:r>
          </a:p>
          <a:p>
            <a:pPr lvl="4"/>
            <a:r>
              <a:rPr lang="en-US" dirty="0" smtClean="0"/>
              <a:t>Intel Clear 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085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Keynote Encoder 1\Desktop\Picture2.jp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4000" cy="5145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b="0" i="0" baseline="0">
                <a:solidFill>
                  <a:schemeClr val="bg1"/>
                </a:solidFill>
                <a:latin typeface="Intel Clear"/>
                <a:cs typeface="Intel Clear"/>
              </a:defRPr>
            </a:lvl1pPr>
          </a:lstStyle>
          <a:p>
            <a:r>
              <a:rPr lang="en-US" dirty="0" smtClean="0"/>
              <a:t>28pt Intel Clear Headline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455613" y="1218224"/>
            <a:ext cx="8228012" cy="34989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smtClean="0"/>
              <a:t>Intel Clear body text</a:t>
            </a:r>
          </a:p>
          <a:p>
            <a:pPr lvl="1"/>
            <a:r>
              <a:rPr lang="en-US" dirty="0" smtClean="0"/>
              <a:t>Intel Clear bullet one</a:t>
            </a:r>
          </a:p>
          <a:p>
            <a:pPr lvl="2"/>
            <a:r>
              <a:rPr lang="en-US" dirty="0" smtClean="0"/>
              <a:t>Intel Clear sub-bullet</a:t>
            </a:r>
          </a:p>
          <a:p>
            <a:pPr lvl="3"/>
            <a:r>
              <a:rPr lang="en-US" dirty="0" smtClean="0"/>
              <a:t>Intel Clear fourth level</a:t>
            </a:r>
          </a:p>
          <a:p>
            <a:pPr lvl="4"/>
            <a:r>
              <a:rPr lang="en-US" dirty="0" smtClean="0"/>
              <a:t>Intel Clear fifth level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-1587" y="4759452"/>
            <a:ext cx="9144000" cy="384048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50000">
                <a:schemeClr val="accent2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2" descr="\\.psf\Home\Desktop\Intel.pn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39915" y="4830589"/>
            <a:ext cx="364336" cy="240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Connector 10"/>
          <p:cNvCxnSpPr/>
          <p:nvPr/>
        </p:nvCxnSpPr>
        <p:spPr>
          <a:xfrm>
            <a:off x="8718551" y="4824510"/>
            <a:ext cx="2381" cy="237744"/>
          </a:xfrm>
          <a:prstGeom prst="line">
            <a:avLst/>
          </a:prstGeom>
          <a:ln w="9525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856384" y="4837215"/>
            <a:ext cx="2886324" cy="25338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 smtClean="0">
                <a:solidFill>
                  <a:schemeClr val="bg1"/>
                </a:solidFill>
              </a:rPr>
              <a:t>Intel Confidential  |  Internal Use Only – Do Not Distribute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1498" y="4813599"/>
            <a:ext cx="247535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1200" b="1" dirty="0" smtClean="0">
                <a:solidFill>
                  <a:schemeClr val="bg1"/>
                </a:solidFill>
                <a:latin typeface="+mj-lt"/>
              </a:rPr>
              <a:t>CQR | </a:t>
            </a:r>
            <a:r>
              <a:rPr lang="en-US" sz="1100" dirty="0" smtClean="0">
                <a:solidFill>
                  <a:schemeClr val="bg1"/>
                </a:solidFill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</a:rPr>
              <a:t>Customer Quality &amp; Reliability</a:t>
            </a:r>
            <a:endParaRPr lang="en-US" sz="1200" dirty="0" smtClean="0">
              <a:solidFill>
                <a:schemeClr val="bg1"/>
              </a:solidFill>
              <a:latin typeface="Intel Clear Light" panose="020B0404020203020204" pitchFamily="34" charset="0"/>
              <a:ea typeface="Intel Clear Light" panose="020B0404020203020204" pitchFamily="34" charset="0"/>
              <a:cs typeface="Intel Clear Light" panose="020B0404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3010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Bulleted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b="0" i="0" baseline="0">
                <a:solidFill>
                  <a:schemeClr val="bg1"/>
                </a:solidFill>
                <a:latin typeface="Intel Clear"/>
                <a:cs typeface="Intel Clear"/>
              </a:defRPr>
            </a:lvl1pPr>
          </a:lstStyle>
          <a:p>
            <a:r>
              <a:rPr lang="en-US" dirty="0" smtClean="0"/>
              <a:t>28pt Intel Clear Headline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455613" y="1218227"/>
            <a:ext cx="8228012" cy="34989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smtClean="0"/>
              <a:t>Intel Clear body text</a:t>
            </a:r>
          </a:p>
          <a:p>
            <a:pPr lvl="1"/>
            <a:r>
              <a:rPr lang="en-US" dirty="0" smtClean="0"/>
              <a:t>Intel Clear bullet one</a:t>
            </a:r>
          </a:p>
          <a:p>
            <a:pPr lvl="2"/>
            <a:r>
              <a:rPr lang="en-US" dirty="0" smtClean="0"/>
              <a:t>Intel Clear sub-bullet</a:t>
            </a:r>
          </a:p>
          <a:p>
            <a:pPr lvl="3"/>
            <a:r>
              <a:rPr lang="en-US" dirty="0" smtClean="0"/>
              <a:t>Intel Clear fourth level</a:t>
            </a:r>
          </a:p>
          <a:p>
            <a:pPr lvl="4"/>
            <a:r>
              <a:rPr lang="en-US" dirty="0" smtClean="0"/>
              <a:t>Intel Clear fifth level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-1587" y="4759452"/>
            <a:ext cx="9144000" cy="384048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50000">
                <a:schemeClr val="accent2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2" descr="\\.psf\Home\Desktop\Intel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39915" y="4830589"/>
            <a:ext cx="364336" cy="240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Connector 10"/>
          <p:cNvCxnSpPr/>
          <p:nvPr/>
        </p:nvCxnSpPr>
        <p:spPr>
          <a:xfrm>
            <a:off x="8718551" y="4824510"/>
            <a:ext cx="2381" cy="237744"/>
          </a:xfrm>
          <a:prstGeom prst="line">
            <a:avLst/>
          </a:prstGeom>
          <a:ln w="9525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856384" y="4837215"/>
            <a:ext cx="2886324" cy="25338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 smtClean="0">
                <a:solidFill>
                  <a:schemeClr val="bg1"/>
                </a:solidFill>
              </a:rPr>
              <a:t>Intel Confidential  |  Internal Use Only – Do Not Distribute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1498" y="4813599"/>
            <a:ext cx="247535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1200" b="1" dirty="0" smtClean="0">
                <a:solidFill>
                  <a:schemeClr val="bg1"/>
                </a:solidFill>
                <a:latin typeface="+mj-lt"/>
              </a:rPr>
              <a:t>CQR | </a:t>
            </a:r>
            <a:r>
              <a:rPr lang="en-US" sz="1100" dirty="0" smtClean="0">
                <a:solidFill>
                  <a:schemeClr val="bg1"/>
                </a:solidFill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</a:rPr>
              <a:t>Customer Quality &amp; Reliability</a:t>
            </a:r>
            <a:endParaRPr lang="en-US" sz="1200" dirty="0" smtClean="0">
              <a:solidFill>
                <a:schemeClr val="bg1"/>
              </a:solidFill>
              <a:latin typeface="Intel Clear Light" panose="020B0404020203020204" pitchFamily="34" charset="0"/>
              <a:ea typeface="Intel Clear Light" panose="020B0404020203020204" pitchFamily="34" charset="0"/>
              <a:cs typeface="Intel Clear Light" panose="020B0404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0579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 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1822027"/>
            <a:ext cx="7772400" cy="1307591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rgbClr val="003C71"/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 smtClean="0"/>
              <a:t>Intel Clear Pro</a:t>
            </a:r>
            <a:br>
              <a:rPr lang="en-US" dirty="0" smtClean="0"/>
            </a:br>
            <a:r>
              <a:rPr lang="en-US" dirty="0" smtClean="0"/>
              <a:t>white section break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2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16pt Intel Clear Subhead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727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lue Section Break">
    <p:bg>
      <p:bgPr>
        <a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1835573"/>
            <a:ext cx="7772400" cy="1294045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/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 smtClean="0"/>
              <a:t>Intel Clear Pro</a:t>
            </a:r>
            <a:br>
              <a:rPr lang="en-US" dirty="0" smtClean="0"/>
            </a:br>
            <a:r>
              <a:rPr lang="en-US" dirty="0" smtClean="0"/>
              <a:t>blue section break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16pt Intel Clear Subhead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1123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ack Cover Radial Gradient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\\.psf\Home\Desktop\Intel.pn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77432" y="1875130"/>
            <a:ext cx="2108795" cy="1389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70096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587" y="4759452"/>
            <a:ext cx="9144000" cy="384048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50000">
                <a:schemeClr val="accent2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2" descr="\\.psf\Home\Desktop\Intel.png"/>
          <p:cNvPicPr>
            <a:picLocks noChangeAspect="1" noChangeArrowheads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39915" y="4830589"/>
            <a:ext cx="364336" cy="240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/>
          <p:cNvCxnSpPr/>
          <p:nvPr/>
        </p:nvCxnSpPr>
        <p:spPr>
          <a:xfrm>
            <a:off x="8718551" y="4824510"/>
            <a:ext cx="2381" cy="237744"/>
          </a:xfrm>
          <a:prstGeom prst="line">
            <a:avLst/>
          </a:prstGeom>
          <a:ln w="9525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5613" y="310130"/>
            <a:ext cx="8229600" cy="8686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 smtClean="0"/>
              <a:t>Intel Clear Headline</a:t>
            </a:r>
            <a:br>
              <a:rPr lang="en-US" dirty="0" smtClean="0"/>
            </a:br>
            <a:r>
              <a:rPr lang="en-US" dirty="0" smtClean="0"/>
              <a:t>2 lines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5613" y="1218224"/>
            <a:ext cx="8228012" cy="34989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 smtClean="0"/>
              <a:t>Intel Clear body text</a:t>
            </a:r>
          </a:p>
          <a:p>
            <a:pPr lvl="1"/>
            <a:r>
              <a:rPr lang="en-US" dirty="0" smtClean="0"/>
              <a:t>Intel Clear bullet one</a:t>
            </a:r>
          </a:p>
          <a:p>
            <a:pPr lvl="2"/>
            <a:r>
              <a:rPr lang="en-US" dirty="0" smtClean="0"/>
              <a:t>Intel Clear sub-bullet</a:t>
            </a:r>
          </a:p>
          <a:p>
            <a:pPr lvl="3"/>
            <a:r>
              <a:rPr lang="en-US" dirty="0" smtClean="0"/>
              <a:t>Intel Clear fourth level</a:t>
            </a:r>
          </a:p>
          <a:p>
            <a:pPr lvl="4"/>
            <a:r>
              <a:rPr lang="en-US" dirty="0" smtClean="0"/>
              <a:t>Intel Clear 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2352" y="4824387"/>
            <a:ext cx="2133600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Intel Clear"/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856384" y="4837215"/>
            <a:ext cx="2886324" cy="25338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 smtClean="0">
                <a:solidFill>
                  <a:schemeClr val="bg1"/>
                </a:solidFill>
              </a:rPr>
              <a:t>Intel Confidential  |  Internal Use Only – Do Not Distribute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1498" y="4813599"/>
            <a:ext cx="247535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1200" b="1" dirty="0" smtClean="0">
                <a:solidFill>
                  <a:schemeClr val="bg1"/>
                </a:solidFill>
                <a:latin typeface="+mj-lt"/>
              </a:rPr>
              <a:t>CQR | </a:t>
            </a:r>
            <a:r>
              <a:rPr lang="en-US" sz="1100" dirty="0" smtClean="0">
                <a:solidFill>
                  <a:schemeClr val="bg1"/>
                </a:solidFill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</a:rPr>
              <a:t>Customer Quality &amp; Reliability</a:t>
            </a:r>
            <a:endParaRPr lang="en-US" sz="1200" dirty="0" smtClean="0">
              <a:solidFill>
                <a:schemeClr val="bg1"/>
              </a:solidFill>
              <a:latin typeface="Intel Clear Light" panose="020B0404020203020204" pitchFamily="34" charset="0"/>
              <a:ea typeface="Intel Clear Light" panose="020B0404020203020204" pitchFamily="34" charset="0"/>
              <a:cs typeface="Intel Clear Light" panose="020B0404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22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50" r:id="rId2"/>
    <p:sldLayoutId id="2147483679" r:id="rId3"/>
    <p:sldLayoutId id="2147483677" r:id="rId4"/>
    <p:sldLayoutId id="2147483678" r:id="rId5"/>
    <p:sldLayoutId id="2147483672" r:id="rId6"/>
    <p:sldLayoutId id="2147483651" r:id="rId7"/>
    <p:sldLayoutId id="2147483676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400" b="0" i="0" kern="1200" spc="0" baseline="0">
          <a:solidFill>
            <a:srgbClr val="003C71"/>
          </a:solidFill>
          <a:latin typeface="Intel Clear"/>
          <a:ea typeface="Intel Clear"/>
          <a:cs typeface="Intel Clear"/>
        </a:defRPr>
      </a:lvl1pPr>
    </p:titleStyle>
    <p:bodyStyle>
      <a:lvl1pPr marL="0" indent="0" algn="l" defTabSz="457200" rtl="0" eaLnBrk="1" latinLnBrk="0" hangingPunct="1">
        <a:spcBef>
          <a:spcPts val="1200"/>
        </a:spcBef>
        <a:spcAft>
          <a:spcPts val="0"/>
        </a:spcAft>
        <a:buFont typeface="Wingdings" panose="05000000000000000000" pitchFamily="2" charset="2"/>
        <a:buNone/>
        <a:defRPr sz="1600" b="0" kern="1200">
          <a:solidFill>
            <a:srgbClr val="0071C5"/>
          </a:solidFill>
          <a:latin typeface="+mn-lt"/>
          <a:ea typeface="+mn-ea"/>
          <a:cs typeface="Intel Clear" panose="020B0604020203020204" pitchFamily="34" charset="0"/>
        </a:defRPr>
      </a:lvl1pPr>
      <a:lvl2pPr marL="225425" indent="-225425" algn="l" defTabSz="457200" rtl="0" eaLnBrk="1" latinLnBrk="0" hangingPunct="1">
        <a:spcBef>
          <a:spcPts val="1200"/>
        </a:spcBef>
        <a:buFont typeface="Wingdings" charset="2"/>
        <a:buChar char="§"/>
        <a:defRPr sz="1600" kern="1200" baseline="0">
          <a:solidFill>
            <a:srgbClr val="003C71"/>
          </a:solidFill>
          <a:latin typeface="+mn-lt"/>
          <a:ea typeface="+mn-ea"/>
          <a:cs typeface="Intel Clear" panose="020B0604020203020204" pitchFamily="34" charset="0"/>
        </a:defRPr>
      </a:lvl2pPr>
      <a:lvl3pPr marL="571500" indent="-228600" algn="l" defTabSz="457200" rtl="0" eaLnBrk="1" latinLnBrk="0" hangingPunct="1">
        <a:spcBef>
          <a:spcPts val="800"/>
        </a:spcBef>
        <a:buFont typeface="Intel Clear" panose="020B0604020203020204" pitchFamily="34" charset="0"/>
        <a:buChar char="–"/>
        <a:defRPr sz="1400" kern="1200">
          <a:solidFill>
            <a:srgbClr val="003C71"/>
          </a:solidFill>
          <a:latin typeface="+mn-lt"/>
          <a:ea typeface="+mn-ea"/>
          <a:cs typeface="Intel Clear" panose="020B0604020203020204" pitchFamily="34" charset="0"/>
        </a:defRPr>
      </a:lvl3pPr>
      <a:lvl4pPr marL="969963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rgbClr val="003C71"/>
          </a:solidFill>
          <a:latin typeface="+mn-lt"/>
          <a:ea typeface="+mn-ea"/>
          <a:cs typeface="Intel Clear" panose="020B0604020203020204" pitchFamily="34" charset="0"/>
        </a:defRPr>
      </a:lvl4pPr>
      <a:lvl5pPr marL="1319213" indent="-228600" algn="l" defTabSz="457200" rtl="0" eaLnBrk="1" latinLnBrk="0" hangingPunct="1">
        <a:spcBef>
          <a:spcPct val="20000"/>
        </a:spcBef>
        <a:buFont typeface="Courier New" panose="02070309020205020404" pitchFamily="49" charset="0"/>
        <a:buChar char="o"/>
        <a:defRPr sz="1100" kern="1200">
          <a:solidFill>
            <a:srgbClr val="003C71"/>
          </a:solidFill>
          <a:latin typeface="+mn-lt"/>
          <a:ea typeface="+mn-ea"/>
          <a:cs typeface="Intel Clear" panose="020B0604020203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2.wmf"/><Relationship Id="rId4" Type="http://schemas.openxmlformats.org/officeDocument/2006/relationships/package" Target="../embeddings/Microsoft_Excel_Worksheet1.xls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Oem</a:t>
            </a:r>
            <a:r>
              <a:rPr lang="en-US" dirty="0" smtClean="0"/>
              <a:t>/</a:t>
            </a:r>
            <a:r>
              <a:rPr lang="en-US" dirty="0" err="1" smtClean="0"/>
              <a:t>odm</a:t>
            </a:r>
            <a:r>
              <a:rPr lang="en-US" dirty="0" smtClean="0"/>
              <a:t> feedback on cg questionnaire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Prepared by: Jagadeesh Radhakrishnan, Harry Yu, Shuh An Moy</a:t>
            </a:r>
          </a:p>
          <a:p>
            <a:r>
              <a:rPr lang="en-US" dirty="0" smtClean="0"/>
              <a:t>Corner Glue WG, WW33’17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795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Survey overview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55613" y="1251470"/>
            <a:ext cx="8390360" cy="3498975"/>
          </a:xfrm>
        </p:spPr>
        <p:txBody>
          <a:bodyPr/>
          <a:lstStyle/>
          <a:p>
            <a:r>
              <a:rPr lang="en-US" dirty="0" smtClean="0"/>
              <a:t>Feedback is based on discussion with following OEM/ODM teams</a:t>
            </a:r>
          </a:p>
          <a:p>
            <a:r>
              <a:rPr lang="en-US" dirty="0" smtClean="0"/>
              <a:t>	 Lenovo, HP, Dell, Asus (top 4 cover 60% NB MSS), Acer, Microsoft, Samsung</a:t>
            </a:r>
          </a:p>
          <a:p>
            <a:r>
              <a:rPr lang="en-US" dirty="0"/>
              <a:t>	</a:t>
            </a:r>
            <a:r>
              <a:rPr lang="en-US" dirty="0" smtClean="0"/>
              <a:t>Quanta, Wistron, Compal (top 3 cover 65-70% NB MSS), Inventec, Pegatron</a:t>
            </a:r>
          </a:p>
          <a:p>
            <a:r>
              <a:rPr lang="en-US" dirty="0" smtClean="0"/>
              <a:t>Mobile </a:t>
            </a:r>
            <a:r>
              <a:rPr lang="en-US" dirty="0"/>
              <a:t>industry have had bad experience of corner SJ crack </a:t>
            </a:r>
            <a:r>
              <a:rPr lang="en-US" dirty="0" smtClean="0"/>
              <a:t>previously (</a:t>
            </a:r>
            <a:r>
              <a:rPr lang="en-US" dirty="0" err="1" smtClean="0"/>
              <a:t>Brookdale</a:t>
            </a:r>
            <a:r>
              <a:rPr lang="en-US" dirty="0" smtClean="0"/>
              <a:t> Chipset) </a:t>
            </a:r>
          </a:p>
          <a:p>
            <a:pPr marL="460375" indent="-460375"/>
            <a:r>
              <a:rPr lang="en-US" dirty="0"/>
              <a:t>	</a:t>
            </a:r>
            <a:r>
              <a:rPr lang="en-US" dirty="0" smtClean="0"/>
              <a:t>CG was recommended to help </a:t>
            </a:r>
            <a:r>
              <a:rPr lang="en-US" dirty="0"/>
              <a:t>prevent SJ crack and increase SJ </a:t>
            </a:r>
            <a:r>
              <a:rPr lang="en-US" dirty="0" smtClean="0"/>
              <a:t>reliability</a:t>
            </a:r>
            <a:r>
              <a:rPr lang="en-US" dirty="0"/>
              <a:t> </a:t>
            </a:r>
            <a:r>
              <a:rPr lang="en-US" dirty="0" smtClean="0"/>
              <a:t>and most customers continue to use, generation after generation</a:t>
            </a:r>
          </a:p>
          <a:p>
            <a:r>
              <a:rPr lang="en-US" dirty="0" smtClean="0"/>
              <a:t>MSFT </a:t>
            </a:r>
            <a:r>
              <a:rPr lang="en-US" dirty="0"/>
              <a:t>is the only exception we know so </a:t>
            </a:r>
            <a:r>
              <a:rPr lang="en-US" dirty="0" smtClean="0"/>
              <a:t>far – that performs reliability test w/ and  </a:t>
            </a:r>
            <a:r>
              <a:rPr lang="en-US" dirty="0"/>
              <a:t>w/o CG </a:t>
            </a:r>
            <a:r>
              <a:rPr lang="en-US" dirty="0" smtClean="0"/>
              <a:t>and decide.</a:t>
            </a:r>
          </a:p>
          <a:p>
            <a:r>
              <a:rPr lang="en-US" dirty="0" smtClean="0"/>
              <a:t>Top </a:t>
            </a:r>
            <a:r>
              <a:rPr lang="en-US" dirty="0"/>
              <a:t>DT </a:t>
            </a:r>
            <a:r>
              <a:rPr lang="en-US" dirty="0" smtClean="0"/>
              <a:t>customers (Gigabyte and MSI) seldom </a:t>
            </a:r>
            <a:r>
              <a:rPr lang="en-US" dirty="0"/>
              <a:t>add CG on Intel PCH </a:t>
            </a:r>
            <a:r>
              <a:rPr lang="en-US" dirty="0" smtClean="0"/>
              <a:t>(One exception: Asus)</a:t>
            </a:r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319520" y="95488"/>
            <a:ext cx="2777067" cy="2133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dirty="0" smtClean="0">
                <a:solidFill>
                  <a:srgbClr val="003C71"/>
                </a:solidFill>
              </a:rPr>
              <a:t>NB MSS – Notebook Market Segment Share</a:t>
            </a:r>
          </a:p>
        </p:txBody>
      </p:sp>
    </p:spTree>
    <p:extLst>
      <p:ext uri="{BB962C8B-B14F-4D97-AF65-F5344CB8AC3E}">
        <p14:creationId xmlns:p14="http://schemas.microsoft.com/office/powerpoint/2010/main" val="695621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715906201"/>
              </p:ext>
            </p:extLst>
          </p:nvPr>
        </p:nvGraphicFramePr>
        <p:xfrm>
          <a:off x="503026" y="828436"/>
          <a:ext cx="8005713" cy="2736762"/>
        </p:xfrm>
        <a:graphic>
          <a:graphicData uri="http://schemas.openxmlformats.org/drawingml/2006/table">
            <a:tbl>
              <a:tblPr/>
              <a:tblGrid>
                <a:gridCol w="376468"/>
                <a:gridCol w="2673693"/>
                <a:gridCol w="3041264"/>
                <a:gridCol w="1914288"/>
              </a:tblGrid>
              <a:tr h="9618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What is driving the requirement to use Corner Glue?  (OEM Requirement, Reliability, Perception, </a:t>
                      </a: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etc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)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It </a:t>
                      </a:r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is a combination: 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some </a:t>
                      </a:r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OEMs 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require adding glue to big BGAs, </a:t>
                      </a:r>
                      <a:r>
                        <a:rPr lang="en-US" sz="105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eg</a:t>
                      </a:r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., 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Acer, Asus, Lenovo (corner fill or full underfill). Some </a:t>
                      </a:r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ODMs proactively add 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CG to BGAs. 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1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Who chooses corner glue, OEMs or ODMs.  Wondering who would need to be influenced if a glue is found to not meet requirements.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494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UV Cure vs Thermal Cure: Is there any restriction / preference on using UV cure vs thermal cure? If so, why is one preferred vs the other?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Both 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UV glue and thermal glue are </a:t>
                      </a:r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widely 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used. </a:t>
                      </a:r>
                      <a:endParaRPr lang="en-US" sz="1050" b="0" i="0" u="none" strike="noStrike" dirty="0" smtClean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  <a:p>
                      <a:pPr algn="l" fontAlgn="b"/>
                      <a:endParaRPr lang="en-US" sz="1050" b="0" i="0" u="none" strike="noStrike" dirty="0" smtClean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  <a:p>
                      <a:pPr marL="284163" lvl="1" indent="-112713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Factory 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space is one of the </a:t>
                      </a:r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main reason (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UV </a:t>
                      </a:r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cure uses 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less space than thermal cure</a:t>
                      </a:r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).</a:t>
                      </a:r>
                    </a:p>
                    <a:p>
                      <a:pPr marL="284163" lvl="1" indent="-112713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Another 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reason, per customer saying, UV is easier to rework. </a:t>
                      </a:r>
                      <a:endParaRPr lang="en-US" sz="1050" b="0" i="0" u="none" strike="noStrike" dirty="0" smtClean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  <a:p>
                      <a:pPr marL="284163" lvl="1" indent="-112713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Material cost</a:t>
                      </a:r>
                      <a:r>
                        <a:rPr lang="en-US" sz="105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is </a:t>
                      </a:r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another consideration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.</a:t>
                      </a:r>
                      <a:b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</a:b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1" u="none" strike="noStrike" dirty="0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Helps to narrow Intel's evaluation options.  We will focus on the type that most ODMs use.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99227" y="3686961"/>
            <a:ext cx="828598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+mj-lt"/>
              </a:rPr>
              <a:t>The CG information we got from our last CNL </a:t>
            </a:r>
            <a:r>
              <a:rPr lang="en-US" sz="1200" dirty="0" smtClean="0">
                <a:latin typeface="+mj-lt"/>
              </a:rPr>
              <a:t>Mfg. Intro </a:t>
            </a:r>
            <a:r>
              <a:rPr lang="en-US" sz="1200" dirty="0">
                <a:latin typeface="+mj-lt"/>
              </a:rPr>
              <a:t>trip: </a:t>
            </a:r>
            <a:endParaRPr lang="en-US" sz="1200" dirty="0" smtClean="0">
              <a:latin typeface="+mj-lt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+mj-lt"/>
              </a:rPr>
              <a:t>Loctite </a:t>
            </a:r>
            <a:r>
              <a:rPr lang="en-US" sz="1200" dirty="0">
                <a:latin typeface="+mj-lt"/>
              </a:rPr>
              <a:t>3619 (Thermal); Loctite 3609 (Thermal); </a:t>
            </a:r>
            <a:endParaRPr lang="en-US" sz="1200" dirty="0" smtClean="0">
              <a:latin typeface="+mj-lt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+mj-lt"/>
              </a:rPr>
              <a:t>EICT </a:t>
            </a:r>
            <a:r>
              <a:rPr lang="en-US" sz="1200" dirty="0">
                <a:latin typeface="+mj-lt"/>
              </a:rPr>
              <a:t>(UV); U-BOND; Model:UB-4305 (UV);  Loctite 3705 (UV); </a:t>
            </a:r>
            <a:r>
              <a:rPr lang="en-US" sz="1200" dirty="0" smtClean="0">
                <a:latin typeface="+mj-lt"/>
              </a:rPr>
              <a:t>ASEC-AS3910 (</a:t>
            </a:r>
            <a:r>
              <a:rPr lang="en-US" sz="1200" dirty="0" err="1" smtClean="0">
                <a:latin typeface="+mj-lt"/>
              </a:rPr>
              <a:t>cornerfill</a:t>
            </a:r>
            <a:r>
              <a:rPr lang="en-US" sz="1200" dirty="0" smtClean="0">
                <a:latin typeface="+mj-lt"/>
              </a:rPr>
              <a:t>); </a:t>
            </a:r>
            <a:r>
              <a:rPr lang="ja-JP" altLang="en-US" sz="1200" dirty="0" smtClean="0">
                <a:latin typeface="+mj-lt"/>
              </a:rPr>
              <a:t>視</a:t>
            </a:r>
            <a:r>
              <a:rPr lang="ja-JP" altLang="en-US" sz="1200" dirty="0">
                <a:latin typeface="+mj-lt"/>
              </a:rPr>
              <a:t>域</a:t>
            </a:r>
            <a:r>
              <a:rPr lang="en-US" altLang="ja-JP" sz="1200" dirty="0">
                <a:latin typeface="+mj-lt"/>
              </a:rPr>
              <a:t>:</a:t>
            </a:r>
            <a:r>
              <a:rPr lang="en-US" sz="1200" dirty="0">
                <a:latin typeface="+mj-lt"/>
              </a:rPr>
              <a:t>UV649/</a:t>
            </a:r>
            <a:r>
              <a:rPr lang="ja-JP" altLang="en-US" sz="1200" dirty="0">
                <a:latin typeface="+mj-lt"/>
              </a:rPr>
              <a:t>信友</a:t>
            </a:r>
            <a:r>
              <a:rPr lang="en-US" altLang="ja-JP" sz="1200" dirty="0">
                <a:latin typeface="+mj-lt"/>
              </a:rPr>
              <a:t>:3329/</a:t>
            </a:r>
            <a:r>
              <a:rPr lang="en-US" sz="1200" dirty="0">
                <a:latin typeface="+mj-lt"/>
              </a:rPr>
              <a:t>DYMAX 9-20558 (UV); </a:t>
            </a:r>
            <a:r>
              <a:rPr lang="en-US" sz="1200" dirty="0" err="1" smtClean="0">
                <a:latin typeface="+mj-lt"/>
              </a:rPr>
              <a:t>ZhongYu</a:t>
            </a:r>
            <a:r>
              <a:rPr lang="en-US" sz="1200" dirty="0" smtClean="0">
                <a:latin typeface="+mj-lt"/>
              </a:rPr>
              <a:t>    </a:t>
            </a:r>
            <a:r>
              <a:rPr lang="en-US" sz="1200" dirty="0">
                <a:latin typeface="+mj-lt"/>
              </a:rPr>
              <a:t>Model:ZY-303 (UV cure</a:t>
            </a:r>
            <a:r>
              <a:rPr lang="en-US" sz="1200" dirty="0" smtClean="0">
                <a:latin typeface="+mj-lt"/>
              </a:rPr>
              <a:t>)</a:t>
            </a:r>
            <a:r>
              <a:rPr lang="en-US" sz="1200" dirty="0">
                <a:latin typeface="+mj-lt"/>
              </a:rPr>
              <a:t> </a:t>
            </a:r>
            <a:endParaRPr lang="en-US" sz="1200" dirty="0" smtClean="0">
              <a:latin typeface="+mj-lt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+mj-lt"/>
              </a:rPr>
              <a:t>Panasonic </a:t>
            </a:r>
            <a:r>
              <a:rPr lang="en-US" sz="1200" dirty="0">
                <a:latin typeface="+mj-lt"/>
              </a:rPr>
              <a:t>ADE480D-1 (Pre-SMT); </a:t>
            </a:r>
          </a:p>
        </p:txBody>
      </p:sp>
      <p:sp>
        <p:nvSpPr>
          <p:cNvPr id="7" name="Title 2"/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868680"/>
          </a:xfrm>
        </p:spPr>
        <p:txBody>
          <a:bodyPr/>
          <a:lstStyle/>
          <a:p>
            <a:r>
              <a:rPr lang="en-US" dirty="0" smtClean="0"/>
              <a:t>Survey Questions (1 of 2)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935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813720081"/>
              </p:ext>
            </p:extLst>
          </p:nvPr>
        </p:nvGraphicFramePr>
        <p:xfrm>
          <a:off x="272733" y="813891"/>
          <a:ext cx="8458093" cy="3763558"/>
        </p:xfrm>
        <a:graphic>
          <a:graphicData uri="http://schemas.openxmlformats.org/drawingml/2006/table">
            <a:tbl>
              <a:tblPr/>
              <a:tblGrid>
                <a:gridCol w="376468"/>
                <a:gridCol w="2673693"/>
                <a:gridCol w="3057586"/>
                <a:gridCol w="2350346"/>
              </a:tblGrid>
              <a:tr h="4146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Cure temperature: What is the max temperature allowed for thermal cure?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Follow vendor's recommendation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Some glues allow for faster cure at higher temps.  We want to align with their processing parameters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30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Cure time: What is max time allowed for cure?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Follow vendor's recommendation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 smtClean="0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We </a:t>
                      </a:r>
                      <a:r>
                        <a:rPr lang="en-US" sz="1000" b="0" i="1" u="none" strike="noStrike" dirty="0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want to align with their processing parameters and reduce our options of glues to test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50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Reworkability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: Do you require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reworkable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corner glue? 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Yes. 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Currently,</a:t>
                      </a:r>
                      <a:r>
                        <a:rPr lang="en-US" sz="10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LCFC’s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feedback 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is that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cornerfill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/underfill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is very hard to rework, but it is 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Lenovo’s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request.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If </a:t>
                      </a:r>
                      <a:r>
                        <a:rPr lang="en-US" sz="1000" b="0" i="1" u="none" strike="noStrike" dirty="0" err="1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reworkability</a:t>
                      </a:r>
                      <a:r>
                        <a:rPr lang="en-US" sz="1000" b="0" i="1" u="none" strike="noStrike" dirty="0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 is required, Intel will only focus on </a:t>
                      </a:r>
                      <a:r>
                        <a:rPr lang="en-US" sz="1000" b="0" i="1" u="none" strike="noStrike" dirty="0" err="1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reworkable</a:t>
                      </a:r>
                      <a:r>
                        <a:rPr lang="en-US" sz="1000" b="0" i="1" u="none" strike="noStrike" dirty="0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 glues for to evaluate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31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Describe the dispense pattern of the CG material. (Single Dot / Multiple Dots / Edges / Corners)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Most customer use L-shape at 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corner </a:t>
                      </a:r>
                    </a:p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Wistron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use 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multiple dots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(pre SMT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) at corner</a:t>
                      </a:r>
                    </a:p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Samsung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using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Underfilm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(pre SMT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) at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corner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Need to align our testing to ODM preferences for dispense pattern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78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When is corner glue applied?  (Before SMT Reflow, After SMT Reflow, After ICT, After Functional Test, etc)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Almost all customer apply it after reflow, </a:t>
                      </a:r>
                      <a:r>
                        <a:rPr lang="en-US" sz="1000" b="0" i="0" u="sng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before test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. </a:t>
                      </a:r>
                      <a:endParaRPr lang="en-US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Wistron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and Samsung apply pre 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SMT </a:t>
                      </a:r>
                    </a:p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For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Lenovo (and it's ODM), they apply corner fill and underfill </a:t>
                      </a:r>
                      <a:r>
                        <a:rPr lang="en-US" sz="1000" b="0" i="0" u="sng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after test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, because underfill is hard to rework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Would like to know if the glue is cured in the SMT reflow oven, a separate glue oven, etc.  This is a clarification of the question that was asked in the last survey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46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How long is required to qualify a new corner glue for use on products?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We don't have the information, based on SJQ solder paste qualification experience, we think 1 year is required.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If a new glue is needed, how much notification should Intel provide?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itle 2"/>
          <p:cNvSpPr>
            <a:spLocks noGrp="1"/>
          </p:cNvSpPr>
          <p:nvPr>
            <p:ph type="title"/>
          </p:nvPr>
        </p:nvSpPr>
        <p:spPr>
          <a:xfrm>
            <a:off x="448840" y="147224"/>
            <a:ext cx="8229600" cy="868680"/>
          </a:xfrm>
        </p:spPr>
        <p:txBody>
          <a:bodyPr/>
          <a:lstStyle/>
          <a:p>
            <a:r>
              <a:rPr lang="en-US" dirty="0" smtClean="0"/>
              <a:t>Survey Questions (2 of 2)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426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Pre-SMT </a:t>
            </a:r>
            <a:r>
              <a:rPr lang="en-US" dirty="0" err="1" smtClean="0"/>
              <a:t>Underfilm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&lt;material included just to show concept&gt;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563" y="1820347"/>
            <a:ext cx="2600960" cy="2139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2246" y="1665319"/>
            <a:ext cx="3833706" cy="2449556"/>
          </a:xfrm>
          <a:prstGeom prst="rect">
            <a:avLst/>
          </a:prstGeom>
        </p:spPr>
      </p:pic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369678"/>
              </p:ext>
            </p:extLst>
          </p:nvPr>
        </p:nvGraphicFramePr>
        <p:xfrm>
          <a:off x="612987" y="2249382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PDF" showAsIcon="1" r:id="rId5" imgW="914400" imgH="792360" progId="FoxitReader.Document">
                  <p:embed/>
                </p:oleObj>
              </mc:Choice>
              <mc:Fallback>
                <p:oleObj name="PDF" showAsIcon="1" r:id="rId5" imgW="914400" imgH="792360" progId="FoxitReader.Documen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2987" y="2249382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58987" y="4422987"/>
            <a:ext cx="8446345" cy="29802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400" dirty="0" smtClean="0">
                <a:solidFill>
                  <a:srgbClr val="003C71"/>
                </a:solidFill>
              </a:rPr>
              <a:t>Samsung uses similar concept in SKL platform but has not revealed their material choices</a:t>
            </a:r>
          </a:p>
        </p:txBody>
      </p:sp>
    </p:spTree>
    <p:extLst>
      <p:ext uri="{BB962C8B-B14F-4D97-AF65-F5344CB8AC3E}">
        <p14:creationId xmlns:p14="http://schemas.microsoft.com/office/powerpoint/2010/main" val="1748281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variation of L-shape Corner Glue </a:t>
            </a:r>
            <a:br>
              <a:rPr lang="en-US" dirty="0" smtClean="0"/>
            </a:br>
            <a:r>
              <a:rPr lang="en-US" dirty="0" smtClean="0"/>
              <a:t>(Seen in Asus/UX370/KBL-U)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4187928" y="1090878"/>
            <a:ext cx="2226418" cy="33647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7062" y="1090878"/>
            <a:ext cx="2533227" cy="127338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 smtClean="0">
                <a:solidFill>
                  <a:srgbClr val="003C71"/>
                </a:solidFill>
              </a:rPr>
              <a:t>Heatsink mount holes closer to package is driving a variation of L-shape corner glue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12642" r="12963" b="12428"/>
          <a:stretch/>
        </p:blipFill>
        <p:spPr>
          <a:xfrm>
            <a:off x="74414" y="1310282"/>
            <a:ext cx="3744502" cy="3017878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2959947" y="2257405"/>
            <a:ext cx="1320800" cy="561816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882987" y="1876213"/>
            <a:ext cx="1002453" cy="1469814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593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 OEM Market Segment</a:t>
            </a:r>
            <a:endParaRPr lang="en-US" dirty="0"/>
          </a:p>
        </p:txBody>
      </p:sp>
      <p:pic>
        <p:nvPicPr>
          <p:cNvPr id="3074" name="Picture 2" descr="Image result for asus PC market share 2017"/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13" y="1426572"/>
            <a:ext cx="8228012" cy="3096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4831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Cannon Lake Mfg. Intro Tour – CG Information (April’17)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 noChangeAspect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771052099"/>
              </p:ext>
            </p:extLst>
          </p:nvPr>
        </p:nvGraphicFramePr>
        <p:xfrm>
          <a:off x="3522557" y="2067778"/>
          <a:ext cx="2092536" cy="18128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Worksheet" showAsIcon="1" r:id="rId4" imgW="914400" imgH="792360" progId="Excel.Sheet.12">
                  <p:embed/>
                </p:oleObj>
              </mc:Choice>
              <mc:Fallback>
                <p:oleObj name="Worksheet" showAsIcon="1" r:id="rId4" imgW="914400" imgH="79236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22557" y="2067778"/>
                        <a:ext cx="2092536" cy="18128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2109184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Custom 2">
      <a:dk1>
        <a:sysClr val="windowText" lastClr="000000"/>
      </a:dk1>
      <a:lt1>
        <a:sysClr val="window" lastClr="FFFFFF"/>
      </a:lt1>
      <a:dk2>
        <a:srgbClr val="003C71"/>
      </a:dk2>
      <a:lt2>
        <a:srgbClr val="B1BABF"/>
      </a:lt2>
      <a:accent1>
        <a:srgbClr val="B7D108"/>
      </a:accent1>
      <a:accent2>
        <a:srgbClr val="0071C5"/>
      </a:accent2>
      <a:accent3>
        <a:srgbClr val="009CDA"/>
      </a:accent3>
      <a:accent4>
        <a:srgbClr val="F8D44C"/>
      </a:accent4>
      <a:accent5>
        <a:srgbClr val="FFA400"/>
      </a:accent5>
      <a:accent6>
        <a:srgbClr val="FF4E00"/>
      </a:accent6>
      <a:hlink>
        <a:srgbClr val="C3D600"/>
      </a:hlink>
      <a:folHlink>
        <a:srgbClr val="0071C5"/>
      </a:folHlink>
    </a:clrScheme>
    <a:fontScheme name="Intel Clear">
      <a:majorFont>
        <a:latin typeface="Intel Clear"/>
        <a:ea typeface=""/>
        <a:cs typeface=""/>
      </a:majorFont>
      <a:minorFont>
        <a:latin typeface="Intel Cle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0" tIns="0" rIns="0" bIns="0" rtlCol="0">
        <a:noAutofit/>
      </a:bodyPr>
      <a:lstStyle>
        <a:defPPr>
          <a:defRPr sz="1100" dirty="0" smtClean="0">
            <a:solidFill>
              <a:srgbClr val="003C7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efault Theme" id="{612141A9-0D93-4738-A426-2D2149BF697E}" vid="{452CA736-2736-43F6-8906-ACA09EAAF61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5921F9D4874B40A69C72F5C132575A" ma:contentTypeVersion="18" ma:contentTypeDescription="Create a new document." ma:contentTypeScope="" ma:versionID="f81e1b74fd94b9f916141b297ac694c0">
  <xsd:schema xmlns:xsd="http://www.w3.org/2001/XMLSchema" xmlns:xs="http://www.w3.org/2001/XMLSchema" xmlns:p="http://schemas.microsoft.com/office/2006/metadata/properties" xmlns:ns2="b0a3e817-7ff1-4682-9cdc-9e68f1944ac6" xmlns:ns3="5e37b643-6edd-4e99-882c-9f9c6c52fc16" xmlns:ns4="a7bc6c04-a6f3-4b85-abcc-278c78dc556b" targetNamespace="http://schemas.microsoft.com/office/2006/metadata/properties" ma:root="true" ma:fieldsID="1cd7c1c097ec62e7a9d31b3de7be00f6" ns2:_="" ns3:_="" ns4:_="">
    <xsd:import namespace="b0a3e817-7ff1-4682-9cdc-9e68f1944ac6"/>
    <xsd:import namespace="5e37b643-6edd-4e99-882c-9f9c6c52fc16"/>
    <xsd:import namespace="a7bc6c04-a6f3-4b85-abcc-278c78dc55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a3e817-7ff1-4682-9cdc-9e68f1944a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2a7515c-90a7-421b-ad67-16208a0551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37b643-6edd-4e99-882c-9f9c6c52fc1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bc6c04-a6f3-4b85-abcc-278c78dc556b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d42eb0fb-64ce-47fa-b4a9-0e6c067efc72}" ma:internalName="TaxCatchAll" ma:showField="CatchAllData" ma:web="5e37b643-6edd-4e99-882c-9f9c6c52fc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0a3e817-7ff1-4682-9cdc-9e68f1944ac6">
      <Terms xmlns="http://schemas.microsoft.com/office/infopath/2007/PartnerControls"/>
    </lcf76f155ced4ddcb4097134ff3c332f>
    <TaxCatchAll xmlns="a7bc6c04-a6f3-4b85-abcc-278c78dc556b" xsi:nil="true"/>
  </documentManagement>
</p:properties>
</file>

<file path=customXml/itemProps1.xml><?xml version="1.0" encoding="utf-8"?>
<ds:datastoreItem xmlns:ds="http://schemas.openxmlformats.org/officeDocument/2006/customXml" ds:itemID="{75749911-708E-4F1E-BA34-F5E5D780EC30}"/>
</file>

<file path=customXml/itemProps2.xml><?xml version="1.0" encoding="utf-8"?>
<ds:datastoreItem xmlns:ds="http://schemas.openxmlformats.org/officeDocument/2006/customXml" ds:itemID="{8077B394-0F57-4896-960A-E7EB17B79B33}"/>
</file>

<file path=customXml/itemProps3.xml><?xml version="1.0" encoding="utf-8"?>
<ds:datastoreItem xmlns:ds="http://schemas.openxmlformats.org/officeDocument/2006/customXml" ds:itemID="{869AC472-E990-4957-B9E8-EC0F2D9D0CAF}"/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662</Words>
  <Application>Microsoft Office PowerPoint</Application>
  <PresentationFormat>On-screen Show (16:9)</PresentationFormat>
  <Paragraphs>71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Courier New</vt:lpstr>
      <vt:lpstr>Intel Clear</vt:lpstr>
      <vt:lpstr>Intel Clear Light</vt:lpstr>
      <vt:lpstr>Intel Clear Pro</vt:lpstr>
      <vt:lpstr>Wingdings</vt:lpstr>
      <vt:lpstr>Default Theme</vt:lpstr>
      <vt:lpstr>PDF</vt:lpstr>
      <vt:lpstr>Worksheet</vt:lpstr>
      <vt:lpstr>Oem/odm feedback on cg questionnaire</vt:lpstr>
      <vt:lpstr>Survey overview</vt:lpstr>
      <vt:lpstr>Survey Questions (1 of 2)</vt:lpstr>
      <vt:lpstr>Survey Questions (2 of 2)</vt:lpstr>
      <vt:lpstr>Pre-SMT Underfilm &lt;material included just to show concept&gt;</vt:lpstr>
      <vt:lpstr>A variation of L-shape Corner Glue  (Seen in Asus/UX370/KBL-U)</vt:lpstr>
      <vt:lpstr>Top OEM Market Segment</vt:lpstr>
      <vt:lpstr>Cannon Lake Mfg. Intro Tour – CG Information (April’17)</vt:lpstr>
    </vt:vector>
  </TitlesOfParts>
  <Manager/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2017-08-17T14:26:18Z</dcterms:created>
  <dcterms:modified xsi:type="dcterms:W3CDTF">2017-08-19T21:10:12Z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0x010100C25921F9D4874B40A69C72F5C132575A</vt:lpwstr>
  </property>
</Properties>
</file>