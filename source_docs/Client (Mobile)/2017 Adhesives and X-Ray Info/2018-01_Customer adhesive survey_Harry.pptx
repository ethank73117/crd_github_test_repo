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embedTrueType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97" r:id="rId5"/>
    <p:sldId id="317" r:id="rId6"/>
    <p:sldId id="318" r:id="rId7"/>
    <p:sldId id="320" r:id="rId8"/>
    <p:sldId id="294" r:id="rId9"/>
    <p:sldId id="319" r:id="rId10"/>
  </p:sldIdLst>
  <p:sldSz cx="9144000" cy="5143500" type="screen16x9"/>
  <p:notesSz cx="6858000" cy="9144000"/>
  <p:embeddedFontLst>
    <p:embeddedFont>
      <p:font typeface="宋体" panose="02010600030101010101" pitchFamily="2" charset="-122"/>
      <p:regular r:id="rId13"/>
    </p:embeddedFont>
    <p:embeddedFont>
      <p:font typeface="Intel Clear" panose="020B0604020203020204" pitchFamily="34" charset="0"/>
      <p:regular r:id="rId14"/>
      <p:bold r:id="rId15"/>
      <p:italic r:id="rId16"/>
      <p:boldItalic r:id="rId17"/>
    </p:embeddedFont>
    <p:embeddedFont>
      <p:font typeface="Intel Clear Light" panose="020B0404020203020204" pitchFamily="34" charset="0"/>
      <p:regular r:id="rId18"/>
      <p:italic r:id="rId19"/>
    </p:embeddedFont>
    <p:embeddedFont>
      <p:font typeface="Intel Clear Pro" panose="020B0804020202060201" pitchFamily="34" charset="0"/>
      <p:bold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1">
          <p15:clr>
            <a:srgbClr val="A4A3A4"/>
          </p15:clr>
        </p15:guide>
        <p15:guide id="2" orient="horz" pos="3004">
          <p15:clr>
            <a:srgbClr val="A4A3A4"/>
          </p15:clr>
        </p15:guide>
        <p15:guide id="3" orient="horz" pos="422">
          <p15:clr>
            <a:srgbClr val="A4A3A4"/>
          </p15:clr>
        </p15:guide>
        <p15:guide id="4" orient="horz" pos="824">
          <p15:clr>
            <a:srgbClr val="A4A3A4"/>
          </p15:clr>
        </p15:guide>
        <p15:guide id="5" orient="horz" pos="2916">
          <p15:clr>
            <a:srgbClr val="A4A3A4"/>
          </p15:clr>
        </p15:guide>
        <p15:guide id="6" orient="horz" pos="1643">
          <p15:clr>
            <a:srgbClr val="A4A3A4"/>
          </p15:clr>
        </p15:guide>
        <p15:guide id="7" pos="5470">
          <p15:clr>
            <a:srgbClr val="A4A3A4"/>
          </p15:clr>
        </p15:guide>
        <p15:guide id="8" pos="287">
          <p15:clr>
            <a:srgbClr val="A4A3A4"/>
          </p15:clr>
        </p15:guide>
        <p15:guide id="9" pos="2909">
          <p15:clr>
            <a:srgbClr val="A4A3A4"/>
          </p15:clr>
        </p15:guide>
        <p15:guide id="10" pos="2811">
          <p15:clr>
            <a:srgbClr val="A4A3A4"/>
          </p15:clr>
        </p15:guide>
        <p15:guide id="11" pos="28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1C5"/>
    <a:srgbClr val="F83308"/>
    <a:srgbClr val="FD9208"/>
    <a:srgbClr val="009FDF"/>
    <a:srgbClr val="F3D54E"/>
    <a:srgbClr val="F0CE3E"/>
    <a:srgbClr val="003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01" autoAdjust="0"/>
    <p:restoredTop sz="94634" autoAdjust="0"/>
  </p:normalViewPr>
  <p:slideViewPr>
    <p:cSldViewPr snapToGrid="0">
      <p:cViewPr varScale="1">
        <p:scale>
          <a:sx n="133" d="100"/>
          <a:sy n="133" d="100"/>
        </p:scale>
        <p:origin x="110" y="336"/>
      </p:cViewPr>
      <p:guideLst>
        <p:guide orient="horz" pos="1581"/>
        <p:guide orient="horz" pos="3004"/>
        <p:guide orient="horz" pos="422"/>
        <p:guide orient="horz" pos="824"/>
        <p:guide orient="horz" pos="2916"/>
        <p:guide orient="horz" pos="1643"/>
        <p:guide pos="5470"/>
        <p:guide pos="287"/>
        <p:guide pos="2909"/>
        <p:guide pos="2811"/>
        <p:guide pos="28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6" d="100"/>
        <a:sy n="86" d="100"/>
      </p:scale>
      <p:origin x="0" y="1536"/>
    </p:cViewPr>
  </p:sorterViewPr>
  <p:notesViewPr>
    <p:cSldViewPr snapToGrid="0" showGuides="1">
      <p:cViewPr varScale="1">
        <p:scale>
          <a:sx n="74" d="100"/>
          <a:sy n="74" d="100"/>
        </p:scale>
        <p:origin x="-74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FD7B2-88A6-E34E-8EF8-CB0C7BA47ADD}" type="datetimeFigureOut">
              <a:rPr lang="en-US" smtClean="0">
                <a:latin typeface="Intel Clear"/>
              </a:rPr>
              <a:pPr/>
              <a:t>4/6/2020</a:t>
            </a:fld>
            <a:endParaRPr lang="en-US" dirty="0">
              <a:latin typeface="Intel Clear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Intel Cle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6CFA4E-18EB-6D49-8DE2-7A74038C2C1C}" type="slidenum">
              <a:rPr lang="en-US" smtClean="0">
                <a:latin typeface="Intel Clear"/>
              </a:rPr>
              <a:pPr/>
              <a:t>‹#›</a:t>
            </a:fld>
            <a:endParaRPr lang="en-US" dirty="0">
              <a:latin typeface="Intel Clear"/>
            </a:endParaRPr>
          </a:p>
        </p:txBody>
      </p:sp>
    </p:spTree>
    <p:extLst>
      <p:ext uri="{BB962C8B-B14F-4D97-AF65-F5344CB8AC3E}">
        <p14:creationId xmlns:p14="http://schemas.microsoft.com/office/powerpoint/2010/main" val="9129941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Intel Clear"/>
              </a:defRPr>
            </a:lvl1pPr>
          </a:lstStyle>
          <a:p>
            <a:fld id="{ED7FC5FE-6F0D-D34A-8EE6-C95B4F5F4DC8}" type="datetimeFigureOut">
              <a:rPr lang="en-US" smtClean="0"/>
              <a:pPr/>
              <a:t>4/6/2020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Intel Clear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Intel Clear"/>
              </a:defRPr>
            </a:lvl1pPr>
          </a:lstStyle>
          <a:p>
            <a:fld id="{D61C8689-8455-3546-ADF9-3B7273760F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42922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Intel Cle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61C8689-8455-3546-ADF9-3B7273760F66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5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Radial Gradient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4687" y="2479422"/>
            <a:ext cx="8212886" cy="1102519"/>
          </a:xfrm>
        </p:spPr>
        <p:txBody>
          <a:bodyPr lIns="0" rIns="0" anchor="b" anchorCtr="0">
            <a:noAutofit/>
          </a:bodyPr>
          <a:lstStyle>
            <a:lvl1pPr>
              <a:lnSpc>
                <a:spcPct val="80000"/>
              </a:lnSpc>
              <a:defRPr sz="6500" b="0" spc="0" baseline="0">
                <a:solidFill>
                  <a:schemeClr val="bg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Intel Clear pro Title</a:t>
            </a:r>
            <a:br>
              <a:rPr lang="en-US" dirty="0"/>
            </a:br>
            <a:r>
              <a:rPr lang="en-US" dirty="0"/>
              <a:t>with radial gradient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5613" y="3493008"/>
            <a:ext cx="6330212" cy="925360"/>
          </a:xfrm>
        </p:spPr>
        <p:txBody>
          <a:bodyPr lIns="0" rIns="0">
            <a:noAutofit/>
          </a:bodyPr>
          <a:lstStyle>
            <a:lvl1pPr marL="0" indent="0" algn="l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Intel Clear Subhead, Date, Etc.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1797" y="383169"/>
            <a:ext cx="1248049" cy="829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32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rgbClr val="003C7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130175"/>
            <a:ext cx="8228012" cy="3498975"/>
          </a:xfrm>
        </p:spPr>
        <p:txBody>
          <a:bodyPr/>
          <a:lstStyle>
            <a:lvl1pPr>
              <a:defRPr baseline="0">
                <a:solidFill>
                  <a:srgbClr val="0071C5"/>
                </a:solidFill>
              </a:defRPr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Intro sentence or paragraph has no bullet and is Intel Blue</a:t>
            </a:r>
          </a:p>
          <a:p>
            <a:pPr lvl="1"/>
            <a:r>
              <a:rPr lang="en-US" dirty="0"/>
              <a:t>Intel Clear bullet one</a:t>
            </a:r>
          </a:p>
          <a:p>
            <a:pPr lvl="2"/>
            <a:r>
              <a:rPr lang="en-US" dirty="0"/>
              <a:t>Intel Clear sub-bullet</a:t>
            </a:r>
          </a:p>
          <a:p>
            <a:pPr lvl="3"/>
            <a:r>
              <a:rPr lang="en-US" dirty="0"/>
              <a:t>Intel Clear fourth level</a:t>
            </a:r>
          </a:p>
          <a:p>
            <a:pPr lvl="4"/>
            <a:r>
              <a:rPr lang="en-US" dirty="0"/>
              <a:t>Intel Clear fifth level</a:t>
            </a:r>
          </a:p>
        </p:txBody>
      </p:sp>
    </p:spTree>
    <p:extLst>
      <p:ext uri="{BB962C8B-B14F-4D97-AF65-F5344CB8AC3E}">
        <p14:creationId xmlns:p14="http://schemas.microsoft.com/office/powerpoint/2010/main" val="1358511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Keynote Encoder 1\Desktop\Picture2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9144000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bg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130175"/>
            <a:ext cx="8228012" cy="3498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Intel Clear body text</a:t>
            </a:r>
          </a:p>
          <a:p>
            <a:pPr lvl="1"/>
            <a:r>
              <a:rPr lang="en-US" dirty="0"/>
              <a:t>Intel Clear bullet one</a:t>
            </a:r>
          </a:p>
          <a:p>
            <a:pPr lvl="2"/>
            <a:r>
              <a:rPr lang="en-US" dirty="0"/>
              <a:t>Intel Clear sub-bullet</a:t>
            </a:r>
          </a:p>
          <a:p>
            <a:pPr lvl="3"/>
            <a:r>
              <a:rPr lang="en-US" dirty="0"/>
              <a:t>Intel Clear fourth level</a:t>
            </a:r>
          </a:p>
          <a:p>
            <a:pPr lvl="4"/>
            <a:r>
              <a:rPr lang="en-US" dirty="0"/>
              <a:t>Intel Clear fifth level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/>
          <p:cNvCxnSpPr/>
          <p:nvPr userDrawn="1"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3856384" y="4837215"/>
            <a:ext cx="2886324" cy="25338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/>
                </a:solidFill>
              </a:rPr>
              <a:t>Intel Confidential  |  Internal Use Only – Do Not Distribute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281498" y="4813599"/>
            <a:ext cx="24753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200" b="1" dirty="0">
                <a:solidFill>
                  <a:schemeClr val="bg1"/>
                </a:solidFill>
                <a:latin typeface="+mj-lt"/>
              </a:rPr>
              <a:t>CQR | </a:t>
            </a:r>
            <a:r>
              <a:rPr lang="en-US" sz="1100" dirty="0">
                <a:solidFill>
                  <a:schemeClr val="bg1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Quality &amp; Reliability</a:t>
            </a:r>
            <a:endParaRPr lang="en-US" sz="1200" dirty="0">
              <a:solidFill>
                <a:schemeClr val="bg1"/>
              </a:solidFill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301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Bulleted Tex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>
          <a:xfrm>
            <a:off x="455613" y="308848"/>
            <a:ext cx="8229600" cy="868680"/>
          </a:xfrm>
        </p:spPr>
        <p:txBody>
          <a:bodyPr/>
          <a:lstStyle>
            <a:lvl1pPr>
              <a:defRPr b="0" i="0" baseline="0">
                <a:solidFill>
                  <a:schemeClr val="bg1"/>
                </a:solidFill>
                <a:latin typeface="Intel Clear"/>
                <a:cs typeface="Intel Clear"/>
              </a:defRPr>
            </a:lvl1pPr>
          </a:lstStyle>
          <a:p>
            <a:r>
              <a:rPr lang="en-US" dirty="0"/>
              <a:t>28pt Intel Clear Headline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 hasCustomPrompt="1"/>
          </p:nvPr>
        </p:nvSpPr>
        <p:spPr>
          <a:xfrm>
            <a:off x="455613" y="1130175"/>
            <a:ext cx="8228012" cy="34989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Intel Clear body text</a:t>
            </a:r>
          </a:p>
          <a:p>
            <a:pPr lvl="1"/>
            <a:r>
              <a:rPr lang="en-US" dirty="0"/>
              <a:t>Intel Clear bullet one</a:t>
            </a:r>
          </a:p>
          <a:p>
            <a:pPr lvl="2"/>
            <a:r>
              <a:rPr lang="en-US" dirty="0"/>
              <a:t>Intel Clear sub-bullet</a:t>
            </a:r>
          </a:p>
          <a:p>
            <a:pPr lvl="3"/>
            <a:r>
              <a:rPr lang="en-US" dirty="0"/>
              <a:t>Intel Clear fourth level</a:t>
            </a:r>
          </a:p>
          <a:p>
            <a:pPr lvl="4"/>
            <a:r>
              <a:rPr lang="en-US" dirty="0"/>
              <a:t>Intel Clear fifth level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Connector 10"/>
          <p:cNvCxnSpPr/>
          <p:nvPr userDrawn="1"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 userDrawn="1"/>
        </p:nvSpPr>
        <p:spPr>
          <a:xfrm>
            <a:off x="3856384" y="4837215"/>
            <a:ext cx="2886324" cy="25338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/>
                </a:solidFill>
              </a:rPr>
              <a:t>Intel Confidential  |  Internal Use Only – Do Not Distribute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281498" y="4813599"/>
            <a:ext cx="24753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200" b="1" dirty="0">
                <a:solidFill>
                  <a:schemeClr val="bg1"/>
                </a:solidFill>
                <a:latin typeface="+mj-lt"/>
              </a:rPr>
              <a:t>CQR | </a:t>
            </a:r>
            <a:r>
              <a:rPr lang="en-US" sz="1100" dirty="0">
                <a:solidFill>
                  <a:schemeClr val="bg1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Quality &amp; Reliability</a:t>
            </a:r>
            <a:endParaRPr lang="en-US" sz="1200" dirty="0">
              <a:solidFill>
                <a:schemeClr val="bg1"/>
              </a:solidFill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057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rgbClr val="003C7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Intel Clear Pro</a:t>
            </a:r>
            <a:br>
              <a:rPr lang="en-US" dirty="0"/>
            </a:br>
            <a:r>
              <a:rPr lang="en-US" dirty="0"/>
              <a:t>white section break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baseline="0">
                <a:solidFill>
                  <a:schemeClr val="accent2"/>
                </a:solidFill>
                <a:latin typeface="+mn-lt"/>
                <a:cs typeface="Intel Clear" panose="020B0604020203020204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72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Break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55613" y="2108062"/>
            <a:ext cx="7772400" cy="1021556"/>
          </a:xfrm>
        </p:spPr>
        <p:txBody>
          <a:bodyPr anchor="b" anchorCtr="0">
            <a:noAutofit/>
          </a:bodyPr>
          <a:lstStyle>
            <a:lvl1pPr algn="l">
              <a:lnSpc>
                <a:spcPct val="80000"/>
              </a:lnSpc>
              <a:defRPr sz="5400" b="0" cap="none" spc="0" baseline="0">
                <a:solidFill>
                  <a:schemeClr val="bg1"/>
                </a:solidFill>
                <a:latin typeface="Intel Clear Pro" panose="020B0804020202060201" pitchFamily="34" charset="0"/>
                <a:cs typeface="Intel Clear Pro" panose="020B0804020202060201" pitchFamily="34" charset="0"/>
              </a:defRPr>
            </a:lvl1pPr>
          </a:lstStyle>
          <a:p>
            <a:r>
              <a:rPr lang="en-US" dirty="0"/>
              <a:t>Intel Clear Pro</a:t>
            </a:r>
            <a:br>
              <a:rPr lang="en-US" dirty="0"/>
            </a:br>
            <a:r>
              <a:rPr lang="en-US" dirty="0"/>
              <a:t>blue section break</a:t>
            </a:r>
          </a:p>
        </p:txBody>
      </p:sp>
      <p:sp>
        <p:nvSpPr>
          <p:cNvPr id="3" name="Text Placeholder 2"/>
          <p:cNvSpPr>
            <a:spLocks noGrp="1"/>
          </p:cNvSpPr>
          <p:nvPr userDrawn="1">
            <p:ph type="body" idx="1" hasCustomPrompt="1"/>
          </p:nvPr>
        </p:nvSpPr>
        <p:spPr>
          <a:xfrm>
            <a:off x="455613" y="3241150"/>
            <a:ext cx="7772400" cy="1125140"/>
          </a:xfrm>
        </p:spPr>
        <p:txBody>
          <a:bodyPr anchor="t" anchorCtr="0">
            <a:noAutofit/>
          </a:bodyPr>
          <a:lstStyle>
            <a:lvl1pPr marL="0" indent="0">
              <a:buNone/>
              <a:defRPr sz="1600" b="0" i="0" baseline="0">
                <a:solidFill>
                  <a:srgbClr val="F3D54E"/>
                </a:solidFill>
                <a:latin typeface="Intel Clear"/>
                <a:cs typeface="Intel Clear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16pt Intel Clear Subhead</a:t>
            </a:r>
          </a:p>
        </p:txBody>
      </p:sp>
    </p:spTree>
    <p:extLst>
      <p:ext uri="{BB962C8B-B14F-4D97-AF65-F5344CB8AC3E}">
        <p14:creationId xmlns:p14="http://schemas.microsoft.com/office/powerpoint/2010/main" val="1110112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 Cover Radial Gradi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\\.psf\Home\Desktop\Intel.pn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7432" y="1875130"/>
            <a:ext cx="2108795" cy="1389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700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587" y="4759452"/>
            <a:ext cx="9144000" cy="384048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accent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2" descr="\\.psf\Home\Desktop\Intel.p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915" y="4830589"/>
            <a:ext cx="364336" cy="24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8718551" y="4824510"/>
            <a:ext cx="2381" cy="237744"/>
          </a:xfrm>
          <a:prstGeom prst="line">
            <a:avLst/>
          </a:prstGeom>
          <a:ln w="9525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5613" y="310130"/>
            <a:ext cx="8229600" cy="8686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Intel Clear Headline</a:t>
            </a:r>
            <a:br>
              <a:rPr lang="en-US" dirty="0"/>
            </a:br>
            <a:r>
              <a:rPr lang="en-US" dirty="0"/>
              <a:t>2 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5613" y="1130175"/>
            <a:ext cx="8228012" cy="349897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Intel Clear body text</a:t>
            </a:r>
          </a:p>
          <a:p>
            <a:pPr lvl="1"/>
            <a:r>
              <a:rPr lang="en-US" dirty="0"/>
              <a:t>Intel Clear bullet one</a:t>
            </a:r>
          </a:p>
          <a:p>
            <a:pPr lvl="2"/>
            <a:r>
              <a:rPr lang="en-US" dirty="0"/>
              <a:t>Intel Clear sub-bullet</a:t>
            </a:r>
          </a:p>
          <a:p>
            <a:pPr lvl="3"/>
            <a:r>
              <a:rPr lang="en-US" dirty="0"/>
              <a:t>Intel Clear fourth level</a:t>
            </a:r>
          </a:p>
          <a:p>
            <a:pPr lvl="4"/>
            <a:r>
              <a:rPr lang="en-US" dirty="0"/>
              <a:t>Intel Clear 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2352" y="4824387"/>
            <a:ext cx="213360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  <a:latin typeface="+mn-lt"/>
                <a:cs typeface="Intel Clear"/>
              </a:defRPr>
            </a:lvl1pPr>
          </a:lstStyle>
          <a:p>
            <a:fld id="{EE2556C5-CE8C-6547-B838-EA80C61A4AF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3856384" y="4837215"/>
            <a:ext cx="2886324" cy="253383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marL="0" marR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bg1"/>
                </a:solidFill>
              </a:rPr>
              <a:t>Intel Confidential  |  Internal Use Only – Do Not Distribute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281498" y="4813599"/>
            <a:ext cx="247535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1200" b="1" dirty="0">
                <a:solidFill>
                  <a:schemeClr val="bg1"/>
                </a:solidFill>
                <a:latin typeface="+mj-lt"/>
              </a:rPr>
              <a:t>CQR | </a:t>
            </a:r>
            <a:r>
              <a:rPr lang="en-US" sz="1100" dirty="0">
                <a:solidFill>
                  <a:schemeClr val="bg1"/>
                </a:solidFill>
                <a:latin typeface="Intel Clear Light" panose="020B0404020203020204" pitchFamily="34" charset="0"/>
                <a:ea typeface="Intel Clear Light" panose="020B0404020203020204" pitchFamily="34" charset="0"/>
                <a:cs typeface="Intel Clear Light" panose="020B0404020203020204" pitchFamily="34" charset="0"/>
              </a:rPr>
              <a:t>Customer Quality &amp; Reliability</a:t>
            </a:r>
            <a:endParaRPr lang="en-US" sz="1200" dirty="0">
              <a:solidFill>
                <a:schemeClr val="bg1"/>
              </a:solidFill>
              <a:latin typeface="Intel Clear Light" panose="020B0404020203020204" pitchFamily="34" charset="0"/>
              <a:ea typeface="Intel Clear Light" panose="020B0404020203020204" pitchFamily="34" charset="0"/>
              <a:cs typeface="Intel Clear Light" panose="020B0404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6227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50" r:id="rId2"/>
    <p:sldLayoutId id="2147483677" r:id="rId3"/>
    <p:sldLayoutId id="2147483678" r:id="rId4"/>
    <p:sldLayoutId id="2147483672" r:id="rId5"/>
    <p:sldLayoutId id="2147483651" r:id="rId6"/>
    <p:sldLayoutId id="2147483676" r:id="rId7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400" b="0" i="0" kern="1200" spc="0" baseline="0">
          <a:solidFill>
            <a:srgbClr val="003C71"/>
          </a:solidFill>
          <a:latin typeface="Intel Clear"/>
          <a:ea typeface="Intel Clear"/>
          <a:cs typeface="Intel Clear"/>
        </a:defRPr>
      </a:lvl1pPr>
    </p:titleStyle>
    <p:bodyStyle>
      <a:lvl1pPr marL="0" indent="0" algn="l" defTabSz="457200" rtl="0" eaLnBrk="1" latinLnBrk="0" hangingPunct="1">
        <a:spcBef>
          <a:spcPts val="1200"/>
        </a:spcBef>
        <a:spcAft>
          <a:spcPts val="0"/>
        </a:spcAft>
        <a:buFont typeface="Wingdings" panose="05000000000000000000" pitchFamily="2" charset="2"/>
        <a:buNone/>
        <a:defRPr sz="1600" b="0" kern="1200">
          <a:solidFill>
            <a:srgbClr val="0071C5"/>
          </a:solidFill>
          <a:latin typeface="+mn-lt"/>
          <a:ea typeface="+mn-ea"/>
          <a:cs typeface="Intel Clear" panose="020B0604020203020204" pitchFamily="34" charset="0"/>
        </a:defRPr>
      </a:lvl1pPr>
      <a:lvl2pPr marL="225425" indent="-225425" algn="l" defTabSz="457200" rtl="0" eaLnBrk="1" latinLnBrk="0" hangingPunct="1">
        <a:spcBef>
          <a:spcPts val="1200"/>
        </a:spcBef>
        <a:buFont typeface="Wingdings" charset="2"/>
        <a:buChar char="§"/>
        <a:defRPr sz="1600" kern="1200" baseline="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2pPr>
      <a:lvl3pPr marL="571500" indent="-228600" algn="l" defTabSz="457200" rtl="0" eaLnBrk="1" latinLnBrk="0" hangingPunct="1">
        <a:spcBef>
          <a:spcPts val="800"/>
        </a:spcBef>
        <a:buFont typeface="Intel Clear" panose="020B0604020203020204" pitchFamily="34" charset="0"/>
        <a:buChar char="–"/>
        <a:defRPr sz="1400" kern="120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3pPr>
      <a:lvl4pPr marL="969963" indent="-228600" algn="l" defTabSz="457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200" kern="120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4pPr>
      <a:lvl5pPr marL="1319213" indent="-228600" algn="l" defTabSz="457200" rtl="0" eaLnBrk="1" latinLnBrk="0" hangingPunct="1">
        <a:spcBef>
          <a:spcPct val="20000"/>
        </a:spcBef>
        <a:buFont typeface="Courier New" panose="02070309020205020404" pitchFamily="49" charset="0"/>
        <a:buChar char="o"/>
        <a:defRPr sz="1100" kern="1200">
          <a:solidFill>
            <a:srgbClr val="003C71"/>
          </a:solidFill>
          <a:latin typeface="+mn-lt"/>
          <a:ea typeface="+mn-ea"/>
          <a:cs typeface="Intel Clear" panose="020B0604020203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0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Deep dive ODM adhesive survey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Harry Yu, Jan.2018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310096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1"/>
            <a:r>
              <a:rPr lang="en-US" dirty="0"/>
              <a:t>Total received 9 customers feedback: Inventec CQ, LCFC, Compal KS, Compal CQ, MSI, Pegatron SZ, Quanta CQ, Samsung, Wistron KS</a:t>
            </a:r>
          </a:p>
          <a:p>
            <a:pPr lvl="1"/>
            <a:r>
              <a:rPr lang="en-US" dirty="0"/>
              <a:t>4 customers use UV</a:t>
            </a:r>
            <a:r>
              <a:rPr lang="zh-CN" altLang="en-US" dirty="0"/>
              <a:t> </a:t>
            </a:r>
            <a:r>
              <a:rPr lang="en-US" altLang="zh-CN" dirty="0"/>
              <a:t>glue only (Compal KS, Compal CQ, </a:t>
            </a:r>
            <a:r>
              <a:rPr lang="en-US" altLang="zh-CN" dirty="0" err="1"/>
              <a:t>Pega</a:t>
            </a:r>
            <a:r>
              <a:rPr lang="en-US" altLang="zh-CN" dirty="0"/>
              <a:t> SZ, MSI)</a:t>
            </a:r>
          </a:p>
          <a:p>
            <a:pPr lvl="1"/>
            <a:r>
              <a:rPr lang="en-US" dirty="0"/>
              <a:t>2 customers use thermal glue only (Inventec, Wistron)</a:t>
            </a:r>
          </a:p>
          <a:p>
            <a:pPr lvl="1"/>
            <a:r>
              <a:rPr lang="en-US" dirty="0"/>
              <a:t>1 customer have UV glue, Thermal glue and </a:t>
            </a:r>
            <a:r>
              <a:rPr lang="en-US" dirty="0" err="1"/>
              <a:t>underfill</a:t>
            </a:r>
            <a:r>
              <a:rPr lang="en-US" dirty="0"/>
              <a:t> material (Quanta CQ)</a:t>
            </a:r>
          </a:p>
          <a:p>
            <a:pPr lvl="1"/>
            <a:r>
              <a:rPr lang="en-US" dirty="0"/>
              <a:t>1 customer use </a:t>
            </a:r>
            <a:r>
              <a:rPr lang="en-US" dirty="0" err="1"/>
              <a:t>underfill</a:t>
            </a:r>
            <a:r>
              <a:rPr lang="en-US" dirty="0"/>
              <a:t> (corner fill) material only (LCFC)</a:t>
            </a:r>
          </a:p>
          <a:p>
            <a:pPr lvl="1"/>
            <a:r>
              <a:rPr lang="en-US" dirty="0"/>
              <a:t>1 customer use under film only (Samsung)</a:t>
            </a:r>
          </a:p>
        </p:txBody>
      </p:sp>
    </p:spTree>
    <p:extLst>
      <p:ext uri="{BB962C8B-B14F-4D97-AF65-F5344CB8AC3E}">
        <p14:creationId xmlns:p14="http://schemas.microsoft.com/office/powerpoint/2010/main" val="120625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summary (</a:t>
            </a:r>
            <a:r>
              <a:rPr lang="en-US" dirty="0" err="1"/>
              <a:t>Con’t</a:t>
            </a:r>
            <a:r>
              <a:rPr lang="en-US" dirty="0"/>
              <a:t>)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1"/>
            <a:r>
              <a:rPr lang="en-US" sz="1200" dirty="0"/>
              <a:t>Lenovo and it’s ODM (LCFC, Compal KS Lenovo Line, Wistron Lenovo Line) are only using </a:t>
            </a:r>
            <a:r>
              <a:rPr lang="en-US" sz="1200" dirty="0" err="1"/>
              <a:t>underfill</a:t>
            </a:r>
            <a:r>
              <a:rPr lang="en-US" sz="1200" dirty="0"/>
              <a:t> material. Most of project use corner fill</a:t>
            </a:r>
          </a:p>
          <a:p>
            <a:pPr lvl="1"/>
            <a:r>
              <a:rPr lang="en-US" sz="1200" dirty="0"/>
              <a:t>Wistron (corner dot) and Samsung (under film) are applying adhesive before SMT, Lenovo (and it’s ODM) apply after FT (due to difficulty to rework </a:t>
            </a:r>
            <a:r>
              <a:rPr lang="en-US" sz="1200" dirty="0" err="1"/>
              <a:t>underfill</a:t>
            </a:r>
            <a:r>
              <a:rPr lang="en-US" sz="1200" dirty="0"/>
              <a:t> material). Rest customers are applying adhesive after SMT, before electrical test</a:t>
            </a:r>
          </a:p>
          <a:p>
            <a:pPr lvl="1"/>
            <a:r>
              <a:rPr lang="en-US" sz="1200" dirty="0"/>
              <a:t>All customers use inline automated dispense. LCFC use manual dispense sometimes</a:t>
            </a:r>
          </a:p>
          <a:p>
            <a:pPr lvl="1"/>
            <a:r>
              <a:rPr lang="en-US" sz="1200" dirty="0"/>
              <a:t>Nobody pre-heat PCB when applying glue</a:t>
            </a:r>
          </a:p>
          <a:p>
            <a:pPr lvl="1"/>
            <a:r>
              <a:rPr lang="en-US" sz="1200" dirty="0"/>
              <a:t>All gules are </a:t>
            </a:r>
            <a:r>
              <a:rPr lang="en-US" sz="1200" dirty="0" err="1"/>
              <a:t>rework_able</a:t>
            </a:r>
            <a:r>
              <a:rPr lang="en-US" sz="1200" dirty="0"/>
              <a:t> except </a:t>
            </a:r>
            <a:r>
              <a:rPr lang="en-US" sz="1200" dirty="0" err="1"/>
              <a:t>underfill</a:t>
            </a:r>
            <a:r>
              <a:rPr lang="en-US" sz="1200" dirty="0"/>
              <a:t> material (difficult to rework)</a:t>
            </a:r>
          </a:p>
          <a:p>
            <a:pPr lvl="1"/>
            <a:r>
              <a:rPr lang="en-US" sz="1200" dirty="0"/>
              <a:t>QC criteria are various customer to customer. A lot customers have silkscreen on PCB to identify glue area</a:t>
            </a:r>
          </a:p>
          <a:p>
            <a:pPr lvl="1"/>
            <a:r>
              <a:rPr lang="en-US" sz="1200" dirty="0"/>
              <a:t>Only few customers provided their reliability requirement</a:t>
            </a:r>
          </a:p>
          <a:p>
            <a:pPr lvl="1"/>
            <a:r>
              <a:rPr lang="en-US" sz="1200" dirty="0"/>
              <a:t>Side note:</a:t>
            </a:r>
          </a:p>
          <a:p>
            <a:pPr lvl="2"/>
            <a:r>
              <a:rPr lang="en-US" sz="800" dirty="0"/>
              <a:t>MSFT apply glue depends on </a:t>
            </a:r>
            <a:r>
              <a:rPr lang="en-US" sz="800" dirty="0" err="1"/>
              <a:t>rel</a:t>
            </a:r>
            <a:r>
              <a:rPr lang="en-US" sz="800" dirty="0"/>
              <a:t> test result, if passing </a:t>
            </a:r>
            <a:r>
              <a:rPr lang="en-US" sz="800" dirty="0" err="1"/>
              <a:t>rel</a:t>
            </a:r>
            <a:r>
              <a:rPr lang="en-US" sz="800" dirty="0"/>
              <a:t> test w/o glue, they will not apply adhesive (message from 2016 CNL intro visit)</a:t>
            </a:r>
          </a:p>
          <a:p>
            <a:pPr lvl="2"/>
            <a:r>
              <a:rPr lang="en-US" sz="800" dirty="0"/>
              <a:t>Apple applying UV glue at one CNL-Y project build in Foxconn CD (message from Jan 2018 </a:t>
            </a:r>
            <a:r>
              <a:rPr lang="en-US" sz="800" dirty="0" err="1"/>
              <a:t>Fxn</a:t>
            </a:r>
            <a:r>
              <a:rPr lang="en-US" sz="800" dirty="0"/>
              <a:t> CNL-Y MAS training)</a:t>
            </a:r>
            <a:endParaRPr lang="en-US" sz="1000" dirty="0"/>
          </a:p>
          <a:p>
            <a:pPr lvl="1"/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704" y="83597"/>
            <a:ext cx="998323" cy="7648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56895" y="859562"/>
            <a:ext cx="759940" cy="1729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003C71"/>
                </a:solidFill>
              </a:rPr>
              <a:t>Corner dot</a:t>
            </a:r>
            <a:endParaRPr lang="zh-CN" altLang="en-US" sz="1100" dirty="0">
              <a:solidFill>
                <a:srgbClr val="003C71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195" y="117777"/>
            <a:ext cx="699914" cy="69648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89195" y="899672"/>
            <a:ext cx="759940" cy="172994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100" dirty="0">
                <a:solidFill>
                  <a:srgbClr val="003C71"/>
                </a:solidFill>
              </a:rPr>
              <a:t>Under film</a:t>
            </a:r>
            <a:endParaRPr lang="zh-CN" altLang="en-US" sz="1100" dirty="0">
              <a:solidFill>
                <a:srgbClr val="003C71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8769" y="3157151"/>
            <a:ext cx="690621" cy="60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68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Glue brand and model that customer is using</a:t>
            </a:r>
            <a:endParaRPr lang="zh-CN" alt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788940"/>
              </p:ext>
            </p:extLst>
          </p:nvPr>
        </p:nvGraphicFramePr>
        <p:xfrm>
          <a:off x="457202" y="1122428"/>
          <a:ext cx="8228011" cy="2723760"/>
        </p:xfrm>
        <a:graphic>
          <a:graphicData uri="http://schemas.openxmlformats.org/drawingml/2006/table">
            <a:tbl>
              <a:tblPr/>
              <a:tblGrid>
                <a:gridCol w="786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20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4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29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96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007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33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84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329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4790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473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4473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Compal CQ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Compal KS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Inventec CQ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LCFC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MSI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Pegatron SZ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Quanta CQ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Samsung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Wistron KS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宋体" panose="02010600030101010101" pitchFamily="2" charset="-122"/>
                      </a:endParaRP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Loctite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3619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Thermal</a:t>
                      </a:r>
                    </a:p>
                  </a:txBody>
                  <a:tcPr marL="7093" marR="7093" marT="70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U-Bond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3211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Loctite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3705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UV</a:t>
                      </a:r>
                    </a:p>
                  </a:txBody>
                  <a:tcPr marL="7093" marR="7093" marT="70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MATT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UV-3200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SEAYU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UV3329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U-Bond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UB4305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ZhongYu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ZY-303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宏骐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宋体" panose="02010600030101010101" pitchFamily="2" charset="-122"/>
                      </a:endParaRP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HQ377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視域</a:t>
                      </a:r>
                      <a:endParaRPr lang="zh-CN" altLang="en-US" sz="800" b="0" i="0" u="none" strike="noStrike">
                        <a:solidFill>
                          <a:srgbClr val="000000"/>
                        </a:solidFill>
                        <a:effectLst/>
                        <a:latin typeface="Intel Clear" panose="020B0604020203020204" pitchFamily="34" charset="0"/>
                        <a:ea typeface="宋体" panose="02010600030101010101" pitchFamily="2" charset="-122"/>
                      </a:endParaRP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PERMABOND UV649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ASEC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??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Underfill</a:t>
                      </a:r>
                    </a:p>
                  </a:txBody>
                  <a:tcPr marL="7093" marR="7093" marT="70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ASEC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AS3910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COOTEK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??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Henkel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E1216M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Panasonic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ADE480D-1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Corner Dot</a:t>
                      </a:r>
                    </a:p>
                  </a:txBody>
                  <a:tcPr marL="7093" marR="7093" marT="70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0235"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PRECO-MIWA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0.762mm*5.842mm*0.229mm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X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　</a:t>
                      </a:r>
                    </a:p>
                  </a:txBody>
                  <a:tcPr marL="7093" marR="7093" marT="7093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Intel Clear" panose="020B0604020203020204" pitchFamily="34" charset="0"/>
                          <a:ea typeface="宋体" panose="02010600030101010101" pitchFamily="2" charset="-122"/>
                        </a:rPr>
                        <a:t>Under Film</a:t>
                      </a:r>
                    </a:p>
                  </a:txBody>
                  <a:tcPr marL="7093" marR="7093" marT="709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9ADB501-7F78-4C19-80A5-E5EC646524AF}"/>
              </a:ext>
            </a:extLst>
          </p:cNvPr>
          <p:cNvSpPr txBox="1"/>
          <p:nvPr/>
        </p:nvSpPr>
        <p:spPr>
          <a:xfrm>
            <a:off x="685800" y="3979985"/>
            <a:ext cx="8124092" cy="914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sz="1100" u="sng" dirty="0">
                <a:solidFill>
                  <a:srgbClr val="003C71"/>
                </a:solidFill>
              </a:rPr>
              <a:t>As of 4-6-2020; Daniel Bello said Compal in Brazil is changing their adhesive process:</a:t>
            </a:r>
          </a:p>
          <a:p>
            <a:r>
              <a:rPr lang="en-US" sz="1100" dirty="0">
                <a:solidFill>
                  <a:srgbClr val="003C71"/>
                </a:solidFill>
              </a:rPr>
              <a:t>From: Apply adhesive to KBL-R, Loctite UV 3705, Panasonic Dispense Machine, in-line. </a:t>
            </a:r>
          </a:p>
          <a:p>
            <a:r>
              <a:rPr lang="en-US" sz="1100" dirty="0">
                <a:solidFill>
                  <a:srgbClr val="003C71"/>
                </a:solidFill>
              </a:rPr>
              <a:t>To: Acer Customer asked to move UV application after router &amp; ICT (due to capacity constraints). </a:t>
            </a:r>
          </a:p>
        </p:txBody>
      </p:sp>
    </p:spTree>
    <p:extLst>
      <p:ext uri="{BB962C8B-B14F-4D97-AF65-F5344CB8AC3E}">
        <p14:creationId xmlns:p14="http://schemas.microsoft.com/office/powerpoint/2010/main" val="3563750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4152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2556C5-CE8C-6547-B838-EA80C61A4AF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survey raw data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2896402"/>
              </p:ext>
            </p:extLst>
          </p:nvPr>
        </p:nvGraphicFramePr>
        <p:xfrm>
          <a:off x="3595816" y="211802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Packager Shell Object" showAsIcon="1" r:id="rId3" imgW="914400" imgH="771480" progId="Package">
                  <p:embed/>
                </p:oleObj>
              </mc:Choice>
              <mc:Fallback>
                <p:oleObj name="Packager Shell Object" showAsIcon="1" r:id="rId3" imgW="914400" imgH="77148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95816" y="211802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47699665"/>
      </p:ext>
    </p:extLst>
  </p:cSld>
  <p:clrMapOvr>
    <a:masterClrMapping/>
  </p:clrMapOvr>
</p:sld>
</file>

<file path=ppt/theme/theme1.xml><?xml version="1.0" encoding="utf-8"?>
<a:theme xmlns:a="http://schemas.openxmlformats.org/drawingml/2006/main" name="Int_PPT Template_ClearPro_16x9">
  <a:themeElements>
    <a:clrScheme name="Custom 2">
      <a:dk1>
        <a:sysClr val="windowText" lastClr="000000"/>
      </a:dk1>
      <a:lt1>
        <a:sysClr val="window" lastClr="FFFFFF"/>
      </a:lt1>
      <a:dk2>
        <a:srgbClr val="003C71"/>
      </a:dk2>
      <a:lt2>
        <a:srgbClr val="B1BABF"/>
      </a:lt2>
      <a:accent1>
        <a:srgbClr val="B7D108"/>
      </a:accent1>
      <a:accent2>
        <a:srgbClr val="0071C5"/>
      </a:accent2>
      <a:accent3>
        <a:srgbClr val="009CDA"/>
      </a:accent3>
      <a:accent4>
        <a:srgbClr val="F8D44C"/>
      </a:accent4>
      <a:accent5>
        <a:srgbClr val="FFA400"/>
      </a:accent5>
      <a:accent6>
        <a:srgbClr val="FF4E00"/>
      </a:accent6>
      <a:hlink>
        <a:srgbClr val="C3D600"/>
      </a:hlink>
      <a:folHlink>
        <a:srgbClr val="0071C5"/>
      </a:folHlink>
    </a:clrScheme>
    <a:fontScheme name="Intel Clear">
      <a:majorFont>
        <a:latin typeface="Intel Clear"/>
        <a:ea typeface=""/>
        <a:cs typeface=""/>
      </a:majorFont>
      <a:minorFont>
        <a:latin typeface="Intel Cle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lIns="0" tIns="0" rIns="0" bIns="0" rtlCol="0">
        <a:noAutofit/>
      </a:bodyPr>
      <a:lstStyle>
        <a:defPPr>
          <a:defRPr sz="1100" dirty="0" smtClean="0">
            <a:solidFill>
              <a:srgbClr val="003C7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5921F9D4874B40A69C72F5C132575A" ma:contentTypeVersion="18" ma:contentTypeDescription="Create a new document." ma:contentTypeScope="" ma:versionID="f81e1b74fd94b9f916141b297ac694c0">
  <xsd:schema xmlns:xsd="http://www.w3.org/2001/XMLSchema" xmlns:xs="http://www.w3.org/2001/XMLSchema" xmlns:p="http://schemas.microsoft.com/office/2006/metadata/properties" xmlns:ns2="b0a3e817-7ff1-4682-9cdc-9e68f1944ac6" xmlns:ns3="5e37b643-6edd-4e99-882c-9f9c6c52fc16" xmlns:ns4="a7bc6c04-a6f3-4b85-abcc-278c78dc556b" targetNamespace="http://schemas.microsoft.com/office/2006/metadata/properties" ma:root="true" ma:fieldsID="1cd7c1c097ec62e7a9d31b3de7be00f6" ns2:_="" ns3:_="" ns4:_="">
    <xsd:import namespace="b0a3e817-7ff1-4682-9cdc-9e68f1944ac6"/>
    <xsd:import namespace="5e37b643-6edd-4e99-882c-9f9c6c52fc16"/>
    <xsd:import namespace="a7bc6c04-a6f3-4b85-abcc-278c78dc55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a3e817-7ff1-4682-9cdc-9e68f1944a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a7515c-90a7-421b-ad67-16208a05513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37b643-6edd-4e99-882c-9f9c6c52fc1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bc6c04-a6f3-4b85-abcc-278c78dc556b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d42eb0fb-64ce-47fa-b4a9-0e6c067efc72}" ma:internalName="TaxCatchAll" ma:showField="CatchAllData" ma:web="5e37b643-6edd-4e99-882c-9f9c6c52fc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0a3e817-7ff1-4682-9cdc-9e68f1944ac6">
      <Terms xmlns="http://schemas.microsoft.com/office/infopath/2007/PartnerControls"/>
    </lcf76f155ced4ddcb4097134ff3c332f>
    <TaxCatchAll xmlns="a7bc6c04-a6f3-4b85-abcc-278c78dc556b" xsi:nil="true"/>
  </documentManagement>
</p:properties>
</file>

<file path=customXml/itemProps1.xml><?xml version="1.0" encoding="utf-8"?>
<ds:datastoreItem xmlns:ds="http://schemas.openxmlformats.org/officeDocument/2006/customXml" ds:itemID="{D6E9538D-CE66-4FFA-88D1-DC31B9E280CA}"/>
</file>

<file path=customXml/itemProps2.xml><?xml version="1.0" encoding="utf-8"?>
<ds:datastoreItem xmlns:ds="http://schemas.openxmlformats.org/officeDocument/2006/customXml" ds:itemID="{12A06151-3692-47B4-BD5C-B8A6FC42B11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E99ECB8-45FC-4100-8BF9-2ED702075700}">
  <ds:schemaRefs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450</Words>
  <Application>Microsoft Office PowerPoint</Application>
  <PresentationFormat>On-screen Show (16:9)</PresentationFormat>
  <Paragraphs>213</Paragraphs>
  <Slides>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Intel Clear</vt:lpstr>
      <vt:lpstr>Intel Clear Light</vt:lpstr>
      <vt:lpstr>Wingdings</vt:lpstr>
      <vt:lpstr>Courier New</vt:lpstr>
      <vt:lpstr>宋体</vt:lpstr>
      <vt:lpstr>Arial</vt:lpstr>
      <vt:lpstr>Intel Clear Pro</vt:lpstr>
      <vt:lpstr>Int_PPT Template_ClearPro_16x9</vt:lpstr>
      <vt:lpstr>Packager Shell Object</vt:lpstr>
      <vt:lpstr>Deep dive ODM adhesive survey </vt:lpstr>
      <vt:lpstr>Executive summary</vt:lpstr>
      <vt:lpstr>Executive summary (Con’t)</vt:lpstr>
      <vt:lpstr>Glue brand and model that customer is using</vt:lpstr>
      <vt:lpstr>PowerPoint Presentation</vt:lpstr>
      <vt:lpstr>Customer survey raw data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CTPClassification=CTP_NT</cp:keywords>
  <cp:lastModifiedBy/>
  <cp:revision>1</cp:revision>
  <dcterms:created xsi:type="dcterms:W3CDTF">2015-05-06T16:36:39Z</dcterms:created>
  <dcterms:modified xsi:type="dcterms:W3CDTF">2020-04-06T15:32:55Z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0x010100C25921F9D4874B40A69C72F5C132575A</vt:lpwstr>
  </property>
  <property fmtid="{D5CDD505-2E9C-101B-9397-08002B2CF9AE}" pid="3" name="TitusGUID">
    <vt:lpwstr>d6d1e0e3-9ba1-464f-96d2-f1109af39335</vt:lpwstr>
  </property>
  <property fmtid="{D5CDD505-2E9C-101B-9397-08002B2CF9AE}" pid="4" name="CTP_TimeStamp">
    <vt:lpwstr>2020-04-06 15:32:47Z</vt:lpwstr>
  </property>
  <property fmtid="{D5CDD505-2E9C-101B-9397-08002B2CF9AE}" pid="5" name="CTP_BU">
    <vt:lpwstr>NA</vt:lpwstr>
  </property>
  <property fmtid="{D5CDD505-2E9C-101B-9397-08002B2CF9AE}" pid="6" name="CTP_IDSID">
    <vt:lpwstr>NA</vt:lpwstr>
  </property>
  <property fmtid="{D5CDD505-2E9C-101B-9397-08002B2CF9AE}" pid="7" name="CTP_WWID">
    <vt:lpwstr>NA</vt:lpwstr>
  </property>
  <property fmtid="{D5CDD505-2E9C-101B-9397-08002B2CF9AE}" pid="8" name="CTPClassification">
    <vt:lpwstr>CTP_NT</vt:lpwstr>
  </property>
</Properties>
</file>