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1"/>
  </p:sldMasterIdLst>
  <p:notesMasterIdLst>
    <p:notesMasterId r:id="rId6"/>
  </p:notesMasterIdLst>
  <p:handoutMasterIdLst>
    <p:handoutMasterId r:id="rId7"/>
  </p:handoutMasterIdLst>
  <p:sldIdLst>
    <p:sldId id="256" r:id="rId2"/>
    <p:sldId id="261" r:id="rId3"/>
    <p:sldId id="262" r:id="rId4"/>
    <p:sldId id="260" r:id="rId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orient="horz" pos="1620" userDrawn="1">
          <p15:clr>
            <a:srgbClr val="A4A3A4"/>
          </p15:clr>
        </p15:guide>
        <p15:guide id="7" pos="5470">
          <p15:clr>
            <a:srgbClr val="A4A3A4"/>
          </p15:clr>
        </p15:guide>
        <p15:guide id="8" pos="28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1C5"/>
    <a:srgbClr val="F83308"/>
    <a:srgbClr val="FD9208"/>
    <a:srgbClr val="009FDF"/>
    <a:srgbClr val="F3D54E"/>
    <a:srgbClr val="F0CE3E"/>
    <a:srgbClr val="003C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262" autoAdjust="0"/>
    <p:restoredTop sz="85417" autoAdjust="0"/>
  </p:normalViewPr>
  <p:slideViewPr>
    <p:cSldViewPr snapToGrid="0">
      <p:cViewPr varScale="1">
        <p:scale>
          <a:sx n="175" d="100"/>
          <a:sy n="175" d="100"/>
        </p:scale>
        <p:origin x="156" y="342"/>
      </p:cViewPr>
      <p:guideLst>
        <p:guide orient="horz" pos="1620"/>
        <p:guide pos="5470"/>
        <p:guide pos="28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6" d="100"/>
        <a:sy n="86" d="100"/>
      </p:scale>
      <p:origin x="0" y="0"/>
    </p:cViewPr>
  </p:sorterViewPr>
  <p:notesViewPr>
    <p:cSldViewPr snapToGrid="0" showGuides="1">
      <p:cViewPr varScale="1">
        <p:scale>
          <a:sx n="83" d="100"/>
          <a:sy n="83" d="100"/>
        </p:scale>
        <p:origin x="-319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customXml" Target="../customXml/item3.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openxmlformats.org/officeDocument/2006/relationships/customXml" Target="../customXml/item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ACFD7B2-88A6-E34E-8EF8-CB0C7BA47ADD}" type="datetimeFigureOut">
              <a:rPr lang="en-US" smtClean="0">
                <a:latin typeface="Arial" panose="020B0604020202020204" pitchFamily="34" charset="0"/>
              </a:rPr>
              <a:pPr/>
              <a:t>12/14/2017</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96CFA4E-18EB-6D49-8DE2-7A74038C2C1C}" type="slidenum">
              <a:rPr lang="en-US" smtClean="0">
                <a:latin typeface="Arial" panose="020B0604020202020204" pitchFamily="34" charset="0"/>
              </a:rPr>
              <a:pPr/>
              <a:t>‹#›</a:t>
            </a:fld>
            <a:endParaRPr lang="en-US" dirty="0">
              <a:latin typeface="Arial" panose="020B0604020202020204" pitchFamily="34" charset="0"/>
            </a:endParaRPr>
          </a:p>
        </p:txBody>
      </p:sp>
    </p:spTree>
    <p:extLst>
      <p:ext uri="{BB962C8B-B14F-4D97-AF65-F5344CB8AC3E}">
        <p14:creationId xmlns:p14="http://schemas.microsoft.com/office/powerpoint/2010/main" val="9129941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ED7FC5FE-6F0D-D34A-8EE6-C95B4F5F4DC8}" type="datetimeFigureOut">
              <a:rPr lang="en-US" smtClean="0"/>
              <a:pPr/>
              <a:t>12/14/2017</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D61C8689-8455-3546-ADF9-3B7273760F66}" type="slidenum">
              <a:rPr lang="en-US" smtClean="0"/>
              <a:pPr/>
              <a:t>‹#›</a:t>
            </a:fld>
            <a:endParaRPr lang="en-US" dirty="0"/>
          </a:p>
        </p:txBody>
      </p:sp>
    </p:spTree>
    <p:extLst>
      <p:ext uri="{BB962C8B-B14F-4D97-AF65-F5344CB8AC3E}">
        <p14:creationId xmlns:p14="http://schemas.microsoft.com/office/powerpoint/2010/main" val="260842922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Arial" panose="020B0604020202020204" pitchFamily="34" charset="0"/>
        <a:ea typeface="+mn-ea"/>
        <a:cs typeface="+mn-cs"/>
      </a:defRPr>
    </a:lvl1pPr>
    <a:lvl2pPr marL="457200" algn="l" defTabSz="457200" rtl="0" eaLnBrk="1" latinLnBrk="0" hangingPunct="1">
      <a:defRPr sz="1200" kern="1200">
        <a:solidFill>
          <a:schemeClr val="tx1"/>
        </a:solidFill>
        <a:latin typeface="Arial" panose="020B0604020202020204" pitchFamily="34" charset="0"/>
        <a:ea typeface="+mn-ea"/>
        <a:cs typeface="+mn-cs"/>
      </a:defRPr>
    </a:lvl2pPr>
    <a:lvl3pPr marL="914400" algn="l" defTabSz="457200" rtl="0" eaLnBrk="1" latinLnBrk="0" hangingPunct="1">
      <a:defRPr sz="1200" kern="1200">
        <a:solidFill>
          <a:schemeClr val="tx1"/>
        </a:solidFill>
        <a:latin typeface="Arial" panose="020B0604020202020204" pitchFamily="34" charset="0"/>
        <a:ea typeface="+mn-ea"/>
        <a:cs typeface="+mn-cs"/>
      </a:defRPr>
    </a:lvl3pPr>
    <a:lvl4pPr marL="1371600" algn="l" defTabSz="457200" rtl="0" eaLnBrk="1" latinLnBrk="0" hangingPunct="1">
      <a:defRPr sz="1200" kern="1200">
        <a:solidFill>
          <a:schemeClr val="tx1"/>
        </a:solidFill>
        <a:latin typeface="Arial" panose="020B0604020202020204" pitchFamily="34" charset="0"/>
        <a:ea typeface="+mn-ea"/>
        <a:cs typeface="+mn-cs"/>
      </a:defRPr>
    </a:lvl4pPr>
    <a:lvl5pPr marL="1828800" algn="l" defTabSz="457200" rtl="0" eaLnBrk="1" latinLnBrk="0" hangingPunct="1">
      <a:defRPr sz="120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61C8689-8455-3546-ADF9-3B7273760F66}" type="slidenum">
              <a:rPr lang="en-US" smtClean="0"/>
              <a:pPr/>
              <a:t>3</a:t>
            </a:fld>
            <a:endParaRPr lang="en-US" dirty="0"/>
          </a:p>
        </p:txBody>
      </p:sp>
    </p:spTree>
    <p:extLst>
      <p:ext uri="{BB962C8B-B14F-4D97-AF65-F5344CB8AC3E}">
        <p14:creationId xmlns:p14="http://schemas.microsoft.com/office/powerpoint/2010/main" val="28919786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with Linear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5000" b="0" spc="0" baseline="0">
                <a:solidFill>
                  <a:schemeClr val="bg1">
                    <a:alpha val="90000"/>
                  </a:schemeClr>
                </a:solidFill>
                <a:latin typeface="+mj-lt"/>
                <a:cs typeface="Arial" panose="020B0604020202020204" pitchFamily="34" charset="0"/>
              </a:defRPr>
            </a:lvl1pPr>
          </a:lstStyle>
          <a:p>
            <a:r>
              <a:rPr lang="en-US" dirty="0" smtClean="0"/>
              <a:t>50pt Intel Clear pro Title</a:t>
            </a:r>
            <a:br>
              <a:rPr lang="en-US" dirty="0" smtClean="0"/>
            </a:br>
            <a:r>
              <a:rPr lang="en-US" dirty="0" smtClean="0"/>
              <a:t>with Linear gradient</a:t>
            </a:r>
            <a:endParaRPr lang="en-US" dirty="0"/>
          </a:p>
        </p:txBody>
      </p:sp>
      <p:sp>
        <p:nvSpPr>
          <p:cNvPr id="3"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chemeClr val="accent3"/>
                </a:solidFill>
                <a:latin typeface="+mn-lt"/>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5" name="Picture 4" descr="int_experience_hrz_wht_rgb_1500.png"/>
          <p:cNvPicPr>
            <a:picLocks noChangeAspect="1"/>
          </p:cNvPicPr>
          <p:nvPr userDrawn="1"/>
        </p:nvPicPr>
        <p:blipFill>
          <a:blip r:embed="rId2">
            <a:alphaModFix/>
            <a:extLst>
              <a:ext uri="{28A0092B-C50C-407E-A947-70E740481C1C}">
                <a14:useLocalDpi xmlns:a14="http://schemas.microsoft.com/office/drawing/2010/main" val="0"/>
              </a:ext>
            </a:extLst>
          </a:blip>
          <a:stretch>
            <a:fillRect/>
          </a:stretch>
        </p:blipFill>
        <p:spPr>
          <a:xfrm>
            <a:off x="460693" y="389228"/>
            <a:ext cx="2121766" cy="887284"/>
          </a:xfrm>
          <a:prstGeom prst="rect">
            <a:avLst/>
          </a:prstGeom>
        </p:spPr>
      </p:pic>
      <p:sp>
        <p:nvSpPr>
          <p:cNvPr id="6" name="TextBox 5"/>
          <p:cNvSpPr txBox="1"/>
          <p:nvPr userDrawn="1"/>
        </p:nvSpPr>
        <p:spPr>
          <a:xfrm>
            <a:off x="3569780" y="4830734"/>
            <a:ext cx="2031005" cy="276999"/>
          </a:xfrm>
          <a:prstGeom prst="rect">
            <a:avLst/>
          </a:prstGeom>
          <a:noFill/>
        </p:spPr>
        <p:txBody>
          <a:bodyPr vert="horz" wrap="none" lIns="0" tIns="0" rIns="0" bIns="0" rtlCol="0">
            <a:spAutoFit/>
          </a:bodyPr>
          <a:lstStyle/>
          <a:p>
            <a:pPr algn="ctr"/>
            <a:r>
              <a:rPr lang="en-US" sz="900" dirty="0" smtClean="0">
                <a:solidFill>
                  <a:schemeClr val="bg1"/>
                </a:solidFill>
              </a:rPr>
              <a:t>Intel</a:t>
            </a:r>
            <a:r>
              <a:rPr lang="en-US" sz="900" baseline="0" dirty="0" smtClean="0">
                <a:solidFill>
                  <a:schemeClr val="bg1"/>
                </a:solidFill>
              </a:rPr>
              <a:t> Confidential – For Use Under NDA</a:t>
            </a:r>
          </a:p>
          <a:p>
            <a:pPr algn="ctr"/>
            <a:r>
              <a:rPr lang="en-US" sz="900" baseline="0" dirty="0" smtClean="0">
                <a:solidFill>
                  <a:schemeClr val="bg1"/>
                </a:solidFill>
              </a:rPr>
              <a:t>Do Not Reproduce</a:t>
            </a:r>
            <a:endParaRPr lang="en-US" sz="900" dirty="0" smtClean="0">
              <a:solidFill>
                <a:schemeClr val="bg1"/>
              </a:solidFill>
            </a:endParaRPr>
          </a:p>
        </p:txBody>
      </p:sp>
    </p:spTree>
    <p:extLst>
      <p:ext uri="{BB962C8B-B14F-4D97-AF65-F5344CB8AC3E}">
        <p14:creationId xmlns:p14="http://schemas.microsoft.com/office/powerpoint/2010/main" val="2404006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9" name="Content Placeholder 8"/>
          <p:cNvSpPr>
            <a:spLocks noGrp="1"/>
          </p:cNvSpPr>
          <p:nvPr>
            <p:ph sz="quarter" idx="13" hasCustomPrompt="1"/>
          </p:nvPr>
        </p:nvSpPr>
        <p:spPr>
          <a:xfrm>
            <a:off x="455613" y="613387"/>
            <a:ext cx="8228012" cy="4015764"/>
          </a:xfrm>
        </p:spPr>
        <p:txBody>
          <a:bodyPr/>
          <a:lstStyle>
            <a:lvl1pPr>
              <a:defRPr>
                <a:solidFill>
                  <a:srgbClr val="0071C5"/>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200">
                <a:solidFill>
                  <a:schemeClr val="tx2"/>
                </a:solidFill>
              </a:defRPr>
            </a:lvl5pPr>
          </a:lstStyle>
          <a:p>
            <a:pPr lvl="0"/>
            <a:r>
              <a:rPr lang="en-US" dirty="0" smtClean="0"/>
              <a:t>18pt Intel Clear body text</a:t>
            </a:r>
          </a:p>
          <a:p>
            <a:pPr lvl="1"/>
            <a:r>
              <a:rPr lang="en-US" dirty="0" smtClean="0"/>
              <a:t>18pt Intel Clear bullet one</a:t>
            </a:r>
          </a:p>
          <a:p>
            <a:pPr lvl="2"/>
            <a:r>
              <a:rPr lang="en-US" dirty="0" smtClean="0"/>
              <a:t>16pt Intel Clear sub-bullet</a:t>
            </a:r>
          </a:p>
          <a:p>
            <a:pPr lvl="3"/>
            <a:r>
              <a:rPr lang="en-US" dirty="0" smtClean="0"/>
              <a:t>14pt Intel Clear fourth level</a:t>
            </a:r>
          </a:p>
          <a:p>
            <a:pPr lvl="4"/>
            <a:r>
              <a:rPr lang="en-US" dirty="0" smtClean="0"/>
              <a:t>12pt Intel Clear fifth level</a:t>
            </a:r>
            <a:endParaRPr lang="en-US" dirty="0"/>
          </a:p>
        </p:txBody>
      </p:sp>
      <p:sp>
        <p:nvSpPr>
          <p:cNvPr id="5" name="Title Placeholder 1"/>
          <p:cNvSpPr>
            <a:spLocks noGrp="1"/>
          </p:cNvSpPr>
          <p:nvPr>
            <p:ph type="title"/>
          </p:nvPr>
        </p:nvSpPr>
        <p:spPr>
          <a:xfrm>
            <a:off x="455613" y="145410"/>
            <a:ext cx="8229600" cy="399808"/>
          </a:xfrm>
          <a:prstGeom prst="rect">
            <a:avLst/>
          </a:prstGeom>
        </p:spPr>
        <p:txBody>
          <a:bodyPr vert="horz" lIns="0" tIns="0" rIns="0" bIns="0" rtlCol="0" anchor="t" anchorCtr="0">
            <a:noAutofit/>
          </a:bodyPr>
          <a:lstStyle/>
          <a:p>
            <a:r>
              <a:rPr lang="en-US" smtClean="0"/>
              <a:t>Click to edit Master title style</a:t>
            </a:r>
            <a:endParaRPr lang="en-US" dirty="0"/>
          </a:p>
        </p:txBody>
      </p:sp>
    </p:spTree>
    <p:extLst>
      <p:ext uri="{BB962C8B-B14F-4D97-AF65-F5344CB8AC3E}">
        <p14:creationId xmlns:p14="http://schemas.microsoft.com/office/powerpoint/2010/main" val="1358511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4" name="Title Placeholder 1"/>
          <p:cNvSpPr>
            <a:spLocks noGrp="1"/>
          </p:cNvSpPr>
          <p:nvPr>
            <p:ph type="title"/>
          </p:nvPr>
        </p:nvSpPr>
        <p:spPr>
          <a:xfrm>
            <a:off x="455613" y="145410"/>
            <a:ext cx="8229600" cy="399808"/>
          </a:xfrm>
          <a:prstGeom prst="rect">
            <a:avLst/>
          </a:prstGeom>
        </p:spPr>
        <p:txBody>
          <a:bodyPr vert="horz" lIns="0" tIns="0" rIns="0" bIns="0" rtlCol="0" anchor="t" anchorCtr="0">
            <a:noAutofit/>
          </a:bodyPr>
          <a:lstStyle/>
          <a:p>
            <a:r>
              <a:rPr lang="en-US" smtClean="0"/>
              <a:t>Click to edit Master title style</a:t>
            </a:r>
            <a:endParaRPr lang="en-US" dirty="0"/>
          </a:p>
        </p:txBody>
      </p:sp>
    </p:spTree>
    <p:extLst>
      <p:ext uri="{BB962C8B-B14F-4D97-AF65-F5344CB8AC3E}">
        <p14:creationId xmlns:p14="http://schemas.microsoft.com/office/powerpoint/2010/main" val="413716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607708"/>
            <a:ext cx="4006851" cy="4021442"/>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9" name="Picture Placeholder 8"/>
          <p:cNvSpPr>
            <a:spLocks noGrp="1"/>
          </p:cNvSpPr>
          <p:nvPr>
            <p:ph type="pic" sz="quarter" idx="13"/>
          </p:nvPr>
        </p:nvSpPr>
        <p:spPr>
          <a:xfrm>
            <a:off x="4683081" y="607708"/>
            <a:ext cx="4005072" cy="4023360"/>
          </a:xfrm>
          <a:solidFill>
            <a:schemeClr val="bg2">
              <a:lumMod val="60000"/>
              <a:lumOff val="40000"/>
            </a:schemeClr>
          </a:solidFill>
        </p:spPr>
        <p:txBody>
          <a:bodyPr/>
          <a:lstStyle>
            <a:lvl1pPr>
              <a:defRPr sz="1800">
                <a:latin typeface="Intel Clear"/>
              </a:defRPr>
            </a:lvl1pPr>
          </a:lstStyle>
          <a:p>
            <a:r>
              <a:rPr lang="en-US" sz="1100" smtClean="0">
                <a:latin typeface="Arial"/>
              </a:rPr>
              <a:t>Click icon to add picture</a:t>
            </a:r>
            <a:endParaRPr lang="en-US" sz="1100" dirty="0">
              <a:latin typeface="Arial"/>
            </a:endParaRPr>
          </a:p>
        </p:txBody>
      </p:sp>
      <p:sp>
        <p:nvSpPr>
          <p:cNvPr id="11" name="Title Placeholder 1"/>
          <p:cNvSpPr>
            <a:spLocks noGrp="1"/>
          </p:cNvSpPr>
          <p:nvPr>
            <p:ph type="title"/>
          </p:nvPr>
        </p:nvSpPr>
        <p:spPr>
          <a:xfrm>
            <a:off x="455613" y="145410"/>
            <a:ext cx="8229600" cy="399808"/>
          </a:xfrm>
          <a:prstGeom prst="rect">
            <a:avLst/>
          </a:prstGeom>
        </p:spPr>
        <p:txBody>
          <a:bodyPr vert="horz" lIns="0" tIns="0" rIns="0" bIns="0" rtlCol="0" anchor="t" anchorCtr="0">
            <a:noAutofit/>
          </a:bodyPr>
          <a:lstStyle/>
          <a:p>
            <a:r>
              <a:rPr lang="en-US" smtClean="0"/>
              <a:t>Click to edit Master title style</a:t>
            </a:r>
            <a:endParaRPr lang="en-US" dirty="0"/>
          </a:p>
        </p:txBody>
      </p:sp>
    </p:spTree>
    <p:extLst>
      <p:ext uri="{BB962C8B-B14F-4D97-AF65-F5344CB8AC3E}">
        <p14:creationId xmlns:p14="http://schemas.microsoft.com/office/powerpoint/2010/main" val="2598914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607708"/>
            <a:ext cx="4006851" cy="4021442"/>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607708"/>
            <a:ext cx="4005264" cy="4015763"/>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400" dirty="0" smtClean="0">
                <a:solidFill>
                  <a:schemeClr val="tx2"/>
                </a:solidFill>
              </a:defRPr>
            </a:lvl3pPr>
            <a:lvl4pPr>
              <a:defRPr lang="en-US" sz="1200" dirty="0" smtClean="0">
                <a:solidFill>
                  <a:schemeClr val="tx2"/>
                </a:solidFill>
              </a:defRPr>
            </a:lvl4pPr>
            <a:lvl5pPr>
              <a:defRPr lang="en-US" sz="1200" dirty="0">
                <a:solidFill>
                  <a:schemeClr val="tx2"/>
                </a:solidFill>
              </a:defRPr>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9" name="Title Placeholder 1"/>
          <p:cNvSpPr>
            <a:spLocks noGrp="1"/>
          </p:cNvSpPr>
          <p:nvPr>
            <p:ph type="title"/>
          </p:nvPr>
        </p:nvSpPr>
        <p:spPr>
          <a:xfrm>
            <a:off x="455613" y="145410"/>
            <a:ext cx="8229600" cy="399808"/>
          </a:xfrm>
          <a:prstGeom prst="rect">
            <a:avLst/>
          </a:prstGeom>
        </p:spPr>
        <p:txBody>
          <a:bodyPr vert="horz" lIns="0" tIns="0" rIns="0" bIns="0" rtlCol="0" anchor="t" anchorCtr="0">
            <a:noAutofit/>
          </a:bodyPr>
          <a:lstStyle/>
          <a:p>
            <a:r>
              <a:rPr lang="en-US" smtClean="0"/>
              <a:t>Click to edit Master title style</a:t>
            </a:r>
            <a:endParaRPr lang="en-US" dirty="0"/>
          </a:p>
        </p:txBody>
      </p:sp>
    </p:spTree>
    <p:extLst>
      <p:ext uri="{BB962C8B-B14F-4D97-AF65-F5344CB8AC3E}">
        <p14:creationId xmlns:p14="http://schemas.microsoft.com/office/powerpoint/2010/main" val="406206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E2556C5-CE8C-6547-B838-EA80C61A4AF7}" type="slidenum">
              <a:rPr lang="en-US" smtClean="0"/>
              <a:pPr/>
              <a:t>‹#›</a:t>
            </a:fld>
            <a:endParaRPr lang="en-US" dirty="0"/>
          </a:p>
        </p:txBody>
      </p:sp>
    </p:spTree>
    <p:extLst>
      <p:ext uri="{BB962C8B-B14F-4D97-AF65-F5344CB8AC3E}">
        <p14:creationId xmlns:p14="http://schemas.microsoft.com/office/powerpoint/2010/main" val="3328961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4000" b="0" cap="none" spc="0" baseline="0">
                <a:solidFill>
                  <a:schemeClr val="tx2">
                    <a:alpha val="90000"/>
                  </a:schemeClr>
                </a:solidFill>
                <a:latin typeface="+mj-lt"/>
                <a:cs typeface="Arial" panose="020B0604020202020204" pitchFamily="34" charset="0"/>
              </a:defRPr>
            </a:lvl1pPr>
          </a:lstStyle>
          <a:p>
            <a:r>
              <a:rPr lang="en-US" dirty="0" smtClean="0"/>
              <a:t>40pt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Tree>
    <p:extLst>
      <p:ext uri="{BB962C8B-B14F-4D97-AF65-F5344CB8AC3E}">
        <p14:creationId xmlns:p14="http://schemas.microsoft.com/office/powerpoint/2010/main" val="24037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userDrawn="1">
            <p:ph type="title" hasCustomPrompt="1"/>
          </p:nvPr>
        </p:nvSpPr>
        <p:spPr>
          <a:xfrm>
            <a:off x="455613" y="2108062"/>
            <a:ext cx="7772400" cy="1021556"/>
          </a:xfrm>
        </p:spPr>
        <p:txBody>
          <a:bodyPr anchor="b" anchorCtr="0">
            <a:noAutofit/>
          </a:bodyPr>
          <a:lstStyle>
            <a:lvl1pPr algn="l">
              <a:lnSpc>
                <a:spcPct val="80000"/>
              </a:lnSpc>
              <a:defRPr sz="4000" b="0" cap="none" spc="0" baseline="0">
                <a:solidFill>
                  <a:schemeClr val="bg1">
                    <a:alpha val="90000"/>
                  </a:schemeClr>
                </a:solidFill>
                <a:latin typeface="+mj-lt"/>
                <a:cs typeface="Arial" panose="020B0604020202020204" pitchFamily="34" charset="0"/>
              </a:defRPr>
            </a:lvl1pPr>
          </a:lstStyle>
          <a:p>
            <a:r>
              <a:rPr lang="en-US" dirty="0" smtClean="0"/>
              <a:t>40pt Intel Clear Pro</a:t>
            </a:r>
            <a:br>
              <a:rPr lang="en-US" dirty="0" smtClean="0"/>
            </a:br>
            <a:r>
              <a:rPr lang="en-US" dirty="0" smtClean="0"/>
              <a:t>blue section break</a:t>
            </a:r>
            <a:endParaRPr lang="en-US" dirty="0"/>
          </a:p>
        </p:txBody>
      </p:sp>
      <p:sp>
        <p:nvSpPr>
          <p:cNvPr id="3" name="Text Placeholder 2"/>
          <p:cNvSpPr>
            <a:spLocks noGrp="1"/>
          </p:cNvSpPr>
          <p:nvPr userDrawn="1">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4" name="TextBox 3"/>
          <p:cNvSpPr txBox="1"/>
          <p:nvPr userDrawn="1"/>
        </p:nvSpPr>
        <p:spPr>
          <a:xfrm>
            <a:off x="3569780" y="4849206"/>
            <a:ext cx="2031005" cy="276999"/>
          </a:xfrm>
          <a:prstGeom prst="rect">
            <a:avLst/>
          </a:prstGeom>
          <a:noFill/>
        </p:spPr>
        <p:txBody>
          <a:bodyPr vert="horz" wrap="none" lIns="0" tIns="0" rIns="0" bIns="0" rtlCol="0">
            <a:spAutoFit/>
          </a:bodyPr>
          <a:lstStyle/>
          <a:p>
            <a:pPr algn="ctr"/>
            <a:r>
              <a:rPr lang="en-US" sz="900" dirty="0" smtClean="0">
                <a:solidFill>
                  <a:schemeClr val="bg1"/>
                </a:solidFill>
              </a:rPr>
              <a:t>Intel</a:t>
            </a:r>
            <a:r>
              <a:rPr lang="en-US" sz="900" baseline="0" dirty="0" smtClean="0">
                <a:solidFill>
                  <a:schemeClr val="bg1"/>
                </a:solidFill>
              </a:rPr>
              <a:t> Confidential – For Use Under NDA</a:t>
            </a:r>
          </a:p>
          <a:p>
            <a:pPr algn="ctr"/>
            <a:r>
              <a:rPr lang="en-US" sz="900" baseline="0" dirty="0" smtClean="0">
                <a:solidFill>
                  <a:schemeClr val="bg1"/>
                </a:solidFill>
              </a:rPr>
              <a:t>Do Not Reproduce</a:t>
            </a:r>
            <a:endParaRPr lang="en-US" sz="900" dirty="0" smtClean="0">
              <a:solidFill>
                <a:schemeClr val="bg1"/>
              </a:solidFill>
            </a:endParaRPr>
          </a:p>
        </p:txBody>
      </p:sp>
    </p:spTree>
    <p:extLst>
      <p:ext uri="{BB962C8B-B14F-4D97-AF65-F5344CB8AC3E}">
        <p14:creationId xmlns:p14="http://schemas.microsoft.com/office/powerpoint/2010/main" val="1110112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1_Back Cover Radial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pic>
        <p:nvPicPr>
          <p:cNvPr id="5" name="Picture 4" descr="int_experience_hrz_wht_rgb_3000.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48779" y="1874822"/>
            <a:ext cx="3646443" cy="1514490"/>
          </a:xfrm>
          <a:prstGeom prst="rect">
            <a:avLst/>
          </a:prstGeom>
        </p:spPr>
      </p:pic>
      <p:sp>
        <p:nvSpPr>
          <p:cNvPr id="3" name="TextBox 2"/>
          <p:cNvSpPr txBox="1"/>
          <p:nvPr userDrawn="1"/>
        </p:nvSpPr>
        <p:spPr>
          <a:xfrm>
            <a:off x="3569780" y="4830734"/>
            <a:ext cx="2031005" cy="276999"/>
          </a:xfrm>
          <a:prstGeom prst="rect">
            <a:avLst/>
          </a:prstGeom>
          <a:noFill/>
        </p:spPr>
        <p:txBody>
          <a:bodyPr vert="horz" wrap="none" lIns="0" tIns="0" rIns="0" bIns="0" rtlCol="0">
            <a:spAutoFit/>
          </a:bodyPr>
          <a:lstStyle/>
          <a:p>
            <a:pPr algn="ctr"/>
            <a:r>
              <a:rPr lang="en-US" sz="900" dirty="0" smtClean="0">
                <a:solidFill>
                  <a:schemeClr val="bg1"/>
                </a:solidFill>
              </a:rPr>
              <a:t>Intel</a:t>
            </a:r>
            <a:r>
              <a:rPr lang="en-US" sz="900" baseline="0" dirty="0" smtClean="0">
                <a:solidFill>
                  <a:schemeClr val="bg1"/>
                </a:solidFill>
              </a:rPr>
              <a:t> Confidential – For Use Under NDA</a:t>
            </a:r>
          </a:p>
          <a:p>
            <a:pPr algn="ctr"/>
            <a:r>
              <a:rPr lang="en-US" sz="900" baseline="0" dirty="0" smtClean="0">
                <a:solidFill>
                  <a:schemeClr val="bg1"/>
                </a:solidFill>
              </a:rPr>
              <a:t>Do Not Reproduce</a:t>
            </a:r>
            <a:endParaRPr lang="en-US" sz="900" dirty="0" smtClean="0">
              <a:solidFill>
                <a:schemeClr val="bg1"/>
              </a:solidFill>
            </a:endParaRPr>
          </a:p>
        </p:txBody>
      </p:sp>
    </p:spTree>
    <p:extLst>
      <p:ext uri="{BB962C8B-B14F-4D97-AF65-F5344CB8AC3E}">
        <p14:creationId xmlns:p14="http://schemas.microsoft.com/office/powerpoint/2010/main" val="147483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87" y="4759452"/>
            <a:ext cx="9144000" cy="384048"/>
          </a:xfrm>
          <a:prstGeom prst="rect">
            <a:avLst/>
          </a:prstGeom>
          <a:gradFill flip="none" rotWithShape="1">
            <a:gsLst>
              <a:gs pos="32000">
                <a:schemeClr val="tx2"/>
              </a:gs>
              <a:gs pos="95000">
                <a:srgbClr val="009FDF"/>
              </a:gs>
              <a:gs pos="78000">
                <a:srgbClr val="0071C5"/>
              </a:gs>
            </a:gsLst>
            <a:lin ang="1986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1" name="Picture 2" descr="\\.psf\Home\Desktop\Intel.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39915" y="4830589"/>
            <a:ext cx="364336" cy="240131"/>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8718551" y="4824510"/>
            <a:ext cx="2381" cy="237744"/>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455613" y="145410"/>
            <a:ext cx="8229600" cy="399808"/>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596349"/>
            <a:ext cx="8228012" cy="4032802"/>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6" name="Slide Number Placeholder 5"/>
          <p:cNvSpPr>
            <a:spLocks noGrp="1"/>
          </p:cNvSpPr>
          <p:nvPr>
            <p:ph type="sldNum" sz="quarter" idx="4"/>
          </p:nvPr>
        </p:nvSpPr>
        <p:spPr>
          <a:xfrm>
            <a:off x="6872352" y="4824387"/>
            <a:ext cx="2133600" cy="273844"/>
          </a:xfrm>
          <a:prstGeom prst="rect">
            <a:avLst/>
          </a:prstGeom>
        </p:spPr>
        <p:txBody>
          <a:bodyPr vert="horz" lIns="0" tIns="0" rIns="0" bIns="0" rtlCol="0" anchor="ctr"/>
          <a:lstStyle>
            <a:lvl1pPr algn="r">
              <a:defRPr sz="800">
                <a:solidFill>
                  <a:schemeClr val="bg1"/>
                </a:solidFill>
                <a:latin typeface="+mn-lt"/>
                <a:cs typeface="Arial" panose="020B0604020202020204" pitchFamily="34" charset="0"/>
              </a:defRPr>
            </a:lvl1pPr>
          </a:lstStyle>
          <a:p>
            <a:fld id="{EE2556C5-CE8C-6547-B838-EA80C61A4AF7}" type="slidenum">
              <a:rPr lang="en-US" smtClean="0"/>
              <a:pPr/>
              <a:t>‹#›</a:t>
            </a:fld>
            <a:endParaRPr lang="en-US" dirty="0"/>
          </a:p>
        </p:txBody>
      </p:sp>
      <p:sp>
        <p:nvSpPr>
          <p:cNvPr id="13" name="TextBox 12"/>
          <p:cNvSpPr txBox="1"/>
          <p:nvPr userDrawn="1"/>
        </p:nvSpPr>
        <p:spPr>
          <a:xfrm>
            <a:off x="3569780" y="4830734"/>
            <a:ext cx="2031005" cy="276999"/>
          </a:xfrm>
          <a:prstGeom prst="rect">
            <a:avLst/>
          </a:prstGeom>
          <a:noFill/>
        </p:spPr>
        <p:txBody>
          <a:bodyPr vert="horz" wrap="none" lIns="0" tIns="0" rIns="0" bIns="0" rtlCol="0">
            <a:spAutoFit/>
          </a:bodyPr>
          <a:lstStyle/>
          <a:p>
            <a:pPr algn="ctr"/>
            <a:r>
              <a:rPr lang="en-US" sz="900" dirty="0" smtClean="0">
                <a:solidFill>
                  <a:schemeClr val="bg1"/>
                </a:solidFill>
              </a:rPr>
              <a:t>Intel</a:t>
            </a:r>
            <a:r>
              <a:rPr lang="en-US" sz="900" baseline="0" dirty="0" smtClean="0">
                <a:solidFill>
                  <a:schemeClr val="bg1"/>
                </a:solidFill>
              </a:rPr>
              <a:t> Confidential – For Use Under NDA</a:t>
            </a:r>
          </a:p>
          <a:p>
            <a:pPr algn="ctr"/>
            <a:r>
              <a:rPr lang="en-US" sz="900" baseline="0" dirty="0" smtClean="0">
                <a:solidFill>
                  <a:schemeClr val="bg1"/>
                </a:solidFill>
              </a:rPr>
              <a:t>Do Not Reproduce</a:t>
            </a:r>
            <a:endParaRPr lang="en-US" sz="900" dirty="0" smtClean="0">
              <a:solidFill>
                <a:schemeClr val="bg1"/>
              </a:solidFill>
            </a:endParaRPr>
          </a:p>
        </p:txBody>
      </p:sp>
      <p:pic>
        <p:nvPicPr>
          <p:cNvPr id="1026" name="Picture 2"/>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47407" y="4740415"/>
            <a:ext cx="380104" cy="393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6227823"/>
      </p:ext>
    </p:extLst>
  </p:cSld>
  <p:clrMap bg1="lt1" tx1="dk1" bg2="lt2" tx2="dk2" accent1="accent1" accent2="accent2" accent3="accent3" accent4="accent4" accent5="accent5" accent6="accent6" hlink="hlink" folHlink="folHlink"/>
  <p:sldLayoutIdLst>
    <p:sldLayoutId id="2147483686" r:id="rId1"/>
    <p:sldLayoutId id="2147483650" r:id="rId2"/>
    <p:sldLayoutId id="2147483654" r:id="rId3"/>
    <p:sldLayoutId id="2147483684" r:id="rId4"/>
    <p:sldLayoutId id="2147483652" r:id="rId5"/>
    <p:sldLayoutId id="2147483655" r:id="rId6"/>
    <p:sldLayoutId id="2147483672" r:id="rId7"/>
    <p:sldLayoutId id="2147483651" r:id="rId8"/>
    <p:sldLayoutId id="2147483681"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chemeClr val="tx2"/>
          </a:solidFill>
          <a:latin typeface="+mj-lt"/>
          <a:ea typeface="Intel Clear"/>
          <a:cs typeface="Arial" panose="020B0604020202020204" pitchFamily="34" charset="0"/>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Arial" panose="020B0604020202020204" pitchFamily="34" charset="0"/>
        </a:defRPr>
      </a:lvl1pPr>
      <a:lvl2pPr marL="225425" indent="-225425" algn="l" defTabSz="457200" rtl="0" eaLnBrk="1" latinLnBrk="0" hangingPunct="1">
        <a:spcBef>
          <a:spcPts val="1200"/>
        </a:spcBef>
        <a:buFont typeface="Wingdings" charset="2"/>
        <a:buChar char="§"/>
        <a:defRPr sz="1600" kern="1200" baseline="0">
          <a:solidFill>
            <a:schemeClr val="tx2"/>
          </a:solidFill>
          <a:latin typeface="+mn-lt"/>
          <a:ea typeface="+mn-ea"/>
          <a:cs typeface="Arial" panose="020B0604020202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chemeClr val="tx2"/>
          </a:solidFill>
          <a:latin typeface="+mn-lt"/>
          <a:ea typeface="+mn-ea"/>
          <a:cs typeface="Arial" panose="020B0604020202020204" pitchFamily="34" charset="0"/>
        </a:defRPr>
      </a:lvl3pPr>
      <a:lvl4pPr marL="969963" indent="-228600" algn="l" defTabSz="457200" rtl="0" eaLnBrk="1" latinLnBrk="0" hangingPunct="1">
        <a:spcBef>
          <a:spcPct val="20000"/>
        </a:spcBef>
        <a:buFont typeface="Arial"/>
        <a:buChar char="–"/>
        <a:defRPr sz="1400" kern="1200">
          <a:solidFill>
            <a:schemeClr val="tx2"/>
          </a:solidFill>
          <a:latin typeface="+mn-lt"/>
          <a:ea typeface="+mn-ea"/>
          <a:cs typeface="Arial" panose="020B0604020202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chemeClr val="tx2"/>
          </a:solidFill>
          <a:latin typeface="+mn-lt"/>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4687" y="2236829"/>
            <a:ext cx="8212886" cy="1102519"/>
          </a:xfrm>
        </p:spPr>
        <p:txBody>
          <a:bodyPr/>
          <a:lstStyle/>
          <a:p>
            <a:r>
              <a:rPr lang="en-US" dirty="0" smtClean="0"/>
              <a:t>ODM &amp; CPTD X-RAY </a:t>
            </a:r>
            <a:br>
              <a:rPr lang="en-US" dirty="0" smtClean="0"/>
            </a:br>
            <a:r>
              <a:rPr lang="en-US" dirty="0" smtClean="0"/>
              <a:t>CRD INFO</a:t>
            </a:r>
            <a:endParaRPr lang="en-US" dirty="0"/>
          </a:p>
        </p:txBody>
      </p:sp>
      <p:sp>
        <p:nvSpPr>
          <p:cNvPr id="3" name="Subtitle 2"/>
          <p:cNvSpPr>
            <a:spLocks noGrp="1"/>
          </p:cNvSpPr>
          <p:nvPr>
            <p:ph type="subTitle" idx="1"/>
          </p:nvPr>
        </p:nvSpPr>
        <p:spPr>
          <a:xfrm>
            <a:off x="444687" y="3791182"/>
            <a:ext cx="6330212" cy="925360"/>
          </a:xfrm>
        </p:spPr>
        <p:txBody>
          <a:bodyPr/>
          <a:lstStyle/>
          <a:p>
            <a:r>
              <a:rPr lang="en-US" dirty="0" smtClean="0"/>
              <a:t>WW50.3’17</a:t>
            </a:r>
          </a:p>
          <a:p>
            <a:r>
              <a:rPr lang="en-US" dirty="0" smtClean="0"/>
              <a:t>Dan Burkholder, Matt Mueller, Shun An Moy, Kevin Fong, Bill Hardin</a:t>
            </a:r>
            <a:endParaRPr lang="en-US" dirty="0"/>
          </a:p>
        </p:txBody>
      </p:sp>
    </p:spTree>
    <p:extLst>
      <p:ext uri="{BB962C8B-B14F-4D97-AF65-F5344CB8AC3E}">
        <p14:creationId xmlns:p14="http://schemas.microsoft.com/office/powerpoint/2010/main" val="247534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E2556C5-CE8C-6547-B838-EA80C61A4AF7}" type="slidenum">
              <a:rPr lang="en-US" smtClean="0"/>
              <a:pPr/>
              <a:t>2</a:t>
            </a:fld>
            <a:endParaRPr lang="en-US"/>
          </a:p>
        </p:txBody>
      </p:sp>
      <p:sp>
        <p:nvSpPr>
          <p:cNvPr id="2" name="Title 1"/>
          <p:cNvSpPr>
            <a:spLocks noGrp="1"/>
          </p:cNvSpPr>
          <p:nvPr>
            <p:ph type="title"/>
          </p:nvPr>
        </p:nvSpPr>
        <p:spPr>
          <a:xfrm>
            <a:off x="293883" y="-22535"/>
            <a:ext cx="8229600" cy="399808"/>
          </a:xfrm>
        </p:spPr>
        <p:txBody>
          <a:bodyPr/>
          <a:lstStyle/>
          <a:p>
            <a:r>
              <a:rPr lang="en-US" dirty="0" smtClean="0"/>
              <a:t>ODM &amp; CPTD X-RAY: CRD Information</a:t>
            </a:r>
            <a:endParaRPr lang="en-US" dirty="0"/>
          </a:p>
        </p:txBody>
      </p:sp>
      <p:sp>
        <p:nvSpPr>
          <p:cNvPr id="10" name="Rectangle 9"/>
          <p:cNvSpPr/>
          <p:nvPr/>
        </p:nvSpPr>
        <p:spPr>
          <a:xfrm>
            <a:off x="219238" y="342059"/>
            <a:ext cx="8849999" cy="4624343"/>
          </a:xfrm>
          <a:prstGeom prst="rect">
            <a:avLst/>
          </a:prstGeom>
        </p:spPr>
        <p:txBody>
          <a:bodyPr wrap="square">
            <a:spAutoFit/>
          </a:bodyPr>
          <a:lstStyle/>
          <a:p>
            <a:pPr marL="342900" marR="0" lvl="0" indent="-342900">
              <a:spcBef>
                <a:spcPts val="0"/>
              </a:spcBef>
              <a:spcAft>
                <a:spcPts val="0"/>
              </a:spcAft>
              <a:buFont typeface="+mj-lt"/>
              <a:buAutoNum type="arabicPeriod"/>
            </a:pPr>
            <a:r>
              <a:rPr lang="en-US" sz="1050" dirty="0">
                <a:ea typeface="Gulim"/>
              </a:rPr>
              <a:t>How do the OEMs use the X-ray? Do they use it to see package to board alignment and do they have a re-work </a:t>
            </a:r>
            <a:r>
              <a:rPr lang="en-US" sz="1050" dirty="0" smtClean="0">
                <a:ea typeface="Gulim"/>
              </a:rPr>
              <a:t>process?</a:t>
            </a:r>
          </a:p>
          <a:p>
            <a:pPr marL="800100" lvl="1" indent="-342900">
              <a:buFont typeface="Arial" panose="020B0604020202020204" pitchFamily="34" charset="0"/>
              <a:buChar char="•"/>
            </a:pPr>
            <a:r>
              <a:rPr lang="en-US" sz="1000" dirty="0" smtClean="0">
                <a:solidFill>
                  <a:srgbClr val="00B050"/>
                </a:solidFill>
                <a:ea typeface="Gulim"/>
              </a:rPr>
              <a:t>CPTD: X-ray each validation board </a:t>
            </a:r>
            <a:r>
              <a:rPr lang="en-US" sz="1000" dirty="0">
                <a:solidFill>
                  <a:srgbClr val="00B050"/>
                </a:solidFill>
                <a:ea typeface="Gulim"/>
              </a:rPr>
              <a:t>twice, once at Vitrox (automated tool) and once at Dage (manual, provides tilted </a:t>
            </a:r>
            <a:r>
              <a:rPr lang="en-US" sz="1000" dirty="0" smtClean="0">
                <a:solidFill>
                  <a:srgbClr val="00B050"/>
                </a:solidFill>
                <a:ea typeface="Gulim"/>
              </a:rPr>
              <a:t>images)</a:t>
            </a:r>
            <a:endParaRPr lang="en-US" sz="1000" dirty="0">
              <a:solidFill>
                <a:srgbClr val="00B050"/>
              </a:solidFill>
              <a:ea typeface="Gulim"/>
            </a:endParaRPr>
          </a:p>
          <a:p>
            <a:pPr marL="800100" lvl="1" indent="-342900">
              <a:buFont typeface="Arial" panose="020B0604020202020204" pitchFamily="34" charset="0"/>
              <a:buChar char="•"/>
            </a:pPr>
            <a:r>
              <a:rPr lang="en-US" sz="1000" dirty="0" smtClean="0">
                <a:solidFill>
                  <a:srgbClr val="0070C0"/>
                </a:solidFill>
                <a:ea typeface="Gulim"/>
              </a:rPr>
              <a:t>ODMs: X-Ray process is very normal in SMT manufacturing (ODMs). Normally ODMs will </a:t>
            </a:r>
            <a:r>
              <a:rPr lang="en-US" sz="1000" dirty="0" smtClean="0">
                <a:solidFill>
                  <a:srgbClr val="0070C0"/>
                </a:solidFill>
                <a:ea typeface="Gulim"/>
              </a:rPr>
              <a:t>do package to board alignment during NPI build first article, then </a:t>
            </a:r>
            <a:r>
              <a:rPr lang="en-US" sz="1000" dirty="0" smtClean="0">
                <a:solidFill>
                  <a:srgbClr val="0070C0"/>
                </a:solidFill>
                <a:ea typeface="Gulim"/>
              </a:rPr>
              <a:t>random </a:t>
            </a:r>
            <a:r>
              <a:rPr lang="en-US" sz="1000" dirty="0" smtClean="0">
                <a:solidFill>
                  <a:srgbClr val="0070C0"/>
                </a:solidFill>
                <a:ea typeface="Gulim"/>
              </a:rPr>
              <a:t>checks </a:t>
            </a:r>
            <a:r>
              <a:rPr lang="en-US" sz="1000" dirty="0" smtClean="0">
                <a:solidFill>
                  <a:srgbClr val="0070C0"/>
                </a:solidFill>
                <a:ea typeface="Gulim"/>
              </a:rPr>
              <a:t>in HVM mfg to make sure no part mis-alignments or SJQ issues. Moreover, if detect failure at ICT or Functional Test station, ODMs will use X-Ray to confirm SJQ too. About rework, it is really depends on each ODMs’ SOP. Normally, ODMs will do X-Ray after rework process </a:t>
            </a:r>
            <a:r>
              <a:rPr lang="en-US" sz="1000" dirty="0" smtClean="0">
                <a:solidFill>
                  <a:srgbClr val="0070C0"/>
                </a:solidFill>
                <a:ea typeface="Gulim"/>
              </a:rPr>
              <a:t>(to ensure good SJ quality) prior </a:t>
            </a:r>
            <a:r>
              <a:rPr lang="en-US" sz="1000" dirty="0" smtClean="0">
                <a:solidFill>
                  <a:srgbClr val="0070C0"/>
                </a:solidFill>
                <a:ea typeface="Gulim"/>
              </a:rPr>
              <a:t>sending boards back to mfg line for ICT and Functional Test.   </a:t>
            </a:r>
          </a:p>
          <a:p>
            <a:pPr marL="800100" lvl="1" indent="-342900">
              <a:buFont typeface="Arial" panose="020B0604020202020204" pitchFamily="34" charset="0"/>
              <a:buChar char="•"/>
            </a:pPr>
            <a:endParaRPr lang="en-US" sz="1000" dirty="0">
              <a:ea typeface="Gulim"/>
            </a:endParaRPr>
          </a:p>
          <a:p>
            <a:pPr marL="342900" indent="-342900">
              <a:buFont typeface="+mj-lt"/>
              <a:buAutoNum type="arabicPeriod"/>
            </a:pPr>
            <a:r>
              <a:rPr lang="en-US" sz="1050" dirty="0" smtClean="0">
                <a:ea typeface="Gulim"/>
              </a:rPr>
              <a:t>Is </a:t>
            </a:r>
            <a:r>
              <a:rPr lang="en-US" sz="1050" dirty="0">
                <a:ea typeface="Gulim"/>
              </a:rPr>
              <a:t>this 100% </a:t>
            </a:r>
            <a:r>
              <a:rPr lang="en-US" sz="1050" dirty="0" smtClean="0">
                <a:ea typeface="Gulim"/>
              </a:rPr>
              <a:t>sampling?</a:t>
            </a:r>
          </a:p>
          <a:p>
            <a:pPr marL="800100" lvl="1" indent="-342900">
              <a:buFont typeface="Arial" panose="020B0604020202020204" pitchFamily="34" charset="0"/>
              <a:buChar char="•"/>
            </a:pPr>
            <a:r>
              <a:rPr lang="en-US" sz="1000" dirty="0" smtClean="0">
                <a:solidFill>
                  <a:srgbClr val="00B050"/>
                </a:solidFill>
                <a:ea typeface="Gulim"/>
              </a:rPr>
              <a:t>CPTD: Yes</a:t>
            </a:r>
            <a:r>
              <a:rPr lang="en-US" sz="1000" dirty="0">
                <a:solidFill>
                  <a:srgbClr val="00B050"/>
                </a:solidFill>
                <a:ea typeface="Gulim"/>
              </a:rPr>
              <a:t>, all </a:t>
            </a:r>
            <a:r>
              <a:rPr lang="en-US" sz="1000" dirty="0" smtClean="0">
                <a:solidFill>
                  <a:srgbClr val="00B050"/>
                </a:solidFill>
                <a:ea typeface="Gulim"/>
              </a:rPr>
              <a:t>validation boards </a:t>
            </a:r>
            <a:r>
              <a:rPr lang="en-US" sz="1000" dirty="0" smtClean="0">
                <a:solidFill>
                  <a:srgbClr val="00B050"/>
                </a:solidFill>
                <a:ea typeface="Gulim"/>
              </a:rPr>
              <a:t>go </a:t>
            </a:r>
            <a:r>
              <a:rPr lang="en-US" sz="1000" dirty="0">
                <a:solidFill>
                  <a:srgbClr val="00B050"/>
                </a:solidFill>
                <a:ea typeface="Gulim"/>
              </a:rPr>
              <a:t>through </a:t>
            </a:r>
            <a:r>
              <a:rPr lang="en-US" sz="1000" dirty="0" smtClean="0">
                <a:solidFill>
                  <a:srgbClr val="00B050"/>
                </a:solidFill>
                <a:ea typeface="Gulim"/>
              </a:rPr>
              <a:t>100% x-ray during development.</a:t>
            </a:r>
            <a:endParaRPr lang="en-US" sz="1000" dirty="0" smtClean="0">
              <a:solidFill>
                <a:srgbClr val="00B050"/>
              </a:solidFill>
              <a:ea typeface="Gulim"/>
            </a:endParaRPr>
          </a:p>
          <a:p>
            <a:pPr marL="800100" lvl="1" indent="-342900">
              <a:buFont typeface="Arial" panose="020B0604020202020204" pitchFamily="34" charset="0"/>
              <a:buChar char="•"/>
            </a:pPr>
            <a:r>
              <a:rPr lang="en-US" sz="1000" dirty="0" smtClean="0">
                <a:solidFill>
                  <a:srgbClr val="0070C0"/>
                </a:solidFill>
                <a:ea typeface="Gulim"/>
              </a:rPr>
              <a:t>ODMs: NPI </a:t>
            </a:r>
            <a:r>
              <a:rPr lang="en-US" sz="1000" dirty="0">
                <a:solidFill>
                  <a:srgbClr val="0070C0"/>
                </a:solidFill>
                <a:ea typeface="Gulim"/>
              </a:rPr>
              <a:t>build will do 100% for FAI (First Article Check). In HVM will </a:t>
            </a:r>
            <a:r>
              <a:rPr lang="en-US" sz="1000" dirty="0" smtClean="0">
                <a:solidFill>
                  <a:srgbClr val="0070C0"/>
                </a:solidFill>
                <a:ea typeface="Gulim"/>
              </a:rPr>
              <a:t>x-ray </a:t>
            </a:r>
            <a:r>
              <a:rPr lang="en-US" sz="1000" dirty="0" smtClean="0">
                <a:solidFill>
                  <a:srgbClr val="0070C0"/>
                </a:solidFill>
                <a:ea typeface="Gulim"/>
              </a:rPr>
              <a:t>randomly (not 100%). </a:t>
            </a:r>
            <a:r>
              <a:rPr lang="en-US" sz="1000" dirty="0">
                <a:solidFill>
                  <a:srgbClr val="0070C0"/>
                </a:solidFill>
                <a:ea typeface="Gulim"/>
              </a:rPr>
              <a:t>However, it is really also depends on OEMs customer request. </a:t>
            </a:r>
            <a:r>
              <a:rPr lang="en-US" sz="1000" dirty="0">
                <a:solidFill>
                  <a:srgbClr val="0070C0"/>
                </a:solidFill>
                <a:ea typeface="Gulim"/>
              </a:rPr>
              <a:t>Sampling plan is different per different product life </a:t>
            </a:r>
            <a:r>
              <a:rPr lang="en-US" sz="1000" dirty="0" smtClean="0">
                <a:solidFill>
                  <a:srgbClr val="0070C0"/>
                </a:solidFill>
                <a:ea typeface="Gulim"/>
              </a:rPr>
              <a:t>circle, for example, 3 </a:t>
            </a:r>
            <a:r>
              <a:rPr lang="en-US" sz="1000" dirty="0" err="1">
                <a:solidFill>
                  <a:srgbClr val="0070C0"/>
                </a:solidFill>
                <a:ea typeface="Gulim"/>
              </a:rPr>
              <a:t>brds</a:t>
            </a:r>
            <a:r>
              <a:rPr lang="en-US" sz="1000" dirty="0">
                <a:solidFill>
                  <a:srgbClr val="0070C0"/>
                </a:solidFill>
                <a:ea typeface="Gulim"/>
              </a:rPr>
              <a:t> every hour, or 12 </a:t>
            </a:r>
            <a:r>
              <a:rPr lang="en-US" sz="1000" dirty="0" err="1">
                <a:solidFill>
                  <a:srgbClr val="0070C0"/>
                </a:solidFill>
                <a:ea typeface="Gulim"/>
              </a:rPr>
              <a:t>brds</a:t>
            </a:r>
            <a:r>
              <a:rPr lang="en-US" sz="1000" dirty="0">
                <a:solidFill>
                  <a:srgbClr val="0070C0"/>
                </a:solidFill>
                <a:ea typeface="Gulim"/>
              </a:rPr>
              <a:t> every shift </a:t>
            </a:r>
            <a:r>
              <a:rPr lang="en-US" sz="1000" dirty="0" smtClean="0">
                <a:solidFill>
                  <a:srgbClr val="0070C0"/>
                </a:solidFill>
                <a:ea typeface="Gulim"/>
              </a:rPr>
              <a:t>etc… </a:t>
            </a:r>
            <a:r>
              <a:rPr lang="en-US" sz="1000" dirty="0">
                <a:solidFill>
                  <a:srgbClr val="0070C0"/>
                </a:solidFill>
                <a:ea typeface="Gulim"/>
              </a:rPr>
              <a:t>For server board, a lot </a:t>
            </a:r>
            <a:r>
              <a:rPr lang="en-US" sz="1000" dirty="0" smtClean="0">
                <a:solidFill>
                  <a:srgbClr val="0070C0"/>
                </a:solidFill>
                <a:ea typeface="Gulim"/>
              </a:rPr>
              <a:t>of customers </a:t>
            </a:r>
            <a:r>
              <a:rPr lang="en-US" sz="1000" dirty="0">
                <a:solidFill>
                  <a:srgbClr val="0070C0"/>
                </a:solidFill>
                <a:ea typeface="Gulim"/>
              </a:rPr>
              <a:t>ask for 100% </a:t>
            </a:r>
            <a:r>
              <a:rPr lang="en-US" sz="1000" dirty="0" smtClean="0">
                <a:solidFill>
                  <a:srgbClr val="0070C0"/>
                </a:solidFill>
                <a:ea typeface="Gulim"/>
              </a:rPr>
              <a:t>on-line </a:t>
            </a:r>
            <a:r>
              <a:rPr lang="en-US" sz="1000" dirty="0">
                <a:solidFill>
                  <a:srgbClr val="0070C0"/>
                </a:solidFill>
                <a:ea typeface="Gulim"/>
              </a:rPr>
              <a:t>AXI.</a:t>
            </a:r>
            <a:endParaRPr lang="en-US" sz="1000" dirty="0" smtClean="0">
              <a:solidFill>
                <a:srgbClr val="0070C0"/>
              </a:solidFill>
              <a:ea typeface="Gulim"/>
            </a:endParaRPr>
          </a:p>
          <a:p>
            <a:pPr lvl="1"/>
            <a:endParaRPr lang="en-US" sz="1050" dirty="0" smtClean="0">
              <a:ea typeface="Gulim"/>
            </a:endParaRPr>
          </a:p>
          <a:p>
            <a:pPr marL="342900" indent="-342900">
              <a:buFont typeface="+mj-lt"/>
              <a:buAutoNum type="arabicPeriod"/>
            </a:pPr>
            <a:r>
              <a:rPr lang="en-US" sz="1050" dirty="0" smtClean="0">
                <a:ea typeface="Gulim"/>
              </a:rPr>
              <a:t>Is </a:t>
            </a:r>
            <a:r>
              <a:rPr lang="en-US" sz="1050" dirty="0">
                <a:ea typeface="Gulim"/>
              </a:rPr>
              <a:t>the X-ray from the top of the mother board or bottom of the </a:t>
            </a:r>
            <a:r>
              <a:rPr lang="en-US" sz="1050" dirty="0" smtClean="0">
                <a:ea typeface="Gulim"/>
              </a:rPr>
              <a:t>motherboard?</a:t>
            </a:r>
          </a:p>
          <a:p>
            <a:pPr marL="800100" lvl="1" indent="-342900">
              <a:buFont typeface="Arial" panose="020B0604020202020204" pitchFamily="34" charset="0"/>
              <a:buChar char="•"/>
            </a:pPr>
            <a:r>
              <a:rPr lang="en-US" sz="1000" dirty="0" smtClean="0">
                <a:solidFill>
                  <a:srgbClr val="00B050"/>
                </a:solidFill>
                <a:ea typeface="Gulim"/>
              </a:rPr>
              <a:t>CPTD: Generally validation boards have x-ray from the top, in Dage &amp; Vitrox. Typically the shortest parts are on the top side (as seen by the machine), to use “high magnification”, which requires small clearance. There have been cases when full product boards (servers) were run face-down, when there were very tall parts (such as connectors) on the top side of the board which could interfere with the x-ray head.</a:t>
            </a:r>
          </a:p>
          <a:p>
            <a:pPr marL="800100" lvl="1" indent="-342900">
              <a:buFont typeface="Arial" panose="020B0604020202020204" pitchFamily="34" charset="0"/>
              <a:buChar char="•"/>
            </a:pPr>
            <a:r>
              <a:rPr lang="en-US" sz="1000" dirty="0" smtClean="0">
                <a:solidFill>
                  <a:srgbClr val="0070C0"/>
                </a:solidFill>
                <a:ea typeface="Gulim"/>
              </a:rPr>
              <a:t>ODMs: X-Ray from the </a:t>
            </a:r>
            <a:r>
              <a:rPr lang="en-US" sz="1000" dirty="0" smtClean="0">
                <a:solidFill>
                  <a:srgbClr val="0070C0"/>
                </a:solidFill>
                <a:ea typeface="Gulim"/>
              </a:rPr>
              <a:t>Top is most common.</a:t>
            </a:r>
            <a:endParaRPr lang="en-US" sz="1000" dirty="0" smtClean="0">
              <a:solidFill>
                <a:srgbClr val="0070C0"/>
              </a:solidFill>
              <a:ea typeface="Gulim"/>
            </a:endParaRPr>
          </a:p>
          <a:p>
            <a:pPr marL="342900" indent="-342900">
              <a:buFont typeface="+mj-lt"/>
              <a:buAutoNum type="arabicPeriod"/>
            </a:pPr>
            <a:endParaRPr lang="en-US" sz="1050" dirty="0">
              <a:ea typeface="Gulim"/>
            </a:endParaRPr>
          </a:p>
          <a:p>
            <a:pPr marL="342900" indent="-342900">
              <a:buFont typeface="+mj-lt"/>
              <a:buAutoNum type="arabicPeriod"/>
            </a:pPr>
            <a:r>
              <a:rPr lang="en-US" sz="1050" dirty="0" smtClean="0">
                <a:ea typeface="Gulim"/>
              </a:rPr>
              <a:t>What </a:t>
            </a:r>
            <a:r>
              <a:rPr lang="en-US" sz="1050" dirty="0">
                <a:ea typeface="Gulim"/>
              </a:rPr>
              <a:t>is the equipment type used, dosage/power, time exposed of X-ray, Field of view (FOV) dimensions and location of the X-ray w.r.t </a:t>
            </a:r>
            <a:r>
              <a:rPr lang="en-US" sz="1050" dirty="0" smtClean="0">
                <a:ea typeface="Gulim"/>
              </a:rPr>
              <a:t>HBM?</a:t>
            </a:r>
          </a:p>
          <a:p>
            <a:pPr marL="800100" lvl="1" indent="-342900">
              <a:buFont typeface="Arial" panose="020B0604020202020204" pitchFamily="34" charset="0"/>
              <a:buChar char="•"/>
            </a:pPr>
            <a:r>
              <a:rPr lang="en-US" sz="1000" dirty="0" smtClean="0">
                <a:solidFill>
                  <a:srgbClr val="00B050"/>
                </a:solidFill>
                <a:ea typeface="Gulim"/>
              </a:rPr>
              <a:t>CPTD: We don’t currently know </a:t>
            </a:r>
            <a:r>
              <a:rPr lang="en-US" sz="1000" dirty="0">
                <a:solidFill>
                  <a:srgbClr val="00B050"/>
                </a:solidFill>
                <a:ea typeface="Gulim"/>
              </a:rPr>
              <a:t>this beyond the basic tool </a:t>
            </a:r>
            <a:r>
              <a:rPr lang="en-US" sz="1000" dirty="0" smtClean="0">
                <a:solidFill>
                  <a:srgbClr val="00B050"/>
                </a:solidFill>
                <a:ea typeface="Gulim"/>
              </a:rPr>
              <a:t>names, but we could research this more.</a:t>
            </a:r>
          </a:p>
          <a:p>
            <a:pPr marL="800100" lvl="1" indent="-342900">
              <a:buFont typeface="Arial" panose="020B0604020202020204" pitchFamily="34" charset="0"/>
              <a:buChar char="•"/>
            </a:pPr>
            <a:r>
              <a:rPr lang="en-US" sz="1000" dirty="0" smtClean="0">
                <a:solidFill>
                  <a:srgbClr val="0070C0"/>
                </a:solidFill>
                <a:ea typeface="Gulim"/>
              </a:rPr>
              <a:t>ODMs: Please </a:t>
            </a:r>
            <a:r>
              <a:rPr lang="en-US" sz="1000" dirty="0">
                <a:solidFill>
                  <a:srgbClr val="0070C0"/>
                </a:solidFill>
                <a:ea typeface="Gulim"/>
              </a:rPr>
              <a:t>refer to </a:t>
            </a:r>
            <a:r>
              <a:rPr lang="en-US" sz="1000" dirty="0" smtClean="0">
                <a:solidFill>
                  <a:srgbClr val="0070C0"/>
                </a:solidFill>
                <a:ea typeface="Gulim"/>
              </a:rPr>
              <a:t>the information on the next page. </a:t>
            </a:r>
          </a:p>
          <a:p>
            <a:pPr marL="800100" lvl="1" indent="-342900">
              <a:buFont typeface="Arial" panose="020B0604020202020204" pitchFamily="34" charset="0"/>
              <a:buChar char="•"/>
            </a:pPr>
            <a:endParaRPr lang="en-US" sz="1000" dirty="0">
              <a:ea typeface="Gulim"/>
            </a:endParaRPr>
          </a:p>
          <a:p>
            <a:pPr marL="342900" indent="-342900">
              <a:buFont typeface="+mj-lt"/>
              <a:buAutoNum type="arabicPeriod"/>
            </a:pPr>
            <a:r>
              <a:rPr lang="en-US" sz="1050" dirty="0" smtClean="0"/>
              <a:t>Do they use any filters</a:t>
            </a:r>
            <a:r>
              <a:rPr lang="en-US" sz="1050" dirty="0" smtClean="0"/>
              <a:t>?  </a:t>
            </a:r>
            <a:r>
              <a:rPr lang="en-US" sz="1050" dirty="0" smtClean="0"/>
              <a:t>(</a:t>
            </a:r>
            <a:r>
              <a:rPr lang="en-US" sz="1050" dirty="0" smtClean="0">
                <a:solidFill>
                  <a:srgbClr val="FF0000"/>
                </a:solidFill>
              </a:rPr>
              <a:t>please clarify, are you asking if customers shield part of the board to not expose to x-ray?</a:t>
            </a:r>
            <a:r>
              <a:rPr lang="en-US" sz="1050" dirty="0" smtClean="0"/>
              <a:t>)</a:t>
            </a:r>
            <a:endParaRPr lang="en-US" sz="1050" dirty="0" smtClean="0"/>
          </a:p>
          <a:p>
            <a:pPr marL="800100" lvl="1" indent="-342900">
              <a:buFont typeface="Arial" panose="020B0604020202020204" pitchFamily="34" charset="0"/>
              <a:buChar char="•"/>
            </a:pPr>
            <a:r>
              <a:rPr lang="en-US" sz="1000" dirty="0" smtClean="0">
                <a:solidFill>
                  <a:srgbClr val="00B050"/>
                </a:solidFill>
              </a:rPr>
              <a:t>CPTD: I don’t know, would have to </a:t>
            </a:r>
            <a:r>
              <a:rPr lang="en-US" sz="1000" dirty="0" smtClean="0">
                <a:solidFill>
                  <a:srgbClr val="00B050"/>
                </a:solidFill>
              </a:rPr>
              <a:t>ask, but from current knowledge = NO.</a:t>
            </a:r>
            <a:endParaRPr lang="en-US" sz="1000" dirty="0" smtClean="0">
              <a:solidFill>
                <a:srgbClr val="00B050"/>
              </a:solidFill>
            </a:endParaRPr>
          </a:p>
          <a:p>
            <a:pPr marL="800100" lvl="1" indent="-342900">
              <a:buFont typeface="Arial" panose="020B0604020202020204" pitchFamily="34" charset="0"/>
              <a:buChar char="•"/>
            </a:pPr>
            <a:r>
              <a:rPr lang="en-US" sz="1000" dirty="0" smtClean="0">
                <a:solidFill>
                  <a:srgbClr val="0070C0"/>
                </a:solidFill>
              </a:rPr>
              <a:t>ODMs: I don’t know, would have to </a:t>
            </a:r>
            <a:r>
              <a:rPr lang="en-US" sz="1000" dirty="0" smtClean="0">
                <a:solidFill>
                  <a:srgbClr val="0070C0"/>
                </a:solidFill>
              </a:rPr>
              <a:t>ask, but from current observations = NO. </a:t>
            </a:r>
            <a:endParaRPr lang="en-US" sz="1000" dirty="0">
              <a:solidFill>
                <a:srgbClr val="0070C0"/>
              </a:solidFill>
            </a:endParaRPr>
          </a:p>
        </p:txBody>
      </p:sp>
    </p:spTree>
    <p:extLst>
      <p:ext uri="{BB962C8B-B14F-4D97-AF65-F5344CB8AC3E}">
        <p14:creationId xmlns:p14="http://schemas.microsoft.com/office/powerpoint/2010/main" val="1765412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E2556C5-CE8C-6547-B838-EA80C61A4AF7}" type="slidenum">
              <a:rPr lang="en-US" smtClean="0"/>
              <a:pPr/>
              <a:t>3</a:t>
            </a:fld>
            <a:endParaRPr lang="en-US"/>
          </a:p>
        </p:txBody>
      </p:sp>
      <p:sp>
        <p:nvSpPr>
          <p:cNvPr id="2" name="Title 1"/>
          <p:cNvSpPr>
            <a:spLocks noGrp="1"/>
          </p:cNvSpPr>
          <p:nvPr>
            <p:ph type="title"/>
          </p:nvPr>
        </p:nvSpPr>
        <p:spPr>
          <a:xfrm>
            <a:off x="293883" y="-22535"/>
            <a:ext cx="8229600" cy="399808"/>
          </a:xfrm>
        </p:spPr>
        <p:txBody>
          <a:bodyPr/>
          <a:lstStyle/>
          <a:p>
            <a:r>
              <a:rPr lang="en-US" dirty="0" smtClean="0"/>
              <a:t>ODM &amp; CPTD X-RAY: CRD Information</a:t>
            </a:r>
            <a:endParaRPr lang="en-US" dirty="0"/>
          </a:p>
        </p:txBody>
      </p:sp>
      <p:sp>
        <p:nvSpPr>
          <p:cNvPr id="10" name="Rectangle 9"/>
          <p:cNvSpPr/>
          <p:nvPr/>
        </p:nvSpPr>
        <p:spPr>
          <a:xfrm>
            <a:off x="219239" y="464364"/>
            <a:ext cx="8534400" cy="707886"/>
          </a:xfrm>
          <a:prstGeom prst="rect">
            <a:avLst/>
          </a:prstGeom>
        </p:spPr>
        <p:txBody>
          <a:bodyPr wrap="square">
            <a:spAutoFit/>
          </a:bodyPr>
          <a:lstStyle/>
          <a:p>
            <a:r>
              <a:rPr lang="en-US" sz="1400" dirty="0" smtClean="0">
                <a:ea typeface="Gulim"/>
              </a:rPr>
              <a:t>What </a:t>
            </a:r>
            <a:r>
              <a:rPr lang="en-US" sz="1400" dirty="0">
                <a:ea typeface="Gulim"/>
              </a:rPr>
              <a:t>is the equipment type used, dosage/power, time exposed of X-ray, Field of view (FOV) dimensions and location of the X-ray w.r.t </a:t>
            </a:r>
            <a:r>
              <a:rPr lang="en-US" sz="1400" dirty="0" smtClean="0">
                <a:ea typeface="Gulim"/>
              </a:rPr>
              <a:t>HBM?</a:t>
            </a:r>
          </a:p>
          <a:p>
            <a:pPr marL="800100" lvl="1" indent="-342900">
              <a:buFont typeface="Arial" panose="020B0604020202020204" pitchFamily="34" charset="0"/>
              <a:buChar char="•"/>
            </a:pPr>
            <a:r>
              <a:rPr lang="en-US" sz="1200" dirty="0" smtClean="0">
                <a:solidFill>
                  <a:srgbClr val="0070C0"/>
                </a:solidFill>
                <a:ea typeface="Gulim"/>
              </a:rPr>
              <a:t>ODMs: ODM Information Shown Below: </a:t>
            </a:r>
          </a:p>
        </p:txBody>
      </p:sp>
      <p:graphicFrame>
        <p:nvGraphicFramePr>
          <p:cNvPr id="3" name="Table 2"/>
          <p:cNvGraphicFramePr>
            <a:graphicFrameLocks noGrp="1"/>
          </p:cNvGraphicFramePr>
          <p:nvPr>
            <p:extLst>
              <p:ext uri="{D42A27DB-BD31-4B8C-83A1-F6EECF244321}">
                <p14:modId xmlns:p14="http://schemas.microsoft.com/office/powerpoint/2010/main" val="3339250311"/>
              </p:ext>
            </p:extLst>
          </p:nvPr>
        </p:nvGraphicFramePr>
        <p:xfrm>
          <a:off x="219239" y="1275183"/>
          <a:ext cx="8786712" cy="2880360"/>
        </p:xfrm>
        <a:graphic>
          <a:graphicData uri="http://schemas.openxmlformats.org/drawingml/2006/table">
            <a:tbl>
              <a:tblPr firstRow="1" firstCol="1" bandRow="1">
                <a:tableStyleId>{5C22544A-7EE6-4342-B048-85BDC9FD1C3A}</a:tableStyleId>
              </a:tblPr>
              <a:tblGrid>
                <a:gridCol w="614296"/>
                <a:gridCol w="653143"/>
                <a:gridCol w="1107232"/>
                <a:gridCol w="895739"/>
                <a:gridCol w="870857"/>
                <a:gridCol w="1194318"/>
                <a:gridCol w="1045029"/>
                <a:gridCol w="1026367"/>
                <a:gridCol w="1379731"/>
              </a:tblGrid>
              <a:tr h="139890">
                <a:tc>
                  <a:txBody>
                    <a:bodyPr/>
                    <a:lstStyle/>
                    <a:p>
                      <a:pPr marL="0" marR="0">
                        <a:spcBef>
                          <a:spcPts val="0"/>
                        </a:spcBef>
                        <a:spcAft>
                          <a:spcPts val="0"/>
                        </a:spcAft>
                      </a:pPr>
                      <a:r>
                        <a:rPr lang="en-US" sz="900" dirty="0">
                          <a:effectLst/>
                        </a:rPr>
                        <a:t>Customer</a:t>
                      </a:r>
                      <a:endParaRPr lang="en-US" sz="900" dirty="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Segment</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X-Ray Machine Brand and Model</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Tube voltage Typical</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Tube power Typical</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Typical scan time</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Estimated dosage</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Dose strip measurement</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Working distance (typical)</a:t>
                      </a:r>
                      <a:endParaRPr lang="en-US" sz="900">
                        <a:effectLst/>
                        <a:latin typeface="Times New Roman" panose="02020603050405020304" pitchFamily="18" charset="0"/>
                        <a:ea typeface="Gulim"/>
                      </a:endParaRPr>
                    </a:p>
                  </a:txBody>
                  <a:tcPr marL="34152" marR="34152" marT="0" marB="0"/>
                </a:tc>
              </a:tr>
              <a:tr h="197320">
                <a:tc>
                  <a:txBody>
                    <a:bodyPr/>
                    <a:lstStyle/>
                    <a:p>
                      <a:pPr marL="0" marR="0">
                        <a:spcBef>
                          <a:spcPts val="0"/>
                        </a:spcBef>
                        <a:spcAft>
                          <a:spcPts val="0"/>
                        </a:spcAft>
                      </a:pPr>
                      <a:r>
                        <a:rPr lang="en-US" sz="900">
                          <a:effectLst/>
                        </a:rPr>
                        <a:t>Compal</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Client</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Dage XD6500</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MAX:160kv</a:t>
                      </a:r>
                      <a:br>
                        <a:rPr lang="en-US" sz="900">
                          <a:effectLst/>
                        </a:rPr>
                      </a:br>
                      <a:r>
                        <a:rPr lang="en-US" sz="900">
                          <a:effectLst/>
                        </a:rPr>
                        <a:t>Normal: 100KV</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Max:3w</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35s</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Not able to provide</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Not able to provide</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Not able to provide</a:t>
                      </a:r>
                      <a:endParaRPr lang="en-US" sz="900">
                        <a:effectLst/>
                        <a:latin typeface="Times New Roman" panose="02020603050405020304" pitchFamily="18" charset="0"/>
                        <a:ea typeface="Gulim"/>
                      </a:endParaRPr>
                    </a:p>
                  </a:txBody>
                  <a:tcPr marL="34152" marR="34152" marT="0" marB="0"/>
                </a:tc>
              </a:tr>
              <a:tr h="98660">
                <a:tc>
                  <a:txBody>
                    <a:bodyPr/>
                    <a:lstStyle/>
                    <a:p>
                      <a:pPr marL="0" marR="0">
                        <a:spcBef>
                          <a:spcPts val="0"/>
                        </a:spcBef>
                        <a:spcAft>
                          <a:spcPts val="0"/>
                        </a:spcAft>
                      </a:pPr>
                      <a:r>
                        <a:rPr lang="en-US" sz="900">
                          <a:effectLst/>
                        </a:rPr>
                        <a:t>Inventec</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dirty="0">
                          <a:effectLst/>
                        </a:rPr>
                        <a:t>Client</a:t>
                      </a:r>
                      <a:endParaRPr lang="en-US" sz="900" dirty="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SEC and X-eye SF160</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160kVP</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32W</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1.5min/pcs</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0.16 uSv/h</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0.16 uSv/h</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0.3m</a:t>
                      </a:r>
                      <a:endParaRPr lang="en-US" sz="900">
                        <a:effectLst/>
                        <a:latin typeface="Times New Roman" panose="02020603050405020304" pitchFamily="18" charset="0"/>
                        <a:ea typeface="Gulim"/>
                      </a:endParaRPr>
                    </a:p>
                  </a:txBody>
                  <a:tcPr marL="34152" marR="34152" marT="0" marB="0"/>
                </a:tc>
              </a:tr>
              <a:tr h="197320">
                <a:tc>
                  <a:txBody>
                    <a:bodyPr/>
                    <a:lstStyle/>
                    <a:p>
                      <a:pPr marL="0" marR="0">
                        <a:spcBef>
                          <a:spcPts val="0"/>
                        </a:spcBef>
                        <a:spcAft>
                          <a:spcPts val="0"/>
                        </a:spcAft>
                      </a:pPr>
                      <a:r>
                        <a:rPr lang="en-US" sz="900">
                          <a:effectLst/>
                        </a:rPr>
                        <a:t>Pegatron</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Client</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Brand</a:t>
                      </a:r>
                      <a:r>
                        <a:rPr lang="zh-CN" sz="900">
                          <a:effectLst/>
                        </a:rPr>
                        <a:t>：</a:t>
                      </a:r>
                      <a:r>
                        <a:rPr lang="en-US" sz="900">
                          <a:effectLst/>
                        </a:rPr>
                        <a:t>YXLON</a:t>
                      </a:r>
                      <a:br>
                        <a:rPr lang="en-US" sz="900">
                          <a:effectLst/>
                        </a:rPr>
                      </a:br>
                      <a:r>
                        <a:rPr lang="en-US" sz="900">
                          <a:effectLst/>
                        </a:rPr>
                        <a:t>Model:Cougar SMT</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100KV</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10ua</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Not able to define(depends on X-Ray locations and qty).</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Not able to define</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Not able to define</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Not able to define</a:t>
                      </a:r>
                      <a:endParaRPr lang="en-US" sz="900">
                        <a:effectLst/>
                        <a:latin typeface="Times New Roman" panose="02020603050405020304" pitchFamily="18" charset="0"/>
                        <a:ea typeface="Gulim"/>
                      </a:endParaRPr>
                    </a:p>
                  </a:txBody>
                  <a:tcPr marL="34152" marR="34152" marT="0" marB="0"/>
                </a:tc>
              </a:tr>
              <a:tr h="98660">
                <a:tc>
                  <a:txBody>
                    <a:bodyPr/>
                    <a:lstStyle/>
                    <a:p>
                      <a:pPr marL="0" marR="0">
                        <a:spcBef>
                          <a:spcPts val="0"/>
                        </a:spcBef>
                        <a:spcAft>
                          <a:spcPts val="0"/>
                        </a:spcAft>
                      </a:pPr>
                      <a:r>
                        <a:rPr lang="en-US" sz="900">
                          <a:effectLst/>
                        </a:rPr>
                        <a:t>Quanta</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Client</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Dage XD7600NT</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90KV</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1.2W</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/(per sample size)</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90mm</a:t>
                      </a:r>
                      <a:endParaRPr lang="en-US" sz="900">
                        <a:effectLst/>
                        <a:latin typeface="Times New Roman" panose="02020603050405020304" pitchFamily="18" charset="0"/>
                        <a:ea typeface="Gulim"/>
                      </a:endParaRPr>
                    </a:p>
                  </a:txBody>
                  <a:tcPr marL="34152" marR="34152" marT="0" marB="0"/>
                </a:tc>
              </a:tr>
              <a:tr h="273213">
                <a:tc>
                  <a:txBody>
                    <a:bodyPr/>
                    <a:lstStyle/>
                    <a:p>
                      <a:pPr marL="0" marR="0">
                        <a:spcBef>
                          <a:spcPts val="0"/>
                        </a:spcBef>
                        <a:spcAft>
                          <a:spcPts val="0"/>
                        </a:spcAft>
                      </a:pPr>
                      <a:r>
                        <a:rPr lang="en-US" sz="900">
                          <a:effectLst/>
                        </a:rPr>
                        <a:t>Wistron</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Client</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Brand: Dage</a:t>
                      </a:r>
                      <a:br>
                        <a:rPr lang="en-US" sz="900">
                          <a:effectLst/>
                        </a:rPr>
                      </a:br>
                      <a:r>
                        <a:rPr lang="en-US" sz="900">
                          <a:effectLst/>
                        </a:rPr>
                        <a:t>Model: XD7500NT</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Max voltage: 160KV</a:t>
                      </a:r>
                      <a:br>
                        <a:rPr lang="en-US" sz="900">
                          <a:effectLst/>
                        </a:rPr>
                      </a:br>
                      <a:r>
                        <a:rPr lang="en-US" sz="900">
                          <a:effectLst/>
                        </a:rPr>
                        <a:t>Normal usage: 80kv~110kv</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Max power: 3w</a:t>
                      </a:r>
                      <a:br>
                        <a:rPr lang="en-US" sz="900">
                          <a:effectLst/>
                        </a:rPr>
                      </a:br>
                      <a:r>
                        <a:rPr lang="en-US" sz="900">
                          <a:effectLst/>
                        </a:rPr>
                        <a:t>Normal usage: 1.0~1.5W</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&lt;1min</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RADOS RDS-110</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Radiation dose card</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Not allow anybody within 1m range except X-Ray machine operator.</a:t>
                      </a:r>
                      <a:endParaRPr lang="en-US" sz="900">
                        <a:effectLst/>
                        <a:latin typeface="Times New Roman" panose="02020603050405020304" pitchFamily="18" charset="0"/>
                        <a:ea typeface="Gulim"/>
                      </a:endParaRPr>
                    </a:p>
                  </a:txBody>
                  <a:tcPr marL="34152" marR="34152" marT="0" marB="0"/>
                </a:tc>
              </a:tr>
              <a:tr h="295981">
                <a:tc>
                  <a:txBody>
                    <a:bodyPr/>
                    <a:lstStyle/>
                    <a:p>
                      <a:pPr marL="0" marR="0">
                        <a:spcBef>
                          <a:spcPts val="0"/>
                        </a:spcBef>
                        <a:spcAft>
                          <a:spcPts val="0"/>
                        </a:spcAft>
                      </a:pPr>
                      <a:r>
                        <a:rPr lang="en-US" sz="900">
                          <a:effectLst/>
                        </a:rPr>
                        <a:t>Inventec</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Server</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Vitrox V810xxl S2i</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130 kV</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30mA</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8inch²/s</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0.10-0.12 μmsv</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Measured by Jingbo radiation measuring instrument</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2.5cm for the above and  8 cm for below</a:t>
                      </a:r>
                      <a:endParaRPr lang="en-US" sz="900">
                        <a:effectLst/>
                        <a:latin typeface="Times New Roman" panose="02020603050405020304" pitchFamily="18" charset="0"/>
                        <a:ea typeface="Gulim"/>
                      </a:endParaRPr>
                    </a:p>
                  </a:txBody>
                  <a:tcPr marL="34152" marR="34152" marT="0" marB="0"/>
                </a:tc>
              </a:tr>
              <a:tr h="98660">
                <a:tc>
                  <a:txBody>
                    <a:bodyPr/>
                    <a:lstStyle/>
                    <a:p>
                      <a:pPr marL="0" marR="0">
                        <a:spcBef>
                          <a:spcPts val="0"/>
                        </a:spcBef>
                        <a:spcAft>
                          <a:spcPts val="0"/>
                        </a:spcAft>
                      </a:pPr>
                      <a:r>
                        <a:rPr lang="en-US" sz="900">
                          <a:effectLst/>
                        </a:rPr>
                        <a:t>Quanta</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Server</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Agilent 5DX 5000</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160KV</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16W</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120S</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Unknow</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Unknow</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30cm</a:t>
                      </a:r>
                      <a:endParaRPr lang="en-US" sz="900">
                        <a:effectLst/>
                        <a:latin typeface="Times New Roman" panose="02020603050405020304" pitchFamily="18" charset="0"/>
                        <a:ea typeface="Gulim"/>
                      </a:endParaRPr>
                    </a:p>
                  </a:txBody>
                  <a:tcPr marL="34152" marR="34152" marT="0" marB="0"/>
                </a:tc>
              </a:tr>
              <a:tr h="98660">
                <a:tc>
                  <a:txBody>
                    <a:bodyPr/>
                    <a:lstStyle/>
                    <a:p>
                      <a:pPr marL="0" marR="0">
                        <a:spcBef>
                          <a:spcPts val="0"/>
                        </a:spcBef>
                        <a:spcAft>
                          <a:spcPts val="0"/>
                        </a:spcAft>
                      </a:pPr>
                      <a:r>
                        <a:rPr lang="en-US" sz="900">
                          <a:effectLst/>
                        </a:rPr>
                        <a:t>Quanta</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Server</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ViTrox V810</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dirty="0">
                          <a:effectLst/>
                        </a:rPr>
                        <a:t>130KV</a:t>
                      </a:r>
                      <a:endParaRPr lang="en-US" sz="900" dirty="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26W</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100S</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Unknow</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a:effectLst/>
                        </a:rPr>
                        <a:t>Unknow</a:t>
                      </a:r>
                      <a:endParaRPr lang="en-US" sz="900">
                        <a:effectLst/>
                        <a:latin typeface="Times New Roman" panose="02020603050405020304" pitchFamily="18" charset="0"/>
                        <a:ea typeface="Gulim"/>
                      </a:endParaRPr>
                    </a:p>
                  </a:txBody>
                  <a:tcPr marL="34152" marR="34152" marT="0" marB="0"/>
                </a:tc>
                <a:tc>
                  <a:txBody>
                    <a:bodyPr/>
                    <a:lstStyle/>
                    <a:p>
                      <a:pPr marL="0" marR="0">
                        <a:spcBef>
                          <a:spcPts val="0"/>
                        </a:spcBef>
                        <a:spcAft>
                          <a:spcPts val="0"/>
                        </a:spcAft>
                      </a:pPr>
                      <a:r>
                        <a:rPr lang="en-US" sz="900" dirty="0">
                          <a:effectLst/>
                        </a:rPr>
                        <a:t>30cm</a:t>
                      </a:r>
                      <a:endParaRPr lang="en-US" sz="900" dirty="0">
                        <a:effectLst/>
                        <a:latin typeface="Times New Roman" panose="02020603050405020304" pitchFamily="18" charset="0"/>
                        <a:ea typeface="Gulim"/>
                      </a:endParaRPr>
                    </a:p>
                  </a:txBody>
                  <a:tcPr marL="34152" marR="34152" marT="0" marB="0"/>
                </a:tc>
              </a:tr>
            </a:tbl>
          </a:graphicData>
        </a:graphic>
      </p:graphicFrame>
    </p:spTree>
    <p:extLst>
      <p:ext uri="{BB962C8B-B14F-4D97-AF65-F5344CB8AC3E}">
        <p14:creationId xmlns:p14="http://schemas.microsoft.com/office/powerpoint/2010/main" val="1542786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7010400" y="4824413"/>
            <a:ext cx="2133600" cy="273050"/>
          </a:xfrm>
        </p:spPr>
        <p:txBody>
          <a:bodyPr/>
          <a:lstStyle/>
          <a:p>
            <a:fld id="{EE2556C5-CE8C-6547-B838-EA80C61A4AF7}" type="slidenum">
              <a:rPr lang="en-US" smtClean="0"/>
              <a:pPr/>
              <a:t>4</a:t>
            </a:fld>
            <a:endParaRPr lang="en-US" dirty="0"/>
          </a:p>
        </p:txBody>
      </p:sp>
    </p:spTree>
    <p:extLst>
      <p:ext uri="{BB962C8B-B14F-4D97-AF65-F5344CB8AC3E}">
        <p14:creationId xmlns:p14="http://schemas.microsoft.com/office/powerpoint/2010/main" val="3968717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Int_PPT Template_ClearPro_16x9">
  <a:themeElements>
    <a:clrScheme name="Intel Color Palette">
      <a:dk1>
        <a:sysClr val="windowText" lastClr="000000"/>
      </a:dk1>
      <a:lt1>
        <a:sysClr val="window" lastClr="FFFFFF"/>
      </a:lt1>
      <a:dk2>
        <a:srgbClr val="003C71"/>
      </a:dk2>
      <a:lt2>
        <a:srgbClr val="B1BABF"/>
      </a:lt2>
      <a:accent1>
        <a:srgbClr val="0071C5"/>
      </a:accent1>
      <a:accent2>
        <a:srgbClr val="00AEEF"/>
      </a:accent2>
      <a:accent3>
        <a:srgbClr val="F3D54E"/>
      </a:accent3>
      <a:accent4>
        <a:srgbClr val="FFA300"/>
      </a:accent4>
      <a:accent5>
        <a:srgbClr val="FC4C02"/>
      </a:accent5>
      <a:accent6>
        <a:srgbClr val="C3D600"/>
      </a:accent6>
      <a:hlink>
        <a:srgbClr val="0071C5"/>
      </a:hlink>
      <a:folHlink>
        <a:srgbClr val="00AEEF"/>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vert="horz" wrap="square" lIns="0" tIns="0" rIns="0" bIns="0" rtlCol="0">
        <a:spAutoFit/>
      </a:bodyPr>
      <a:lstStyle>
        <a:defPPr>
          <a:defRPr sz="1100" dirty="0" err="1" smtClean="0">
            <a:solidFill>
              <a:srgbClr val="003C71"/>
            </a:solidFill>
          </a:defRPr>
        </a:defPPr>
      </a:lstStyle>
    </a:txDef>
  </a:objectDefaults>
  <a:extraClrSchemeLst/>
  <a:extLst>
    <a:ext uri="{05A4C25C-085E-4340-85A3-A5531E510DB2}">
      <thm15:themeFamily xmlns:thm15="http://schemas.microsoft.com/office/thememl/2012/main" name="blank.potx [Read-Only]" id="{2C1B126A-0C34-4084-9959-FD334E8EA775}" vid="{154EFC2F-8E87-4429-B41D-4A4F48671AC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Props1.xml><?xml version="1.0" encoding="utf-8"?>
<ds:datastoreItem xmlns:ds="http://schemas.openxmlformats.org/officeDocument/2006/customXml" ds:itemID="{E27EA4EC-B1B6-4C81-9B4D-D40DE41944EC}"/>
</file>

<file path=customXml/itemProps2.xml><?xml version="1.0" encoding="utf-8"?>
<ds:datastoreItem xmlns:ds="http://schemas.openxmlformats.org/officeDocument/2006/customXml" ds:itemID="{8FA01037-F924-4B76-BF01-2231FFB84EFB}"/>
</file>

<file path=customXml/itemProps3.xml><?xml version="1.0" encoding="utf-8"?>
<ds:datastoreItem xmlns:ds="http://schemas.openxmlformats.org/officeDocument/2006/customXml" ds:itemID="{33CED589-F3AA-4401-B344-FE063398B24E}"/>
</file>

<file path=docProps/app.xml><?xml version="1.0" encoding="utf-8"?>
<Properties xmlns="http://schemas.openxmlformats.org/officeDocument/2006/extended-properties" xmlns:vt="http://schemas.openxmlformats.org/officeDocument/2006/docPropsVTypes">
  <Template/>
  <TotalTime>0</TotalTime>
  <Words>408</Words>
  <Application>Microsoft Office PowerPoint</Application>
  <PresentationFormat>On-screen Show (16:9)</PresentationFormat>
  <Paragraphs>111</Paragraphs>
  <Slides>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Gulim</vt:lpstr>
      <vt:lpstr>Intel Clear</vt:lpstr>
      <vt:lpstr>Times New Roman</vt:lpstr>
      <vt:lpstr>Wingdings</vt:lpstr>
      <vt:lpstr>Int_PPT Template_ClearPro_16x9</vt:lpstr>
      <vt:lpstr>ODM &amp; CPTD X-RAY  CRD INFO</vt:lpstr>
      <vt:lpstr>ODM &amp; CPTD X-RAY: CRD Information</vt:lpstr>
      <vt:lpstr>ODM &amp; CPTD X-RAY: CRD Information</vt:lpstr>
      <vt:lpstr>PowerPoint Presentation</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CTPClassification=CTP_IC:VisualMarkings=</cp:keywords>
  <cp:lastModifiedBy/>
  <cp:revision>1</cp:revision>
  <dcterms:created xsi:type="dcterms:W3CDTF">2015-11-03T21:25:37Z</dcterms:created>
  <dcterms:modified xsi:type="dcterms:W3CDTF">2017-12-14T15:56:22Z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47f5bf47-3334-46f3-bc69-0212febd8c91</vt:lpwstr>
  </property>
  <property fmtid="{D5CDD505-2E9C-101B-9397-08002B2CF9AE}" pid="3" name="CTP_BU">
    <vt:lpwstr>TECHNOLOGY MANUFACTURING GROUP</vt:lpwstr>
  </property>
  <property fmtid="{D5CDD505-2E9C-101B-9397-08002B2CF9AE}" pid="4" name="CTP_TimeStamp">
    <vt:lpwstr>2017-12-14 15:56:22Z</vt:lpwstr>
  </property>
  <property fmtid="{D5CDD505-2E9C-101B-9397-08002B2CF9AE}" pid="5" name="CTPClassification">
    <vt:lpwstr>CTP_IC</vt:lpwstr>
  </property>
  <property fmtid="{D5CDD505-2E9C-101B-9397-08002B2CF9AE}" pid="6" name="ContentTypeId">
    <vt:lpwstr>0x010100C25921F9D4874B40A69C72F5C132575A</vt:lpwstr>
  </property>
</Properties>
</file>