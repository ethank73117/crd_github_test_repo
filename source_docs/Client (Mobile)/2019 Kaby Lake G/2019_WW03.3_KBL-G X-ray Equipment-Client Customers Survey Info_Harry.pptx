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autoCompressPictures="0">
  <p:sldMasterIdLst>
    <p:sldMasterId id="2147483648" r:id="rId4"/>
  </p:sldMasterIdLst>
  <p:notesMasterIdLst>
    <p:notesMasterId r:id="rId16"/>
  </p:notesMasterIdLst>
  <p:handoutMasterIdLst>
    <p:handoutMasterId r:id="rId17"/>
  </p:handoutMasterIdLst>
  <p:sldIdLst>
    <p:sldId id="297" r:id="rId5"/>
    <p:sldId id="308" r:id="rId6"/>
    <p:sldId id="309" r:id="rId7"/>
    <p:sldId id="312" r:id="rId8"/>
    <p:sldId id="310" r:id="rId9"/>
    <p:sldId id="313" r:id="rId10"/>
    <p:sldId id="314" r:id="rId11"/>
    <p:sldId id="315" r:id="rId12"/>
    <p:sldId id="316" r:id="rId13"/>
    <p:sldId id="311" r:id="rId14"/>
    <p:sldId id="294" r:id="rId15"/>
  </p:sldIdLst>
  <p:sldSz cx="9144000" cy="5143500" type="screen16x9"/>
  <p:notesSz cx="6858000" cy="9144000"/>
  <p:embeddedFontLst>
    <p:embeddedFont>
      <p:font typeface="Intel Clear Pro" panose="020B0804020202060201" pitchFamily="34" charset="0"/>
      <p:bold r:id="rId18"/>
    </p:embeddedFont>
    <p:embeddedFont>
      <p:font typeface="SimSun" panose="02010600030101010101" pitchFamily="2" charset="-122"/>
      <p:regular r:id="rId19"/>
    </p:embeddedFont>
    <p:embeddedFont>
      <p:font typeface="Intel Clear" panose="020B0604020203020204" pitchFamily="34" charset="0"/>
      <p:regular r:id="rId20"/>
      <p:bold r:id="rId21"/>
      <p:italic r:id="rId22"/>
      <p:boldItalic r:id="rId23"/>
    </p:embeddedFont>
    <p:embeddedFont>
      <p:font typeface="Intel Clear Light" panose="020B0404020203020204" pitchFamily="34" charset="0"/>
      <p:regular r:id="rId24"/>
      <p:italic r:id="rId25"/>
    </p:embeddedFont>
    <p:embeddedFont>
      <p:font typeface="Calibri" panose="020F0502020204030204" pitchFamily="34" charset="0"/>
      <p:regular r:id="rId26"/>
      <p:bold r:id="rId27"/>
      <p:italic r:id="rId28"/>
      <p:boldItalic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1">
          <p15:clr>
            <a:srgbClr val="A4A3A4"/>
          </p15:clr>
        </p15:guide>
        <p15:guide id="2" orient="horz" pos="3004">
          <p15:clr>
            <a:srgbClr val="A4A3A4"/>
          </p15:clr>
        </p15:guide>
        <p15:guide id="3" orient="horz" pos="422">
          <p15:clr>
            <a:srgbClr val="A4A3A4"/>
          </p15:clr>
        </p15:guide>
        <p15:guide id="4" orient="horz" pos="824">
          <p15:clr>
            <a:srgbClr val="A4A3A4"/>
          </p15:clr>
        </p15:guide>
        <p15:guide id="5" orient="horz" pos="2916">
          <p15:clr>
            <a:srgbClr val="A4A3A4"/>
          </p15:clr>
        </p15:guide>
        <p15:guide id="6" orient="horz" pos="1643">
          <p15:clr>
            <a:srgbClr val="A4A3A4"/>
          </p15:clr>
        </p15:guide>
        <p15:guide id="7" pos="5470">
          <p15:clr>
            <a:srgbClr val="A4A3A4"/>
          </p15:clr>
        </p15:guide>
        <p15:guide id="8" pos="287">
          <p15:clr>
            <a:srgbClr val="A4A3A4"/>
          </p15:clr>
        </p15:guide>
        <p15:guide id="9" pos="2909">
          <p15:clr>
            <a:srgbClr val="A4A3A4"/>
          </p15:clr>
        </p15:guide>
        <p15:guide id="10" pos="2811">
          <p15:clr>
            <a:srgbClr val="A4A3A4"/>
          </p15:clr>
        </p15:guide>
        <p15:guide id="11" pos="285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C5"/>
    <a:srgbClr val="F83308"/>
    <a:srgbClr val="FD9208"/>
    <a:srgbClr val="009FDF"/>
    <a:srgbClr val="F3D54E"/>
    <a:srgbClr val="F0CE3E"/>
    <a:srgbClr val="003C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01" autoAdjust="0"/>
    <p:restoredTop sz="94634" autoAdjust="0"/>
  </p:normalViewPr>
  <p:slideViewPr>
    <p:cSldViewPr snapToGrid="0">
      <p:cViewPr varScale="1">
        <p:scale>
          <a:sx n="131" d="100"/>
          <a:sy n="131" d="100"/>
        </p:scale>
        <p:origin x="86" y="355"/>
      </p:cViewPr>
      <p:guideLst>
        <p:guide orient="horz" pos="1581"/>
        <p:guide orient="horz" pos="3004"/>
        <p:guide orient="horz" pos="422"/>
        <p:guide orient="horz" pos="824"/>
        <p:guide orient="horz" pos="2916"/>
        <p:guide orient="horz" pos="1643"/>
        <p:guide pos="5470"/>
        <p:guide pos="287"/>
        <p:guide pos="2909"/>
        <p:guide pos="2811"/>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6" d="100"/>
        <a:sy n="86" d="100"/>
      </p:scale>
      <p:origin x="0" y="1536"/>
    </p:cViewPr>
  </p:sorterViewPr>
  <p:notesViewPr>
    <p:cSldViewPr snapToGrid="0" showGuides="1">
      <p:cViewPr varScale="1">
        <p:scale>
          <a:sx n="74" d="100"/>
          <a:sy n="74" d="100"/>
        </p:scale>
        <p:origin x="-74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Intel Clea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ACFD7B2-88A6-E34E-8EF8-CB0C7BA47ADD}" type="datetimeFigureOut">
              <a:rPr lang="en-US" smtClean="0">
                <a:latin typeface="Intel Clear"/>
              </a:rPr>
              <a:pPr/>
              <a:t>1/4/2019</a:t>
            </a:fld>
            <a:endParaRPr lang="en-US" dirty="0">
              <a:latin typeface="Intel Clear"/>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Intel Clea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6CFA4E-18EB-6D49-8DE2-7A74038C2C1C}" type="slidenum">
              <a:rPr lang="en-US" smtClean="0">
                <a:latin typeface="Intel Clear"/>
              </a:rPr>
              <a:pPr/>
              <a:t>‹#›</a:t>
            </a:fld>
            <a:endParaRPr lang="en-US" dirty="0">
              <a:latin typeface="Intel Clear"/>
            </a:endParaRPr>
          </a:p>
        </p:txBody>
      </p:sp>
    </p:spTree>
    <p:extLst>
      <p:ext uri="{BB962C8B-B14F-4D97-AF65-F5344CB8AC3E}">
        <p14:creationId xmlns:p14="http://schemas.microsoft.com/office/powerpoint/2010/main" val="912994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Intel Clear"/>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Intel Clear"/>
              </a:defRPr>
            </a:lvl1pPr>
          </a:lstStyle>
          <a:p>
            <a:fld id="{ED7FC5FE-6F0D-D34A-8EE6-C95B4F5F4DC8}" type="datetimeFigureOut">
              <a:rPr lang="en-US" smtClean="0"/>
              <a:pPr/>
              <a:t>1/4/2019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Intel Clear"/>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Intel Clear"/>
              </a:defRPr>
            </a:lvl1pPr>
          </a:lstStyle>
          <a:p>
            <a:fld id="{D61C8689-8455-3546-ADF9-3B7273760F66}" type="slidenum">
              <a:rPr lang="en-US" smtClean="0"/>
              <a:pPr/>
              <a:t>‹#›</a:t>
            </a:fld>
            <a:endParaRPr lang="en-US" dirty="0"/>
          </a:p>
        </p:txBody>
      </p:sp>
    </p:spTree>
    <p:extLst>
      <p:ext uri="{BB962C8B-B14F-4D97-AF65-F5344CB8AC3E}">
        <p14:creationId xmlns:p14="http://schemas.microsoft.com/office/powerpoint/2010/main" val="260842922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Intel Clear"/>
        <a:ea typeface="+mn-ea"/>
        <a:cs typeface="+mn-cs"/>
      </a:defRPr>
    </a:lvl1pPr>
    <a:lvl2pPr marL="457200" algn="l" defTabSz="457200" rtl="0" eaLnBrk="1" latinLnBrk="0" hangingPunct="1">
      <a:defRPr sz="1200" kern="1200">
        <a:solidFill>
          <a:schemeClr val="tx1"/>
        </a:solidFill>
        <a:latin typeface="Intel Clear"/>
        <a:ea typeface="+mn-ea"/>
        <a:cs typeface="+mn-cs"/>
      </a:defRPr>
    </a:lvl2pPr>
    <a:lvl3pPr marL="914400" algn="l" defTabSz="457200" rtl="0" eaLnBrk="1" latinLnBrk="0" hangingPunct="1">
      <a:defRPr sz="1200" kern="1200">
        <a:solidFill>
          <a:schemeClr val="tx1"/>
        </a:solidFill>
        <a:latin typeface="Intel Clear"/>
        <a:ea typeface="+mn-ea"/>
        <a:cs typeface="+mn-cs"/>
      </a:defRPr>
    </a:lvl3pPr>
    <a:lvl4pPr marL="1371600" algn="l" defTabSz="457200" rtl="0" eaLnBrk="1" latinLnBrk="0" hangingPunct="1">
      <a:defRPr sz="1200" kern="1200">
        <a:solidFill>
          <a:schemeClr val="tx1"/>
        </a:solidFill>
        <a:latin typeface="Intel Clear"/>
        <a:ea typeface="+mn-ea"/>
        <a:cs typeface="+mn-cs"/>
      </a:defRPr>
    </a:lvl4pPr>
    <a:lvl5pPr marL="1828800" algn="l" defTabSz="457200" rtl="0" eaLnBrk="1" latinLnBrk="0" hangingPunct="1">
      <a:defRPr sz="1200" kern="1200">
        <a:solidFill>
          <a:schemeClr val="tx1"/>
        </a:solidFill>
        <a:latin typeface="Intel Clear"/>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2</a:t>
            </a:fld>
            <a:endParaRPr lang="en-US" dirty="0"/>
          </a:p>
        </p:txBody>
      </p:sp>
    </p:spTree>
    <p:extLst>
      <p:ext uri="{BB962C8B-B14F-4D97-AF65-F5344CB8AC3E}">
        <p14:creationId xmlns:p14="http://schemas.microsoft.com/office/powerpoint/2010/main" val="4017864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D61C8689-8455-3546-ADF9-3B7273760F66}" type="slidenum">
              <a:rPr lang="en-US" smtClean="0"/>
              <a:pPr/>
              <a:t>3</a:t>
            </a:fld>
            <a:endParaRPr lang="en-US" dirty="0"/>
          </a:p>
        </p:txBody>
      </p:sp>
    </p:spTree>
    <p:extLst>
      <p:ext uri="{BB962C8B-B14F-4D97-AF65-F5344CB8AC3E}">
        <p14:creationId xmlns:p14="http://schemas.microsoft.com/office/powerpoint/2010/main" val="20555213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Intel Clear pro Title</a:t>
            </a:r>
            <a:br>
              <a:rPr lang="en-US" dirty="0" smtClean="0"/>
            </a:br>
            <a:r>
              <a:rPr lang="en-US" dirty="0" smtClean="0"/>
              <a:t>with radial gradient</a:t>
            </a:r>
            <a:endParaRPr lang="en-US" dirty="0"/>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Intel Clear Subhead, Date, Etc.</a:t>
            </a:r>
            <a:endParaRPr lang="en-US" dirty="0"/>
          </a:p>
        </p:txBody>
      </p:sp>
      <p:pic>
        <p:nvPicPr>
          <p:cNvPr id="6"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451797" y="383169"/>
            <a:ext cx="1248049" cy="82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32413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130175"/>
            <a:ext cx="8228012" cy="3498975"/>
          </a:xfrm>
        </p:spPr>
        <p:txBody>
          <a:bodyPr/>
          <a:lstStyle>
            <a:lvl1pPr>
              <a:defRPr baseline="0">
                <a:solidFill>
                  <a:srgbClr val="0071C5"/>
                </a:solidFill>
              </a:defRPr>
            </a:lvl1pPr>
            <a:lvl2pPr>
              <a:defRPr sz="1600"/>
            </a:lvl2pPr>
            <a:lvl3pPr>
              <a:defRPr sz="1400"/>
            </a:lvl3pPr>
            <a:lvl4pPr>
              <a:defRPr sz="1200"/>
            </a:lvl4pPr>
            <a:lvl5pPr>
              <a:defRPr sz="1100"/>
            </a:lvl5pPr>
          </a:lstStyle>
          <a:p>
            <a:pPr lvl="0"/>
            <a:r>
              <a:rPr lang="en-US" dirty="0" smtClean="0"/>
              <a:t>Intro sentence or paragraph has no bullet and is Intel Blue</a:t>
            </a:r>
          </a:p>
          <a:p>
            <a:pPr lvl="1"/>
            <a:r>
              <a:rPr lang="en-US" dirty="0" smtClean="0"/>
              <a:t>Intel Clear bullet one</a:t>
            </a:r>
          </a:p>
          <a:p>
            <a:pPr lvl="2"/>
            <a:r>
              <a:rPr lang="en-US" dirty="0" smtClean="0"/>
              <a:t>Intel Clear sub-bullet</a:t>
            </a:r>
          </a:p>
          <a:p>
            <a:pPr lvl="3"/>
            <a:r>
              <a:rPr lang="en-US" dirty="0" smtClean="0"/>
              <a:t>Intel Clear fourth level</a:t>
            </a:r>
          </a:p>
          <a:p>
            <a:pPr lvl="4"/>
            <a:r>
              <a:rPr lang="en-US" dirty="0" smtClean="0"/>
              <a:t>Intel Clear fifth level</a:t>
            </a:r>
            <a:endParaRPr lang="en-US" dirty="0"/>
          </a:p>
        </p:txBody>
      </p:sp>
    </p:spTree>
    <p:extLst>
      <p:ext uri="{BB962C8B-B14F-4D97-AF65-F5344CB8AC3E}">
        <p14:creationId xmlns:p14="http://schemas.microsoft.com/office/powerpoint/2010/main" val="1358511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Bulleted Text">
    <p:spTree>
      <p:nvGrpSpPr>
        <p:cNvPr id="1" name=""/>
        <p:cNvGrpSpPr/>
        <p:nvPr/>
      </p:nvGrpSpPr>
      <p:grpSpPr>
        <a:xfrm>
          <a:off x="0" y="0"/>
          <a:ext cx="0" cy="0"/>
          <a:chOff x="0" y="0"/>
          <a:chExt cx="0" cy="0"/>
        </a:xfrm>
      </p:grpSpPr>
      <p:pic>
        <p:nvPicPr>
          <p:cNvPr id="2050" name="Picture 2" descr="C:\Users\Keynote Encoder 1\Desktop\Picture2.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9144000" cy="514508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p:cNvSpPr>
            <a:spLocks noGrp="1"/>
          </p:cNvSpPr>
          <p:nvPr>
            <p:ph type="title" hasCustomPrompt="1"/>
          </p:nvPr>
        </p:nvSpPr>
        <p:spPr>
          <a:xfrm>
            <a:off x="455613" y="308848"/>
            <a:ext cx="8229600" cy="868680"/>
          </a:xfrm>
        </p:spPr>
        <p:txBody>
          <a:bodyPr/>
          <a:lstStyle>
            <a:lvl1pPr>
              <a:defRPr b="0" i="0" baseline="0">
                <a:solidFill>
                  <a:schemeClr val="bg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130175"/>
            <a:ext cx="8228012" cy="3498975"/>
          </a:xfrm>
        </p:spPr>
        <p:txBody>
          <a:bodyPr/>
          <a:lstStyle>
            <a:lvl1pPr>
              <a:defRPr>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dirty="0" smtClean="0"/>
              <a:t>Intel Clear body text</a:t>
            </a:r>
          </a:p>
          <a:p>
            <a:pPr lvl="1"/>
            <a:r>
              <a:rPr lang="en-US" dirty="0" smtClean="0"/>
              <a:t>Intel Clear bullet one</a:t>
            </a:r>
          </a:p>
          <a:p>
            <a:pPr lvl="2"/>
            <a:r>
              <a:rPr lang="en-US" dirty="0" smtClean="0"/>
              <a:t>Intel Clear sub-bullet</a:t>
            </a:r>
          </a:p>
          <a:p>
            <a:pPr lvl="3"/>
            <a:r>
              <a:rPr lang="en-US" dirty="0" smtClean="0"/>
              <a:t>Intel Clear fourth level</a:t>
            </a:r>
          </a:p>
          <a:p>
            <a:pPr lvl="4"/>
            <a:r>
              <a:rPr lang="en-US" dirty="0" smtClean="0"/>
              <a:t>Intel Clear fifth level</a:t>
            </a:r>
            <a:endParaRPr lang="en-US" dirty="0"/>
          </a:p>
        </p:txBody>
      </p:sp>
      <p:sp>
        <p:nvSpPr>
          <p:cNvPr id="8" name="Rectangle 7"/>
          <p:cNvSpPr/>
          <p:nvPr userDrawn="1"/>
        </p:nvSpPr>
        <p:spPr>
          <a:xfrm>
            <a:off x="-1587" y="475945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pic>
        <p:nvPicPr>
          <p:cNvPr id="10" name="Picture 2" descr="\\.psf\Home\Desktop\Intel.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39915" y="4830589"/>
            <a:ext cx="364336" cy="24013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userDrawn="1"/>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3856384" y="4837215"/>
            <a:ext cx="2886324" cy="253383"/>
          </a:xfrm>
          <a:prstGeom prst="rect">
            <a:avLst/>
          </a:prstGeom>
          <a:noFill/>
        </p:spPr>
        <p:txBody>
          <a:bodyPr vert="horz" wrap="none" lIns="0" tIns="0" rIns="0" bIns="0" rtlCol="0" anchor="ctr" anchorCtr="0">
            <a:no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800" dirty="0" smtClean="0">
                <a:solidFill>
                  <a:schemeClr val="bg1"/>
                </a:solidFill>
              </a:rPr>
              <a:t>Intel Confidential  |  Internal Use Only – Do Not Distribute</a:t>
            </a:r>
          </a:p>
        </p:txBody>
      </p:sp>
      <p:sp>
        <p:nvSpPr>
          <p:cNvPr id="14" name="Rectangle 13"/>
          <p:cNvSpPr/>
          <p:nvPr userDrawn="1"/>
        </p:nvSpPr>
        <p:spPr>
          <a:xfrm>
            <a:off x="281498" y="4813599"/>
            <a:ext cx="2475358" cy="276999"/>
          </a:xfrm>
          <a:prstGeom prst="rect">
            <a:avLst/>
          </a:prstGeom>
        </p:spPr>
        <p:txBody>
          <a:bodyPr wrap="none">
            <a:spAutoFit/>
          </a:bodyPr>
          <a:lstStyle/>
          <a:p>
            <a:pPr algn="just"/>
            <a:r>
              <a:rPr lang="en-US" sz="1200" b="1" dirty="0" smtClean="0">
                <a:solidFill>
                  <a:schemeClr val="bg1"/>
                </a:solidFill>
                <a:latin typeface="+mj-lt"/>
              </a:rPr>
              <a:t>CQR | </a:t>
            </a:r>
            <a:r>
              <a:rPr lang="en-US" sz="11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rPr>
              <a:t>Customer Quality &amp; Reliability</a:t>
            </a:r>
            <a:endParaRPr lang="en-US" sz="12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Tree>
    <p:extLst>
      <p:ext uri="{BB962C8B-B14F-4D97-AF65-F5344CB8AC3E}">
        <p14:creationId xmlns:p14="http://schemas.microsoft.com/office/powerpoint/2010/main" val="7330101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Bulleted Text">
    <p:bg>
      <p:bgPr>
        <a:solidFill>
          <a:schemeClr val="tx2"/>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455613" y="308848"/>
            <a:ext cx="8229600" cy="868680"/>
          </a:xfrm>
        </p:spPr>
        <p:txBody>
          <a:bodyPr/>
          <a:lstStyle>
            <a:lvl1pPr>
              <a:defRPr b="0" i="0" baseline="0">
                <a:solidFill>
                  <a:schemeClr val="bg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130175"/>
            <a:ext cx="8228012" cy="3498975"/>
          </a:xfrm>
        </p:spPr>
        <p:txBody>
          <a:bodyPr/>
          <a:lstStyle>
            <a:lvl1pPr>
              <a:defRPr>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dirty="0" smtClean="0"/>
              <a:t>Intel Clear body text</a:t>
            </a:r>
          </a:p>
          <a:p>
            <a:pPr lvl="1"/>
            <a:r>
              <a:rPr lang="en-US" dirty="0" smtClean="0"/>
              <a:t>Intel Clear bullet one</a:t>
            </a:r>
          </a:p>
          <a:p>
            <a:pPr lvl="2"/>
            <a:r>
              <a:rPr lang="en-US" dirty="0" smtClean="0"/>
              <a:t>Intel Clear sub-bullet</a:t>
            </a:r>
          </a:p>
          <a:p>
            <a:pPr lvl="3"/>
            <a:r>
              <a:rPr lang="en-US" dirty="0" smtClean="0"/>
              <a:t>Intel Clear fourth level</a:t>
            </a:r>
          </a:p>
          <a:p>
            <a:pPr lvl="4"/>
            <a:r>
              <a:rPr lang="en-US" dirty="0" smtClean="0"/>
              <a:t>Intel Clear fifth level</a:t>
            </a:r>
            <a:endParaRPr lang="en-US" dirty="0"/>
          </a:p>
        </p:txBody>
      </p:sp>
      <p:sp>
        <p:nvSpPr>
          <p:cNvPr id="8" name="Rectangle 7"/>
          <p:cNvSpPr/>
          <p:nvPr userDrawn="1"/>
        </p:nvSpPr>
        <p:spPr>
          <a:xfrm>
            <a:off x="-1587" y="475945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pic>
        <p:nvPicPr>
          <p:cNvPr id="10" name="Picture 2" descr="\\.psf\Home\Desktop\Intel.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39915" y="4830589"/>
            <a:ext cx="364336" cy="24013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userDrawn="1"/>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3856384" y="4837215"/>
            <a:ext cx="2886324" cy="253383"/>
          </a:xfrm>
          <a:prstGeom prst="rect">
            <a:avLst/>
          </a:prstGeom>
          <a:noFill/>
        </p:spPr>
        <p:txBody>
          <a:bodyPr vert="horz" wrap="none" lIns="0" tIns="0" rIns="0" bIns="0" rtlCol="0" anchor="ctr" anchorCtr="0">
            <a:no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800" dirty="0" smtClean="0">
                <a:solidFill>
                  <a:schemeClr val="bg1"/>
                </a:solidFill>
              </a:rPr>
              <a:t>Intel Confidential  |  Internal Use Only – Do Not Distribute</a:t>
            </a:r>
          </a:p>
        </p:txBody>
      </p:sp>
      <p:sp>
        <p:nvSpPr>
          <p:cNvPr id="14" name="Rectangle 13"/>
          <p:cNvSpPr/>
          <p:nvPr userDrawn="1"/>
        </p:nvSpPr>
        <p:spPr>
          <a:xfrm>
            <a:off x="281498" y="4813599"/>
            <a:ext cx="2475358" cy="276999"/>
          </a:xfrm>
          <a:prstGeom prst="rect">
            <a:avLst/>
          </a:prstGeom>
        </p:spPr>
        <p:txBody>
          <a:bodyPr wrap="none">
            <a:spAutoFit/>
          </a:bodyPr>
          <a:lstStyle/>
          <a:p>
            <a:pPr algn="just"/>
            <a:r>
              <a:rPr lang="en-US" sz="1200" b="1" dirty="0" smtClean="0">
                <a:solidFill>
                  <a:schemeClr val="bg1"/>
                </a:solidFill>
                <a:latin typeface="+mj-lt"/>
              </a:rPr>
              <a:t>CQR | </a:t>
            </a:r>
            <a:r>
              <a:rPr lang="en-US" sz="11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rPr>
              <a:t>Customer Quality &amp; Reliability</a:t>
            </a:r>
            <a:endParaRPr lang="en-US" sz="12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Tree>
    <p:extLst>
      <p:ext uri="{BB962C8B-B14F-4D97-AF65-F5344CB8AC3E}">
        <p14:creationId xmlns:p14="http://schemas.microsoft.com/office/powerpoint/2010/main" val="27805796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24037270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Intel Clear Pro</a:t>
            </a:r>
            <a:br>
              <a:rPr lang="en-US" dirty="0" smtClean="0"/>
            </a:br>
            <a:r>
              <a:rPr lang="en-US" dirty="0" smtClean="0"/>
              <a:t>blue section break</a:t>
            </a:r>
            <a:endParaRPr lang="en-US" dirty="0"/>
          </a:p>
        </p:txBody>
      </p:sp>
      <p:sp>
        <p:nvSpPr>
          <p:cNvPr id="3" name="Text Placeholder 2"/>
          <p:cNvSpPr>
            <a:spLocks noGrp="1"/>
          </p:cNvSpPr>
          <p:nvPr userDrawn="1">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ext uri="{BB962C8B-B14F-4D97-AF65-F5344CB8AC3E}">
        <p14:creationId xmlns:p14="http://schemas.microsoft.com/office/powerpoint/2010/main" val="111011233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77432" y="1875130"/>
            <a:ext cx="2108795" cy="138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00967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87" y="475945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2" descr="\\.psf\Home\Desktop\Intel.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39915" y="4830589"/>
            <a:ext cx="364336" cy="24013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Intel Clear Headline</a:t>
            </a:r>
            <a:br>
              <a:rPr lang="en-US" dirty="0" smtClean="0"/>
            </a:br>
            <a:r>
              <a:rPr lang="en-US" dirty="0" smtClean="0"/>
              <a:t>2 lines</a:t>
            </a:r>
            <a:endParaRPr lang="en-US" dirty="0"/>
          </a:p>
        </p:txBody>
      </p:sp>
      <p:sp>
        <p:nvSpPr>
          <p:cNvPr id="3" name="Text Placeholder 2"/>
          <p:cNvSpPr>
            <a:spLocks noGrp="1"/>
          </p:cNvSpPr>
          <p:nvPr>
            <p:ph type="body" idx="1"/>
          </p:nvPr>
        </p:nvSpPr>
        <p:spPr>
          <a:xfrm>
            <a:off x="455613" y="1130175"/>
            <a:ext cx="8228012" cy="3498975"/>
          </a:xfrm>
          <a:prstGeom prst="rect">
            <a:avLst/>
          </a:prstGeom>
        </p:spPr>
        <p:txBody>
          <a:bodyPr vert="horz" lIns="0" tIns="0" rIns="0" bIns="0" rtlCol="0">
            <a:noAutofit/>
          </a:bodyPr>
          <a:lstStyle/>
          <a:p>
            <a:pPr lvl="0"/>
            <a:r>
              <a:rPr lang="en-US" dirty="0" smtClean="0"/>
              <a:t>Intel Clear body text</a:t>
            </a:r>
          </a:p>
          <a:p>
            <a:pPr lvl="1"/>
            <a:r>
              <a:rPr lang="en-US" dirty="0" smtClean="0"/>
              <a:t>Intel Clear bullet one</a:t>
            </a:r>
          </a:p>
          <a:p>
            <a:pPr lvl="2"/>
            <a:r>
              <a:rPr lang="en-US" dirty="0" smtClean="0"/>
              <a:t>Intel Clear sub-bullet</a:t>
            </a:r>
          </a:p>
          <a:p>
            <a:pPr lvl="3"/>
            <a:r>
              <a:rPr lang="en-US" dirty="0" smtClean="0"/>
              <a:t>Intel Clear fourth level</a:t>
            </a:r>
          </a:p>
          <a:p>
            <a:pPr lvl="4"/>
            <a:r>
              <a:rPr lang="en-US" dirty="0" smtClean="0"/>
              <a:t>Intel Clear fifth level</a:t>
            </a:r>
            <a:endParaRPr lang="en-US" dirty="0"/>
          </a:p>
        </p:txBody>
      </p:sp>
      <p:sp>
        <p:nvSpPr>
          <p:cNvPr id="6" name="Slide Number Placeholder 5"/>
          <p:cNvSpPr>
            <a:spLocks noGrp="1"/>
          </p:cNvSpPr>
          <p:nvPr>
            <p:ph type="sldNum" sz="quarter" idx="4"/>
          </p:nvPr>
        </p:nvSpPr>
        <p:spPr>
          <a:xfrm>
            <a:off x="6872352" y="4824387"/>
            <a:ext cx="2133600" cy="273844"/>
          </a:xfrm>
          <a:prstGeom prst="rect">
            <a:avLst/>
          </a:prstGeom>
        </p:spPr>
        <p:txBody>
          <a:bodyPr vert="horz" lIns="0" tIns="0" rIns="0" bIns="0" rtlCol="0" anchor="ctr"/>
          <a:lstStyle>
            <a:lvl1pPr algn="r">
              <a:defRPr sz="800">
                <a:solidFill>
                  <a:schemeClr val="bg1"/>
                </a:solidFill>
                <a:latin typeface="+mn-lt"/>
                <a:cs typeface="Intel Clear"/>
              </a:defRPr>
            </a:lvl1pPr>
          </a:lstStyle>
          <a:p>
            <a:fld id="{EE2556C5-CE8C-6547-B838-EA80C61A4AF7}" type="slidenum">
              <a:rPr lang="en-US" smtClean="0"/>
              <a:pPr/>
              <a:t>‹#›</a:t>
            </a:fld>
            <a:endParaRPr lang="en-US" dirty="0"/>
          </a:p>
        </p:txBody>
      </p:sp>
      <p:sp>
        <p:nvSpPr>
          <p:cNvPr id="10" name="TextBox 9"/>
          <p:cNvSpPr txBox="1"/>
          <p:nvPr userDrawn="1"/>
        </p:nvSpPr>
        <p:spPr>
          <a:xfrm>
            <a:off x="3856384" y="4837215"/>
            <a:ext cx="2886324" cy="253383"/>
          </a:xfrm>
          <a:prstGeom prst="rect">
            <a:avLst/>
          </a:prstGeom>
          <a:noFill/>
        </p:spPr>
        <p:txBody>
          <a:bodyPr vert="horz" wrap="none" lIns="0" tIns="0" rIns="0" bIns="0" rtlCol="0" anchor="ctr" anchorCtr="0">
            <a:no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800" dirty="0" smtClean="0">
                <a:solidFill>
                  <a:schemeClr val="bg1"/>
                </a:solidFill>
              </a:rPr>
              <a:t>Intel Confidential  |  Internal Use Only – Do Not Distribute</a:t>
            </a:r>
          </a:p>
        </p:txBody>
      </p:sp>
      <p:sp>
        <p:nvSpPr>
          <p:cNvPr id="14" name="Rectangle 13"/>
          <p:cNvSpPr/>
          <p:nvPr userDrawn="1"/>
        </p:nvSpPr>
        <p:spPr>
          <a:xfrm>
            <a:off x="281498" y="4813599"/>
            <a:ext cx="2475358" cy="276999"/>
          </a:xfrm>
          <a:prstGeom prst="rect">
            <a:avLst/>
          </a:prstGeom>
        </p:spPr>
        <p:txBody>
          <a:bodyPr wrap="none">
            <a:spAutoFit/>
          </a:bodyPr>
          <a:lstStyle/>
          <a:p>
            <a:pPr algn="just"/>
            <a:r>
              <a:rPr lang="en-US" sz="1200" b="1" dirty="0" smtClean="0">
                <a:solidFill>
                  <a:schemeClr val="bg1"/>
                </a:solidFill>
                <a:latin typeface="+mj-lt"/>
              </a:rPr>
              <a:t>CQR | </a:t>
            </a:r>
            <a:r>
              <a:rPr lang="en-US" sz="11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rPr>
              <a:t>Customer Quality &amp; Reliability</a:t>
            </a:r>
            <a:endParaRPr lang="en-US" sz="1200" dirty="0" smtClean="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Tree>
    <p:extLst>
      <p:ext uri="{BB962C8B-B14F-4D97-AF65-F5344CB8AC3E}">
        <p14:creationId xmlns:p14="http://schemas.microsoft.com/office/powerpoint/2010/main" val="3786227823"/>
      </p:ext>
    </p:extLst>
  </p:cSld>
  <p:clrMap bg1="lt1" tx1="dk1" bg2="lt2" tx2="dk2" accent1="accent1" accent2="accent2" accent3="accent3" accent4="accent4" accent5="accent5" accent6="accent6" hlink="hlink" folHlink="folHlink"/>
  <p:sldLayoutIdLst>
    <p:sldLayoutId id="2147483673" r:id="rId1"/>
    <p:sldLayoutId id="2147483650" r:id="rId2"/>
    <p:sldLayoutId id="2147483677" r:id="rId3"/>
    <p:sldLayoutId id="2147483678" r:id="rId4"/>
    <p:sldLayoutId id="2147483672" r:id="rId5"/>
    <p:sldLayoutId id="2147483651" r:id="rId6"/>
    <p:sldLayoutId id="2147483676" r:id="rId7"/>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400" b="0" i="0" kern="1200" spc="0" baseline="0">
          <a:solidFill>
            <a:srgbClr val="003C71"/>
          </a:solidFill>
          <a:latin typeface="Intel Clear"/>
          <a:ea typeface="Intel Clear"/>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6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panose="020B0604020202020204" pitchFamily="34" charset="0"/>
        <a:buChar char="•"/>
        <a:defRPr sz="12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Courier New" panose="02070309020205020404" pitchFamily="49" charset="0"/>
        <a:buChar char="o"/>
        <a:defRPr sz="11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KBL-G x-ray exposure customer situation </a:t>
            </a:r>
            <a:endParaRPr lang="en-US" dirty="0"/>
          </a:p>
        </p:txBody>
      </p:sp>
      <p:sp>
        <p:nvSpPr>
          <p:cNvPr id="3" name="Subtitle 2"/>
          <p:cNvSpPr>
            <a:spLocks noGrp="1"/>
          </p:cNvSpPr>
          <p:nvPr>
            <p:ph type="subTitle" idx="1"/>
          </p:nvPr>
        </p:nvSpPr>
        <p:spPr/>
        <p:txBody>
          <a:bodyPr/>
          <a:lstStyle/>
          <a:p>
            <a:r>
              <a:rPr lang="en-US" b="0" dirty="0" smtClean="0"/>
              <a:t>Harry Yu</a:t>
            </a:r>
            <a:endParaRPr lang="en-US" b="0" dirty="0"/>
          </a:p>
        </p:txBody>
      </p:sp>
    </p:spTree>
    <p:extLst>
      <p:ext uri="{BB962C8B-B14F-4D97-AF65-F5344CB8AC3E}">
        <p14:creationId xmlns:p14="http://schemas.microsoft.com/office/powerpoint/2010/main" val="23100960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2</a:t>
            </a:fld>
            <a:endParaRPr lang="en-US" dirty="0"/>
          </a:p>
        </p:txBody>
      </p:sp>
      <p:sp>
        <p:nvSpPr>
          <p:cNvPr id="4" name="Title 3"/>
          <p:cNvSpPr>
            <a:spLocks noGrp="1"/>
          </p:cNvSpPr>
          <p:nvPr>
            <p:ph type="title"/>
          </p:nvPr>
        </p:nvSpPr>
        <p:spPr/>
        <p:txBody>
          <a:bodyPr/>
          <a:lstStyle/>
          <a:p>
            <a:r>
              <a:rPr lang="en-US" dirty="0" smtClean="0"/>
              <a:t>Known customers list and build schedule</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299501485"/>
              </p:ext>
            </p:extLst>
          </p:nvPr>
        </p:nvGraphicFramePr>
        <p:xfrm>
          <a:off x="1465259" y="1250950"/>
          <a:ext cx="6294440" cy="2814194"/>
        </p:xfrm>
        <a:graphic>
          <a:graphicData uri="http://schemas.openxmlformats.org/drawingml/2006/table">
            <a:tbl>
              <a:tblPr firstRow="1" bandRow="1">
                <a:tableStyleId>{F5AB1C69-6EDB-4FF4-983F-18BD219EF322}</a:tableStyleId>
              </a:tblPr>
              <a:tblGrid>
                <a:gridCol w="1398591"/>
                <a:gridCol w="1187450"/>
                <a:gridCol w="1422400"/>
                <a:gridCol w="2285999"/>
              </a:tblGrid>
              <a:tr h="374650">
                <a:tc>
                  <a:txBody>
                    <a:bodyPr/>
                    <a:lstStyle/>
                    <a:p>
                      <a:r>
                        <a:rPr lang="en-US" altLang="zh-CN" sz="1050" dirty="0" smtClean="0"/>
                        <a:t>OEM</a:t>
                      </a:r>
                      <a:endParaRPr lang="zh-CN" altLang="en-US" sz="1050" dirty="0"/>
                    </a:p>
                  </a:txBody>
                  <a:tcPr/>
                </a:tc>
                <a:tc>
                  <a:txBody>
                    <a:bodyPr/>
                    <a:lstStyle/>
                    <a:p>
                      <a:r>
                        <a:rPr lang="en-US" altLang="zh-CN" sz="1050" dirty="0" smtClean="0"/>
                        <a:t>ODM</a:t>
                      </a:r>
                    </a:p>
                  </a:txBody>
                  <a:tcPr/>
                </a:tc>
                <a:tc>
                  <a:txBody>
                    <a:bodyPr/>
                    <a:lstStyle/>
                    <a:p>
                      <a:r>
                        <a:rPr lang="en-US" altLang="zh-CN" sz="1050" dirty="0" smtClean="0"/>
                        <a:t>Project name</a:t>
                      </a:r>
                      <a:endParaRPr lang="zh-CN" altLang="en-US" sz="1050" dirty="0"/>
                    </a:p>
                  </a:txBody>
                  <a:tcPr/>
                </a:tc>
                <a:tc>
                  <a:txBody>
                    <a:bodyPr/>
                    <a:lstStyle/>
                    <a:p>
                      <a:r>
                        <a:rPr lang="en-US" altLang="zh-CN" sz="1050" dirty="0" smtClean="0"/>
                        <a:t>Build</a:t>
                      </a:r>
                      <a:r>
                        <a:rPr lang="en-US" altLang="zh-CN" sz="1050" baseline="0" dirty="0" smtClean="0"/>
                        <a:t> schedule</a:t>
                      </a:r>
                      <a:endParaRPr lang="zh-CN" altLang="en-US" sz="1050" dirty="0"/>
                    </a:p>
                  </a:txBody>
                  <a:tcPr/>
                </a:tc>
              </a:tr>
              <a:tr h="838266">
                <a:tc>
                  <a:txBody>
                    <a:bodyPr/>
                    <a:lstStyle/>
                    <a:p>
                      <a:r>
                        <a:rPr lang="en-US" altLang="zh-CN" sz="1050" dirty="0" smtClean="0"/>
                        <a:t>Dell</a:t>
                      </a:r>
                      <a:endParaRPr lang="zh-CN" altLang="en-US" sz="1050" dirty="0"/>
                    </a:p>
                  </a:txBody>
                  <a:tcPr/>
                </a:tc>
                <a:tc>
                  <a:txBody>
                    <a:bodyPr/>
                    <a:lstStyle/>
                    <a:p>
                      <a:r>
                        <a:rPr lang="en-US" altLang="zh-CN" sz="1050" dirty="0" smtClean="0"/>
                        <a:t>Compal KS</a:t>
                      </a:r>
                      <a:endParaRPr lang="zh-CN" altLang="en-US" sz="1050" dirty="0"/>
                    </a:p>
                  </a:txBody>
                  <a:tcPr/>
                </a:tc>
                <a:tc>
                  <a:txBody>
                    <a:bodyPr/>
                    <a:lstStyle/>
                    <a:p>
                      <a:r>
                        <a:rPr lang="en-US" altLang="zh-CN" sz="1050" dirty="0" smtClean="0"/>
                        <a:t>La Ferrari</a:t>
                      </a:r>
                      <a:endParaRPr lang="zh-CN" altLang="en-US" sz="1050" dirty="0"/>
                    </a:p>
                  </a:txBody>
                  <a:tcPr/>
                </a:tc>
                <a:tc>
                  <a:txBody>
                    <a:bodyPr/>
                    <a:lstStyle/>
                    <a:p>
                      <a:r>
                        <a:rPr lang="en-US" altLang="zh-CN" sz="1050" dirty="0" smtClean="0"/>
                        <a:t>Next Pilot build 1/24 </a:t>
                      </a:r>
                    </a:p>
                    <a:p>
                      <a:endParaRPr lang="en-US" altLang="zh-CN" sz="1050" dirty="0" smtClean="0"/>
                    </a:p>
                    <a:p>
                      <a:r>
                        <a:rPr lang="en-US" altLang="zh-CN" sz="1050" dirty="0" smtClean="0"/>
                        <a:t>RTS</a:t>
                      </a:r>
                      <a:r>
                        <a:rPr lang="en-US" altLang="zh-CN" sz="1050" baseline="0" dirty="0" smtClean="0"/>
                        <a:t> (Ready To Ship) date 3/29</a:t>
                      </a:r>
                      <a:endParaRPr lang="zh-CN" altLang="en-US" sz="1050" dirty="0"/>
                    </a:p>
                  </a:txBody>
                  <a:tcPr/>
                </a:tc>
              </a:tr>
              <a:tr h="800639">
                <a:tc>
                  <a:txBody>
                    <a:bodyPr/>
                    <a:lstStyle/>
                    <a:p>
                      <a:r>
                        <a:rPr lang="en-US" altLang="zh-CN" sz="1050" dirty="0" smtClean="0"/>
                        <a:t>HP</a:t>
                      </a:r>
                      <a:endParaRPr lang="zh-CN" altLang="en-US" sz="1050" dirty="0"/>
                    </a:p>
                  </a:txBody>
                  <a:tcPr/>
                </a:tc>
                <a:tc>
                  <a:txBody>
                    <a:bodyPr/>
                    <a:lstStyle/>
                    <a:p>
                      <a:r>
                        <a:rPr lang="en-US" altLang="zh-CN" sz="1050" dirty="0" smtClean="0"/>
                        <a:t>Quanta CQ</a:t>
                      </a:r>
                      <a:endParaRPr lang="zh-CN" altLang="en-US" sz="1050" dirty="0"/>
                    </a:p>
                  </a:txBody>
                  <a:tcPr/>
                </a:tc>
                <a:tc>
                  <a:txBody>
                    <a:bodyPr/>
                    <a:lstStyle/>
                    <a:p>
                      <a:r>
                        <a:rPr lang="en-US" altLang="zh-CN" sz="1050" dirty="0" smtClean="0"/>
                        <a:t>X35A</a:t>
                      </a:r>
                      <a:endParaRPr lang="zh-CN" altLang="en-US" sz="1050" dirty="0"/>
                    </a:p>
                  </a:txBody>
                  <a:tcPr/>
                </a:tc>
                <a:tc>
                  <a:txBody>
                    <a:bodyPr/>
                    <a:lstStyle/>
                    <a:p>
                      <a:r>
                        <a:rPr lang="en-US" altLang="zh-CN" sz="1050" dirty="0" smtClean="0"/>
                        <a:t>MV</a:t>
                      </a:r>
                      <a:r>
                        <a:rPr lang="en-US" altLang="zh-CN" sz="1050" baseline="0" dirty="0" smtClean="0"/>
                        <a:t> build (200~400Pcs) at 2/24</a:t>
                      </a:r>
                    </a:p>
                    <a:p>
                      <a:endParaRPr lang="en-US" altLang="zh-CN" sz="1050" baseline="0" dirty="0" smtClean="0"/>
                    </a:p>
                    <a:p>
                      <a:r>
                        <a:rPr lang="en-US" altLang="zh-CN" sz="1050" baseline="0" dirty="0" smtClean="0"/>
                        <a:t>HVM target end of March</a:t>
                      </a:r>
                      <a:endParaRPr lang="zh-CN" altLang="en-US" sz="1050" dirty="0"/>
                    </a:p>
                  </a:txBody>
                  <a:tcPr/>
                </a:tc>
              </a:tr>
              <a:tr h="800639">
                <a:tc>
                  <a:txBody>
                    <a:bodyPr/>
                    <a:lstStyle/>
                    <a:p>
                      <a:r>
                        <a:rPr lang="en-US" altLang="zh-CN" sz="1050" dirty="0" smtClean="0"/>
                        <a:t>Intel</a:t>
                      </a:r>
                      <a:endParaRPr lang="zh-CN" altLang="en-US" sz="1050" dirty="0"/>
                    </a:p>
                  </a:txBody>
                  <a:tcPr/>
                </a:tc>
                <a:tc>
                  <a:txBody>
                    <a:bodyPr/>
                    <a:lstStyle/>
                    <a:p>
                      <a:r>
                        <a:rPr lang="en-US" altLang="zh-CN" sz="1050" dirty="0" smtClean="0"/>
                        <a:t>Pegatron SZ</a:t>
                      </a:r>
                      <a:endParaRPr lang="zh-CN" altLang="en-US" sz="1050" dirty="0"/>
                    </a:p>
                  </a:txBody>
                  <a:tcPr/>
                </a:tc>
                <a:tc>
                  <a:txBody>
                    <a:bodyPr/>
                    <a:lstStyle/>
                    <a:p>
                      <a:r>
                        <a:rPr lang="en-US" altLang="zh-CN" sz="1050" dirty="0" smtClean="0"/>
                        <a:t>NUC-3</a:t>
                      </a:r>
                      <a:endParaRPr lang="zh-CN" altLang="en-US" sz="1050" dirty="0"/>
                    </a:p>
                  </a:txBody>
                  <a:tcPr/>
                </a:tc>
                <a:tc>
                  <a:txBody>
                    <a:bodyPr/>
                    <a:lstStyle/>
                    <a:p>
                      <a:endParaRPr lang="zh-CN" altLang="en-US" sz="1050" dirty="0"/>
                    </a:p>
                  </a:txBody>
                  <a:tcPr/>
                </a:tc>
              </a:tr>
            </a:tbl>
          </a:graphicData>
        </a:graphic>
      </p:graphicFrame>
    </p:spTree>
    <p:extLst>
      <p:ext uri="{BB962C8B-B14F-4D97-AF65-F5344CB8AC3E}">
        <p14:creationId xmlns:p14="http://schemas.microsoft.com/office/powerpoint/2010/main" val="1634437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3</a:t>
            </a:fld>
            <a:endParaRPr lang="en-US" dirty="0"/>
          </a:p>
        </p:txBody>
      </p:sp>
      <p:sp>
        <p:nvSpPr>
          <p:cNvPr id="4" name="Title 3"/>
          <p:cNvSpPr>
            <a:spLocks noGrp="1"/>
          </p:cNvSpPr>
          <p:nvPr>
            <p:ph type="title"/>
          </p:nvPr>
        </p:nvSpPr>
        <p:spPr/>
        <p:txBody>
          <a:bodyPr/>
          <a:lstStyle/>
          <a:p>
            <a:r>
              <a:rPr lang="en-US" dirty="0" smtClean="0"/>
              <a:t>Customer X-ray machine survey</a:t>
            </a:r>
            <a:endParaRPr lang="en-US" dirty="0"/>
          </a:p>
        </p:txBody>
      </p:sp>
      <p:sp>
        <p:nvSpPr>
          <p:cNvPr id="9" name="Rounded Rectangle 8"/>
          <p:cNvSpPr/>
          <p:nvPr/>
        </p:nvSpPr>
        <p:spPr>
          <a:xfrm>
            <a:off x="643980" y="3570313"/>
            <a:ext cx="247650" cy="177800"/>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971550" y="3570313"/>
            <a:ext cx="1079500" cy="177800"/>
          </a:xfrm>
          <a:prstGeom prst="rect">
            <a:avLst/>
          </a:prstGeom>
          <a:noFill/>
        </p:spPr>
        <p:txBody>
          <a:bodyPr vert="horz" wrap="none" lIns="0" tIns="0" rIns="0" bIns="0" rtlCol="0">
            <a:noAutofit/>
          </a:bodyPr>
          <a:lstStyle/>
          <a:p>
            <a:r>
              <a:rPr lang="en-US" altLang="zh-CN" sz="1100" dirty="0" smtClean="0">
                <a:solidFill>
                  <a:srgbClr val="003C71"/>
                </a:solidFill>
              </a:rPr>
              <a:t>KBL-G customer</a:t>
            </a:r>
            <a:endParaRPr lang="zh-CN" altLang="en-US" sz="1100" dirty="0" smtClean="0">
              <a:solidFill>
                <a:srgbClr val="003C71"/>
              </a:solidFill>
            </a:endParaRPr>
          </a:p>
        </p:txBody>
      </p:sp>
      <p:sp>
        <p:nvSpPr>
          <p:cNvPr id="11" name="TextBox 10"/>
          <p:cNvSpPr txBox="1"/>
          <p:nvPr/>
        </p:nvSpPr>
        <p:spPr>
          <a:xfrm>
            <a:off x="533400" y="3937000"/>
            <a:ext cx="8204200" cy="698500"/>
          </a:xfrm>
          <a:prstGeom prst="rect">
            <a:avLst/>
          </a:prstGeom>
          <a:noFill/>
        </p:spPr>
        <p:txBody>
          <a:bodyPr vert="horz" wrap="square" lIns="0" tIns="0" rIns="0" bIns="0" rtlCol="0">
            <a:noAutofit/>
          </a:bodyPr>
          <a:lstStyle/>
          <a:p>
            <a:pPr marL="171450" indent="-171450">
              <a:buFont typeface="Arial" panose="020B0604020202020204" pitchFamily="34" charset="0"/>
              <a:buChar char="•"/>
            </a:pPr>
            <a:r>
              <a:rPr lang="en-US" altLang="zh-CN" sz="1100" dirty="0" smtClean="0">
                <a:solidFill>
                  <a:srgbClr val="003C71"/>
                </a:solidFill>
              </a:rPr>
              <a:t>Quanta CQ said their X-ray machine (</a:t>
            </a:r>
            <a:r>
              <a:rPr lang="en-US" altLang="zh-CN" sz="1100" dirty="0" err="1" smtClean="0">
                <a:solidFill>
                  <a:srgbClr val="003C71"/>
                </a:solidFill>
              </a:rPr>
              <a:t>Dage</a:t>
            </a:r>
            <a:r>
              <a:rPr lang="en-US" altLang="zh-CN" sz="1100" dirty="0" smtClean="0">
                <a:solidFill>
                  <a:srgbClr val="003C71"/>
                </a:solidFill>
              </a:rPr>
              <a:t> XD7600NT) have x-ray source at bottom of the machine. If put BGA up, there are at least a metal table and PCB block in between; Need X-ray machine expert to double confirm. </a:t>
            </a:r>
            <a:endParaRPr lang="zh-CN" altLang="en-US" sz="1100" dirty="0" smtClean="0">
              <a:solidFill>
                <a:srgbClr val="003C7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198558501"/>
              </p:ext>
            </p:extLst>
          </p:nvPr>
        </p:nvGraphicFramePr>
        <p:xfrm>
          <a:off x="618580" y="797943"/>
          <a:ext cx="8033840" cy="2520910"/>
        </p:xfrm>
        <a:graphic>
          <a:graphicData uri="http://schemas.openxmlformats.org/drawingml/2006/table">
            <a:tbl>
              <a:tblPr/>
              <a:tblGrid>
                <a:gridCol w="631057"/>
                <a:gridCol w="402212"/>
                <a:gridCol w="1414677"/>
                <a:gridCol w="1097415"/>
                <a:gridCol w="1012465"/>
                <a:gridCol w="1492692"/>
                <a:gridCol w="1983322"/>
              </a:tblGrid>
              <a:tr h="105105">
                <a:tc>
                  <a:txBody>
                    <a:bodyPr/>
                    <a:lstStyle/>
                    <a:p>
                      <a:pPr algn="l" fontAlgn="t"/>
                      <a:r>
                        <a:rPr lang="en-US" sz="900" b="1"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Customer</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c>
                  <a:txBody>
                    <a:bodyPr/>
                    <a:lstStyle/>
                    <a:p>
                      <a:pPr algn="l" fontAlgn="t"/>
                      <a:r>
                        <a:rPr lang="en-US" sz="900" b="1"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Segment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c>
                  <a:txBody>
                    <a:bodyPr/>
                    <a:lstStyle/>
                    <a:p>
                      <a:pPr algn="l" fontAlgn="t"/>
                      <a:r>
                        <a:rPr lang="en-US" sz="900" b="1"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X-Ray Machine Brand and Model</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c>
                  <a:txBody>
                    <a:bodyPr/>
                    <a:lstStyle/>
                    <a:p>
                      <a:pPr algn="l" fontAlgn="t"/>
                      <a:r>
                        <a:rPr lang="en-US" sz="900" b="1"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Tube voltage Typical</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c>
                  <a:txBody>
                    <a:bodyPr/>
                    <a:lstStyle/>
                    <a:p>
                      <a:pPr algn="l" fontAlgn="t"/>
                      <a:r>
                        <a:rPr lang="en-US" sz="900" b="1"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Tube power Typical</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c>
                  <a:txBody>
                    <a:bodyPr/>
                    <a:lstStyle/>
                    <a:p>
                      <a:pPr algn="l" fontAlgn="t"/>
                      <a:r>
                        <a:rPr lang="en-US" sz="900" b="1"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Typical scan time</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c>
                  <a:txBody>
                    <a:bodyPr/>
                    <a:lstStyle/>
                    <a:p>
                      <a:pPr algn="l" fontAlgn="t"/>
                      <a:r>
                        <a:rPr lang="en-US" sz="900" b="1"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Working distance (typical)</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5B9BD5"/>
                    </a:solidFill>
                  </a:tcPr>
                </a:tc>
              </a:tr>
              <a:tr h="205007">
                <a:tc>
                  <a:txBody>
                    <a:bodyPr/>
                    <a:lstStyle/>
                    <a:p>
                      <a:pPr algn="l" fontAlgn="t"/>
                      <a:r>
                        <a:rPr lang="en-US" sz="900" b="0"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Compal</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00B050"/>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Client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Dage XD6500</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MAX:160kv</a:t>
                      </a:r>
                      <a:b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br>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Normal: 100KV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Max:3w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35s</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Not able to provide</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r>
              <a:tr h="105105">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Inventec</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Client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SEC and X-eye SF160</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160kVP</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32W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1.5min/pcs</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0.3m</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r>
              <a:tr h="205007">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Pegatron</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Client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Brand：YXLON</a:t>
                      </a:r>
                      <a:b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br>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Model:Cougar SMT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100KV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10ua</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Not able to define(depends on X-Ray locations and qty).</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Not able to define</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r>
              <a:tr h="304908">
                <a:tc>
                  <a:txBody>
                    <a:bodyPr/>
                    <a:lstStyle/>
                    <a:p>
                      <a:pPr algn="l" fontAlgn="t"/>
                      <a:r>
                        <a:rPr lang="en-US" sz="900" b="0"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ODM4 (Pegatron)</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00B050"/>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Client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PHOENIX; model: ANALYSER 160</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160kv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20w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 standard inspection time, depends on on FA purpose or FAI validation.</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310mm</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r>
              <a:tr h="105105">
                <a:tc>
                  <a:txBody>
                    <a:bodyPr/>
                    <a:lstStyle/>
                    <a:p>
                      <a:pPr algn="l" fontAlgn="t"/>
                      <a:r>
                        <a:rPr lang="en-US" sz="900" b="0"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Quanta</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00B050"/>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Client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Dage XD7600NT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90KV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1.2W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/(per sample size)</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90mm</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r>
              <a:tr h="205007">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Wistron</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Client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Brand: Dage</a:t>
                      </a:r>
                      <a:b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br>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Model: XD7500NT</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da-DK"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Max voltage: 160KV</a:t>
                      </a:r>
                      <a:br>
                        <a:rPr lang="da-DK"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br>
                      <a:r>
                        <a:rPr lang="da-DK"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Normal usage: 80kv~110kv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pl-PL"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Max power: 3w</a:t>
                      </a:r>
                      <a:br>
                        <a:rPr lang="pl-PL"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br>
                      <a:r>
                        <a:rPr lang="pl-PL"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Normal usage: 1.0~1.5W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&lt;1min</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Not allow anybody within 1m range except X-Ray machine operator.</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B4C6E7"/>
                    </a:solidFill>
                  </a:tcPr>
                </a:tc>
              </a:tr>
              <a:tr h="105105">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Inventec</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Server</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Vitrox V810xxl S2i</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130 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30mA</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8inch²/s</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2.5cm for the above and  8 cm for below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r>
              <a:tr h="105105">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Quanta</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Server</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Agilent 5DX 5000</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160KV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16W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120S</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30cm</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r>
              <a:tr h="105105">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Quanta</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Server</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ViTrox V810</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130KV</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26W</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100S</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c>
                  <a:txBody>
                    <a:bodyPr/>
                    <a:lstStyle/>
                    <a:p>
                      <a:pPr algn="l" fontAlgn="t"/>
                      <a:r>
                        <a:rPr lang="en-US" sz="900" b="0" i="0" u="none" strike="noStrike" dirty="0">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30cm</a:t>
                      </a:r>
                    </a:p>
                  </a:txBody>
                  <a:tcPr marL="5203" marR="5203" marT="5203" marB="0">
                    <a:lnL w="6350" cap="flat" cmpd="sng" algn="ctr">
                      <a:solidFill>
                        <a:srgbClr val="1F4E78"/>
                      </a:solidFill>
                      <a:prstDash val="solid"/>
                      <a:round/>
                      <a:headEnd type="none" w="med" len="med"/>
                      <a:tailEnd type="none" w="med" len="med"/>
                    </a:lnL>
                    <a:lnR w="6350" cap="flat" cmpd="sng" algn="ctr">
                      <a:solidFill>
                        <a:srgbClr val="1F4E78"/>
                      </a:solidFill>
                      <a:prstDash val="solid"/>
                      <a:round/>
                      <a:headEnd type="none" w="med" len="med"/>
                      <a:tailEnd type="none" w="med" len="med"/>
                    </a:lnR>
                    <a:lnT w="6350" cap="flat" cmpd="sng" algn="ctr">
                      <a:solidFill>
                        <a:srgbClr val="1F4E78"/>
                      </a:solidFill>
                      <a:prstDash val="solid"/>
                      <a:round/>
                      <a:headEnd type="none" w="med" len="med"/>
                      <a:tailEnd type="none" w="med" len="med"/>
                    </a:lnT>
                    <a:lnB w="6350" cap="flat" cmpd="sng" algn="ctr">
                      <a:solidFill>
                        <a:srgbClr val="1F4E78"/>
                      </a:solidFill>
                      <a:prstDash val="solid"/>
                      <a:round/>
                      <a:headEnd type="none" w="med" len="med"/>
                      <a:tailEnd type="none" w="med" len="med"/>
                    </a:lnB>
                    <a:solidFill>
                      <a:srgbClr val="9BC2E6"/>
                    </a:solidFill>
                  </a:tcPr>
                </a:tc>
              </a:tr>
            </a:tbl>
          </a:graphicData>
        </a:graphic>
      </p:graphicFrame>
    </p:spTree>
    <p:extLst>
      <p:ext uri="{BB962C8B-B14F-4D97-AF65-F5344CB8AC3E}">
        <p14:creationId xmlns:p14="http://schemas.microsoft.com/office/powerpoint/2010/main" val="3327201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4</a:t>
            </a:fld>
            <a:endParaRPr lang="en-US" dirty="0"/>
          </a:p>
        </p:txBody>
      </p:sp>
      <p:sp>
        <p:nvSpPr>
          <p:cNvPr id="4" name="Title 3"/>
          <p:cNvSpPr>
            <a:spLocks noGrp="1"/>
          </p:cNvSpPr>
          <p:nvPr>
            <p:ph type="title"/>
          </p:nvPr>
        </p:nvSpPr>
        <p:spPr/>
        <p:txBody>
          <a:bodyPr/>
          <a:lstStyle/>
          <a:p>
            <a:r>
              <a:rPr lang="en-US" dirty="0" smtClean="0"/>
              <a:t>Customer x-ray usage model (Compal/Dell La Ferrari) </a:t>
            </a:r>
            <a:endParaRPr lang="en-US" dirty="0"/>
          </a:p>
        </p:txBody>
      </p:sp>
      <p:sp>
        <p:nvSpPr>
          <p:cNvPr id="5" name="Content Placeholder 4"/>
          <p:cNvSpPr>
            <a:spLocks noGrp="1"/>
          </p:cNvSpPr>
          <p:nvPr>
            <p:ph sz="quarter" idx="13"/>
          </p:nvPr>
        </p:nvSpPr>
        <p:spPr/>
        <p:txBody>
          <a:bodyPr/>
          <a:lstStyle/>
          <a:p>
            <a:pPr marL="342900" lvl="1" indent="-342900">
              <a:buAutoNum type="arabicPeriod"/>
            </a:pPr>
            <a:r>
              <a:rPr lang="en-US" dirty="0" smtClean="0"/>
              <a:t>Debug</a:t>
            </a:r>
            <a:r>
              <a:rPr lang="en-US" dirty="0"/>
              <a:t>: When debug engineer suspect SJ failure on BGA, it will be x-</a:t>
            </a:r>
            <a:r>
              <a:rPr lang="en-US" dirty="0" err="1"/>
              <a:t>ray’d</a:t>
            </a:r>
            <a:r>
              <a:rPr lang="en-US" dirty="0"/>
              <a:t> to double </a:t>
            </a:r>
            <a:r>
              <a:rPr lang="en-US" dirty="0" smtClean="0"/>
              <a:t>confirm</a:t>
            </a:r>
          </a:p>
          <a:p>
            <a:pPr marL="342900" lvl="1" indent="-342900">
              <a:buAutoNum type="arabicPeriod"/>
            </a:pPr>
            <a:r>
              <a:rPr lang="en-US" dirty="0" smtClean="0"/>
              <a:t>Repair</a:t>
            </a:r>
            <a:r>
              <a:rPr lang="en-US" dirty="0"/>
              <a:t>: Every board been through BGA </a:t>
            </a:r>
            <a:r>
              <a:rPr lang="en-US" dirty="0" smtClean="0"/>
              <a:t>replacement </a:t>
            </a:r>
            <a:r>
              <a:rPr lang="en-US" dirty="0"/>
              <a:t>will do x-ray to confirm sold joint </a:t>
            </a:r>
            <a:r>
              <a:rPr lang="en-US" dirty="0" smtClean="0"/>
              <a:t>quality</a:t>
            </a:r>
          </a:p>
          <a:p>
            <a:pPr marL="342900" lvl="1" indent="-342900">
              <a:buAutoNum type="arabicPeriod"/>
            </a:pPr>
            <a:r>
              <a:rPr lang="en-US" dirty="0" smtClean="0"/>
              <a:t>FAI </a:t>
            </a:r>
            <a:r>
              <a:rPr lang="en-US" dirty="0"/>
              <a:t>(First Article Inspection): 1. Every time when new build start, 1 board will send to X-ray per FAI rule. 2. Configure change: Every time when board configure change, 1 board will send to x-ray as part of FAI</a:t>
            </a:r>
          </a:p>
        </p:txBody>
      </p:sp>
    </p:spTree>
    <p:extLst>
      <p:ext uri="{BB962C8B-B14F-4D97-AF65-F5344CB8AC3E}">
        <p14:creationId xmlns:p14="http://schemas.microsoft.com/office/powerpoint/2010/main" val="2714525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5</a:t>
            </a:fld>
            <a:endParaRPr lang="en-US" dirty="0"/>
          </a:p>
        </p:txBody>
      </p:sp>
      <p:sp>
        <p:nvSpPr>
          <p:cNvPr id="4" name="Title 3"/>
          <p:cNvSpPr>
            <a:spLocks noGrp="1"/>
          </p:cNvSpPr>
          <p:nvPr>
            <p:ph type="title"/>
          </p:nvPr>
        </p:nvSpPr>
        <p:spPr/>
        <p:txBody>
          <a:bodyPr/>
          <a:lstStyle/>
          <a:p>
            <a:r>
              <a:rPr lang="en-US" dirty="0" smtClean="0"/>
              <a:t>Customer x-ray usage model (Quanta/HP X35A)</a:t>
            </a:r>
            <a:endParaRPr lang="en-US" dirty="0"/>
          </a:p>
        </p:txBody>
      </p:sp>
      <p:sp>
        <p:nvSpPr>
          <p:cNvPr id="5" name="Content Placeholder 4"/>
          <p:cNvSpPr>
            <a:spLocks noGrp="1"/>
          </p:cNvSpPr>
          <p:nvPr>
            <p:ph sz="quarter" idx="13"/>
          </p:nvPr>
        </p:nvSpPr>
        <p:spPr/>
        <p:txBody>
          <a:bodyPr/>
          <a:lstStyle/>
          <a:p>
            <a:pPr marL="342900" lvl="1" indent="-342900">
              <a:buAutoNum type="arabicPeriod"/>
            </a:pPr>
            <a:r>
              <a:rPr lang="en-US" dirty="0" smtClean="0"/>
              <a:t>Debug</a:t>
            </a:r>
            <a:r>
              <a:rPr lang="en-US" dirty="0"/>
              <a:t>: When debug engineer suspect SJ failure on BGA, it will be x-</a:t>
            </a:r>
            <a:r>
              <a:rPr lang="en-US" dirty="0" err="1"/>
              <a:t>ray’d</a:t>
            </a:r>
            <a:r>
              <a:rPr lang="en-US" dirty="0"/>
              <a:t> to double </a:t>
            </a:r>
            <a:r>
              <a:rPr lang="en-US" dirty="0" smtClean="0"/>
              <a:t>confirm</a:t>
            </a:r>
          </a:p>
          <a:p>
            <a:pPr marL="342900" lvl="1" indent="-342900">
              <a:buAutoNum type="arabicPeriod"/>
            </a:pPr>
            <a:r>
              <a:rPr lang="en-US" dirty="0" smtClean="0"/>
              <a:t>Repair</a:t>
            </a:r>
            <a:r>
              <a:rPr lang="en-US" dirty="0"/>
              <a:t>: Every board been through BGA </a:t>
            </a:r>
            <a:r>
              <a:rPr lang="en-US" dirty="0" smtClean="0"/>
              <a:t>replacement should do </a:t>
            </a:r>
            <a:r>
              <a:rPr lang="en-US" dirty="0"/>
              <a:t>x-ray </a:t>
            </a:r>
            <a:r>
              <a:rPr lang="en-US" dirty="0" smtClean="0"/>
              <a:t>inspection to </a:t>
            </a:r>
            <a:r>
              <a:rPr lang="en-US" dirty="0"/>
              <a:t>confirm sold joint </a:t>
            </a:r>
            <a:r>
              <a:rPr lang="en-US" dirty="0" smtClean="0"/>
              <a:t>quality</a:t>
            </a:r>
          </a:p>
          <a:p>
            <a:pPr marL="342900" lvl="1" indent="-342900">
              <a:buAutoNum type="arabicPeriod"/>
            </a:pPr>
            <a:r>
              <a:rPr lang="en-US" dirty="0" smtClean="0"/>
              <a:t>FAI </a:t>
            </a:r>
            <a:r>
              <a:rPr lang="en-US" dirty="0"/>
              <a:t>(First Article Inspection): </a:t>
            </a:r>
            <a:r>
              <a:rPr lang="en-US" dirty="0" smtClean="0"/>
              <a:t>The first board (post reflow) of every work order will send to x-ray inspection</a:t>
            </a:r>
          </a:p>
          <a:p>
            <a:pPr marL="342900" lvl="1" indent="-342900">
              <a:buAutoNum type="arabicPeriod"/>
            </a:pPr>
            <a:r>
              <a:rPr lang="en-US" dirty="0" smtClean="0"/>
              <a:t>Sampling check: Random pick 1 board/day send for x-ray inspection</a:t>
            </a:r>
          </a:p>
          <a:p>
            <a:pPr marL="342900" lvl="1" indent="-342900">
              <a:buAutoNum type="arabicPeriod"/>
            </a:pPr>
            <a:r>
              <a:rPr lang="en-US" dirty="0" smtClean="0"/>
              <a:t>ICT/ATE open/short issue: Every board need send to X-ray inspection to double confirm whether the open/short caused by SJ issue or not</a:t>
            </a:r>
            <a:endParaRPr lang="en-US" dirty="0"/>
          </a:p>
        </p:txBody>
      </p:sp>
    </p:spTree>
    <p:extLst>
      <p:ext uri="{BB962C8B-B14F-4D97-AF65-F5344CB8AC3E}">
        <p14:creationId xmlns:p14="http://schemas.microsoft.com/office/powerpoint/2010/main" val="22609247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6</a:t>
            </a:fld>
            <a:endParaRPr lang="en-US" dirty="0"/>
          </a:p>
        </p:txBody>
      </p:sp>
      <p:sp>
        <p:nvSpPr>
          <p:cNvPr id="4" name="Title 3"/>
          <p:cNvSpPr>
            <a:spLocks noGrp="1"/>
          </p:cNvSpPr>
          <p:nvPr>
            <p:ph type="title"/>
          </p:nvPr>
        </p:nvSpPr>
        <p:spPr/>
        <p:txBody>
          <a:bodyPr/>
          <a:lstStyle/>
          <a:p>
            <a:r>
              <a:rPr lang="en-US" dirty="0" smtClean="0"/>
              <a:t>Customer x-ray usage model (Intel/ODM4 NUC-3)</a:t>
            </a:r>
            <a:endParaRPr lang="en-US" dirty="0"/>
          </a:p>
        </p:txBody>
      </p:sp>
      <p:sp>
        <p:nvSpPr>
          <p:cNvPr id="5" name="Content Placeholder 4"/>
          <p:cNvSpPr>
            <a:spLocks noGrp="1"/>
          </p:cNvSpPr>
          <p:nvPr>
            <p:ph sz="quarter" idx="13"/>
          </p:nvPr>
        </p:nvSpPr>
        <p:spPr/>
        <p:txBody>
          <a:bodyPr/>
          <a:lstStyle/>
          <a:p>
            <a:pPr marL="0" lvl="1" indent="0">
              <a:buNone/>
            </a:pPr>
            <a:r>
              <a:rPr lang="en-US" altLang="zh-CN" dirty="0"/>
              <a:t>FAI while a new WO</a:t>
            </a:r>
            <a:r>
              <a:rPr lang="en-US" altLang="zh-CN" dirty="0" smtClean="0"/>
              <a:t>;</a:t>
            </a:r>
          </a:p>
          <a:p>
            <a:pPr marL="0" lvl="1" indent="0">
              <a:buNone/>
            </a:pPr>
            <a:r>
              <a:rPr lang="en-US" altLang="zh-CN" dirty="0" smtClean="0"/>
              <a:t>FA </a:t>
            </a:r>
            <a:r>
              <a:rPr lang="en-US" altLang="zh-CN" dirty="0"/>
              <a:t>tool if any defects may relevant to BGA </a:t>
            </a:r>
            <a:r>
              <a:rPr lang="en-US" altLang="zh-CN" dirty="0" smtClean="0"/>
              <a:t>parts;</a:t>
            </a:r>
          </a:p>
          <a:p>
            <a:pPr marL="0" lvl="1" indent="0">
              <a:buNone/>
            </a:pPr>
            <a:r>
              <a:rPr lang="en-US" altLang="zh-CN" dirty="0" smtClean="0"/>
              <a:t>Validation </a:t>
            </a:r>
            <a:r>
              <a:rPr lang="en-US" altLang="zh-CN" dirty="0"/>
              <a:t>tool for any possible process risk</a:t>
            </a:r>
            <a:endParaRPr lang="en-US" dirty="0"/>
          </a:p>
        </p:txBody>
      </p:sp>
    </p:spTree>
    <p:extLst>
      <p:ext uri="{BB962C8B-B14F-4D97-AF65-F5344CB8AC3E}">
        <p14:creationId xmlns:p14="http://schemas.microsoft.com/office/powerpoint/2010/main" val="9575834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7</a:t>
            </a:fld>
            <a:endParaRPr lang="en-US" dirty="0"/>
          </a:p>
        </p:txBody>
      </p:sp>
      <p:sp>
        <p:nvSpPr>
          <p:cNvPr id="3" name="Title 2"/>
          <p:cNvSpPr>
            <a:spLocks noGrp="1"/>
          </p:cNvSpPr>
          <p:nvPr>
            <p:ph type="title"/>
          </p:nvPr>
        </p:nvSpPr>
        <p:spPr>
          <a:xfrm>
            <a:off x="454025" y="-32750"/>
            <a:ext cx="8229600" cy="411327"/>
          </a:xfrm>
        </p:spPr>
        <p:txBody>
          <a:bodyPr/>
          <a:lstStyle/>
          <a:p>
            <a:r>
              <a:rPr lang="en-US" dirty="0" smtClean="0"/>
              <a:t>Compal KS X-Ray Process Characterization Results</a:t>
            </a:r>
            <a:endParaRPr lang="en-US" dirty="0"/>
          </a:p>
        </p:txBody>
      </p:sp>
      <p:graphicFrame>
        <p:nvGraphicFramePr>
          <p:cNvPr id="6" name="Content Placeholder 5"/>
          <p:cNvGraphicFramePr>
            <a:graphicFrameLocks noGrp="1"/>
          </p:cNvGraphicFramePr>
          <p:nvPr>
            <p:ph sz="quarter" idx="13"/>
            <p:extLst>
              <p:ext uri="{D42A27DB-BD31-4B8C-83A1-F6EECF244321}">
                <p14:modId xmlns:p14="http://schemas.microsoft.com/office/powerpoint/2010/main" val="1289150646"/>
              </p:ext>
            </p:extLst>
          </p:nvPr>
        </p:nvGraphicFramePr>
        <p:xfrm>
          <a:off x="122308" y="2725820"/>
          <a:ext cx="8941884" cy="1995900"/>
        </p:xfrm>
        <a:graphic>
          <a:graphicData uri="http://schemas.openxmlformats.org/drawingml/2006/table">
            <a:tbl>
              <a:tblPr/>
              <a:tblGrid>
                <a:gridCol w="835797"/>
                <a:gridCol w="583052"/>
                <a:gridCol w="924691"/>
                <a:gridCol w="901159"/>
                <a:gridCol w="1315136"/>
                <a:gridCol w="597869"/>
                <a:gridCol w="597869"/>
                <a:gridCol w="867171"/>
                <a:gridCol w="597869"/>
                <a:gridCol w="597869"/>
                <a:gridCol w="597869"/>
                <a:gridCol w="525533"/>
              </a:tblGrid>
              <a:tr h="359972">
                <a:tc>
                  <a:txBody>
                    <a:bodyPr/>
                    <a:lstStyle/>
                    <a:p>
                      <a:pPr marL="0" marR="0" algn="ctr" fontAlgn="t">
                        <a:spcBef>
                          <a:spcPts val="0"/>
                        </a:spcBef>
                        <a:spcAft>
                          <a:spcPts val="0"/>
                        </a:spcAft>
                      </a:pPr>
                      <a:r>
                        <a:rPr lang="en-US" sz="800" b="1">
                          <a:solidFill>
                            <a:srgbClr val="000000"/>
                          </a:solidFill>
                          <a:effectLst/>
                          <a:latin typeface="+mn-lt"/>
                        </a:rPr>
                        <a:t>Date</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Run #</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Tool</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PCB Design</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Inspection State</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Filter</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Exposure Time (min)</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Power Level</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Dosimeter Accuracy</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Measured Value (mGy)</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Measured Value (Rd)</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c>
                  <a:txBody>
                    <a:bodyPr/>
                    <a:lstStyle/>
                    <a:p>
                      <a:pPr marL="0" marR="0" algn="ctr" fontAlgn="t">
                        <a:spcBef>
                          <a:spcPts val="0"/>
                        </a:spcBef>
                        <a:spcAft>
                          <a:spcPts val="0"/>
                        </a:spcAft>
                      </a:pPr>
                      <a:r>
                        <a:rPr lang="en-US" sz="800" b="1">
                          <a:solidFill>
                            <a:srgbClr val="000000"/>
                          </a:solidFill>
                          <a:effectLst/>
                          <a:latin typeface="+mn-lt"/>
                        </a:rPr>
                        <a:t>X-Ray Limit, Pass / Fail</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F00"/>
                    </a:solidFill>
                  </a:tcPr>
                </a:tc>
              </a:tr>
              <a:tr h="188529">
                <a:tc>
                  <a:txBody>
                    <a:bodyPr/>
                    <a:lstStyle/>
                    <a:p>
                      <a:pPr marL="0" marR="0" algn="ctr" fontAlgn="t">
                        <a:spcBef>
                          <a:spcPts val="0"/>
                        </a:spcBef>
                        <a:spcAft>
                          <a:spcPts val="0"/>
                        </a:spcAft>
                      </a:pPr>
                      <a:r>
                        <a:rPr lang="en-US" sz="800">
                          <a:solidFill>
                            <a:srgbClr val="000000"/>
                          </a:solidFill>
                          <a:effectLst/>
                          <a:latin typeface="+mn-lt"/>
                        </a:rPr>
                        <a:t>7-Mar-18</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Dage XD6500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La Ferrari</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Manual</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No Filter / No Fixture</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100KV/2.1W</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±5.5%</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42.47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effectLst/>
                          <a:latin typeface="+mn-lt"/>
                        </a:rPr>
                        <a:t>4.25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b="1">
                          <a:solidFill>
                            <a:srgbClr val="000000"/>
                          </a:solidFill>
                          <a:effectLst/>
                          <a:latin typeface="+mn-lt"/>
                        </a:rPr>
                        <a:t>Pass</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r>
              <a:tr h="274250">
                <a:tc>
                  <a:txBody>
                    <a:bodyPr/>
                    <a:lstStyle/>
                    <a:p>
                      <a:pPr marL="0" marR="0" algn="ctr" fontAlgn="t">
                        <a:spcBef>
                          <a:spcPts val="0"/>
                        </a:spcBef>
                        <a:spcAft>
                          <a:spcPts val="0"/>
                        </a:spcAft>
                      </a:pPr>
                      <a:r>
                        <a:rPr lang="en-US" sz="800">
                          <a:solidFill>
                            <a:srgbClr val="000000"/>
                          </a:solidFill>
                          <a:effectLst/>
                          <a:latin typeface="+mn-lt"/>
                        </a:rPr>
                        <a:t>7-Mar-18</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2</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Dage XD6500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La Ferrari</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Manual</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Compal Fixture (w Filter)</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100KV/2.1W</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±5.5%</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3.79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effectLst/>
                          <a:latin typeface="+mn-lt"/>
                        </a:rPr>
                        <a:t>0.38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b="1">
                          <a:solidFill>
                            <a:srgbClr val="000000"/>
                          </a:solidFill>
                          <a:effectLst/>
                          <a:latin typeface="+mn-lt"/>
                        </a:rPr>
                        <a:t>Pass</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r>
              <a:tr h="188529">
                <a:tc>
                  <a:txBody>
                    <a:bodyPr/>
                    <a:lstStyle/>
                    <a:p>
                      <a:pPr marL="0" marR="0" algn="ctr" fontAlgn="t">
                        <a:spcBef>
                          <a:spcPts val="0"/>
                        </a:spcBef>
                        <a:spcAft>
                          <a:spcPts val="0"/>
                        </a:spcAft>
                      </a:pPr>
                      <a:r>
                        <a:rPr lang="en-US" sz="800">
                          <a:solidFill>
                            <a:srgbClr val="000000"/>
                          </a:solidFill>
                          <a:effectLst/>
                          <a:latin typeface="+mn-lt"/>
                        </a:rPr>
                        <a:t>7-Mar-18</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3</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Dage XD6500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La Ferrari</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Manual</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On unit Filter</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100KV/2.1W</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±5.5%</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7.49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effectLst/>
                          <a:latin typeface="+mn-lt"/>
                        </a:rPr>
                        <a:t>0.75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b="1">
                          <a:solidFill>
                            <a:srgbClr val="000000"/>
                          </a:solidFill>
                          <a:effectLst/>
                          <a:latin typeface="+mn-lt"/>
                        </a:rPr>
                        <a:t>Pass</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r>
              <a:tr h="274250">
                <a:tc>
                  <a:txBody>
                    <a:bodyPr/>
                    <a:lstStyle/>
                    <a:p>
                      <a:pPr marL="0" marR="0" algn="ctr" fontAlgn="t">
                        <a:spcBef>
                          <a:spcPts val="0"/>
                        </a:spcBef>
                        <a:spcAft>
                          <a:spcPts val="0"/>
                        </a:spcAft>
                      </a:pPr>
                      <a:r>
                        <a:rPr lang="en-US" sz="800">
                          <a:solidFill>
                            <a:srgbClr val="000000"/>
                          </a:solidFill>
                          <a:effectLst/>
                          <a:latin typeface="+mn-lt"/>
                        </a:rPr>
                        <a:t>7-Mar-18</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4</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Dage XD6500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La Ferrari</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Manual dynamic, simulate normal production</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Compal Fixture (w Filter)</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7'03"</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100KV/2.1W</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±5.5%</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6.93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effectLst/>
                          <a:latin typeface="+mn-lt"/>
                        </a:rPr>
                        <a:t>0.69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b="1">
                          <a:solidFill>
                            <a:srgbClr val="000000"/>
                          </a:solidFill>
                          <a:effectLst/>
                          <a:latin typeface="+mn-lt"/>
                        </a:rPr>
                        <a:t>Pass</a:t>
                      </a:r>
                      <a:endParaRPr lang="en-US" sz="80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r>
              <a:tr h="274250">
                <a:tc>
                  <a:txBody>
                    <a:bodyPr/>
                    <a:lstStyle/>
                    <a:p>
                      <a:pPr marL="0" marR="0" algn="ctr" fontAlgn="t">
                        <a:spcBef>
                          <a:spcPts val="0"/>
                        </a:spcBef>
                        <a:spcAft>
                          <a:spcPts val="0"/>
                        </a:spcAft>
                      </a:pPr>
                      <a:r>
                        <a:rPr lang="en-US" sz="800">
                          <a:solidFill>
                            <a:srgbClr val="000000"/>
                          </a:solidFill>
                          <a:effectLst/>
                          <a:latin typeface="+mn-lt"/>
                        </a:rPr>
                        <a:t>7-Mar-18</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5</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Dage XD6500</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La Ferrari</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Manual dynamic, simulate normal production</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On unit Filter</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6'48"</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100KV/2.1W</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±5.5%</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solidFill>
                            <a:srgbClr val="000000"/>
                          </a:solidFill>
                          <a:effectLst/>
                          <a:latin typeface="+mn-lt"/>
                        </a:rPr>
                        <a:t>16.74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a:effectLst/>
                          <a:latin typeface="+mn-lt"/>
                        </a:rPr>
                        <a:t>1.67 </a:t>
                      </a: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c>
                  <a:txBody>
                    <a:bodyPr/>
                    <a:lstStyle/>
                    <a:p>
                      <a:pPr marL="0" marR="0" algn="ctr" fontAlgn="t">
                        <a:spcBef>
                          <a:spcPts val="0"/>
                        </a:spcBef>
                        <a:spcAft>
                          <a:spcPts val="0"/>
                        </a:spcAft>
                      </a:pPr>
                      <a:r>
                        <a:rPr lang="en-US" sz="800" b="1" dirty="0">
                          <a:solidFill>
                            <a:srgbClr val="000000"/>
                          </a:solidFill>
                          <a:effectLst/>
                          <a:latin typeface="+mn-lt"/>
                        </a:rPr>
                        <a:t>Pass</a:t>
                      </a:r>
                      <a:endParaRPr lang="en-US" sz="800" dirty="0">
                        <a:solidFill>
                          <a:srgbClr val="000000"/>
                        </a:solidFill>
                        <a:effectLst/>
                        <a:latin typeface="+mn-lt"/>
                      </a:endParaRPr>
                    </a:p>
                  </a:txBody>
                  <a:tcPr marL="13669" marR="13669" marT="13669" marB="1366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DEBF7"/>
                    </a:solidFill>
                  </a:tcPr>
                </a:tc>
              </a:tr>
            </a:tbl>
          </a:graphicData>
        </a:graphic>
      </p:graphicFrame>
      <p:sp>
        <p:nvSpPr>
          <p:cNvPr id="7" name="Rectangle 6"/>
          <p:cNvSpPr/>
          <p:nvPr/>
        </p:nvSpPr>
        <p:spPr>
          <a:xfrm>
            <a:off x="267913" y="264020"/>
            <a:ext cx="8738039" cy="2523768"/>
          </a:xfrm>
          <a:prstGeom prst="rect">
            <a:avLst/>
          </a:prstGeom>
        </p:spPr>
        <p:txBody>
          <a:bodyPr wrap="square">
            <a:spAutoFit/>
          </a:bodyPr>
          <a:lstStyle/>
          <a:p>
            <a:pPr marL="342900" fontAlgn="ctr">
              <a:buFont typeface="Arial" panose="020B0604020202020204" pitchFamily="34" charset="0"/>
              <a:buChar char="•"/>
            </a:pPr>
            <a:r>
              <a:rPr lang="en-US" sz="1100" dirty="0">
                <a:solidFill>
                  <a:srgbClr val="000000"/>
                </a:solidFill>
                <a:latin typeface="Calibri" panose="020F0502020204030204" pitchFamily="34" charset="0"/>
              </a:rPr>
              <a:t>Harry worked with Compal KS to characterize their X-Ray process </a:t>
            </a:r>
            <a:r>
              <a:rPr lang="en-US" sz="1100" dirty="0" smtClean="0">
                <a:solidFill>
                  <a:srgbClr val="000000"/>
                </a:solidFill>
                <a:latin typeface="Calibri" panose="020F0502020204030204" pitchFamily="34" charset="0"/>
              </a:rPr>
              <a:t>on KBL G42 with </a:t>
            </a:r>
            <a:r>
              <a:rPr lang="en-US" sz="1100" dirty="0">
                <a:solidFill>
                  <a:srgbClr val="000000"/>
                </a:solidFill>
                <a:latin typeface="Calibri" panose="020F0502020204030204" pitchFamily="34" charset="0"/>
              </a:rPr>
              <a:t>a DOE &amp; Dosimeters. </a:t>
            </a:r>
            <a:r>
              <a:rPr lang="en-US" sz="1100" dirty="0" smtClean="0">
                <a:solidFill>
                  <a:srgbClr val="000000"/>
                </a:solidFill>
                <a:latin typeface="Calibri" panose="020F0502020204030204" pitchFamily="34" charset="0"/>
              </a:rPr>
              <a:t>See </a:t>
            </a:r>
            <a:r>
              <a:rPr lang="en-US" sz="1100" dirty="0">
                <a:solidFill>
                  <a:srgbClr val="000000"/>
                </a:solidFill>
                <a:latin typeface="Calibri" panose="020F0502020204030204" pitchFamily="34" charset="0"/>
              </a:rPr>
              <a:t>the table below for the details.</a:t>
            </a:r>
          </a:p>
          <a:p>
            <a:pPr marL="342900" fontAlgn="ctr">
              <a:buFont typeface="Arial" panose="020B0604020202020204" pitchFamily="34" charset="0"/>
              <a:buChar char="•"/>
            </a:pPr>
            <a:r>
              <a:rPr lang="en-US" sz="1050" dirty="0">
                <a:solidFill>
                  <a:srgbClr val="000000"/>
                </a:solidFill>
                <a:latin typeface="Calibri" panose="020F0502020204030204" pitchFamily="34" charset="0"/>
              </a:rPr>
              <a:t>In Summary, All the legs passed the &lt;12 Rad </a:t>
            </a:r>
            <a:r>
              <a:rPr lang="en-US" sz="1050" dirty="0" smtClean="0">
                <a:solidFill>
                  <a:srgbClr val="000000"/>
                </a:solidFill>
                <a:latin typeface="Calibri" panose="020F0502020204030204" pitchFamily="34" charset="0"/>
              </a:rPr>
              <a:t>criteria</a:t>
            </a:r>
            <a:endParaRPr lang="en-US" sz="1100" dirty="0">
              <a:solidFill>
                <a:srgbClr val="000000"/>
              </a:solidFill>
              <a:latin typeface="Calibri" panose="020F0502020204030204" pitchFamily="34" charset="0"/>
            </a:endParaRPr>
          </a:p>
          <a:p>
            <a:pPr marL="342900" fontAlgn="ctr">
              <a:buFont typeface="+mj-lt"/>
              <a:buAutoNum type="arabicPeriod"/>
            </a:pPr>
            <a:r>
              <a:rPr lang="en-US" sz="1050" dirty="0">
                <a:solidFill>
                  <a:srgbClr val="000000"/>
                </a:solidFill>
                <a:latin typeface="Calibri" panose="020F0502020204030204" pitchFamily="34" charset="0"/>
              </a:rPr>
              <a:t>Compal X-ray machine is Dage XD6500, a relative older machine compare to Intel's Dage XD 7500</a:t>
            </a:r>
            <a:endParaRPr lang="en-US" sz="1100" dirty="0">
              <a:solidFill>
                <a:srgbClr val="000000"/>
              </a:solidFill>
              <a:latin typeface="Calibri" panose="020F0502020204030204" pitchFamily="34" charset="0"/>
            </a:endParaRPr>
          </a:p>
          <a:p>
            <a:pPr marL="342900" fontAlgn="ctr">
              <a:buFont typeface="+mj-lt"/>
              <a:buAutoNum type="arabicPeriod"/>
            </a:pPr>
            <a:r>
              <a:rPr lang="en-US" sz="1050" dirty="0">
                <a:solidFill>
                  <a:srgbClr val="000000"/>
                </a:solidFill>
                <a:latin typeface="Calibri" panose="020F0502020204030204" pitchFamily="34" charset="0"/>
              </a:rPr>
              <a:t>Compal's normal voltage setting is 100KV, and the machine maxim power setting is 2.1W</a:t>
            </a:r>
            <a:endParaRPr lang="en-US" sz="1100" dirty="0">
              <a:solidFill>
                <a:srgbClr val="000000"/>
              </a:solidFill>
              <a:latin typeface="Calibri" panose="020F0502020204030204" pitchFamily="34" charset="0"/>
            </a:endParaRPr>
          </a:p>
          <a:p>
            <a:pPr marL="342900" fontAlgn="ctr">
              <a:buFont typeface="+mj-lt"/>
              <a:buAutoNum type="arabicPeriod"/>
            </a:pPr>
            <a:r>
              <a:rPr lang="en-US" sz="1050" dirty="0">
                <a:solidFill>
                  <a:srgbClr val="000000"/>
                </a:solidFill>
                <a:latin typeface="Calibri" panose="020F0502020204030204" pitchFamily="34" charset="0"/>
              </a:rPr>
              <a:t>Compal build a fixture with a 2 cm (20,000um) copper filter under HBM die to protect the HBM.</a:t>
            </a:r>
            <a:endParaRPr lang="en-US" sz="1100" dirty="0">
              <a:solidFill>
                <a:srgbClr val="000000"/>
              </a:solidFill>
              <a:latin typeface="Calibri" panose="020F0502020204030204" pitchFamily="34" charset="0"/>
            </a:endParaRPr>
          </a:p>
          <a:p>
            <a:pPr marL="342900" fontAlgn="ctr">
              <a:buFont typeface="+mj-lt"/>
              <a:buAutoNum type="arabicPeriod"/>
            </a:pPr>
            <a:r>
              <a:rPr lang="en-US" sz="1050" dirty="0">
                <a:solidFill>
                  <a:srgbClr val="000000"/>
                </a:solidFill>
                <a:latin typeface="Calibri" panose="020F0502020204030204" pitchFamily="34" charset="0"/>
              </a:rPr>
              <a:t>There are total 5 DOE legs:</a:t>
            </a:r>
            <a:endParaRPr lang="en-US" sz="1100" dirty="0">
              <a:solidFill>
                <a:srgbClr val="000000"/>
              </a:solidFill>
              <a:latin typeface="Calibri" panose="020F0502020204030204" pitchFamily="34" charset="0"/>
            </a:endParaRPr>
          </a:p>
          <a:p>
            <a:pPr marL="742950" lvl="1" indent="-285750" fontAlgn="ctr">
              <a:buFont typeface="+mj-lt"/>
              <a:buAutoNum type="alphaLcPeriod"/>
            </a:pPr>
            <a:r>
              <a:rPr lang="en-US" sz="1050" dirty="0">
                <a:solidFill>
                  <a:srgbClr val="000000"/>
                </a:solidFill>
                <a:latin typeface="Calibri" panose="020F0502020204030204" pitchFamily="34" charset="0"/>
              </a:rPr>
              <a:t>Leg1: No filter/No fixture, focus on HBM die for 10min. For the FOV and Pixel resolution, Compal didn’t find the setting on their machine, so we just take picture to show how many balls we can see on the monitor</a:t>
            </a:r>
            <a:endParaRPr lang="en-US" sz="1100" dirty="0">
              <a:solidFill>
                <a:srgbClr val="000000"/>
              </a:solidFill>
              <a:latin typeface="Calibri" panose="020F0502020204030204" pitchFamily="34" charset="0"/>
            </a:endParaRPr>
          </a:p>
          <a:p>
            <a:pPr marL="742950" lvl="1" indent="-285750" fontAlgn="ctr">
              <a:buFont typeface="+mj-lt"/>
              <a:buAutoNum type="alphaLcPeriod"/>
            </a:pPr>
            <a:r>
              <a:rPr lang="en-US" sz="1050" dirty="0">
                <a:solidFill>
                  <a:srgbClr val="000000"/>
                </a:solidFill>
                <a:latin typeface="Calibri" panose="020F0502020204030204" pitchFamily="34" charset="0"/>
              </a:rPr>
              <a:t>Leg2: Use Compal fixture, focus on HBM die for 10min</a:t>
            </a:r>
            <a:endParaRPr lang="en-US" sz="1100" dirty="0">
              <a:solidFill>
                <a:srgbClr val="000000"/>
              </a:solidFill>
              <a:latin typeface="Calibri" panose="020F0502020204030204" pitchFamily="34" charset="0"/>
            </a:endParaRPr>
          </a:p>
          <a:p>
            <a:pPr marL="742950" lvl="1" indent="-285750" fontAlgn="ctr">
              <a:buFont typeface="+mj-lt"/>
              <a:buAutoNum type="alphaLcPeriod"/>
            </a:pPr>
            <a:r>
              <a:rPr lang="en-US" sz="1050" dirty="0">
                <a:solidFill>
                  <a:srgbClr val="000000"/>
                </a:solidFill>
                <a:latin typeface="Calibri" panose="020F0502020204030204" pitchFamily="34" charset="0"/>
              </a:rPr>
              <a:t>Leg3: Use x-ray filter, focus on HBM die for 10min</a:t>
            </a:r>
            <a:endParaRPr lang="en-US" sz="1100" dirty="0">
              <a:solidFill>
                <a:srgbClr val="000000"/>
              </a:solidFill>
              <a:latin typeface="Calibri" panose="020F0502020204030204" pitchFamily="34" charset="0"/>
            </a:endParaRPr>
          </a:p>
          <a:p>
            <a:pPr marL="742950" lvl="1" indent="-285750" fontAlgn="ctr">
              <a:buFont typeface="+mj-lt"/>
              <a:buAutoNum type="alphaLcPeriod"/>
            </a:pPr>
            <a:r>
              <a:rPr lang="en-US" sz="1050" dirty="0">
                <a:solidFill>
                  <a:srgbClr val="000000"/>
                </a:solidFill>
                <a:latin typeface="Calibri" panose="020F0502020204030204" pitchFamily="34" charset="0"/>
              </a:rPr>
              <a:t>Leg4: Use Compal fixture, simulate the normal product inspect (Zoom in/Zoom out, move around to inspect all the BGAs, tilt to inspect solder ball opens etc). Total used 7’03”.</a:t>
            </a:r>
            <a:endParaRPr lang="en-US" sz="1100" dirty="0">
              <a:solidFill>
                <a:srgbClr val="000000"/>
              </a:solidFill>
              <a:latin typeface="Calibri" panose="020F0502020204030204" pitchFamily="34" charset="0"/>
            </a:endParaRPr>
          </a:p>
          <a:p>
            <a:pPr marL="742950" lvl="1" indent="-285750" fontAlgn="ctr">
              <a:buFont typeface="+mj-lt"/>
              <a:buAutoNum type="alphaLcPeriod"/>
            </a:pPr>
            <a:r>
              <a:rPr lang="en-US" sz="1050" dirty="0">
                <a:solidFill>
                  <a:srgbClr val="000000"/>
                </a:solidFill>
                <a:latin typeface="Calibri" panose="020F0502020204030204" pitchFamily="34" charset="0"/>
              </a:rPr>
              <a:t>Leg5: Use x-ray filter, simulate the normal product inspect. Total used 6’48”.</a:t>
            </a:r>
            <a:endParaRPr lang="en-US" sz="1100" dirty="0">
              <a:solidFill>
                <a:srgbClr val="000000"/>
              </a:solidFill>
              <a:latin typeface="Calibri" panose="020F0502020204030204" pitchFamily="34" charset="0"/>
            </a:endParaRPr>
          </a:p>
          <a:p>
            <a:pPr marL="342900" fontAlgn="ctr">
              <a:buFont typeface="+mj-lt"/>
              <a:buAutoNum type="arabicPeriod" startAt="5"/>
            </a:pPr>
            <a:r>
              <a:rPr lang="en-US" sz="1050" dirty="0">
                <a:solidFill>
                  <a:srgbClr val="000000"/>
                </a:solidFill>
                <a:latin typeface="Calibri" panose="020F0502020204030204" pitchFamily="34" charset="0"/>
              </a:rPr>
              <a:t> For leg 4 and leg5, although the time is shorter than leg 2 and Leg3, the number is higher than leg 2 and 3. Hypothesis the reason is that Compal is zooming in more often, to inspect the details up close.</a:t>
            </a:r>
            <a:endParaRPr lang="en-US" sz="1050" b="0" i="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1880572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8</a:t>
            </a:fld>
            <a:endParaRPr lang="en-US" dirty="0"/>
          </a:p>
        </p:txBody>
      </p:sp>
      <p:sp>
        <p:nvSpPr>
          <p:cNvPr id="3" name="Title 2"/>
          <p:cNvSpPr>
            <a:spLocks noGrp="1"/>
          </p:cNvSpPr>
          <p:nvPr>
            <p:ph type="title"/>
          </p:nvPr>
        </p:nvSpPr>
        <p:spPr>
          <a:xfrm>
            <a:off x="454025" y="-32750"/>
            <a:ext cx="8229600" cy="411327"/>
          </a:xfrm>
        </p:spPr>
        <p:txBody>
          <a:bodyPr/>
          <a:lstStyle/>
          <a:p>
            <a:r>
              <a:rPr lang="en-US" dirty="0" smtClean="0"/>
              <a:t>Intel NUC X-Ray </a:t>
            </a:r>
            <a:r>
              <a:rPr lang="en-US" dirty="0" smtClean="0"/>
              <a:t>Process Characterization Results</a:t>
            </a:r>
            <a:endParaRPr lang="en-US" dirty="0"/>
          </a:p>
        </p:txBody>
      </p:sp>
      <p:sp>
        <p:nvSpPr>
          <p:cNvPr id="7" name="Rectangle 6"/>
          <p:cNvSpPr/>
          <p:nvPr/>
        </p:nvSpPr>
        <p:spPr>
          <a:xfrm>
            <a:off x="-23297" y="601823"/>
            <a:ext cx="8738039" cy="423193"/>
          </a:xfrm>
          <a:prstGeom prst="rect">
            <a:avLst/>
          </a:prstGeom>
        </p:spPr>
        <p:txBody>
          <a:bodyPr wrap="square">
            <a:spAutoFit/>
          </a:bodyPr>
          <a:lstStyle/>
          <a:p>
            <a:pPr marL="342900" fontAlgn="ctr">
              <a:buFont typeface="Arial" panose="020B0604020202020204" pitchFamily="34" charset="0"/>
              <a:buChar char="•"/>
            </a:pPr>
            <a:r>
              <a:rPr lang="en-US" sz="1100" dirty="0">
                <a:solidFill>
                  <a:srgbClr val="000000"/>
                </a:solidFill>
                <a:latin typeface="Calibri" panose="020F0502020204030204" pitchFamily="34" charset="0"/>
              </a:rPr>
              <a:t>Harry worked with </a:t>
            </a:r>
            <a:r>
              <a:rPr lang="en-US" sz="1100" dirty="0" smtClean="0">
                <a:solidFill>
                  <a:srgbClr val="000000"/>
                </a:solidFill>
                <a:latin typeface="Calibri" panose="020F0502020204030204" pitchFamily="34" charset="0"/>
              </a:rPr>
              <a:t>Intel NUC </a:t>
            </a:r>
            <a:r>
              <a:rPr lang="en-US" sz="1100" dirty="0">
                <a:solidFill>
                  <a:srgbClr val="000000"/>
                </a:solidFill>
                <a:latin typeface="Calibri" panose="020F0502020204030204" pitchFamily="34" charset="0"/>
              </a:rPr>
              <a:t>to characterize their X-Ray </a:t>
            </a:r>
            <a:r>
              <a:rPr lang="en-US" sz="1100" dirty="0" smtClean="0">
                <a:solidFill>
                  <a:srgbClr val="000000"/>
                </a:solidFill>
                <a:latin typeface="Calibri" panose="020F0502020204030204" pitchFamily="34" charset="0"/>
              </a:rPr>
              <a:t>process on KBL G42 </a:t>
            </a:r>
            <a:r>
              <a:rPr lang="en-US" sz="1100" dirty="0">
                <a:solidFill>
                  <a:srgbClr val="000000"/>
                </a:solidFill>
                <a:latin typeface="Calibri" panose="020F0502020204030204" pitchFamily="34" charset="0"/>
              </a:rPr>
              <a:t>with a DOE &amp; Dosimeters. </a:t>
            </a:r>
            <a:r>
              <a:rPr lang="en-US" sz="1100" dirty="0" smtClean="0">
                <a:solidFill>
                  <a:srgbClr val="000000"/>
                </a:solidFill>
                <a:latin typeface="Calibri" panose="020F0502020204030204" pitchFamily="34" charset="0"/>
              </a:rPr>
              <a:t>See </a:t>
            </a:r>
            <a:r>
              <a:rPr lang="en-US" sz="1100" dirty="0">
                <a:solidFill>
                  <a:srgbClr val="000000"/>
                </a:solidFill>
                <a:latin typeface="Calibri" panose="020F0502020204030204" pitchFamily="34" charset="0"/>
              </a:rPr>
              <a:t>the table below for the details.</a:t>
            </a:r>
          </a:p>
          <a:p>
            <a:pPr marL="342900" fontAlgn="ctr">
              <a:buFont typeface="Arial" panose="020B0604020202020204" pitchFamily="34" charset="0"/>
              <a:buChar char="•"/>
            </a:pPr>
            <a:r>
              <a:rPr lang="en-US" sz="1050" dirty="0">
                <a:solidFill>
                  <a:srgbClr val="000000"/>
                </a:solidFill>
                <a:latin typeface="Calibri" panose="020F0502020204030204" pitchFamily="34" charset="0"/>
              </a:rPr>
              <a:t>In Summary, All the legs passed </a:t>
            </a:r>
            <a:r>
              <a:rPr lang="en-US" sz="1050" dirty="0" smtClean="0">
                <a:solidFill>
                  <a:srgbClr val="000000"/>
                </a:solidFill>
                <a:latin typeface="Calibri" panose="020F0502020204030204" pitchFamily="34" charset="0"/>
              </a:rPr>
              <a:t>the threshold</a:t>
            </a:r>
            <a:endParaRPr lang="en-US" sz="1100" dirty="0">
              <a:solidFill>
                <a:srgbClr val="000000"/>
              </a:solidFill>
              <a:latin typeface="Calibri" panose="020F0502020204030204" pitchFamily="34" charset="0"/>
            </a:endParaRPr>
          </a:p>
        </p:txBody>
      </p:sp>
      <p:pic>
        <p:nvPicPr>
          <p:cNvPr id="10" name="Picture 9"/>
          <p:cNvPicPr>
            <a:picLocks noChangeAspect="1"/>
          </p:cNvPicPr>
          <p:nvPr/>
        </p:nvPicPr>
        <p:blipFill>
          <a:blip r:embed="rId3"/>
          <a:stretch>
            <a:fillRect/>
          </a:stretch>
        </p:blipFill>
        <p:spPr>
          <a:xfrm>
            <a:off x="0" y="1453015"/>
            <a:ext cx="9144000" cy="2237470"/>
          </a:xfrm>
          <a:prstGeom prst="rect">
            <a:avLst/>
          </a:prstGeom>
        </p:spPr>
      </p:pic>
    </p:spTree>
    <p:extLst>
      <p:ext uri="{BB962C8B-B14F-4D97-AF65-F5344CB8AC3E}">
        <p14:creationId xmlns:p14="http://schemas.microsoft.com/office/powerpoint/2010/main" val="359484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9</a:t>
            </a:fld>
            <a:endParaRPr lang="en-US" dirty="0"/>
          </a:p>
        </p:txBody>
      </p:sp>
      <p:sp>
        <p:nvSpPr>
          <p:cNvPr id="3" name="Title 2"/>
          <p:cNvSpPr>
            <a:spLocks noGrp="1"/>
          </p:cNvSpPr>
          <p:nvPr>
            <p:ph type="title"/>
          </p:nvPr>
        </p:nvSpPr>
        <p:spPr>
          <a:xfrm>
            <a:off x="454025" y="-32750"/>
            <a:ext cx="8229600" cy="411327"/>
          </a:xfrm>
        </p:spPr>
        <p:txBody>
          <a:bodyPr/>
          <a:lstStyle/>
          <a:p>
            <a:r>
              <a:rPr lang="en-US" dirty="0" smtClean="0"/>
              <a:t>Quanta CQ X-Ray </a:t>
            </a:r>
            <a:r>
              <a:rPr lang="en-US" dirty="0" smtClean="0"/>
              <a:t>Process Characterization Results</a:t>
            </a:r>
            <a:endParaRPr lang="en-US" dirty="0"/>
          </a:p>
        </p:txBody>
      </p:sp>
      <p:sp>
        <p:nvSpPr>
          <p:cNvPr id="7" name="Rectangle 6"/>
          <p:cNvSpPr/>
          <p:nvPr/>
        </p:nvSpPr>
        <p:spPr>
          <a:xfrm>
            <a:off x="-23297" y="601823"/>
            <a:ext cx="8738039" cy="1785104"/>
          </a:xfrm>
          <a:prstGeom prst="rect">
            <a:avLst/>
          </a:prstGeom>
        </p:spPr>
        <p:txBody>
          <a:bodyPr wrap="square">
            <a:spAutoFit/>
          </a:bodyPr>
          <a:lstStyle/>
          <a:p>
            <a:pPr marL="342900" fontAlgn="ctr">
              <a:buFont typeface="Arial" panose="020B0604020202020204" pitchFamily="34" charset="0"/>
              <a:buChar char="•"/>
            </a:pPr>
            <a:r>
              <a:rPr lang="en-US" sz="1100" dirty="0">
                <a:solidFill>
                  <a:srgbClr val="000000"/>
                </a:solidFill>
                <a:latin typeface="Calibri" panose="020F0502020204030204" pitchFamily="34" charset="0"/>
              </a:rPr>
              <a:t>Harry worked with </a:t>
            </a:r>
            <a:r>
              <a:rPr lang="en-US" sz="1100" dirty="0" smtClean="0">
                <a:solidFill>
                  <a:srgbClr val="000000"/>
                </a:solidFill>
                <a:latin typeface="Calibri" panose="020F0502020204030204" pitchFamily="34" charset="0"/>
              </a:rPr>
              <a:t>Quanta CQ </a:t>
            </a:r>
            <a:r>
              <a:rPr lang="en-US" sz="1100" dirty="0">
                <a:solidFill>
                  <a:srgbClr val="000000"/>
                </a:solidFill>
                <a:latin typeface="Calibri" panose="020F0502020204030204" pitchFamily="34" charset="0"/>
              </a:rPr>
              <a:t>to characterize their X-Ray </a:t>
            </a:r>
            <a:r>
              <a:rPr lang="en-US" sz="1100" dirty="0" smtClean="0">
                <a:solidFill>
                  <a:srgbClr val="000000"/>
                </a:solidFill>
                <a:latin typeface="Calibri" panose="020F0502020204030204" pitchFamily="34" charset="0"/>
              </a:rPr>
              <a:t>process on KBL G42 </a:t>
            </a:r>
            <a:r>
              <a:rPr lang="en-US" sz="1100" dirty="0">
                <a:solidFill>
                  <a:srgbClr val="000000"/>
                </a:solidFill>
                <a:latin typeface="Calibri" panose="020F0502020204030204" pitchFamily="34" charset="0"/>
              </a:rPr>
              <a:t>with a DOE &amp; Dosimeters. </a:t>
            </a:r>
            <a:r>
              <a:rPr lang="en-US" sz="1100" dirty="0" smtClean="0">
                <a:solidFill>
                  <a:srgbClr val="000000"/>
                </a:solidFill>
                <a:latin typeface="Calibri" panose="020F0502020204030204" pitchFamily="34" charset="0"/>
              </a:rPr>
              <a:t>See </a:t>
            </a:r>
            <a:r>
              <a:rPr lang="en-US" sz="1100" dirty="0">
                <a:solidFill>
                  <a:srgbClr val="000000"/>
                </a:solidFill>
                <a:latin typeface="Calibri" panose="020F0502020204030204" pitchFamily="34" charset="0"/>
              </a:rPr>
              <a:t>the table below for the details</a:t>
            </a:r>
            <a:r>
              <a:rPr lang="en-US" sz="1100" dirty="0" smtClean="0">
                <a:solidFill>
                  <a:srgbClr val="000000"/>
                </a:solidFill>
                <a:latin typeface="Calibri" panose="020F0502020204030204" pitchFamily="34" charset="0"/>
              </a:rPr>
              <a:t>.</a:t>
            </a:r>
          </a:p>
          <a:p>
            <a:pPr marL="342900" fontAlgn="ctr">
              <a:buFont typeface="Arial" panose="020B0604020202020204" pitchFamily="34" charset="0"/>
              <a:buChar char="•"/>
            </a:pPr>
            <a:endParaRPr lang="en-US" sz="1100" dirty="0">
              <a:solidFill>
                <a:srgbClr val="000000"/>
              </a:solidFill>
              <a:latin typeface="Calibri" panose="020F0502020204030204" pitchFamily="34" charset="0"/>
            </a:endParaRPr>
          </a:p>
          <a:p>
            <a:pPr marL="342900" fontAlgn="ctr">
              <a:buFont typeface="Arial" panose="020B0604020202020204" pitchFamily="34" charset="0"/>
              <a:buChar char="•"/>
            </a:pPr>
            <a:r>
              <a:rPr lang="en-US" sz="1100" dirty="0">
                <a:solidFill>
                  <a:srgbClr val="000000"/>
                </a:solidFill>
                <a:latin typeface="Calibri" panose="020F0502020204030204" pitchFamily="34" charset="0"/>
              </a:rPr>
              <a:t>Quanta CQ have the same Dage machine in our CPTD. The Leg 1 and Leg 2 have similar data as we got in our CPTD line:</a:t>
            </a:r>
          </a:p>
          <a:p>
            <a:pPr marL="800100" lvl="1" fontAlgn="ctr">
              <a:buFont typeface="Arial" panose="020B0604020202020204" pitchFamily="34" charset="0"/>
              <a:buChar char="•"/>
            </a:pPr>
            <a:r>
              <a:rPr lang="en-US" sz="1100" dirty="0">
                <a:solidFill>
                  <a:srgbClr val="000000"/>
                </a:solidFill>
                <a:latin typeface="Calibri" panose="020F0502020204030204" pitchFamily="34" charset="0"/>
              </a:rPr>
              <a:t>Leg1: 3min without filter, Intel: 3rad, Quanta CQ: 2.71 rad.</a:t>
            </a:r>
          </a:p>
          <a:p>
            <a:pPr marL="800100" lvl="1" fontAlgn="ctr">
              <a:buFont typeface="Arial" panose="020B0604020202020204" pitchFamily="34" charset="0"/>
              <a:buChar char="•"/>
            </a:pPr>
            <a:r>
              <a:rPr lang="en-US" sz="1100" dirty="0">
                <a:solidFill>
                  <a:srgbClr val="000000"/>
                </a:solidFill>
                <a:latin typeface="Calibri" panose="020F0502020204030204" pitchFamily="34" charset="0"/>
              </a:rPr>
              <a:t>Leg2: 5min without filter, Intel: 9rad, Quanta CQ: 8.21 rad</a:t>
            </a:r>
          </a:p>
          <a:p>
            <a:pPr marL="800100" lvl="1" fontAlgn="ctr">
              <a:buFont typeface="Arial" panose="020B0604020202020204" pitchFamily="34" charset="0"/>
              <a:buChar char="•"/>
            </a:pPr>
            <a:r>
              <a:rPr lang="en-US" sz="1100" dirty="0" smtClean="0">
                <a:solidFill>
                  <a:srgbClr val="000000"/>
                </a:solidFill>
                <a:latin typeface="Calibri" panose="020F0502020204030204" pitchFamily="34" charset="0"/>
              </a:rPr>
              <a:t>Leg3</a:t>
            </a:r>
            <a:r>
              <a:rPr lang="en-US" sz="1100" dirty="0">
                <a:solidFill>
                  <a:srgbClr val="000000"/>
                </a:solidFill>
                <a:latin typeface="Calibri" panose="020F0502020204030204" pitchFamily="34" charset="0"/>
              </a:rPr>
              <a:t>: Simulate production scan w/o filter, board zoom in/out and move around to check different component. Quanta used 16’46” finished 1 board scan and the x-ray dosage exceed the threshold</a:t>
            </a:r>
            <a:r>
              <a:rPr lang="en-US" sz="1100" dirty="0" smtClean="0">
                <a:solidFill>
                  <a:srgbClr val="000000"/>
                </a:solidFill>
                <a:latin typeface="Calibri" panose="020F0502020204030204" pitchFamily="34" charset="0"/>
              </a:rPr>
              <a:t>.</a:t>
            </a:r>
            <a:endParaRPr lang="en-US" sz="1100" dirty="0">
              <a:solidFill>
                <a:srgbClr val="000000"/>
              </a:solidFill>
              <a:latin typeface="Calibri" panose="020F0502020204030204" pitchFamily="34" charset="0"/>
            </a:endParaRPr>
          </a:p>
          <a:p>
            <a:pPr marL="800100" lvl="1" fontAlgn="ctr">
              <a:buFont typeface="Arial" panose="020B0604020202020204" pitchFamily="34" charset="0"/>
              <a:buChar char="•"/>
            </a:pPr>
            <a:r>
              <a:rPr lang="en-US" sz="1100" dirty="0">
                <a:solidFill>
                  <a:srgbClr val="000000"/>
                </a:solidFill>
                <a:latin typeface="Calibri" panose="020F0502020204030204" pitchFamily="34" charset="0"/>
              </a:rPr>
              <a:t>Leg4 and 5: By mistake, they put the x-ray filter on top of the memory die (BGA between filter and x-ray source) instead of bottom of the BGA, thus the number is very high. </a:t>
            </a:r>
          </a:p>
          <a:p>
            <a:pPr marL="342900" fontAlgn="ctr">
              <a:buFont typeface="Arial" panose="020B0604020202020204" pitchFamily="34" charset="0"/>
              <a:buChar char="•"/>
            </a:pPr>
            <a:endParaRPr lang="en-US" sz="1100" dirty="0">
              <a:solidFill>
                <a:srgbClr val="000000"/>
              </a:solidFill>
              <a:latin typeface="Calibri" panose="020F0502020204030204" pitchFamily="34" charset="0"/>
            </a:endParaRPr>
          </a:p>
        </p:txBody>
      </p:sp>
      <p:pic>
        <p:nvPicPr>
          <p:cNvPr id="4" name="Picture 3"/>
          <p:cNvPicPr>
            <a:picLocks noChangeAspect="1"/>
          </p:cNvPicPr>
          <p:nvPr/>
        </p:nvPicPr>
        <p:blipFill>
          <a:blip r:embed="rId3"/>
          <a:stretch>
            <a:fillRect/>
          </a:stretch>
        </p:blipFill>
        <p:spPr>
          <a:xfrm>
            <a:off x="0" y="2438207"/>
            <a:ext cx="9144000" cy="1175657"/>
          </a:xfrm>
          <a:prstGeom prst="rect">
            <a:avLst/>
          </a:prstGeom>
        </p:spPr>
      </p:pic>
    </p:spTree>
    <p:extLst>
      <p:ext uri="{BB962C8B-B14F-4D97-AF65-F5344CB8AC3E}">
        <p14:creationId xmlns:p14="http://schemas.microsoft.com/office/powerpoint/2010/main" val="781540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10</a:t>
            </a:fld>
            <a:endParaRPr lang="en-US" dirty="0"/>
          </a:p>
        </p:txBody>
      </p:sp>
      <p:sp>
        <p:nvSpPr>
          <p:cNvPr id="3" name="Title 2"/>
          <p:cNvSpPr>
            <a:spLocks noGrp="1"/>
          </p:cNvSpPr>
          <p:nvPr>
            <p:ph type="title"/>
          </p:nvPr>
        </p:nvSpPr>
        <p:spPr/>
        <p:txBody>
          <a:bodyPr/>
          <a:lstStyle/>
          <a:p>
            <a:r>
              <a:rPr lang="en-US" altLang="zh-CN" dirty="0" smtClean="0"/>
              <a:t>AR update</a:t>
            </a:r>
            <a:endParaRPr lang="zh-CN" altLang="en-US" dirty="0"/>
          </a:p>
        </p:txBody>
      </p:sp>
      <p:sp>
        <p:nvSpPr>
          <p:cNvPr id="4" name="Content Placeholder 3"/>
          <p:cNvSpPr>
            <a:spLocks noGrp="1"/>
          </p:cNvSpPr>
          <p:nvPr>
            <p:ph sz="quarter" idx="13"/>
          </p:nvPr>
        </p:nvSpPr>
        <p:spPr/>
        <p:txBody>
          <a:bodyPr/>
          <a:lstStyle/>
          <a:p>
            <a:pPr lvl="1" fontAlgn="ctr"/>
            <a:r>
              <a:rPr lang="en-US" altLang="zh-CN" dirty="0"/>
              <a:t>Confirm the machine info we already </a:t>
            </a:r>
            <a:r>
              <a:rPr lang="en-US" altLang="zh-CN" dirty="0" smtClean="0"/>
              <a:t>have: </a:t>
            </a:r>
            <a:r>
              <a:rPr lang="en-US" altLang="zh-CN" dirty="0" smtClean="0">
                <a:solidFill>
                  <a:srgbClr val="00B050"/>
                </a:solidFill>
              </a:rPr>
              <a:t>See previous page</a:t>
            </a:r>
          </a:p>
          <a:p>
            <a:pPr lvl="1" fontAlgn="ctr"/>
            <a:r>
              <a:rPr lang="en-US" altLang="zh-CN" dirty="0" smtClean="0"/>
              <a:t>Ask </a:t>
            </a:r>
            <a:r>
              <a:rPr lang="en-US" altLang="zh-CN" dirty="0"/>
              <a:t>for the distance from the x-ray source and </a:t>
            </a:r>
            <a:r>
              <a:rPr lang="en-US" altLang="zh-CN" dirty="0" smtClean="0"/>
              <a:t>object: </a:t>
            </a:r>
            <a:r>
              <a:rPr lang="en-US" altLang="zh-CN" dirty="0" smtClean="0">
                <a:solidFill>
                  <a:srgbClr val="00B050"/>
                </a:solidFill>
              </a:rPr>
              <a:t>See previous page</a:t>
            </a:r>
            <a:endParaRPr lang="zh-CN" altLang="zh-CN" dirty="0">
              <a:solidFill>
                <a:srgbClr val="00B050"/>
              </a:solidFill>
            </a:endParaRPr>
          </a:p>
          <a:p>
            <a:pPr lvl="1" fontAlgn="ctr"/>
            <a:r>
              <a:rPr lang="en-US" altLang="zh-CN" dirty="0"/>
              <a:t>Ask for the min &amp; max typical exposure times under </a:t>
            </a:r>
            <a:r>
              <a:rPr lang="en-US" altLang="zh-CN" dirty="0" smtClean="0"/>
              <a:t>x-ray: </a:t>
            </a:r>
            <a:r>
              <a:rPr lang="en-US" altLang="zh-CN" dirty="0" smtClean="0">
                <a:solidFill>
                  <a:srgbClr val="00B050"/>
                </a:solidFill>
              </a:rPr>
              <a:t>Typically &lt;5min in manual scan</a:t>
            </a:r>
            <a:endParaRPr lang="zh-CN" altLang="zh-CN" dirty="0">
              <a:solidFill>
                <a:srgbClr val="00B050"/>
              </a:solidFill>
            </a:endParaRPr>
          </a:p>
          <a:p>
            <a:pPr lvl="1" fontAlgn="ctr"/>
            <a:r>
              <a:rPr lang="en-US" altLang="zh-CN" dirty="0"/>
              <a:t>Ask for what side of the board is up or down during </a:t>
            </a:r>
            <a:r>
              <a:rPr lang="en-US" altLang="zh-CN" dirty="0" smtClean="0"/>
              <a:t>x-ray: </a:t>
            </a:r>
            <a:r>
              <a:rPr lang="en-US" altLang="zh-CN" dirty="0" smtClean="0">
                <a:solidFill>
                  <a:srgbClr val="00B050"/>
                </a:solidFill>
              </a:rPr>
              <a:t>Typically put BGA side up during manual scan</a:t>
            </a:r>
            <a:endParaRPr lang="zh-CN" altLang="zh-CN" dirty="0">
              <a:solidFill>
                <a:srgbClr val="00B050"/>
              </a:solidFill>
            </a:endParaRPr>
          </a:p>
          <a:p>
            <a:pPr lvl="1" fontAlgn="ctr"/>
            <a:r>
              <a:rPr lang="en-US" altLang="zh-CN" dirty="0"/>
              <a:t>Ask if they run 100% of boards through x-ray or just a sampling?  If sampling, what is the sampling rate</a:t>
            </a:r>
            <a:r>
              <a:rPr lang="en-US" altLang="zh-CN" dirty="0" smtClean="0"/>
              <a:t>? : </a:t>
            </a:r>
            <a:r>
              <a:rPr lang="en-US" altLang="zh-CN" dirty="0" smtClean="0">
                <a:solidFill>
                  <a:srgbClr val="00B050"/>
                </a:solidFill>
              </a:rPr>
              <a:t>Just sampling, Sampling rate various depends on different customer process</a:t>
            </a:r>
            <a:endParaRPr lang="zh-CN" altLang="zh-CN" dirty="0">
              <a:solidFill>
                <a:srgbClr val="00B050"/>
              </a:solidFill>
            </a:endParaRPr>
          </a:p>
          <a:p>
            <a:pPr lvl="1" fontAlgn="ctr"/>
            <a:r>
              <a:rPr lang="en-US" altLang="zh-CN" dirty="0"/>
              <a:t>Ask what tool do they run in </a:t>
            </a:r>
            <a:r>
              <a:rPr lang="en-US" altLang="zh-CN" dirty="0" smtClean="0"/>
              <a:t>HVM: </a:t>
            </a:r>
            <a:r>
              <a:rPr lang="en-US" altLang="zh-CN" dirty="0">
                <a:solidFill>
                  <a:srgbClr val="00B050"/>
                </a:solidFill>
              </a:rPr>
              <a:t>Client customers are using off line x-ray machine to do manual inspection. Server customer will use online AXI check</a:t>
            </a:r>
            <a:endParaRPr lang="zh-CN" altLang="zh-CN" dirty="0">
              <a:solidFill>
                <a:srgbClr val="00B050"/>
              </a:solidFill>
            </a:endParaRPr>
          </a:p>
          <a:p>
            <a:endParaRPr lang="zh-CN" altLang="en-US" dirty="0"/>
          </a:p>
        </p:txBody>
      </p:sp>
    </p:spTree>
    <p:extLst>
      <p:ext uri="{BB962C8B-B14F-4D97-AF65-F5344CB8AC3E}">
        <p14:creationId xmlns:p14="http://schemas.microsoft.com/office/powerpoint/2010/main" val="4129815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152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A06151-3692-47B4-BD5C-B8A6FC42B110}">
  <ds:schemaRefs>
    <ds:schemaRef ds:uri="http://schemas.microsoft.com/sharepoint/v3/contenttype/forms"/>
  </ds:schemaRefs>
</ds:datastoreItem>
</file>

<file path=customXml/itemProps2.xml><?xml version="1.0" encoding="utf-8"?>
<ds:datastoreItem xmlns:ds="http://schemas.openxmlformats.org/officeDocument/2006/customXml" ds:itemID="{AE99ECB8-45FC-4100-8BF9-2ED70207570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FEAE7CC-8A8E-4B7B-9343-715ACB126D6D}"/>
</file>

<file path=docProps/app.xml><?xml version="1.0" encoding="utf-8"?>
<Properties xmlns="http://schemas.openxmlformats.org/officeDocument/2006/extended-properties" xmlns:vt="http://schemas.openxmlformats.org/officeDocument/2006/docPropsVTypes">
  <Template/>
  <TotalTime>0</TotalTime>
  <Words>1208</Words>
  <Application>Microsoft Office PowerPoint</Application>
  <PresentationFormat>On-screen Show (16:9)</PresentationFormat>
  <Paragraphs>223</Paragraphs>
  <Slides>11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Intel Clear Pro</vt:lpstr>
      <vt:lpstr>Wingdings</vt:lpstr>
      <vt:lpstr>SimSun</vt:lpstr>
      <vt:lpstr>Arial</vt:lpstr>
      <vt:lpstr>Courier New</vt:lpstr>
      <vt:lpstr>Intel Clear</vt:lpstr>
      <vt:lpstr>Intel Clear Light</vt:lpstr>
      <vt:lpstr>Calibri</vt:lpstr>
      <vt:lpstr>Int_PPT Template_ClearPro_16x9</vt:lpstr>
      <vt:lpstr>KBL-G x-ray exposure customer situation </vt:lpstr>
      <vt:lpstr>Known customers list and build schedule</vt:lpstr>
      <vt:lpstr>Customer X-ray machine survey</vt:lpstr>
      <vt:lpstr>Customer x-ray usage model (Compal/Dell La Ferrari) </vt:lpstr>
      <vt:lpstr>Customer x-ray usage model (Quanta/HP X35A)</vt:lpstr>
      <vt:lpstr>Customer x-ray usage model (Intel/ODM4 NUC-3)</vt:lpstr>
      <vt:lpstr>Compal KS X-Ray Process Characterization Results</vt:lpstr>
      <vt:lpstr>Intel NUC X-Ray Process Characterization Results</vt:lpstr>
      <vt:lpstr>Quanta CQ X-Ray Process Characterization Results</vt:lpstr>
      <vt:lpstr>AR update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2015-05-06T16:36:39Z</dcterms:created>
  <dcterms:modified xsi:type="dcterms:W3CDTF">2019-01-04T22:30:50Z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0x010100C25921F9D4874B40A69C72F5C132575A</vt:lpwstr>
  </property>
  <property fmtid="{D5CDD505-2E9C-101B-9397-08002B2CF9AE}" pid="3" name="TitusGUID">
    <vt:lpwstr>76ee6cc6-f6d6-44d3-adf9-655eb25e7891</vt:lpwstr>
  </property>
  <property fmtid="{D5CDD505-2E9C-101B-9397-08002B2CF9AE}" pid="4" name="CTP_TimeStamp">
    <vt:lpwstr>2019-01-04 22:30:36Z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