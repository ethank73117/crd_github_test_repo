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79" r:id="rId3"/>
  </p:sldMasterIdLst>
  <p:notesMasterIdLst>
    <p:notesMasterId r:id="rId14"/>
  </p:notesMasterIdLst>
  <p:sldIdLst>
    <p:sldId id="259" r:id="rId4"/>
    <p:sldId id="257" r:id="rId5"/>
    <p:sldId id="262" r:id="rId6"/>
    <p:sldId id="263" r:id="rId7"/>
    <p:sldId id="264" r:id="rId8"/>
    <p:sldId id="265" r:id="rId9"/>
    <p:sldId id="261" r:id="rId10"/>
    <p:sldId id="266" r:id="rId11"/>
    <p:sldId id="260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customXml" Target="../customXml/item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customXml" Target="../customXml/item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69CD80-014B-48D0-A93E-FA739B1DF3A4}" type="datetimeFigureOut">
              <a:rPr lang="en-US" smtClean="0"/>
              <a:t>4/2/2014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B5D47-65C8-405A-A0E3-DBBFEE34F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01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B5D47-65C8-405A-A0E3-DBBFEE34F17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57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41158" y="6396608"/>
            <a:ext cx="2133600" cy="365125"/>
          </a:xfrm>
        </p:spPr>
        <p:txBody>
          <a:bodyPr/>
          <a:lstStyle/>
          <a:p>
            <a:fld id="{1DE6A222-0F65-4928-8122-B0795783829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3/31/2014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03095" y="6396608"/>
            <a:ext cx="2895600" cy="365125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16713" y="6396608"/>
            <a:ext cx="609600" cy="365125"/>
          </a:xfrm>
        </p:spPr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50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0942"/>
            <a:ext cx="8229600" cy="97669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A222-0F65-4928-8122-B0795783829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3/31/2014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48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A222-0F65-4928-8122-B0795783829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3/31/2014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48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0942"/>
            <a:ext cx="8229600" cy="97669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A222-0F65-4928-8122-B0795783829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3/31/2014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678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0942"/>
            <a:ext cx="8229600" cy="97669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A222-0F65-4928-8122-B0795783829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3/31/2014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306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036638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A222-0F65-4928-8122-B0795783829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3/31/2014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733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A222-0F65-4928-8122-B0795783829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3/31/2014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67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3008313" cy="1054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440942"/>
            <a:ext cx="5111750" cy="568522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A222-0F65-4928-8122-B0795783829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3/31/2014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666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A222-0F65-4928-8122-B0795783829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3/31/2014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3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036638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A222-0F65-4928-8122-B0795783829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3/31/2014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331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40942"/>
            <a:ext cx="2057400" cy="5685221"/>
          </a:xfrm>
        </p:spPr>
        <p:txBody>
          <a:bodyPr vert="eaVert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40942"/>
            <a:ext cx="6019800" cy="5685221"/>
          </a:xfrm>
        </p:spPr>
        <p:txBody>
          <a:bodyPr vert="eaVert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A222-0F65-4928-8122-B0795783829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3/31/2014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550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95800"/>
            <a:ext cx="6400800" cy="11430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689725"/>
            <a:ext cx="2133600" cy="168275"/>
          </a:xfrm>
        </p:spPr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APR 22 2013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INTEL TOP SECRET, DO NOT REPRODUCE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06856" y="6686181"/>
            <a:ext cx="2133600" cy="168275"/>
          </a:xfrm>
        </p:spPr>
        <p:txBody>
          <a:bodyPr/>
          <a:lstStyle/>
          <a:p>
            <a:fld id="{3FFC3A2A-50E0-4B7A-BB41-2C0C9A2693E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2667000" y="121920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6256737"/>
            <a:ext cx="914400" cy="60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11599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689725"/>
            <a:ext cx="2133600" cy="168275"/>
          </a:xfrm>
        </p:spPr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APR 22 2013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INTEL TOP SECRET, DO NOT REPRODUCE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689725"/>
            <a:ext cx="2133600" cy="168275"/>
          </a:xfrm>
        </p:spPr>
        <p:txBody>
          <a:bodyPr/>
          <a:lstStyle/>
          <a:p>
            <a:fld id="{BB57EA25-2DE5-4E31-B815-D9378EC6515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6256737"/>
            <a:ext cx="914400" cy="60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98837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3670" y="6689725"/>
            <a:ext cx="2133600" cy="168275"/>
          </a:xfrm>
        </p:spPr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APR 22 2013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INTEL TOP SECRET, DO NOT REPRODUCE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996223" y="6689725"/>
            <a:ext cx="2133600" cy="168275"/>
          </a:xfrm>
        </p:spPr>
        <p:txBody>
          <a:bodyPr/>
          <a:lstStyle/>
          <a:p>
            <a:fld id="{BB57EA25-2DE5-4E31-B815-D9378EC6515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6256737"/>
            <a:ext cx="914400" cy="60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37496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675548"/>
            <a:ext cx="2133600" cy="168275"/>
          </a:xfrm>
        </p:spPr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APR 22 2013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INTEL TOP SECRET, DO NOT REPRODUCE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010400" y="6689725"/>
            <a:ext cx="2133600" cy="168275"/>
          </a:xfrm>
        </p:spPr>
        <p:txBody>
          <a:bodyPr/>
          <a:lstStyle/>
          <a:p>
            <a:fld id="{F1C0B363-BDAB-4156-841F-19FE575246C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6256737"/>
            <a:ext cx="914400" cy="60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90982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675548"/>
            <a:ext cx="2133600" cy="168275"/>
          </a:xfrm>
        </p:spPr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APR 22 2013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INTEL TOP SECRET, DO NOT REPRODUCE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686181"/>
            <a:ext cx="2133600" cy="168275"/>
          </a:xfrm>
        </p:spPr>
        <p:txBody>
          <a:bodyPr/>
          <a:lstStyle/>
          <a:p>
            <a:fld id="{F1C0B363-BDAB-4156-841F-19FE575246C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6256737"/>
            <a:ext cx="914400" cy="60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16461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FFFFFF"/>
                </a:solidFill>
              </a:rPr>
              <a:t>INTEL TOP SECRET, DO NOT REPRODUCE</a:t>
            </a:r>
            <a:endParaRPr lang="en-US">
              <a:solidFill>
                <a:srgbClr val="FFFFFF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6256737"/>
            <a:ext cx="914400" cy="60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45514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133600" cy="365125"/>
          </a:xfrm>
        </p:spPr>
        <p:txBody>
          <a:bodyPr/>
          <a:lstStyle/>
          <a:p>
            <a:fld id="{71D31584-C80D-43BF-8F88-82B432EA21A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03096" y="6396609"/>
            <a:ext cx="2895600" cy="365125"/>
          </a:xfrm>
        </p:spPr>
        <p:txBody>
          <a:bodyPr/>
          <a:lstStyle/>
          <a:p>
            <a:r>
              <a:rPr lang="en-US" i="1" dirty="0" smtClean="0">
                <a:solidFill>
                  <a:srgbClr val="1F497D">
                    <a:lumMod val="60000"/>
                    <a:lumOff val="40000"/>
                  </a:srgbClr>
                </a:solidFill>
              </a:rPr>
              <a:t>Intel Confidential – Do NOT Reproduce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492875"/>
            <a:ext cx="609600" cy="365125"/>
          </a:xfrm>
        </p:spPr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855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3EC9F-FE05-472C-82DC-D4667148293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 smtClean="0">
                <a:solidFill>
                  <a:srgbClr val="1F497D">
                    <a:lumMod val="60000"/>
                    <a:lumOff val="40000"/>
                  </a:srgbClr>
                </a:solidFill>
              </a:rPr>
              <a:t>Intel Confidential – Do NOT Reproduce</a:t>
            </a:r>
            <a:endParaRPr lang="en-US" i="1" dirty="0" smtClean="0">
              <a:solidFill>
                <a:srgbClr val="1F497D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2916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525"/>
            <a:ext cx="8229600" cy="6953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8381A-2E37-4E0F-8715-7FB25979DD8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3276600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i="1" smtClean="0">
                <a:solidFill>
                  <a:srgbClr val="1F497D">
                    <a:lumMod val="60000"/>
                    <a:lumOff val="40000"/>
                  </a:srgbClr>
                </a:solidFill>
              </a:rPr>
              <a:t>Intel Confidential – Do NOT Reproduce</a:t>
            </a:r>
            <a:endParaRPr lang="en-US" i="1" dirty="0" smtClean="0">
              <a:solidFill>
                <a:srgbClr val="1F497D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5428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82681-44B6-4E65-9835-768F63EBECC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1F497D">
                    <a:lumMod val="60000"/>
                    <a:lumOff val="40000"/>
                  </a:srgbClr>
                </a:solidFill>
              </a:rPr>
              <a:t>Intel Confidential – Do NOT Reproduce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0294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4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9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4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1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8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10B78-766A-417A-9A64-8D5163453A3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1F497D">
                    <a:lumMod val="60000"/>
                    <a:lumOff val="40000"/>
                  </a:srgbClr>
                </a:solidFill>
              </a:rPr>
              <a:t>Intel Confidential – Do NOT Reproduce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9781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AF0B-6AEB-4774-BE78-96E217E98CE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1F497D">
                    <a:lumMod val="60000"/>
                    <a:lumOff val="40000"/>
                  </a:srgbClr>
                </a:solidFill>
              </a:rPr>
              <a:t>Intel Confidential – Do NOT Reproduce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9820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"/>
            <a:ext cx="8229600" cy="6667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4" indent="0">
              <a:buNone/>
              <a:defRPr sz="2000" b="1"/>
            </a:lvl2pPr>
            <a:lvl3pPr marL="914348" indent="0">
              <a:buNone/>
              <a:defRPr sz="1800" b="1"/>
            </a:lvl3pPr>
            <a:lvl4pPr marL="1371520" indent="0">
              <a:buNone/>
              <a:defRPr sz="1600" b="1"/>
            </a:lvl4pPr>
            <a:lvl5pPr marL="1828694" indent="0">
              <a:buNone/>
              <a:defRPr sz="1600" b="1"/>
            </a:lvl5pPr>
            <a:lvl6pPr marL="2285868" indent="0">
              <a:buNone/>
              <a:defRPr sz="1600" b="1"/>
            </a:lvl6pPr>
            <a:lvl7pPr marL="2743042" indent="0">
              <a:buNone/>
              <a:defRPr sz="1600" b="1"/>
            </a:lvl7pPr>
            <a:lvl8pPr marL="3200215" indent="0">
              <a:buNone/>
              <a:defRPr sz="1600" b="1"/>
            </a:lvl8pPr>
            <a:lvl9pPr marL="3657388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4" indent="0">
              <a:buNone/>
              <a:defRPr sz="2000" b="1"/>
            </a:lvl2pPr>
            <a:lvl3pPr marL="914348" indent="0">
              <a:buNone/>
              <a:defRPr sz="1800" b="1"/>
            </a:lvl3pPr>
            <a:lvl4pPr marL="1371520" indent="0">
              <a:buNone/>
              <a:defRPr sz="1600" b="1"/>
            </a:lvl4pPr>
            <a:lvl5pPr marL="1828694" indent="0">
              <a:buNone/>
              <a:defRPr sz="1600" b="1"/>
            </a:lvl5pPr>
            <a:lvl6pPr marL="2285868" indent="0">
              <a:buNone/>
              <a:defRPr sz="1600" b="1"/>
            </a:lvl6pPr>
            <a:lvl7pPr marL="2743042" indent="0">
              <a:buNone/>
              <a:defRPr sz="1600" b="1"/>
            </a:lvl7pPr>
            <a:lvl8pPr marL="3200215" indent="0">
              <a:buNone/>
              <a:defRPr sz="1600" b="1"/>
            </a:lvl8pPr>
            <a:lvl9pPr marL="3657388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6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1724D-D7F2-432D-B12B-3F42DD81782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1F497D">
                    <a:lumMod val="60000"/>
                    <a:lumOff val="40000"/>
                  </a:srgbClr>
                </a:solidFill>
              </a:rPr>
              <a:t>Intel Confidential – Do NOT Reproduce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2066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EBB77-456C-413F-9C73-F34FB96D67C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1F497D">
                    <a:lumMod val="60000"/>
                    <a:lumOff val="40000"/>
                  </a:srgbClr>
                </a:solidFill>
              </a:rPr>
              <a:t>Intel Confidential – Do NOT Reproduce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9986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1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036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6A222-0F65-4928-8122-B0795783829D}" type="datetimeFigureOut">
              <a:rPr lang="en-US" smtClean="0">
                <a:solidFill>
                  <a:prstClr val="black">
                    <a:tint val="75000"/>
                  </a:prstClr>
                </a:solidFill>
                <a:cs typeface="Arial" charset="0"/>
              </a:rPr>
              <a:pPr/>
              <a:t>3/31/2014</a:t>
            </a:fld>
            <a:endParaRPr lang="en-US">
              <a:solidFill>
                <a:prstClr val="black">
                  <a:tint val="75000"/>
                </a:prstClr>
              </a:solidFill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19800" y="6378486"/>
            <a:ext cx="53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  <a:cs typeface="Arial" charset="0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cs typeface="Arial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191001" y="40832"/>
            <a:ext cx="495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1F497D">
                    <a:lumMod val="40000"/>
                    <a:lumOff val="60000"/>
                  </a:srgbClr>
                </a:solidFill>
                <a:cs typeface="Arial" charset="0"/>
              </a:rPr>
              <a:t>Customer Platform Technology Development 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52399" y="225497"/>
            <a:ext cx="4023360" cy="0"/>
          </a:xfrm>
          <a:prstGeom prst="line">
            <a:avLst/>
          </a:prstGeom>
          <a:ln w="63500">
            <a:solidFill>
              <a:schemeClr val="tx2">
                <a:lumMod val="40000"/>
                <a:lumOff val="60000"/>
              </a:schemeClr>
            </a:solidFill>
            <a:headEnd type="none"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64325" y="6083605"/>
            <a:ext cx="55744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1F497D">
                    <a:lumMod val="60000"/>
                    <a:lumOff val="40000"/>
                  </a:srgbClr>
                </a:solidFill>
                <a:cs typeface="Arial" charset="0"/>
              </a:rPr>
              <a:t>Driving Customer Excellence in Electronic Assembly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5638800" y="6292197"/>
            <a:ext cx="2514600" cy="0"/>
          </a:xfrm>
          <a:prstGeom prst="line">
            <a:avLst/>
          </a:prstGeom>
          <a:ln w="63500">
            <a:solidFill>
              <a:schemeClr val="tx2">
                <a:lumMod val="60000"/>
                <a:lumOff val="40000"/>
              </a:schemeClr>
            </a:solidFill>
            <a:headEnd type="none"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6422302" y="6444734"/>
            <a:ext cx="1850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1F497D">
                    <a:lumMod val="60000"/>
                    <a:lumOff val="40000"/>
                  </a:srgbClr>
                </a:solidFill>
                <a:cs typeface="Arial" charset="0"/>
              </a:rPr>
              <a:t>Intel Confidential 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53400" y="5920256"/>
            <a:ext cx="990599" cy="82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4157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2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83820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689725"/>
            <a:ext cx="2133600" cy="168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  <a:effectLst/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mtClean="0">
                <a:solidFill>
                  <a:prstClr val="black">
                    <a:tint val="75000"/>
                  </a:prstClr>
                </a:solidFill>
                <a:cs typeface="Arial" charset="0"/>
              </a:rPr>
              <a:t>APR 22 2013</a:t>
            </a:r>
            <a:endParaRPr lang="en-US">
              <a:solidFill>
                <a:prstClr val="black">
                  <a:tint val="75000"/>
                </a:prstClr>
              </a:solidFill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689725"/>
            <a:ext cx="2895600" cy="168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  <a:effectLst/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mtClean="0">
                <a:solidFill>
                  <a:prstClr val="black">
                    <a:tint val="75000"/>
                  </a:prstClr>
                </a:solidFill>
                <a:cs typeface="Arial" charset="0"/>
              </a:rPr>
              <a:t>INTEL TOP SECRET, DO NOT REPRODUCE</a:t>
            </a:r>
            <a:endParaRPr lang="en-US">
              <a:solidFill>
                <a:prstClr val="black">
                  <a:tint val="75000"/>
                </a:prstClr>
              </a:solidFill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689725"/>
            <a:ext cx="2133600" cy="168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  <a:effectLst/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fld id="{BB57EA25-2DE5-4E31-B815-D9378EC6515B}" type="slidenum">
              <a:rPr lang="en-US" smtClean="0">
                <a:solidFill>
                  <a:prstClr val="black">
                    <a:tint val="75000"/>
                  </a:prstClr>
                </a:solidFill>
                <a:cs typeface="Arial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425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</p:sldLayoutIdLst>
  <p:timing>
    <p:tnLst>
      <p:par>
        <p:cTn id="1" dur="indefinite" restart="never" nodeType="tmRoot"/>
      </p:par>
    </p:tnLst>
  </p:timing>
  <p:hf hdr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286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8625" y="0"/>
            <a:ext cx="8229600" cy="762000"/>
          </a:xfrm>
          <a:prstGeom prst="rect">
            <a:avLst/>
          </a:prstGeom>
        </p:spPr>
        <p:txBody>
          <a:bodyPr vert="horz" lIns="91435" tIns="45718" rIns="91435" bIns="45718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35" tIns="45718" rIns="91435" bIns="45718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133600" cy="365125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48"/>
            <a:fld id="{41BD4774-385B-4EB5-9D9C-F602D62A194E}" type="datetime1">
              <a:rPr lang="en-US" smtClean="0">
                <a:solidFill>
                  <a:prstClr val="black">
                    <a:tint val="75000"/>
                  </a:prstClr>
                </a:solidFill>
                <a:cs typeface="Arial" charset="0"/>
              </a:rPr>
              <a:pPr defTabSz="914348"/>
              <a:t>4/2/2014</a:t>
            </a:fld>
            <a:endParaRPr lang="en-US">
              <a:solidFill>
                <a:prstClr val="black">
                  <a:tint val="75000"/>
                </a:prstClr>
              </a:solidFill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48"/>
            <a:r>
              <a:rPr lang="en-US" i="1" dirty="0" smtClean="0">
                <a:solidFill>
                  <a:srgbClr val="1F497D">
                    <a:lumMod val="60000"/>
                    <a:lumOff val="40000"/>
                  </a:srgbClr>
                </a:solidFill>
                <a:cs typeface="Arial" charset="0"/>
              </a:rPr>
              <a:t>Intel Confidential – Do NOT Reproduce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553200"/>
            <a:ext cx="533400" cy="304800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48"/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  <a:cs typeface="Arial" charset="0"/>
              </a:rPr>
              <a:pPr defTabSz="914348"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cs typeface="Arial" charset="0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0550" y="6083606"/>
            <a:ext cx="914400" cy="60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8476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timing>
    <p:tnLst>
      <p:par>
        <p:cTn id="1" dur="indefinite" restart="never" nodeType="tmRoot"/>
      </p:par>
    </p:tnLst>
  </p:timing>
  <p:hf hdr="0"/>
  <p:txStyles>
    <p:titleStyle>
      <a:lvl1pPr algn="ctr" defTabSz="914348" rtl="0" eaLnBrk="1" latinLnBrk="0" hangingPunct="1">
        <a:spcBef>
          <a:spcPct val="0"/>
        </a:spcBef>
        <a:buNone/>
        <a:defRPr sz="3200" kern="1200" baseline="0">
          <a:solidFill>
            <a:schemeClr val="tx2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342880" indent="-342880" algn="l" defTabSz="914348" rtl="0" eaLnBrk="1" latinLnBrk="0" hangingPunct="1">
        <a:spcBef>
          <a:spcPct val="20000"/>
        </a:spcBef>
        <a:buFont typeface="Arial" pitchFamily="34" charset="0"/>
        <a:buChar char="•"/>
        <a:defRPr sz="2800" kern="1200" baseline="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742907" indent="-285733" algn="l" defTabSz="914348" rtl="0" eaLnBrk="1" latinLnBrk="0" hangingPunct="1">
        <a:spcBef>
          <a:spcPct val="20000"/>
        </a:spcBef>
        <a:buFont typeface="Arial" pitchFamily="34" charset="0"/>
        <a:buChar char="–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2934" indent="-228587" algn="l" defTabSz="914348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107" indent="-228587" algn="l" defTabSz="914348" rtl="0" eaLnBrk="1" latinLnBrk="0" hangingPunct="1">
        <a:spcBef>
          <a:spcPct val="20000"/>
        </a:spcBef>
        <a:buFont typeface="Arial" pitchFamily="34" charset="0"/>
        <a:buChar char="–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281" indent="-228587" algn="l" defTabSz="914348" rtl="0" eaLnBrk="1" latinLnBrk="0" hangingPunct="1">
        <a:spcBef>
          <a:spcPct val="20000"/>
        </a:spcBef>
        <a:buFont typeface="Arial" pitchFamily="34" charset="0"/>
        <a:buChar char="»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455" indent="-228587" algn="l" defTabSz="91434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28" indent="-228587" algn="l" defTabSz="91434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1" indent="-228587" algn="l" defTabSz="91434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75" indent="-228587" algn="l" defTabSz="91434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9143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9143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0" algn="l" defTabSz="9143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4" algn="l" defTabSz="9143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68" algn="l" defTabSz="9143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2" algn="l" defTabSz="9143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15" algn="l" defTabSz="9143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88" algn="l" defTabSz="9143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SMT Process Gaps</a:t>
            </a:r>
            <a:br>
              <a:rPr lang="en-US" dirty="0" smtClean="0"/>
            </a:br>
            <a:r>
              <a:rPr lang="en-US" dirty="0" smtClean="0"/>
              <a:t>ODM </a:t>
            </a:r>
            <a:r>
              <a:rPr lang="en-US" dirty="0" err="1" smtClean="0"/>
              <a:t>vs</a:t>
            </a:r>
            <a:r>
              <a:rPr lang="en-US" dirty="0" smtClean="0"/>
              <a:t> Intel Process </a:t>
            </a:r>
            <a:r>
              <a:rPr lang="en-US" dirty="0" err="1" smtClean="0"/>
              <a:t>Dev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Todd Harris – CPTD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1600" dirty="0" err="1"/>
              <a:t>Ack</a:t>
            </a:r>
            <a:r>
              <a:rPr lang="en-US" sz="1600" dirty="0"/>
              <a:t>: </a:t>
            </a:r>
            <a:r>
              <a:rPr lang="en-US" sz="1600" dirty="0" smtClean="0"/>
              <a:t>SA Moy, </a:t>
            </a:r>
            <a:r>
              <a:rPr lang="en-US" sz="1600" dirty="0"/>
              <a:t>Mukul </a:t>
            </a:r>
            <a:r>
              <a:rPr lang="en-US" sz="1600" dirty="0" smtClean="0"/>
              <a:t>Sakalkale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1679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Several gaps have been identified btw ODM high volume SMT assembly and Intel Oregon process development.</a:t>
            </a:r>
          </a:p>
          <a:p>
            <a:pPr lvl="1"/>
            <a:r>
              <a:rPr lang="en-US" sz="2000" dirty="0" smtClean="0"/>
              <a:t>Clamp </a:t>
            </a:r>
            <a:r>
              <a:rPr lang="en-US" sz="2000" dirty="0" err="1" smtClean="0"/>
              <a:t>vs</a:t>
            </a:r>
            <a:r>
              <a:rPr lang="en-US" sz="2000" dirty="0" smtClean="0"/>
              <a:t> No-clamp reflow pallets</a:t>
            </a:r>
          </a:p>
          <a:p>
            <a:pPr lvl="1"/>
            <a:r>
              <a:rPr lang="en-US" sz="2000" dirty="0" smtClean="0"/>
              <a:t>Peak temp for BGA</a:t>
            </a:r>
          </a:p>
          <a:p>
            <a:pPr lvl="1"/>
            <a:r>
              <a:rPr lang="en-US" sz="2000" dirty="0" smtClean="0"/>
              <a:t>Solder Paste Brand.</a:t>
            </a:r>
          </a:p>
          <a:p>
            <a:pPr lvl="1"/>
            <a:r>
              <a:rPr lang="en-US" sz="2000" dirty="0" smtClean="0"/>
              <a:t>Print Speed </a:t>
            </a:r>
            <a:r>
              <a:rPr lang="en-US" sz="2000" dirty="0" smtClean="0"/>
              <a:t> </a:t>
            </a:r>
          </a:p>
          <a:p>
            <a:r>
              <a:rPr lang="en-US" sz="2000" dirty="0" smtClean="0"/>
              <a:t>ODMs are widening their SMT process window to reduce costs and increase throughput.</a:t>
            </a:r>
          </a:p>
          <a:p>
            <a:r>
              <a:rPr lang="en-US" sz="2000" dirty="0" smtClean="0"/>
              <a:t>Intel is optimizing the SMT process window for packages with increased </a:t>
            </a:r>
            <a:r>
              <a:rPr lang="en-US" sz="2000" dirty="0" err="1" smtClean="0"/>
              <a:t>warpage</a:t>
            </a:r>
            <a:r>
              <a:rPr lang="en-US" sz="2000" dirty="0" smtClean="0"/>
              <a:t> and variability.</a:t>
            </a:r>
          </a:p>
          <a:p>
            <a:r>
              <a:rPr lang="en-US" sz="2000" dirty="0" smtClean="0"/>
              <a:t>Need to align on what is communicated in MAS.  </a:t>
            </a:r>
            <a:endParaRPr lang="en-US" sz="2000" dirty="0"/>
          </a:p>
          <a:p>
            <a:pPr lvl="1"/>
            <a:r>
              <a:rPr lang="en-US" sz="1600" dirty="0" smtClean="0"/>
              <a:t>Optimized reference process or ODM envelope</a:t>
            </a:r>
            <a:endParaRPr lang="en-US" sz="1600" dirty="0" smtClean="0"/>
          </a:p>
          <a:p>
            <a:endParaRPr lang="en-US" sz="2800" dirty="0" smtClean="0"/>
          </a:p>
          <a:p>
            <a:endParaRPr lang="en-US" sz="28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168792"/>
            <a:ext cx="8229600" cy="745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solidFill>
                  <a:srgbClr val="1F497D">
                    <a:lumMod val="60000"/>
                    <a:lumOff val="40000"/>
                  </a:srgbClr>
                </a:solidFill>
              </a:rPr>
              <a:t>Overview</a:t>
            </a:r>
            <a:endParaRPr lang="en-US" sz="3200" b="1" dirty="0" smtClean="0">
              <a:solidFill>
                <a:srgbClr val="1F497D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39033" y="6526354"/>
            <a:ext cx="533400" cy="365125"/>
          </a:xfrm>
        </p:spPr>
        <p:txBody>
          <a:bodyPr/>
          <a:lstStyle/>
          <a:p>
            <a:pPr>
              <a:defRPr/>
            </a:pPr>
            <a:fld id="{C779D83A-AB83-455F-B003-BFAA09BC2FA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48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Background</a:t>
            </a:r>
          </a:p>
          <a:p>
            <a:r>
              <a:rPr lang="en-US" dirty="0" smtClean="0"/>
              <a:t>ODMs use automated equipment to load PCBs into pallets.  Clamping the edge of PCB is not possible.  This is driven by cost savings.</a:t>
            </a:r>
          </a:p>
          <a:p>
            <a:r>
              <a:rPr lang="en-US" dirty="0" smtClean="0"/>
              <a:t>Intel clamps the PCB to reduce BGA area </a:t>
            </a:r>
            <a:r>
              <a:rPr lang="en-US" dirty="0" err="1" smtClean="0"/>
              <a:t>warpage</a:t>
            </a:r>
            <a:r>
              <a:rPr lang="en-US" dirty="0" smtClean="0"/>
              <a:t> to &lt;50um.</a:t>
            </a:r>
          </a:p>
          <a:p>
            <a:r>
              <a:rPr lang="en-US" dirty="0" smtClean="0"/>
              <a:t>PCB design is main influence on PCB </a:t>
            </a:r>
            <a:r>
              <a:rPr lang="en-US" dirty="0" err="1" smtClean="0"/>
              <a:t>warpage</a:t>
            </a:r>
            <a:r>
              <a:rPr lang="en-US" dirty="0" smtClean="0"/>
              <a:t>.  (Thickness, </a:t>
            </a:r>
            <a:r>
              <a:rPr lang="en-US" dirty="0" err="1" smtClean="0"/>
              <a:t>Stackup</a:t>
            </a:r>
            <a:r>
              <a:rPr lang="en-US" dirty="0" smtClean="0"/>
              <a:t>, </a:t>
            </a:r>
            <a:r>
              <a:rPr lang="en-US" dirty="0" err="1" smtClean="0"/>
              <a:t>etc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Status: </a:t>
            </a:r>
          </a:p>
          <a:p>
            <a:r>
              <a:rPr lang="en-US" dirty="0" smtClean="0"/>
              <a:t>BDW YTB clamp </a:t>
            </a:r>
            <a:r>
              <a:rPr lang="en-US" dirty="0" err="1" smtClean="0"/>
              <a:t>vs</a:t>
            </a:r>
            <a:r>
              <a:rPr lang="en-US" dirty="0" smtClean="0"/>
              <a:t> no clamp shadow </a:t>
            </a:r>
            <a:r>
              <a:rPr lang="en-US" dirty="0" err="1" smtClean="0"/>
              <a:t>moire</a:t>
            </a:r>
            <a:r>
              <a:rPr lang="en-US" dirty="0" smtClean="0"/>
              <a:t> showed 2X increase in PCB </a:t>
            </a:r>
            <a:r>
              <a:rPr lang="en-US" dirty="0" err="1" smtClean="0"/>
              <a:t>warpage</a:t>
            </a:r>
            <a:r>
              <a:rPr lang="en-US" dirty="0" smtClean="0"/>
              <a:t> for BGA area.</a:t>
            </a:r>
          </a:p>
          <a:p>
            <a:r>
              <a:rPr lang="en-US" dirty="0"/>
              <a:t>ODMs are not enabled to measure their PCB </a:t>
            </a:r>
            <a:r>
              <a:rPr lang="en-US" dirty="0" err="1"/>
              <a:t>warpage</a:t>
            </a:r>
            <a:r>
              <a:rPr lang="en-US" dirty="0"/>
              <a:t>. 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Next Steps:</a:t>
            </a:r>
          </a:p>
          <a:p>
            <a:r>
              <a:rPr lang="en-US" dirty="0" smtClean="0"/>
              <a:t>Collect PCB </a:t>
            </a:r>
            <a:r>
              <a:rPr lang="en-US" dirty="0" err="1" smtClean="0"/>
              <a:t>warpage</a:t>
            </a:r>
            <a:r>
              <a:rPr lang="en-US" dirty="0" smtClean="0"/>
              <a:t> data on </a:t>
            </a:r>
            <a:r>
              <a:rPr lang="en-US" dirty="0" err="1" smtClean="0"/>
              <a:t>Haswell</a:t>
            </a:r>
            <a:r>
              <a:rPr lang="en-US" dirty="0" smtClean="0"/>
              <a:t> </a:t>
            </a:r>
            <a:r>
              <a:rPr lang="en-US" dirty="0" err="1" smtClean="0"/>
              <a:t>Compal</a:t>
            </a:r>
            <a:r>
              <a:rPr lang="en-US" dirty="0" smtClean="0"/>
              <a:t> &amp; </a:t>
            </a:r>
            <a:r>
              <a:rPr lang="en-US" dirty="0" err="1" smtClean="0"/>
              <a:t>Wistron</a:t>
            </a:r>
            <a:r>
              <a:rPr lang="en-US" dirty="0" smtClean="0"/>
              <a:t> ODM boards</a:t>
            </a:r>
          </a:p>
          <a:p>
            <a:r>
              <a:rPr lang="en-US" dirty="0" smtClean="0"/>
              <a:t>CME to collect bare </a:t>
            </a:r>
            <a:r>
              <a:rPr lang="en-US" dirty="0" err="1" smtClean="0"/>
              <a:t>Compal</a:t>
            </a:r>
            <a:r>
              <a:rPr lang="en-US" dirty="0" smtClean="0"/>
              <a:t> BDW PCBs and Pallet design info.</a:t>
            </a:r>
          </a:p>
          <a:p>
            <a:r>
              <a:rPr lang="en-US" dirty="0" smtClean="0"/>
              <a:t>Modeling to determine impact of increased YTB </a:t>
            </a:r>
            <a:r>
              <a:rPr lang="en-US" dirty="0" err="1" smtClean="0"/>
              <a:t>warpage</a:t>
            </a:r>
            <a:endParaRPr lang="en-US" dirty="0" smtClean="0"/>
          </a:p>
          <a:p>
            <a:r>
              <a:rPr lang="en-US" dirty="0" smtClean="0"/>
              <a:t>SMT build comparing clamp to no clamp</a:t>
            </a:r>
            <a:endParaRPr 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168792"/>
            <a:ext cx="8229600" cy="745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solidFill>
                  <a:srgbClr val="1F497D">
                    <a:lumMod val="60000"/>
                    <a:lumOff val="40000"/>
                  </a:srgbClr>
                </a:solidFill>
              </a:rPr>
              <a:t>Clamp vs. No Clamp</a:t>
            </a:r>
            <a:endParaRPr lang="en-US" sz="3200" b="1" dirty="0" smtClean="0">
              <a:solidFill>
                <a:srgbClr val="1F497D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54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Background</a:t>
            </a:r>
          </a:p>
          <a:p>
            <a:r>
              <a:rPr lang="en-US" dirty="0" smtClean="0"/>
              <a:t>ODMs use the full range of 230 – 250 </a:t>
            </a:r>
            <a:r>
              <a:rPr lang="en-US" dirty="0" err="1" smtClean="0"/>
              <a:t>degC</a:t>
            </a:r>
            <a:r>
              <a:rPr lang="en-US" dirty="0" smtClean="0"/>
              <a:t> for reflow.  </a:t>
            </a:r>
            <a:r>
              <a:rPr lang="en-US" dirty="0"/>
              <a:t>M</a:t>
            </a:r>
            <a:r>
              <a:rPr lang="en-US" dirty="0" smtClean="0"/>
              <a:t>ultiple board designs are run on the same reflow oven settings to reduce changeover.</a:t>
            </a:r>
          </a:p>
          <a:p>
            <a:r>
              <a:rPr lang="en-US" dirty="0" smtClean="0"/>
              <a:t>Intel recommends 235-245 </a:t>
            </a:r>
            <a:r>
              <a:rPr lang="en-US" dirty="0" err="1" smtClean="0"/>
              <a:t>degC</a:t>
            </a:r>
            <a:r>
              <a:rPr lang="en-US" dirty="0" smtClean="0"/>
              <a:t> for reflow to provide the optimized reflow conditions.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Status: </a:t>
            </a:r>
          </a:p>
          <a:p>
            <a:r>
              <a:rPr lang="en-US" dirty="0" smtClean="0"/>
              <a:t>Intel tested 235-245 for BDW MAS development.</a:t>
            </a:r>
          </a:p>
          <a:p>
            <a:r>
              <a:rPr lang="en-US" dirty="0" smtClean="0"/>
              <a:t>ODM data from Moy (CME) shows acceptable yields at both 230 and 250 for the BDW ULX BGA.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Next Steps:</a:t>
            </a:r>
          </a:p>
          <a:p>
            <a:r>
              <a:rPr lang="en-US" dirty="0" smtClean="0"/>
              <a:t>Determine need for BDL DOE testing at 230 and 250 Peak Temp.</a:t>
            </a:r>
          </a:p>
          <a:p>
            <a:r>
              <a:rPr lang="en-US" dirty="0" smtClean="0"/>
              <a:t>Review ODM data from Moy</a:t>
            </a:r>
          </a:p>
          <a:p>
            <a:r>
              <a:rPr lang="en-US" dirty="0" smtClean="0"/>
              <a:t>Align on MAS communication.  </a:t>
            </a:r>
          </a:p>
          <a:p>
            <a:pPr lvl="1"/>
            <a:r>
              <a:rPr lang="en-US" dirty="0" smtClean="0"/>
              <a:t>235-245 </a:t>
            </a:r>
            <a:r>
              <a:rPr lang="en-US" dirty="0" err="1" smtClean="0"/>
              <a:t>degC</a:t>
            </a:r>
            <a:r>
              <a:rPr lang="en-US" dirty="0" smtClean="0"/>
              <a:t> or 230-250 </a:t>
            </a:r>
            <a:r>
              <a:rPr lang="en-US" dirty="0" err="1" smtClean="0"/>
              <a:t>degC</a:t>
            </a:r>
            <a:r>
              <a:rPr lang="en-US" dirty="0" smtClean="0"/>
              <a:t>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168792"/>
            <a:ext cx="8229600" cy="745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solidFill>
                  <a:srgbClr val="1F497D">
                    <a:lumMod val="60000"/>
                    <a:lumOff val="40000"/>
                  </a:srgbClr>
                </a:solidFill>
              </a:rPr>
              <a:t>Peak Reflow Temp</a:t>
            </a:r>
            <a:endParaRPr lang="en-US" sz="3200" b="1" dirty="0" smtClean="0">
              <a:solidFill>
                <a:srgbClr val="1F497D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45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724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Background</a:t>
            </a:r>
          </a:p>
          <a:p>
            <a:r>
              <a:rPr lang="en-US" sz="2000" dirty="0" smtClean="0"/>
              <a:t>Yunnan Tin is a lower cost solder paste being considered by multiple ODMs for high volume assembly.</a:t>
            </a:r>
          </a:p>
          <a:p>
            <a:r>
              <a:rPr lang="en-US" sz="2000" dirty="0" smtClean="0"/>
              <a:t>BDL completed two SMT builds with Yunnan Tin with positive results.  The Paste Screening test for MAS has not been completed.</a:t>
            </a:r>
          </a:p>
          <a:p>
            <a:endParaRPr lang="en-US" sz="1800" dirty="0" smtClean="0"/>
          </a:p>
          <a:p>
            <a:pPr marL="0" indent="0">
              <a:buNone/>
            </a:pPr>
            <a:r>
              <a:rPr lang="en-US" sz="2000" dirty="0" smtClean="0"/>
              <a:t>Status: </a:t>
            </a:r>
          </a:p>
          <a:p>
            <a:r>
              <a:rPr lang="en-US" sz="2000" dirty="0"/>
              <a:t>O</a:t>
            </a:r>
            <a:r>
              <a:rPr lang="en-US" sz="2000" dirty="0" smtClean="0"/>
              <a:t>nly </a:t>
            </a:r>
            <a:r>
              <a:rPr lang="en-US" sz="2000" dirty="0"/>
              <a:t>1 or 2 ODMs use </a:t>
            </a:r>
            <a:r>
              <a:rPr lang="en-US" sz="2000" dirty="0" smtClean="0"/>
              <a:t>Yunnan Tin </a:t>
            </a:r>
            <a:r>
              <a:rPr lang="en-US" sz="2000" dirty="0"/>
              <a:t>but </a:t>
            </a:r>
            <a:r>
              <a:rPr lang="en-US" sz="2000" dirty="0" smtClean="0"/>
              <a:t>CME projects it will gain MS.</a:t>
            </a:r>
          </a:p>
          <a:p>
            <a:r>
              <a:rPr lang="en-US" sz="2000" dirty="0" smtClean="0"/>
              <a:t>Internal alignment that Yunnan Tin will not be included in BDW MAS.  May intercept Sky Lake based on future ODM MS.</a:t>
            </a:r>
            <a:endParaRPr lang="en-US" sz="2000" dirty="0"/>
          </a:p>
          <a:p>
            <a:endParaRPr lang="en-US" sz="1800" dirty="0"/>
          </a:p>
          <a:p>
            <a:pPr marL="0" indent="0">
              <a:buNone/>
            </a:pPr>
            <a:r>
              <a:rPr lang="en-US" sz="2000" dirty="0" smtClean="0"/>
              <a:t>Next Steps:</a:t>
            </a:r>
          </a:p>
          <a:p>
            <a:r>
              <a:rPr lang="en-US" sz="2000" dirty="0" err="1" smtClean="0"/>
              <a:t>Materail</a:t>
            </a:r>
            <a:r>
              <a:rPr lang="en-US" sz="2000" dirty="0" smtClean="0"/>
              <a:t> Property Analysis of Yunnan Tin - Lilia</a:t>
            </a:r>
          </a:p>
          <a:p>
            <a:r>
              <a:rPr lang="en-US" sz="2000" dirty="0" smtClean="0"/>
              <a:t>Track ODM usage by MS and ODM - CME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168792"/>
            <a:ext cx="8229600" cy="745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solidFill>
                  <a:srgbClr val="1F497D">
                    <a:lumMod val="60000"/>
                    <a:lumOff val="40000"/>
                  </a:srgbClr>
                </a:solidFill>
              </a:rPr>
              <a:t>Solder Paste </a:t>
            </a:r>
            <a:endParaRPr lang="en-US" sz="3200" b="1" dirty="0" smtClean="0">
              <a:solidFill>
                <a:srgbClr val="1F497D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12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Background</a:t>
            </a:r>
          </a:p>
          <a:p>
            <a:r>
              <a:rPr lang="en-US" sz="2000" dirty="0" smtClean="0"/>
              <a:t>ODMs print faster due to SMT line beat rate.  Typically 80-120cm/min.</a:t>
            </a:r>
          </a:p>
          <a:p>
            <a:r>
              <a:rPr lang="en-US" sz="2000" dirty="0" smtClean="0"/>
              <a:t>BDL process development was completed with slower print speeds for achieving better print quality.  Typically 20cm/min. </a:t>
            </a:r>
          </a:p>
          <a:p>
            <a:r>
              <a:rPr lang="en-US" sz="2000" dirty="0" smtClean="0"/>
              <a:t>Need to align print speeds to ensure BDL stencils designs are usable in the HVM environment.</a:t>
            </a:r>
          </a:p>
          <a:p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Status: </a:t>
            </a:r>
          </a:p>
          <a:p>
            <a:r>
              <a:rPr lang="en-US" sz="2000" dirty="0" smtClean="0"/>
              <a:t>Cliff / Industry DOE was completed with a print speed to 80cm/min.  Print quality met paste volume requirements.</a:t>
            </a: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Next Steps:</a:t>
            </a:r>
          </a:p>
          <a:p>
            <a:r>
              <a:rPr lang="en-US" sz="2000" dirty="0" smtClean="0"/>
              <a:t>Align future BDL process development to higher print speeds.  Likely 80cm/min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168792"/>
            <a:ext cx="8229600" cy="745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solidFill>
                  <a:srgbClr val="1F497D">
                    <a:lumMod val="60000"/>
                    <a:lumOff val="40000"/>
                  </a:srgbClr>
                </a:solidFill>
              </a:rPr>
              <a:t>Paste Print Speed</a:t>
            </a:r>
            <a:endParaRPr lang="en-US" sz="3200" b="1" dirty="0" smtClean="0">
              <a:solidFill>
                <a:srgbClr val="1F497D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663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Align on MAS recommendations</a:t>
            </a:r>
          </a:p>
          <a:p>
            <a:pPr lvl="1"/>
            <a:r>
              <a:rPr lang="en-US" sz="1600" dirty="0" smtClean="0"/>
              <a:t>Deliver optimized SMT process or ODM envelope?</a:t>
            </a:r>
          </a:p>
          <a:p>
            <a:pPr lvl="1"/>
            <a:r>
              <a:rPr lang="en-US" sz="1600" dirty="0" smtClean="0"/>
              <a:t>SJQ MAS is available for process development enabling</a:t>
            </a:r>
          </a:p>
          <a:p>
            <a:r>
              <a:rPr lang="en-US" sz="2000" dirty="0" smtClean="0"/>
              <a:t>CME to provide ODM’s process overview for no-clamp pallets and peak temperature.</a:t>
            </a:r>
            <a:endParaRPr lang="en-US" sz="20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168792"/>
            <a:ext cx="8229600" cy="745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solidFill>
                  <a:srgbClr val="1F497D">
                    <a:lumMod val="60000"/>
                    <a:lumOff val="40000"/>
                  </a:srgbClr>
                </a:solidFill>
              </a:rPr>
              <a:t>Help Needed</a:t>
            </a:r>
            <a:endParaRPr lang="en-US" sz="3200" b="1" dirty="0" smtClean="0">
              <a:solidFill>
                <a:srgbClr val="1F497D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581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Up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497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5090588"/>
              </p:ext>
            </p:extLst>
          </p:nvPr>
        </p:nvGraphicFramePr>
        <p:xfrm>
          <a:off x="76200" y="76200"/>
          <a:ext cx="8991599" cy="6504706"/>
        </p:xfrm>
        <a:graphic>
          <a:graphicData uri="http://schemas.openxmlformats.org/drawingml/2006/table">
            <a:tbl>
              <a:tblPr/>
              <a:tblGrid>
                <a:gridCol w="175082"/>
                <a:gridCol w="777689"/>
                <a:gridCol w="1324649"/>
                <a:gridCol w="859121"/>
                <a:gridCol w="1047775"/>
                <a:gridCol w="960914"/>
                <a:gridCol w="857765"/>
                <a:gridCol w="635180"/>
                <a:gridCol w="631109"/>
                <a:gridCol w="1722315"/>
              </a:tblGrid>
              <a:tr h="3522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             OEM</a:t>
                      </a:r>
                      <a:b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/>
                      </a:r>
                      <a:b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Items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Intel MAS 1.0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Notes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08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Parameters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NA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Wistron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Inventec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Asus/Quanta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Quanta (Lenovo Line)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Dell / Compal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Pegatron (Dell Line)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08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SOLDER PASTE PRINT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2161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Stencil Thickness</a:t>
                      </a:r>
                      <a:r>
                        <a:rPr lang="en-US" sz="600" b="1" i="0" u="none" strike="noStrike" baseline="3000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n-US" sz="60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 mils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 mils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5 mils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and 4 mils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 mils and </a:t>
                      </a:r>
                      <a:r>
                        <a:rPr lang="en-US" sz="6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3 mils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 mil and </a:t>
                      </a:r>
                      <a:r>
                        <a:rPr lang="pt-BR" sz="6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3 mil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 mil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 mil (0.10mm)and </a:t>
                      </a:r>
                      <a:r>
                        <a:rPr lang="pt-BR" sz="6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3 mil (0.08mm)</a:t>
                      </a:r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 mil: Need to validate Apple stencil - please get from Eric &amp; Mukul.</a:t>
                      </a:r>
                      <a:b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 mil: Need to validate with same aperture with 4 mil in MAS.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3728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Solder Paste1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Alpha OM363*, Alpha OM363H*, 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Senju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M705-GRN360-K2-VZH*,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Senju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M705-S101HF(N4)-S4*,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Shenmao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PF606-P*,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Shenmao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PF606-P26*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Senju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M705-S101ZH-S4(W2)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Shenmao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PF606-P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Shenmao PF606-P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Shenmao PF606-P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Shenmao &amp; Yunnan Tin (YW9-3005-98CW04)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Shenmao PF606-P and Alpha OM338-L1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Validate: 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1).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Senju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M705-S101ZH-S4(W2)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2). Yunnan Tin (YW9-3005-98CW04)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3). Alpha OM338-L1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08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Stencil Aperture Design1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Ref to MAS module 3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Follow MAS 1.1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Follow MAS 1.1 (both 5 mil and 4 mil)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1:1 square and 1:1.3 square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Follow MAS 1.1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Follow MAS 1.1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Follow MAS 1.1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280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Print Speed 2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23 mm/s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70mm/s and 100mm/s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80mm/s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100mm/s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200 mm/s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130mm/s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60mm/s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Print Speed impacts throughput and is Customer critical</a:t>
                      </a:r>
                      <a:b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&gt;&gt;&gt; What is the maximum printing speed that can meet with same aperture in MAS?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08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Print Pressure2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 kg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 kg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85N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70N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 kg</a:t>
                      </a:r>
                      <a:r>
                        <a:rPr lang="en-US" sz="600" b="0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?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 kg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Print pressure impacts solder paste volume is Customer critical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08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Stencil Manufacturing Process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Laser Cut, Electropolish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Laser Cut,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Electropolish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Laser Cut, Electropolish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Laser Cut, Electropolish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Laser Cut, Electropolish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Laser Cut, Electropolish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08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Separation Speed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2mm/s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3mm/s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5mm/s 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 mm/s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1.0 mm/s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1.0 mm/s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08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SOLDER PASTE INSPECTION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891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Paste Volume Control Limit 1, 2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-/+50%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40%～170%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50% - 150%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50%~+100%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Low:0.4*Stencil volume</a:t>
                      </a:r>
                      <a:b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High: 1.8*Stencil volume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reduce 40%~ add 40%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50%~190%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Wider range compare with Intel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891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Paste Height Control Limit 2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40%～170%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50% - 150%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50%~+100%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Low:0.4*Stencil area</a:t>
                      </a:r>
                      <a:b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High:1.8*Stencil area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reduce 40%~ add 40%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50%~190%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837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Paste Area Control Limit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40%～170%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50% - 150%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-30%~+80%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Low: 0.4*Stencil thickness</a:t>
                      </a:r>
                      <a:b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High: 1.4*Stencil thickness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reduce 30%~ add 60%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50%~190%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08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PNP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08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Component Placement 1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100 % Ball recognition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100%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08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Nozzle Diameter 2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Not Available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Dual Head, ID: 1mm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5mm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6mm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6*4mm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5.0mm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Critical --&gt; customer need guidance if specialized nozzle have to used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08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Component Height (Pre-SMT) 2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0.3mm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0.3mm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1.8mm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1.1mm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1.08mm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Critical because not all equipment have force detection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08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Placement Speed 2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80mm/s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80%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Placement speed impacts throughput - Customer critical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08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REFLOW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837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Peak Temp 1.2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235 - 245°C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b-NO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235～245℃ (HVM: 230-250deg C)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235 - 250 deg C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b-NO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240.76~243.01 (HVM: 235 - 250 deg C)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nb-NO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239~245 [HVM: 230 – 250 deg C]</a:t>
                      </a:r>
                      <a:br>
                        <a:rPr lang="nb-NO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endParaRPr lang="nb-NO" sz="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235 - 250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deg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C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230 - 250 deg C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Industry peak temperature is range from 230 - 250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deg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C.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837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TAL 1,2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 to 90 seconds for N2 (O2&lt;3000 PPM)</a:t>
                      </a:r>
                      <a:b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60 -90 seconds for Air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54 sec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81.1S~89.0S(Long) / 70.6S~75.8S(Short)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55 sec and 75 sec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62~66 sec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Control: 45 - 90 sec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Running: 62.8 - 67.7 sec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2755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Soak Temp and Time 1,2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Paste dependent; follow paste manufacturer’s requirements 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Control: 150 deg C - 180 deg C: &lt;110s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Running: 155 - 185 deg C</a:t>
                      </a:r>
                      <a:b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61.6S~69.3S(Long)/60.6S~69.0S(Short)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Running: 155 - 185 deg C </a:t>
                      </a:r>
                      <a:b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92.07~93.60</a:t>
                      </a:r>
                      <a:b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Running: 155~185 deg C for 78~86 sec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Control: 60 - 120 sec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Running: 150 - 185 deg C for 67.3 - 70.6 sec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08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Delta T 1,2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Control ΔT across component to &lt;10°C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&lt;10 deg C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&lt; 10 deg C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&lt; 10 deg C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&lt; 10 deg C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&lt; 10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deg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C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08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Pallet 1, 2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Yes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Yes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Yes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Yes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Yes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Yes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Yes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08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Clamping / No Clamping 1,2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Clamping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Yes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Special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Validate No clamp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2755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Board Handling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Board is place in pallet after screen printing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boards manually placed in Reflow Pallets prior reflow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boards manually placed in Reflow Pallets prior reflow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boards manually placed in Reflow Pallets prior reflow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boards manually placed in Reflow Pallets prior reflow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boards manually placed in Reflow Pallets prior reflow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boards manually placed in Reflow Pallets prior reflow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Industry practice: boards manually placed in Reflow Pallets prior reflow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08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Belt Speed 2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??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 cm/min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120 cm/min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110 cm/min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120 cm / min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110 cm / min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1.10 cm/min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Belt speed: 100 cm/min - 120 cm/min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08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798" marR="3798" marT="37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N2 1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N2 (02&lt;3000 PPM). Air is acceptable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N2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N2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N2, O2:4500±300DPPM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N2, O2: 5000 PPM</a:t>
                      </a:r>
                    </a:p>
                  </a:txBody>
                  <a:tcPr marL="3798" marR="3798" marT="3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N2 and Air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N2 3000 ppm</a:t>
                      </a:r>
                    </a:p>
                  </a:txBody>
                  <a:tcPr marL="3798" marR="3798" marT="379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N2 and Air (some ODMs are looking for cost saving now).</a:t>
                      </a:r>
                    </a:p>
                  </a:txBody>
                  <a:tcPr marL="3798" marR="3798" marT="3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INTEL TOP SECRET, DO NOT REPRODUCE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7EA25-2DE5-4E31-B815-D9378EC6515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77000" y="65532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Ack</a:t>
            </a:r>
            <a:r>
              <a:rPr lang="en-US" dirty="0" smtClean="0"/>
              <a:t>: SA Moy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473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8993874" cy="695325"/>
          </a:xfrm>
        </p:spPr>
        <p:txBody>
          <a:bodyPr>
            <a:noAutofit/>
          </a:bodyPr>
          <a:lstStyle/>
          <a:p>
            <a:r>
              <a:rPr lang="en-US" sz="3000" b="1" dirty="0" smtClean="0">
                <a:solidFill>
                  <a:schemeClr val="tx1"/>
                </a:solidFill>
              </a:rPr>
              <a:t>Fundamental Understanding of Materials Differences</a:t>
            </a:r>
            <a:endParaRPr lang="en-US" sz="3000" b="1" dirty="0">
              <a:solidFill>
                <a:schemeClr val="tx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22828" y="614151"/>
            <a:ext cx="8802805" cy="45037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Alpha OM363 and </a:t>
            </a:r>
            <a:r>
              <a:rPr lang="en-US" dirty="0" err="1" smtClean="0">
                <a:solidFill>
                  <a:schemeClr val="tx1"/>
                </a:solidFill>
              </a:rPr>
              <a:t>Shenmao</a:t>
            </a:r>
            <a:r>
              <a:rPr lang="en-US" dirty="0" smtClean="0">
                <a:solidFill>
                  <a:schemeClr val="tx1"/>
                </a:solidFill>
              </a:rPr>
              <a:t> PF606-P26 with various viscosity skews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3EC9F-FE05-472C-82DC-D4667148293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70245" y="6492875"/>
            <a:ext cx="3930555" cy="365125"/>
          </a:xfrm>
        </p:spPr>
        <p:txBody>
          <a:bodyPr/>
          <a:lstStyle/>
          <a:p>
            <a:r>
              <a:rPr lang="en-US" i="1" dirty="0" smtClean="0">
                <a:solidFill>
                  <a:srgbClr val="1F497D">
                    <a:lumMod val="60000"/>
                    <a:lumOff val="40000"/>
                  </a:srgbClr>
                </a:solidFill>
              </a:rPr>
              <a:t>Intel Confidential – Do NOT Reproduce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0C2C-8978-47B2-A876-18D6BD9D5C5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346429"/>
              </p:ext>
            </p:extLst>
          </p:nvPr>
        </p:nvGraphicFramePr>
        <p:xfrm>
          <a:off x="136477" y="1050880"/>
          <a:ext cx="8802807" cy="54501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10938"/>
                <a:gridCol w="2947916"/>
                <a:gridCol w="3643953"/>
              </a:tblGrid>
              <a:tr h="60947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Measurement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Test Location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Status</a:t>
                      </a:r>
                      <a:endParaRPr lang="en-US" sz="2400" dirty="0"/>
                    </a:p>
                  </a:txBody>
                  <a:tcPr/>
                </a:tc>
              </a:tr>
              <a:tr h="695371">
                <a:tc>
                  <a:txBody>
                    <a:bodyPr/>
                    <a:lstStyle/>
                    <a:p>
                      <a:r>
                        <a:rPr lang="en-US" dirty="0" smtClean="0"/>
                        <a:t>Viscosity as f(T)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AMCL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WO #</a:t>
                      </a:r>
                      <a:r>
                        <a:rPr lang="en-US" baseline="0" dirty="0" smtClean="0"/>
                        <a:t> 803343, Materials delivered, ECD – WW16</a:t>
                      </a:r>
                      <a:endParaRPr lang="en-US" dirty="0"/>
                    </a:p>
                  </a:txBody>
                  <a:tcPr/>
                </a:tc>
              </a:tr>
              <a:tr h="695371">
                <a:tc>
                  <a:txBody>
                    <a:bodyPr/>
                    <a:lstStyle/>
                    <a:p>
                      <a:r>
                        <a:rPr lang="en-US" dirty="0" smtClean="0"/>
                        <a:t>Tackiness as</a:t>
                      </a:r>
                      <a:r>
                        <a:rPr lang="en-US" baseline="0" dirty="0" smtClean="0"/>
                        <a:t> f(T)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AMCL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WO # 803344, Materials delivered, ECD – WW16</a:t>
                      </a:r>
                    </a:p>
                  </a:txBody>
                  <a:tcPr/>
                </a:tc>
              </a:tr>
              <a:tr h="609472">
                <a:tc>
                  <a:txBody>
                    <a:bodyPr/>
                    <a:lstStyle/>
                    <a:p>
                      <a:r>
                        <a:rPr lang="en-US" dirty="0" smtClean="0"/>
                        <a:t>Paste slump (RT/HT)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Suppliers Data (IPC-TM- 650)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Shenmao</a:t>
                      </a:r>
                      <a:r>
                        <a:rPr lang="en-US" dirty="0" smtClean="0"/>
                        <a:t>  – Done </a:t>
                      </a:r>
                    </a:p>
                    <a:p>
                      <a:r>
                        <a:rPr lang="en-US" dirty="0" err="1" smtClean="0"/>
                        <a:t>Alent</a:t>
                      </a:r>
                      <a:r>
                        <a:rPr lang="en-US" dirty="0" smtClean="0"/>
                        <a:t> – </a:t>
                      </a:r>
                      <a:r>
                        <a:rPr lang="en-US" dirty="0" err="1" smtClean="0"/>
                        <a:t>WiP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</a:tr>
              <a:tr h="483736">
                <a:tc>
                  <a:txBody>
                    <a:bodyPr/>
                    <a:lstStyle/>
                    <a:p>
                      <a:r>
                        <a:rPr lang="en-US" dirty="0" smtClean="0"/>
                        <a:t>Paste Activity</a:t>
                      </a:r>
                      <a:r>
                        <a:rPr lang="en-US" baseline="0" dirty="0" smtClean="0"/>
                        <a:t> 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 smtClean="0"/>
                        <a:t>-AMCL – </a:t>
                      </a:r>
                      <a:r>
                        <a:rPr lang="en-US" dirty="0" err="1" smtClean="0"/>
                        <a:t>Rhesca</a:t>
                      </a:r>
                      <a:r>
                        <a:rPr lang="en-US" dirty="0" smtClean="0"/>
                        <a:t> on Cu wire</a:t>
                      </a:r>
                    </a:p>
                    <a:p>
                      <a:r>
                        <a:rPr lang="en-US" dirty="0" smtClean="0"/>
                        <a:t>-AMCL</a:t>
                      </a:r>
                      <a:r>
                        <a:rPr lang="en-US" baseline="0" dirty="0" smtClean="0"/>
                        <a:t> – Solder spread</a:t>
                      </a:r>
                    </a:p>
                    <a:p>
                      <a:r>
                        <a:rPr lang="en-US" baseline="0" dirty="0" smtClean="0"/>
                        <a:t>-PL – </a:t>
                      </a:r>
                      <a:r>
                        <a:rPr lang="en-US" baseline="0" dirty="0" err="1" smtClean="0"/>
                        <a:t>Sn</a:t>
                      </a:r>
                      <a:r>
                        <a:rPr lang="en-US" baseline="0" dirty="0" smtClean="0"/>
                        <a:t> dissolution/sintering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-WO # 803346, Materials delivered, ECD – WW16</a:t>
                      </a:r>
                    </a:p>
                    <a:p>
                      <a:r>
                        <a:rPr lang="en-US" dirty="0" smtClean="0"/>
                        <a:t>-WO</a:t>
                      </a:r>
                      <a:r>
                        <a:rPr lang="en-US" baseline="0" dirty="0" smtClean="0"/>
                        <a:t> # 803347, Materials delivered, ECD – WW16</a:t>
                      </a:r>
                    </a:p>
                    <a:p>
                      <a:r>
                        <a:rPr lang="en-US" baseline="0" dirty="0" smtClean="0"/>
                        <a:t>- QTM in place, ECD – WW15</a:t>
                      </a:r>
                    </a:p>
                  </a:txBody>
                  <a:tcPr/>
                </a:tc>
              </a:tr>
              <a:tr h="483736">
                <a:tc>
                  <a:txBody>
                    <a:bodyPr/>
                    <a:lstStyle/>
                    <a:p>
                      <a:r>
                        <a:rPr lang="en-US" dirty="0" smtClean="0"/>
                        <a:t>TGA </a:t>
                      </a:r>
                      <a:r>
                        <a:rPr lang="en-US" dirty="0" err="1" smtClean="0"/>
                        <a:t>Wt</a:t>
                      </a:r>
                      <a:r>
                        <a:rPr lang="en-US" dirty="0" smtClean="0"/>
                        <a:t> loss</a:t>
                      </a:r>
                      <a:r>
                        <a:rPr lang="en-US" baseline="0" dirty="0" smtClean="0"/>
                        <a:t> &amp; onset Temp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AMCL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WO # 803349, Materials delivered, ECD – WW16</a:t>
                      </a:r>
                    </a:p>
                  </a:txBody>
                  <a:tcPr/>
                </a:tc>
              </a:tr>
              <a:tr h="706718">
                <a:tc>
                  <a:txBody>
                    <a:bodyPr/>
                    <a:lstStyle/>
                    <a:p>
                      <a:r>
                        <a:rPr lang="en-US" dirty="0" smtClean="0"/>
                        <a:t>DSC</a:t>
                      </a:r>
                      <a:r>
                        <a:rPr lang="en-US" baseline="0" dirty="0" smtClean="0"/>
                        <a:t> Melting &amp; Solidification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AMCL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WO # 803348, +Materials delivered, ECD – WW16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Action Button: End 9">
            <a:hlinkClick r:id="rId2" action="ppaction://hlinksldjump" highlightClick="1"/>
          </p:cNvPr>
          <p:cNvSpPr/>
          <p:nvPr/>
        </p:nvSpPr>
        <p:spPr>
          <a:xfrm>
            <a:off x="7192370" y="3098040"/>
            <a:ext cx="641445" cy="272955"/>
          </a:xfrm>
          <a:prstGeom prst="actionButtonEnd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77000" y="65532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Ack</a:t>
            </a:r>
            <a:r>
              <a:rPr lang="en-US" dirty="0" smtClean="0"/>
              <a:t>: Lilia May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240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>
            <a:effectLst/>
            <a:latin typeface="+mj-l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CPTD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8" ma:contentTypeDescription="Create a new document." ma:contentTypeScope="" ma:versionID="f81e1b74fd94b9f916141b297ac694c0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cd7c1c097ec62e7a9d31b3de7be00f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Props1.xml><?xml version="1.0" encoding="utf-8"?>
<ds:datastoreItem xmlns:ds="http://schemas.openxmlformats.org/officeDocument/2006/customXml" ds:itemID="{92765806-0AD2-4960-B240-261B50D352D3}"/>
</file>

<file path=customXml/itemProps2.xml><?xml version="1.0" encoding="utf-8"?>
<ds:datastoreItem xmlns:ds="http://schemas.openxmlformats.org/officeDocument/2006/customXml" ds:itemID="{B8352B76-BD11-4DB3-A293-A50E8A80E8DD}"/>
</file>

<file path=customXml/itemProps3.xml><?xml version="1.0" encoding="utf-8"?>
<ds:datastoreItem xmlns:ds="http://schemas.openxmlformats.org/officeDocument/2006/customXml" ds:itemID="{2E229AC8-D850-4046-A675-2A58D5441D18}"/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1518</Words>
  <Application>Microsoft Office PowerPoint</Application>
  <PresentationFormat>On-screen Show (4:3)</PresentationFormat>
  <Paragraphs>400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2_Office Theme</vt:lpstr>
      <vt:lpstr>1_Default Theme</vt:lpstr>
      <vt:lpstr>1_CPTD Template</vt:lpstr>
      <vt:lpstr>SMT Process Gaps ODM vs Intel Process Dev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 Up</vt:lpstr>
      <vt:lpstr>PowerPoint Presentation</vt:lpstr>
      <vt:lpstr>Fundamental Understanding of Materials Differences</vt:lpstr>
    </vt:vector>
  </TitlesOfParts>
  <Company>Intel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SMT Process Gaps ODM vs Intel Process Dev</dc:title>
  <dc:creator>Harris, Todd</dc:creator>
  <cp:lastModifiedBy>Harris, Todd</cp:lastModifiedBy>
  <cp:revision>29</cp:revision>
  <dcterms:created xsi:type="dcterms:W3CDTF">2014-04-02T14:21:00Z</dcterms:created>
  <dcterms:modified xsi:type="dcterms:W3CDTF">2014-04-02T21:48:43Z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0x010100C25921F9D4874B40A69C72F5C132575A</vt:lpwstr>
  </property>
</Properties>
</file>