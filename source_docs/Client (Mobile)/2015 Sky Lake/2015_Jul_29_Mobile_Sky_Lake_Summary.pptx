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9" r:id="rId2"/>
    <p:sldId id="261" r:id="rId3"/>
    <p:sldId id="269" r:id="rId4"/>
    <p:sldId id="270" r:id="rId5"/>
    <p:sldId id="271" r:id="rId6"/>
    <p:sldId id="272" r:id="rId7"/>
    <p:sldId id="292" r:id="rId8"/>
    <p:sldId id="293" r:id="rId9"/>
    <p:sldId id="294" r:id="rId10"/>
    <p:sldId id="274" r:id="rId11"/>
    <p:sldId id="275" r:id="rId12"/>
    <p:sldId id="277" r:id="rId13"/>
    <p:sldId id="278" r:id="rId14"/>
    <p:sldId id="279" r:id="rId15"/>
    <p:sldId id="280" r:id="rId16"/>
    <p:sldId id="282" r:id="rId17"/>
    <p:sldId id="28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1" autoAdjust="0"/>
    <p:restoredTop sz="94660"/>
  </p:normalViewPr>
  <p:slideViewPr>
    <p:cSldViewPr>
      <p:cViewPr varScale="1">
        <p:scale>
          <a:sx n="113" d="100"/>
          <a:sy n="113" d="100"/>
        </p:scale>
        <p:origin x="14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7185-9FD8-40D7-866C-EA52F4AE1B2F}" type="datetimeFigureOut">
              <a:rPr lang="en-US" smtClean="0"/>
              <a:t>7/29/2015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5B860-0185-49D0-AE43-85F1D2C2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6DDCA-F0DF-474A-B50F-3AA7DE3DA665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9617E-6A3A-4D83-BF40-332574B14D5E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7FDB2-AA17-44C3-83FA-76BDE2D89F39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D8B08-2C36-4086-9E9C-E5E2E6CF56D8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16198-2A67-431F-BD5A-08A86C62F155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96116-74F2-4AE3-92EE-5750A64D6000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62812-064B-40C3-9D51-C952CB6F8B34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A754F-28D9-4799-B2BF-7EB1E4BE40C4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FFBC3-7A25-4EE8-8B45-CC8A53E35C12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C4907-5252-4FAE-830D-8594C737216F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B76571B8-5143-486A-8855-15D72FB93020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1763713"/>
            <a:ext cx="7315200" cy="19700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Mobile Customers Equipment Summary Report</a:t>
            </a:r>
            <a:br>
              <a:rPr lang="en-US" sz="3200" dirty="0" smtClean="0"/>
            </a:br>
            <a:r>
              <a:rPr lang="en-US" sz="3200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SA Moy</a:t>
            </a:r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2B56F8D4-110B-4797-AEE8-DC37C29C3284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dirty="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33388"/>
            <a:ext cx="8237538" cy="612775"/>
          </a:xfrm>
        </p:spPr>
        <p:txBody>
          <a:bodyPr/>
          <a:lstStyle/>
          <a:p>
            <a:pPr eaLnBrk="1" hangingPunct="1"/>
            <a:r>
              <a:rPr lang="en-US" dirty="0" smtClean="0"/>
              <a:t>Objectives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39838"/>
            <a:ext cx="8294688" cy="409098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 Mobile Industry Data Collection (Sky Lake Platform Survey)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 (Quanta, </a:t>
            </a:r>
            <a:r>
              <a:rPr lang="en-US" dirty="0" err="1" smtClean="0">
                <a:solidFill>
                  <a:srgbClr val="000000"/>
                </a:solidFill>
              </a:rPr>
              <a:t>Compal</a:t>
            </a:r>
            <a:r>
              <a:rPr lang="en-US" dirty="0" smtClean="0">
                <a:solidFill>
                  <a:srgbClr val="000000"/>
                </a:solidFill>
              </a:rPr>
              <a:t>, Wistron, </a:t>
            </a:r>
            <a:r>
              <a:rPr lang="en-US" dirty="0" err="1" smtClean="0">
                <a:solidFill>
                  <a:srgbClr val="000000"/>
                </a:solidFill>
              </a:rPr>
              <a:t>Inventec</a:t>
            </a:r>
            <a:r>
              <a:rPr lang="en-US" dirty="0" smtClean="0">
                <a:solidFill>
                  <a:srgbClr val="000000"/>
                </a:solidFill>
              </a:rPr>
              <a:t>, Pegatron and others)</a:t>
            </a:r>
            <a:endParaRPr lang="en-US" dirty="0" smtClean="0">
              <a:solidFill>
                <a:srgbClr val="000000"/>
              </a:solidFill>
            </a:endParaRPr>
          </a:p>
          <a:p>
            <a:pPr marL="247650" lvl="2" indent="0" eaLnBrk="1" hangingPunct="1">
              <a:spcBef>
                <a:spcPct val="40000"/>
              </a:spcBef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5EACC1EA-18B2-4295-BDCD-1B9243AB8126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Screen Printing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2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1DF90A-E264-4A04-ADF7-BD534A66F7EC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35043"/>
              </p:ext>
            </p:extLst>
          </p:nvPr>
        </p:nvGraphicFramePr>
        <p:xfrm>
          <a:off x="228600" y="685800"/>
          <a:ext cx="6123545" cy="1479647"/>
        </p:xfrm>
        <a:graphic>
          <a:graphicData uri="http://schemas.openxmlformats.org/drawingml/2006/table">
            <a:tbl>
              <a:tblPr/>
              <a:tblGrid>
                <a:gridCol w="386536"/>
                <a:gridCol w="1932680"/>
                <a:gridCol w="3804329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is the stencil thickness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CQ (Acer)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 mil and 5 mil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CQ (F1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Building)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0.1mm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CD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 mil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KS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4mil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mil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0.10mm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" y="76200"/>
            <a:ext cx="3802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Stencil Thickness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911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8F0014-B195-4FD0-91DD-9BB5FEA133B3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083341"/>
              </p:ext>
            </p:extLst>
          </p:nvPr>
        </p:nvGraphicFramePr>
        <p:xfrm>
          <a:off x="152400" y="533400"/>
          <a:ext cx="7381102" cy="2394047"/>
        </p:xfrm>
        <a:graphic>
          <a:graphicData uri="http://schemas.openxmlformats.org/drawingml/2006/table">
            <a:tbl>
              <a:tblPr/>
              <a:tblGrid>
                <a:gridCol w="384433"/>
                <a:gridCol w="1460844"/>
                <a:gridCol w="1537729"/>
                <a:gridCol w="1691502"/>
                <a:gridCol w="1230183"/>
                <a:gridCol w="1076411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Powder Type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CQ (Acer)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TW" sz="12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PF606-P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Yun Nan Tin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YW9-3005-98CY04</a:t>
                      </a:r>
                      <a:endParaRPr lang="zh-TW" altLang="en-US" sz="12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SH (Asus)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 (F1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Building)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CD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 (LBG)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 (TBG)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Senju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, Alpha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" y="0"/>
            <a:ext cx="2844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Solder Paste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655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58BA4-3D7C-4C97-A201-C1B5BFF8C9C1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186468"/>
              </p:ext>
            </p:extLst>
          </p:nvPr>
        </p:nvGraphicFramePr>
        <p:xfrm>
          <a:off x="228600" y="762000"/>
          <a:ext cx="6525119" cy="1113887"/>
        </p:xfrm>
        <a:graphic>
          <a:graphicData uri="http://schemas.openxmlformats.org/drawingml/2006/table">
            <a:tbl>
              <a:tblPr/>
              <a:tblGrid>
                <a:gridCol w="324123"/>
                <a:gridCol w="1620618"/>
                <a:gridCol w="1368994"/>
                <a:gridCol w="3211384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Screen Print 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KXF-1G4C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 (F1)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Horizon O3iX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Hitachi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HS-710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762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Screen </a:t>
            </a:r>
            <a:r>
              <a:rPr lang="en-US" sz="2800" b="1" dirty="0"/>
              <a:t>Print </a:t>
            </a:r>
            <a:r>
              <a:rPr lang="en-US" sz="2800" b="1" dirty="0" smtClean="0"/>
              <a:t>Machine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4282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572FB-263C-4714-9F61-73C264C854DD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59305"/>
              </p:ext>
            </p:extLst>
          </p:nvPr>
        </p:nvGraphicFramePr>
        <p:xfrm>
          <a:off x="228600" y="762000"/>
          <a:ext cx="7304419" cy="1296767"/>
        </p:xfrm>
        <a:graphic>
          <a:graphicData uri="http://schemas.openxmlformats.org/drawingml/2006/table">
            <a:tbl>
              <a:tblPr/>
              <a:tblGrid>
                <a:gridCol w="249611"/>
                <a:gridCol w="1054279"/>
                <a:gridCol w="1054279"/>
                <a:gridCol w="2473125"/>
                <a:gridCol w="2473125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Speed</a:t>
                      </a:r>
                      <a:endParaRPr lang="en-US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Separation speed</a:t>
                      </a:r>
                      <a:endParaRPr lang="en-US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 x 10</a:t>
                      </a:r>
                      <a:r>
                        <a:rPr lang="en-US" sz="1200" b="0" i="0" u="none" strike="noStrike" baseline="3000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5.0 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 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 mm/s (NPI), 100 mm/s (HVM)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KS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 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 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mm /s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1.0 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2.4 x 0.1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60mm / s (NPI), &gt;100mm /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 (HVM)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2.5 mm/s (40% - 180 %)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762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Printing Parameters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5125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AEFF219-1833-47EA-A668-C6BF704E12A2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8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SPI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48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8237537" cy="457200"/>
          </a:xfrm>
        </p:spPr>
        <p:txBody>
          <a:bodyPr/>
          <a:lstStyle/>
          <a:p>
            <a:r>
              <a:rPr lang="en-US" dirty="0" smtClean="0"/>
              <a:t>SPI Machine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0595C7-E549-4410-A9EE-C1888C1093A9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71546"/>
              </p:ext>
            </p:extLst>
          </p:nvPr>
        </p:nvGraphicFramePr>
        <p:xfrm>
          <a:off x="228600" y="762000"/>
          <a:ext cx="6525119" cy="1296767"/>
        </p:xfrm>
        <a:graphic>
          <a:graphicData uri="http://schemas.openxmlformats.org/drawingml/2006/table">
            <a:tbl>
              <a:tblPr/>
              <a:tblGrid>
                <a:gridCol w="324123"/>
                <a:gridCol w="1620618"/>
                <a:gridCol w="1368994"/>
                <a:gridCol w="3211384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AOI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 (Control)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Saki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 (F1)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 Optic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 (-60% - +90%)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KS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(40% - 170%)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8030 XDL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49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E054CDF-9929-426C-A0AC-C724E907F353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10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Placement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B89175-863D-417C-BAE5-77462A0D1DD0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48232"/>
              </p:ext>
            </p:extLst>
          </p:nvPr>
        </p:nvGraphicFramePr>
        <p:xfrm>
          <a:off x="304800" y="1066800"/>
          <a:ext cx="5650088" cy="1592192"/>
        </p:xfrm>
        <a:graphic>
          <a:graphicData uri="http://schemas.openxmlformats.org/drawingml/2006/table">
            <a:tbl>
              <a:tblPr/>
              <a:tblGrid>
                <a:gridCol w="527378"/>
                <a:gridCol w="999821"/>
                <a:gridCol w="1922733"/>
                <a:gridCol w="2200156"/>
              </a:tblGrid>
              <a:tr h="49491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BGA Placement Machine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KXF-E64C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KXF-E (DT 401-F)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04800" y="228600"/>
            <a:ext cx="5182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BGA Placement Machine </a:t>
            </a:r>
          </a:p>
        </p:txBody>
      </p:sp>
    </p:spTree>
    <p:extLst>
      <p:ext uri="{BB962C8B-B14F-4D97-AF65-F5344CB8AC3E}">
        <p14:creationId xmlns:p14="http://schemas.microsoft.com/office/powerpoint/2010/main" val="21639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B4E3239B-9751-4CA9-B609-D543A19F6411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12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Reflow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3D10D6-D1C0-437C-A17E-9945856E65B7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4012"/>
              </p:ext>
            </p:extLst>
          </p:nvPr>
        </p:nvGraphicFramePr>
        <p:xfrm>
          <a:off x="205741" y="1143000"/>
          <a:ext cx="6806735" cy="2194560"/>
        </p:xfrm>
        <a:graphic>
          <a:graphicData uri="http://schemas.openxmlformats.org/drawingml/2006/table">
            <a:tbl>
              <a:tblPr/>
              <a:tblGrid>
                <a:gridCol w="295821"/>
                <a:gridCol w="1456352"/>
                <a:gridCol w="1592884"/>
                <a:gridCol w="1937676"/>
                <a:gridCol w="781604"/>
                <a:gridCol w="742398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Q1: Reflow Machine's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Q2: N2 reflow?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Q3: O2 ppm level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Quanta CQ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13 zones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&lt;1000ppm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Wistron CD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Honey Well</a:t>
                      </a:r>
                      <a:endParaRPr lang="zh-TW" alt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1900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BTU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Pyramax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Rehm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449 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7930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Machine, N2 and O2 ppm Level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1468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02851-B653-4E63-A8E6-D2A17102E0AE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88406"/>
              </p:ext>
            </p:extLst>
          </p:nvPr>
        </p:nvGraphicFramePr>
        <p:xfrm>
          <a:off x="381000" y="1066800"/>
          <a:ext cx="6667292" cy="1770921"/>
        </p:xfrm>
        <a:graphic>
          <a:graphicData uri="http://schemas.openxmlformats.org/drawingml/2006/table">
            <a:tbl>
              <a:tblPr/>
              <a:tblGrid>
                <a:gridCol w="342693"/>
                <a:gridCol w="2024448"/>
                <a:gridCol w="919342"/>
                <a:gridCol w="1809029"/>
                <a:gridCol w="1571780"/>
              </a:tblGrid>
              <a:tr h="30788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Pallet / Carrier?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525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/ 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 / generic pallet?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material used for Pallet fabrication?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Specific, no clamp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during NPI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Specific, no clamp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54970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Pallet and Material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15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965CF8-71D2-4002-8C9C-FA01423D030E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052502"/>
              </p:ext>
            </p:extLst>
          </p:nvPr>
        </p:nvGraphicFramePr>
        <p:xfrm>
          <a:off x="304800" y="762000"/>
          <a:ext cx="7543800" cy="2346960"/>
        </p:xfrm>
        <a:graphic>
          <a:graphicData uri="http://schemas.openxmlformats.org/drawingml/2006/table">
            <a:tbl>
              <a:tblPr/>
              <a:tblGrid>
                <a:gridCol w="778327"/>
                <a:gridCol w="3488873"/>
                <a:gridCol w="3276600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Belt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Speed (cm/minute)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1400 mm / 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KS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100cm / 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KS (Dell)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105 cm / 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LCFC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1350 mm / 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152400"/>
            <a:ext cx="2467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Belt Speed </a:t>
            </a:r>
          </a:p>
        </p:txBody>
      </p:sp>
    </p:spTree>
    <p:extLst>
      <p:ext uri="{BB962C8B-B14F-4D97-AF65-F5344CB8AC3E}">
        <p14:creationId xmlns:p14="http://schemas.microsoft.com/office/powerpoint/2010/main" val="223031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60017D-2BF3-4949-AA49-9A9DABAC7851}" type="datetime1">
              <a:rPr lang="en-US" smtClean="0"/>
              <a:t>7/29/2015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209745"/>
              </p:ext>
            </p:extLst>
          </p:nvPr>
        </p:nvGraphicFramePr>
        <p:xfrm>
          <a:off x="304800" y="685800"/>
          <a:ext cx="6663548" cy="2194560"/>
        </p:xfrm>
        <a:graphic>
          <a:graphicData uri="http://schemas.openxmlformats.org/drawingml/2006/table">
            <a:tbl>
              <a:tblPr/>
              <a:tblGrid>
                <a:gridCol w="278990"/>
                <a:gridCol w="1373486"/>
                <a:gridCol w="1673935"/>
                <a:gridCol w="794046"/>
                <a:gridCol w="1094495"/>
                <a:gridCol w="751124"/>
                <a:gridCol w="697472"/>
              </a:tblGrid>
              <a:tr h="22183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temperature (°C)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Falling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 CQ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230 – 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 – 80 sec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 – 185 (60 – 120 sec)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 – 3.0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 – 3.0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CD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– 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 – 90 sec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&lt;3.0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&lt;-3.0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 KS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– 250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76200"/>
            <a:ext cx="5484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Profile Parameters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242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B6B40E-BE22-4756-B087-067A66BDE6A9}" type="datetime1">
              <a:rPr lang="en-US" sz="800" smtClean="0">
                <a:solidFill>
                  <a:srgbClr val="FFFFFF"/>
                </a:solidFill>
              </a:rPr>
              <a:t>7/29/2015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17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25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925A9EEA-F6F4-4159-B891-BCC49606EBF5}"/>
</file>

<file path=customXml/itemProps2.xml><?xml version="1.0" encoding="utf-8"?>
<ds:datastoreItem xmlns:ds="http://schemas.openxmlformats.org/officeDocument/2006/customXml" ds:itemID="{1E4F3BD2-7DA3-4F01-A501-46D2F0192D64}"/>
</file>

<file path=customXml/itemProps3.xml><?xml version="1.0" encoding="utf-8"?>
<ds:datastoreItem xmlns:ds="http://schemas.openxmlformats.org/officeDocument/2006/customXml" ds:itemID="{6AE8BBB8-4AAA-4C81-8516-B61EB815CA5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936</Words>
  <Application>Microsoft Office PowerPoint</Application>
  <PresentationFormat>On-screen Show (4:3)</PresentationFormat>
  <Paragraphs>329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</vt:lpstr>
      <vt:lpstr>Verdana</vt:lpstr>
      <vt:lpstr>Wingdings</vt:lpstr>
      <vt:lpstr>intel_template_1_111605_WHITE</vt:lpstr>
      <vt:lpstr>Mobile Customers Equipment Summary Report  </vt:lpstr>
      <vt:lpstr>Objectives</vt:lpstr>
      <vt:lpstr>Screen Printing</vt:lpstr>
      <vt:lpstr>PowerPoint Presentation</vt:lpstr>
      <vt:lpstr>PowerPoint Presentation</vt:lpstr>
      <vt:lpstr>PowerPoint Presentation</vt:lpstr>
      <vt:lpstr>PowerPoint Presentation</vt:lpstr>
      <vt:lpstr>SPI</vt:lpstr>
      <vt:lpstr>SPI Machine</vt:lpstr>
      <vt:lpstr>Placement</vt:lpstr>
      <vt:lpstr>PowerPoint Presentation</vt:lpstr>
      <vt:lpstr>Reflow</vt:lpstr>
      <vt:lpstr>PowerPoint Presentation</vt:lpstr>
      <vt:lpstr>PowerPoint Presentation</vt:lpstr>
      <vt:lpstr>PowerPoint Presentation</vt:lpstr>
      <vt:lpstr>PowerPoint Presentation</vt:lpstr>
      <vt:lpstr>Rework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lastModifiedBy>Moy, Shuh An</cp:lastModifiedBy>
  <cp:revision>72</cp:revision>
  <dcterms:created xsi:type="dcterms:W3CDTF">2011-10-18T02:30:40Z</dcterms:created>
  <dcterms:modified xsi:type="dcterms:W3CDTF">2015-07-29T01:34:04Z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