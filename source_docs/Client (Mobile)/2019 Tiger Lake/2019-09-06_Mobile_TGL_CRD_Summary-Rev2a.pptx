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s/slide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17.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4.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1.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9" r:id="rId2"/>
    <p:sldId id="357" r:id="rId3"/>
    <p:sldId id="261" r:id="rId4"/>
    <p:sldId id="355" r:id="rId5"/>
    <p:sldId id="356" r:id="rId6"/>
    <p:sldId id="269" r:id="rId7"/>
    <p:sldId id="270" r:id="rId8"/>
    <p:sldId id="346" r:id="rId9"/>
    <p:sldId id="323" r:id="rId10"/>
    <p:sldId id="347" r:id="rId11"/>
    <p:sldId id="348" r:id="rId12"/>
    <p:sldId id="324" r:id="rId13"/>
    <p:sldId id="325" r:id="rId14"/>
    <p:sldId id="326" r:id="rId15"/>
    <p:sldId id="349" r:id="rId16"/>
    <p:sldId id="297" r:id="rId17"/>
    <p:sldId id="327" r:id="rId18"/>
    <p:sldId id="350" r:id="rId19"/>
    <p:sldId id="307" r:id="rId20"/>
    <p:sldId id="328" r:id="rId21"/>
    <p:sldId id="351" r:id="rId22"/>
    <p:sldId id="329" r:id="rId23"/>
    <p:sldId id="352" r:id="rId24"/>
    <p:sldId id="310" r:id="rId25"/>
    <p:sldId id="330" r:id="rId26"/>
    <p:sldId id="353" r:id="rId27"/>
    <p:sldId id="274" r:id="rId28"/>
    <p:sldId id="331" r:id="rId29"/>
    <p:sldId id="354" r:id="rId30"/>
    <p:sldId id="332" r:id="rId31"/>
    <p:sldId id="333" r:id="rId32"/>
    <p:sldId id="334" r:id="rId33"/>
    <p:sldId id="335" r:id="rId34"/>
    <p:sldId id="336" r:id="rId35"/>
    <p:sldId id="337" r:id="rId36"/>
    <p:sldId id="338" r:id="rId37"/>
    <p:sldId id="339" r:id="rId38"/>
    <p:sldId id="340" r:id="rId39"/>
    <p:sldId id="341" r:id="rId40"/>
    <p:sldId id="342" r:id="rId41"/>
    <p:sldId id="343" r:id="rId42"/>
    <p:sldId id="344" r:id="rId43"/>
    <p:sldId id="34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1354" autoAdjust="0"/>
  </p:normalViewPr>
  <p:slideViewPr>
    <p:cSldViewPr snapToGrid="0">
      <p:cViewPr varScale="1">
        <p:scale>
          <a:sx n="104" d="100"/>
          <a:sy n="104" d="100"/>
        </p:scale>
        <p:origin x="231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07185-9FD8-40D7-866C-EA52F4AE1B2F}" type="datetimeFigureOut">
              <a:rPr lang="en-US" smtClean="0"/>
              <a:t>11/7/2019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5B860-0185-49D0-AE43-85F1D2C20D0A}" type="slidenum">
              <a:rPr lang="en-US" smtClean="0"/>
              <a:t>‹#›</a:t>
            </a:fld>
            <a:endParaRPr lang="en-US"/>
          </a:p>
        </p:txBody>
      </p:sp>
    </p:spTree>
    <p:extLst>
      <p:ext uri="{BB962C8B-B14F-4D97-AF65-F5344CB8AC3E}">
        <p14:creationId xmlns:p14="http://schemas.microsoft.com/office/powerpoint/2010/main" val="294638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5B860-0185-49D0-AE43-85F1D2C20D0A}" type="slidenum">
              <a:rPr lang="en-US" smtClean="0"/>
              <a:t>1</a:t>
            </a:fld>
            <a:endParaRPr lang="en-US"/>
          </a:p>
        </p:txBody>
      </p:sp>
    </p:spTree>
    <p:extLst>
      <p:ext uri="{BB962C8B-B14F-4D97-AF65-F5344CB8AC3E}">
        <p14:creationId xmlns:p14="http://schemas.microsoft.com/office/powerpoint/2010/main" val="586311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5B860-0185-49D0-AE43-85F1D2C20D0A}" type="slidenum">
              <a:rPr lang="en-US" smtClean="0"/>
              <a:t>3</a:t>
            </a:fld>
            <a:endParaRPr lang="en-US"/>
          </a:p>
        </p:txBody>
      </p:sp>
    </p:spTree>
    <p:extLst>
      <p:ext uri="{BB962C8B-B14F-4D97-AF65-F5344CB8AC3E}">
        <p14:creationId xmlns:p14="http://schemas.microsoft.com/office/powerpoint/2010/main" val="214693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5B860-0185-49D0-AE43-85F1D2C20D0A}" type="slidenum">
              <a:rPr lang="en-US" smtClean="0"/>
              <a:t>4</a:t>
            </a:fld>
            <a:endParaRPr lang="en-US"/>
          </a:p>
        </p:txBody>
      </p:sp>
    </p:spTree>
    <p:extLst>
      <p:ext uri="{BB962C8B-B14F-4D97-AF65-F5344CB8AC3E}">
        <p14:creationId xmlns:p14="http://schemas.microsoft.com/office/powerpoint/2010/main" val="2461705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5B860-0185-49D0-AE43-85F1D2C20D0A}" type="slidenum">
              <a:rPr lang="en-US" smtClean="0"/>
              <a:t>5</a:t>
            </a:fld>
            <a:endParaRPr lang="en-US"/>
          </a:p>
        </p:txBody>
      </p:sp>
    </p:spTree>
    <p:extLst>
      <p:ext uri="{BB962C8B-B14F-4D97-AF65-F5344CB8AC3E}">
        <p14:creationId xmlns:p14="http://schemas.microsoft.com/office/powerpoint/2010/main" val="4425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Put full</a:t>
            </a:r>
            <a:r>
              <a:rPr lang="en-US" altLang="zh-CN" baseline="0" dirty="0" smtClean="0"/>
              <a:t> name for </a:t>
            </a:r>
            <a:r>
              <a:rPr lang="en-US" altLang="zh-CN" baseline="0" dirty="0" err="1" smtClean="0"/>
              <a:t>compal</a:t>
            </a:r>
            <a:r>
              <a:rPr lang="en-US" altLang="zh-CN" baseline="0" dirty="0" smtClean="0"/>
              <a:t> KS - Done</a:t>
            </a:r>
          </a:p>
          <a:p>
            <a:r>
              <a:rPr lang="en-US" altLang="zh-CN" baseline="0" dirty="0" smtClean="0"/>
              <a:t>% of paste Inventec use? - Done</a:t>
            </a:r>
          </a:p>
          <a:p>
            <a:r>
              <a:rPr lang="en-US" altLang="zh-CN" baseline="0" dirty="0" smtClean="0"/>
              <a:t>% for </a:t>
            </a:r>
            <a:r>
              <a:rPr lang="en-US" altLang="zh-CN" baseline="0" dirty="0" err="1" smtClean="0"/>
              <a:t>compal</a:t>
            </a:r>
            <a:r>
              <a:rPr lang="en-US" altLang="zh-CN" baseline="0" dirty="0" smtClean="0"/>
              <a:t> - Done</a:t>
            </a:r>
            <a:endParaRPr lang="zh-CN" altLang="en-US" dirty="0"/>
          </a:p>
        </p:txBody>
      </p:sp>
      <p:sp>
        <p:nvSpPr>
          <p:cNvPr id="4" name="Slide Number Placeholder 3"/>
          <p:cNvSpPr>
            <a:spLocks noGrp="1"/>
          </p:cNvSpPr>
          <p:nvPr>
            <p:ph type="sldNum" sz="quarter" idx="10"/>
          </p:nvPr>
        </p:nvSpPr>
        <p:spPr/>
        <p:txBody>
          <a:bodyPr/>
          <a:lstStyle/>
          <a:p>
            <a:fld id="{49B5B860-0185-49D0-AE43-85F1D2C20D0A}" type="slidenum">
              <a:rPr lang="en-US" smtClean="0"/>
              <a:t>7</a:t>
            </a:fld>
            <a:endParaRPr lang="en-US"/>
          </a:p>
        </p:txBody>
      </p:sp>
    </p:spTree>
    <p:extLst>
      <p:ext uri="{BB962C8B-B14F-4D97-AF65-F5344CB8AC3E}">
        <p14:creationId xmlns:p14="http://schemas.microsoft.com/office/powerpoint/2010/main" val="4222835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49B5B860-0185-49D0-AE43-85F1D2C20D0A}" type="slidenum">
              <a:rPr lang="en-US" smtClean="0"/>
              <a:t>8</a:t>
            </a:fld>
            <a:endParaRPr lang="en-US"/>
          </a:p>
        </p:txBody>
      </p:sp>
    </p:spTree>
    <p:extLst>
      <p:ext uri="{BB962C8B-B14F-4D97-AF65-F5344CB8AC3E}">
        <p14:creationId xmlns:p14="http://schemas.microsoft.com/office/powerpoint/2010/main" val="1579922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Try to get the print model</a:t>
            </a:r>
            <a:r>
              <a:rPr lang="en-US" altLang="zh-CN" baseline="0" dirty="0" smtClean="0"/>
              <a:t> name.</a:t>
            </a:r>
          </a:p>
          <a:p>
            <a:r>
              <a:rPr lang="en-US" altLang="zh-CN" baseline="0" dirty="0" smtClean="0"/>
              <a:t>% of 4mil and 5mil? For future survey</a:t>
            </a:r>
          </a:p>
          <a:p>
            <a:r>
              <a:rPr lang="en-US" altLang="zh-CN" baseline="0" dirty="0" smtClean="0"/>
              <a:t>MSFT ask for 3mil for ICL U for modeling.</a:t>
            </a:r>
            <a:endParaRPr lang="zh-CN" altLang="en-US" dirty="0"/>
          </a:p>
        </p:txBody>
      </p:sp>
      <p:sp>
        <p:nvSpPr>
          <p:cNvPr id="4" name="Slide Number Placeholder 3"/>
          <p:cNvSpPr>
            <a:spLocks noGrp="1"/>
          </p:cNvSpPr>
          <p:nvPr>
            <p:ph type="sldNum" sz="quarter" idx="10"/>
          </p:nvPr>
        </p:nvSpPr>
        <p:spPr/>
        <p:txBody>
          <a:bodyPr/>
          <a:lstStyle/>
          <a:p>
            <a:fld id="{49B5B860-0185-49D0-AE43-85F1D2C20D0A}" type="slidenum">
              <a:rPr lang="en-US" smtClean="0"/>
              <a:t>9</a:t>
            </a:fld>
            <a:endParaRPr lang="en-US"/>
          </a:p>
        </p:txBody>
      </p:sp>
    </p:spTree>
    <p:extLst>
      <p:ext uri="{BB962C8B-B14F-4D97-AF65-F5344CB8AC3E}">
        <p14:creationId xmlns:p14="http://schemas.microsoft.com/office/powerpoint/2010/main" val="3498525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Try to get the print model</a:t>
            </a:r>
            <a:r>
              <a:rPr lang="en-US" altLang="zh-CN" baseline="0" dirty="0" smtClean="0"/>
              <a:t> name.</a:t>
            </a:r>
          </a:p>
          <a:p>
            <a:r>
              <a:rPr lang="en-US" altLang="zh-CN" baseline="0" dirty="0" smtClean="0"/>
              <a:t>% of 4mil and 5mil? For future survey</a:t>
            </a:r>
          </a:p>
          <a:p>
            <a:r>
              <a:rPr lang="en-US" altLang="zh-CN" baseline="0" dirty="0" smtClean="0"/>
              <a:t>MSFT ask for 3mil for ICL U for modeling.</a:t>
            </a:r>
            <a:endParaRPr lang="zh-CN" altLang="en-US" dirty="0"/>
          </a:p>
        </p:txBody>
      </p:sp>
      <p:sp>
        <p:nvSpPr>
          <p:cNvPr id="4" name="Slide Number Placeholder 3"/>
          <p:cNvSpPr>
            <a:spLocks noGrp="1"/>
          </p:cNvSpPr>
          <p:nvPr>
            <p:ph type="sldNum" sz="quarter" idx="10"/>
          </p:nvPr>
        </p:nvSpPr>
        <p:spPr/>
        <p:txBody>
          <a:bodyPr/>
          <a:lstStyle/>
          <a:p>
            <a:fld id="{49B5B860-0185-49D0-AE43-85F1D2C20D0A}" type="slidenum">
              <a:rPr lang="en-US" smtClean="0"/>
              <a:t>10</a:t>
            </a:fld>
            <a:endParaRPr lang="en-US"/>
          </a:p>
        </p:txBody>
      </p:sp>
    </p:spTree>
    <p:extLst>
      <p:ext uri="{BB962C8B-B14F-4D97-AF65-F5344CB8AC3E}">
        <p14:creationId xmlns:p14="http://schemas.microsoft.com/office/powerpoint/2010/main" val="693972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49B5B860-0185-49D0-AE43-85F1D2C20D0A}" type="slidenum">
              <a:rPr lang="en-US" smtClean="0"/>
              <a:t>11</a:t>
            </a:fld>
            <a:endParaRPr lang="en-US"/>
          </a:p>
        </p:txBody>
      </p:sp>
    </p:spTree>
    <p:extLst>
      <p:ext uri="{BB962C8B-B14F-4D97-AF65-F5344CB8AC3E}">
        <p14:creationId xmlns:p14="http://schemas.microsoft.com/office/powerpoint/2010/main" val="2909404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49B5B860-0185-49D0-AE43-85F1D2C20D0A}" type="slidenum">
              <a:rPr lang="en-US" smtClean="0"/>
              <a:t>12</a:t>
            </a:fld>
            <a:endParaRPr lang="en-US"/>
          </a:p>
        </p:txBody>
      </p:sp>
    </p:spTree>
    <p:extLst>
      <p:ext uri="{BB962C8B-B14F-4D97-AF65-F5344CB8AC3E}">
        <p14:creationId xmlns:p14="http://schemas.microsoft.com/office/powerpoint/2010/main" val="1988892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13</a:t>
            </a:fld>
            <a:endParaRPr lang="en-US"/>
          </a:p>
        </p:txBody>
      </p:sp>
    </p:spTree>
    <p:extLst>
      <p:ext uri="{BB962C8B-B14F-4D97-AF65-F5344CB8AC3E}">
        <p14:creationId xmlns:p14="http://schemas.microsoft.com/office/powerpoint/2010/main" val="1349475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14</a:t>
            </a:fld>
            <a:endParaRPr lang="en-US"/>
          </a:p>
        </p:txBody>
      </p:sp>
    </p:spTree>
    <p:extLst>
      <p:ext uri="{BB962C8B-B14F-4D97-AF65-F5344CB8AC3E}">
        <p14:creationId xmlns:p14="http://schemas.microsoft.com/office/powerpoint/2010/main" val="563369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15</a:t>
            </a:fld>
            <a:endParaRPr lang="en-US"/>
          </a:p>
        </p:txBody>
      </p:sp>
    </p:spTree>
    <p:extLst>
      <p:ext uri="{BB962C8B-B14F-4D97-AF65-F5344CB8AC3E}">
        <p14:creationId xmlns:p14="http://schemas.microsoft.com/office/powerpoint/2010/main" val="2679584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17</a:t>
            </a:fld>
            <a:endParaRPr lang="en-US"/>
          </a:p>
        </p:txBody>
      </p:sp>
    </p:spTree>
    <p:extLst>
      <p:ext uri="{BB962C8B-B14F-4D97-AF65-F5344CB8AC3E}">
        <p14:creationId xmlns:p14="http://schemas.microsoft.com/office/powerpoint/2010/main" val="35709699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18</a:t>
            </a:fld>
            <a:endParaRPr lang="en-US"/>
          </a:p>
        </p:txBody>
      </p:sp>
    </p:spTree>
    <p:extLst>
      <p:ext uri="{BB962C8B-B14F-4D97-AF65-F5344CB8AC3E}">
        <p14:creationId xmlns:p14="http://schemas.microsoft.com/office/powerpoint/2010/main" val="3129211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20</a:t>
            </a:fld>
            <a:endParaRPr lang="en-US"/>
          </a:p>
        </p:txBody>
      </p:sp>
    </p:spTree>
    <p:extLst>
      <p:ext uri="{BB962C8B-B14F-4D97-AF65-F5344CB8AC3E}">
        <p14:creationId xmlns:p14="http://schemas.microsoft.com/office/powerpoint/2010/main" val="1822640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21</a:t>
            </a:fld>
            <a:endParaRPr lang="en-US"/>
          </a:p>
        </p:txBody>
      </p:sp>
    </p:spTree>
    <p:extLst>
      <p:ext uri="{BB962C8B-B14F-4D97-AF65-F5344CB8AC3E}">
        <p14:creationId xmlns:p14="http://schemas.microsoft.com/office/powerpoint/2010/main" val="3821244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22</a:t>
            </a:fld>
            <a:endParaRPr lang="en-US"/>
          </a:p>
        </p:txBody>
      </p:sp>
    </p:spTree>
    <p:extLst>
      <p:ext uri="{BB962C8B-B14F-4D97-AF65-F5344CB8AC3E}">
        <p14:creationId xmlns:p14="http://schemas.microsoft.com/office/powerpoint/2010/main" val="2707366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23</a:t>
            </a:fld>
            <a:endParaRPr lang="en-US"/>
          </a:p>
        </p:txBody>
      </p:sp>
    </p:spTree>
    <p:extLst>
      <p:ext uri="{BB962C8B-B14F-4D97-AF65-F5344CB8AC3E}">
        <p14:creationId xmlns:p14="http://schemas.microsoft.com/office/powerpoint/2010/main" val="1255574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25</a:t>
            </a:fld>
            <a:endParaRPr lang="en-US"/>
          </a:p>
        </p:txBody>
      </p:sp>
    </p:spTree>
    <p:extLst>
      <p:ext uri="{BB962C8B-B14F-4D97-AF65-F5344CB8AC3E}">
        <p14:creationId xmlns:p14="http://schemas.microsoft.com/office/powerpoint/2010/main" val="1136488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26</a:t>
            </a:fld>
            <a:endParaRPr lang="en-US"/>
          </a:p>
        </p:txBody>
      </p:sp>
    </p:spTree>
    <p:extLst>
      <p:ext uri="{BB962C8B-B14F-4D97-AF65-F5344CB8AC3E}">
        <p14:creationId xmlns:p14="http://schemas.microsoft.com/office/powerpoint/2010/main" val="3852278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28</a:t>
            </a:fld>
            <a:endParaRPr lang="en-US"/>
          </a:p>
        </p:txBody>
      </p:sp>
    </p:spTree>
    <p:extLst>
      <p:ext uri="{BB962C8B-B14F-4D97-AF65-F5344CB8AC3E}">
        <p14:creationId xmlns:p14="http://schemas.microsoft.com/office/powerpoint/2010/main" val="36591022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29</a:t>
            </a:fld>
            <a:endParaRPr lang="en-US"/>
          </a:p>
        </p:txBody>
      </p:sp>
    </p:spTree>
    <p:extLst>
      <p:ext uri="{BB962C8B-B14F-4D97-AF65-F5344CB8AC3E}">
        <p14:creationId xmlns:p14="http://schemas.microsoft.com/office/powerpoint/2010/main" val="1234838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31</a:t>
            </a:fld>
            <a:endParaRPr lang="en-US"/>
          </a:p>
        </p:txBody>
      </p:sp>
    </p:spTree>
    <p:extLst>
      <p:ext uri="{BB962C8B-B14F-4D97-AF65-F5344CB8AC3E}">
        <p14:creationId xmlns:p14="http://schemas.microsoft.com/office/powerpoint/2010/main" val="3322072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5B860-0185-49D0-AE43-85F1D2C20D0A}" type="slidenum">
              <a:rPr lang="en-US" smtClean="0"/>
              <a:t>33</a:t>
            </a:fld>
            <a:endParaRPr lang="en-US"/>
          </a:p>
        </p:txBody>
      </p:sp>
    </p:spTree>
    <p:extLst>
      <p:ext uri="{BB962C8B-B14F-4D97-AF65-F5344CB8AC3E}">
        <p14:creationId xmlns:p14="http://schemas.microsoft.com/office/powerpoint/2010/main" val="30854268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B5B860-0185-49D0-AE43-85F1D2C20D0A}" type="slidenum">
              <a:rPr lang="en-US" smtClean="0"/>
              <a:t>34</a:t>
            </a:fld>
            <a:endParaRPr lang="en-US"/>
          </a:p>
        </p:txBody>
      </p:sp>
    </p:spTree>
    <p:extLst>
      <p:ext uri="{BB962C8B-B14F-4D97-AF65-F5344CB8AC3E}">
        <p14:creationId xmlns:p14="http://schemas.microsoft.com/office/powerpoint/2010/main" val="4218786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36</a:t>
            </a:fld>
            <a:endParaRPr lang="en-US"/>
          </a:p>
        </p:txBody>
      </p:sp>
    </p:spTree>
    <p:extLst>
      <p:ext uri="{BB962C8B-B14F-4D97-AF65-F5344CB8AC3E}">
        <p14:creationId xmlns:p14="http://schemas.microsoft.com/office/powerpoint/2010/main" val="674461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49B5B860-0185-49D0-AE43-85F1D2C20D0A}" type="slidenum">
              <a:rPr lang="en-US" smtClean="0"/>
              <a:t>42</a:t>
            </a:fld>
            <a:endParaRPr lang="en-US"/>
          </a:p>
        </p:txBody>
      </p:sp>
    </p:spTree>
    <p:extLst>
      <p:ext uri="{BB962C8B-B14F-4D97-AF65-F5344CB8AC3E}">
        <p14:creationId xmlns:p14="http://schemas.microsoft.com/office/powerpoint/2010/main" val="1688239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intel_rgb_17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6163" y="538163"/>
            <a:ext cx="12985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5"/>
          <p:cNvSpPr>
            <a:spLocks noChangeArrowheads="1"/>
          </p:cNvSpPr>
          <p:nvPr userDrawn="1"/>
        </p:nvSpPr>
        <p:spPr bwMode="auto">
          <a:xfrm>
            <a:off x="590550" y="4005263"/>
            <a:ext cx="2368550" cy="2424112"/>
          </a:xfrm>
          <a:prstGeom prst="octagon">
            <a:avLst>
              <a:gd name="adj" fmla="val 29287"/>
            </a:avLst>
          </a:prstGeom>
          <a:solidFill>
            <a:srgbClr val="FF0000">
              <a:alpha val="89803"/>
            </a:srgbClr>
          </a:solidFill>
          <a:ln w="25400">
            <a:solidFill>
              <a:schemeClr val="bg1"/>
            </a:solidFill>
            <a:miter lim="800000"/>
            <a:headEnd type="none" w="sm" len="sm"/>
            <a:tailEnd type="none" w="sm" len="sm"/>
          </a:ln>
        </p:spPr>
        <p:txBody>
          <a:bodyPr anchor="ctr">
            <a:spAutoFit/>
          </a:bodyPr>
          <a:lstStyle/>
          <a:p>
            <a:pPr eaLnBrk="1" hangingPunct="1"/>
            <a:endParaRPr lang="en-US" sz="1400" dirty="0">
              <a:solidFill>
                <a:schemeClr val="bg1"/>
              </a:solidFill>
              <a:latin typeface="Arial" charset="0"/>
            </a:endParaRPr>
          </a:p>
          <a:p>
            <a:pPr eaLnBrk="1" hangingPunct="1"/>
            <a:r>
              <a:rPr lang="en-US" sz="3600" dirty="0">
                <a:solidFill>
                  <a:schemeClr val="bg1"/>
                </a:solidFill>
                <a:latin typeface="Arial" charset="0"/>
              </a:rPr>
              <a:t>STOP</a:t>
            </a:r>
          </a:p>
          <a:p>
            <a:pPr eaLnBrk="1" hangingPunct="1"/>
            <a:endParaRPr lang="en-US" sz="1200" dirty="0">
              <a:solidFill>
                <a:schemeClr val="bg1"/>
              </a:solidFill>
              <a:latin typeface="Arial" charset="0"/>
            </a:endParaRPr>
          </a:p>
          <a:p>
            <a:pPr eaLnBrk="1" hangingPunct="1"/>
            <a:r>
              <a:rPr lang="en-US" sz="1200" dirty="0">
                <a:solidFill>
                  <a:schemeClr val="bg1"/>
                </a:solidFill>
                <a:latin typeface="Arial" charset="0"/>
              </a:rPr>
              <a:t>Customer Information </a:t>
            </a:r>
          </a:p>
          <a:p>
            <a:pPr eaLnBrk="1" hangingPunct="1"/>
            <a:r>
              <a:rPr lang="en-US" sz="1200" u="sng" dirty="0">
                <a:solidFill>
                  <a:schemeClr val="bg1"/>
                </a:solidFill>
                <a:latin typeface="Arial" charset="0"/>
              </a:rPr>
              <a:t>Under </a:t>
            </a:r>
            <a:r>
              <a:rPr lang="en-US" sz="1200" b="1" u="sng" dirty="0">
                <a:solidFill>
                  <a:schemeClr val="bg1"/>
                </a:solidFill>
                <a:latin typeface="Arial" charset="0"/>
              </a:rPr>
              <a:t>NDA</a:t>
            </a:r>
          </a:p>
          <a:p>
            <a:pPr eaLnBrk="1" hangingPunct="1"/>
            <a:r>
              <a:rPr lang="en-US" sz="1200" dirty="0">
                <a:solidFill>
                  <a:schemeClr val="bg1"/>
                </a:solidFill>
                <a:latin typeface="Arial" charset="0"/>
              </a:rPr>
              <a:t>Intel Internal Use</a:t>
            </a:r>
          </a:p>
          <a:p>
            <a:pPr eaLnBrk="1" hangingPunct="1"/>
            <a:r>
              <a:rPr lang="en-US" sz="1200" dirty="0">
                <a:solidFill>
                  <a:schemeClr val="bg1"/>
                </a:solidFill>
                <a:latin typeface="Arial" charset="0"/>
              </a:rPr>
              <a:t>Only</a:t>
            </a:r>
          </a:p>
        </p:txBody>
      </p:sp>
      <p:sp>
        <p:nvSpPr>
          <p:cNvPr id="5123" name="Rectangle 3"/>
          <p:cNvSpPr>
            <a:spLocks noGrp="1" noChangeArrowheads="1"/>
          </p:cNvSpPr>
          <p:nvPr>
            <p:ph type="ctrTitle"/>
          </p:nvPr>
        </p:nvSpPr>
        <p:spPr>
          <a:xfrm>
            <a:off x="2420938" y="3651250"/>
            <a:ext cx="6265862" cy="457200"/>
          </a:xfrm>
        </p:spPr>
        <p:txBody>
          <a:bodyPr anchor="b">
            <a:spAutoFit/>
          </a:bodyPr>
          <a:lstStyle>
            <a:lvl1pPr algn="r">
              <a:defRPr sz="3000">
                <a:solidFill>
                  <a:srgbClr val="0860A8"/>
                </a:solidFill>
              </a:defRPr>
            </a:lvl1pPr>
          </a:lstStyle>
          <a:p>
            <a:r>
              <a:rPr lang="en-US"/>
              <a:t>Click to edit Master title style</a:t>
            </a:r>
          </a:p>
        </p:txBody>
      </p:sp>
      <p:sp>
        <p:nvSpPr>
          <p:cNvPr id="5124" name="Rectangle 4"/>
          <p:cNvSpPr>
            <a:spLocks noGrp="1" noChangeArrowheads="1"/>
          </p:cNvSpPr>
          <p:nvPr>
            <p:ph type="subTitle" idx="1"/>
          </p:nvPr>
        </p:nvSpPr>
        <p:spPr>
          <a:xfrm>
            <a:off x="2406650" y="4478338"/>
            <a:ext cx="6280150" cy="457200"/>
          </a:xfrm>
        </p:spPr>
        <p:txBody>
          <a:bodyPr wrap="none">
            <a:spAutoFit/>
          </a:bodyPr>
          <a:lstStyle>
            <a:lvl1pPr algn="r">
              <a:defRPr sz="3000">
                <a:solidFill>
                  <a:srgbClr val="0860A8"/>
                </a:solidFill>
              </a:defRPr>
            </a:lvl1pPr>
          </a:lstStyle>
          <a:p>
            <a:r>
              <a:rPr lang="en-US"/>
              <a:t>Click to edit Master subtitle style</a:t>
            </a:r>
          </a:p>
        </p:txBody>
      </p:sp>
    </p:spTree>
    <p:extLst>
      <p:ext uri="{BB962C8B-B14F-4D97-AF65-F5344CB8AC3E}">
        <p14:creationId xmlns:p14="http://schemas.microsoft.com/office/powerpoint/2010/main" val="178479171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4" name="Rectangle 5"/>
          <p:cNvSpPr>
            <a:spLocks noGrp="1" noChangeArrowheads="1"/>
          </p:cNvSpPr>
          <p:nvPr>
            <p:ph type="dt" sz="half" idx="10"/>
          </p:nvPr>
        </p:nvSpPr>
        <p:spPr>
          <a:ln/>
        </p:spPr>
        <p:txBody>
          <a:bodyPr/>
          <a:lstStyle>
            <a:lvl1pPr>
              <a:defRPr/>
            </a:lvl1pPr>
          </a:lstStyle>
          <a:p>
            <a:pPr>
              <a:defRPr/>
            </a:pPr>
            <a:fld id="{63F55D9A-6D29-4D50-86F0-F4CC0ABF6DBC}" type="datetime1">
              <a:rPr lang="en-US" smtClean="0"/>
              <a:t>11/7/2019</a:t>
            </a:fld>
            <a:endParaRPr lang="en-US" dirty="0"/>
          </a:p>
        </p:txBody>
      </p:sp>
      <p:sp>
        <p:nvSpPr>
          <p:cNvPr id="5" name="Rectangle 7"/>
          <p:cNvSpPr>
            <a:spLocks noGrp="1" noChangeArrowheads="1"/>
          </p:cNvSpPr>
          <p:nvPr>
            <p:ph type="sldNum" sz="quarter" idx="11"/>
          </p:nvPr>
        </p:nvSpPr>
        <p:spPr>
          <a:ln/>
        </p:spPr>
        <p:txBody>
          <a:bodyPr/>
          <a:lstStyle>
            <a:lvl1pPr>
              <a:defRPr/>
            </a:lvl1pPr>
          </a:lstStyle>
          <a:p>
            <a:pPr>
              <a:defRPr/>
            </a:pPr>
            <a:fld id="{A981B834-8D6B-43A4-B359-26F0172CC691}" type="slidenum">
              <a:rPr lang="en-US"/>
              <a:pPr>
                <a:defRPr/>
              </a:pPr>
              <a:t>‹#›</a:t>
            </a:fld>
            <a:endParaRPr lang="en-US" dirty="0"/>
          </a:p>
        </p:txBody>
      </p:sp>
      <p:sp>
        <p:nvSpPr>
          <p:cNvPr id="6"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184809008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fld id="{9FAB6771-761A-4868-9897-D385611F56FD}" type="datetime1">
              <a:rPr lang="en-US" smtClean="0"/>
              <a:t>11/7/2019</a:t>
            </a:fld>
            <a:endParaRPr lang="en-US" dirty="0"/>
          </a:p>
        </p:txBody>
      </p:sp>
      <p:sp>
        <p:nvSpPr>
          <p:cNvPr id="5" name="Rectangle 7"/>
          <p:cNvSpPr>
            <a:spLocks noGrp="1" noChangeArrowheads="1"/>
          </p:cNvSpPr>
          <p:nvPr>
            <p:ph type="sldNum" sz="quarter" idx="11"/>
          </p:nvPr>
        </p:nvSpPr>
        <p:spPr>
          <a:ln/>
        </p:spPr>
        <p:txBody>
          <a:bodyPr/>
          <a:lstStyle>
            <a:lvl1pPr>
              <a:defRPr/>
            </a:lvl1pPr>
          </a:lstStyle>
          <a:p>
            <a:pPr>
              <a:defRPr/>
            </a:pPr>
            <a:fld id="{2D3D6763-BC50-44E5-9DBE-C7A65684356C}" type="slidenum">
              <a:rPr lang="en-US"/>
              <a:pPr>
                <a:defRPr/>
              </a:pPr>
              <a:t>‹#›</a:t>
            </a:fld>
            <a:endParaRPr lang="en-US" dirty="0"/>
          </a:p>
        </p:txBody>
      </p:sp>
      <p:sp>
        <p:nvSpPr>
          <p:cNvPr id="6"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586364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371600"/>
            <a:ext cx="4041775"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371600"/>
            <a:ext cx="4043362"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fld id="{401C44E5-98D4-40D3-AB6C-F311509DDB6F}" type="datetime1">
              <a:rPr lang="en-US" smtClean="0"/>
              <a:t>11/7/2019</a:t>
            </a:fld>
            <a:endParaRPr lang="en-US" dirty="0"/>
          </a:p>
        </p:txBody>
      </p:sp>
      <p:sp>
        <p:nvSpPr>
          <p:cNvPr id="6" name="Rectangle 7"/>
          <p:cNvSpPr>
            <a:spLocks noGrp="1" noChangeArrowheads="1"/>
          </p:cNvSpPr>
          <p:nvPr>
            <p:ph type="sldNum" sz="quarter" idx="11"/>
          </p:nvPr>
        </p:nvSpPr>
        <p:spPr>
          <a:ln/>
        </p:spPr>
        <p:txBody>
          <a:bodyPr/>
          <a:lstStyle>
            <a:lvl1pPr>
              <a:defRPr/>
            </a:lvl1pPr>
          </a:lstStyle>
          <a:p>
            <a:pPr>
              <a:defRPr/>
            </a:pPr>
            <a:fld id="{4C6E6DCE-B720-403C-87F1-09E529B416A3}" type="slidenum">
              <a:rPr lang="en-US"/>
              <a:pPr>
                <a:defRPr/>
              </a:pPr>
              <a:t>‹#›</a:t>
            </a:fld>
            <a:endParaRPr lang="en-US" dirty="0"/>
          </a:p>
        </p:txBody>
      </p:sp>
      <p:sp>
        <p:nvSpPr>
          <p:cNvPr id="7"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187983436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fld id="{36505A29-211D-4F9D-8907-940E34D9B9ED}" type="datetime1">
              <a:rPr lang="en-US" smtClean="0"/>
              <a:t>11/7/2019</a:t>
            </a:fld>
            <a:endParaRPr lang="en-US" dirty="0"/>
          </a:p>
        </p:txBody>
      </p:sp>
      <p:sp>
        <p:nvSpPr>
          <p:cNvPr id="8" name="Rectangle 7"/>
          <p:cNvSpPr>
            <a:spLocks noGrp="1" noChangeArrowheads="1"/>
          </p:cNvSpPr>
          <p:nvPr>
            <p:ph type="sldNum" sz="quarter" idx="11"/>
          </p:nvPr>
        </p:nvSpPr>
        <p:spPr>
          <a:ln/>
        </p:spPr>
        <p:txBody>
          <a:bodyPr/>
          <a:lstStyle>
            <a:lvl1pPr>
              <a:defRPr/>
            </a:lvl1pPr>
          </a:lstStyle>
          <a:p>
            <a:pPr>
              <a:defRPr/>
            </a:pPr>
            <a:fld id="{353AD820-A819-425B-8E97-67125C85A9C9}" type="slidenum">
              <a:rPr lang="en-US"/>
              <a:pPr>
                <a:defRPr/>
              </a:pPr>
              <a:t>‹#›</a:t>
            </a:fld>
            <a:endParaRPr lang="en-US" dirty="0"/>
          </a:p>
        </p:txBody>
      </p:sp>
      <p:sp>
        <p:nvSpPr>
          <p:cNvPr id="9"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16557519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fld id="{DDBC14D2-064D-4138-AD2B-B67FF0F7A6A1}" type="datetime1">
              <a:rPr lang="en-US" smtClean="0"/>
              <a:t>11/7/2019</a:t>
            </a:fld>
            <a:endParaRPr lang="en-US" dirty="0"/>
          </a:p>
        </p:txBody>
      </p:sp>
      <p:sp>
        <p:nvSpPr>
          <p:cNvPr id="4" name="Rectangle 7"/>
          <p:cNvSpPr>
            <a:spLocks noGrp="1" noChangeArrowheads="1"/>
          </p:cNvSpPr>
          <p:nvPr>
            <p:ph type="sldNum" sz="quarter" idx="11"/>
          </p:nvPr>
        </p:nvSpPr>
        <p:spPr>
          <a:ln/>
        </p:spPr>
        <p:txBody>
          <a:bodyPr/>
          <a:lstStyle>
            <a:lvl1pPr>
              <a:defRPr/>
            </a:lvl1pPr>
          </a:lstStyle>
          <a:p>
            <a:pPr>
              <a:defRPr/>
            </a:pPr>
            <a:fld id="{AEEA5A58-08C7-4F99-AFE2-9F0A58578878}" type="slidenum">
              <a:rPr lang="en-US"/>
              <a:pPr>
                <a:defRPr/>
              </a:pPr>
              <a:t>‹#›</a:t>
            </a:fld>
            <a:endParaRPr lang="en-US" dirty="0"/>
          </a:p>
        </p:txBody>
      </p:sp>
      <p:sp>
        <p:nvSpPr>
          <p:cNvPr id="5"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388655126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fld id="{5569D7B2-60A3-4196-8D9D-1D56C57857BC}" type="datetime1">
              <a:rPr lang="en-US" smtClean="0"/>
              <a:t>11/7/2019</a:t>
            </a:fld>
            <a:endParaRPr lang="en-US" dirty="0"/>
          </a:p>
        </p:txBody>
      </p:sp>
      <p:sp>
        <p:nvSpPr>
          <p:cNvPr id="3" name="Rectangle 7"/>
          <p:cNvSpPr>
            <a:spLocks noGrp="1" noChangeArrowheads="1"/>
          </p:cNvSpPr>
          <p:nvPr>
            <p:ph type="sldNum" sz="quarter" idx="11"/>
          </p:nvPr>
        </p:nvSpPr>
        <p:spPr>
          <a:ln/>
        </p:spPr>
        <p:txBody>
          <a:bodyPr/>
          <a:lstStyle>
            <a:lvl1pPr>
              <a:defRPr/>
            </a:lvl1pPr>
          </a:lstStyle>
          <a:p>
            <a:pPr>
              <a:defRPr/>
            </a:pPr>
            <a:fld id="{349AF4E6-0A42-41FC-9642-27C1443E8580}" type="slidenum">
              <a:rPr lang="en-US"/>
              <a:pPr>
                <a:defRPr/>
              </a:pPr>
              <a:t>‹#›</a:t>
            </a:fld>
            <a:endParaRPr lang="en-US" dirty="0"/>
          </a:p>
        </p:txBody>
      </p:sp>
      <p:sp>
        <p:nvSpPr>
          <p:cNvPr id="4"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267680950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fld id="{2E90B1C0-6FD2-4E4C-A81E-8DB559E815F3}" type="datetime1">
              <a:rPr lang="en-US" smtClean="0"/>
              <a:t>11/7/2019</a:t>
            </a:fld>
            <a:endParaRPr lang="en-US" dirty="0"/>
          </a:p>
        </p:txBody>
      </p:sp>
      <p:sp>
        <p:nvSpPr>
          <p:cNvPr id="6" name="Rectangle 7"/>
          <p:cNvSpPr>
            <a:spLocks noGrp="1" noChangeArrowheads="1"/>
          </p:cNvSpPr>
          <p:nvPr>
            <p:ph type="sldNum" sz="quarter" idx="11"/>
          </p:nvPr>
        </p:nvSpPr>
        <p:spPr>
          <a:ln/>
        </p:spPr>
        <p:txBody>
          <a:bodyPr/>
          <a:lstStyle>
            <a:lvl1pPr>
              <a:defRPr/>
            </a:lvl1pPr>
          </a:lstStyle>
          <a:p>
            <a:pPr>
              <a:defRPr/>
            </a:pPr>
            <a:fld id="{71FDF728-A66D-44A5-A1CE-54676FF5B516}" type="slidenum">
              <a:rPr lang="en-US"/>
              <a:pPr>
                <a:defRPr/>
              </a:pPr>
              <a:t>‹#›</a:t>
            </a:fld>
            <a:endParaRPr lang="en-US" dirty="0"/>
          </a:p>
        </p:txBody>
      </p:sp>
      <p:sp>
        <p:nvSpPr>
          <p:cNvPr id="7"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193559679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fld id="{C3825597-6124-4EBC-881A-3309B4FE72E0}" type="datetime1">
              <a:rPr lang="en-US" smtClean="0"/>
              <a:t>11/7/2019</a:t>
            </a:fld>
            <a:endParaRPr lang="en-US" dirty="0"/>
          </a:p>
        </p:txBody>
      </p:sp>
      <p:sp>
        <p:nvSpPr>
          <p:cNvPr id="6" name="Rectangle 7"/>
          <p:cNvSpPr>
            <a:spLocks noGrp="1" noChangeArrowheads="1"/>
          </p:cNvSpPr>
          <p:nvPr>
            <p:ph type="sldNum" sz="quarter" idx="11"/>
          </p:nvPr>
        </p:nvSpPr>
        <p:spPr>
          <a:ln/>
        </p:spPr>
        <p:txBody>
          <a:bodyPr/>
          <a:lstStyle>
            <a:lvl1pPr>
              <a:defRPr/>
            </a:lvl1pPr>
          </a:lstStyle>
          <a:p>
            <a:pPr>
              <a:defRPr/>
            </a:pPr>
            <a:fld id="{9A2163C3-19C0-4F2C-B682-45D0A79B4F28}" type="slidenum">
              <a:rPr lang="en-US"/>
              <a:pPr>
                <a:defRPr/>
              </a:pPr>
              <a:t>‹#›</a:t>
            </a:fld>
            <a:endParaRPr lang="en-US" dirty="0"/>
          </a:p>
        </p:txBody>
      </p:sp>
      <p:sp>
        <p:nvSpPr>
          <p:cNvPr id="7"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165367415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fld id="{2C12CB96-30D1-476F-A434-DDFBF1F7FC64}" type="datetime1">
              <a:rPr lang="en-US" smtClean="0"/>
              <a:t>11/7/2019</a:t>
            </a:fld>
            <a:endParaRPr lang="en-US" dirty="0"/>
          </a:p>
        </p:txBody>
      </p:sp>
      <p:sp>
        <p:nvSpPr>
          <p:cNvPr id="5" name="Rectangle 7"/>
          <p:cNvSpPr>
            <a:spLocks noGrp="1" noChangeArrowheads="1"/>
          </p:cNvSpPr>
          <p:nvPr>
            <p:ph type="sldNum" sz="quarter" idx="11"/>
          </p:nvPr>
        </p:nvSpPr>
        <p:spPr>
          <a:ln/>
        </p:spPr>
        <p:txBody>
          <a:bodyPr/>
          <a:lstStyle>
            <a:lvl1pPr>
              <a:defRPr/>
            </a:lvl1pPr>
          </a:lstStyle>
          <a:p>
            <a:pPr>
              <a:defRPr/>
            </a:pPr>
            <a:fld id="{6B7BC3B9-46E7-4CB0-A2B0-71B9EAC77D78}" type="slidenum">
              <a:rPr lang="en-US"/>
              <a:pPr>
                <a:defRPr/>
              </a:pPr>
              <a:t>‹#›</a:t>
            </a:fld>
            <a:endParaRPr lang="en-US" dirty="0"/>
          </a:p>
        </p:txBody>
      </p:sp>
      <p:sp>
        <p:nvSpPr>
          <p:cNvPr id="6"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305099295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4163" y="273050"/>
            <a:ext cx="2058987" cy="54419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73050"/>
            <a:ext cx="6026150" cy="54419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fld id="{D8BBF505-F994-430B-94D1-F16AEBFA583A}" type="datetime1">
              <a:rPr lang="en-US" smtClean="0"/>
              <a:t>11/7/2019</a:t>
            </a:fld>
            <a:endParaRPr lang="en-US" dirty="0"/>
          </a:p>
        </p:txBody>
      </p:sp>
      <p:sp>
        <p:nvSpPr>
          <p:cNvPr id="5" name="Rectangle 7"/>
          <p:cNvSpPr>
            <a:spLocks noGrp="1" noChangeArrowheads="1"/>
          </p:cNvSpPr>
          <p:nvPr>
            <p:ph type="sldNum" sz="quarter" idx="11"/>
          </p:nvPr>
        </p:nvSpPr>
        <p:spPr>
          <a:ln/>
        </p:spPr>
        <p:txBody>
          <a:bodyPr/>
          <a:lstStyle>
            <a:lvl1pPr>
              <a:defRPr/>
            </a:lvl1pPr>
          </a:lstStyle>
          <a:p>
            <a:pPr>
              <a:defRPr/>
            </a:pPr>
            <a:fld id="{8D4E9BD9-62AA-4464-862A-BA385D06D05B}" type="slidenum">
              <a:rPr lang="en-US"/>
              <a:pPr>
                <a:defRPr/>
              </a:pPr>
              <a:t>‹#›</a:t>
            </a:fld>
            <a:endParaRPr lang="en-US" dirty="0"/>
          </a:p>
        </p:txBody>
      </p:sp>
      <p:sp>
        <p:nvSpPr>
          <p:cNvPr id="6" name="Rectangle 11"/>
          <p:cNvSpPr>
            <a:spLocks noGrp="1" noChangeArrowheads="1"/>
          </p:cNvSpPr>
          <p:nvPr>
            <p:ph type="ftr" sz="quarter" idx="12"/>
          </p:nvPr>
        </p:nvSpPr>
        <p:spPr>
          <a:ln/>
        </p:spPr>
        <p:txBody>
          <a:bodyPr/>
          <a:lstStyle>
            <a:lvl1pPr>
              <a:defRPr/>
            </a:lvl1pPr>
          </a:lstStyle>
          <a:p>
            <a:pPr>
              <a:defRPr/>
            </a:pPr>
            <a:r>
              <a:rPr lang="en-US" dirty="0" smtClean="0"/>
              <a:t>CMEE – Customer Manufacturing Enabling &amp; Engineering / Intel Confidential / Collected Under NDA                                     Mobile 201 CRD Summary</a:t>
            </a:r>
            <a:endParaRPr lang="en-US" dirty="0"/>
          </a:p>
        </p:txBody>
      </p:sp>
    </p:spTree>
    <p:extLst>
      <p:ext uri="{BB962C8B-B14F-4D97-AF65-F5344CB8AC3E}">
        <p14:creationId xmlns:p14="http://schemas.microsoft.com/office/powerpoint/2010/main" val="309994388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white">
          <a:xfrm>
            <a:off x="3175" y="6037637"/>
            <a:ext cx="9140825" cy="828675"/>
          </a:xfrm>
          <a:prstGeom prst="rect">
            <a:avLst/>
          </a:prstGeom>
          <a:solidFill>
            <a:srgbClr val="086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027" name="Rectangle 3"/>
          <p:cNvSpPr>
            <a:spLocks noGrp="1" noChangeArrowheads="1"/>
          </p:cNvSpPr>
          <p:nvPr>
            <p:ph type="title"/>
          </p:nvPr>
        </p:nvSpPr>
        <p:spPr bwMode="auto">
          <a:xfrm>
            <a:off x="455613" y="273050"/>
            <a:ext cx="823753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1028" name="Rectangle 4"/>
          <p:cNvSpPr>
            <a:spLocks noGrp="1" noChangeArrowheads="1"/>
          </p:cNvSpPr>
          <p:nvPr>
            <p:ph type="body" idx="1"/>
          </p:nvPr>
        </p:nvSpPr>
        <p:spPr bwMode="auto">
          <a:xfrm>
            <a:off x="455613" y="1371600"/>
            <a:ext cx="823753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101" name="Rectangle 5"/>
          <p:cNvSpPr>
            <a:spLocks noGrp="1" noChangeArrowheads="1"/>
          </p:cNvSpPr>
          <p:nvPr>
            <p:ph type="dt" sz="half" idx="2"/>
          </p:nvPr>
        </p:nvSpPr>
        <p:spPr bwMode="auto">
          <a:xfrm>
            <a:off x="915988" y="6357938"/>
            <a:ext cx="752475" cy="3048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sz="800" b="1">
                <a:solidFill>
                  <a:srgbClr val="FFFFFF"/>
                </a:solidFill>
                <a:cs typeface="Arial" pitchFamily="34" charset="0"/>
              </a:defRPr>
            </a:lvl1pPr>
          </a:lstStyle>
          <a:p>
            <a:pPr>
              <a:defRPr/>
            </a:pPr>
            <a:fld id="{649DA84E-7B68-4ADA-9629-27ADCEECE955}" type="datetime1">
              <a:rPr lang="en-US" smtClean="0"/>
              <a:t>11/7/2019</a:t>
            </a:fld>
            <a:endParaRPr lang="en-US" dirty="0"/>
          </a:p>
        </p:txBody>
      </p:sp>
      <p:sp>
        <p:nvSpPr>
          <p:cNvPr id="4103" name="Rectangle 7"/>
          <p:cNvSpPr>
            <a:spLocks noGrp="1" noChangeArrowheads="1"/>
          </p:cNvSpPr>
          <p:nvPr>
            <p:ph type="sldNum" sz="quarter" idx="4"/>
          </p:nvPr>
        </p:nvSpPr>
        <p:spPr bwMode="auto">
          <a:xfrm>
            <a:off x="458788" y="6357938"/>
            <a:ext cx="415925" cy="3048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sz="800" b="1">
                <a:solidFill>
                  <a:schemeClr val="bg1"/>
                </a:solidFill>
                <a:cs typeface="Arial" pitchFamily="34" charset="0"/>
              </a:defRPr>
            </a:lvl1pPr>
          </a:lstStyle>
          <a:p>
            <a:pPr>
              <a:defRPr/>
            </a:pPr>
            <a:fld id="{F0025F06-8835-4059-B522-FA96843AA8BC}" type="slidenum">
              <a:rPr lang="en-US"/>
              <a:pPr>
                <a:defRPr/>
              </a:pPr>
              <a:t>‹#›</a:t>
            </a:fld>
            <a:endParaRPr lang="en-US" dirty="0"/>
          </a:p>
        </p:txBody>
      </p:sp>
      <p:pic>
        <p:nvPicPr>
          <p:cNvPr id="1031" name="Picture 8" descr="Intel_whit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89875" y="6169025"/>
            <a:ext cx="811213"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7" name="Rectangle 11"/>
          <p:cNvSpPr>
            <a:spLocks noGrp="1" noChangeArrowheads="1"/>
          </p:cNvSpPr>
          <p:nvPr>
            <p:ph type="ftr" sz="quarter" idx="3"/>
          </p:nvPr>
        </p:nvSpPr>
        <p:spPr bwMode="auto">
          <a:xfrm>
            <a:off x="1749425" y="6357938"/>
            <a:ext cx="5761038" cy="50006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sz="800" b="1">
                <a:solidFill>
                  <a:srgbClr val="FFFFFF"/>
                </a:solidFill>
                <a:cs typeface="Arial" pitchFamily="34" charset="0"/>
              </a:defRPr>
            </a:lvl1pPr>
          </a:lstStyle>
          <a:p>
            <a:pPr>
              <a:defRPr/>
            </a:pPr>
            <a:r>
              <a:rPr lang="en-US" dirty="0" smtClean="0"/>
              <a:t>CMEE – Customer Manufacturing Enabling &amp; Engineering / Intel Confidential / Collected Under NDA                                     Mobile 2019 CRD Summary</a:t>
            </a:r>
            <a:endParaRPr lang="en-US" dirty="0"/>
          </a:p>
        </p:txBody>
      </p:sp>
    </p:spTree>
    <p:extLst>
      <p:ext uri="{BB962C8B-B14F-4D97-AF65-F5344CB8AC3E}">
        <p14:creationId xmlns:p14="http://schemas.microsoft.com/office/powerpoint/2010/main" val="27255491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p:txStyles>
    <p:title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Verdana" pitchFamily="34" charset="0"/>
        </a:defRPr>
      </a:lvl2pPr>
      <a:lvl3pPr algn="l" rtl="0" eaLnBrk="0" fontAlgn="base" hangingPunct="0">
        <a:spcBef>
          <a:spcPct val="0"/>
        </a:spcBef>
        <a:spcAft>
          <a:spcPct val="0"/>
        </a:spcAft>
        <a:defRPr sz="2600" b="1">
          <a:solidFill>
            <a:schemeClr val="tx1"/>
          </a:solidFill>
          <a:latin typeface="Verdana" pitchFamily="34" charset="0"/>
        </a:defRPr>
      </a:lvl3pPr>
      <a:lvl4pPr algn="l" rtl="0" eaLnBrk="0" fontAlgn="base" hangingPunct="0">
        <a:spcBef>
          <a:spcPct val="0"/>
        </a:spcBef>
        <a:spcAft>
          <a:spcPct val="0"/>
        </a:spcAft>
        <a:defRPr sz="2600" b="1">
          <a:solidFill>
            <a:schemeClr val="tx1"/>
          </a:solidFill>
          <a:latin typeface="Verdana" pitchFamily="34" charset="0"/>
        </a:defRPr>
      </a:lvl4pPr>
      <a:lvl5pPr algn="l" rtl="0" eaLnBrk="0" fontAlgn="base" hangingPunct="0">
        <a:spcBef>
          <a:spcPct val="0"/>
        </a:spcBef>
        <a:spcAft>
          <a:spcPct val="0"/>
        </a:spcAft>
        <a:defRPr sz="2600" b="1">
          <a:solidFill>
            <a:schemeClr val="tx1"/>
          </a:solidFill>
          <a:latin typeface="Verdana" pitchFamily="34" charset="0"/>
        </a:defRPr>
      </a:lvl5pPr>
      <a:lvl6pPr marL="457200" algn="l" rtl="0" fontAlgn="base">
        <a:spcBef>
          <a:spcPct val="0"/>
        </a:spcBef>
        <a:spcAft>
          <a:spcPct val="0"/>
        </a:spcAft>
        <a:defRPr sz="2600" b="1">
          <a:solidFill>
            <a:schemeClr val="tx1"/>
          </a:solidFill>
          <a:latin typeface="Verdana" pitchFamily="34" charset="0"/>
        </a:defRPr>
      </a:lvl6pPr>
      <a:lvl7pPr marL="914400" algn="l" rtl="0" fontAlgn="base">
        <a:spcBef>
          <a:spcPct val="0"/>
        </a:spcBef>
        <a:spcAft>
          <a:spcPct val="0"/>
        </a:spcAft>
        <a:defRPr sz="2600" b="1">
          <a:solidFill>
            <a:schemeClr val="tx1"/>
          </a:solidFill>
          <a:latin typeface="Verdana" pitchFamily="34" charset="0"/>
        </a:defRPr>
      </a:lvl7pPr>
      <a:lvl8pPr marL="1371600" algn="l" rtl="0" fontAlgn="base">
        <a:spcBef>
          <a:spcPct val="0"/>
        </a:spcBef>
        <a:spcAft>
          <a:spcPct val="0"/>
        </a:spcAft>
        <a:defRPr sz="2600" b="1">
          <a:solidFill>
            <a:schemeClr val="tx1"/>
          </a:solidFill>
          <a:latin typeface="Verdana" pitchFamily="34" charset="0"/>
        </a:defRPr>
      </a:lvl8pPr>
      <a:lvl9pPr marL="1828800" algn="l" rtl="0" fontAlgn="base">
        <a:spcBef>
          <a:spcPct val="0"/>
        </a:spcBef>
        <a:spcAft>
          <a:spcPct val="0"/>
        </a:spcAft>
        <a:defRPr sz="2600" b="1">
          <a:solidFill>
            <a:schemeClr val="tx1"/>
          </a:solidFill>
          <a:latin typeface="Verdana" pitchFamily="34" charset="0"/>
        </a:defRPr>
      </a:lvl9pPr>
    </p:titleStyle>
    <p:bodyStyle>
      <a:lvl1pPr marL="342900" indent="-342900" algn="l" rtl="0" eaLnBrk="0" fontAlgn="base" hangingPunct="0">
        <a:spcBef>
          <a:spcPct val="60000"/>
        </a:spcBef>
        <a:spcAft>
          <a:spcPct val="0"/>
        </a:spcAft>
        <a:defRPr>
          <a:solidFill>
            <a:schemeClr val="tx1"/>
          </a:solidFill>
          <a:latin typeface="+mn-lt"/>
          <a:ea typeface="+mn-ea"/>
          <a:cs typeface="+mn-cs"/>
        </a:defRPr>
      </a:lvl1pPr>
      <a:lvl2pPr marL="246063" indent="-244475" algn="l" rtl="0" eaLnBrk="0" fontAlgn="base" hangingPunct="0">
        <a:spcBef>
          <a:spcPct val="40000"/>
        </a:spcBef>
        <a:spcAft>
          <a:spcPct val="0"/>
        </a:spcAft>
        <a:buSzPct val="125000"/>
        <a:buFont typeface="Times" pitchFamily="18" charset="0"/>
        <a:buChar char="•"/>
        <a:defRPr>
          <a:solidFill>
            <a:schemeClr val="tx1"/>
          </a:solidFill>
          <a:latin typeface="+mn-lt"/>
        </a:defRPr>
      </a:lvl2pPr>
      <a:lvl3pPr marL="571500" indent="-323850" algn="l" rtl="0" eaLnBrk="0" fontAlgn="base" hangingPunct="0">
        <a:spcBef>
          <a:spcPct val="20000"/>
        </a:spcBef>
        <a:spcAft>
          <a:spcPct val="0"/>
        </a:spcAft>
        <a:buChar char="–"/>
        <a:defRPr sz="1600">
          <a:solidFill>
            <a:schemeClr val="tx1"/>
          </a:solidFill>
          <a:latin typeface="+mn-lt"/>
        </a:defRPr>
      </a:lvl3pPr>
      <a:lvl4pPr marL="725488" indent="-152400" algn="l" rtl="0" eaLnBrk="0" fontAlgn="base" hangingPunct="0">
        <a:spcBef>
          <a:spcPct val="20000"/>
        </a:spcBef>
        <a:spcAft>
          <a:spcPct val="0"/>
        </a:spcAft>
        <a:buFont typeface="Times" pitchFamily="18" charset="0"/>
        <a:buChar char="•"/>
        <a:defRPr sz="1600">
          <a:solidFill>
            <a:schemeClr val="tx1"/>
          </a:solidFill>
          <a:latin typeface="+mn-lt"/>
        </a:defRPr>
      </a:lvl4pPr>
      <a:lvl5pPr marL="1136650" indent="-409575" algn="l" rtl="0" eaLnBrk="0" fontAlgn="base" hangingPunct="0">
        <a:spcBef>
          <a:spcPct val="20000"/>
        </a:spcBef>
        <a:spcAft>
          <a:spcPct val="0"/>
        </a:spcAft>
        <a:buChar char="–"/>
        <a:defRPr sz="1600">
          <a:solidFill>
            <a:schemeClr val="tx1"/>
          </a:solidFill>
          <a:latin typeface="+mn-lt"/>
        </a:defRPr>
      </a:lvl5pPr>
      <a:lvl6pPr marL="1593850" indent="-409575" algn="l" rtl="0" fontAlgn="base">
        <a:spcBef>
          <a:spcPct val="20000"/>
        </a:spcBef>
        <a:spcAft>
          <a:spcPct val="0"/>
        </a:spcAft>
        <a:buChar char="–"/>
        <a:defRPr sz="1600">
          <a:solidFill>
            <a:schemeClr val="tx1"/>
          </a:solidFill>
          <a:latin typeface="+mn-lt"/>
        </a:defRPr>
      </a:lvl6pPr>
      <a:lvl7pPr marL="2051050" indent="-409575" algn="l" rtl="0" fontAlgn="base">
        <a:spcBef>
          <a:spcPct val="20000"/>
        </a:spcBef>
        <a:spcAft>
          <a:spcPct val="0"/>
        </a:spcAft>
        <a:buChar char="–"/>
        <a:defRPr sz="1600">
          <a:solidFill>
            <a:schemeClr val="tx1"/>
          </a:solidFill>
          <a:latin typeface="+mn-lt"/>
        </a:defRPr>
      </a:lvl7pPr>
      <a:lvl8pPr marL="2508250" indent="-409575" algn="l" rtl="0" fontAlgn="base">
        <a:spcBef>
          <a:spcPct val="20000"/>
        </a:spcBef>
        <a:spcAft>
          <a:spcPct val="0"/>
        </a:spcAft>
        <a:buChar char="–"/>
        <a:defRPr sz="1600">
          <a:solidFill>
            <a:schemeClr val="tx1"/>
          </a:solidFill>
          <a:latin typeface="+mn-lt"/>
        </a:defRPr>
      </a:lvl8pPr>
      <a:lvl9pPr marL="2965450" indent="-409575"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7.xml"/><Relationship Id="rId7" Type="http://schemas.openxmlformats.org/officeDocument/2006/relationships/slide" Target="slide1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10.xml"/></Relationships>
</file>

<file path=ppt/slides/_rels/slide5.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slide" Target="slide20.xml"/><Relationship Id="rId7" Type="http://schemas.openxmlformats.org/officeDocument/2006/relationships/slide" Target="slide28.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25.xml"/><Relationship Id="rId5" Type="http://schemas.openxmlformats.org/officeDocument/2006/relationships/slide" Target="slide22.xml"/><Relationship Id="rId4" Type="http://schemas.openxmlformats.org/officeDocument/2006/relationships/slide" Target="slide21.xml"/><Relationship Id="rId9" Type="http://schemas.openxmlformats.org/officeDocument/2006/relationships/slide" Target="slide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package" Target="../embeddings/Microsoft_Excel_Worksheet1.xlsx"/><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743200" y="1763713"/>
            <a:ext cx="6172200" cy="1970087"/>
          </a:xfrm>
        </p:spPr>
        <p:txBody>
          <a:bodyPr>
            <a:normAutofit/>
          </a:bodyPr>
          <a:lstStyle/>
          <a:p>
            <a:pPr eaLnBrk="1" hangingPunct="1"/>
            <a:r>
              <a:rPr lang="en-US" sz="3200" dirty="0" smtClean="0"/>
              <a:t>2019 TGL Customers CRD Summary Report</a:t>
            </a:r>
            <a:br>
              <a:rPr lang="en-US" sz="3200" dirty="0" smtClean="0"/>
            </a:br>
            <a:r>
              <a:rPr lang="en-US" sz="3200" dirty="0" smtClean="0"/>
              <a:t> </a:t>
            </a:r>
          </a:p>
        </p:txBody>
      </p:sp>
      <p:sp>
        <p:nvSpPr>
          <p:cNvPr id="3075" name="Rectangle 3"/>
          <p:cNvSpPr>
            <a:spLocks noGrp="1" noChangeArrowheads="1"/>
          </p:cNvSpPr>
          <p:nvPr>
            <p:ph type="subTitle" idx="1"/>
          </p:nvPr>
        </p:nvSpPr>
        <p:spPr>
          <a:xfrm>
            <a:off x="3143250" y="4478338"/>
            <a:ext cx="5829300" cy="984250"/>
          </a:xfrm>
        </p:spPr>
        <p:txBody>
          <a:bodyPr wrap="square">
            <a:normAutofit/>
          </a:bodyPr>
          <a:lstStyle/>
          <a:p>
            <a:pPr marL="0" indent="0" eaLnBrk="1" hangingPunct="1">
              <a:spcBef>
                <a:spcPct val="0"/>
              </a:spcBef>
            </a:pPr>
            <a:r>
              <a:rPr lang="en-US" sz="1600" dirty="0" smtClean="0"/>
              <a:t>Prepared by:</a:t>
            </a:r>
          </a:p>
          <a:p>
            <a:pPr marL="0" indent="0" eaLnBrk="1" hangingPunct="1">
              <a:spcBef>
                <a:spcPct val="0"/>
              </a:spcBef>
            </a:pPr>
            <a:r>
              <a:rPr lang="en-US" sz="1600" dirty="0" smtClean="0"/>
              <a:t>Harry Yu, SA Moy</a:t>
            </a:r>
          </a:p>
        </p:txBody>
      </p:sp>
    </p:spTree>
    <p:extLst>
      <p:ext uri="{BB962C8B-B14F-4D97-AF65-F5344CB8AC3E}">
        <p14:creationId xmlns:p14="http://schemas.microsoft.com/office/powerpoint/2010/main" val="8785454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3F55D9A-6D29-4D50-86F0-F4CC0ABF6DBC}"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a:t>
            </a:fld>
            <a:endParaRPr lang="en-US" dirty="0"/>
          </a:p>
        </p:txBody>
      </p:sp>
      <p:sp>
        <p:nvSpPr>
          <p:cNvPr id="6" name="Footer Placeholder 5"/>
          <p:cNvSpPr>
            <a:spLocks noGrp="1"/>
          </p:cNvSpPr>
          <p:nvPr>
            <p:ph type="ftr" sz="quarter" idx="12"/>
          </p:nvPr>
        </p:nvSpPr>
        <p:spPr/>
        <p:txBody>
          <a:bodyPr/>
          <a:lstStyle/>
          <a:p>
            <a:pPr>
              <a:defRPr/>
            </a:pPr>
            <a:r>
              <a:rPr lang="en-US" smtClean="0"/>
              <a:t>CMEE – Customer Manufacturing Enabling &amp; Engineering / Intel Confidential / Collected Under NDA                                     Mobile 2019 CRD Summary</a:t>
            </a:r>
            <a:endParaRPr lang="en-US" dirty="0"/>
          </a:p>
        </p:txBody>
      </p:sp>
      <p:pic>
        <p:nvPicPr>
          <p:cNvPr id="7" name="Picture 6"/>
          <p:cNvPicPr>
            <a:picLocks noChangeAspect="1"/>
          </p:cNvPicPr>
          <p:nvPr/>
        </p:nvPicPr>
        <p:blipFill>
          <a:blip r:embed="rId2"/>
          <a:stretch>
            <a:fillRect/>
          </a:stretch>
        </p:blipFill>
        <p:spPr>
          <a:xfrm>
            <a:off x="0" y="1030778"/>
            <a:ext cx="9144000" cy="4796444"/>
          </a:xfrm>
          <a:prstGeom prst="rect">
            <a:avLst/>
          </a:prstGeom>
        </p:spPr>
      </p:pic>
      <p:sp>
        <p:nvSpPr>
          <p:cNvPr id="8" name="TextBox 7"/>
          <p:cNvSpPr txBox="1"/>
          <p:nvPr/>
        </p:nvSpPr>
        <p:spPr>
          <a:xfrm>
            <a:off x="158620" y="158620"/>
            <a:ext cx="5663682" cy="461665"/>
          </a:xfrm>
          <a:prstGeom prst="rect">
            <a:avLst/>
          </a:prstGeom>
          <a:noFill/>
        </p:spPr>
        <p:txBody>
          <a:bodyPr wrap="square" rtlCol="0">
            <a:spAutoFit/>
          </a:bodyPr>
          <a:lstStyle/>
          <a:p>
            <a:r>
              <a:rPr lang="en-MY" sz="2400" b="1" dirty="0" smtClean="0">
                <a:solidFill>
                  <a:srgbClr val="000000"/>
                </a:solidFill>
              </a:rPr>
              <a:t>General SMT Line Layout</a:t>
            </a:r>
            <a:endParaRPr lang="en-US" sz="2400" b="1" dirty="0">
              <a:solidFill>
                <a:srgbClr val="000000"/>
              </a:solidFill>
            </a:endParaRPr>
          </a:p>
        </p:txBody>
      </p:sp>
      <p:cxnSp>
        <p:nvCxnSpPr>
          <p:cNvPr id="10" name="Straight Arrow Connector 9"/>
          <p:cNvCxnSpPr/>
          <p:nvPr/>
        </p:nvCxnSpPr>
        <p:spPr bwMode="auto">
          <a:xfrm>
            <a:off x="783771" y="3498980"/>
            <a:ext cx="503853" cy="44786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1" name="TextBox 10"/>
          <p:cNvSpPr txBox="1"/>
          <p:nvPr/>
        </p:nvSpPr>
        <p:spPr>
          <a:xfrm>
            <a:off x="2113383" y="4609323"/>
            <a:ext cx="1754156" cy="523220"/>
          </a:xfrm>
          <a:prstGeom prst="rect">
            <a:avLst/>
          </a:prstGeom>
          <a:noFill/>
        </p:spPr>
        <p:txBody>
          <a:bodyPr wrap="square" rtlCol="0">
            <a:spAutoFit/>
          </a:bodyPr>
          <a:lstStyle/>
          <a:p>
            <a:r>
              <a:rPr lang="en-MY" sz="1400" dirty="0" smtClean="0">
                <a:solidFill>
                  <a:srgbClr val="000000"/>
                </a:solidFill>
              </a:rPr>
              <a:t>Solder Paste Inspection (SPI)</a:t>
            </a:r>
            <a:endParaRPr lang="en-US" sz="1400" dirty="0">
              <a:solidFill>
                <a:srgbClr val="000000"/>
              </a:solidFill>
            </a:endParaRPr>
          </a:p>
        </p:txBody>
      </p:sp>
      <p:cxnSp>
        <p:nvCxnSpPr>
          <p:cNvPr id="13" name="Straight Arrow Connector 12"/>
          <p:cNvCxnSpPr/>
          <p:nvPr/>
        </p:nvCxnSpPr>
        <p:spPr bwMode="auto">
          <a:xfrm>
            <a:off x="2752531" y="2836506"/>
            <a:ext cx="27991" cy="419878"/>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5" name="Straight Arrow Connector 14"/>
          <p:cNvCxnSpPr/>
          <p:nvPr/>
        </p:nvCxnSpPr>
        <p:spPr bwMode="auto">
          <a:xfrm>
            <a:off x="3125755" y="2752531"/>
            <a:ext cx="233265" cy="29857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6" name="TextBox 15"/>
          <p:cNvSpPr txBox="1"/>
          <p:nvPr/>
        </p:nvSpPr>
        <p:spPr>
          <a:xfrm>
            <a:off x="2915814" y="1900954"/>
            <a:ext cx="2701213" cy="430887"/>
          </a:xfrm>
          <a:prstGeom prst="rect">
            <a:avLst/>
          </a:prstGeom>
          <a:noFill/>
        </p:spPr>
        <p:txBody>
          <a:bodyPr wrap="square" rtlCol="0">
            <a:spAutoFit/>
          </a:bodyPr>
          <a:lstStyle/>
          <a:p>
            <a:pPr algn="ctr"/>
            <a:r>
              <a:rPr lang="en-MY" sz="1100" dirty="0" smtClean="0">
                <a:solidFill>
                  <a:srgbClr val="000000"/>
                </a:solidFill>
              </a:rPr>
              <a:t>Pre-Reflow Automated Optical Inspection (AOI) - Optional</a:t>
            </a:r>
            <a:endParaRPr lang="en-US" sz="1100" dirty="0">
              <a:solidFill>
                <a:srgbClr val="000000"/>
              </a:solidFill>
            </a:endParaRPr>
          </a:p>
        </p:txBody>
      </p:sp>
      <p:cxnSp>
        <p:nvCxnSpPr>
          <p:cNvPr id="18" name="Straight Arrow Connector 17"/>
          <p:cNvCxnSpPr/>
          <p:nvPr/>
        </p:nvCxnSpPr>
        <p:spPr bwMode="auto">
          <a:xfrm>
            <a:off x="4266420" y="2331841"/>
            <a:ext cx="202943" cy="504665"/>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20" name="Straight Arrow Connector 19"/>
          <p:cNvCxnSpPr/>
          <p:nvPr/>
        </p:nvCxnSpPr>
        <p:spPr bwMode="auto">
          <a:xfrm>
            <a:off x="5822302" y="1900954"/>
            <a:ext cx="457200" cy="68321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22" name="Straight Arrow Connector 21"/>
          <p:cNvCxnSpPr/>
          <p:nvPr/>
        </p:nvCxnSpPr>
        <p:spPr bwMode="auto">
          <a:xfrm flipH="1" flipV="1">
            <a:off x="8042988" y="2331841"/>
            <a:ext cx="569167" cy="420690"/>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23" name="TextBox 22"/>
          <p:cNvSpPr txBox="1"/>
          <p:nvPr/>
        </p:nvSpPr>
        <p:spPr>
          <a:xfrm>
            <a:off x="6820677" y="815334"/>
            <a:ext cx="2218353" cy="430887"/>
          </a:xfrm>
          <a:prstGeom prst="rect">
            <a:avLst/>
          </a:prstGeom>
          <a:noFill/>
        </p:spPr>
        <p:txBody>
          <a:bodyPr wrap="square" rtlCol="0">
            <a:spAutoFit/>
          </a:bodyPr>
          <a:lstStyle/>
          <a:p>
            <a:pPr algn="ctr"/>
            <a:r>
              <a:rPr lang="en-MY" sz="1100" dirty="0" smtClean="0">
                <a:solidFill>
                  <a:srgbClr val="000000"/>
                </a:solidFill>
              </a:rPr>
              <a:t>Post-Reflow Automated Optical Inspection (AOI)</a:t>
            </a:r>
            <a:endParaRPr lang="en-US" sz="1100" dirty="0">
              <a:solidFill>
                <a:srgbClr val="000000"/>
              </a:solidFill>
            </a:endParaRPr>
          </a:p>
        </p:txBody>
      </p:sp>
    </p:spTree>
    <p:extLst>
      <p:ext uri="{BB962C8B-B14F-4D97-AF65-F5344CB8AC3E}">
        <p14:creationId xmlns:p14="http://schemas.microsoft.com/office/powerpoint/2010/main" val="1766653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CFC3799B-C3A7-4AD7-B835-49C51ED163C0}" type="datetime1">
              <a:rPr lang="en-US" sz="800" smtClean="0">
                <a:solidFill>
                  <a:srgbClr val="FFFFFF"/>
                </a:solidFill>
              </a:rPr>
              <a:t>11/7/2019</a:t>
            </a:fld>
            <a:endParaRPr lang="en-US" sz="800" dirty="0" smtClean="0">
              <a:solidFill>
                <a:srgbClr val="FFFFFF"/>
              </a:solidFill>
            </a:endParaRP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42D8B441-F742-4634-AB10-E80DE781C58B}" type="slidenum">
              <a:rPr lang="en-US" sz="800" smtClean="0">
                <a:solidFill>
                  <a:schemeClr val="bg1"/>
                </a:solidFill>
              </a:rPr>
              <a:pPr/>
              <a:t>3</a:t>
            </a:fld>
            <a:endParaRPr lang="en-US" sz="800" dirty="0" smtClean="0">
              <a:solidFill>
                <a:schemeClr val="bg1"/>
              </a:solidFill>
            </a:endParaRPr>
          </a:p>
        </p:txBody>
      </p:sp>
      <p:sp>
        <p:nvSpPr>
          <p:cNvPr id="4100"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4101" name="Rectangle 2"/>
          <p:cNvSpPr>
            <a:spLocks noGrp="1" noChangeArrowheads="1"/>
          </p:cNvSpPr>
          <p:nvPr>
            <p:ph type="title"/>
          </p:nvPr>
        </p:nvSpPr>
        <p:spPr>
          <a:xfrm>
            <a:off x="152400" y="104774"/>
            <a:ext cx="8237538" cy="612775"/>
          </a:xfrm>
        </p:spPr>
        <p:txBody>
          <a:bodyPr/>
          <a:lstStyle/>
          <a:p>
            <a:pPr eaLnBrk="1" hangingPunct="1"/>
            <a:r>
              <a:rPr lang="en-US" dirty="0" smtClean="0"/>
              <a:t>Objectives</a:t>
            </a:r>
            <a:endParaRPr lang="en-US" dirty="0" smtClean="0">
              <a:solidFill>
                <a:srgbClr val="FF0000"/>
              </a:solidFill>
            </a:endParaRPr>
          </a:p>
        </p:txBody>
      </p:sp>
      <p:sp>
        <p:nvSpPr>
          <p:cNvPr id="4102" name="Rectangle 3"/>
          <p:cNvSpPr>
            <a:spLocks noGrp="1" noChangeArrowheads="1"/>
          </p:cNvSpPr>
          <p:nvPr>
            <p:ph type="body" idx="1"/>
          </p:nvPr>
        </p:nvSpPr>
        <p:spPr>
          <a:xfrm>
            <a:off x="169816" y="578755"/>
            <a:ext cx="8669383" cy="5049837"/>
          </a:xfrm>
        </p:spPr>
        <p:txBody>
          <a:bodyPr/>
          <a:lstStyle/>
          <a:p>
            <a:pPr marL="0" indent="0" eaLnBrk="1" hangingPunct="1">
              <a:spcBef>
                <a:spcPct val="40000"/>
              </a:spcBef>
              <a:buFont typeface="Wingdings" pitchFamily="2" charset="2"/>
              <a:buNone/>
            </a:pPr>
            <a:r>
              <a:rPr lang="en-US" sz="2000" b="1" dirty="0" smtClean="0">
                <a:solidFill>
                  <a:srgbClr val="000000"/>
                </a:solidFill>
              </a:rPr>
              <a:t>Share Findings from CMEE Mobile Industry Data Collection (TGL platform customer survey) – 2019Q3 added wave 2 customers data</a:t>
            </a:r>
          </a:p>
          <a:p>
            <a:pPr lvl="2" eaLnBrk="1" hangingPunct="1">
              <a:spcBef>
                <a:spcPct val="40000"/>
              </a:spcBef>
              <a:buFont typeface="Wingdings" pitchFamily="2" charset="2"/>
              <a:buChar char="q"/>
            </a:pPr>
            <a:r>
              <a:rPr lang="en-US" sz="1400" dirty="0" smtClean="0">
                <a:solidFill>
                  <a:srgbClr val="000000"/>
                </a:solidFill>
              </a:rPr>
              <a:t>Summarize data collected from the Mobile Customers manufacturers</a:t>
            </a:r>
          </a:p>
          <a:p>
            <a:pPr marL="247650" lvl="2" indent="0" eaLnBrk="1" hangingPunct="1">
              <a:spcBef>
                <a:spcPct val="40000"/>
              </a:spcBef>
              <a:buNone/>
            </a:pPr>
            <a:r>
              <a:rPr lang="en-US" sz="1400" dirty="0" smtClean="0">
                <a:solidFill>
                  <a:srgbClr val="000000"/>
                </a:solidFill>
              </a:rPr>
              <a:t>(TGL </a:t>
            </a:r>
            <a:r>
              <a:rPr lang="en-US" sz="1400" dirty="0" smtClean="0">
                <a:solidFill>
                  <a:srgbClr val="FF0000"/>
                </a:solidFill>
              </a:rPr>
              <a:t>Wave1</a:t>
            </a:r>
            <a:r>
              <a:rPr lang="en-US" sz="1400" dirty="0" smtClean="0">
                <a:solidFill>
                  <a:srgbClr val="000000"/>
                </a:solidFill>
              </a:rPr>
              <a:t> target </a:t>
            </a:r>
            <a:r>
              <a:rPr lang="en-US" altLang="zh-CN" sz="1400" dirty="0" smtClean="0">
                <a:solidFill>
                  <a:srgbClr val="000000"/>
                </a:solidFill>
              </a:rPr>
              <a:t>5</a:t>
            </a:r>
            <a:r>
              <a:rPr lang="en-US" sz="1400" dirty="0" smtClean="0">
                <a:solidFill>
                  <a:srgbClr val="000000"/>
                </a:solidFill>
              </a:rPr>
              <a:t> ODMs</a:t>
            </a:r>
            <a:r>
              <a:rPr lang="en-US" sz="1400" dirty="0" smtClean="0">
                <a:solidFill>
                  <a:schemeClr val="accent2">
                    <a:lumMod val="75000"/>
                  </a:schemeClr>
                </a:solidFill>
              </a:rPr>
              <a:t>):</a:t>
            </a:r>
          </a:p>
          <a:p>
            <a:pPr marL="915988" lvl="3" indent="-342900" eaLnBrk="1" hangingPunct="1">
              <a:spcBef>
                <a:spcPct val="40000"/>
              </a:spcBef>
              <a:buFont typeface="+mj-lt"/>
              <a:buAutoNum type="arabicPeriod"/>
            </a:pPr>
            <a:r>
              <a:rPr lang="en-US" sz="1400" dirty="0">
                <a:solidFill>
                  <a:srgbClr val="000000"/>
                </a:solidFill>
              </a:rPr>
              <a:t> </a:t>
            </a:r>
            <a:r>
              <a:rPr lang="en-US" sz="1400" dirty="0" smtClean="0">
                <a:solidFill>
                  <a:srgbClr val="000000"/>
                </a:solidFill>
              </a:rPr>
              <a:t>Quanta CQ (</a:t>
            </a:r>
            <a:r>
              <a:rPr lang="en-US" sz="1400" dirty="0" err="1" smtClean="0">
                <a:solidFill>
                  <a:srgbClr val="000000"/>
                </a:solidFill>
              </a:rPr>
              <a:t>Hp</a:t>
            </a:r>
            <a:r>
              <a:rPr lang="en-US" sz="1400" dirty="0" smtClean="0">
                <a:solidFill>
                  <a:srgbClr val="000000"/>
                </a:solidFill>
              </a:rPr>
              <a:t> Line)</a:t>
            </a:r>
          </a:p>
          <a:p>
            <a:pPr marL="915988" lvl="3" indent="-342900" eaLnBrk="1" hangingPunct="1">
              <a:spcBef>
                <a:spcPct val="40000"/>
              </a:spcBef>
              <a:buFont typeface="+mj-lt"/>
              <a:buAutoNum type="arabicPeriod"/>
            </a:pPr>
            <a:r>
              <a:rPr lang="en-US" sz="1400" dirty="0">
                <a:solidFill>
                  <a:srgbClr val="000000"/>
                </a:solidFill>
              </a:rPr>
              <a:t> </a:t>
            </a:r>
            <a:r>
              <a:rPr lang="en-US" sz="1400" dirty="0" smtClean="0">
                <a:solidFill>
                  <a:srgbClr val="000000"/>
                </a:solidFill>
              </a:rPr>
              <a:t>Inventec CQ (</a:t>
            </a:r>
            <a:r>
              <a:rPr lang="en-US" sz="1400" dirty="0" err="1" smtClean="0">
                <a:solidFill>
                  <a:srgbClr val="000000"/>
                </a:solidFill>
              </a:rPr>
              <a:t>Hp</a:t>
            </a:r>
            <a:r>
              <a:rPr lang="en-US" sz="1400" dirty="0" smtClean="0">
                <a:solidFill>
                  <a:srgbClr val="000000"/>
                </a:solidFill>
              </a:rPr>
              <a:t> Line</a:t>
            </a:r>
            <a:r>
              <a:rPr lang="en-US" sz="1400" dirty="0">
                <a:solidFill>
                  <a:srgbClr val="000000"/>
                </a:solidFill>
              </a:rPr>
              <a:t>)</a:t>
            </a:r>
            <a:endParaRPr lang="en-US" sz="1400" dirty="0" smtClean="0">
              <a:solidFill>
                <a:srgbClr val="000000"/>
              </a:solidFill>
            </a:endParaRPr>
          </a:p>
          <a:p>
            <a:pPr marL="915988" lvl="3" indent="-342900" eaLnBrk="1" hangingPunct="1">
              <a:spcBef>
                <a:spcPct val="40000"/>
              </a:spcBef>
              <a:buFont typeface="+mj-lt"/>
              <a:buAutoNum type="arabicPeriod"/>
            </a:pPr>
            <a:r>
              <a:rPr lang="en-US" sz="1400" dirty="0">
                <a:solidFill>
                  <a:srgbClr val="000000"/>
                </a:solidFill>
              </a:rPr>
              <a:t> </a:t>
            </a:r>
            <a:r>
              <a:rPr lang="en-US" sz="1400" dirty="0" smtClean="0">
                <a:solidFill>
                  <a:srgbClr val="000000"/>
                </a:solidFill>
              </a:rPr>
              <a:t>LCFC (Lenovo)</a:t>
            </a:r>
          </a:p>
          <a:p>
            <a:pPr marL="915988" lvl="3" indent="-342900" eaLnBrk="1" hangingPunct="1">
              <a:spcBef>
                <a:spcPct val="40000"/>
              </a:spcBef>
              <a:buFont typeface="+mj-lt"/>
              <a:buAutoNum type="arabicPeriod"/>
            </a:pPr>
            <a:r>
              <a:rPr lang="en-US" sz="1400" dirty="0" smtClean="0">
                <a:solidFill>
                  <a:srgbClr val="000000"/>
                </a:solidFill>
              </a:rPr>
              <a:t> JDM1 (MSFT)</a:t>
            </a:r>
          </a:p>
          <a:p>
            <a:pPr marL="915988" lvl="3" indent="-342900" eaLnBrk="1" hangingPunct="1">
              <a:spcBef>
                <a:spcPct val="40000"/>
              </a:spcBef>
              <a:buFont typeface="+mj-lt"/>
              <a:buAutoNum type="arabicPeriod"/>
            </a:pPr>
            <a:r>
              <a:rPr lang="en-US" sz="1400" dirty="0">
                <a:solidFill>
                  <a:srgbClr val="000000"/>
                </a:solidFill>
              </a:rPr>
              <a:t> </a:t>
            </a:r>
            <a:r>
              <a:rPr lang="en-US" sz="1400" dirty="0" smtClean="0">
                <a:solidFill>
                  <a:srgbClr val="000000"/>
                </a:solidFill>
              </a:rPr>
              <a:t>Compal KS (Dell Line)</a:t>
            </a:r>
          </a:p>
          <a:p>
            <a:pPr marL="268288" lvl="1" indent="0" eaLnBrk="1" hangingPunct="1">
              <a:buNone/>
            </a:pPr>
            <a:r>
              <a:rPr lang="en-US" altLang="zh-CN" sz="1400" dirty="0">
                <a:solidFill>
                  <a:srgbClr val="000000"/>
                </a:solidFill>
              </a:rPr>
              <a:t>(TGL </a:t>
            </a:r>
            <a:r>
              <a:rPr lang="en-US" altLang="zh-CN" sz="1400" dirty="0" smtClean="0">
                <a:solidFill>
                  <a:srgbClr val="FF0000"/>
                </a:solidFill>
              </a:rPr>
              <a:t>Wave2</a:t>
            </a:r>
            <a:r>
              <a:rPr lang="en-US" altLang="zh-CN" sz="1400" dirty="0" smtClean="0">
                <a:solidFill>
                  <a:srgbClr val="000000"/>
                </a:solidFill>
              </a:rPr>
              <a:t> </a:t>
            </a:r>
            <a:r>
              <a:rPr lang="en-US" altLang="zh-CN" sz="1400" dirty="0">
                <a:solidFill>
                  <a:srgbClr val="000000"/>
                </a:solidFill>
              </a:rPr>
              <a:t>target </a:t>
            </a:r>
            <a:r>
              <a:rPr lang="en-US" altLang="zh-CN" sz="1400" dirty="0" smtClean="0">
                <a:solidFill>
                  <a:srgbClr val="000000"/>
                </a:solidFill>
              </a:rPr>
              <a:t>7 </a:t>
            </a:r>
            <a:r>
              <a:rPr lang="en-US" altLang="zh-CN" sz="1400" dirty="0">
                <a:solidFill>
                  <a:srgbClr val="000000"/>
                </a:solidFill>
              </a:rPr>
              <a:t>ODMs</a:t>
            </a:r>
            <a:r>
              <a:rPr lang="en-US" altLang="zh-CN" sz="1400" dirty="0" smtClean="0">
                <a:solidFill>
                  <a:schemeClr val="accent2">
                    <a:lumMod val="75000"/>
                  </a:schemeClr>
                </a:solidFill>
              </a:rPr>
              <a:t>):</a:t>
            </a:r>
          </a:p>
          <a:p>
            <a:pPr marL="915988" lvl="3" indent="-342900" eaLnBrk="1" hangingPunct="1">
              <a:spcBef>
                <a:spcPct val="40000"/>
              </a:spcBef>
              <a:buFont typeface="+mj-lt"/>
              <a:buAutoNum type="arabicPeriod"/>
            </a:pPr>
            <a:r>
              <a:rPr lang="en-US" altLang="zh-CN" sz="1400" dirty="0">
                <a:solidFill>
                  <a:srgbClr val="000000"/>
                </a:solidFill>
              </a:rPr>
              <a:t> </a:t>
            </a:r>
            <a:r>
              <a:rPr lang="en-US" altLang="zh-CN" sz="1400" dirty="0" smtClean="0">
                <a:solidFill>
                  <a:srgbClr val="000000"/>
                </a:solidFill>
              </a:rPr>
              <a:t>Compal CD (Dell </a:t>
            </a:r>
            <a:r>
              <a:rPr lang="en-US" altLang="zh-CN" sz="1400" dirty="0">
                <a:solidFill>
                  <a:srgbClr val="000000"/>
                </a:solidFill>
              </a:rPr>
              <a:t>Line)</a:t>
            </a:r>
          </a:p>
          <a:p>
            <a:pPr marL="915988" lvl="3" indent="-342900" eaLnBrk="1" hangingPunct="1">
              <a:spcBef>
                <a:spcPct val="40000"/>
              </a:spcBef>
              <a:buFont typeface="+mj-lt"/>
              <a:buAutoNum type="arabicPeriod"/>
            </a:pPr>
            <a:r>
              <a:rPr lang="en-US" altLang="zh-CN" sz="1400" dirty="0">
                <a:solidFill>
                  <a:srgbClr val="000000"/>
                </a:solidFill>
              </a:rPr>
              <a:t> </a:t>
            </a:r>
            <a:r>
              <a:rPr lang="en-US" altLang="zh-CN" sz="1400" dirty="0" smtClean="0">
                <a:solidFill>
                  <a:srgbClr val="000000"/>
                </a:solidFill>
              </a:rPr>
              <a:t>Compal CQ (Acer </a:t>
            </a:r>
            <a:r>
              <a:rPr lang="en-US" altLang="zh-CN" sz="1400" dirty="0">
                <a:solidFill>
                  <a:srgbClr val="000000"/>
                </a:solidFill>
              </a:rPr>
              <a:t>Line)</a:t>
            </a:r>
          </a:p>
          <a:p>
            <a:pPr marL="915988" lvl="3" indent="-342900" eaLnBrk="1" hangingPunct="1">
              <a:spcBef>
                <a:spcPct val="40000"/>
              </a:spcBef>
              <a:buFont typeface="+mj-lt"/>
              <a:buAutoNum type="arabicPeriod"/>
            </a:pPr>
            <a:r>
              <a:rPr lang="en-US" altLang="zh-CN" sz="1400" dirty="0">
                <a:solidFill>
                  <a:srgbClr val="000000"/>
                </a:solidFill>
              </a:rPr>
              <a:t> </a:t>
            </a:r>
            <a:r>
              <a:rPr lang="en-US" altLang="zh-CN" sz="1400" dirty="0" err="1" smtClean="0">
                <a:solidFill>
                  <a:srgbClr val="000000"/>
                </a:solidFill>
              </a:rPr>
              <a:t>Huaqin</a:t>
            </a:r>
            <a:r>
              <a:rPr lang="en-US" altLang="zh-CN" sz="1400" dirty="0" smtClean="0">
                <a:solidFill>
                  <a:srgbClr val="000000"/>
                </a:solidFill>
              </a:rPr>
              <a:t> (Acer Line)</a:t>
            </a:r>
            <a:endParaRPr lang="en-US" altLang="zh-CN" sz="1400" dirty="0">
              <a:solidFill>
                <a:srgbClr val="000000"/>
              </a:solidFill>
            </a:endParaRPr>
          </a:p>
          <a:p>
            <a:pPr marL="915988" lvl="3" indent="-342900" eaLnBrk="1" hangingPunct="1">
              <a:spcBef>
                <a:spcPct val="40000"/>
              </a:spcBef>
              <a:buFont typeface="+mj-lt"/>
              <a:buAutoNum type="arabicPeriod"/>
            </a:pPr>
            <a:r>
              <a:rPr lang="en-US" altLang="zh-CN" sz="1400" dirty="0">
                <a:solidFill>
                  <a:srgbClr val="000000"/>
                </a:solidFill>
              </a:rPr>
              <a:t> </a:t>
            </a:r>
            <a:r>
              <a:rPr lang="en-US" altLang="zh-CN" sz="1400" dirty="0" smtClean="0">
                <a:solidFill>
                  <a:srgbClr val="000000"/>
                </a:solidFill>
              </a:rPr>
              <a:t>MSI KS</a:t>
            </a:r>
            <a:endParaRPr lang="en-US" altLang="zh-CN" sz="1400" dirty="0">
              <a:solidFill>
                <a:srgbClr val="000000"/>
              </a:solidFill>
            </a:endParaRPr>
          </a:p>
          <a:p>
            <a:pPr marL="915988" lvl="3" indent="-342900" eaLnBrk="1" hangingPunct="1">
              <a:spcBef>
                <a:spcPct val="40000"/>
              </a:spcBef>
              <a:buFont typeface="+mj-lt"/>
              <a:buAutoNum type="arabicPeriod"/>
            </a:pPr>
            <a:r>
              <a:rPr lang="en-US" altLang="zh-CN" sz="1400" dirty="0">
                <a:solidFill>
                  <a:srgbClr val="000000"/>
                </a:solidFill>
              </a:rPr>
              <a:t> </a:t>
            </a:r>
            <a:r>
              <a:rPr lang="en-US" altLang="zh-CN" sz="1400" dirty="0" smtClean="0">
                <a:solidFill>
                  <a:srgbClr val="000000"/>
                </a:solidFill>
              </a:rPr>
              <a:t>Pegatron CQ (Asus Line)</a:t>
            </a:r>
          </a:p>
          <a:p>
            <a:pPr marL="915988" lvl="3" indent="-342900" eaLnBrk="1" hangingPunct="1">
              <a:spcBef>
                <a:spcPct val="40000"/>
              </a:spcBef>
              <a:buFont typeface="+mj-lt"/>
              <a:buAutoNum type="arabicPeriod"/>
            </a:pPr>
            <a:r>
              <a:rPr lang="en-US" altLang="zh-CN" sz="1400" dirty="0" smtClean="0">
                <a:solidFill>
                  <a:srgbClr val="000000"/>
                </a:solidFill>
              </a:rPr>
              <a:t>Samsung Suzhou</a:t>
            </a:r>
          </a:p>
          <a:p>
            <a:pPr marL="915988" lvl="3" indent="-342900" eaLnBrk="1" hangingPunct="1">
              <a:spcBef>
                <a:spcPct val="40000"/>
              </a:spcBef>
              <a:buFont typeface="+mj-lt"/>
              <a:buAutoNum type="arabicPeriod"/>
            </a:pPr>
            <a:r>
              <a:rPr lang="en-US" altLang="zh-CN" sz="1400" dirty="0" smtClean="0">
                <a:solidFill>
                  <a:srgbClr val="000000"/>
                </a:solidFill>
              </a:rPr>
              <a:t>Wistron KS (Lenovo Line)</a:t>
            </a:r>
            <a:endParaRPr lang="en-US" altLang="zh-CN" sz="1400" dirty="0">
              <a:solidFill>
                <a:schemeClr val="accent2">
                  <a:lumMod val="75000"/>
                </a:schemeClr>
              </a:solidFill>
            </a:endParaRPr>
          </a:p>
          <a:p>
            <a:pPr marL="93663" lvl="1" indent="0" eaLnBrk="1" hangingPunct="1">
              <a:buNone/>
            </a:pPr>
            <a:endParaRPr lang="en-US" dirty="0">
              <a:solidFill>
                <a:srgbClr val="000000"/>
              </a:solidFill>
            </a:endParaRPr>
          </a:p>
          <a:p>
            <a:pPr marL="573088" lvl="3" indent="0" eaLnBrk="1" hangingPunct="1">
              <a:spcBef>
                <a:spcPct val="40000"/>
              </a:spcBef>
              <a:buNone/>
            </a:pPr>
            <a:endParaRPr lang="en-US" dirty="0" smtClean="0">
              <a:solidFill>
                <a:srgbClr val="000000"/>
              </a:solidFill>
            </a:endParaRPr>
          </a:p>
        </p:txBody>
      </p:sp>
    </p:spTree>
    <p:extLst>
      <p:ext uri="{BB962C8B-B14F-4D97-AF65-F5344CB8AC3E}">
        <p14:creationId xmlns:p14="http://schemas.microsoft.com/office/powerpoint/2010/main" val="34708220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CFC3799B-C3A7-4AD7-B835-49C51ED163C0}" type="datetime1">
              <a:rPr lang="en-US" sz="800" smtClean="0">
                <a:solidFill>
                  <a:srgbClr val="FFFFFF"/>
                </a:solidFill>
              </a:rPr>
              <a:t>11/7/2019</a:t>
            </a:fld>
            <a:endParaRPr lang="en-US" sz="800" dirty="0" smtClean="0">
              <a:solidFill>
                <a:srgbClr val="FFFFFF"/>
              </a:solidFill>
            </a:endParaRP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42D8B441-F742-4634-AB10-E80DE781C58B}" type="slidenum">
              <a:rPr lang="en-US" sz="800" smtClean="0">
                <a:solidFill>
                  <a:schemeClr val="bg1"/>
                </a:solidFill>
              </a:rPr>
              <a:pPr/>
              <a:t>4</a:t>
            </a:fld>
            <a:endParaRPr lang="en-US" sz="800" dirty="0" smtClean="0">
              <a:solidFill>
                <a:schemeClr val="bg1"/>
              </a:solidFill>
            </a:endParaRPr>
          </a:p>
        </p:txBody>
      </p:sp>
      <p:sp>
        <p:nvSpPr>
          <p:cNvPr id="4100"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2" name="Content Placeholder 1"/>
          <p:cNvSpPr>
            <a:spLocks noGrp="1"/>
          </p:cNvSpPr>
          <p:nvPr>
            <p:ph idx="1"/>
          </p:nvPr>
        </p:nvSpPr>
        <p:spPr/>
        <p:txBody>
          <a:bodyPr>
            <a:normAutofit fontScale="92500" lnSpcReduction="20000"/>
          </a:bodyPr>
          <a:lstStyle/>
          <a:p>
            <a:pPr>
              <a:buFont typeface="Wingdings" panose="05000000000000000000" pitchFamily="2" charset="2"/>
              <a:buChar char="Ø"/>
            </a:pPr>
            <a:r>
              <a:rPr lang="en-US" altLang="zh-CN" dirty="0" smtClean="0"/>
              <a:t>Continue use type 4 solder paste to do SMT cert: 9/11 customers still using type 4 paste </a:t>
            </a:r>
            <a:r>
              <a:rPr lang="en-US" altLang="zh-CN" dirty="0" smtClean="0">
                <a:sym typeface="Wingdings" panose="05000000000000000000" pitchFamily="2" charset="2"/>
                <a:hlinkClick r:id="rId3"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4mil/5mil stencil thickness for UP3 package and 3mil/4mil for UP4 packages are the main stream, 5mil stencil still widely used because of other components requirement. 3mil for UP4 also emerged due to ultra small system design of customers </a:t>
            </a:r>
            <a:r>
              <a:rPr lang="en-US" altLang="zh-CN" dirty="0" smtClean="0">
                <a:sym typeface="Wingdings" panose="05000000000000000000" pitchFamily="2" charset="2"/>
                <a:hlinkClick r:id="rId4"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Keep stencil AR &gt;0.66, 8/12 customers prefer &gt;0.66 as their stencil design rule </a:t>
            </a:r>
            <a:r>
              <a:rPr lang="en-US" altLang="zh-CN" dirty="0" smtClean="0">
                <a:sym typeface="Wingdings" panose="05000000000000000000" pitchFamily="2" charset="2"/>
                <a:hlinkClick r:id="rId5"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&gt;100~120mm print speed </a:t>
            </a:r>
            <a:r>
              <a:rPr lang="en-US" altLang="zh-CN" dirty="0" smtClean="0">
                <a:sym typeface="Wingdings" panose="05000000000000000000" pitchFamily="2" charset="2"/>
                <a:hlinkClick r:id="rId6"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Use machine block to support during print, only 3 customer capable for vacuum block </a:t>
            </a:r>
            <a:r>
              <a:rPr lang="en-US" altLang="zh-CN" dirty="0" smtClean="0">
                <a:sym typeface="Wingdings" panose="05000000000000000000" pitchFamily="2" charset="2"/>
                <a:hlinkClick r:id="rId7"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Panasonic is the main PnP machine vendor, Fuji the 2</a:t>
            </a:r>
            <a:r>
              <a:rPr lang="en-US" altLang="zh-CN" baseline="30000" dirty="0" smtClean="0">
                <a:sym typeface="Wingdings" panose="05000000000000000000" pitchFamily="2" charset="2"/>
              </a:rPr>
              <a:t>nd</a:t>
            </a:r>
            <a:r>
              <a:rPr lang="en-US" altLang="zh-CN" dirty="0" smtClean="0">
                <a:sym typeface="Wingdings" panose="05000000000000000000" pitchFamily="2" charset="2"/>
              </a:rPr>
              <a:t>: 8/11 customer use Panasonic, 3/11 use Fuji </a:t>
            </a:r>
            <a:r>
              <a:rPr lang="en-US" altLang="zh-CN" dirty="0" smtClean="0">
                <a:sym typeface="Wingdings" panose="05000000000000000000" pitchFamily="2" charset="2"/>
                <a:hlinkClick r:id="rId8"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&gt;=0.4mm pitch preferred, All customer capable for 0.4 pitch BGA </a:t>
            </a:r>
            <a:r>
              <a:rPr lang="en-US" altLang="zh-CN" dirty="0" smtClean="0">
                <a:sym typeface="Wingdings" panose="05000000000000000000" pitchFamily="2" charset="2"/>
                <a:hlinkClick r:id="rId8"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No pallet support during PnP, only support pins </a:t>
            </a:r>
            <a:r>
              <a:rPr lang="en-US" altLang="zh-CN" dirty="0">
                <a:sym typeface="Wingdings" panose="05000000000000000000" pitchFamily="2" charset="2"/>
                <a:hlinkClick r:id="rId8" action="ppaction://hlinksldjump"/>
              </a:rPr>
              <a:t></a:t>
            </a:r>
            <a:endParaRPr lang="en-US" altLang="zh-CN" dirty="0">
              <a:sym typeface="Wingdings" panose="05000000000000000000" pitchFamily="2" charset="2"/>
            </a:endParaRPr>
          </a:p>
          <a:p>
            <a:pPr>
              <a:buFont typeface="Wingdings" panose="05000000000000000000" pitchFamily="2" charset="2"/>
              <a:buChar char="Ø"/>
            </a:pPr>
            <a:endParaRPr lang="zh-CN" altLang="en-US" dirty="0"/>
          </a:p>
        </p:txBody>
      </p:sp>
      <p:sp>
        <p:nvSpPr>
          <p:cNvPr id="3" name="Title 2"/>
          <p:cNvSpPr>
            <a:spLocks noGrp="1"/>
          </p:cNvSpPr>
          <p:nvPr>
            <p:ph type="title"/>
          </p:nvPr>
        </p:nvSpPr>
        <p:spPr/>
        <p:txBody>
          <a:bodyPr/>
          <a:lstStyle/>
          <a:p>
            <a:r>
              <a:rPr lang="en-US" altLang="zh-CN" dirty="0" smtClean="0"/>
              <a:t>High Level Intel </a:t>
            </a:r>
            <a:r>
              <a:rPr lang="en-US" altLang="zh-CN" dirty="0" err="1" smtClean="0"/>
              <a:t>pkg</a:t>
            </a:r>
            <a:r>
              <a:rPr lang="en-US" altLang="zh-CN" dirty="0" smtClean="0"/>
              <a:t> design and validation requirement based on customer data (1/2) </a:t>
            </a:r>
            <a:endParaRPr lang="zh-CN" altLang="en-US" dirty="0"/>
          </a:p>
        </p:txBody>
      </p:sp>
    </p:spTree>
    <p:extLst>
      <p:ext uri="{BB962C8B-B14F-4D97-AF65-F5344CB8AC3E}">
        <p14:creationId xmlns:p14="http://schemas.microsoft.com/office/powerpoint/2010/main" val="33910050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CFC3799B-C3A7-4AD7-B835-49C51ED163C0}" type="datetime1">
              <a:rPr lang="en-US" sz="800" smtClean="0">
                <a:solidFill>
                  <a:srgbClr val="FFFFFF"/>
                </a:solidFill>
              </a:rPr>
              <a:t>11/7/2019</a:t>
            </a:fld>
            <a:endParaRPr lang="en-US" sz="800" dirty="0" smtClean="0">
              <a:solidFill>
                <a:srgbClr val="FFFFFF"/>
              </a:solidFill>
            </a:endParaRP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42D8B441-F742-4634-AB10-E80DE781C58B}" type="slidenum">
              <a:rPr lang="en-US" sz="800" smtClean="0">
                <a:solidFill>
                  <a:schemeClr val="bg1"/>
                </a:solidFill>
              </a:rPr>
              <a:pPr/>
              <a:t>5</a:t>
            </a:fld>
            <a:endParaRPr lang="en-US" sz="800" dirty="0" smtClean="0">
              <a:solidFill>
                <a:schemeClr val="bg1"/>
              </a:solidFill>
            </a:endParaRPr>
          </a:p>
        </p:txBody>
      </p:sp>
      <p:sp>
        <p:nvSpPr>
          <p:cNvPr id="4100"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2" name="Content Placeholder 1"/>
          <p:cNvSpPr>
            <a:spLocks noGrp="1"/>
          </p:cNvSpPr>
          <p:nvPr>
            <p:ph idx="1"/>
          </p:nvPr>
        </p:nvSpPr>
        <p:spPr/>
        <p:txBody>
          <a:bodyPr>
            <a:normAutofit fontScale="85000" lnSpcReduction="10000"/>
          </a:bodyPr>
          <a:lstStyle/>
          <a:p>
            <a:pPr>
              <a:buFont typeface="Wingdings" panose="05000000000000000000" pitchFamily="2" charset="2"/>
              <a:buChar char="Ø"/>
            </a:pPr>
            <a:r>
              <a:rPr lang="en-US" altLang="zh-CN" dirty="0" smtClean="0">
                <a:sym typeface="Wingdings" panose="05000000000000000000" pitchFamily="2" charset="2"/>
              </a:rPr>
              <a:t>Most customer use 13 zones reflow oven </a:t>
            </a:r>
            <a:r>
              <a:rPr lang="en-US" altLang="zh-CN" dirty="0" smtClean="0">
                <a:sym typeface="Wingdings" panose="05000000000000000000" pitchFamily="2" charset="2"/>
                <a:hlinkClick r:id="rId3"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N2 &lt;= 3000PPM, Air reflow still needed, Compal use 40,000 O2 PPM as their reflow environment </a:t>
            </a:r>
            <a:r>
              <a:rPr lang="en-US" altLang="zh-CN" dirty="0" smtClean="0">
                <a:sym typeface="Wingdings" panose="05000000000000000000" pitchFamily="2" charset="2"/>
                <a:hlinkClick r:id="rId3" action="ppaction://hlinksldjump"/>
              </a:rPr>
              <a:t></a:t>
            </a:r>
            <a:endParaRPr lang="en-US" altLang="zh-CN" dirty="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Belt speed 110~140cm/min preferred </a:t>
            </a:r>
            <a:r>
              <a:rPr lang="en-US" altLang="zh-CN" dirty="0" smtClean="0">
                <a:sym typeface="Wingdings" panose="05000000000000000000" pitchFamily="2" charset="2"/>
                <a:hlinkClick r:id="rId3"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&gt;60s TAL. Some other component, for example black nickel coating type C connector, require longer TAL to form reliable solder joint </a:t>
            </a:r>
            <a:r>
              <a:rPr lang="en-US" altLang="zh-CN" dirty="0" smtClean="0">
                <a:sym typeface="Wingdings" panose="05000000000000000000" pitchFamily="2" charset="2"/>
                <a:hlinkClick r:id="rId4"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Almost </a:t>
            </a:r>
            <a:r>
              <a:rPr lang="en-US" altLang="zh-CN" dirty="0">
                <a:sym typeface="Wingdings" panose="05000000000000000000" pitchFamily="2" charset="2"/>
              </a:rPr>
              <a:t>all customer use </a:t>
            </a:r>
            <a:r>
              <a:rPr lang="en-US" altLang="zh-CN" dirty="0" smtClean="0">
                <a:sym typeface="Wingdings" panose="05000000000000000000" pitchFamily="2" charset="2"/>
              </a:rPr>
              <a:t>Aluminum to fabricate their reflow pallet </a:t>
            </a:r>
            <a:r>
              <a:rPr lang="en-US" altLang="zh-CN" dirty="0" smtClean="0">
                <a:sym typeface="Wingdings" panose="05000000000000000000" pitchFamily="2" charset="2"/>
                <a:hlinkClick r:id="rId5"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Verify tape on board edge reflow, not all customer have spring clamps on their reflow pallet </a:t>
            </a:r>
            <a:r>
              <a:rPr lang="en-US" altLang="zh-CN" dirty="0" smtClean="0">
                <a:sym typeface="Wingdings" panose="05000000000000000000" pitchFamily="2" charset="2"/>
                <a:hlinkClick r:id="rId5"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No adhesive or UV corner glue, UV glue is more popular than other type of adhesive </a:t>
            </a:r>
            <a:r>
              <a:rPr lang="en-US" altLang="zh-CN" dirty="0" smtClean="0">
                <a:sym typeface="Wingdings" panose="05000000000000000000" pitchFamily="2" charset="2"/>
                <a:hlinkClick r:id="rId6"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Looks like QUICK is a popular rework station at ODM site </a:t>
            </a:r>
            <a:r>
              <a:rPr lang="en-US" altLang="zh-CN" dirty="0" smtClean="0">
                <a:sym typeface="Wingdings" panose="05000000000000000000" pitchFamily="2" charset="2"/>
                <a:hlinkClick r:id="rId7"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At least 2, prefer 3 LTS paste vendor is required </a:t>
            </a:r>
            <a:r>
              <a:rPr lang="en-US" altLang="zh-CN" dirty="0" smtClean="0">
                <a:sym typeface="Wingdings" panose="05000000000000000000" pitchFamily="2" charset="2"/>
                <a:hlinkClick r:id="rId8"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r>
              <a:rPr lang="en-US" altLang="zh-CN" dirty="0" smtClean="0">
                <a:sym typeface="Wingdings" panose="05000000000000000000" pitchFamily="2" charset="2"/>
              </a:rPr>
              <a:t>Nobody have thinner film pressure sensor capability in mfg site, all rely on their RD. We should minimize die crack risk in our package design </a:t>
            </a:r>
            <a:r>
              <a:rPr lang="en-US" altLang="zh-CN" dirty="0" smtClean="0">
                <a:sym typeface="Wingdings" panose="05000000000000000000" pitchFamily="2" charset="2"/>
                <a:hlinkClick r:id="rId9" action="ppaction://hlinksldjump"/>
              </a:rPr>
              <a:t></a:t>
            </a:r>
            <a:endParaRPr lang="en-US" altLang="zh-CN" dirty="0" smtClean="0">
              <a:sym typeface="Wingdings" panose="05000000000000000000" pitchFamily="2" charset="2"/>
            </a:endParaRPr>
          </a:p>
          <a:p>
            <a:pPr>
              <a:buFont typeface="Wingdings" panose="05000000000000000000" pitchFamily="2" charset="2"/>
              <a:buChar char="Ø"/>
            </a:pPr>
            <a:endParaRPr lang="en-US" altLang="zh-CN" dirty="0">
              <a:sym typeface="Wingdings" panose="05000000000000000000" pitchFamily="2" charset="2"/>
            </a:endParaRPr>
          </a:p>
          <a:p>
            <a:pPr>
              <a:buFont typeface="Wingdings" panose="05000000000000000000" pitchFamily="2" charset="2"/>
              <a:buChar char="Ø"/>
            </a:pPr>
            <a:endParaRPr lang="en-US" altLang="zh-CN" dirty="0" smtClean="0">
              <a:sym typeface="Wingdings" panose="05000000000000000000" pitchFamily="2" charset="2"/>
            </a:endParaRPr>
          </a:p>
          <a:p>
            <a:pPr>
              <a:buFont typeface="Wingdings" panose="05000000000000000000" pitchFamily="2" charset="2"/>
              <a:buChar char="Ø"/>
            </a:pPr>
            <a:endParaRPr lang="en-US" altLang="zh-CN" dirty="0" smtClean="0">
              <a:sym typeface="Wingdings" panose="05000000000000000000" pitchFamily="2" charset="2"/>
            </a:endParaRPr>
          </a:p>
          <a:p>
            <a:pPr marL="0" indent="0"/>
            <a:endParaRPr lang="zh-CN" altLang="en-US" dirty="0"/>
          </a:p>
        </p:txBody>
      </p:sp>
      <p:sp>
        <p:nvSpPr>
          <p:cNvPr id="3" name="Title 2"/>
          <p:cNvSpPr>
            <a:spLocks noGrp="1"/>
          </p:cNvSpPr>
          <p:nvPr>
            <p:ph type="title"/>
          </p:nvPr>
        </p:nvSpPr>
        <p:spPr/>
        <p:txBody>
          <a:bodyPr/>
          <a:lstStyle/>
          <a:p>
            <a:r>
              <a:rPr lang="en-US" altLang="zh-CN" dirty="0" smtClean="0"/>
              <a:t>High Level Intel </a:t>
            </a:r>
            <a:r>
              <a:rPr lang="en-US" altLang="zh-CN" dirty="0" err="1" smtClean="0"/>
              <a:t>pkg</a:t>
            </a:r>
            <a:r>
              <a:rPr lang="en-US" altLang="zh-CN" dirty="0" smtClean="0"/>
              <a:t> design and validation requirement based on customer data (2/2)</a:t>
            </a:r>
            <a:endParaRPr lang="zh-CN" altLang="en-US" dirty="0"/>
          </a:p>
        </p:txBody>
      </p:sp>
    </p:spTree>
    <p:extLst>
      <p:ext uri="{BB962C8B-B14F-4D97-AF65-F5344CB8AC3E}">
        <p14:creationId xmlns:p14="http://schemas.microsoft.com/office/powerpoint/2010/main" val="21999215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30F90219-B887-4A1C-989C-09BBBE709AC0}"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6</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a:t>SOLDER PASTE PRINT</a:t>
            </a:r>
            <a:endParaRPr lang="en-US" dirty="0" smtClean="0"/>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1570245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7</a:t>
            </a:fld>
            <a:endParaRPr lang="en-US" dirty="0"/>
          </a:p>
        </p:txBody>
      </p:sp>
      <p:sp>
        <p:nvSpPr>
          <p:cNvPr id="8" name="Rectangle 7"/>
          <p:cNvSpPr/>
          <p:nvPr/>
        </p:nvSpPr>
        <p:spPr>
          <a:xfrm>
            <a:off x="76200" y="76200"/>
            <a:ext cx="7369325" cy="400110"/>
          </a:xfrm>
          <a:prstGeom prst="rect">
            <a:avLst/>
          </a:prstGeom>
        </p:spPr>
        <p:txBody>
          <a:bodyPr wrap="none">
            <a:spAutoFit/>
          </a:bodyPr>
          <a:lstStyle/>
          <a:p>
            <a:r>
              <a:rPr lang="en-US" sz="2000" b="1" dirty="0" smtClean="0"/>
              <a:t>SAC Solder </a:t>
            </a:r>
            <a:r>
              <a:rPr lang="en-US" sz="2000" b="1" dirty="0"/>
              <a:t>Paste Formulation </a:t>
            </a:r>
            <a:r>
              <a:rPr lang="en-US" sz="2000" b="1" dirty="0" smtClean="0"/>
              <a:t>(Brand </a:t>
            </a:r>
            <a:r>
              <a:rPr lang="en-US" sz="2000" b="1" dirty="0"/>
              <a:t>and </a:t>
            </a:r>
            <a:r>
              <a:rPr lang="en-US" sz="2000" b="1" dirty="0" smtClean="0"/>
              <a:t>Model)</a:t>
            </a:r>
            <a:endParaRPr lang="en-US" sz="2000" b="1" dirty="0"/>
          </a:p>
        </p:txBody>
      </p:sp>
      <p:graphicFrame>
        <p:nvGraphicFramePr>
          <p:cNvPr id="7" name="Table 6"/>
          <p:cNvGraphicFramePr>
            <a:graphicFrameLocks noGrp="1"/>
          </p:cNvGraphicFramePr>
          <p:nvPr>
            <p:extLst>
              <p:ext uri="{D42A27DB-BD31-4B8C-83A1-F6EECF244321}">
                <p14:modId xmlns:p14="http://schemas.microsoft.com/office/powerpoint/2010/main" val="1492930058"/>
              </p:ext>
            </p:extLst>
          </p:nvPr>
        </p:nvGraphicFramePr>
        <p:xfrm>
          <a:off x="176893" y="456549"/>
          <a:ext cx="8343810" cy="1599565"/>
        </p:xfrm>
        <a:graphic>
          <a:graphicData uri="http://schemas.openxmlformats.org/drawingml/2006/table">
            <a:tbl>
              <a:tblPr firstRow="1" bandRow="1">
                <a:tableStyleId>{5C22544A-7EE6-4342-B048-85BDC9FD1C3A}</a:tableStyleId>
              </a:tblPr>
              <a:tblGrid>
                <a:gridCol w="1668762"/>
                <a:gridCol w="1668762"/>
                <a:gridCol w="1668762"/>
                <a:gridCol w="1668762"/>
                <a:gridCol w="1668762"/>
              </a:tblGrid>
              <a:tr h="370840">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32040">
                <a:tc>
                  <a:txBody>
                    <a:bodyPr/>
                    <a:lstStyle/>
                    <a:p>
                      <a:pPr algn="l" fontAlgn="b"/>
                      <a:r>
                        <a:rPr lang="en-US" sz="1000" b="0" i="0" u="none" strike="noStrike" dirty="0" err="1">
                          <a:solidFill>
                            <a:srgbClr val="000000"/>
                          </a:solidFill>
                          <a:effectLst/>
                          <a:latin typeface="Intel Clear" panose="020B0604020203020204" pitchFamily="34" charset="0"/>
                        </a:rPr>
                        <a:t>Shenmao</a:t>
                      </a:r>
                      <a:r>
                        <a:rPr lang="en-US" sz="1000" b="0" i="0" u="none" strike="noStrike" dirty="0">
                          <a:solidFill>
                            <a:srgbClr val="000000"/>
                          </a:solidFill>
                          <a:effectLst/>
                          <a:latin typeface="Intel Clear" panose="020B0604020203020204" pitchFamily="34" charset="0"/>
                        </a:rPr>
                        <a:t> PF606-P SAC305 Type 4 (Only use this one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b">
                        <a:buAutoNum type="arabicPeriod"/>
                      </a:pPr>
                      <a:r>
                        <a:rPr lang="en-US" sz="1000" b="0" i="0" u="none" strike="noStrike" dirty="0" err="1" smtClean="0">
                          <a:solidFill>
                            <a:srgbClr val="000000"/>
                          </a:solidFill>
                          <a:effectLst/>
                          <a:latin typeface="Intel Clear" panose="020B0604020203020204" pitchFamily="34" charset="0"/>
                        </a:rPr>
                        <a:t>Shenmao</a:t>
                      </a:r>
                      <a:r>
                        <a:rPr lang="en-US" sz="1000" b="0" i="0" u="none" strike="noStrike" dirty="0" smtClean="0">
                          <a:solidFill>
                            <a:srgbClr val="000000"/>
                          </a:solidFill>
                          <a:effectLst/>
                          <a:latin typeface="Intel Clear" panose="020B0604020203020204" pitchFamily="34" charset="0"/>
                        </a:rPr>
                        <a:t> PF-606P</a:t>
                      </a:r>
                    </a:p>
                    <a:p>
                      <a:pPr marL="228600" indent="-228600" algn="l" fontAlgn="b">
                        <a:buAutoNum type="arabicPeriod"/>
                      </a:pPr>
                      <a:r>
                        <a:rPr lang="en-US" sz="1000" b="0" i="0" u="none" strike="noStrike" dirty="0" smtClean="0">
                          <a:solidFill>
                            <a:srgbClr val="000000"/>
                          </a:solidFill>
                          <a:effectLst/>
                          <a:latin typeface="Intel Clear" panose="020B0604020203020204" pitchFamily="34" charset="0"/>
                        </a:rPr>
                        <a:t>Tamura TLF-204-93(IVT)</a:t>
                      </a:r>
                    </a:p>
                    <a:p>
                      <a:pPr marL="228600" indent="-228600" algn="l" fontAlgn="b">
                        <a:buAutoNum type="arabicPeriod"/>
                      </a:pPr>
                      <a:r>
                        <a:rPr lang="en-US" sz="1000" b="0" i="0" u="none" strike="noStrike" dirty="0" smtClean="0">
                          <a:solidFill>
                            <a:srgbClr val="000000"/>
                          </a:solidFill>
                          <a:effectLst/>
                          <a:latin typeface="Intel Clear" panose="020B0604020203020204" pitchFamily="34" charset="0"/>
                        </a:rPr>
                        <a:t>Yunnan </a:t>
                      </a:r>
                      <a:r>
                        <a:rPr lang="en-US" sz="1000" b="0" i="0" u="none" strike="noStrike" dirty="0">
                          <a:solidFill>
                            <a:srgbClr val="000000"/>
                          </a:solidFill>
                          <a:effectLst/>
                          <a:latin typeface="Intel Clear" panose="020B0604020203020204" pitchFamily="34" charset="0"/>
                        </a:rPr>
                        <a:t>Tin </a:t>
                      </a:r>
                      <a:r>
                        <a:rPr lang="en-US" sz="1000" b="0" i="0" u="none" strike="noStrike" dirty="0" smtClean="0">
                          <a:solidFill>
                            <a:srgbClr val="000000"/>
                          </a:solidFill>
                          <a:effectLst/>
                          <a:latin typeface="Intel Clear" panose="020B0604020203020204" pitchFamily="34" charset="0"/>
                        </a:rPr>
                        <a:t>YW9-3005-98CY04</a:t>
                      </a:r>
                    </a:p>
                    <a:p>
                      <a:pPr marL="0" indent="0" algn="l" fontAlgn="b">
                        <a:buNone/>
                      </a:pPr>
                      <a:r>
                        <a:rPr lang="en-US" sz="1000" b="0" i="0" u="none" strike="noStrike" dirty="0" smtClean="0">
                          <a:solidFill>
                            <a:srgbClr val="FF0000"/>
                          </a:solidFill>
                          <a:effectLst/>
                          <a:latin typeface="Intel Clear" panose="020B0604020203020204" pitchFamily="34" charset="0"/>
                        </a:rPr>
                        <a:t>Customer not share</a:t>
                      </a:r>
                      <a:r>
                        <a:rPr lang="en-US" sz="1000" b="0" i="0" u="none" strike="noStrike" baseline="0" dirty="0" smtClean="0">
                          <a:solidFill>
                            <a:srgbClr val="FF0000"/>
                          </a:solidFill>
                          <a:effectLst/>
                          <a:latin typeface="Intel Clear" panose="020B0604020203020204" pitchFamily="34" charset="0"/>
                        </a:rPr>
                        <a:t> the </a:t>
                      </a:r>
                      <a:r>
                        <a:rPr lang="en-US" sz="1000" b="0" i="0" u="none" strike="noStrike" dirty="0" smtClean="0">
                          <a:solidFill>
                            <a:srgbClr val="FF0000"/>
                          </a:solidFill>
                          <a:effectLst/>
                          <a:latin typeface="Intel Clear" panose="020B0604020203020204" pitchFamily="34" charset="0"/>
                        </a:rPr>
                        <a:t>% of</a:t>
                      </a:r>
                      <a:r>
                        <a:rPr lang="en-US" sz="1000" b="0" i="0" u="none" strike="noStrike" baseline="0" dirty="0" smtClean="0">
                          <a:solidFill>
                            <a:srgbClr val="FF0000"/>
                          </a:solidFill>
                          <a:effectLst/>
                          <a:latin typeface="Intel Clear" panose="020B0604020203020204" pitchFamily="34" charset="0"/>
                        </a:rPr>
                        <a:t> the 3 paste usage. </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b">
                        <a:buAutoNum type="arabicPeriod"/>
                      </a:pPr>
                      <a:r>
                        <a:rPr lang="en-US" sz="1000" b="0" i="0" u="none" strike="noStrike" dirty="0" smtClean="0">
                          <a:solidFill>
                            <a:srgbClr val="000000"/>
                          </a:solidFill>
                          <a:effectLst/>
                          <a:latin typeface="Intel Clear" panose="020B0604020203020204" pitchFamily="34" charset="0"/>
                        </a:rPr>
                        <a:t>SHENMAO </a:t>
                      </a:r>
                      <a:r>
                        <a:rPr lang="en-US" sz="1000" b="0" i="0" u="none" strike="noStrike" dirty="0">
                          <a:solidFill>
                            <a:srgbClr val="000000"/>
                          </a:solidFill>
                          <a:effectLst/>
                          <a:latin typeface="Intel Clear" panose="020B0604020203020204" pitchFamily="34" charset="0"/>
                        </a:rPr>
                        <a:t>PF606-P         Type </a:t>
                      </a:r>
                      <a:r>
                        <a:rPr lang="en-US" sz="1000" b="0" i="0" u="none" strike="noStrike" dirty="0" smtClean="0">
                          <a:solidFill>
                            <a:srgbClr val="000000"/>
                          </a:solidFill>
                          <a:effectLst/>
                          <a:latin typeface="Intel Clear" panose="020B0604020203020204" pitchFamily="34" charset="0"/>
                        </a:rPr>
                        <a:t>4</a:t>
                      </a:r>
                    </a:p>
                    <a:p>
                      <a:pPr marL="228600" indent="-228600" algn="l" fontAlgn="b">
                        <a:buAutoNum type="arabicPeriod"/>
                      </a:pPr>
                      <a:r>
                        <a:rPr lang="en-US" sz="1000" b="0" i="0" u="none" strike="noStrike" dirty="0" smtClean="0">
                          <a:solidFill>
                            <a:srgbClr val="000000"/>
                          </a:solidFill>
                          <a:effectLst/>
                          <a:latin typeface="Intel Clear" panose="020B0604020203020204" pitchFamily="34" charset="0"/>
                        </a:rPr>
                        <a:t>SENJU </a:t>
                      </a:r>
                      <a:r>
                        <a:rPr lang="en-US" sz="1000" b="0" i="0" u="none" strike="noStrike" dirty="0">
                          <a:solidFill>
                            <a:srgbClr val="000000"/>
                          </a:solidFill>
                          <a:effectLst/>
                          <a:latin typeface="Intel Clear" panose="020B0604020203020204" pitchFamily="34" charset="0"/>
                        </a:rPr>
                        <a:t>M705-S101HF (NL3) Type4</a:t>
                      </a:r>
                      <a:br>
                        <a:rPr lang="en-US" sz="1000" b="0" i="0" u="none" strike="noStrike" dirty="0">
                          <a:solidFill>
                            <a:srgbClr val="000000"/>
                          </a:solidFill>
                          <a:effectLst/>
                          <a:latin typeface="Intel Clear" panose="020B0604020203020204" pitchFamily="34" charset="0"/>
                        </a:rPr>
                      </a:b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panose="020B0604020203020204" pitchFamily="34" charset="0"/>
                        </a:rPr>
                        <a:t>Senju</a:t>
                      </a:r>
                      <a:r>
                        <a:rPr lang="en-US" sz="1000" b="0" i="0" u="none" strike="noStrike" dirty="0">
                          <a:solidFill>
                            <a:srgbClr val="000000"/>
                          </a:solidFill>
                          <a:effectLst/>
                          <a:latin typeface="Intel Clear" panose="020B0604020203020204" pitchFamily="34" charset="0"/>
                        </a:rPr>
                        <a:t> M705 S101HF(N4)-</a:t>
                      </a:r>
                      <a:r>
                        <a:rPr lang="en-US" sz="1000" b="0" i="0" u="none" strike="noStrike" dirty="0" smtClean="0">
                          <a:solidFill>
                            <a:srgbClr val="000000"/>
                          </a:solidFill>
                          <a:effectLst/>
                          <a:latin typeface="Intel Clear" panose="020B0604020203020204" pitchFamily="34" charset="0"/>
                        </a:rPr>
                        <a:t>S5</a:t>
                      </a:r>
                    </a:p>
                    <a:p>
                      <a:pPr algn="l" fontAlgn="b"/>
                      <a:r>
                        <a:rPr lang="en-US" sz="1000" b="1" i="0" u="none" strike="noStrike" dirty="0" smtClean="0">
                          <a:solidFill>
                            <a:srgbClr val="000000"/>
                          </a:solidFill>
                          <a:effectLst/>
                          <a:latin typeface="Intel Clear" panose="020B0604020203020204" pitchFamily="34" charset="0"/>
                        </a:rPr>
                        <a:t>*Type</a:t>
                      </a:r>
                      <a:r>
                        <a:rPr lang="en-US" sz="1000" b="1" i="0" u="none" strike="noStrike" baseline="0" dirty="0" smtClean="0">
                          <a:solidFill>
                            <a:srgbClr val="000000"/>
                          </a:solidFill>
                          <a:effectLst/>
                          <a:latin typeface="Intel Clear" panose="020B0604020203020204" pitchFamily="34" charset="0"/>
                        </a:rPr>
                        <a:t> 5</a:t>
                      </a:r>
                      <a:endParaRPr lang="en-US" sz="1000" b="1"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b">
                        <a:buAutoNum type="arabicPeriod"/>
                      </a:pPr>
                      <a:r>
                        <a:rPr lang="en-US" sz="1000" b="0" i="0" u="none" strike="noStrike" dirty="0" err="1" smtClean="0">
                          <a:solidFill>
                            <a:srgbClr val="000000"/>
                          </a:solidFill>
                          <a:effectLst/>
                          <a:latin typeface="Intel Clear" panose="020B0604020203020204" pitchFamily="34" charset="0"/>
                        </a:rPr>
                        <a:t>Shenmao</a:t>
                      </a:r>
                      <a:r>
                        <a:rPr lang="en-US" sz="1000" b="0" i="0" u="none" strike="noStrike" dirty="0" smtClean="0">
                          <a:solidFill>
                            <a:srgbClr val="000000"/>
                          </a:solidFill>
                          <a:effectLst/>
                          <a:latin typeface="Intel Clear" panose="020B0604020203020204" pitchFamily="34" charset="0"/>
                        </a:rPr>
                        <a:t> </a:t>
                      </a:r>
                      <a:r>
                        <a:rPr lang="en-US" sz="1000" b="0" i="0" u="none" strike="noStrike" dirty="0" smtClean="0">
                          <a:solidFill>
                            <a:srgbClr val="FF0000"/>
                          </a:solidFill>
                          <a:effectLst/>
                          <a:latin typeface="Intel Clear" panose="020B0604020203020204" pitchFamily="34" charset="0"/>
                        </a:rPr>
                        <a:t>PF606-P</a:t>
                      </a:r>
                    </a:p>
                    <a:p>
                      <a:pPr marL="228600" marR="0" lvl="0" indent="-228600" algn="l" defTabSz="914400" rtl="0" eaLnBrk="1" fontAlgn="b" latinLnBrk="0" hangingPunct="1">
                        <a:lnSpc>
                          <a:spcPct val="100000"/>
                        </a:lnSpc>
                        <a:spcBef>
                          <a:spcPts val="0"/>
                        </a:spcBef>
                        <a:spcAft>
                          <a:spcPts val="0"/>
                        </a:spcAft>
                        <a:buClrTx/>
                        <a:buSzTx/>
                        <a:buFontTx/>
                        <a:buAutoNum type="arabicPeriod"/>
                        <a:tabLst/>
                        <a:defRPr/>
                      </a:pPr>
                      <a:r>
                        <a:rPr lang="en-US" sz="1000" b="0" i="0" u="none" strike="noStrike" dirty="0" smtClean="0">
                          <a:solidFill>
                            <a:srgbClr val="000000"/>
                          </a:solidFill>
                          <a:effectLst/>
                          <a:latin typeface="Intel Clear" panose="020B0604020203020204" pitchFamily="34" charset="0"/>
                        </a:rPr>
                        <a:t>Yunnan Tin </a:t>
                      </a:r>
                      <a:r>
                        <a:rPr lang="en-US" altLang="zh-CN" sz="1000" b="0" i="0" u="none" strike="noStrike" dirty="0" smtClean="0">
                          <a:solidFill>
                            <a:srgbClr val="FF0000"/>
                          </a:solidFill>
                          <a:effectLst/>
                          <a:latin typeface="Intel Clear" panose="020B0604020203020204" pitchFamily="34" charset="0"/>
                        </a:rPr>
                        <a:t>YW9-3005-98CY04</a:t>
                      </a:r>
                    </a:p>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smtClean="0">
                          <a:solidFill>
                            <a:srgbClr val="FF0000"/>
                          </a:solidFill>
                          <a:effectLst/>
                          <a:latin typeface="Intel Clear" panose="020B0604020203020204" pitchFamily="34" charset="0"/>
                        </a:rPr>
                        <a:t>Compal</a:t>
                      </a:r>
                      <a:r>
                        <a:rPr lang="en-US" sz="1000" b="0" i="0" u="none" strike="noStrike" baseline="0" dirty="0" smtClean="0">
                          <a:solidFill>
                            <a:srgbClr val="FF0000"/>
                          </a:solidFill>
                          <a:effectLst/>
                          <a:latin typeface="Intel Clear" panose="020B0604020203020204" pitchFamily="34" charset="0"/>
                        </a:rPr>
                        <a:t> random pick </a:t>
                      </a:r>
                      <a:r>
                        <a:rPr lang="en-US" sz="1000" b="0" i="0" u="none" strike="noStrike" baseline="0" dirty="0" err="1" smtClean="0">
                          <a:solidFill>
                            <a:srgbClr val="FF0000"/>
                          </a:solidFill>
                          <a:effectLst/>
                          <a:latin typeface="Intel Clear" panose="020B0604020203020204" pitchFamily="34" charset="0"/>
                        </a:rPr>
                        <a:t>Shenmao</a:t>
                      </a:r>
                      <a:r>
                        <a:rPr lang="en-US" sz="1000" b="0" i="0" u="none" strike="noStrike" baseline="0" dirty="0" smtClean="0">
                          <a:solidFill>
                            <a:srgbClr val="FF0000"/>
                          </a:solidFill>
                          <a:effectLst/>
                          <a:latin typeface="Intel Clear" panose="020B0604020203020204" pitchFamily="34" charset="0"/>
                        </a:rPr>
                        <a:t> and </a:t>
                      </a:r>
                      <a:r>
                        <a:rPr lang="en-US" sz="1000" b="0" i="0" u="none" strike="noStrike" baseline="0" dirty="0" err="1" smtClean="0">
                          <a:solidFill>
                            <a:srgbClr val="FF0000"/>
                          </a:solidFill>
                          <a:effectLst/>
                          <a:latin typeface="Intel Clear" panose="020B0604020203020204" pitchFamily="34" charset="0"/>
                        </a:rPr>
                        <a:t>YunNan</a:t>
                      </a:r>
                      <a:r>
                        <a:rPr lang="en-US" sz="1000" b="0" i="0" u="none" strike="noStrike" baseline="0" dirty="0" smtClean="0">
                          <a:solidFill>
                            <a:srgbClr val="FF0000"/>
                          </a:solidFill>
                          <a:effectLst/>
                          <a:latin typeface="Intel Clear" panose="020B0604020203020204" pitchFamily="34" charset="0"/>
                        </a:rPr>
                        <a:t> tin, what every available in stock</a:t>
                      </a:r>
                      <a:endParaRPr lang="en-US" sz="1000" b="0" i="0" u="none" strike="noStrike" dirty="0" smtClean="0">
                        <a:solidFill>
                          <a:srgbClr val="000000"/>
                        </a:solidFill>
                        <a:effectLst/>
                        <a:latin typeface="Intel Clear" panose="020B0604020203020204" pitchFamily="34" charset="0"/>
                      </a:endParaRPr>
                    </a:p>
                    <a:p>
                      <a:pPr marL="228600" marR="0" lvl="0" indent="-228600" algn="l" defTabSz="914400" rtl="0" eaLnBrk="1" fontAlgn="b" latinLnBrk="0" hangingPunct="1">
                        <a:lnSpc>
                          <a:spcPct val="100000"/>
                        </a:lnSpc>
                        <a:spcBef>
                          <a:spcPts val="0"/>
                        </a:spcBef>
                        <a:spcAft>
                          <a:spcPts val="0"/>
                        </a:spcAft>
                        <a:buClrTx/>
                        <a:buSzTx/>
                        <a:buFontTx/>
                        <a:buAutoNum type="arabicPeriod"/>
                        <a:tabLst/>
                        <a:defRPr/>
                      </a:pPr>
                      <a:r>
                        <a:rPr lang="en-US" sz="1000" b="0" i="0" u="none" strike="noStrike" dirty="0" err="1" smtClean="0">
                          <a:solidFill>
                            <a:srgbClr val="000000"/>
                          </a:solidFill>
                          <a:effectLst/>
                          <a:latin typeface="Intel Clear" panose="020B0604020203020204" pitchFamily="34" charset="0"/>
                        </a:rPr>
                        <a:t>Yanktai</a:t>
                      </a:r>
                      <a:r>
                        <a:rPr lang="en-US" sz="1000" b="0" i="0" u="none" strike="noStrike" dirty="0" smtClean="0">
                          <a:solidFill>
                            <a:srgbClr val="000000"/>
                          </a:solidFill>
                          <a:effectLst/>
                          <a:latin typeface="Intel Clear" panose="020B0604020203020204" pitchFamily="34" charset="0"/>
                        </a:rPr>
                        <a:t> NP01-P101-I+ </a:t>
                      </a:r>
                      <a:r>
                        <a:rPr lang="en-US" sz="1000" b="0" i="0" u="none" strike="noStrike" dirty="0" smtClean="0">
                          <a:solidFill>
                            <a:srgbClr val="FF0000"/>
                          </a:solidFill>
                          <a:effectLst/>
                          <a:latin typeface="Intel Clear" panose="020B0604020203020204" pitchFamily="34" charset="0"/>
                        </a:rPr>
                        <a:t>not</a:t>
                      </a:r>
                      <a:r>
                        <a:rPr lang="en-US" sz="1000" b="0" i="0" u="none" strike="noStrike" baseline="0" dirty="0" smtClean="0">
                          <a:solidFill>
                            <a:srgbClr val="FF0000"/>
                          </a:solidFill>
                          <a:effectLst/>
                          <a:latin typeface="Intel Clear" panose="020B0604020203020204" pitchFamily="34" charset="0"/>
                        </a:rPr>
                        <a:t> for Intel BGA</a:t>
                      </a:r>
                      <a:endParaRPr lang="en-US" altLang="zh-CN" sz="1000" b="0" i="0" u="none" strike="noStrike" dirty="0" smtClean="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2" name="Table 1"/>
          <p:cNvGraphicFramePr>
            <a:graphicFrameLocks noGrp="1"/>
          </p:cNvGraphicFramePr>
          <p:nvPr>
            <p:extLst>
              <p:ext uri="{D42A27DB-BD31-4B8C-83A1-F6EECF244321}">
                <p14:modId xmlns:p14="http://schemas.microsoft.com/office/powerpoint/2010/main" val="3526457684"/>
              </p:ext>
            </p:extLst>
          </p:nvPr>
        </p:nvGraphicFramePr>
        <p:xfrm>
          <a:off x="176893" y="2436463"/>
          <a:ext cx="8343811" cy="1502880"/>
        </p:xfrm>
        <a:graphic>
          <a:graphicData uri="http://schemas.openxmlformats.org/drawingml/2006/table">
            <a:tbl>
              <a:tblPr firstRow="1" bandRow="1">
                <a:tableStyleId>{5C22544A-7EE6-4342-B048-85BDC9FD1C3A}</a:tableStyleId>
              </a:tblPr>
              <a:tblGrid>
                <a:gridCol w="1191973"/>
                <a:gridCol w="1191973"/>
                <a:gridCol w="1191973"/>
                <a:gridCol w="1191973"/>
                <a:gridCol w="1191973"/>
                <a:gridCol w="1191973"/>
                <a:gridCol w="1191973"/>
              </a:tblGrid>
              <a:tr h="370840">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32040">
                <a:tc>
                  <a:txBody>
                    <a:bodyPr/>
                    <a:lstStyle/>
                    <a:p>
                      <a:pPr algn="l" fontAlgn="b"/>
                      <a:r>
                        <a:rPr lang="en-US" sz="1000" b="0" i="0" u="none" strike="noStrike" dirty="0" err="1">
                          <a:solidFill>
                            <a:srgbClr val="000000"/>
                          </a:solidFill>
                          <a:effectLst/>
                          <a:latin typeface="Intel Clear" panose="020B0604020203020204" pitchFamily="34" charset="0"/>
                        </a:rPr>
                        <a:t>ShenMao</a:t>
                      </a:r>
                      <a:r>
                        <a:rPr lang="en-US" sz="1000" b="0" i="0" u="none" strike="noStrike" dirty="0">
                          <a:solidFill>
                            <a:srgbClr val="000000"/>
                          </a:solidFill>
                          <a:effectLst/>
                          <a:latin typeface="Intel Clear" panose="020B0604020203020204" pitchFamily="34" charset="0"/>
                        </a:rPr>
                        <a:t> PF606-P Type 4</a:t>
                      </a:r>
                      <a:br>
                        <a:rPr lang="en-US" sz="1000" b="0" i="0" u="none" strike="noStrike" dirty="0">
                          <a:solidFill>
                            <a:srgbClr val="000000"/>
                          </a:solidFill>
                          <a:effectLst/>
                          <a:latin typeface="Intel Clear" panose="020B0604020203020204" pitchFamily="34" charset="0"/>
                        </a:rPr>
                      </a:br>
                      <a:r>
                        <a:rPr lang="en-US" sz="1000" b="0" i="0" u="none" strike="noStrike" dirty="0" err="1">
                          <a:solidFill>
                            <a:srgbClr val="000000"/>
                          </a:solidFill>
                          <a:effectLst/>
                          <a:latin typeface="Intel Clear" panose="020B0604020203020204" pitchFamily="34" charset="0"/>
                        </a:rPr>
                        <a:t>YunNan</a:t>
                      </a:r>
                      <a:r>
                        <a:rPr lang="en-US" sz="1000" b="0" i="0" u="none" strike="noStrike" dirty="0">
                          <a:solidFill>
                            <a:srgbClr val="000000"/>
                          </a:solidFill>
                          <a:effectLst/>
                          <a:latin typeface="Intel Clear" panose="020B0604020203020204" pitchFamily="34" charset="0"/>
                        </a:rPr>
                        <a:t> Tin YW9-3005-98CY04 Type4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ShenMao PF606-P Type 4</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YunNan Tin YW9-3005-98CY04 Type4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ShenMao PF606-P26;PF606-P245 Type 4</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Induim 10.8HF Type4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l-PL" sz="1000" b="0" i="0" u="none" strike="noStrike">
                          <a:solidFill>
                            <a:srgbClr val="000000"/>
                          </a:solidFill>
                          <a:effectLst/>
                          <a:latin typeface="Intel Clear" panose="020B0604020203020204" pitchFamily="34" charset="0"/>
                        </a:rPr>
                        <a:t>KOKI S3X58 M406 Type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ShenMao PF606-P Type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SENJU M705-SMH Type 5.5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Rounded Rectangle 11"/>
          <p:cNvSpPr/>
          <p:nvPr/>
        </p:nvSpPr>
        <p:spPr bwMode="auto">
          <a:xfrm>
            <a:off x="76200" y="4183766"/>
            <a:ext cx="8841924" cy="715089"/>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ctr"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Type 4 paste still the main steam, except JDM1/MSFT</a:t>
            </a:r>
            <a:endParaRPr kumimoji="0" lang="en-US" sz="1400" b="0" i="0" u="none" strike="noStrike" cap="none" normalizeH="0" baseline="0" dirty="0" smtClean="0">
              <a:ln>
                <a:noFill/>
              </a:ln>
              <a:solidFill>
                <a:schemeClr val="tx1"/>
              </a:solidFill>
              <a:effectLst/>
              <a:cs typeface="Arial" pitchFamily="34" charset="0"/>
            </a:endParaRP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Majority aligned with Intel MAS recommendation</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Compal introduced a new local brand paste (</a:t>
            </a:r>
            <a:r>
              <a:rPr lang="en-US" sz="1400" dirty="0" err="1" smtClean="0">
                <a:cs typeface="Arial" pitchFamily="34" charset="0"/>
              </a:rPr>
              <a:t>Yanktai</a:t>
            </a:r>
            <a:r>
              <a:rPr lang="en-US" sz="1400" dirty="0" smtClean="0">
                <a:cs typeface="Arial" pitchFamily="34" charset="0"/>
              </a:rPr>
              <a:t>), but not using it for Intel BGA</a:t>
            </a:r>
          </a:p>
        </p:txBody>
      </p:sp>
      <p:sp>
        <p:nvSpPr>
          <p:cNvPr id="3" name="Action Button: Home 2">
            <a:hlinkClick r:id="rId3" action="ppaction://hlinksldjump" highlightClick="1"/>
          </p:cNvPr>
          <p:cNvSpPr/>
          <p:nvPr/>
        </p:nvSpPr>
        <p:spPr bwMode="auto">
          <a:xfrm>
            <a:off x="8594594" y="5514109"/>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8091172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8</a:t>
            </a:fld>
            <a:endParaRPr lang="en-US" dirty="0"/>
          </a:p>
        </p:txBody>
      </p:sp>
      <p:sp>
        <p:nvSpPr>
          <p:cNvPr id="8" name="Rectangle 7"/>
          <p:cNvSpPr/>
          <p:nvPr/>
        </p:nvSpPr>
        <p:spPr>
          <a:xfrm>
            <a:off x="76200" y="76200"/>
            <a:ext cx="7369325" cy="400110"/>
          </a:xfrm>
          <a:prstGeom prst="rect">
            <a:avLst/>
          </a:prstGeom>
        </p:spPr>
        <p:txBody>
          <a:bodyPr wrap="none">
            <a:spAutoFit/>
          </a:bodyPr>
          <a:lstStyle/>
          <a:p>
            <a:r>
              <a:rPr lang="en-US" sz="2000" b="1" dirty="0" smtClean="0"/>
              <a:t>SAC Solder </a:t>
            </a:r>
            <a:r>
              <a:rPr lang="en-US" sz="2000" b="1" dirty="0"/>
              <a:t>Paste Formulation </a:t>
            </a:r>
            <a:r>
              <a:rPr lang="en-US" sz="2000" b="1" dirty="0" smtClean="0"/>
              <a:t>(Brand </a:t>
            </a:r>
            <a:r>
              <a:rPr lang="en-US" sz="2000" b="1" dirty="0"/>
              <a:t>and </a:t>
            </a:r>
            <a:r>
              <a:rPr lang="en-US" sz="2000" b="1" dirty="0" smtClean="0"/>
              <a:t>Model)</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10" name="TextBox 9"/>
          <p:cNvSpPr txBox="1"/>
          <p:nvPr/>
        </p:nvSpPr>
        <p:spPr>
          <a:xfrm>
            <a:off x="319186" y="1817034"/>
            <a:ext cx="1697901" cy="646331"/>
          </a:xfrm>
          <a:prstGeom prst="rect">
            <a:avLst/>
          </a:prstGeom>
          <a:noFill/>
        </p:spPr>
        <p:txBody>
          <a:bodyPr wrap="none" rtlCol="0">
            <a:spAutoFit/>
          </a:bodyPr>
          <a:lstStyle/>
          <a:p>
            <a:pPr algn="ctr"/>
            <a:r>
              <a:rPr lang="en-US" dirty="0" smtClean="0"/>
              <a:t>Mobile/Client</a:t>
            </a:r>
          </a:p>
          <a:p>
            <a:pPr algn="ctr"/>
            <a:r>
              <a:rPr lang="en-US" dirty="0" smtClean="0"/>
              <a:t>MAS:</a:t>
            </a:r>
            <a:endParaRPr lang="en-US" dirty="0"/>
          </a:p>
        </p:txBody>
      </p:sp>
      <p:pic>
        <p:nvPicPr>
          <p:cNvPr id="3" name="Picture 2"/>
          <p:cNvPicPr>
            <a:picLocks noChangeAspect="1"/>
          </p:cNvPicPr>
          <p:nvPr/>
        </p:nvPicPr>
        <p:blipFill>
          <a:blip r:embed="rId3"/>
          <a:stretch>
            <a:fillRect/>
          </a:stretch>
        </p:blipFill>
        <p:spPr>
          <a:xfrm>
            <a:off x="433595" y="2550943"/>
            <a:ext cx="4686300" cy="1704975"/>
          </a:xfrm>
          <a:prstGeom prst="rect">
            <a:avLst/>
          </a:prstGeom>
        </p:spPr>
      </p:pic>
      <p:pic>
        <p:nvPicPr>
          <p:cNvPr id="1026" name="圖片 1" descr="image00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35956" y="1730252"/>
            <a:ext cx="2349013" cy="264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30854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9</a:t>
            </a:fld>
            <a:endParaRPr lang="en-US" dirty="0"/>
          </a:p>
        </p:txBody>
      </p:sp>
      <p:sp>
        <p:nvSpPr>
          <p:cNvPr id="8" name="Rectangle 7"/>
          <p:cNvSpPr/>
          <p:nvPr/>
        </p:nvSpPr>
        <p:spPr>
          <a:xfrm>
            <a:off x="76200" y="76200"/>
            <a:ext cx="7087197" cy="400110"/>
          </a:xfrm>
          <a:prstGeom prst="rect">
            <a:avLst/>
          </a:prstGeom>
        </p:spPr>
        <p:txBody>
          <a:bodyPr wrap="none">
            <a:spAutoFit/>
          </a:bodyPr>
          <a:lstStyle/>
          <a:p>
            <a:r>
              <a:rPr lang="en-US" sz="2000" b="1" dirty="0" smtClean="0"/>
              <a:t>Printing machine/Stencil thickness/step stencil</a:t>
            </a:r>
            <a:endParaRPr lang="en-US" sz="2000" b="1" dirty="0"/>
          </a:p>
        </p:txBody>
      </p:sp>
      <p:graphicFrame>
        <p:nvGraphicFramePr>
          <p:cNvPr id="7" name="Table 6"/>
          <p:cNvGraphicFramePr>
            <a:graphicFrameLocks noGrp="1"/>
          </p:cNvGraphicFramePr>
          <p:nvPr>
            <p:extLst>
              <p:ext uri="{D42A27DB-BD31-4B8C-83A1-F6EECF244321}">
                <p14:modId xmlns:p14="http://schemas.microsoft.com/office/powerpoint/2010/main" val="1055144969"/>
              </p:ext>
            </p:extLst>
          </p:nvPr>
        </p:nvGraphicFramePr>
        <p:xfrm>
          <a:off x="176893" y="456549"/>
          <a:ext cx="8343810" cy="1259040"/>
        </p:xfrm>
        <a:graphic>
          <a:graphicData uri="http://schemas.openxmlformats.org/drawingml/2006/table">
            <a:tbl>
              <a:tblPr firstRow="1" bandRow="1">
                <a:tableStyleId>{5C22544A-7EE6-4342-B048-85BDC9FD1C3A}</a:tableStyleId>
              </a:tblPr>
              <a:tblGrid>
                <a:gridCol w="1668762"/>
                <a:gridCol w="1668762"/>
                <a:gridCol w="1668762"/>
                <a:gridCol w="1668762"/>
                <a:gridCol w="1668762"/>
              </a:tblGrid>
              <a:tr h="370840">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88200">
                <a:tc>
                  <a:txBody>
                    <a:bodyPr/>
                    <a:lstStyle/>
                    <a:p>
                      <a:pPr algn="l" fontAlgn="b"/>
                      <a:r>
                        <a:rPr lang="en-US" sz="1000" b="0" i="0" u="none" strike="noStrike" dirty="0" smtClean="0">
                          <a:solidFill>
                            <a:srgbClr val="FF0000"/>
                          </a:solidFill>
                          <a:effectLst/>
                          <a:latin typeface="Intel Clear" panose="020B0604020203020204" pitchFamily="34" charset="0"/>
                        </a:rPr>
                        <a:t>DEK Horizon 03iX; 2011</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DEK; MPM; </a:t>
                      </a:r>
                      <a:r>
                        <a:rPr lang="en-US" sz="1000" b="0" i="0" u="none" strike="noStrike" dirty="0" smtClean="0">
                          <a:solidFill>
                            <a:srgbClr val="000000"/>
                          </a:solidFill>
                          <a:effectLst/>
                          <a:latin typeface="Intel Clear" panose="020B0604020203020204" pitchFamily="34" charset="0"/>
                        </a:rPr>
                        <a:t>Hitachi </a:t>
                      </a:r>
                      <a:r>
                        <a:rPr lang="en-US" sz="1000" b="0" i="0" u="none" strike="noStrike" dirty="0">
                          <a:solidFill>
                            <a:srgbClr val="000000"/>
                          </a:solidFill>
                          <a:effectLst/>
                          <a:latin typeface="Intel Clear" panose="020B0604020203020204" pitchFamily="34" charset="0"/>
                        </a:rPr>
                        <a:t>MS310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b">
                        <a:buFont typeface="+mj-lt"/>
                        <a:buAutoNum type="arabicPeriod"/>
                      </a:pPr>
                      <a:r>
                        <a:rPr lang="pl-PL" sz="1000" b="0" i="0" u="none" strike="noStrike" dirty="0" smtClean="0">
                          <a:solidFill>
                            <a:srgbClr val="000000"/>
                          </a:solidFill>
                          <a:effectLst/>
                          <a:latin typeface="Intel Clear" panose="020B0604020203020204" pitchFamily="34" charset="0"/>
                        </a:rPr>
                        <a:t>HITACH </a:t>
                      </a:r>
                      <a:r>
                        <a:rPr lang="pl-PL" sz="1000" b="0" i="0" u="none" strike="noStrike" dirty="0">
                          <a:solidFill>
                            <a:srgbClr val="000000"/>
                          </a:solidFill>
                          <a:effectLst/>
                          <a:latin typeface="Intel Clear" panose="020B0604020203020204" pitchFamily="34" charset="0"/>
                        </a:rPr>
                        <a:t>/ </a:t>
                      </a:r>
                      <a:r>
                        <a:rPr lang="pl-PL" sz="1000" b="0" i="0" u="none" strike="noStrike" dirty="0" smtClean="0">
                          <a:solidFill>
                            <a:srgbClr val="000000"/>
                          </a:solidFill>
                          <a:effectLst/>
                          <a:latin typeface="Intel Clear" panose="020B0604020203020204" pitchFamily="34" charset="0"/>
                        </a:rPr>
                        <a:t>MS-710/13MS0078-1 </a:t>
                      </a:r>
                      <a:r>
                        <a:rPr lang="pl-PL" sz="1000" b="0" i="0" u="none" strike="noStrike" dirty="0">
                          <a:solidFill>
                            <a:srgbClr val="000000"/>
                          </a:solidFill>
                          <a:effectLst/>
                          <a:latin typeface="Intel Clear" panose="020B0604020203020204" pitchFamily="34" charset="0"/>
                        </a:rPr>
                        <a:t>/ </a:t>
                      </a:r>
                      <a:r>
                        <a:rPr lang="pl-PL" sz="1000" b="0" i="0" u="none" strike="noStrike" dirty="0" smtClean="0">
                          <a:solidFill>
                            <a:srgbClr val="000000"/>
                          </a:solidFill>
                          <a:effectLst/>
                          <a:latin typeface="Intel Clear" panose="020B0604020203020204" pitchFamily="34" charset="0"/>
                        </a:rPr>
                        <a:t>2014-06</a:t>
                      </a:r>
                      <a:endParaRPr lang="en-US" sz="1000" b="0" i="0" u="none" strike="noStrike" dirty="0" smtClean="0">
                        <a:solidFill>
                          <a:srgbClr val="000000"/>
                        </a:solidFill>
                        <a:effectLst/>
                        <a:latin typeface="Intel Clear" panose="020B0604020203020204" pitchFamily="34" charset="0"/>
                      </a:endParaRPr>
                    </a:p>
                    <a:p>
                      <a:pPr marL="228600" indent="-228600" algn="l" fontAlgn="b">
                        <a:buFont typeface="+mj-lt"/>
                        <a:buAutoNum type="arabicPeriod"/>
                      </a:pPr>
                      <a:r>
                        <a:rPr lang="pl-PL" sz="1000" b="0" i="0" u="none" strike="noStrike" dirty="0" smtClean="0">
                          <a:solidFill>
                            <a:srgbClr val="000000"/>
                          </a:solidFill>
                          <a:effectLst/>
                          <a:latin typeface="Intel Clear" panose="020B0604020203020204" pitchFamily="34" charset="0"/>
                        </a:rPr>
                        <a:t>DEK </a:t>
                      </a:r>
                      <a:r>
                        <a:rPr lang="pl-PL" sz="1000" b="0" i="0" u="none" strike="noStrike" dirty="0">
                          <a:solidFill>
                            <a:srgbClr val="000000"/>
                          </a:solidFill>
                          <a:effectLst/>
                          <a:latin typeface="Intel Clear" panose="020B0604020203020204" pitchFamily="34" charset="0"/>
                        </a:rPr>
                        <a:t>/ DEK-GEMINI L-R /  308696 / 2014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DEK  (Horizon 03iX)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GKG</a:t>
                      </a:r>
                      <a:r>
                        <a:rPr lang="en-US" sz="1000" b="0" i="0" u="none" strike="noStrike" dirty="0" smtClean="0">
                          <a:solidFill>
                            <a:srgbClr val="000000"/>
                          </a:solidFill>
                          <a:effectLst/>
                          <a:latin typeface="Intel Clear" panose="020B0604020203020204" pitchFamily="34" charset="0"/>
                        </a:rPr>
                        <a:t>, Panasonic</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Rounded Rectangle 10"/>
          <p:cNvSpPr/>
          <p:nvPr/>
        </p:nvSpPr>
        <p:spPr bwMode="auto">
          <a:xfrm>
            <a:off x="76200" y="3953325"/>
            <a:ext cx="8841924" cy="476726"/>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ctr"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DEK/MPM still the Main stream</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GKG, A China branded print machine is starting used by ODM </a:t>
            </a:r>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2" name="Object 1"/>
          <p:cNvGraphicFramePr>
            <a:graphicFrameLocks noChangeAspect="1"/>
          </p:cNvGraphicFramePr>
          <p:nvPr>
            <p:extLst>
              <p:ext uri="{D42A27DB-BD31-4B8C-83A1-F6EECF244321}">
                <p14:modId xmlns:p14="http://schemas.microsoft.com/office/powerpoint/2010/main" val="3704591888"/>
              </p:ext>
            </p:extLst>
          </p:nvPr>
        </p:nvGraphicFramePr>
        <p:xfrm>
          <a:off x="2247900" y="1056456"/>
          <a:ext cx="914400" cy="771525"/>
        </p:xfrm>
        <a:graphic>
          <a:graphicData uri="http://schemas.openxmlformats.org/presentationml/2006/ole">
            <mc:AlternateContent xmlns:mc="http://schemas.openxmlformats.org/markup-compatibility/2006">
              <mc:Choice xmlns:v="urn:schemas-microsoft-com:vml" Requires="v">
                <p:oleObj spid="_x0000_s2100" name="Worksheet" showAsIcon="1" r:id="rId5" imgW="914400" imgH="771480" progId="Excel.Sheet.12">
                  <p:embed/>
                </p:oleObj>
              </mc:Choice>
              <mc:Fallback>
                <p:oleObj name="Worksheet" showAsIcon="1" r:id="rId5" imgW="914400" imgH="771480" progId="Excel.Sheet.12">
                  <p:embed/>
                  <p:pic>
                    <p:nvPicPr>
                      <p:cNvPr id="0" name=""/>
                      <p:cNvPicPr/>
                      <p:nvPr/>
                    </p:nvPicPr>
                    <p:blipFill>
                      <a:blip r:embed="rId6"/>
                      <a:stretch>
                        <a:fillRect/>
                      </a:stretch>
                    </p:blipFill>
                    <p:spPr>
                      <a:xfrm>
                        <a:off x="2247900" y="1056456"/>
                        <a:ext cx="914400" cy="771525"/>
                      </a:xfrm>
                      <a:prstGeom prst="rect">
                        <a:avLst/>
                      </a:prstGeom>
                    </p:spPr>
                  </p:pic>
                </p:oleObj>
              </mc:Fallback>
            </mc:AlternateContent>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62588762"/>
              </p:ext>
            </p:extLst>
          </p:nvPr>
        </p:nvGraphicFramePr>
        <p:xfrm>
          <a:off x="176893" y="2066026"/>
          <a:ext cx="8343811" cy="1502880"/>
        </p:xfrm>
        <a:graphic>
          <a:graphicData uri="http://schemas.openxmlformats.org/drawingml/2006/table">
            <a:tbl>
              <a:tblPr firstRow="1" bandRow="1">
                <a:tableStyleId>{5C22544A-7EE6-4342-B048-85BDC9FD1C3A}</a:tableStyleId>
              </a:tblPr>
              <a:tblGrid>
                <a:gridCol w="1191973"/>
                <a:gridCol w="1191973"/>
                <a:gridCol w="1191973"/>
                <a:gridCol w="1191973"/>
                <a:gridCol w="1191973"/>
                <a:gridCol w="1191973"/>
                <a:gridCol w="1191973"/>
              </a:tblGrid>
              <a:tr h="370840">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32040">
                <a:tc>
                  <a:txBody>
                    <a:bodyPr/>
                    <a:lstStyle/>
                    <a:p>
                      <a:pPr algn="l" fontAlgn="b"/>
                      <a:r>
                        <a:rPr lang="en-US" sz="1000" b="0" i="0" u="none" strike="noStrike" dirty="0">
                          <a:solidFill>
                            <a:srgbClr val="000000"/>
                          </a:solidFill>
                          <a:effectLst/>
                          <a:latin typeface="Intel Clear" panose="020B0604020203020204" pitchFamily="34" charset="0"/>
                        </a:rPr>
                        <a:t>GKG; DEK (will phase out)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DEK265; Avg 10 years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Intel Clear" panose="020B0604020203020204" pitchFamily="34" charset="0"/>
                        </a:rPr>
                        <a:t>GKG, GT++,  SN# GL329MS,Y2019;</a:t>
                      </a:r>
                      <a:br>
                        <a:rPr lang="es-ES" sz="1000" b="0" i="0" u="none" strike="noStrike">
                          <a:solidFill>
                            <a:srgbClr val="000000"/>
                          </a:solidFill>
                          <a:effectLst/>
                          <a:latin typeface="Intel Clear" panose="020B0604020203020204" pitchFamily="34" charset="0"/>
                        </a:rPr>
                      </a:br>
                      <a:r>
                        <a:rPr lang="es-ES" sz="1000" b="0" i="0" u="none" strike="noStrike">
                          <a:solidFill>
                            <a:srgbClr val="000000"/>
                          </a:solidFill>
                          <a:effectLst/>
                          <a:latin typeface="Intel Clear" panose="020B0604020203020204" pitchFamily="34" charset="0"/>
                        </a:rPr>
                        <a:t>MPM100, SN# M204980, Y2019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DEK: NEOHORIZON 03IX</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FUJI: GPX-C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DEK APP/API/03IX, Y2007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 SPEEDLINE Momentum elite 2010/9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1733520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10</a:t>
            </a:fld>
            <a:endParaRPr lang="en-US" dirty="0"/>
          </a:p>
        </p:txBody>
      </p:sp>
      <p:sp>
        <p:nvSpPr>
          <p:cNvPr id="8" name="Rectangle 7"/>
          <p:cNvSpPr/>
          <p:nvPr/>
        </p:nvSpPr>
        <p:spPr>
          <a:xfrm>
            <a:off x="76200" y="76200"/>
            <a:ext cx="7087197" cy="400110"/>
          </a:xfrm>
          <a:prstGeom prst="rect">
            <a:avLst/>
          </a:prstGeom>
        </p:spPr>
        <p:txBody>
          <a:bodyPr wrap="none">
            <a:spAutoFit/>
          </a:bodyPr>
          <a:lstStyle/>
          <a:p>
            <a:r>
              <a:rPr lang="en-US" sz="2000" b="1" dirty="0" smtClean="0"/>
              <a:t>Printing machine/Stencil thickness/step stencil</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4082668045"/>
              </p:ext>
            </p:extLst>
          </p:nvPr>
        </p:nvGraphicFramePr>
        <p:xfrm>
          <a:off x="396063" y="476310"/>
          <a:ext cx="8467761" cy="2159939"/>
        </p:xfrm>
        <a:graphic>
          <a:graphicData uri="http://schemas.openxmlformats.org/drawingml/2006/table">
            <a:tbl>
              <a:tblPr firstRow="1" bandRow="1">
                <a:tableStyleId>{5C22544A-7EE6-4342-B048-85BDC9FD1C3A}</a:tableStyleId>
              </a:tblPr>
              <a:tblGrid>
                <a:gridCol w="1282757"/>
                <a:gridCol w="1574760"/>
                <a:gridCol w="1481024"/>
                <a:gridCol w="1306632"/>
                <a:gridCol w="1411294"/>
                <a:gridCol w="141129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Thickness range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U: </a:t>
                      </a:r>
                      <a:r>
                        <a:rPr lang="en-US" sz="1000" b="0" i="0" u="none" strike="noStrike" dirty="0" smtClean="0">
                          <a:solidFill>
                            <a:srgbClr val="000000"/>
                          </a:solidFill>
                          <a:effectLst/>
                          <a:latin typeface="Intel Clear" panose="020B0604020203020204" pitchFamily="34" charset="0"/>
                        </a:rPr>
                        <a:t>4mil(</a:t>
                      </a:r>
                      <a:r>
                        <a:rPr lang="en-US" sz="1000" b="0" i="0" u="none" strike="noStrike" dirty="0" smtClean="0">
                          <a:solidFill>
                            <a:srgbClr val="FF0000"/>
                          </a:solidFill>
                          <a:effectLst/>
                          <a:latin typeface="Intel Clear" panose="020B0604020203020204" pitchFamily="34" charset="0"/>
                        </a:rPr>
                        <a:t>90%</a:t>
                      </a:r>
                      <a:r>
                        <a:rPr lang="en-US" sz="1000" b="0" i="0" u="none" strike="noStrike" dirty="0" smtClean="0">
                          <a:solidFill>
                            <a:srgbClr val="000000"/>
                          </a:solidFill>
                          <a:effectLst/>
                          <a:latin typeface="Intel Clear" panose="020B0604020203020204" pitchFamily="34" charset="0"/>
                        </a:rPr>
                        <a:t>)/5mil(</a:t>
                      </a:r>
                      <a:r>
                        <a:rPr lang="en-US" sz="1000" b="0" i="0" u="none" strike="noStrike" dirty="0" smtClean="0">
                          <a:solidFill>
                            <a:srgbClr val="FF0000"/>
                          </a:solidFill>
                          <a:effectLst/>
                          <a:latin typeface="Intel Clear" panose="020B0604020203020204" pitchFamily="34" charset="0"/>
                        </a:rPr>
                        <a:t>10%</a:t>
                      </a:r>
                      <a:r>
                        <a:rPr lang="en-US" sz="1000" b="0" i="0" u="none" strike="noStrike" dirty="0" smtClean="0">
                          <a:solidFill>
                            <a:srgbClr val="000000"/>
                          </a:solidFill>
                          <a:effectLst/>
                          <a:latin typeface="Intel Clear" panose="020B0604020203020204" pitchFamily="34" charset="0"/>
                        </a:rPr>
                        <a:t>), </a:t>
                      </a:r>
                      <a:r>
                        <a:rPr lang="en-US" sz="1000" b="0" i="0" u="none" strike="noStrike" dirty="0">
                          <a:solidFill>
                            <a:srgbClr val="000000"/>
                          </a:solidFill>
                          <a:effectLst/>
                          <a:latin typeface="Intel Clear" panose="020B0604020203020204" pitchFamily="34" charset="0"/>
                        </a:rPr>
                        <a:t>Y: </a:t>
                      </a:r>
                      <a:r>
                        <a:rPr lang="en-US" sz="1000" b="0" i="0" u="none" strike="noStrike" dirty="0" smtClean="0">
                          <a:solidFill>
                            <a:srgbClr val="000000"/>
                          </a:solidFill>
                          <a:effectLst/>
                          <a:latin typeface="Intel Clear" panose="020B0604020203020204" pitchFamily="34" charset="0"/>
                        </a:rPr>
                        <a:t>3mil</a:t>
                      </a:r>
                    </a:p>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FF0000"/>
                          </a:solidFill>
                          <a:effectLst/>
                          <a:latin typeface="Intel Clear" panose="020B0604020203020204" pitchFamily="34" charset="0"/>
                        </a:rPr>
                        <a:t>4mil is first choice for new project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U: </a:t>
                      </a:r>
                      <a:r>
                        <a:rPr lang="en-US" sz="1000" b="0" i="0" u="none" strike="noStrike" dirty="0" smtClean="0">
                          <a:solidFill>
                            <a:srgbClr val="000000"/>
                          </a:solidFill>
                          <a:effectLst/>
                          <a:latin typeface="Intel Clear" panose="020B0604020203020204" pitchFamily="34" charset="0"/>
                        </a:rPr>
                        <a:t>4mil(</a:t>
                      </a:r>
                      <a:r>
                        <a:rPr lang="en-US" sz="1000" b="0" i="0" u="none" strike="noStrike" dirty="0" smtClean="0">
                          <a:solidFill>
                            <a:srgbClr val="FF0000"/>
                          </a:solidFill>
                          <a:effectLst/>
                          <a:latin typeface="Intel Clear" panose="020B0604020203020204" pitchFamily="34" charset="0"/>
                        </a:rPr>
                        <a:t>80%</a:t>
                      </a:r>
                      <a:r>
                        <a:rPr lang="en-US" sz="1000" b="0" i="0" u="none" strike="noStrike" dirty="0" smtClean="0">
                          <a:solidFill>
                            <a:srgbClr val="000000"/>
                          </a:solidFill>
                          <a:effectLst/>
                          <a:latin typeface="Intel Clear" panose="020B0604020203020204" pitchFamily="34" charset="0"/>
                        </a:rPr>
                        <a:t>)/5mil(</a:t>
                      </a:r>
                      <a:r>
                        <a:rPr lang="en-US" sz="1000" b="0" i="0" u="none" strike="noStrike" dirty="0" smtClean="0">
                          <a:solidFill>
                            <a:srgbClr val="FF0000"/>
                          </a:solidFill>
                          <a:effectLst/>
                          <a:latin typeface="Intel Clear" panose="020B0604020203020204" pitchFamily="34" charset="0"/>
                        </a:rPr>
                        <a:t>20%</a:t>
                      </a:r>
                      <a:r>
                        <a:rPr lang="en-US" sz="1000" b="0" i="0" u="none" strike="noStrike" dirty="0" smtClean="0">
                          <a:solidFill>
                            <a:srgbClr val="000000"/>
                          </a:solidFill>
                          <a:effectLst/>
                          <a:latin typeface="Intel Clear" panose="020B0604020203020204" pitchFamily="34" charset="0"/>
                        </a:rPr>
                        <a:t>); </a:t>
                      </a:r>
                      <a:r>
                        <a:rPr lang="en-US" sz="1000" b="0" i="0" u="none" strike="noStrike" dirty="0">
                          <a:solidFill>
                            <a:srgbClr val="000000"/>
                          </a:solidFill>
                          <a:effectLst/>
                          <a:latin typeface="Intel Clear" panose="020B0604020203020204" pitchFamily="34" charset="0"/>
                        </a:rPr>
                        <a:t>Y: </a:t>
                      </a:r>
                      <a:r>
                        <a:rPr lang="en-US" sz="1000" b="0" i="0" u="none" strike="noStrike" dirty="0" smtClean="0">
                          <a:solidFill>
                            <a:srgbClr val="000000"/>
                          </a:solidFill>
                          <a:effectLst/>
                          <a:latin typeface="Intel Clear" panose="020B0604020203020204" pitchFamily="34" charset="0"/>
                        </a:rPr>
                        <a:t>3mil(</a:t>
                      </a:r>
                      <a:r>
                        <a:rPr lang="en-US" sz="1000" b="0" i="0" u="none" strike="noStrike" dirty="0" smtClean="0">
                          <a:solidFill>
                            <a:srgbClr val="FF0000"/>
                          </a:solidFill>
                          <a:effectLst/>
                          <a:latin typeface="Intel Clear" panose="020B0604020203020204" pitchFamily="34" charset="0"/>
                        </a:rPr>
                        <a:t>40%</a:t>
                      </a:r>
                      <a:r>
                        <a:rPr lang="en-US" sz="1000" b="0" i="0" u="none" strike="noStrike" dirty="0" smtClean="0">
                          <a:solidFill>
                            <a:srgbClr val="000000"/>
                          </a:solidFill>
                          <a:effectLst/>
                          <a:latin typeface="Intel Clear" panose="020B0604020203020204" pitchFamily="34" charset="0"/>
                        </a:rPr>
                        <a:t>)/4mil(</a:t>
                      </a:r>
                      <a:r>
                        <a:rPr lang="en-US" sz="1000" b="0" i="0" u="none" strike="noStrike" dirty="0" smtClean="0">
                          <a:solidFill>
                            <a:srgbClr val="FF0000"/>
                          </a:solidFill>
                          <a:effectLst/>
                          <a:latin typeface="Intel Clear" panose="020B0604020203020204" pitchFamily="34" charset="0"/>
                        </a:rPr>
                        <a:t>60%</a:t>
                      </a:r>
                      <a:r>
                        <a:rPr lang="en-US" sz="1000" b="0" i="0" u="none" strike="noStrike" dirty="0" smtClean="0">
                          <a:solidFill>
                            <a:srgbClr val="000000"/>
                          </a:solidFill>
                          <a:effectLst/>
                          <a:latin typeface="Intel Clear" panose="020B0604020203020204" pitchFamily="34" charset="0"/>
                        </a:rPr>
                        <a:t>)</a:t>
                      </a:r>
                    </a:p>
                    <a:p>
                      <a:pPr algn="l" fontAlgn="b"/>
                      <a:r>
                        <a:rPr lang="en-US" sz="1000" b="0" i="0" u="none" strike="noStrike" dirty="0" smtClean="0">
                          <a:solidFill>
                            <a:srgbClr val="FF0000"/>
                          </a:solidFill>
                          <a:effectLst/>
                          <a:latin typeface="Intel Clear" panose="020B0604020203020204" pitchFamily="34" charset="0"/>
                        </a:rPr>
                        <a:t>4mil is first choice for new project</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dirty="0" smtClean="0">
                          <a:solidFill>
                            <a:srgbClr val="000000"/>
                          </a:solidFill>
                          <a:effectLst/>
                          <a:latin typeface="Intel Clear" panose="020B0604020203020204" pitchFamily="34" charset="0"/>
                        </a:rPr>
                        <a:t>Y: 3mil</a:t>
                      </a:r>
                      <a:r>
                        <a:rPr lang="es-ES" sz="1000" b="0" i="0" u="none" strike="noStrike" dirty="0">
                          <a:solidFill>
                            <a:srgbClr val="000000"/>
                          </a:solidFill>
                          <a:effectLst/>
                          <a:latin typeface="Intel Clear" panose="020B0604020203020204" pitchFamily="34" charset="0"/>
                        </a:rPr>
                        <a:t/>
                      </a:r>
                      <a:br>
                        <a:rPr lang="es-ES" sz="1000" b="0" i="0" u="none" strike="noStrike" dirty="0">
                          <a:solidFill>
                            <a:srgbClr val="000000"/>
                          </a:solidFill>
                          <a:effectLst/>
                          <a:latin typeface="Intel Clear" panose="020B0604020203020204" pitchFamily="34" charset="0"/>
                        </a:rPr>
                      </a:br>
                      <a:r>
                        <a:rPr lang="es-ES" sz="1000" b="0" i="0" u="none" strike="noStrike" dirty="0" smtClean="0">
                          <a:solidFill>
                            <a:srgbClr val="000000"/>
                          </a:solidFill>
                          <a:effectLst/>
                          <a:latin typeface="Intel Clear" panose="020B0604020203020204" pitchFamily="34" charset="0"/>
                        </a:rPr>
                        <a:t>U&amp;H </a:t>
                      </a:r>
                      <a:r>
                        <a:rPr lang="es-ES" sz="1000" b="0" i="0" u="none" strike="noStrike" dirty="0">
                          <a:solidFill>
                            <a:srgbClr val="000000"/>
                          </a:solidFill>
                          <a:effectLst/>
                          <a:latin typeface="Intel Clear" panose="020B0604020203020204" pitchFamily="34" charset="0"/>
                        </a:rPr>
                        <a:t>: </a:t>
                      </a:r>
                      <a:r>
                        <a:rPr lang="es-ES" sz="1000" b="0" i="0" u="none" strike="noStrike" dirty="0" smtClean="0">
                          <a:solidFill>
                            <a:srgbClr val="000000"/>
                          </a:solidFill>
                          <a:effectLst/>
                          <a:latin typeface="Intel Clear" panose="020B0604020203020204" pitchFamily="34" charset="0"/>
                        </a:rPr>
                        <a:t>5mil</a:t>
                      </a:r>
                      <a:endParaRPr lang="es-E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Both Y and U use 4mil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Intel Clear" panose="020B0604020203020204" pitchFamily="34" charset="0"/>
                        </a:rPr>
                        <a:t>Y: 3mil, 4mil, U: </a:t>
                      </a:r>
                      <a:r>
                        <a:rPr lang="es-ES" sz="1000" b="0" i="0" u="none" strike="noStrike" dirty="0" smtClean="0">
                          <a:solidFill>
                            <a:srgbClr val="000000"/>
                          </a:solidFill>
                          <a:effectLst/>
                          <a:latin typeface="Intel Clear" panose="020B0604020203020204" pitchFamily="34" charset="0"/>
                        </a:rPr>
                        <a:t>4mil (</a:t>
                      </a:r>
                      <a:r>
                        <a:rPr lang="es-ES" sz="1000" b="0" i="0" u="none" strike="noStrike" dirty="0" err="1">
                          <a:solidFill>
                            <a:srgbClr val="000000"/>
                          </a:solidFill>
                          <a:effectLst/>
                          <a:latin typeface="Intel Clear" panose="020B0604020203020204" pitchFamily="34" charset="0"/>
                        </a:rPr>
                        <a:t>less</a:t>
                      </a:r>
                      <a:r>
                        <a:rPr lang="es-ES" sz="1000" b="0" i="0" u="none" strike="noStrike" dirty="0">
                          <a:solidFill>
                            <a:srgbClr val="000000"/>
                          </a:solidFill>
                          <a:effectLst/>
                          <a:latin typeface="Intel Clear" panose="020B0604020203020204" pitchFamily="34" charset="0"/>
                        </a:rPr>
                        <a:t>) 5mil (more)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01005 on U platform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Yes, </a:t>
                      </a:r>
                      <a:r>
                        <a:rPr lang="en-US" sz="1000" b="0" i="0" u="none" strike="noStrike" dirty="0" err="1" smtClean="0">
                          <a:solidFill>
                            <a:srgbClr val="000000"/>
                          </a:solidFill>
                          <a:effectLst/>
                          <a:latin typeface="Intel Clear" panose="020B0604020203020204" pitchFamily="34" charset="0"/>
                        </a:rPr>
                        <a:t>Thinkpad</a:t>
                      </a:r>
                      <a:r>
                        <a:rPr lang="en-US" sz="1000" b="0" i="0" u="none" strike="noStrike" dirty="0" smtClean="0">
                          <a:solidFill>
                            <a:srgbClr val="000000"/>
                          </a:solidFill>
                          <a:effectLst/>
                          <a:latin typeface="Intel Clear" panose="020B0604020203020204" pitchFamily="34" charset="0"/>
                        </a:rPr>
                        <a:t> </a:t>
                      </a:r>
                      <a:r>
                        <a:rPr lang="en-US" sz="1000" b="0" i="0" u="none" strike="noStrike" dirty="0">
                          <a:solidFill>
                            <a:srgbClr val="000000"/>
                          </a:solidFill>
                          <a:effectLst/>
                          <a:latin typeface="Intel Clear" panose="020B0604020203020204" pitchFamily="34" charset="0"/>
                        </a:rPr>
                        <a:t>X1 from 2018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Yes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3mil on U package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need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some special layout design may require 3mil stencil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other fine pitch component on the same mother board may need 3mil stencil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 </a:t>
                      </a:r>
                      <a:r>
                        <a:rPr lang="en-US" sz="1000" b="0" i="0" u="none" strike="noStrike" dirty="0" smtClean="0">
                          <a:solidFill>
                            <a:srgbClr val="FF0000"/>
                          </a:solidFill>
                          <a:effectLst/>
                          <a:latin typeface="Intel Clear" panose="020B0604020203020204" pitchFamily="34" charset="0"/>
                        </a:rPr>
                        <a:t>(PS: </a:t>
                      </a:r>
                      <a:r>
                        <a:rPr lang="en-US" sz="1000" b="0" i="0" u="none" strike="noStrike" baseline="0" dirty="0" smtClean="0">
                          <a:solidFill>
                            <a:srgbClr val="FF0000"/>
                          </a:solidFill>
                          <a:effectLst/>
                          <a:latin typeface="Intel Clear" panose="020B0604020203020204" pitchFamily="34" charset="0"/>
                        </a:rPr>
                        <a:t>MSFT asked for 3mil modeling result on ICL U to study)</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because of 01005 chip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Step Stencil/Smallest step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a:t>
                      </a:r>
                      <a:r>
                        <a:rPr lang="en-US" sz="1000" b="0" i="0" u="none" strike="noStrike" dirty="0" smtClean="0">
                          <a:solidFill>
                            <a:srgbClr val="000000"/>
                          </a:solidFill>
                          <a:effectLst/>
                          <a:latin typeface="Intel Clear" panose="020B0604020203020204" pitchFamily="34" charset="0"/>
                        </a:rPr>
                        <a:t>.</a:t>
                      </a:r>
                      <a:r>
                        <a:rPr lang="en-US" sz="1000" b="0" i="0" u="none" strike="noStrike" baseline="0" dirty="0" smtClean="0">
                          <a:solidFill>
                            <a:srgbClr val="000000"/>
                          </a:solidFill>
                          <a:effectLst/>
                          <a:latin typeface="Intel Clear" panose="020B0604020203020204" pitchFamily="34" charset="0"/>
                        </a:rPr>
                        <a:t> 0.025mm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3" name="Rounded Rectangle 12"/>
          <p:cNvSpPr/>
          <p:nvPr/>
        </p:nvSpPr>
        <p:spPr bwMode="auto">
          <a:xfrm>
            <a:off x="208981" y="4863449"/>
            <a:ext cx="8841924" cy="1191816"/>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Various products require various stencil thickness. 3mil for U package in customer wish list but not so many</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01005 start be used in some premium product, 2 customers now capable</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5mil for U still have needs because of other component requirement</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All customers except </a:t>
            </a:r>
            <a:r>
              <a:rPr lang="en-US" sz="1400" dirty="0" err="1" smtClean="0">
                <a:cs typeface="Arial" pitchFamily="34" charset="0"/>
              </a:rPr>
              <a:t>Huaqin</a:t>
            </a:r>
            <a:r>
              <a:rPr lang="en-US" sz="1400" dirty="0" smtClean="0">
                <a:cs typeface="Arial" pitchFamily="34" charset="0"/>
              </a:rPr>
              <a:t> are capable for step stencil</a:t>
            </a:r>
          </a:p>
        </p:txBody>
      </p:sp>
      <p:graphicFrame>
        <p:nvGraphicFramePr>
          <p:cNvPr id="14" name="Table 13"/>
          <p:cNvGraphicFramePr>
            <a:graphicFrameLocks noGrp="1"/>
          </p:cNvGraphicFramePr>
          <p:nvPr>
            <p:extLst>
              <p:ext uri="{D42A27DB-BD31-4B8C-83A1-F6EECF244321}">
                <p14:modId xmlns:p14="http://schemas.microsoft.com/office/powerpoint/2010/main" val="1997214692"/>
              </p:ext>
            </p:extLst>
          </p:nvPr>
        </p:nvGraphicFramePr>
        <p:xfrm>
          <a:off x="396063" y="2708764"/>
          <a:ext cx="8467761" cy="2007539"/>
        </p:xfrm>
        <a:graphic>
          <a:graphicData uri="http://schemas.openxmlformats.org/drawingml/2006/table">
            <a:tbl>
              <a:tblPr firstRow="1" bandRow="1">
                <a:tableStyleId>{5C22544A-7EE6-4342-B048-85BDC9FD1C3A}</a:tableStyleId>
              </a:tblPr>
              <a:tblGrid>
                <a:gridCol w="950329"/>
                <a:gridCol w="1166659"/>
                <a:gridCol w="1097215"/>
                <a:gridCol w="1097215"/>
                <a:gridCol w="1097215"/>
                <a:gridCol w="968016"/>
                <a:gridCol w="1045556"/>
                <a:gridCol w="1045556"/>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Thickness range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Intel Clear" panose="020B0604020203020204" pitchFamily="34" charset="0"/>
                        </a:rPr>
                        <a:t>U: 5mil (100%)</a:t>
                      </a:r>
                      <a:r>
                        <a:rPr lang="es-ES" sz="1000" b="0" i="0" u="none" strike="noStrike" dirty="0">
                          <a:solidFill>
                            <a:srgbClr val="000000"/>
                          </a:solidFill>
                          <a:effectLst/>
                          <a:latin typeface="宋体" panose="02010600030101010101" pitchFamily="2" charset="-122"/>
                          <a:ea typeface="宋体" panose="02010600030101010101" pitchFamily="2" charset="-122"/>
                        </a:rPr>
                        <a:t/>
                      </a:r>
                      <a:br>
                        <a:rPr lang="es-ES" sz="1000" b="0" i="0" u="none" strike="noStrike" dirty="0">
                          <a:solidFill>
                            <a:srgbClr val="000000"/>
                          </a:solidFill>
                          <a:effectLst/>
                          <a:latin typeface="宋体" panose="02010600030101010101" pitchFamily="2" charset="-122"/>
                          <a:ea typeface="宋体" panose="02010600030101010101" pitchFamily="2" charset="-122"/>
                        </a:rPr>
                      </a:br>
                      <a:r>
                        <a:rPr lang="es-ES" sz="1000" b="0" i="0" u="none" strike="noStrike" dirty="0">
                          <a:solidFill>
                            <a:srgbClr val="000000"/>
                          </a:solidFill>
                          <a:effectLst/>
                          <a:latin typeface="Intel Clear" panose="020B0604020203020204" pitchFamily="34" charset="0"/>
                        </a:rPr>
                        <a:t>Y: no </a:t>
                      </a:r>
                      <a:r>
                        <a:rPr lang="es-ES" sz="1000" b="0" i="0" u="none" strike="noStrike" dirty="0" err="1">
                          <a:solidFill>
                            <a:srgbClr val="000000"/>
                          </a:solidFill>
                          <a:effectLst/>
                          <a:latin typeface="Intel Clear" panose="020B0604020203020204" pitchFamily="34" charset="0"/>
                        </a:rPr>
                        <a:t>product</a:t>
                      </a:r>
                      <a:endParaRPr lang="es-E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Intel Clear" panose="020B0604020203020204" pitchFamily="34" charset="0"/>
                        </a:rPr>
                        <a:t>U: 5mil (100%)</a:t>
                      </a:r>
                      <a:r>
                        <a:rPr lang="es-ES" sz="1000" b="0" i="0" u="none" strike="noStrike">
                          <a:solidFill>
                            <a:srgbClr val="000000"/>
                          </a:solidFill>
                          <a:effectLst/>
                          <a:latin typeface="宋体" panose="02010600030101010101" pitchFamily="2" charset="-122"/>
                          <a:ea typeface="宋体" panose="02010600030101010101" pitchFamily="2" charset="-122"/>
                        </a:rPr>
                        <a:t/>
                      </a:r>
                      <a:br>
                        <a:rPr lang="es-ES" sz="1000" b="0" i="0" u="none" strike="noStrike">
                          <a:solidFill>
                            <a:srgbClr val="000000"/>
                          </a:solidFill>
                          <a:effectLst/>
                          <a:latin typeface="宋体" panose="02010600030101010101" pitchFamily="2" charset="-122"/>
                          <a:ea typeface="宋体" panose="02010600030101010101" pitchFamily="2" charset="-122"/>
                        </a:rPr>
                      </a:br>
                      <a:r>
                        <a:rPr lang="es-ES" sz="1000" b="0" i="0" u="none" strike="noStrike">
                          <a:solidFill>
                            <a:srgbClr val="000000"/>
                          </a:solidFill>
                          <a:effectLst/>
                          <a:latin typeface="Intel Clear" panose="020B0604020203020204" pitchFamily="34" charset="0"/>
                        </a:rPr>
                        <a:t>Y: no product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Intel Clear" panose="020B0604020203020204" pitchFamily="34" charset="0"/>
                        </a:rPr>
                        <a:t>U, H: 5mil</a:t>
                      </a:r>
                      <a:br>
                        <a:rPr lang="es-ES" sz="1000" b="0" i="0" u="none" strike="noStrike" dirty="0">
                          <a:solidFill>
                            <a:srgbClr val="000000"/>
                          </a:solidFill>
                          <a:effectLst/>
                          <a:latin typeface="Intel Clear" panose="020B0604020203020204" pitchFamily="34" charset="0"/>
                        </a:rPr>
                      </a:br>
                      <a:r>
                        <a:rPr lang="es-ES" sz="1000" b="0" i="0" u="none" strike="noStrike" dirty="0">
                          <a:solidFill>
                            <a:srgbClr val="000000"/>
                          </a:solidFill>
                          <a:effectLst/>
                          <a:latin typeface="Intel Clear" panose="020B0604020203020204" pitchFamily="34" charset="0"/>
                        </a:rPr>
                        <a:t>Y: 3mil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Intel Clear" panose="020B0604020203020204" pitchFamily="34" charset="0"/>
                        </a:rPr>
                        <a:t>U: 5mil (100%)</a:t>
                      </a:r>
                      <a:r>
                        <a:rPr lang="es-ES" sz="1000" b="0" i="0" u="none" strike="noStrike" dirty="0">
                          <a:solidFill>
                            <a:srgbClr val="000000"/>
                          </a:solidFill>
                          <a:effectLst/>
                          <a:latin typeface="宋体" panose="02010600030101010101" pitchFamily="2" charset="-122"/>
                          <a:ea typeface="宋体" panose="02010600030101010101" pitchFamily="2" charset="-122"/>
                        </a:rPr>
                        <a:t/>
                      </a:r>
                      <a:br>
                        <a:rPr lang="es-ES" sz="1000" b="0" i="0" u="none" strike="noStrike" dirty="0">
                          <a:solidFill>
                            <a:srgbClr val="000000"/>
                          </a:solidFill>
                          <a:effectLst/>
                          <a:latin typeface="宋体" panose="02010600030101010101" pitchFamily="2" charset="-122"/>
                          <a:ea typeface="宋体" panose="02010600030101010101" pitchFamily="2" charset="-122"/>
                        </a:rPr>
                      </a:br>
                      <a:r>
                        <a:rPr lang="es-ES" sz="1000" b="0" i="0" u="none" strike="noStrike" dirty="0">
                          <a:solidFill>
                            <a:srgbClr val="000000"/>
                          </a:solidFill>
                          <a:effectLst/>
                          <a:latin typeface="Intel Clear" panose="020B0604020203020204" pitchFamily="34" charset="0"/>
                        </a:rPr>
                        <a:t>Y: no </a:t>
                      </a:r>
                      <a:r>
                        <a:rPr lang="es-ES" sz="1000" b="0" i="0" u="none" strike="noStrike" dirty="0" err="1">
                          <a:solidFill>
                            <a:srgbClr val="000000"/>
                          </a:solidFill>
                          <a:effectLst/>
                          <a:latin typeface="Intel Clear" panose="020B0604020203020204" pitchFamily="34" charset="0"/>
                        </a:rPr>
                        <a:t>product</a:t>
                      </a:r>
                      <a:endParaRPr lang="es-E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U:4mil</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Y:3mil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Intel Clear" panose="020B0604020203020204" pitchFamily="34" charset="0"/>
                        </a:rPr>
                        <a:t>U: 0.09mm (3.54mil)</a:t>
                      </a:r>
                      <a:br>
                        <a:rPr lang="es-ES" sz="1000" b="0" i="0" u="none" strike="noStrike">
                          <a:solidFill>
                            <a:srgbClr val="000000"/>
                          </a:solidFill>
                          <a:effectLst/>
                          <a:latin typeface="Intel Clear" panose="020B0604020203020204" pitchFamily="34" charset="0"/>
                        </a:rPr>
                      </a:br>
                      <a:r>
                        <a:rPr lang="es-ES" sz="1000" b="0" i="0" u="none" strike="noStrike">
                          <a:solidFill>
                            <a:srgbClr val="000000"/>
                          </a:solidFill>
                          <a:effectLst/>
                          <a:latin typeface="Intel Clear" panose="020B0604020203020204" pitchFamily="34" charset="0"/>
                        </a:rPr>
                        <a:t>Y: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U:4mil/5mil</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Y:3mil/4mil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01005 on U platform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Not for now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Not for now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Don't know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Not for now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Current no 01005, Smallist 0201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( 0603 )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3mil on U package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for U</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because of 0.35 pitch BGA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Step Stencil/Smallest step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0.03mm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Action Button: Home 9">
            <a:hlinkClick r:id="rId3" action="ppaction://hlinksldjump" highlightClick="1"/>
          </p:cNvPr>
          <p:cNvSpPr/>
          <p:nvPr/>
        </p:nvSpPr>
        <p:spPr bwMode="auto">
          <a:xfrm>
            <a:off x="8594594" y="5514109"/>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28175899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11</a:t>
            </a:fld>
            <a:endParaRPr lang="en-US" dirty="0"/>
          </a:p>
        </p:txBody>
      </p:sp>
      <p:sp>
        <p:nvSpPr>
          <p:cNvPr id="8" name="Rectangle 7"/>
          <p:cNvSpPr/>
          <p:nvPr/>
        </p:nvSpPr>
        <p:spPr>
          <a:xfrm>
            <a:off x="76200" y="76200"/>
            <a:ext cx="5086649" cy="400110"/>
          </a:xfrm>
          <a:prstGeom prst="rect">
            <a:avLst/>
          </a:prstGeom>
        </p:spPr>
        <p:txBody>
          <a:bodyPr wrap="none">
            <a:spAutoFit/>
          </a:bodyPr>
          <a:lstStyle/>
          <a:p>
            <a:r>
              <a:rPr lang="en-US" sz="2000" b="1" dirty="0" smtClean="0"/>
              <a:t>Stencil mfg process/Print process</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681214562"/>
              </p:ext>
            </p:extLst>
          </p:nvPr>
        </p:nvGraphicFramePr>
        <p:xfrm>
          <a:off x="176893" y="647478"/>
          <a:ext cx="8532996" cy="1962083"/>
        </p:xfrm>
        <a:graphic>
          <a:graphicData uri="http://schemas.openxmlformats.org/drawingml/2006/table">
            <a:tbl>
              <a:tblPr firstRow="1" bandRow="1">
                <a:tableStyleId>{5C22544A-7EE6-4342-B048-85BDC9FD1C3A}</a:tableStyleId>
              </a:tblPr>
              <a:tblGrid>
                <a:gridCol w="1422166"/>
                <a:gridCol w="1422166"/>
                <a:gridCol w="1422166"/>
                <a:gridCol w="1422166"/>
                <a:gridCol w="1422166"/>
                <a:gridCol w="1422166"/>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 vendor</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panose="020B0604020203020204" pitchFamily="34" charset="0"/>
                        </a:rPr>
                        <a:t>Fosen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Sunshine, Fosen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Corcreate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DESCO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Compal Internal LAB(90%~95%), </a:t>
                      </a:r>
                      <a:r>
                        <a:rPr lang="en-US" sz="1000" b="0" i="0" u="none" strike="noStrike" dirty="0" err="1">
                          <a:solidFill>
                            <a:srgbClr val="000000"/>
                          </a:solidFill>
                          <a:effectLst/>
                          <a:latin typeface="Intel Clear" panose="020B0604020203020204" pitchFamily="34" charset="0"/>
                        </a:rPr>
                        <a:t>GuangHong</a:t>
                      </a:r>
                      <a:r>
                        <a:rPr lang="en-US" sz="1000" b="0" i="0" u="none" strike="noStrike" dirty="0">
                          <a:solidFill>
                            <a:srgbClr val="000000"/>
                          </a:solidFill>
                          <a:effectLst/>
                          <a:latin typeface="Intel Clear" panose="020B0604020203020204" pitchFamily="34" charset="0"/>
                        </a:rPr>
                        <a:t>, </a:t>
                      </a:r>
                      <a:r>
                        <a:rPr lang="en-US" sz="1000" b="0" i="0" u="none" strike="noStrike" dirty="0" err="1">
                          <a:solidFill>
                            <a:srgbClr val="000000"/>
                          </a:solidFill>
                          <a:effectLst/>
                          <a:latin typeface="Intel Clear" panose="020B0604020203020204" pitchFamily="34" charset="0"/>
                        </a:rPr>
                        <a:t>ZuoLiDa</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 mfg process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Laser</a:t>
                      </a:r>
                      <a:r>
                        <a:rPr lang="en-US" sz="1000" b="0" i="0" u="none" strike="noStrike" baseline="0" dirty="0" smtClean="0">
                          <a:solidFill>
                            <a:srgbClr val="000000"/>
                          </a:solidFill>
                          <a:effectLst/>
                          <a:latin typeface="Intel Clear" panose="020B0604020203020204" pitchFamily="34" charset="0"/>
                        </a:rPr>
                        <a:t> Cut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Laser</a:t>
                      </a:r>
                      <a:r>
                        <a:rPr lang="en-US" altLang="zh-CN" sz="1000" b="0" i="0" u="none" strike="noStrike" baseline="0" dirty="0" smtClean="0">
                          <a:solidFill>
                            <a:srgbClr val="000000"/>
                          </a:solidFill>
                          <a:effectLst/>
                          <a:latin typeface="Intel Clear" panose="020B0604020203020204" pitchFamily="34" charset="0"/>
                        </a:rPr>
                        <a:t> Cut</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Laser</a:t>
                      </a:r>
                      <a:r>
                        <a:rPr lang="en-US" altLang="zh-CN" sz="1000" b="0" i="0" u="none" strike="noStrike" baseline="0" dirty="0" smtClean="0">
                          <a:solidFill>
                            <a:srgbClr val="000000"/>
                          </a:solidFill>
                          <a:effectLst/>
                          <a:latin typeface="Intel Clear" panose="020B0604020203020204" pitchFamily="34" charset="0"/>
                        </a:rPr>
                        <a:t> Cut</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Laser</a:t>
                      </a:r>
                      <a:r>
                        <a:rPr lang="en-US" altLang="zh-CN" sz="1000" b="0" i="0" u="none" strike="noStrike" baseline="0" dirty="0" smtClean="0">
                          <a:solidFill>
                            <a:srgbClr val="000000"/>
                          </a:solidFill>
                          <a:effectLst/>
                          <a:latin typeface="Intel Clear" panose="020B0604020203020204" pitchFamily="34" charset="0"/>
                        </a:rPr>
                        <a:t> Cut</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Laser</a:t>
                      </a:r>
                      <a:r>
                        <a:rPr lang="en-US" altLang="zh-CN" sz="1000" b="0" i="0" u="none" strike="noStrike" baseline="0" dirty="0" smtClean="0">
                          <a:solidFill>
                            <a:srgbClr val="000000"/>
                          </a:solidFill>
                          <a:effectLst/>
                          <a:latin typeface="Intel Clear" panose="020B0604020203020204" pitchFamily="34" charset="0"/>
                        </a:rPr>
                        <a:t> Cut</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4157">
                <a:tc>
                  <a:txBody>
                    <a:bodyPr/>
                    <a:lstStyle/>
                    <a:p>
                      <a:pPr algn="l" fontAlgn="b"/>
                      <a:r>
                        <a:rPr lang="en-US" sz="1000" b="0" i="0" u="none" strike="noStrike" dirty="0" smtClean="0">
                          <a:solidFill>
                            <a:srgbClr val="000000"/>
                          </a:solidFill>
                          <a:effectLst/>
                          <a:latin typeface="Intel Clear" panose="020B0604020203020204" pitchFamily="34" charset="0"/>
                        </a:rPr>
                        <a:t>Stencil</a:t>
                      </a:r>
                      <a:r>
                        <a:rPr lang="en-US" sz="1000" b="0" i="0" u="none" strike="noStrike" baseline="0" dirty="0" smtClean="0">
                          <a:solidFill>
                            <a:srgbClr val="000000"/>
                          </a:solidFill>
                          <a:effectLst/>
                          <a:latin typeface="Intel Clear" panose="020B0604020203020204" pitchFamily="34" charset="0"/>
                        </a:rPr>
                        <a:t> coating</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 coat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Nano coat spray + Cure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Nano Coat</a:t>
                      </a:r>
                      <a:r>
                        <a:rPr lang="en-US" sz="1000" b="0" i="0" u="none" strike="noStrike" baseline="0" dirty="0" smtClean="0">
                          <a:solidFill>
                            <a:srgbClr val="000000"/>
                          </a:solidFill>
                          <a:effectLst/>
                          <a:latin typeface="Intel Clear" panose="020B0604020203020204" pitchFamily="34" charset="0"/>
                        </a:rPr>
                        <a:t> Sputtering</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Nano Coat Spray + Cure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 coat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2436">
                <a:tc>
                  <a:txBody>
                    <a:bodyPr/>
                    <a:lstStyle/>
                    <a:p>
                      <a:pPr algn="l" fontAlgn="b"/>
                      <a:r>
                        <a:rPr lang="en-US" sz="1000" b="0" i="0" u="none" strike="noStrike" dirty="0" smtClean="0">
                          <a:solidFill>
                            <a:srgbClr val="000000"/>
                          </a:solidFill>
                          <a:effectLst/>
                          <a:latin typeface="Intel Clear" panose="020B0604020203020204" pitchFamily="34" charset="0"/>
                        </a:rPr>
                        <a:t>AR preferred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&gt;=0.66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B050"/>
                          </a:solidFill>
                          <a:effectLst/>
                          <a:latin typeface="Intel Clear" panose="020B0604020203020204" pitchFamily="34" charset="0"/>
                        </a:rPr>
                        <a:t>&gt;=0.55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&gt;=0.66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B050"/>
                          </a:solidFill>
                          <a:effectLst/>
                          <a:latin typeface="Intel Clear" panose="020B0604020203020204" pitchFamily="34" charset="0"/>
                        </a:rPr>
                        <a:t>&gt;=0.6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&gt;=0.66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Method</a:t>
                      </a:r>
                      <a:r>
                        <a:rPr lang="en-US" sz="1000" b="0" i="0" u="none" strike="noStrike" baseline="0" dirty="0" smtClean="0">
                          <a:solidFill>
                            <a:srgbClr val="000000"/>
                          </a:solidFill>
                          <a:effectLst/>
                          <a:latin typeface="Intel Clear" panose="020B0604020203020204" pitchFamily="34" charset="0"/>
                        </a:rPr>
                        <a:t> to achieve smaller AR (&lt;0.66)</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Use thinner Stencil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Smaller</a:t>
                      </a:r>
                      <a:r>
                        <a:rPr lang="en-US" sz="1000" b="0" i="0" u="none" strike="noStrike" baseline="0" dirty="0" smtClean="0">
                          <a:solidFill>
                            <a:srgbClr val="000000"/>
                          </a:solidFill>
                          <a:effectLst/>
                          <a:latin typeface="Intel Clear" panose="020B0604020203020204" pitchFamily="34" charset="0"/>
                        </a:rPr>
                        <a:t> paste mesh size + Nano coat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Thinner</a:t>
                      </a:r>
                      <a:r>
                        <a:rPr lang="en-US" sz="1000" b="0" i="0" u="none" strike="noStrike" baseline="0" dirty="0" smtClean="0">
                          <a:solidFill>
                            <a:srgbClr val="000000"/>
                          </a:solidFill>
                          <a:effectLst/>
                          <a:latin typeface="Intel Clear" panose="020B0604020203020204" pitchFamily="34" charset="0"/>
                        </a:rPr>
                        <a:t> stencil, </a:t>
                      </a:r>
                      <a:r>
                        <a:rPr lang="en-US" sz="1000" b="0" i="0" u="none" strike="noStrike" dirty="0" smtClean="0">
                          <a:solidFill>
                            <a:srgbClr val="000000"/>
                          </a:solidFill>
                          <a:effectLst/>
                          <a:latin typeface="Intel Clear" panose="020B0604020203020204" pitchFamily="34" charset="0"/>
                        </a:rPr>
                        <a:t>Smaller paste mesh Size</a:t>
                      </a:r>
                      <a:r>
                        <a:rPr lang="en-US" sz="1000" b="0" i="0" u="none" strike="noStrike" baseline="0" dirty="0" smtClean="0">
                          <a:solidFill>
                            <a:srgbClr val="000000"/>
                          </a:solidFill>
                          <a:effectLst/>
                          <a:latin typeface="Intel Clear" panose="020B0604020203020204" pitchFamily="34" charset="0"/>
                        </a:rPr>
                        <a:t>, FG material, Nano coat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Smaller</a:t>
                      </a:r>
                      <a:r>
                        <a:rPr lang="en-US" sz="1000" b="0" i="0" u="none" strike="noStrike" baseline="0" dirty="0" smtClean="0">
                          <a:solidFill>
                            <a:srgbClr val="000000"/>
                          </a:solidFill>
                          <a:effectLst/>
                          <a:latin typeface="Intel Clear" panose="020B0604020203020204" pitchFamily="34" charset="0"/>
                        </a:rPr>
                        <a:t> paste mesh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FF0000"/>
                          </a:solidFill>
                          <a:effectLst/>
                          <a:latin typeface="Intel Clear" panose="020B0604020203020204" pitchFamily="34" charset="0"/>
                        </a:rPr>
                        <a:t>No plan yet</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3" name="Rounded Rectangle 12"/>
          <p:cNvSpPr/>
          <p:nvPr/>
        </p:nvSpPr>
        <p:spPr bwMode="auto">
          <a:xfrm>
            <a:off x="76200" y="4794390"/>
            <a:ext cx="8841924" cy="1191816"/>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Some customer able to achieve lower AR</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High end customer are start using advanced stencil mfg process</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However, for big volume/low price customer (HP/Dell consumer), cost still a big concern</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Quanta said they didn’t feel Nano coating helps (Maybe vendor related), thus they’d rather use thinner stencil to keep the AR &gt;=0.66 than use advanced stencil technology </a:t>
            </a:r>
          </a:p>
        </p:txBody>
      </p:sp>
      <p:graphicFrame>
        <p:nvGraphicFramePr>
          <p:cNvPr id="11" name="Table 10"/>
          <p:cNvGraphicFramePr>
            <a:graphicFrameLocks noGrp="1"/>
          </p:cNvGraphicFramePr>
          <p:nvPr>
            <p:extLst>
              <p:ext uri="{D42A27DB-BD31-4B8C-83A1-F6EECF244321}">
                <p14:modId xmlns:p14="http://schemas.microsoft.com/office/powerpoint/2010/main" val="3695887676"/>
              </p:ext>
            </p:extLst>
          </p:nvPr>
        </p:nvGraphicFramePr>
        <p:xfrm>
          <a:off x="176893" y="2721045"/>
          <a:ext cx="8532992" cy="1986416"/>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 vendor</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Sunshine, </a:t>
                      </a:r>
                      <a:r>
                        <a:rPr lang="en-US" sz="1000" b="0" i="0" u="none" strike="noStrike" dirty="0" err="1">
                          <a:solidFill>
                            <a:srgbClr val="000000"/>
                          </a:solidFill>
                          <a:effectLst/>
                          <a:latin typeface="Intel Clear" panose="020B0604020203020204" pitchFamily="34" charset="0"/>
                        </a:rPr>
                        <a:t>Fosen</a:t>
                      </a:r>
                      <a:r>
                        <a:rPr lang="en-US" sz="1000" b="0" i="0" u="none" strike="noStrike" dirty="0">
                          <a:solidFill>
                            <a:srgbClr val="000000"/>
                          </a:solidFill>
                          <a:effectLst/>
                          <a:latin typeface="Intel Clear" panose="020B0604020203020204" pitchFamily="34" charset="0"/>
                        </a:rPr>
                        <a:t>, </a:t>
                      </a:r>
                      <a:r>
                        <a:rPr lang="en-US" sz="1000" b="0" i="0" u="none" strike="noStrike" dirty="0" err="1">
                          <a:solidFill>
                            <a:srgbClr val="000000"/>
                          </a:solidFill>
                          <a:effectLst/>
                          <a:latin typeface="Intel Clear" panose="020B0604020203020204" pitchFamily="34" charset="0"/>
                        </a:rPr>
                        <a:t>Konwin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Fosen, Sunshine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Sunshine, YiGangDa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Sunshine, ZuoLiDa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Sunshine, Fosen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DESCO, OuFang, BaiSiTeKe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panose="020B0604020203020204" pitchFamily="34" charset="0"/>
                        </a:rPr>
                        <a:t>Konwin</a:t>
                      </a:r>
                      <a:r>
                        <a:rPr lang="en-US" sz="1000" b="0" i="0" u="none" strike="noStrike" dirty="0">
                          <a:solidFill>
                            <a:srgbClr val="000000"/>
                          </a:solidFill>
                          <a:effectLst/>
                          <a:latin typeface="Intel Clear" panose="020B0604020203020204" pitchFamily="34" charset="0"/>
                        </a:rPr>
                        <a:t>, </a:t>
                      </a:r>
                      <a:r>
                        <a:rPr lang="en-US" sz="1000" b="0" i="0" u="none" strike="noStrike" dirty="0" err="1">
                          <a:solidFill>
                            <a:srgbClr val="000000"/>
                          </a:solidFill>
                          <a:effectLst/>
                          <a:latin typeface="Intel Clear" panose="020B0604020203020204" pitchFamily="34" charset="0"/>
                        </a:rPr>
                        <a:t>Corcreate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 mfg process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Laser Cut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a:t>
                      </a:r>
                      <a:r>
                        <a:rPr lang="en-US" sz="1000" b="0" i="0" u="none" strike="noStrike" baseline="0" dirty="0" smtClean="0">
                          <a:solidFill>
                            <a:srgbClr val="000000"/>
                          </a:solidFill>
                          <a:effectLst/>
                          <a:latin typeface="Intel Clear" panose="020B0604020203020204" pitchFamily="34" charset="0"/>
                        </a:rPr>
                        <a:t> coating</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Spray + Cure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Spray + Cure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Spray + Cure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Wipe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Spray + Cure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coat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Spray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AR preferred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B050"/>
                          </a:solidFill>
                          <a:effectLst/>
                          <a:latin typeface="Intel Clear" panose="020B0604020203020204" pitchFamily="34" charset="0"/>
                        </a:rPr>
                        <a:t>0.5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0.71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0.66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B050"/>
                          </a:solidFill>
                          <a:effectLst/>
                          <a:latin typeface="Intel Clear" panose="020B0604020203020204" pitchFamily="34" charset="0"/>
                        </a:rPr>
                        <a:t>0.6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Method</a:t>
                      </a:r>
                      <a:r>
                        <a:rPr lang="en-US" sz="1000" b="0" i="0" u="none" strike="noStrike" baseline="0" dirty="0" smtClean="0">
                          <a:solidFill>
                            <a:srgbClr val="000000"/>
                          </a:solidFill>
                          <a:effectLst/>
                          <a:latin typeface="Intel Clear" panose="020B0604020203020204" pitchFamily="34" charset="0"/>
                        </a:rPr>
                        <a:t> to achieve smaller AR (&lt;0.66)</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Thinner stencil, Nano coat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Nano coat +Step stencil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000" b="0" i="0" u="none" strike="noStrike" dirty="0">
                          <a:solidFill>
                            <a:srgbClr val="000000"/>
                          </a:solidFill>
                          <a:effectLst/>
                          <a:latin typeface="Intel Clear" panose="020B0604020203020204" pitchFamily="34" charset="0"/>
                        </a:rPr>
                        <a:t>Nano Coat, type 5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Nano coat stencil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000" b="0" i="0" u="none" strike="noStrike">
                          <a:solidFill>
                            <a:srgbClr val="000000"/>
                          </a:solidFill>
                          <a:effectLst/>
                          <a:latin typeface="Intel Clear" panose="020B0604020203020204" pitchFamily="34" charset="0"/>
                        </a:rPr>
                        <a:t>Nano Coat, type 5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Thinner stencil, Nano coat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Nano coat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Action Button: Home 9">
            <a:hlinkClick r:id="rId3" action="ppaction://hlinksldjump" highlightClick="1"/>
          </p:cNvPr>
          <p:cNvSpPr/>
          <p:nvPr/>
        </p:nvSpPr>
        <p:spPr bwMode="auto">
          <a:xfrm>
            <a:off x="8428340" y="4922982"/>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231402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12</a:t>
            </a:fld>
            <a:endParaRPr lang="en-US" dirty="0"/>
          </a:p>
        </p:txBody>
      </p:sp>
      <p:sp>
        <p:nvSpPr>
          <p:cNvPr id="8" name="Rectangle 7"/>
          <p:cNvSpPr/>
          <p:nvPr/>
        </p:nvSpPr>
        <p:spPr>
          <a:xfrm>
            <a:off x="76200" y="76200"/>
            <a:ext cx="5086649" cy="400110"/>
          </a:xfrm>
          <a:prstGeom prst="rect">
            <a:avLst/>
          </a:prstGeom>
        </p:spPr>
        <p:txBody>
          <a:bodyPr wrap="none">
            <a:spAutoFit/>
          </a:bodyPr>
          <a:lstStyle/>
          <a:p>
            <a:r>
              <a:rPr lang="en-US" sz="2000" b="1" dirty="0" smtClean="0"/>
              <a:t>Stencil mfg process/Print process</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0" name="Table 9"/>
          <p:cNvGraphicFramePr>
            <a:graphicFrameLocks noGrp="1"/>
          </p:cNvGraphicFramePr>
          <p:nvPr>
            <p:extLst>
              <p:ext uri="{D42A27DB-BD31-4B8C-83A1-F6EECF244321}">
                <p14:modId xmlns:p14="http://schemas.microsoft.com/office/powerpoint/2010/main" val="4125578872"/>
              </p:ext>
            </p:extLst>
          </p:nvPr>
        </p:nvGraphicFramePr>
        <p:xfrm>
          <a:off x="241548" y="1299977"/>
          <a:ext cx="8532990" cy="1672091"/>
        </p:xfrm>
        <a:graphic>
          <a:graphicData uri="http://schemas.openxmlformats.org/drawingml/2006/table">
            <a:tbl>
              <a:tblPr firstRow="1" bandRow="1">
                <a:tableStyleId>{5C22544A-7EE6-4342-B048-85BDC9FD1C3A}</a:tableStyleId>
              </a:tblPr>
              <a:tblGrid>
                <a:gridCol w="1422165"/>
                <a:gridCol w="1422165"/>
                <a:gridCol w="1422165"/>
                <a:gridCol w="1422165"/>
                <a:gridCol w="1422165"/>
                <a:gridCol w="142216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a:t>
                      </a:r>
                      <a:r>
                        <a:rPr lang="en-US" sz="1000" b="0" i="0" u="none" strike="noStrike" baseline="0" dirty="0" smtClean="0">
                          <a:solidFill>
                            <a:srgbClr val="000000"/>
                          </a:solidFill>
                          <a:effectLst/>
                          <a:latin typeface="Intel Clear" panose="020B0604020203020204" pitchFamily="34" charset="0"/>
                        </a:rPr>
                        <a:t> speed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120mm/Sec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60-140mm/sec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80--120 mm/S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100~120mm/sec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 pressure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10~19KG/0.18Mpa~0.26Mpa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5KG-12 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9kg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Separation</a:t>
                      </a:r>
                      <a:r>
                        <a:rPr lang="en-US" sz="1000" b="0" i="0" u="none" strike="noStrike" baseline="0" dirty="0" smtClean="0">
                          <a:solidFill>
                            <a:srgbClr val="000000"/>
                          </a:solidFill>
                          <a:effectLst/>
                          <a:latin typeface="Intel Clear" panose="020B0604020203020204" pitchFamily="34" charset="0"/>
                        </a:rPr>
                        <a:t> speed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5mm/S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2mm/s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0.5mm/s~3mm/s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2mm/s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 ultrasonic wash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ultrasonic wash. Use Air gun and solvent </a:t>
                      </a:r>
                      <a:r>
                        <a:rPr lang="en-US" sz="1000" b="0" i="0" u="none" strike="noStrike" dirty="0" smtClean="0">
                          <a:solidFill>
                            <a:srgbClr val="000000"/>
                          </a:solidFill>
                          <a:effectLst/>
                          <a:latin typeface="Intel Clear" panose="020B0604020203020204" pitchFamily="34" charset="0"/>
                        </a:rPr>
                        <a:t>to</a:t>
                      </a:r>
                      <a:r>
                        <a:rPr lang="en-US" sz="1000" b="0" i="0" u="none" strike="noStrike" baseline="0" dirty="0" smtClean="0">
                          <a:solidFill>
                            <a:srgbClr val="000000"/>
                          </a:solidFill>
                          <a:effectLst/>
                          <a:latin typeface="Intel Clear" panose="020B0604020203020204" pitchFamily="34" charset="0"/>
                        </a:rPr>
                        <a:t> </a:t>
                      </a:r>
                      <a:r>
                        <a:rPr lang="en-US" sz="1000" b="0" i="0" u="none" strike="noStrike" dirty="0" smtClean="0">
                          <a:solidFill>
                            <a:srgbClr val="000000"/>
                          </a:solidFill>
                          <a:effectLst/>
                          <a:latin typeface="Intel Clear" panose="020B0604020203020204" pitchFamily="34" charset="0"/>
                        </a:rPr>
                        <a:t>clear </a:t>
                      </a:r>
                      <a:r>
                        <a:rPr lang="en-US" sz="1000" b="0" i="0" u="none" strike="noStrike" dirty="0">
                          <a:solidFill>
                            <a:srgbClr val="000000"/>
                          </a:solidFill>
                          <a:effectLst/>
                          <a:latin typeface="Intel Clear" panose="020B0604020203020204" pitchFamily="34" charset="0"/>
                        </a:rPr>
                        <a:t>every 24 </a:t>
                      </a:r>
                      <a:r>
                        <a:rPr lang="en-US" sz="1000" b="0" i="0" u="none" strike="noStrike" dirty="0" err="1">
                          <a:solidFill>
                            <a:srgbClr val="000000"/>
                          </a:solidFill>
                          <a:effectLst/>
                          <a:latin typeface="Intel Clear" panose="020B0604020203020204" pitchFamily="34" charset="0"/>
                        </a:rPr>
                        <a:t>hrs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every 12Hours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Use solvent, no ultrasonic. Every 12H</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12H/time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6H</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524227540"/>
              </p:ext>
            </p:extLst>
          </p:nvPr>
        </p:nvGraphicFramePr>
        <p:xfrm>
          <a:off x="241548" y="3524609"/>
          <a:ext cx="8532992" cy="1519691"/>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a:t>
                      </a:r>
                      <a:r>
                        <a:rPr lang="en-US" sz="1000" b="0" i="0" u="none" strike="noStrike" baseline="0" dirty="0" smtClean="0">
                          <a:solidFill>
                            <a:srgbClr val="000000"/>
                          </a:solidFill>
                          <a:effectLst/>
                          <a:latin typeface="Intel Clear" panose="020B0604020203020204" pitchFamily="34" charset="0"/>
                        </a:rPr>
                        <a:t> speed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100~200mm/sec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110mm/sec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80~110mm/sec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70mm/sec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80-100mm/ssec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80-120mm/sec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 pressure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GKG:2~8kg；DEK：14~20kg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5~8KG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8-12kg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6kg-8kg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Separation</a:t>
                      </a:r>
                      <a:r>
                        <a:rPr lang="en-US" sz="1000" b="0" i="0" u="none" strike="noStrike" baseline="0" dirty="0" smtClean="0">
                          <a:solidFill>
                            <a:srgbClr val="000000"/>
                          </a:solidFill>
                          <a:effectLst/>
                          <a:latin typeface="Intel Clear" panose="020B0604020203020204" pitchFamily="34" charset="0"/>
                        </a:rPr>
                        <a:t> speed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1~4mm/sec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1-2mm/sec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Stencil ultrasonic wash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 hours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12 hours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12 hours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 hours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Action Button: Home 11">
            <a:hlinkClick r:id="rId3" action="ppaction://hlinksldjump" highlightClick="1"/>
          </p:cNvPr>
          <p:cNvSpPr/>
          <p:nvPr/>
        </p:nvSpPr>
        <p:spPr bwMode="auto">
          <a:xfrm>
            <a:off x="8492994" y="5398259"/>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11845761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13</a:t>
            </a:fld>
            <a:endParaRPr lang="en-US" dirty="0"/>
          </a:p>
        </p:txBody>
      </p:sp>
      <p:sp>
        <p:nvSpPr>
          <p:cNvPr id="8" name="Rectangle 7"/>
          <p:cNvSpPr/>
          <p:nvPr/>
        </p:nvSpPr>
        <p:spPr>
          <a:xfrm>
            <a:off x="76200" y="76200"/>
            <a:ext cx="8392041" cy="400110"/>
          </a:xfrm>
          <a:prstGeom prst="rect">
            <a:avLst/>
          </a:prstGeom>
        </p:spPr>
        <p:txBody>
          <a:bodyPr wrap="none">
            <a:spAutoFit/>
          </a:bodyPr>
          <a:lstStyle/>
          <a:p>
            <a:r>
              <a:rPr lang="en-US" sz="2000" b="1" dirty="0" smtClean="0"/>
              <a:t>Printing Support mechanism/Print machine handing size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4237253647"/>
              </p:ext>
            </p:extLst>
          </p:nvPr>
        </p:nvGraphicFramePr>
        <p:xfrm>
          <a:off x="176893" y="476310"/>
          <a:ext cx="8532990" cy="1998014"/>
        </p:xfrm>
        <a:graphic>
          <a:graphicData uri="http://schemas.openxmlformats.org/drawingml/2006/table">
            <a:tbl>
              <a:tblPr firstRow="1" bandRow="1">
                <a:tableStyleId>{5C22544A-7EE6-4342-B048-85BDC9FD1C3A}</a:tableStyleId>
              </a:tblPr>
              <a:tblGrid>
                <a:gridCol w="1422165"/>
                <a:gridCol w="1422165"/>
                <a:gridCol w="1422165"/>
                <a:gridCol w="1422165"/>
                <a:gridCol w="1422165"/>
                <a:gridCol w="142216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 pallet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so far only 1 project use whole process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All process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PCB support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block with vacuum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Use support Pin at NPI, use </a:t>
                      </a:r>
                      <a:r>
                        <a:rPr lang="en-US" sz="1000" b="0" i="0" u="none" strike="noStrike" dirty="0">
                          <a:solidFill>
                            <a:srgbClr val="00B050"/>
                          </a:solidFill>
                          <a:effectLst/>
                          <a:latin typeface="Intel Clear" panose="020B0604020203020204" pitchFamily="34" charset="0"/>
                        </a:rPr>
                        <a:t>vacuum support </a:t>
                      </a:r>
                      <a:r>
                        <a:rPr lang="en-US" sz="1000" b="0" i="0" u="none" strike="noStrike" dirty="0">
                          <a:solidFill>
                            <a:srgbClr val="000000"/>
                          </a:solidFill>
                          <a:effectLst/>
                          <a:latin typeface="Intel Clear" panose="020B0604020203020204" pitchFamily="34" charset="0"/>
                        </a:rPr>
                        <a:t>block after HVM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Pallet +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 machine handling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Size: Max 370mm*420mm</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Min 100mm*100mm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Min: 0.3mm Max: 1.6mm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Size: Max 370mm*510mm</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Min 40mm*50mm</a:t>
                      </a:r>
                      <a:br>
                        <a:rPr lang="en-US" sz="1000" b="0" i="0" u="none" strike="noStrike">
                          <a:solidFill>
                            <a:srgbClr val="000000"/>
                          </a:solidFill>
                          <a:effectLst/>
                          <a:latin typeface="Intel Clear" panose="020B0604020203020204" pitchFamily="34" charset="0"/>
                        </a:rPr>
                      </a:b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L*W 460*366--&gt;50*50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0.2--&gt;5.0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Min:50*50mm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Max:510*508mm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Thickness:0.3~6.0mm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N/A</a:t>
                      </a:r>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3" name="Rounded Rectangle 12"/>
          <p:cNvSpPr/>
          <p:nvPr/>
        </p:nvSpPr>
        <p:spPr bwMode="auto">
          <a:xfrm>
            <a:off x="76200" y="5231412"/>
            <a:ext cx="8841924" cy="715089"/>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JDM1 always use print pallet (whole process pallet)</a:t>
            </a:r>
          </a:p>
          <a:p>
            <a:pPr marL="742950" lvl="1" indent="-285750" eaLnBrk="0" fontAlgn="base" hangingPunct="0">
              <a:spcBef>
                <a:spcPct val="0"/>
              </a:spcBef>
              <a:spcAft>
                <a:spcPct val="0"/>
              </a:spcAft>
              <a:buFont typeface="Wingdings" panose="05000000000000000000" pitchFamily="2" charset="2"/>
              <a:buChar char="§"/>
            </a:pPr>
            <a:r>
              <a:rPr lang="en-US" sz="1400" dirty="0" smtClean="0">
                <a:cs typeface="Arial" pitchFamily="34" charset="0"/>
              </a:rPr>
              <a:t>They use both pallet + support block to support PCB during print</a:t>
            </a:r>
          </a:p>
          <a:p>
            <a:pPr marL="285750" indent="-285750" eaLnBrk="0" fontAlgn="base" hangingPunct="0">
              <a:spcBef>
                <a:spcPct val="0"/>
              </a:spcBef>
              <a:spcAft>
                <a:spcPct val="0"/>
              </a:spcAft>
              <a:buFont typeface="Wingdings" panose="05000000000000000000" pitchFamily="2" charset="2"/>
              <a:buChar char="§"/>
            </a:pPr>
            <a:r>
              <a:rPr lang="en-US" sz="1400" dirty="0" smtClean="0">
                <a:cs typeface="Arial" pitchFamily="34" charset="0"/>
              </a:rPr>
              <a:t>few customers are capable for vacuum block</a:t>
            </a:r>
          </a:p>
        </p:txBody>
      </p:sp>
      <p:graphicFrame>
        <p:nvGraphicFramePr>
          <p:cNvPr id="10" name="Table 9"/>
          <p:cNvGraphicFramePr>
            <a:graphicFrameLocks noGrp="1"/>
          </p:cNvGraphicFramePr>
          <p:nvPr>
            <p:extLst>
              <p:ext uri="{D42A27DB-BD31-4B8C-83A1-F6EECF244321}">
                <p14:modId xmlns:p14="http://schemas.microsoft.com/office/powerpoint/2010/main" val="767937007"/>
              </p:ext>
            </p:extLst>
          </p:nvPr>
        </p:nvGraphicFramePr>
        <p:xfrm>
          <a:off x="176893" y="2549061"/>
          <a:ext cx="8532992" cy="2607614"/>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 pallet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Whole process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Normally No. </a:t>
                      </a:r>
                      <a:r>
                        <a:rPr lang="en-US" sz="1000" b="0" i="0" u="none" strike="noStrike">
                          <a:solidFill>
                            <a:srgbClr val="000000"/>
                          </a:solidFill>
                          <a:effectLst/>
                          <a:latin typeface="宋体" panose="02010600030101010101" pitchFamily="2" charset="-122"/>
                          <a:ea typeface="宋体" panose="02010600030101010101" pitchFamily="2" charset="-122"/>
                        </a:rPr>
                        <a:t/>
                      </a:r>
                      <a:br>
                        <a:rPr lang="en-US" sz="1000" b="0" i="0" u="none" strike="noStrike">
                          <a:solidFill>
                            <a:srgbClr val="000000"/>
                          </a:solidFill>
                          <a:effectLst/>
                          <a:latin typeface="宋体" panose="02010600030101010101" pitchFamily="2" charset="-122"/>
                          <a:ea typeface="宋体" panose="02010600030101010101" pitchFamily="2" charset="-122"/>
                        </a:rPr>
                      </a:br>
                      <a:r>
                        <a:rPr lang="en-US" sz="1000" b="0" i="0" u="none" strike="noStrike">
                          <a:solidFill>
                            <a:srgbClr val="000000"/>
                          </a:solidFill>
                          <a:effectLst/>
                          <a:latin typeface="Intel Clear" panose="020B0604020203020204" pitchFamily="34" charset="0"/>
                        </a:rPr>
                        <a:t>If PCB &lt;0.8mm consider use whole process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PCB support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pin, 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1st side, support block; 2nd side, </a:t>
                      </a:r>
                      <a:r>
                        <a:rPr lang="en-US" sz="1000" b="0" i="0" u="none" strike="noStrike" dirty="0">
                          <a:solidFill>
                            <a:srgbClr val="00B050"/>
                          </a:solidFill>
                          <a:effectLst/>
                          <a:latin typeface="Intel Clear" panose="020B0604020203020204" pitchFamily="34" charset="0"/>
                        </a:rPr>
                        <a:t>support block with vacuum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pin, 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panose="020B0604020203020204" pitchFamily="34" charset="0"/>
                        </a:rPr>
                        <a:t>Support block with vacuum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Support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Print machine handling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Min: N/A</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Max: 510*590mm</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50*40mm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510*480mm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0.5mm~6mm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50.8X50.8mm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609X508mm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0.16~12mm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50.8X50.8mm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508.5X510mm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0.4~6mm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50X50mm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480X504mm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0.5~4mm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50.8X50.8mm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508X609mm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0.2~5mm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Min: 50.8X40.5mm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Max: 508.5X510mm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0.2~6mm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Action Button: Home 10">
            <a:hlinkClick r:id="rId3" action="ppaction://hlinksldjump" highlightClick="1"/>
          </p:cNvPr>
          <p:cNvSpPr/>
          <p:nvPr/>
        </p:nvSpPr>
        <p:spPr bwMode="auto">
          <a:xfrm>
            <a:off x="8468241" y="5390374"/>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7043380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14</a:t>
            </a:fld>
            <a:endParaRPr lang="en-US" dirty="0"/>
          </a:p>
        </p:txBody>
      </p:sp>
      <p:sp>
        <p:nvSpPr>
          <p:cNvPr id="8" name="Rectangle 7"/>
          <p:cNvSpPr/>
          <p:nvPr/>
        </p:nvSpPr>
        <p:spPr>
          <a:xfrm>
            <a:off x="76200" y="76200"/>
            <a:ext cx="1999265" cy="400110"/>
          </a:xfrm>
          <a:prstGeom prst="rect">
            <a:avLst/>
          </a:prstGeom>
        </p:spPr>
        <p:txBody>
          <a:bodyPr wrap="none">
            <a:spAutoFit/>
          </a:bodyPr>
          <a:lstStyle/>
          <a:p>
            <a:r>
              <a:rPr lang="en-US" sz="2000" b="1" dirty="0" smtClean="0"/>
              <a:t>SPI machine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3085074275"/>
              </p:ext>
            </p:extLst>
          </p:nvPr>
        </p:nvGraphicFramePr>
        <p:xfrm>
          <a:off x="458039" y="1012442"/>
          <a:ext cx="8343810" cy="3367541"/>
        </p:xfrm>
        <a:graphic>
          <a:graphicData uri="http://schemas.openxmlformats.org/drawingml/2006/table">
            <a:tbl>
              <a:tblPr firstRow="1" bandRow="1">
                <a:tableStyleId>{5C22544A-7EE6-4342-B048-85BDC9FD1C3A}</a:tableStyleId>
              </a:tblPr>
              <a:tblGrid>
                <a:gridCol w="1390635"/>
                <a:gridCol w="1390635"/>
                <a:gridCol w="1390635"/>
                <a:gridCol w="1390635"/>
                <a:gridCol w="1390635"/>
                <a:gridCol w="139063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SPI machine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Cyber optic SE500,2011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TR7006 ,TR7007</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KOHYOUNG,</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Most recent machine: TR7007 SII PULS and Holly H510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KOH YOUNG  KY8030-3XDL  SPI -83XDL  2012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Kohyoung (KY-8030L)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holly D686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On</a:t>
                      </a:r>
                      <a:r>
                        <a:rPr lang="en-US" sz="1000" b="0" i="0" u="none" strike="noStrike" baseline="0" dirty="0" smtClean="0">
                          <a:solidFill>
                            <a:srgbClr val="000000"/>
                          </a:solidFill>
                          <a:effectLst/>
                          <a:latin typeface="Intel Clear" panose="020B0604020203020204" pitchFamily="34" charset="0"/>
                        </a:rPr>
                        <a:t> 100% pads or 100% on critical parts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100% on all pads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100% for all pads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 all pads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 all pads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Paste</a:t>
                      </a:r>
                      <a:r>
                        <a:rPr lang="en-US" sz="1000" b="0" i="0" u="none" strike="noStrike" baseline="0" dirty="0" smtClean="0">
                          <a:solidFill>
                            <a:srgbClr val="000000"/>
                          </a:solidFill>
                          <a:effectLst/>
                          <a:latin typeface="Intel Clear" panose="020B0604020203020204" pitchFamily="34" charset="0"/>
                        </a:rPr>
                        <a:t> volume UCL/LCL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50%~150%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60%~160%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40%--170%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50%--150%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70%-140%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Calibration</a:t>
                      </a:r>
                      <a:r>
                        <a:rPr lang="en-US" sz="1000" b="0" i="0" u="none" strike="noStrike" baseline="0" dirty="0" smtClean="0">
                          <a:solidFill>
                            <a:srgbClr val="000000"/>
                          </a:solidFill>
                          <a:effectLst/>
                          <a:latin typeface="Intel Clear" panose="020B0604020203020204" pitchFamily="34" charset="0"/>
                        </a:rPr>
                        <a:t> frequency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Twice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 months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One time/quarter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N/A</a:t>
                      </a:r>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GRR</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Average of GRR value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GR&amp;R  V （1.82%）</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GR&amp;R H（1.29%）</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GR&amp;R H（1.29%）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N/A</a:t>
                      </a:r>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SPI machine handling size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Size: </a:t>
                      </a:r>
                      <a:endParaRPr lang="en-US" sz="1000" b="0" i="0" u="none" strike="noStrike" dirty="0" smtClean="0">
                        <a:solidFill>
                          <a:srgbClr val="000000"/>
                        </a:solidFill>
                        <a:effectLst/>
                        <a:latin typeface="Intel Clear" panose="020B0604020203020204" pitchFamily="34" charset="0"/>
                      </a:endParaRPr>
                    </a:p>
                    <a:p>
                      <a:pPr algn="l" fontAlgn="b"/>
                      <a:r>
                        <a:rPr lang="en-US" sz="1000" b="0" i="0" u="none" strike="noStrike" dirty="0" smtClean="0">
                          <a:solidFill>
                            <a:srgbClr val="000000"/>
                          </a:solidFill>
                          <a:effectLst/>
                          <a:latin typeface="Intel Clear" panose="020B0604020203020204" pitchFamily="34" charset="0"/>
                        </a:rPr>
                        <a:t>Max </a:t>
                      </a:r>
                      <a:r>
                        <a:rPr lang="en-US" sz="1000" b="0" i="0" u="none" strike="noStrike" dirty="0">
                          <a:solidFill>
                            <a:srgbClr val="000000"/>
                          </a:solidFill>
                          <a:effectLst/>
                          <a:latin typeface="Intel Clear" panose="020B0604020203020204" pitchFamily="34" charset="0"/>
                        </a:rPr>
                        <a:t>370mm*420mm</a:t>
                      </a:r>
                      <a:r>
                        <a:rPr lang="en-US" sz="1000" b="0" i="0" u="none" strike="noStrike" dirty="0">
                          <a:solidFill>
                            <a:srgbClr val="000000"/>
                          </a:solidFill>
                          <a:effectLst/>
                          <a:latin typeface="宋体" panose="02010600030101010101" pitchFamily="2" charset="-122"/>
                          <a:ea typeface="宋体" panose="02010600030101010101" pitchFamily="2" charset="-122"/>
                        </a:rPr>
                        <a:t>，</a:t>
                      </a:r>
                      <a:r>
                        <a:rPr lang="en-US" sz="1000" b="0" i="0" u="none" strike="noStrike" dirty="0">
                          <a:solidFill>
                            <a:srgbClr val="000000"/>
                          </a:solidFill>
                          <a:effectLst/>
                          <a:latin typeface="Intel Clear" panose="020B0604020203020204" pitchFamily="34" charset="0"/>
                        </a:rPr>
                        <a:t>Min100mm*100mm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a:t>
                      </a:r>
                      <a:endParaRPr lang="en-US" sz="1000" b="0" i="0" u="none" strike="noStrike" dirty="0" smtClean="0">
                        <a:solidFill>
                          <a:srgbClr val="000000"/>
                        </a:solidFill>
                        <a:effectLst/>
                        <a:latin typeface="Intel Clear" panose="020B0604020203020204" pitchFamily="34" charset="0"/>
                      </a:endParaRPr>
                    </a:p>
                    <a:p>
                      <a:pPr algn="l" fontAlgn="b"/>
                      <a:r>
                        <a:rPr lang="en-US" sz="1000" b="0" i="0" u="none" strike="noStrike" dirty="0" smtClean="0">
                          <a:solidFill>
                            <a:srgbClr val="000000"/>
                          </a:solidFill>
                          <a:effectLst/>
                          <a:latin typeface="Intel Clear" panose="020B0604020203020204" pitchFamily="34" charset="0"/>
                        </a:rPr>
                        <a:t>Min</a:t>
                      </a:r>
                      <a:r>
                        <a:rPr lang="en-US" sz="1000" b="0" i="0" u="none" strike="noStrike" dirty="0">
                          <a:solidFill>
                            <a:srgbClr val="000000"/>
                          </a:solidFill>
                          <a:effectLst/>
                          <a:latin typeface="Intel Clear" panose="020B0604020203020204" pitchFamily="34" charset="0"/>
                        </a:rPr>
                        <a:t>: </a:t>
                      </a:r>
                      <a:r>
                        <a:rPr lang="en-US" sz="1000" b="0" i="0" u="none" strike="noStrike" dirty="0" smtClean="0">
                          <a:solidFill>
                            <a:srgbClr val="000000"/>
                          </a:solidFill>
                          <a:effectLst/>
                          <a:latin typeface="Intel Clear" panose="020B0604020203020204" pitchFamily="34" charset="0"/>
                        </a:rPr>
                        <a:t>0.3mm</a:t>
                      </a:r>
                    </a:p>
                    <a:p>
                      <a:pPr algn="l" fontAlgn="b"/>
                      <a:r>
                        <a:rPr lang="en-US" sz="1000" b="0" i="0" u="none" strike="noStrike" dirty="0" smtClean="0">
                          <a:solidFill>
                            <a:srgbClr val="000000"/>
                          </a:solidFill>
                          <a:effectLst/>
                          <a:latin typeface="Intel Clear" panose="020B0604020203020204" pitchFamily="34" charset="0"/>
                        </a:rPr>
                        <a:t>Max</a:t>
                      </a:r>
                      <a:r>
                        <a:rPr lang="en-US" sz="1000" b="0" i="0" u="none" strike="noStrike" dirty="0">
                          <a:solidFill>
                            <a:srgbClr val="000000"/>
                          </a:solidFill>
                          <a:effectLst/>
                          <a:latin typeface="Intel Clear" panose="020B0604020203020204" pitchFamily="34" charset="0"/>
                        </a:rPr>
                        <a:t>: 1.6mm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Size:</a:t>
                      </a:r>
                    </a:p>
                    <a:p>
                      <a:pPr algn="l" fontAlgn="b"/>
                      <a:r>
                        <a:rPr lang="en-US" sz="1000" b="0" i="0" u="none" strike="noStrike" dirty="0" smtClean="0">
                          <a:solidFill>
                            <a:srgbClr val="000000"/>
                          </a:solidFill>
                          <a:effectLst/>
                          <a:latin typeface="Intel Clear" panose="020B0604020203020204" pitchFamily="34" charset="0"/>
                        </a:rPr>
                        <a:t>Max </a:t>
                      </a:r>
                      <a:r>
                        <a:rPr lang="en-US" sz="1000" b="0" i="0" u="none" strike="noStrike" dirty="0">
                          <a:solidFill>
                            <a:srgbClr val="000000"/>
                          </a:solidFill>
                          <a:effectLst/>
                          <a:latin typeface="Intel Clear" panose="020B0604020203020204" pitchFamily="34" charset="0"/>
                        </a:rPr>
                        <a:t>510mm*460mm, Min 50mm*50mm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a:t>
                      </a:r>
                      <a:r>
                        <a:rPr lang="en-US" sz="1000" b="0" i="0" u="none" strike="noStrike" dirty="0" smtClean="0">
                          <a:solidFill>
                            <a:srgbClr val="000000"/>
                          </a:solidFill>
                          <a:effectLst/>
                          <a:latin typeface="Intel Clear" panose="020B0604020203020204" pitchFamily="34" charset="0"/>
                        </a:rPr>
                        <a:t>:</a:t>
                      </a:r>
                    </a:p>
                    <a:p>
                      <a:pPr algn="l" fontAlgn="b"/>
                      <a:r>
                        <a:rPr lang="en-US" sz="1000" b="0" i="0" u="none" strike="noStrike" dirty="0" smtClean="0">
                          <a:solidFill>
                            <a:srgbClr val="000000"/>
                          </a:solidFill>
                          <a:effectLst/>
                          <a:latin typeface="Intel Clear" panose="020B0604020203020204" pitchFamily="34" charset="0"/>
                        </a:rPr>
                        <a:t>Min</a:t>
                      </a:r>
                      <a:r>
                        <a:rPr lang="en-US" sz="1000" b="0" i="0" u="none" strike="noStrike" dirty="0">
                          <a:solidFill>
                            <a:srgbClr val="000000"/>
                          </a:solidFill>
                          <a:effectLst/>
                          <a:latin typeface="Intel Clear" panose="020B0604020203020204" pitchFamily="34" charset="0"/>
                        </a:rPr>
                        <a:t>: </a:t>
                      </a:r>
                      <a:r>
                        <a:rPr lang="en-US" sz="1000" b="0" i="0" u="none" strike="noStrike" dirty="0" smtClean="0">
                          <a:solidFill>
                            <a:srgbClr val="000000"/>
                          </a:solidFill>
                          <a:effectLst/>
                          <a:latin typeface="Intel Clear" panose="020B0604020203020204" pitchFamily="34" charset="0"/>
                        </a:rPr>
                        <a:t>0.5mm</a:t>
                      </a:r>
                    </a:p>
                    <a:p>
                      <a:pPr algn="l" fontAlgn="b"/>
                      <a:r>
                        <a:rPr lang="en-US" sz="1000" b="0" i="0" u="none" strike="noStrike" dirty="0" smtClean="0">
                          <a:solidFill>
                            <a:srgbClr val="000000"/>
                          </a:solidFill>
                          <a:effectLst/>
                          <a:latin typeface="Intel Clear" panose="020B0604020203020204" pitchFamily="34" charset="0"/>
                        </a:rPr>
                        <a:t>Max</a:t>
                      </a:r>
                      <a:r>
                        <a:rPr lang="en-US" sz="1000" b="0" i="0" u="none" strike="noStrike" dirty="0">
                          <a:solidFill>
                            <a:srgbClr val="000000"/>
                          </a:solidFill>
                          <a:effectLst/>
                          <a:latin typeface="Intel Clear" panose="020B0604020203020204" pitchFamily="34" charset="0"/>
                        </a:rPr>
                        <a:t>: 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single track: L*W 510*600</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double track: L*W 510*330</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0.4--4mm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l-PL" sz="1000" b="0" i="0" u="none" strike="noStrike" dirty="0">
                          <a:solidFill>
                            <a:srgbClr val="000000"/>
                          </a:solidFill>
                          <a:effectLst/>
                          <a:latin typeface="Intel Clear" panose="020B0604020203020204" pitchFamily="34" charset="0"/>
                        </a:rPr>
                        <a:t>MAX </a:t>
                      </a:r>
                      <a:r>
                        <a:rPr lang="pl-PL" sz="1000" b="0" i="0" u="none" strike="noStrike" dirty="0" smtClean="0">
                          <a:solidFill>
                            <a:srgbClr val="000000"/>
                          </a:solidFill>
                          <a:effectLst/>
                          <a:latin typeface="Intel Clear" panose="020B0604020203020204" pitchFamily="34" charset="0"/>
                        </a:rPr>
                        <a:t>W*L:510mm*460mm</a:t>
                      </a:r>
                      <a:r>
                        <a:rPr lang="pl-PL" sz="1000" b="0" i="0" u="none" strike="noStrike" dirty="0">
                          <a:solidFill>
                            <a:srgbClr val="000000"/>
                          </a:solidFill>
                          <a:effectLst/>
                          <a:latin typeface="Intel Clear" panose="020B0604020203020204" pitchFamily="34" charset="0"/>
                        </a:rPr>
                        <a:t/>
                      </a:r>
                      <a:br>
                        <a:rPr lang="pl-PL" sz="1000" b="0" i="0" u="none" strike="noStrike" dirty="0">
                          <a:solidFill>
                            <a:srgbClr val="000000"/>
                          </a:solidFill>
                          <a:effectLst/>
                          <a:latin typeface="Intel Clear" panose="020B0604020203020204" pitchFamily="34" charset="0"/>
                        </a:rPr>
                      </a:br>
                      <a:r>
                        <a:rPr lang="pl-PL" sz="1000" b="0" i="0" u="none" strike="noStrike" dirty="0">
                          <a:solidFill>
                            <a:srgbClr val="000000"/>
                          </a:solidFill>
                          <a:effectLst/>
                          <a:latin typeface="Intel Clear" panose="020B0604020203020204" pitchFamily="34" charset="0"/>
                        </a:rPr>
                        <a:t>MIN </a:t>
                      </a:r>
                      <a:endParaRPr lang="en-US" sz="1000" b="0" i="0" u="none" strike="noStrike" dirty="0" smtClean="0">
                        <a:solidFill>
                          <a:srgbClr val="000000"/>
                        </a:solidFill>
                        <a:effectLst/>
                        <a:latin typeface="Intel Clear" panose="020B0604020203020204" pitchFamily="34" charset="0"/>
                      </a:endParaRPr>
                    </a:p>
                    <a:p>
                      <a:pPr algn="l" fontAlgn="b"/>
                      <a:r>
                        <a:rPr lang="pl-PL" sz="1000" b="0" i="0" u="none" strike="noStrike" dirty="0" smtClean="0">
                          <a:solidFill>
                            <a:srgbClr val="000000"/>
                          </a:solidFill>
                          <a:effectLst/>
                          <a:latin typeface="Intel Clear" panose="020B0604020203020204" pitchFamily="34" charset="0"/>
                        </a:rPr>
                        <a:t>W*L:70mm*70mm</a:t>
                      </a:r>
                      <a:r>
                        <a:rPr lang="pl-PL" sz="1000" b="0" i="0" u="none" strike="noStrike" dirty="0">
                          <a:solidFill>
                            <a:srgbClr val="000000"/>
                          </a:solidFill>
                          <a:effectLst/>
                          <a:latin typeface="Intel Clear" panose="020B0604020203020204" pitchFamily="34" charset="0"/>
                        </a:rPr>
                        <a:t/>
                      </a:r>
                      <a:br>
                        <a:rPr lang="pl-PL" sz="1000" b="0" i="0" u="none" strike="noStrike" dirty="0">
                          <a:solidFill>
                            <a:srgbClr val="000000"/>
                          </a:solidFill>
                          <a:effectLst/>
                          <a:latin typeface="Intel Clear" panose="020B0604020203020204" pitchFamily="34" charset="0"/>
                        </a:rPr>
                      </a:br>
                      <a:r>
                        <a:rPr lang="pl-PL" sz="1000" b="0" i="0" u="none" strike="noStrike" dirty="0">
                          <a:solidFill>
                            <a:srgbClr val="000000"/>
                          </a:solidFill>
                          <a:effectLst/>
                          <a:latin typeface="Intel Clear" panose="020B0604020203020204" pitchFamily="34" charset="0"/>
                        </a:rPr>
                        <a:t>Thickness:0.6~5mm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max：570*480</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min：50*50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806795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15</a:t>
            </a:fld>
            <a:endParaRPr lang="en-US" dirty="0"/>
          </a:p>
        </p:txBody>
      </p:sp>
      <p:sp>
        <p:nvSpPr>
          <p:cNvPr id="8" name="Rectangle 7"/>
          <p:cNvSpPr/>
          <p:nvPr/>
        </p:nvSpPr>
        <p:spPr>
          <a:xfrm>
            <a:off x="76200" y="76200"/>
            <a:ext cx="1999265" cy="400110"/>
          </a:xfrm>
          <a:prstGeom prst="rect">
            <a:avLst/>
          </a:prstGeom>
        </p:spPr>
        <p:txBody>
          <a:bodyPr wrap="none">
            <a:spAutoFit/>
          </a:bodyPr>
          <a:lstStyle/>
          <a:p>
            <a:r>
              <a:rPr lang="en-US" sz="2000" b="1" dirty="0" smtClean="0"/>
              <a:t>SPI machine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0" name="Table 9"/>
          <p:cNvGraphicFramePr>
            <a:graphicFrameLocks noGrp="1"/>
          </p:cNvGraphicFramePr>
          <p:nvPr>
            <p:extLst>
              <p:ext uri="{D42A27DB-BD31-4B8C-83A1-F6EECF244321}">
                <p14:modId xmlns:p14="http://schemas.microsoft.com/office/powerpoint/2010/main" val="32454090"/>
              </p:ext>
            </p:extLst>
          </p:nvPr>
        </p:nvGraphicFramePr>
        <p:xfrm>
          <a:off x="287730" y="849570"/>
          <a:ext cx="8532992" cy="3398189"/>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SPI machine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Holly; Cyber </a:t>
                      </a:r>
                      <a:r>
                        <a:rPr lang="en-US" sz="1000" b="0" i="0" u="none" strike="noStrike" dirty="0" err="1">
                          <a:solidFill>
                            <a:srgbClr val="000000"/>
                          </a:solidFill>
                          <a:effectLst/>
                          <a:latin typeface="Intel Clear" panose="020B0604020203020204" pitchFamily="34" charset="0"/>
                        </a:rPr>
                        <a:t>Opitic</a:t>
                      </a:r>
                      <a:r>
                        <a:rPr lang="en-US" sz="1000" b="0" i="0" u="none" strike="noStrike" dirty="0">
                          <a:solidFill>
                            <a:srgbClr val="000000"/>
                          </a:solidFill>
                          <a:effectLst/>
                          <a:latin typeface="Intel Clear" panose="020B0604020203020204" pitchFamily="34" charset="0"/>
                        </a:rPr>
                        <a:t> SE500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Cyber Opitic-SE500</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 Avg 8Y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Sinic tek, Hero-s Model: SP1193412H,Year: 201904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TR7007SII Plus , T2001750292-002, 2017/05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Intel Clear" panose="020B0604020203020204" pitchFamily="34" charset="0"/>
                        </a:rPr>
                        <a:t>TR7006, Y2006</a:t>
                      </a:r>
                      <a:br>
                        <a:rPr lang="es-ES" sz="1000" b="0" i="0" u="none" strike="noStrike">
                          <a:solidFill>
                            <a:srgbClr val="000000"/>
                          </a:solidFill>
                          <a:effectLst/>
                          <a:latin typeface="Intel Clear" panose="020B0604020203020204" pitchFamily="34" charset="0"/>
                        </a:rPr>
                      </a:br>
                      <a:r>
                        <a:rPr lang="es-ES" sz="1000" b="0" i="0" u="none" strike="noStrike">
                          <a:solidFill>
                            <a:srgbClr val="000000"/>
                          </a:solidFill>
                          <a:effectLst/>
                          <a:latin typeface="Intel Clear" panose="020B0604020203020204" pitchFamily="34" charset="0"/>
                        </a:rPr>
                        <a:t>KY8030-L, Y2011</a:t>
                      </a:r>
                      <a:br>
                        <a:rPr lang="es-ES" sz="1000" b="0" i="0" u="none" strike="noStrike">
                          <a:solidFill>
                            <a:srgbClr val="000000"/>
                          </a:solidFill>
                          <a:effectLst/>
                          <a:latin typeface="Intel Clear" panose="020B0604020203020204" pitchFamily="34" charset="0"/>
                        </a:rPr>
                      </a:br>
                      <a:r>
                        <a:rPr lang="es-ES" sz="1000" b="0" i="0" u="none" strike="noStrike">
                          <a:solidFill>
                            <a:srgbClr val="000000"/>
                          </a:solidFill>
                          <a:effectLst/>
                          <a:latin typeface="Intel Clear" panose="020B0604020203020204" pitchFamily="34" charset="0"/>
                        </a:rPr>
                        <a:t>KY8030-3, Y2012</a:t>
                      </a:r>
                      <a:br>
                        <a:rPr lang="es-ES" sz="1000" b="0" i="0" u="none" strike="noStrike">
                          <a:solidFill>
                            <a:srgbClr val="000000"/>
                          </a:solidFill>
                          <a:effectLst/>
                          <a:latin typeface="Intel Clear" panose="020B0604020203020204" pitchFamily="34" charset="0"/>
                        </a:rPr>
                      </a:br>
                      <a:r>
                        <a:rPr lang="es-ES" sz="1000" b="0" i="0" u="none" strike="noStrike">
                          <a:solidFill>
                            <a:srgbClr val="000000"/>
                          </a:solidFill>
                          <a:effectLst/>
                          <a:latin typeface="Intel Clear" panose="020B0604020203020204" pitchFamily="34" charset="0"/>
                        </a:rPr>
                        <a:t>KY8030-2NB, Y2013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PARMI, HS60D, H6D67410, 2010/9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On</a:t>
                      </a:r>
                      <a:r>
                        <a:rPr lang="en-US" sz="1000" b="0" i="0" u="none" strike="noStrike" baseline="0" dirty="0" smtClean="0">
                          <a:solidFill>
                            <a:srgbClr val="000000"/>
                          </a:solidFill>
                          <a:effectLst/>
                          <a:latin typeface="Intel Clear" panose="020B0604020203020204" pitchFamily="34" charset="0"/>
                        </a:rPr>
                        <a:t> 100% pads or 100% on critical parts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Paste</a:t>
                      </a:r>
                      <a:r>
                        <a:rPr lang="en-US" sz="1000" b="0" i="0" u="none" strike="noStrike" baseline="0" dirty="0" smtClean="0">
                          <a:solidFill>
                            <a:srgbClr val="000000"/>
                          </a:solidFill>
                          <a:effectLst/>
                          <a:latin typeface="Intel Clear" panose="020B0604020203020204" pitchFamily="34" charset="0"/>
                        </a:rPr>
                        <a:t> volume UCL/LCL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Holly:40%~170%; Cyber:45%~160%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40%~150%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40%~190%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50%~170%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50%~150%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60~180%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Calibration</a:t>
                      </a:r>
                      <a:r>
                        <a:rPr lang="en-US" sz="1000" b="0" i="0" u="none" strike="noStrike" baseline="0" dirty="0" smtClean="0">
                          <a:solidFill>
                            <a:srgbClr val="000000"/>
                          </a:solidFill>
                          <a:effectLst/>
                          <a:latin typeface="Intel Clear" panose="020B0604020203020204" pitchFamily="34" charset="0"/>
                        </a:rPr>
                        <a:t> frequency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once a year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 months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 months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GRR</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Height:111um;Area；93.491%；Volum:92.804%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Height 4.05%; Area 3.71%; Volume 5.11%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altLang="zh-CN" sz="1000" b="0" i="0" u="none" strike="noStrike">
                          <a:solidFill>
                            <a:srgbClr val="000000"/>
                          </a:solidFill>
                          <a:effectLst/>
                          <a:latin typeface="Intel Clear" panose="020B0604020203020204" pitchFamily="34" charset="0"/>
                        </a:rPr>
                        <a:t>4.22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SPI machine handling size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Min: N/A</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Max: 510*590mm</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50*50mm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508*508mm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0.3mm~5mm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Min: 50*50mm   </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Max: 460*460mm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0.4mm~7mm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50*50mm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510*460mm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0.3mm~7mm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50*50mm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510*460mm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0.6mm~5mm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50*50mm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390*260mm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0.4mm~4mm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Min: 50*50mm   </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Max: 510-510mm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0.4mm~5mm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Rounded Rectangle 10"/>
          <p:cNvSpPr/>
          <p:nvPr/>
        </p:nvSpPr>
        <p:spPr bwMode="auto">
          <a:xfrm>
            <a:off x="76200" y="4945304"/>
            <a:ext cx="8841924" cy="238363"/>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KOH YOUNG, TRI, Cyber Optic and Holly are common used SPI machine</a:t>
            </a:r>
          </a:p>
        </p:txBody>
      </p:sp>
    </p:spTree>
    <p:extLst>
      <p:ext uri="{BB962C8B-B14F-4D97-AF65-F5344CB8AC3E}">
        <p14:creationId xmlns:p14="http://schemas.microsoft.com/office/powerpoint/2010/main" val="31671380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7BC947FA-BB6F-47FC-8DC5-71BADE8E49B4}"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16</a:t>
            </a:fld>
            <a:endParaRPr lang="en-US" dirty="0"/>
          </a:p>
        </p:txBody>
      </p:sp>
      <p:sp>
        <p:nvSpPr>
          <p:cNvPr id="7" name="Rectangle 6"/>
          <p:cNvSpPr/>
          <p:nvPr/>
        </p:nvSpPr>
        <p:spPr>
          <a:xfrm>
            <a:off x="3951084" y="2437511"/>
            <a:ext cx="1015021" cy="523220"/>
          </a:xfrm>
          <a:prstGeom prst="rect">
            <a:avLst/>
          </a:prstGeom>
        </p:spPr>
        <p:txBody>
          <a:bodyPr wrap="none">
            <a:spAutoFit/>
          </a:bodyPr>
          <a:lstStyle/>
          <a:p>
            <a:r>
              <a:rPr lang="en-US" sz="2800" b="1" dirty="0"/>
              <a:t>PNP</a:t>
            </a:r>
          </a:p>
        </p:txBody>
      </p:sp>
      <p:sp>
        <p:nvSpPr>
          <p:cNvPr id="8"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30991030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17</a:t>
            </a:fld>
            <a:endParaRPr lang="en-US" dirty="0"/>
          </a:p>
        </p:txBody>
      </p:sp>
      <p:sp>
        <p:nvSpPr>
          <p:cNvPr id="8" name="Rectangle 7"/>
          <p:cNvSpPr/>
          <p:nvPr/>
        </p:nvSpPr>
        <p:spPr>
          <a:xfrm>
            <a:off x="76200" y="76200"/>
            <a:ext cx="2260555" cy="400110"/>
          </a:xfrm>
          <a:prstGeom prst="rect">
            <a:avLst/>
          </a:prstGeom>
        </p:spPr>
        <p:txBody>
          <a:bodyPr wrap="none">
            <a:spAutoFit/>
          </a:bodyPr>
          <a:lstStyle/>
          <a:p>
            <a:r>
              <a:rPr lang="en-US" sz="2000" b="1" dirty="0" smtClean="0"/>
              <a:t>Pick and Place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2108750266"/>
              </p:ext>
            </p:extLst>
          </p:nvPr>
        </p:nvGraphicFramePr>
        <p:xfrm>
          <a:off x="176893" y="569097"/>
          <a:ext cx="8343810" cy="4136993"/>
        </p:xfrm>
        <a:graphic>
          <a:graphicData uri="http://schemas.openxmlformats.org/drawingml/2006/table">
            <a:tbl>
              <a:tblPr firstRow="1" bandRow="1">
                <a:tableStyleId>{5C22544A-7EE6-4342-B048-85BDC9FD1C3A}</a:tableStyleId>
              </a:tblPr>
              <a:tblGrid>
                <a:gridCol w="1390635"/>
                <a:gridCol w="1390635"/>
                <a:gridCol w="1390635"/>
                <a:gridCol w="1390635"/>
                <a:gridCol w="1390635"/>
                <a:gridCol w="139063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PNP Machine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Panasonic, </a:t>
                      </a:r>
                      <a:r>
                        <a:rPr lang="en-US" sz="1000" b="0" i="0" u="none" strike="noStrike" dirty="0">
                          <a:solidFill>
                            <a:srgbClr val="000000"/>
                          </a:solidFill>
                          <a:effectLst/>
                          <a:latin typeface="Intel Clear" panose="020B0604020203020204" pitchFamily="34" charset="0"/>
                        </a:rPr>
                        <a:t>NPM,2011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Panasonic DT401-F, CM602-B Type, 2007&amp;2008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Panasonic NPM-D NM-E-JM1D  2012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Panasonic NPM-TT, 2012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Panasonic NPM-TT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Placement Accuracy (+/- 3 sigma)</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0.04mm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0.02mm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Largest BGA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40mm*40mm*2mm </a:t>
                      </a:r>
                      <a:r>
                        <a:rPr lang="en-US" sz="1000" b="0" i="0" u="none" strike="noStrike" dirty="0" smtClean="0">
                          <a:solidFill>
                            <a:srgbClr val="FF0000"/>
                          </a:solidFill>
                          <a:effectLst/>
                          <a:latin typeface="Intel Clear" panose="020B0604020203020204" pitchFamily="34" charset="0"/>
                        </a:rPr>
                        <a:t>(?)</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100mm*90mm*25mm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L*X*W 45*45*12mm </a:t>
                      </a:r>
                      <a:r>
                        <a:rPr lang="en-US" sz="1000" b="0" i="0" u="none" strike="noStrike" dirty="0" smtClean="0">
                          <a:solidFill>
                            <a:srgbClr val="FF0000"/>
                          </a:solidFill>
                          <a:effectLst/>
                          <a:latin typeface="Intel Clear" panose="020B0604020203020204" pitchFamily="34" charset="0"/>
                        </a:rPr>
                        <a:t>(?)</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80mm*80mm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120mm*90mm*30mm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Largest BGA weigh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30g max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Smallest BGA/CSP pitch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0.35mm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0.5mm </a:t>
                      </a:r>
                      <a:r>
                        <a:rPr lang="en-US" sz="1000" b="0" i="0" u="none" strike="noStrike" dirty="0" smtClean="0">
                          <a:solidFill>
                            <a:srgbClr val="FF0000"/>
                          </a:solidFill>
                          <a:effectLst/>
                          <a:latin typeface="Intel Clear" panose="020B0604020203020204" pitchFamily="34" charset="0"/>
                        </a:rPr>
                        <a:t>(?)</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Pallet</a:t>
                      </a:r>
                      <a:r>
                        <a:rPr lang="en-US" sz="1000" b="0" i="0" u="none" strike="noStrike" baseline="0" dirty="0" smtClean="0">
                          <a:solidFill>
                            <a:srgbClr val="000000"/>
                          </a:solidFill>
                          <a:effectLst/>
                          <a:latin typeface="Intel Clear" panose="020B0604020203020204" pitchFamily="34" charset="0"/>
                        </a:rPr>
                        <a:t> usage during PnP</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use pin support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Yes (whole</a:t>
                      </a:r>
                      <a:r>
                        <a:rPr lang="en-US" sz="1000" b="0" i="0" u="none" strike="noStrike" baseline="0" dirty="0" smtClean="0">
                          <a:solidFill>
                            <a:srgbClr val="000000"/>
                          </a:solidFill>
                          <a:effectLst/>
                          <a:latin typeface="Intel Clear" panose="020B0604020203020204" pitchFamily="34" charset="0"/>
                        </a:rPr>
                        <a:t> process pallet)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Other</a:t>
                      </a:r>
                      <a:r>
                        <a:rPr lang="en-US" sz="1000" b="0" i="0" u="none" strike="noStrike" baseline="0" dirty="0" smtClean="0">
                          <a:solidFill>
                            <a:srgbClr val="000000"/>
                          </a:solidFill>
                          <a:effectLst/>
                          <a:latin typeface="Intel Clear" panose="020B0604020203020204" pitchFamily="34" charset="0"/>
                        </a:rPr>
                        <a:t> component to Intel BGA KOZ</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KOZ: 2mm; Height: 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KOZ: 1~2mm, Height: 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KOZ </a:t>
                      </a:r>
                      <a:r>
                        <a:rPr lang="en-US" sz="1000" b="0" i="0" u="none" strike="noStrike" dirty="0" smtClean="0">
                          <a:solidFill>
                            <a:srgbClr val="000000"/>
                          </a:solidFill>
                          <a:effectLst/>
                          <a:latin typeface="Intel Clear" panose="020B0604020203020204" pitchFamily="34" charset="0"/>
                        </a:rPr>
                        <a:t>1mm, </a:t>
                      </a:r>
                      <a:r>
                        <a:rPr lang="en-US" sz="1000" b="0" i="0" u="none" strike="noStrike" dirty="0">
                          <a:solidFill>
                            <a:srgbClr val="000000"/>
                          </a:solidFill>
                          <a:effectLst/>
                          <a:latin typeface="Intel Clear" panose="020B0604020203020204" pitchFamily="34" charset="0"/>
                        </a:rPr>
                        <a:t>no requirement for component height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KOZ 0.2mm, Components height 1.2mm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keep out 1mm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In line 2DID traceability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Nozzle traceability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Min Max</a:t>
                      </a:r>
                      <a:r>
                        <a:rPr lang="en-US" altLang="zh-CN" sz="1000" b="0" i="0" u="none" strike="noStrike" baseline="0" dirty="0" smtClean="0">
                          <a:solidFill>
                            <a:srgbClr val="000000"/>
                          </a:solidFill>
                          <a:effectLst/>
                          <a:latin typeface="Intel Clear" panose="020B0604020203020204" pitchFamily="34" charset="0"/>
                        </a:rPr>
                        <a:t> brd handling</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Size: Max 370mm*420mm</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100mm*100mm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Min: 0.3mm Max: 1.6mm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Size: Max 510mm*460mm, Min 50mm*50mm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Double track: W 50--300mm  L 50--510mm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Single track: 50--590mm   L 50--510mm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0.3--8.0mm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l-PL" sz="1000" b="0" i="0" u="none" strike="noStrike">
                          <a:solidFill>
                            <a:srgbClr val="000000"/>
                          </a:solidFill>
                          <a:effectLst/>
                          <a:latin typeface="Intel Clear" panose="020B0604020203020204" pitchFamily="34" charset="0"/>
                        </a:rPr>
                        <a:t>MAX W*L:510*510 mm</a:t>
                      </a:r>
                      <a:br>
                        <a:rPr lang="pl-PL" sz="1000" b="0" i="0" u="none" strike="noStrike">
                          <a:solidFill>
                            <a:srgbClr val="000000"/>
                          </a:solidFill>
                          <a:effectLst/>
                          <a:latin typeface="Intel Clear" panose="020B0604020203020204" pitchFamily="34" charset="0"/>
                        </a:rPr>
                      </a:br>
                      <a:r>
                        <a:rPr lang="pl-PL" sz="1000" b="0" i="0" u="none" strike="noStrike">
                          <a:solidFill>
                            <a:srgbClr val="000000"/>
                          </a:solidFill>
                          <a:effectLst/>
                          <a:latin typeface="Intel Clear" panose="020B0604020203020204" pitchFamily="34" charset="0"/>
                        </a:rPr>
                        <a:t>MIN  W*L :50*50mm</a:t>
                      </a:r>
                      <a:br>
                        <a:rPr lang="pl-PL" sz="1000" b="0" i="0" u="none" strike="noStrike">
                          <a:solidFill>
                            <a:srgbClr val="000000"/>
                          </a:solidFill>
                          <a:effectLst/>
                          <a:latin typeface="Intel Clear" panose="020B0604020203020204" pitchFamily="34" charset="0"/>
                        </a:rPr>
                      </a:br>
                      <a:r>
                        <a:rPr lang="pl-PL" sz="1000" b="0" i="0" u="none" strike="noStrike">
                          <a:solidFill>
                            <a:srgbClr val="000000"/>
                          </a:solidFill>
                          <a:effectLst/>
                          <a:latin typeface="Intel Clear" panose="020B0604020203020204" pitchFamily="34" charset="0"/>
                        </a:rPr>
                        <a:t>Thickness:0.4~5.0mm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50*50</a:t>
                      </a:r>
                      <a:br>
                        <a:rPr lang="en-US" altLang="zh-CN" sz="1000" b="0" i="0" u="none" strike="noStrike" dirty="0">
                          <a:solidFill>
                            <a:srgbClr val="000000"/>
                          </a:solidFill>
                          <a:effectLst/>
                          <a:latin typeface="Intel Clear" panose="020B0604020203020204" pitchFamily="34" charset="0"/>
                        </a:rPr>
                      </a:br>
                      <a:r>
                        <a:rPr lang="en-US" altLang="zh-CN" sz="1000" b="0" i="0" u="none" strike="noStrike" dirty="0">
                          <a:solidFill>
                            <a:srgbClr val="000000"/>
                          </a:solidFill>
                          <a:effectLst/>
                          <a:latin typeface="Intel Clear" panose="020B0604020203020204" pitchFamily="34" charset="0"/>
                        </a:rPr>
                        <a:t>510*590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3785422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18</a:t>
            </a:fld>
            <a:endParaRPr lang="en-US" dirty="0"/>
          </a:p>
        </p:txBody>
      </p:sp>
      <p:sp>
        <p:nvSpPr>
          <p:cNvPr id="8" name="Rectangle 7"/>
          <p:cNvSpPr/>
          <p:nvPr/>
        </p:nvSpPr>
        <p:spPr>
          <a:xfrm>
            <a:off x="76200" y="76200"/>
            <a:ext cx="2260555" cy="400110"/>
          </a:xfrm>
          <a:prstGeom prst="rect">
            <a:avLst/>
          </a:prstGeom>
        </p:spPr>
        <p:txBody>
          <a:bodyPr wrap="none">
            <a:spAutoFit/>
          </a:bodyPr>
          <a:lstStyle/>
          <a:p>
            <a:r>
              <a:rPr lang="en-US" sz="2000" b="1" dirty="0" smtClean="0"/>
              <a:t>Pick and Place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13" name="Rounded Rectangle 12"/>
          <p:cNvSpPr/>
          <p:nvPr/>
        </p:nvSpPr>
        <p:spPr bwMode="auto">
          <a:xfrm>
            <a:off x="76200" y="6006687"/>
            <a:ext cx="8841924" cy="238363"/>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Panasonic have the biggest market share, followed by Fuji</a:t>
            </a:r>
          </a:p>
        </p:txBody>
      </p:sp>
      <p:graphicFrame>
        <p:nvGraphicFramePr>
          <p:cNvPr id="10" name="Table 9"/>
          <p:cNvGraphicFramePr>
            <a:graphicFrameLocks noGrp="1"/>
          </p:cNvGraphicFramePr>
          <p:nvPr>
            <p:extLst>
              <p:ext uri="{D42A27DB-BD31-4B8C-83A1-F6EECF244321}">
                <p14:modId xmlns:p14="http://schemas.microsoft.com/office/powerpoint/2010/main" val="1266044601"/>
              </p:ext>
            </p:extLst>
          </p:nvPr>
        </p:nvGraphicFramePr>
        <p:xfrm>
          <a:off x="230666" y="476310"/>
          <a:ext cx="8532992" cy="5417489"/>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PNP Machine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l-PL" sz="1000" b="0" i="0" u="none" strike="noStrike" dirty="0">
                          <a:solidFill>
                            <a:srgbClr val="000000"/>
                          </a:solidFill>
                          <a:effectLst/>
                          <a:latin typeface="Intel Clear" panose="020B0604020203020204" pitchFamily="34" charset="0"/>
                        </a:rPr>
                        <a:t>Panasonic CM DT401; NPM-D3 ,DX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panasonic DT401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panasonic, NPM-D3/TT2, 1CTV0938, Y2019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FUJI NXT M6S, M6</a:t>
                      </a:r>
                      <a:r>
                        <a:rPr lang="en-US" sz="1000" b="0" i="0" u="none" strike="noStrike">
                          <a:solidFill>
                            <a:srgbClr val="000000"/>
                          </a:solidFill>
                          <a:effectLst/>
                          <a:latin typeface="宋体" panose="02010600030101010101" pitchFamily="2" charset="-122"/>
                          <a:ea typeface="宋体" panose="02010600030101010101" pitchFamily="2" charset="-122"/>
                        </a:rPr>
                        <a:t>Ⅲ</a:t>
                      </a: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Fuji NXT  M3/M6, Y2008</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Panasonic CM602, DT401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Fuji  NXT2  2010/9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Placement Accuracy (+/- 3 sigma)</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±0.01mm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±0.035mm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±0.025mm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±0.04mm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Largest BGA size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90*90mm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45mm*45mmm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90*90mm, 0.3-30mm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61.3*61.3*25.4mm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180*180*25.4mm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74*74*25.4mm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Currrent BGA all OK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Largest BGA weigh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39.63g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Currrent BGA all OK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Smallest BGA/CSP pitch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CM:0.4mm; NPM:0.3mm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0.15mm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0.35mm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Currrent BGA all OK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Pallet</a:t>
                      </a:r>
                      <a:r>
                        <a:rPr lang="en-US" sz="1000" b="0" i="0" u="none" strike="noStrike" baseline="0" dirty="0" smtClean="0">
                          <a:solidFill>
                            <a:srgbClr val="000000"/>
                          </a:solidFill>
                          <a:effectLst/>
                          <a:latin typeface="Intel Clear" panose="020B0604020203020204" pitchFamily="34" charset="0"/>
                        </a:rPr>
                        <a:t> usage during PnP</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Only for project use whole process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Normally no, T&lt;0.8mm use whole process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Other</a:t>
                      </a:r>
                      <a:r>
                        <a:rPr lang="en-US" sz="1000" b="0" i="0" u="none" strike="noStrike" baseline="0" dirty="0" smtClean="0">
                          <a:solidFill>
                            <a:srgbClr val="000000"/>
                          </a:solidFill>
                          <a:effectLst/>
                          <a:latin typeface="Intel Clear" panose="020B0604020203020204" pitchFamily="34" charset="0"/>
                        </a:rPr>
                        <a:t> component to Intel BGA KOZ</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Follow layout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Space: 2mm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Height: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Space: 2mm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Height: 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Space: 2mm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Height: 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Space: 0.2mm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Height: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Space: 0.5mm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Height: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In line 2DID traceability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Nozzle traceability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Min Max</a:t>
                      </a:r>
                      <a:r>
                        <a:rPr lang="en-US" altLang="zh-CN" sz="1000" b="0" i="0" u="none" strike="noStrike" baseline="0" dirty="0" smtClean="0">
                          <a:solidFill>
                            <a:srgbClr val="000000"/>
                          </a:solidFill>
                          <a:effectLst/>
                          <a:latin typeface="Intel Clear" panose="020B0604020203020204" pitchFamily="34" charset="0"/>
                        </a:rPr>
                        <a:t> brd handling</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Min: N/A</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Max: 510*590mm</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Min: 50*50mm   </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Max: 510*460mm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0.3mm~4mm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Double tracks: 50*50 mm~510*300 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Single track: 50*50 mm~510*590 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0.3-8mm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48*48mm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534*510mm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0.4mm~6mm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50*50mm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480*504mm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0.5mm~4mm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48*48mm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534*280mm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0.4mm~6mm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Min: 50*50mm   </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Max: 510*460mm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0.3mm~4mm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Action Button: Home 10">
            <a:hlinkClick r:id="rId3" action="ppaction://hlinksldjump" highlightClick="1"/>
          </p:cNvPr>
          <p:cNvSpPr/>
          <p:nvPr/>
        </p:nvSpPr>
        <p:spPr bwMode="auto">
          <a:xfrm>
            <a:off x="8200387" y="5354497"/>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12289194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2A946610-8897-4139-B1D0-7D45B00677D7}"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19</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a:t>REFLOW</a:t>
            </a:r>
            <a:endParaRPr lang="en-US" dirty="0" smtClean="0"/>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20637305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20</a:t>
            </a:fld>
            <a:endParaRPr lang="en-US" dirty="0"/>
          </a:p>
        </p:txBody>
      </p:sp>
      <p:sp>
        <p:nvSpPr>
          <p:cNvPr id="8" name="Rectangle 7"/>
          <p:cNvSpPr/>
          <p:nvPr/>
        </p:nvSpPr>
        <p:spPr>
          <a:xfrm>
            <a:off x="76200" y="76200"/>
            <a:ext cx="1963999" cy="400110"/>
          </a:xfrm>
          <a:prstGeom prst="rect">
            <a:avLst/>
          </a:prstGeom>
        </p:spPr>
        <p:txBody>
          <a:bodyPr wrap="none">
            <a:spAutoFit/>
          </a:bodyPr>
          <a:lstStyle/>
          <a:p>
            <a:r>
              <a:rPr lang="en-US" sz="2000" b="1" dirty="0" smtClean="0"/>
              <a:t>Reflow oven</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2646713673"/>
              </p:ext>
            </p:extLst>
          </p:nvPr>
        </p:nvGraphicFramePr>
        <p:xfrm>
          <a:off x="260020" y="565918"/>
          <a:ext cx="8532990" cy="2007539"/>
        </p:xfrm>
        <a:graphic>
          <a:graphicData uri="http://schemas.openxmlformats.org/drawingml/2006/table">
            <a:tbl>
              <a:tblPr firstRow="1" bandRow="1">
                <a:tableStyleId>{5C22544A-7EE6-4342-B048-85BDC9FD1C3A}</a:tableStyleId>
              </a:tblPr>
              <a:tblGrid>
                <a:gridCol w="1422165"/>
                <a:gridCol w="1422165"/>
                <a:gridCol w="1422165"/>
                <a:gridCol w="1422165"/>
                <a:gridCol w="1422165"/>
                <a:gridCol w="142216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Reflow Oven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REHM,2011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Rehm VXP945N RP-2041 7/2018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Rehm VXS944 RS-0448 2012/03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HELLER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Heller 2043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 of zones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 heating zones; 4 cooling zones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 heating zones; 4 cooling zones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 heating zones; 5 cooling zones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 Zones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14 Zones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N2 usage and O2PPM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O2 &lt; 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O2 &lt; 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O2&lt;1000PPM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O2 800~1200PPM;2000-3000PPM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a:t>
                      </a:r>
                      <a:r>
                        <a:rPr lang="en-US" sz="1000" b="0" i="0" u="none" strike="noStrike" dirty="0" smtClean="0">
                          <a:solidFill>
                            <a:srgbClr val="000000"/>
                          </a:solidFill>
                          <a:effectLst/>
                          <a:latin typeface="Intel Clear" panose="020B0604020203020204" pitchFamily="34" charset="0"/>
                        </a:rPr>
                        <a:t>O2&lt;</a:t>
                      </a:r>
                      <a:r>
                        <a:rPr lang="en-US" sz="1000" b="0" i="0" u="none" strike="noStrike" dirty="0" smtClean="0">
                          <a:solidFill>
                            <a:srgbClr val="FF0000"/>
                          </a:solidFill>
                          <a:effectLst/>
                          <a:latin typeface="Intel Clear" panose="020B0604020203020204" pitchFamily="34" charset="0"/>
                        </a:rPr>
                        <a:t>30,000PPM</a:t>
                      </a:r>
                      <a:endParaRPr lang="en-US" sz="1000" b="0" i="0" u="none" strike="noStrike" dirty="0">
                        <a:solidFill>
                          <a:srgbClr val="FF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Min Max</a:t>
                      </a:r>
                      <a:r>
                        <a:rPr lang="en-US" altLang="zh-CN" sz="1000" b="0" i="0" u="none" strike="noStrike" baseline="0" dirty="0" smtClean="0">
                          <a:solidFill>
                            <a:srgbClr val="000000"/>
                          </a:solidFill>
                          <a:effectLst/>
                          <a:latin typeface="Intel Clear" panose="020B0604020203020204" pitchFamily="34" charset="0"/>
                        </a:rPr>
                        <a:t> brd handling</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Size: 400mm*500mm,Thikcness: 0.8mm.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Size: Max 460mm; Min 50mm (w/o central support), 80mm (w/ central support)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40-500mm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508mm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Thickness:29mm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Max 390*450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689213157"/>
              </p:ext>
            </p:extLst>
          </p:nvPr>
        </p:nvGraphicFramePr>
        <p:xfrm>
          <a:off x="260018" y="2798732"/>
          <a:ext cx="8532992" cy="2617139"/>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Reflow Oven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Heller 2043; Ersa 3/26XL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Heller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Ersa, Model: HOTFLOW326XL; SN: R033A-19D0139/140/141/142/143/144/145/146;</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Year2019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Rehm; Model: VXS 834N; Month/Year: 03/2019</a:t>
                      </a:r>
                      <a:br>
                        <a:rPr lang="en-US" sz="1000" b="0" i="0" u="none" strike="noStrike">
                          <a:solidFill>
                            <a:srgbClr val="000000"/>
                          </a:solidFill>
                          <a:effectLst/>
                          <a:latin typeface="Intel Clear" panose="020B0604020203020204" pitchFamily="34" charset="0"/>
                        </a:rPr>
                      </a:b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da-DK" sz="1000" b="0" i="0" u="none" strike="noStrike">
                          <a:solidFill>
                            <a:srgbClr val="000000"/>
                          </a:solidFill>
                          <a:effectLst/>
                          <a:latin typeface="Intel Clear" panose="020B0604020203020204" pitchFamily="34" charset="0"/>
                        </a:rPr>
                        <a:t>TAMURA; TNP50-6910PM; 2003.8</a:t>
                      </a:r>
                      <a:br>
                        <a:rPr lang="da-DK" sz="1000" b="0" i="0" u="none" strike="noStrike">
                          <a:solidFill>
                            <a:srgbClr val="000000"/>
                          </a:solidFill>
                          <a:effectLst/>
                          <a:latin typeface="Intel Clear" panose="020B0604020203020204" pitchFamily="34" charset="0"/>
                        </a:rPr>
                      </a:br>
                      <a:r>
                        <a:rPr lang="da-DK" sz="1000" b="0" i="0" u="none" strike="noStrike">
                          <a:solidFill>
                            <a:srgbClr val="000000"/>
                          </a:solidFill>
                          <a:effectLst/>
                          <a:latin typeface="Intel Clear" panose="020B0604020203020204" pitchFamily="34" charset="0"/>
                        </a:rPr>
                        <a:t>HELLER; 2043MK5/2049MK5/1913MK3; 2009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HELLER; 1913EXL; SN:23578-02; 2010/8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 of zones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Heller:13+2; Ersa: 13+4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13+3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13+4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11+4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TRUMTA: 10+2; HELLER: 13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13+2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13+4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N2 usage and O2PPM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panose="020B0604020203020204" pitchFamily="34" charset="0"/>
                        </a:rPr>
                        <a:t>Yes, &lt;40000PPM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&lt;3000ppm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&lt;3000PPM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&lt;1000ppm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&lt;3000ppm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&lt;3000PPM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 &lt;1000ppm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Min Max</a:t>
                      </a:r>
                      <a:r>
                        <a:rPr lang="en-US" altLang="zh-CN" sz="1000" b="0" i="0" u="none" strike="noStrike" baseline="0" dirty="0" smtClean="0">
                          <a:solidFill>
                            <a:srgbClr val="000000"/>
                          </a:solidFill>
                          <a:effectLst/>
                          <a:latin typeface="Intel Clear" panose="020B0604020203020204" pitchFamily="34" charset="0"/>
                        </a:rPr>
                        <a:t> brd handling</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Min: 110*110mm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Max: N/A</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Width: 50mm~460mm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Length: No limit</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Width: 60mm~580mm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Length: No limit</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50*80mm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460*510mm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0.4~1.6mm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Min: 50*50mm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Max: 480*504mm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0.5~24mm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Width: 50mm~250mm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Length: No limit</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Width: 100mm~400mm</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Length: No limit</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Thickness: 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Action Button: Home 9">
            <a:hlinkClick r:id="rId3" action="ppaction://hlinksldjump" highlightClick="1"/>
          </p:cNvPr>
          <p:cNvSpPr/>
          <p:nvPr/>
        </p:nvSpPr>
        <p:spPr bwMode="auto">
          <a:xfrm>
            <a:off x="8311223" y="5553026"/>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3640037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21</a:t>
            </a:fld>
            <a:endParaRPr lang="en-US" dirty="0"/>
          </a:p>
        </p:txBody>
      </p:sp>
      <p:sp>
        <p:nvSpPr>
          <p:cNvPr id="8" name="Rectangle 7"/>
          <p:cNvSpPr/>
          <p:nvPr/>
        </p:nvSpPr>
        <p:spPr>
          <a:xfrm>
            <a:off x="76200" y="76200"/>
            <a:ext cx="2207656" cy="400110"/>
          </a:xfrm>
          <a:prstGeom prst="rect">
            <a:avLst/>
          </a:prstGeom>
        </p:spPr>
        <p:txBody>
          <a:bodyPr wrap="none">
            <a:spAutoFit/>
          </a:bodyPr>
          <a:lstStyle/>
          <a:p>
            <a:r>
              <a:rPr lang="en-US" sz="2000" b="1" dirty="0" smtClean="0"/>
              <a:t>Reflow profile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1" name="Table 10"/>
          <p:cNvGraphicFramePr>
            <a:graphicFrameLocks noGrp="1"/>
          </p:cNvGraphicFramePr>
          <p:nvPr>
            <p:extLst>
              <p:ext uri="{D42A27DB-BD31-4B8C-83A1-F6EECF244321}">
                <p14:modId xmlns:p14="http://schemas.microsoft.com/office/powerpoint/2010/main" val="3575869908"/>
              </p:ext>
            </p:extLst>
          </p:nvPr>
        </p:nvGraphicFramePr>
        <p:xfrm>
          <a:off x="287730" y="725688"/>
          <a:ext cx="8532990" cy="2178890"/>
        </p:xfrm>
        <a:graphic>
          <a:graphicData uri="http://schemas.openxmlformats.org/drawingml/2006/table">
            <a:tbl>
              <a:tblPr firstRow="1" bandRow="1">
                <a:tableStyleId>{5C22544A-7EE6-4342-B048-85BDC9FD1C3A}</a:tableStyleId>
              </a:tblPr>
              <a:tblGrid>
                <a:gridCol w="1422165"/>
                <a:gridCol w="1422165"/>
                <a:gridCol w="1422165"/>
                <a:gridCol w="1422165"/>
                <a:gridCol w="1422165"/>
                <a:gridCol w="142216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Peak temp</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240-250C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235~250℃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235--250C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237-245C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235~250C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60~120s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60-90s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50-65s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40~70s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89847">
                <a:tc>
                  <a:txBody>
                    <a:bodyPr/>
                    <a:lstStyle/>
                    <a:p>
                      <a:pPr algn="l" fontAlgn="b"/>
                      <a:r>
                        <a:rPr lang="en-US" sz="1000" b="0" i="0" u="none" strike="noStrike" dirty="0" smtClean="0">
                          <a:solidFill>
                            <a:srgbClr val="000000"/>
                          </a:solidFill>
                          <a:effectLst/>
                          <a:latin typeface="Intel Clear" panose="020B0604020203020204" pitchFamily="34" charset="0"/>
                        </a:rPr>
                        <a:t>Ramp and Cooling</a:t>
                      </a:r>
                      <a:r>
                        <a:rPr lang="en-US" sz="1000" b="0" i="0" u="none" strike="noStrike" baseline="0" dirty="0" smtClean="0">
                          <a:solidFill>
                            <a:srgbClr val="000000"/>
                          </a:solidFill>
                          <a:effectLst/>
                          <a:latin typeface="Intel Clear" panose="020B0604020203020204" pitchFamily="34" charset="0"/>
                        </a:rPr>
                        <a:t> down rate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Ramp up: 0.8~1.3</a:t>
                      </a:r>
                      <a:r>
                        <a:rPr lang="en-US" sz="1000" b="0" i="0" u="none" strike="noStrike" dirty="0">
                          <a:solidFill>
                            <a:srgbClr val="000000"/>
                          </a:solidFill>
                          <a:effectLst/>
                          <a:latin typeface="Intel Clear" panose="020B0604020203020204" pitchFamily="34" charset="0"/>
                        </a:rPr>
                        <a:t>℃/S(40~237)</a:t>
                      </a:r>
                      <a:br>
                        <a:rPr lang="en-US" sz="1000" b="0" i="0" u="none" strike="noStrike" dirty="0">
                          <a:solidFill>
                            <a:srgbClr val="000000"/>
                          </a:solidFill>
                          <a:effectLst/>
                          <a:latin typeface="Intel Clear" panose="020B0604020203020204" pitchFamily="34" charset="0"/>
                        </a:rPr>
                      </a:br>
                      <a:r>
                        <a:rPr lang="en-US" sz="1000" b="0" i="0" u="none" strike="noStrike" dirty="0" smtClean="0">
                          <a:solidFill>
                            <a:srgbClr val="000000"/>
                          </a:solidFill>
                          <a:effectLst/>
                          <a:latin typeface="Intel Clear" panose="020B0604020203020204" pitchFamily="34" charset="0"/>
                        </a:rPr>
                        <a:t>Ramp down: 250</a:t>
                      </a:r>
                      <a:r>
                        <a:rPr lang="en-US" sz="1000" b="0" i="0" u="none" strike="noStrike" dirty="0">
                          <a:solidFill>
                            <a:srgbClr val="000000"/>
                          </a:solidFill>
                          <a:effectLst/>
                          <a:latin typeface="Intel Clear" panose="020B0604020203020204" pitchFamily="34" charset="0"/>
                        </a:rPr>
                        <a:t>℃~220℃≦3</a:t>
                      </a:r>
                      <a:r>
                        <a:rPr lang="en-US" sz="1000" b="0" i="0" u="none" strike="noStrike" dirty="0" smtClean="0">
                          <a:solidFill>
                            <a:srgbClr val="000000"/>
                          </a:solidFill>
                          <a:effectLst/>
                          <a:latin typeface="Intel Clear" panose="020B0604020203020204" pitchFamily="34" charset="0"/>
                        </a:rPr>
                        <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&lt;3c/s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Belt</a:t>
                      </a:r>
                      <a:r>
                        <a:rPr lang="en-US" altLang="zh-CN" sz="1000" b="0" i="0" u="none" strike="noStrike" baseline="0" dirty="0" smtClean="0">
                          <a:solidFill>
                            <a:srgbClr val="000000"/>
                          </a:solidFill>
                          <a:effectLst/>
                          <a:latin typeface="Intel Clear" panose="020B0604020203020204" pitchFamily="34" charset="0"/>
                        </a:rPr>
                        <a:t> speed</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140cm/min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120cm/min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100-140cm/min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100-120cm/min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130cm/min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Delta T across</a:t>
                      </a:r>
                      <a:r>
                        <a:rPr lang="en-US" altLang="zh-CN" sz="1000" b="0" i="0" u="none" strike="noStrike" baseline="0" dirty="0" smtClean="0">
                          <a:solidFill>
                            <a:srgbClr val="000000"/>
                          </a:solidFill>
                          <a:effectLst/>
                          <a:latin typeface="Intel Clear" panose="020B0604020203020204" pitchFamily="34" charset="0"/>
                        </a:rPr>
                        <a:t> Intel BGA</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&lt;5C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&lt;5C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&lt;3C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N/A</a:t>
                      </a:r>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188916261"/>
              </p:ext>
            </p:extLst>
          </p:nvPr>
        </p:nvGraphicFramePr>
        <p:xfrm>
          <a:off x="287730" y="3251023"/>
          <a:ext cx="8532992" cy="2154140"/>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Peak temp</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235~250℃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a:t>
                      </a:r>
                      <a:r>
                        <a:rPr lang="zh-CN" altLang="en-US" sz="1000" b="0" i="0" u="none" strike="noStrike">
                          <a:solidFill>
                            <a:srgbClr val="000000"/>
                          </a:solidFill>
                          <a:effectLst/>
                          <a:latin typeface="宋体" panose="02010600030101010101" pitchFamily="2" charset="-122"/>
                          <a:ea typeface="宋体" panose="02010600030101010101" pitchFamily="2" charset="-122"/>
                        </a:rPr>
                        <a:t>℃</a:t>
                      </a:r>
                      <a:r>
                        <a:rPr lang="en-US" altLang="zh-CN" sz="1000" b="0" i="0" u="none" strike="noStrike">
                          <a:solidFill>
                            <a:srgbClr val="000000"/>
                          </a:solidFill>
                          <a:effectLst/>
                          <a:latin typeface="Intel Clear" panose="020B0604020203020204" pitchFamily="34" charset="0"/>
                        </a:rPr>
                        <a:t>~245</a:t>
                      </a:r>
                      <a:r>
                        <a:rPr lang="zh-CN" altLang="en-US" sz="1000" b="0" i="0" u="none" strike="noStrike">
                          <a:solidFill>
                            <a:srgbClr val="000000"/>
                          </a:solidFill>
                          <a:effectLst/>
                          <a:latin typeface="宋体" panose="02010600030101010101" pitchFamily="2" charset="-122"/>
                          <a:ea typeface="宋体" panose="02010600030101010101" pitchFamily="2" charset="-122"/>
                        </a:rPr>
                        <a:t>℃</a:t>
                      </a:r>
                      <a:endParaRPr lang="zh-CN" alt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a:t>
                      </a:r>
                      <a:r>
                        <a:rPr lang="zh-CN" altLang="en-US" sz="1000" b="0" i="0" u="none" strike="noStrike">
                          <a:solidFill>
                            <a:srgbClr val="000000"/>
                          </a:solidFill>
                          <a:effectLst/>
                          <a:latin typeface="宋体" panose="02010600030101010101" pitchFamily="2" charset="-122"/>
                          <a:ea typeface="宋体" panose="02010600030101010101" pitchFamily="2" charset="-122"/>
                        </a:rPr>
                        <a:t>℃</a:t>
                      </a:r>
                      <a:r>
                        <a:rPr lang="en-US" altLang="zh-CN" sz="1000" b="0" i="0" u="none" strike="noStrike">
                          <a:solidFill>
                            <a:srgbClr val="000000"/>
                          </a:solidFill>
                          <a:effectLst/>
                          <a:latin typeface="Intel Clear" panose="020B0604020203020204" pitchFamily="34" charset="0"/>
                        </a:rPr>
                        <a:t>~245</a:t>
                      </a:r>
                      <a:r>
                        <a:rPr lang="zh-CN" altLang="en-US" sz="1000" b="0" i="0" u="none" strike="noStrike">
                          <a:solidFill>
                            <a:srgbClr val="000000"/>
                          </a:solidFill>
                          <a:effectLst/>
                          <a:latin typeface="宋体" panose="02010600030101010101" pitchFamily="2" charset="-122"/>
                          <a:ea typeface="宋体" panose="02010600030101010101" pitchFamily="2" charset="-122"/>
                        </a:rPr>
                        <a:t>℃</a:t>
                      </a:r>
                      <a:endParaRPr lang="zh-CN" alt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235</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~245</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 current use 240</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±2</a:t>
                      </a:r>
                      <a:r>
                        <a:rPr lang="en-US" sz="1000" b="0" i="0" u="none" strike="noStrike">
                          <a:solidFill>
                            <a:srgbClr val="000000"/>
                          </a:solidFill>
                          <a:effectLst/>
                          <a:latin typeface="宋体" panose="02010600030101010101" pitchFamily="2" charset="-122"/>
                          <a:ea typeface="宋体" panose="02010600030101010101" pitchFamily="2" charset="-122"/>
                        </a:rPr>
                        <a:t>℃</a:t>
                      </a: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240</a:t>
                      </a:r>
                      <a:r>
                        <a:rPr lang="zh-CN" altLang="en-US" sz="1000" b="0" i="0" u="none" strike="noStrike">
                          <a:solidFill>
                            <a:srgbClr val="000000"/>
                          </a:solidFill>
                          <a:effectLst/>
                          <a:latin typeface="宋体" panose="02010600030101010101" pitchFamily="2" charset="-122"/>
                          <a:ea typeface="宋体" panose="02010600030101010101" pitchFamily="2" charset="-122"/>
                        </a:rPr>
                        <a:t>℃</a:t>
                      </a:r>
                      <a:r>
                        <a:rPr lang="en-US" altLang="zh-CN" sz="1000" b="0" i="0" u="none" strike="noStrike">
                          <a:solidFill>
                            <a:srgbClr val="000000"/>
                          </a:solidFill>
                          <a:effectLst/>
                          <a:latin typeface="Intel Clear" panose="020B0604020203020204" pitchFamily="34" charset="0"/>
                        </a:rPr>
                        <a:t>~250</a:t>
                      </a:r>
                      <a:r>
                        <a:rPr lang="zh-CN" altLang="en-US" sz="1000" b="0" i="0" u="none" strike="noStrike">
                          <a:solidFill>
                            <a:srgbClr val="000000"/>
                          </a:solidFill>
                          <a:effectLst/>
                          <a:latin typeface="宋体" panose="02010600030101010101" pitchFamily="2" charset="-122"/>
                          <a:ea typeface="宋体" panose="02010600030101010101" pitchFamily="2" charset="-122"/>
                        </a:rPr>
                        <a:t>℃</a:t>
                      </a:r>
                      <a:endParaRPr lang="zh-CN" alt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a:t>
                      </a:r>
                      <a:r>
                        <a:rPr lang="zh-CN" altLang="en-US" sz="1000" b="0" i="0" u="none" strike="noStrike">
                          <a:solidFill>
                            <a:srgbClr val="000000"/>
                          </a:solidFill>
                          <a:effectLst/>
                          <a:latin typeface="宋体" panose="02010600030101010101" pitchFamily="2" charset="-122"/>
                          <a:ea typeface="宋体" panose="02010600030101010101" pitchFamily="2" charset="-122"/>
                        </a:rPr>
                        <a:t>℃</a:t>
                      </a:r>
                      <a:r>
                        <a:rPr lang="en-US" altLang="zh-CN" sz="1000" b="0" i="0" u="none" strike="noStrike">
                          <a:solidFill>
                            <a:srgbClr val="000000"/>
                          </a:solidFill>
                          <a:effectLst/>
                          <a:latin typeface="Intel Clear" panose="020B0604020203020204" pitchFamily="34" charset="0"/>
                        </a:rPr>
                        <a:t>~245</a:t>
                      </a:r>
                      <a:r>
                        <a:rPr lang="zh-CN" altLang="en-US" sz="1000" b="0" i="0" u="none" strike="noStrike">
                          <a:solidFill>
                            <a:srgbClr val="000000"/>
                          </a:solidFill>
                          <a:effectLst/>
                          <a:latin typeface="宋体" panose="02010600030101010101" pitchFamily="2" charset="-122"/>
                          <a:ea typeface="宋体" panose="02010600030101010101" pitchFamily="2" charset="-122"/>
                        </a:rPr>
                        <a:t>℃</a:t>
                      </a:r>
                      <a:endParaRPr lang="zh-CN" alt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230</a:t>
                      </a:r>
                      <a:r>
                        <a:rPr lang="zh-CN" altLang="en-US" sz="1000" b="0" i="0" u="none" strike="noStrike">
                          <a:solidFill>
                            <a:srgbClr val="000000"/>
                          </a:solidFill>
                          <a:effectLst/>
                          <a:latin typeface="宋体" panose="02010600030101010101" pitchFamily="2" charset="-122"/>
                          <a:ea typeface="宋体" panose="02010600030101010101" pitchFamily="2" charset="-122"/>
                        </a:rPr>
                        <a:t>℃</a:t>
                      </a:r>
                      <a:r>
                        <a:rPr lang="en-US" altLang="zh-CN" sz="1000" b="0" i="0" u="none" strike="noStrike">
                          <a:solidFill>
                            <a:srgbClr val="000000"/>
                          </a:solidFill>
                          <a:effectLst/>
                          <a:latin typeface="Intel Clear" panose="020B0604020203020204" pitchFamily="34" charset="0"/>
                        </a:rPr>
                        <a:t>~250</a:t>
                      </a:r>
                      <a:r>
                        <a:rPr lang="zh-CN" altLang="en-US" sz="1000" b="0" i="0" u="none" strike="noStrike">
                          <a:solidFill>
                            <a:srgbClr val="000000"/>
                          </a:solidFill>
                          <a:effectLst/>
                          <a:latin typeface="宋体" panose="02010600030101010101" pitchFamily="2" charset="-122"/>
                          <a:ea typeface="宋体" panose="02010600030101010101" pitchFamily="2" charset="-122"/>
                        </a:rPr>
                        <a:t>℃</a:t>
                      </a:r>
                      <a:endParaRPr lang="zh-CN" alt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40~70S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 current use 70~80S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30~70S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40~60s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Ramp and Cooling</a:t>
                      </a:r>
                      <a:r>
                        <a:rPr lang="en-US" sz="1000" b="0" i="0" u="none" strike="noStrike" baseline="0" dirty="0" smtClean="0">
                          <a:solidFill>
                            <a:srgbClr val="000000"/>
                          </a:solidFill>
                          <a:effectLst/>
                          <a:latin typeface="Intel Clear" panose="020B0604020203020204" pitchFamily="34" charset="0"/>
                        </a:rPr>
                        <a:t> down rate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Up:1~3</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/S; Down:-5~-1</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Up: 1-3c/s; Down: 1-6c/s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/sec, current at ~1.7c/s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Up: 1-3; Down: -1--3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Up: 1~3 </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 Down: -3~-1</a:t>
                      </a:r>
                      <a:r>
                        <a:rPr lang="en-US" sz="1000" b="0" i="0" u="none" strike="noStrike">
                          <a:solidFill>
                            <a:srgbClr val="000000"/>
                          </a:solidFill>
                          <a:effectLst/>
                          <a:latin typeface="宋体" panose="02010600030101010101" pitchFamily="2" charset="-122"/>
                          <a:ea typeface="宋体" panose="02010600030101010101" pitchFamily="2" charset="-122"/>
                        </a:rPr>
                        <a:t>℃</a:t>
                      </a: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Belt</a:t>
                      </a:r>
                      <a:r>
                        <a:rPr lang="en-US" altLang="zh-CN" sz="1000" b="0" i="0" u="none" strike="noStrike" baseline="0" dirty="0" smtClean="0">
                          <a:solidFill>
                            <a:srgbClr val="000000"/>
                          </a:solidFill>
                          <a:effectLst/>
                          <a:latin typeface="Intel Clear" panose="020B0604020203020204" pitchFamily="34" charset="0"/>
                        </a:rPr>
                        <a:t> speed</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120~140cm/min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110cm/min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110~120cm/min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80~130cm/min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90cm/min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120~160cm/min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Delta T across</a:t>
                      </a:r>
                      <a:r>
                        <a:rPr lang="en-US" altLang="zh-CN" sz="1000" b="0" i="0" u="none" strike="noStrike" baseline="0" dirty="0" smtClean="0">
                          <a:solidFill>
                            <a:srgbClr val="000000"/>
                          </a:solidFill>
                          <a:effectLst/>
                          <a:latin typeface="Intel Clear" panose="020B0604020203020204" pitchFamily="34" charset="0"/>
                        </a:rPr>
                        <a:t> Intel BGA</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&lt;2°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&lt;5°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&lt;1°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5°~10°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1°~2°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Action Button: Home 9">
            <a:hlinkClick r:id="rId3" action="ppaction://hlinksldjump" highlightClick="1"/>
          </p:cNvPr>
          <p:cNvSpPr/>
          <p:nvPr/>
        </p:nvSpPr>
        <p:spPr bwMode="auto">
          <a:xfrm>
            <a:off x="8311223" y="5553026"/>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13498695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22</a:t>
            </a:fld>
            <a:endParaRPr lang="en-US" dirty="0"/>
          </a:p>
        </p:txBody>
      </p:sp>
      <p:sp>
        <p:nvSpPr>
          <p:cNvPr id="8" name="Rectangle 7"/>
          <p:cNvSpPr/>
          <p:nvPr/>
        </p:nvSpPr>
        <p:spPr>
          <a:xfrm>
            <a:off x="76200" y="76200"/>
            <a:ext cx="2082621" cy="400110"/>
          </a:xfrm>
          <a:prstGeom prst="rect">
            <a:avLst/>
          </a:prstGeom>
        </p:spPr>
        <p:txBody>
          <a:bodyPr wrap="none">
            <a:spAutoFit/>
          </a:bodyPr>
          <a:lstStyle/>
          <a:p>
            <a:r>
              <a:rPr lang="en-US" sz="2000" b="1" dirty="0" smtClean="0"/>
              <a:t>Reflow pallet</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3401808302"/>
              </p:ext>
            </p:extLst>
          </p:nvPr>
        </p:nvGraphicFramePr>
        <p:xfrm>
          <a:off x="352383" y="1077097"/>
          <a:ext cx="8343810" cy="3355943"/>
        </p:xfrm>
        <a:graphic>
          <a:graphicData uri="http://schemas.openxmlformats.org/drawingml/2006/table">
            <a:tbl>
              <a:tblPr firstRow="1" bandRow="1">
                <a:tableStyleId>{5C22544A-7EE6-4342-B048-85BDC9FD1C3A}</a:tableStyleId>
              </a:tblPr>
              <a:tblGrid>
                <a:gridCol w="1390635"/>
                <a:gridCol w="1390635"/>
                <a:gridCol w="1390635"/>
                <a:gridCol w="1390635"/>
                <a:gridCol w="1390635"/>
                <a:gridCol w="139063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Pallet material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Aluminum</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smtClean="0">
                          <a:solidFill>
                            <a:srgbClr val="000000"/>
                          </a:solidFill>
                          <a:effectLst/>
                          <a:latin typeface="Intel Clear" panose="020B0604020203020204" pitchFamily="34" charset="0"/>
                        </a:rPr>
                        <a:t>Aluminum</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smtClean="0">
                          <a:solidFill>
                            <a:srgbClr val="000000"/>
                          </a:solidFill>
                          <a:effectLst/>
                          <a:latin typeface="Intel Clear" panose="020B0604020203020204" pitchFamily="34" charset="0"/>
                        </a:rPr>
                        <a:t>Aluminum</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smtClean="0">
                          <a:solidFill>
                            <a:srgbClr val="000000"/>
                          </a:solidFill>
                          <a:effectLst/>
                          <a:latin typeface="Intel Clear" panose="020B0604020203020204" pitchFamily="34" charset="0"/>
                        </a:rPr>
                        <a:t>Aluminum</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Aluminum</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Whole process pallet or reflow only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For 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For 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For 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All SMT process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For 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Tooling pin</a:t>
                      </a:r>
                      <a:r>
                        <a:rPr lang="en-US" sz="1000" b="0" i="0" u="none" strike="noStrike" baseline="0" dirty="0" smtClean="0">
                          <a:solidFill>
                            <a:srgbClr val="000000"/>
                          </a:solidFill>
                          <a:effectLst/>
                          <a:latin typeface="Intel Clear" panose="020B0604020203020204" pitchFamily="34" charset="0"/>
                        </a:rPr>
                        <a:t> usage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tooling pins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tooling pins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tooling pins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Two Tooling Pins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Tooling Pins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Minimum clearance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Calculated CTE by PCB </a:t>
                      </a:r>
                      <a:r>
                        <a:rPr lang="en-US" sz="1000" b="0" i="0" u="none" strike="noStrike" dirty="0" smtClean="0">
                          <a:solidFill>
                            <a:srgbClr val="000000"/>
                          </a:solidFill>
                          <a:effectLst/>
                          <a:latin typeface="Intel Clear" panose="020B0604020203020204" pitchFamily="34" charset="0"/>
                        </a:rPr>
                        <a:t>length</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Brd clamps method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Automatic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Automatic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Spring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Tape on </a:t>
                      </a:r>
                      <a:r>
                        <a:rPr lang="en-US" sz="1000" b="0" i="0" u="none" strike="noStrike" dirty="0" smtClean="0">
                          <a:solidFill>
                            <a:srgbClr val="000000"/>
                          </a:solidFill>
                          <a:effectLst/>
                          <a:latin typeface="Intel Clear" panose="020B0604020203020204" pitchFamily="34" charset="0"/>
                        </a:rPr>
                        <a:t>edge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board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Manual tape on print pallet or not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manual tape if use print pallets, at both pass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manual tape if use print pallets, at both pass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manual tape at both pass, but very few project use it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Tape at both pass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not using </a:t>
                      </a:r>
                      <a:r>
                        <a:rPr lang="en-US" sz="1000" b="0" i="0" u="none" strike="noStrike" dirty="0" smtClean="0">
                          <a:solidFill>
                            <a:srgbClr val="000000"/>
                          </a:solidFill>
                          <a:effectLst/>
                          <a:latin typeface="Intel Clear" panose="020B0604020203020204" pitchFamily="34" charset="0"/>
                        </a:rPr>
                        <a:t>clamps</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How to decide use top</a:t>
                      </a:r>
                      <a:r>
                        <a:rPr lang="en-US" altLang="zh-CN" sz="1000" b="0" i="0" u="none" strike="noStrike" baseline="0" dirty="0" smtClean="0">
                          <a:solidFill>
                            <a:srgbClr val="000000"/>
                          </a:solidFill>
                          <a:effectLst/>
                          <a:latin typeface="Intel Clear" panose="020B0604020203020204" pitchFamily="34" charset="0"/>
                        </a:rPr>
                        <a:t> hat</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We do not use top hat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Depend on PCB warpage measured by our QA lab, and NPI SMT yield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Normally no top hat. If PCB T&lt;0.6mm, will consider top hat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Depends on </a:t>
                      </a:r>
                      <a:r>
                        <a:rPr lang="en-US" sz="1000" b="0" i="0" u="none" strike="noStrike" dirty="0" smtClean="0">
                          <a:solidFill>
                            <a:srgbClr val="000000"/>
                          </a:solidFill>
                          <a:effectLst/>
                          <a:latin typeface="Intel Clear" panose="020B0604020203020204" pitchFamily="34" charset="0"/>
                        </a:rPr>
                        <a:t>PCB </a:t>
                      </a:r>
                      <a:r>
                        <a:rPr lang="en-US" sz="1000" b="0" i="0" u="none" strike="noStrike" dirty="0">
                          <a:solidFill>
                            <a:srgbClr val="000000"/>
                          </a:solidFill>
                          <a:effectLst/>
                          <a:latin typeface="Intel Clear" panose="020B0604020203020204" pitchFamily="34" charset="0"/>
                        </a:rPr>
                        <a:t>thickness and if have shielding/connector and DIP component need </a:t>
                      </a:r>
                      <a:r>
                        <a:rPr lang="en-US" sz="1000" b="0" i="0" u="none" strike="noStrike" dirty="0" smtClean="0">
                          <a:solidFill>
                            <a:srgbClr val="000000"/>
                          </a:solidFill>
                          <a:effectLst/>
                          <a:latin typeface="Intel Clear" panose="020B0604020203020204" pitchFamily="34" charset="0"/>
                        </a:rPr>
                        <a:t>to hold </a:t>
                      </a:r>
                      <a:r>
                        <a:rPr lang="en-US" sz="1000" b="0" i="0" u="none" strike="noStrike" dirty="0">
                          <a:solidFill>
                            <a:srgbClr val="000000"/>
                          </a:solidFill>
                          <a:effectLst/>
                          <a:latin typeface="Intel Clear" panose="020B0604020203020204" pitchFamily="34" charset="0"/>
                        </a:rPr>
                        <a:t>down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When there are big shielding/connector and DIP component </a:t>
                      </a:r>
                      <a:r>
                        <a:rPr lang="en-US" sz="1000" b="0" i="0" u="none" strike="noStrike" dirty="0" smtClean="0">
                          <a:solidFill>
                            <a:srgbClr val="000000"/>
                          </a:solidFill>
                          <a:effectLst/>
                          <a:latin typeface="Intel Clear" panose="020B0604020203020204" pitchFamily="34" charset="0"/>
                        </a:rPr>
                        <a:t>need to </a:t>
                      </a:r>
                      <a:r>
                        <a:rPr lang="en-US" sz="1000" b="0" i="0" u="none" strike="noStrike" dirty="0">
                          <a:solidFill>
                            <a:srgbClr val="000000"/>
                          </a:solidFill>
                          <a:effectLst/>
                          <a:latin typeface="Intel Clear" panose="020B0604020203020204" pitchFamily="34" charset="0"/>
                        </a:rPr>
                        <a:t>hold down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Pallet</a:t>
                      </a:r>
                      <a:r>
                        <a:rPr lang="en-US" altLang="zh-CN" sz="1000" b="0" i="0" u="none" strike="noStrike" baseline="0" dirty="0" smtClean="0">
                          <a:solidFill>
                            <a:srgbClr val="000000"/>
                          </a:solidFill>
                          <a:effectLst/>
                          <a:latin typeface="Intel Clear" panose="020B0604020203020204" pitchFamily="34" charset="0"/>
                        </a:rPr>
                        <a:t> thickness</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256028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23</a:t>
            </a:fld>
            <a:endParaRPr lang="en-US" dirty="0"/>
          </a:p>
        </p:txBody>
      </p:sp>
      <p:sp>
        <p:nvSpPr>
          <p:cNvPr id="8" name="Rectangle 7"/>
          <p:cNvSpPr/>
          <p:nvPr/>
        </p:nvSpPr>
        <p:spPr>
          <a:xfrm>
            <a:off x="76200" y="76200"/>
            <a:ext cx="2082621" cy="400110"/>
          </a:xfrm>
          <a:prstGeom prst="rect">
            <a:avLst/>
          </a:prstGeom>
        </p:spPr>
        <p:txBody>
          <a:bodyPr wrap="none">
            <a:spAutoFit/>
          </a:bodyPr>
          <a:lstStyle/>
          <a:p>
            <a:r>
              <a:rPr lang="en-US" sz="2000" b="1" dirty="0" smtClean="0"/>
              <a:t>Reflow pallet</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13" name="Rounded Rectangle 12"/>
          <p:cNvSpPr/>
          <p:nvPr/>
        </p:nvSpPr>
        <p:spPr bwMode="auto">
          <a:xfrm>
            <a:off x="208982" y="4526669"/>
            <a:ext cx="8841924" cy="1430179"/>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Almost all customers are using Aluminum as pallet material</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Except JDM 1, who always use whole process pallet, other ODMs use reflow dedicate pallet (Use whole process pallet when needed in few cases)</a:t>
            </a:r>
          </a:p>
          <a:p>
            <a:pPr marL="285750" indent="-285750" eaLnBrk="0" fontAlgn="base" hangingPunct="0">
              <a:spcBef>
                <a:spcPct val="0"/>
              </a:spcBef>
              <a:spcAft>
                <a:spcPct val="0"/>
              </a:spcAft>
              <a:buFont typeface="Wingdings" panose="05000000000000000000" pitchFamily="2" charset="2"/>
              <a:buChar char="§"/>
            </a:pPr>
            <a:r>
              <a:rPr lang="en-US" sz="1400" dirty="0" smtClean="0">
                <a:cs typeface="Arial" pitchFamily="34" charset="0"/>
              </a:rPr>
              <a:t>Quanta CQ and Inventec CQ developed automatic clamps process ( </a:t>
            </a:r>
            <a:r>
              <a:rPr lang="en-US" sz="1400" dirty="0">
                <a:cs typeface="Arial" pitchFamily="34" charset="0"/>
              </a:rPr>
              <a:t>\\VMSPFSFSSH06\AsiaCQR_Data\Harry </a:t>
            </a:r>
            <a:r>
              <a:rPr lang="en-US" sz="1400" dirty="0" smtClean="0">
                <a:cs typeface="Arial" pitchFamily="34" charset="0"/>
              </a:rPr>
              <a:t>Yu\Videos\</a:t>
            </a:r>
            <a:r>
              <a:rPr lang="fr-FR" sz="1400" dirty="0">
                <a:cs typeface="Arial" pitchFamily="34" charset="0"/>
              </a:rPr>
              <a:t>Inventec CQ </a:t>
            </a:r>
            <a:r>
              <a:rPr lang="fr-FR" sz="1400" dirty="0" err="1">
                <a:cs typeface="Arial" pitchFamily="34" charset="0"/>
              </a:rPr>
              <a:t>reflow</a:t>
            </a:r>
            <a:r>
              <a:rPr lang="fr-FR" sz="1400" dirty="0">
                <a:cs typeface="Arial" pitchFamily="34" charset="0"/>
              </a:rPr>
              <a:t> </a:t>
            </a:r>
            <a:r>
              <a:rPr lang="fr-FR" sz="1400" dirty="0" err="1">
                <a:cs typeface="Arial" pitchFamily="34" charset="0"/>
              </a:rPr>
              <a:t>pallet</a:t>
            </a:r>
            <a:r>
              <a:rPr lang="fr-FR" sz="1400" dirty="0">
                <a:cs typeface="Arial" pitchFamily="34" charset="0"/>
              </a:rPr>
              <a:t> auto clamp.mp4</a:t>
            </a:r>
            <a:r>
              <a:rPr lang="en-US" sz="1400" dirty="0" smtClean="0">
                <a:cs typeface="Arial" pitchFamily="34" charset="0"/>
              </a:rPr>
              <a:t>)</a:t>
            </a:r>
          </a:p>
        </p:txBody>
      </p:sp>
      <p:graphicFrame>
        <p:nvGraphicFramePr>
          <p:cNvPr id="10" name="Table 9"/>
          <p:cNvGraphicFramePr>
            <a:graphicFrameLocks noGrp="1"/>
          </p:cNvGraphicFramePr>
          <p:nvPr>
            <p:extLst>
              <p:ext uri="{D42A27DB-BD31-4B8C-83A1-F6EECF244321}">
                <p14:modId xmlns:p14="http://schemas.microsoft.com/office/powerpoint/2010/main" val="1899328181"/>
              </p:ext>
            </p:extLst>
          </p:nvPr>
        </p:nvGraphicFramePr>
        <p:xfrm>
          <a:off x="363448" y="476310"/>
          <a:ext cx="8532992" cy="4011515"/>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Pallet material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Aluminum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Aluminum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Aluminum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DuroStone for General pallet</a:t>
                      </a:r>
                      <a:r>
                        <a:rPr lang="en-US" sz="1000" b="0" i="0" u="none" strike="noStrike">
                          <a:solidFill>
                            <a:srgbClr val="000000"/>
                          </a:solidFill>
                          <a:effectLst/>
                          <a:latin typeface="宋体" panose="02010600030101010101" pitchFamily="2" charset="-122"/>
                          <a:ea typeface="宋体" panose="02010600030101010101" pitchFamily="2" charset="-122"/>
                        </a:rPr>
                        <a:t/>
                      </a:r>
                      <a:br>
                        <a:rPr lang="en-US" sz="1000" b="0" i="0" u="none" strike="noStrike">
                          <a:solidFill>
                            <a:srgbClr val="000000"/>
                          </a:solidFill>
                          <a:effectLst/>
                          <a:latin typeface="宋体" panose="02010600030101010101" pitchFamily="2" charset="-122"/>
                          <a:ea typeface="宋体" panose="02010600030101010101" pitchFamily="2" charset="-122"/>
                        </a:rPr>
                      </a:br>
                      <a:r>
                        <a:rPr lang="en-US" sz="1000" b="0" i="0" u="none" strike="noStrike">
                          <a:solidFill>
                            <a:srgbClr val="000000"/>
                          </a:solidFill>
                          <a:effectLst/>
                          <a:latin typeface="Intel Clear" panose="020B0604020203020204" pitchFamily="34" charset="0"/>
                        </a:rPr>
                        <a:t>Aluminum for dedicate pallet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Aluminum and DuroStone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Aluminum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Aluminum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Whole process pallet or reflow only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Reflow ony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Have both</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Reflow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Tooling pin</a:t>
                      </a:r>
                      <a:r>
                        <a:rPr lang="en-US" sz="1000" b="0" i="0" u="none" strike="noStrike" baseline="0" dirty="0" smtClean="0">
                          <a:solidFill>
                            <a:srgbClr val="000000"/>
                          </a:solidFill>
                          <a:effectLst/>
                          <a:latin typeface="Intel Clear" panose="020B0604020203020204" pitchFamily="34" charset="0"/>
                        </a:rPr>
                        <a:t> usage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 shape stop block at 4 corners, no tooling pin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 shape stop block at 4 corners, no tooling pin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 tooling pin + cavity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 tooling pin + 2 stop block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 tooling pins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tooling pin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tooling pin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Minimum clearance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0.25mm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Brd clamps method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Top plate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Spring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Spring clamps or top hat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clamps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Manual tape on print pallet or not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Manual tape at both passes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Manual tape at both passes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How to decide use top</a:t>
                      </a:r>
                      <a:r>
                        <a:rPr lang="en-US" altLang="zh-CN" sz="1000" b="0" i="0" u="none" strike="noStrike" baseline="0" dirty="0" smtClean="0">
                          <a:solidFill>
                            <a:srgbClr val="000000"/>
                          </a:solidFill>
                          <a:effectLst/>
                          <a:latin typeface="Intel Clear" panose="020B0604020203020204" pitchFamily="34" charset="0"/>
                        </a:rPr>
                        <a:t> hat</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Depends on whether need hold down the the connector during reflow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Tablet/Phone use top hat, NB depends on PCB thickness and warpage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1000" b="0" i="0" u="none" strike="noStrike" dirty="0" smtClean="0">
                          <a:solidFill>
                            <a:srgbClr val="000000"/>
                          </a:solidFill>
                          <a:effectLst/>
                          <a:latin typeface="Intel Clear" panose="020B0604020203020204" pitchFamily="34" charset="0"/>
                        </a:rPr>
                        <a:t>Pallet</a:t>
                      </a:r>
                      <a:r>
                        <a:rPr lang="en-US" altLang="zh-CN" sz="1000" b="0" i="0" u="none" strike="noStrike" baseline="0" dirty="0" smtClean="0">
                          <a:solidFill>
                            <a:srgbClr val="000000"/>
                          </a:solidFill>
                          <a:effectLst/>
                          <a:latin typeface="Intel Clear" panose="020B0604020203020204" pitchFamily="34" charset="0"/>
                        </a:rPr>
                        <a:t> thickness</a:t>
                      </a:r>
                      <a:endParaRPr lang="en-US" altLang="zh-CN" sz="1000" b="0" i="0" u="none" strike="noStrike" dirty="0" smtClean="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6mm~8mm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8mm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6mm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Action Button: Home 10">
            <a:hlinkClick r:id="rId3" action="ppaction://hlinksldjump" highlightClick="1"/>
          </p:cNvPr>
          <p:cNvSpPr/>
          <p:nvPr/>
        </p:nvSpPr>
        <p:spPr bwMode="auto">
          <a:xfrm>
            <a:off x="8403586" y="5442190"/>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2121536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1ABE2FC7-05C3-4E29-9CB5-29E80127A999}"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24</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smtClean="0"/>
              <a:t>ADHESIVE</a:t>
            </a:r>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579391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25</a:t>
            </a:fld>
            <a:endParaRPr lang="en-US" dirty="0"/>
          </a:p>
        </p:txBody>
      </p:sp>
      <p:sp>
        <p:nvSpPr>
          <p:cNvPr id="8" name="Rectangle 7"/>
          <p:cNvSpPr/>
          <p:nvPr/>
        </p:nvSpPr>
        <p:spPr>
          <a:xfrm>
            <a:off x="76200" y="76200"/>
            <a:ext cx="1492716" cy="400110"/>
          </a:xfrm>
          <a:prstGeom prst="rect">
            <a:avLst/>
          </a:prstGeom>
        </p:spPr>
        <p:txBody>
          <a:bodyPr wrap="none">
            <a:spAutoFit/>
          </a:bodyPr>
          <a:lstStyle/>
          <a:p>
            <a:r>
              <a:rPr lang="en-US" sz="2000" b="1" dirty="0" smtClean="0"/>
              <a:t>Adhesive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929971698"/>
              </p:ext>
            </p:extLst>
          </p:nvPr>
        </p:nvGraphicFramePr>
        <p:xfrm>
          <a:off x="176893" y="569097"/>
          <a:ext cx="8343810" cy="4158116"/>
        </p:xfrm>
        <a:graphic>
          <a:graphicData uri="http://schemas.openxmlformats.org/drawingml/2006/table">
            <a:tbl>
              <a:tblPr firstRow="1" bandRow="1">
                <a:tableStyleId>{5C22544A-7EE6-4342-B048-85BDC9FD1C3A}</a:tableStyleId>
              </a:tblPr>
              <a:tblGrid>
                <a:gridCol w="1390635"/>
                <a:gridCol w="1390635"/>
                <a:gridCol w="1390635"/>
                <a:gridCol w="1390635"/>
                <a:gridCol w="1390635"/>
                <a:gridCol w="139063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altLang="zh-CN" sz="1000" b="0" i="0" u="none" strike="noStrike" dirty="0" smtClean="0">
                          <a:solidFill>
                            <a:srgbClr val="000000"/>
                          </a:solidFill>
                          <a:effectLst/>
                          <a:latin typeface="Intel Clear" panose="020B0604020203020204" pitchFamily="34" charset="0"/>
                        </a:rPr>
                        <a:t>U</a:t>
                      </a:r>
                      <a:r>
                        <a:rPr lang="en-US" sz="1000" b="0" i="0" u="none" strike="noStrike" dirty="0" smtClean="0">
                          <a:solidFill>
                            <a:srgbClr val="000000"/>
                          </a:solidFill>
                          <a:effectLst/>
                          <a:latin typeface="Intel Clear" panose="020B0604020203020204" pitchFamily="34" charset="0"/>
                        </a:rPr>
                        <a:t>sing </a:t>
                      </a:r>
                      <a:r>
                        <a:rPr lang="en-US" sz="1000" b="0" i="0" u="none" strike="noStrike" dirty="0">
                          <a:solidFill>
                            <a:srgbClr val="000000"/>
                          </a:solidFill>
                          <a:effectLst/>
                          <a:latin typeface="Intel Clear" panose="020B0604020203020204" pitchFamily="34" charset="0"/>
                        </a:rPr>
                        <a:t>adhesive for Intel BGA in HVM?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dirty="0">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Not on Intel BGA, Only for touch IC and WLCSP.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What are you </a:t>
                      </a:r>
                      <a:r>
                        <a:rPr lang="en-US" sz="1000" b="0" i="0" u="none" strike="noStrike" dirty="0" smtClean="0">
                          <a:solidFill>
                            <a:srgbClr val="000000"/>
                          </a:solidFill>
                          <a:effectLst/>
                          <a:latin typeface="Intel Clear" panose="020B0604020203020204" pitchFamily="34" charset="0"/>
                        </a:rPr>
                        <a:t>using</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Corner Glue, </a:t>
                      </a:r>
                      <a:r>
                        <a:rPr lang="en-US" sz="1000" b="0" i="0" u="none" strike="noStrike" dirty="0" err="1">
                          <a:solidFill>
                            <a:srgbClr val="000000"/>
                          </a:solidFill>
                          <a:effectLst/>
                          <a:latin typeface="Intel Clear" panose="020B0604020203020204" pitchFamily="34" charset="0"/>
                        </a:rPr>
                        <a:t>Underfill</a:t>
                      </a:r>
                      <a:r>
                        <a:rPr lang="en-US" sz="1000" b="0" i="0" u="none" strike="noStrike" dirty="0">
                          <a:solidFill>
                            <a:srgbClr val="000000"/>
                          </a:solidFill>
                          <a:effectLst/>
                          <a:latin typeface="Intel Clear" panose="020B0604020203020204" pitchFamily="34" charset="0"/>
                        </a:rPr>
                        <a:t>, but not Intel BGA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altLang="zh-CN" sz="1000" b="0" i="0" u="none" strike="noStrike" dirty="0" smtClean="0">
                          <a:solidFill>
                            <a:srgbClr val="000000"/>
                          </a:solidFill>
                          <a:effectLst/>
                          <a:latin typeface="Intel Clear" panose="020B0604020203020204" pitchFamily="34" charset="0"/>
                        </a:rPr>
                        <a:t>V</a:t>
                      </a:r>
                      <a:r>
                        <a:rPr lang="en-US" sz="1000" b="0" i="0" u="none" strike="noStrike" dirty="0" smtClean="0">
                          <a:solidFill>
                            <a:srgbClr val="000000"/>
                          </a:solidFill>
                          <a:effectLst/>
                          <a:latin typeface="Intel Clear" panose="020B0604020203020204" pitchFamily="34" charset="0"/>
                        </a:rPr>
                        <a:t>endor </a:t>
                      </a:r>
                      <a:r>
                        <a:rPr lang="en-US" sz="1000" b="0" i="0" u="none" strike="noStrike" dirty="0">
                          <a:solidFill>
                            <a:srgbClr val="000000"/>
                          </a:solidFill>
                          <a:effectLst/>
                          <a:latin typeface="Intel Clear" panose="020B0604020203020204" pitchFamily="34" charset="0"/>
                        </a:rPr>
                        <a:t>name and model of the adhesive </a:t>
                      </a:r>
                      <a:r>
                        <a:rPr lang="en-US" sz="1000" b="0" i="0" u="none" strike="noStrike" dirty="0" smtClean="0">
                          <a:solidFill>
                            <a:srgbClr val="000000"/>
                          </a:solidFill>
                          <a:effectLst/>
                          <a:latin typeface="Intel Clear" panose="020B0604020203020204" pitchFamily="34" charset="0"/>
                        </a:rPr>
                        <a:t>material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Zymet,UA-2605-B</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Dispense </a:t>
                      </a:r>
                      <a:r>
                        <a:rPr lang="en-US" sz="1000" b="0" i="0" u="none" strike="noStrike" dirty="0" smtClean="0">
                          <a:solidFill>
                            <a:srgbClr val="000000"/>
                          </a:solidFill>
                          <a:effectLst/>
                          <a:latin typeface="Intel Clear" panose="020B0604020203020204" pitchFamily="34" charset="0"/>
                        </a:rPr>
                        <a:t>Machine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kern="1200" dirty="0">
                          <a:solidFill>
                            <a:srgbClr val="000000"/>
                          </a:solidFill>
                          <a:effectLst/>
                          <a:latin typeface="Intel Clear" panose="020B0604020203020204" pitchFamily="34" charset="0"/>
                          <a:ea typeface="+mn-ea"/>
                          <a:cs typeface="+mn-cs"/>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HTD-420-1C (</a:t>
                      </a:r>
                      <a:r>
                        <a:rPr lang="en-US" altLang="zh-CN" sz="1000" b="0" i="0" u="none" strike="noStrike" kern="1200" dirty="0" smtClean="0">
                          <a:solidFill>
                            <a:srgbClr val="000000"/>
                          </a:solidFill>
                          <a:effectLst/>
                          <a:latin typeface="Intel Clear" panose="020B0604020203020204" pitchFamily="34" charset="0"/>
                          <a:ea typeface="+mn-ea"/>
                          <a:cs typeface="+mn-cs"/>
                        </a:rPr>
                        <a:t>Taiwan </a:t>
                      </a:r>
                      <a:r>
                        <a:rPr lang="en-US" altLang="zh-CN" sz="1000" b="0" i="0" u="none" strike="noStrike" kern="1200" dirty="0" err="1" smtClean="0">
                          <a:solidFill>
                            <a:srgbClr val="000000"/>
                          </a:solidFill>
                          <a:effectLst/>
                          <a:latin typeface="Intel Clear" panose="020B0604020203020204" pitchFamily="34" charset="0"/>
                          <a:ea typeface="+mn-ea"/>
                          <a:cs typeface="+mn-cs"/>
                        </a:rPr>
                        <a:t>Leh</a:t>
                      </a:r>
                      <a:r>
                        <a:rPr lang="en-US" altLang="zh-CN" sz="1000" b="0" i="0" u="none" strike="noStrike" kern="1200" dirty="0" smtClean="0">
                          <a:solidFill>
                            <a:srgbClr val="000000"/>
                          </a:solidFill>
                          <a:effectLst/>
                          <a:latin typeface="Intel Clear" panose="020B0604020203020204" pitchFamily="34" charset="0"/>
                          <a:ea typeface="+mn-ea"/>
                          <a:cs typeface="+mn-cs"/>
                        </a:rPr>
                        <a:t>-Yeh Technology </a:t>
                      </a:r>
                      <a:r>
                        <a:rPr lang="en-US" sz="1000" b="0" i="0" u="none" strike="noStrike" baseline="0" dirty="0" smtClean="0">
                          <a:solidFill>
                            <a:srgbClr val="000000"/>
                          </a:solidFill>
                          <a:effectLst/>
                          <a:latin typeface="Intel Clear" panose="020B0604020203020204" pitchFamily="34" charset="0"/>
                        </a:rPr>
                        <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axxon /  AU77s / 0Au77s1711026/ 2017.11.21</a:t>
                      </a:r>
                      <a:br>
                        <a:rPr lang="pt-BR" sz="1000" b="0" i="0" u="none" strike="noStrike">
                          <a:solidFill>
                            <a:srgbClr val="000000"/>
                          </a:solidFill>
                          <a:effectLst/>
                          <a:latin typeface="Intel Clear" panose="020B0604020203020204" pitchFamily="34" charset="0"/>
                        </a:rPr>
                      </a:br>
                      <a:r>
                        <a:rPr lang="pt-BR" sz="1000" b="0" i="0" u="none" strike="noStrike">
                          <a:solidFill>
                            <a:srgbClr val="000000"/>
                          </a:solidFill>
                          <a:effectLst/>
                          <a:latin typeface="Intel Clear" panose="020B0604020203020204" pitchFamily="34" charset="0"/>
                        </a:rPr>
                        <a:t>EL / EM-5701N /DS-M2990/2012.10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ANDA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smtClean="0">
                          <a:solidFill>
                            <a:srgbClr val="000000"/>
                          </a:solidFill>
                          <a:effectLst/>
                          <a:latin typeface="Intel Clear" panose="020B0604020203020204" pitchFamily="34" charset="0"/>
                        </a:rPr>
                        <a:t>EM-5701L</a:t>
                      </a:r>
                      <a:endParaRPr lang="en-US" altLang="zh-CN" sz="1000" b="0" i="0" u="none" strike="noStrike" dirty="0" smtClean="0">
                        <a:solidFill>
                          <a:srgbClr val="000000"/>
                        </a:solidFill>
                        <a:effectLst/>
                        <a:latin typeface="Intel Clear" panose="020B0604020203020204" pitchFamily="34" charset="0"/>
                      </a:endParaRPr>
                    </a:p>
                    <a:p>
                      <a:pPr algn="l" fontAlgn="b"/>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Curing </a:t>
                      </a:r>
                      <a:r>
                        <a:rPr lang="en-US" sz="1000" b="0" i="0" u="none" strike="noStrike" dirty="0" smtClean="0">
                          <a:solidFill>
                            <a:srgbClr val="000000"/>
                          </a:solidFill>
                          <a:effectLst/>
                          <a:latin typeface="Intel Clear" panose="020B0604020203020204" pitchFamily="34" charset="0"/>
                        </a:rPr>
                        <a:t>Oven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r>
                        <a:rPr lang="en-US" sz="1000" b="0" i="0" u="none" strike="noStrike" kern="1200" dirty="0">
                          <a:solidFill>
                            <a:srgbClr val="000000"/>
                          </a:solidFill>
                          <a:effectLst/>
                          <a:latin typeface="Intel Clear" panose="020B0604020203020204" pitchFamily="34" charset="0"/>
                          <a:ea typeface="+mn-ea"/>
                          <a:cs typeface="+mn-cs"/>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MA-9CR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TUNG SING /BAT-1500-VF/DS20130301/2013.25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HELLER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EM-5701U （UV)</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Where </a:t>
                      </a:r>
                      <a:r>
                        <a:rPr lang="en-US" sz="1000" b="0" i="0" u="none" strike="noStrike" dirty="0" smtClean="0">
                          <a:solidFill>
                            <a:srgbClr val="000000"/>
                          </a:solidFill>
                          <a:effectLst/>
                          <a:latin typeface="Intel Clear" panose="020B0604020203020204" pitchFamily="34" charset="0"/>
                        </a:rPr>
                        <a:t>is </a:t>
                      </a:r>
                      <a:r>
                        <a:rPr lang="en-US" sz="1000" b="0" i="0" u="none" strike="noStrike" dirty="0">
                          <a:solidFill>
                            <a:srgbClr val="000000"/>
                          </a:solidFill>
                          <a:effectLst/>
                          <a:latin typeface="Intel Clear" panose="020B0604020203020204" pitchFamily="34" charset="0"/>
                        </a:rPr>
                        <a:t>the adhesive </a:t>
                      </a:r>
                      <a:r>
                        <a:rPr lang="en-US" sz="1000" b="0" i="0" u="none" strike="noStrike" dirty="0" smtClean="0">
                          <a:solidFill>
                            <a:srgbClr val="000000"/>
                          </a:solidFill>
                          <a:effectLst/>
                          <a:latin typeface="Intel Clear" panose="020B0604020203020204" pitchFamily="34" charset="0"/>
                        </a:rPr>
                        <a:t>applied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dirty="0">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After FCT, Per customer request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altLang="zh-CN" sz="1000" b="0" i="0" u="none" strike="noStrike" dirty="0" smtClean="0">
                          <a:solidFill>
                            <a:srgbClr val="000000"/>
                          </a:solidFill>
                          <a:effectLst/>
                          <a:latin typeface="Intel Clear" panose="020B0604020203020204" pitchFamily="34" charset="0"/>
                        </a:rPr>
                        <a:t>A</a:t>
                      </a:r>
                      <a:r>
                        <a:rPr lang="en-US" sz="1000" b="0" i="0" u="none" strike="noStrike" dirty="0" smtClean="0">
                          <a:solidFill>
                            <a:srgbClr val="000000"/>
                          </a:solidFill>
                          <a:effectLst/>
                          <a:latin typeface="Intel Clear" panose="020B0604020203020204" pitchFamily="34" charset="0"/>
                        </a:rPr>
                        <a:t>dhesive </a:t>
                      </a:r>
                      <a:r>
                        <a:rPr lang="en-US" sz="1000" b="0" i="0" u="none" strike="noStrike" dirty="0" err="1">
                          <a:solidFill>
                            <a:srgbClr val="000000"/>
                          </a:solidFill>
                          <a:effectLst/>
                          <a:latin typeface="Intel Clear" panose="020B0604020203020204" pitchFamily="34" charset="0"/>
                        </a:rPr>
                        <a:t>reworkable</a:t>
                      </a:r>
                      <a:r>
                        <a:rPr lang="en-US" sz="1000" b="0" i="0" u="none" strike="noStrike" dirty="0">
                          <a:solidFill>
                            <a:srgbClr val="000000"/>
                          </a:solidFill>
                          <a:effectLst/>
                          <a:latin typeface="Intel Clear" panose="020B0604020203020204" pitchFamily="34" charset="0"/>
                        </a:rPr>
                        <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In</a:t>
                      </a:r>
                      <a:r>
                        <a:rPr lang="en-US" sz="1000" b="0" i="0" u="none" strike="noStrike" baseline="0" dirty="0" smtClean="0">
                          <a:solidFill>
                            <a:srgbClr val="000000"/>
                          </a:solidFill>
                          <a:effectLst/>
                          <a:latin typeface="Intel Clear" panose="020B0604020203020204" pitchFamily="34" charset="0"/>
                        </a:rPr>
                        <a:t> line or offline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zh-CN" alt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How is after cure </a:t>
                      </a:r>
                      <a:r>
                        <a:rPr lang="en-US" sz="1000" b="0" i="0" u="none" strike="noStrike" dirty="0" smtClean="0">
                          <a:solidFill>
                            <a:srgbClr val="000000"/>
                          </a:solidFill>
                          <a:effectLst/>
                          <a:latin typeface="Intel Clear" panose="020B0604020203020204" pitchFamily="34" charset="0"/>
                        </a:rPr>
                        <a:t>validated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Visual inspection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smtClean="0">
                          <a:solidFill>
                            <a:srgbClr val="000000"/>
                          </a:solidFill>
                          <a:effectLst/>
                          <a:latin typeface="Intel Clear" panose="020B0604020203020204" pitchFamily="34" charset="0"/>
                        </a:rPr>
                        <a:t>Visual inspection only</a:t>
                      </a:r>
                      <a:endParaRPr lang="en-US" altLang="zh-CN"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Visual inspection </a:t>
                      </a:r>
                      <a:r>
                        <a:rPr lang="en-US" sz="1000" b="0" i="0" u="none" strike="noStrike" dirty="0" smtClean="0">
                          <a:solidFill>
                            <a:srgbClr val="000000"/>
                          </a:solidFill>
                          <a:effectLst/>
                          <a:latin typeface="Intel Clear" panose="020B0604020203020204" pitchFamily="34" charset="0"/>
                        </a:rPr>
                        <a:t>only </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Visual inspection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Visual inspection only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3" name="Rounded Rectangle 12"/>
          <p:cNvSpPr/>
          <p:nvPr/>
        </p:nvSpPr>
        <p:spPr bwMode="auto">
          <a:xfrm>
            <a:off x="76200" y="4946106"/>
            <a:ext cx="8841924" cy="953453"/>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Those blank cells have been surveyed previously, refer to CNL/ICL CRD at </a:t>
            </a:r>
            <a:r>
              <a:rPr lang="en-US" sz="1400" dirty="0" smtClean="0">
                <a:cs typeface="Arial" pitchFamily="34" charset="0"/>
                <a:hlinkClick r:id="rId3" action="ppaction://hlinksldjump"/>
              </a:rPr>
              <a:t>back up slide</a:t>
            </a:r>
            <a:endParaRPr lang="en-US" sz="1400" dirty="0" smtClean="0">
              <a:cs typeface="Arial" pitchFamily="34" charset="0"/>
            </a:endParaRP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LCFC and JDM1 apply adhesive after FCT, other ODMs apply before ICT test</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ODM only do visual inspect after adhesive application, no deep validation on voiding, coverage, adhesion </a:t>
            </a:r>
            <a:r>
              <a:rPr lang="en-US" sz="1400" dirty="0" err="1" smtClean="0">
                <a:cs typeface="Arial" pitchFamily="34" charset="0"/>
              </a:rPr>
              <a:t>etc</a:t>
            </a:r>
            <a:endParaRPr lang="en-US" sz="1400" dirty="0" smtClean="0">
              <a:cs typeface="Arial" pitchFamily="34" charset="0"/>
            </a:endParaRPr>
          </a:p>
        </p:txBody>
      </p:sp>
    </p:spTree>
    <p:extLst>
      <p:ext uri="{BB962C8B-B14F-4D97-AF65-F5344CB8AC3E}">
        <p14:creationId xmlns:p14="http://schemas.microsoft.com/office/powerpoint/2010/main" val="26006218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26</a:t>
            </a:fld>
            <a:endParaRPr lang="en-US" dirty="0"/>
          </a:p>
        </p:txBody>
      </p:sp>
      <p:sp>
        <p:nvSpPr>
          <p:cNvPr id="8" name="Rectangle 7"/>
          <p:cNvSpPr/>
          <p:nvPr/>
        </p:nvSpPr>
        <p:spPr>
          <a:xfrm>
            <a:off x="76200" y="76200"/>
            <a:ext cx="1492716" cy="400110"/>
          </a:xfrm>
          <a:prstGeom prst="rect">
            <a:avLst/>
          </a:prstGeom>
        </p:spPr>
        <p:txBody>
          <a:bodyPr wrap="none">
            <a:spAutoFit/>
          </a:bodyPr>
          <a:lstStyle/>
          <a:p>
            <a:r>
              <a:rPr lang="en-US" sz="2000" b="1" dirty="0" smtClean="0"/>
              <a:t>Adhesive</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0" name="Table 9"/>
          <p:cNvGraphicFramePr>
            <a:graphicFrameLocks noGrp="1"/>
          </p:cNvGraphicFramePr>
          <p:nvPr>
            <p:extLst>
              <p:ext uri="{D42A27DB-BD31-4B8C-83A1-F6EECF244321}">
                <p14:modId xmlns:p14="http://schemas.microsoft.com/office/powerpoint/2010/main" val="1797221524"/>
              </p:ext>
            </p:extLst>
          </p:nvPr>
        </p:nvGraphicFramePr>
        <p:xfrm>
          <a:off x="363448" y="651801"/>
          <a:ext cx="8532992" cy="4173440"/>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altLang="zh-CN" sz="1000" b="0" i="0" u="none" strike="noStrike" dirty="0" smtClean="0">
                          <a:solidFill>
                            <a:srgbClr val="000000"/>
                          </a:solidFill>
                          <a:effectLst/>
                          <a:latin typeface="Intel Clear" panose="020B0604020203020204" pitchFamily="34" charset="0"/>
                        </a:rPr>
                        <a:t>U</a:t>
                      </a:r>
                      <a:r>
                        <a:rPr lang="en-US" sz="1000" b="0" i="0" u="none" strike="noStrike" dirty="0" smtClean="0">
                          <a:solidFill>
                            <a:srgbClr val="000000"/>
                          </a:solidFill>
                          <a:effectLst/>
                          <a:latin typeface="Intel Clear" panose="020B0604020203020204" pitchFamily="34" charset="0"/>
                        </a:rPr>
                        <a:t>sing </a:t>
                      </a:r>
                      <a:r>
                        <a:rPr lang="en-US" sz="1000" b="0" i="0" u="none" strike="noStrike" dirty="0">
                          <a:solidFill>
                            <a:srgbClr val="000000"/>
                          </a:solidFill>
                          <a:effectLst/>
                          <a:latin typeface="Intel Clear" panose="020B0604020203020204" pitchFamily="34" charset="0"/>
                        </a:rPr>
                        <a:t>adhesive for Intel BGA in HVM?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What are you </a:t>
                      </a:r>
                      <a:r>
                        <a:rPr lang="en-US" sz="1000" b="0" i="0" u="none" strike="noStrike" dirty="0" smtClean="0">
                          <a:solidFill>
                            <a:srgbClr val="000000"/>
                          </a:solidFill>
                          <a:effectLst/>
                          <a:latin typeface="Intel Clear" panose="020B0604020203020204" pitchFamily="34" charset="0"/>
                        </a:rPr>
                        <a:t>using</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glue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glue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glue and underfill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glue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gule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Under film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glue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altLang="zh-CN" sz="1000" b="0" i="0" u="none" strike="noStrike" dirty="0" smtClean="0">
                          <a:solidFill>
                            <a:srgbClr val="000000"/>
                          </a:solidFill>
                          <a:effectLst/>
                          <a:latin typeface="Intel Clear" panose="020B0604020203020204" pitchFamily="34" charset="0"/>
                        </a:rPr>
                        <a:t>V</a:t>
                      </a:r>
                      <a:r>
                        <a:rPr lang="en-US" sz="1000" b="0" i="0" u="none" strike="noStrike" dirty="0" smtClean="0">
                          <a:solidFill>
                            <a:srgbClr val="000000"/>
                          </a:solidFill>
                          <a:effectLst/>
                          <a:latin typeface="Intel Clear" panose="020B0604020203020204" pitchFamily="34" charset="0"/>
                        </a:rPr>
                        <a:t>endor </a:t>
                      </a:r>
                      <a:r>
                        <a:rPr lang="en-US" sz="1000" b="0" i="0" u="none" strike="noStrike" dirty="0">
                          <a:solidFill>
                            <a:srgbClr val="000000"/>
                          </a:solidFill>
                          <a:effectLst/>
                          <a:latin typeface="Intel Clear" panose="020B0604020203020204" pitchFamily="34" charset="0"/>
                        </a:rPr>
                        <a:t>name and model of the adhesive </a:t>
                      </a:r>
                      <a:r>
                        <a:rPr lang="en-US" sz="1000" b="0" i="0" u="none" strike="noStrike" dirty="0" smtClean="0">
                          <a:solidFill>
                            <a:srgbClr val="000000"/>
                          </a:solidFill>
                          <a:effectLst/>
                          <a:latin typeface="Intel Clear" panose="020B0604020203020204" pitchFamily="34" charset="0"/>
                        </a:rPr>
                        <a:t>material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U-Bond, UB-4305 (UV)</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U-Bond, UB-4305 (UV)</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Glue: Loctite </a:t>
                      </a:r>
                      <a:r>
                        <a:rPr lang="en-US" sz="1000" b="0" i="0" u="none" strike="noStrike" dirty="0" smtClean="0">
                          <a:solidFill>
                            <a:srgbClr val="000000"/>
                          </a:solidFill>
                          <a:effectLst/>
                          <a:latin typeface="Intel Clear" panose="020B0604020203020204" pitchFamily="34" charset="0"/>
                        </a:rPr>
                        <a:t>3705 (UV); </a:t>
                      </a:r>
                      <a:r>
                        <a:rPr lang="en-US" sz="1000" b="0" i="0" u="none" strike="noStrike" dirty="0" err="1">
                          <a:solidFill>
                            <a:srgbClr val="000000"/>
                          </a:solidFill>
                          <a:effectLst/>
                          <a:latin typeface="Intel Clear" panose="020B0604020203020204" pitchFamily="34" charset="0"/>
                        </a:rPr>
                        <a:t>Underfill</a:t>
                      </a:r>
                      <a:r>
                        <a:rPr lang="en-US" sz="1000" b="0" i="0" u="none" strike="noStrike" dirty="0">
                          <a:solidFill>
                            <a:srgbClr val="000000"/>
                          </a:solidFill>
                          <a:effectLst/>
                          <a:latin typeface="Intel Clear" panose="020B0604020203020204" pitchFamily="34" charset="0"/>
                        </a:rPr>
                        <a:t>: SCT 3109A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panose="020B0604020203020204" pitchFamily="34" charset="0"/>
                        </a:rPr>
                        <a:t>JinXuan</a:t>
                      </a:r>
                      <a:r>
                        <a:rPr lang="en-US" sz="1000" b="0" i="0" u="none" strike="noStrike" dirty="0">
                          <a:solidFill>
                            <a:srgbClr val="000000"/>
                          </a:solidFill>
                          <a:effectLst/>
                          <a:latin typeface="Intel Clear" panose="020B0604020203020204" pitchFamily="34" charset="0"/>
                        </a:rPr>
                        <a:t> new material; </a:t>
                      </a:r>
                      <a:r>
                        <a:rPr lang="en-US" sz="1000" b="0" i="0" u="none" strike="noStrike" dirty="0" smtClean="0">
                          <a:solidFill>
                            <a:srgbClr val="000000"/>
                          </a:solidFill>
                          <a:effectLst/>
                          <a:latin typeface="Intel Clear" panose="020B0604020203020204" pitchFamily="34" charset="0"/>
                        </a:rPr>
                        <a:t>ZY-303 (UV)</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Seayu UV3329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PRECO-MIWA :10003 White I Shape Underfilm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.229mm (9 mils) thick)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ASEC (</a:t>
                      </a:r>
                      <a:r>
                        <a:rPr lang="en-US" sz="1000" b="0" i="0" u="none" strike="noStrike" dirty="0" err="1" smtClean="0">
                          <a:solidFill>
                            <a:srgbClr val="000000"/>
                          </a:solidFill>
                          <a:effectLst/>
                          <a:latin typeface="Intel Clear" panose="020B0604020203020204" pitchFamily="34" charset="0"/>
                        </a:rPr>
                        <a:t>Under</a:t>
                      </a:r>
                      <a:r>
                        <a:rPr lang="en-US" sz="1000" b="0" i="0" u="none" strike="noStrike" baseline="0" dirty="0" err="1" smtClean="0">
                          <a:solidFill>
                            <a:srgbClr val="000000"/>
                          </a:solidFill>
                          <a:effectLst/>
                          <a:latin typeface="Intel Clear" panose="020B0604020203020204" pitchFamily="34" charset="0"/>
                        </a:rPr>
                        <a:t>fill</a:t>
                      </a:r>
                      <a:r>
                        <a:rPr lang="en-US" sz="1000" b="0" i="0" u="none" strike="noStrike" baseline="0" dirty="0" smtClean="0">
                          <a:solidFill>
                            <a:srgbClr val="000000"/>
                          </a:solidFill>
                          <a:effectLst/>
                          <a:latin typeface="Intel Clear" panose="020B0604020203020204" pitchFamily="34" charset="0"/>
                        </a:rPr>
                        <a:t>)</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Dispense </a:t>
                      </a:r>
                      <a:r>
                        <a:rPr lang="en-US" sz="1000" b="0" i="0" u="none" strike="noStrike" dirty="0" smtClean="0">
                          <a:solidFill>
                            <a:srgbClr val="000000"/>
                          </a:solidFill>
                          <a:effectLst/>
                          <a:latin typeface="Intel Clear" panose="020B0604020203020204" pitchFamily="34" charset="0"/>
                        </a:rPr>
                        <a:t>Machine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Elite 5701N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Elite EM5701N, Avg 10 years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NORDSON, Q-6800, Q30380, 2019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HOSTRA, GAEA-1000, 06/2017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Elite, SSI00-COM-01; AXXON, AU99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Curing </a:t>
                      </a:r>
                      <a:r>
                        <a:rPr lang="en-US" sz="1000" b="0" i="0" u="none" strike="noStrike" dirty="0" smtClean="0">
                          <a:solidFill>
                            <a:srgbClr val="000000"/>
                          </a:solidFill>
                          <a:effectLst/>
                          <a:latin typeface="Intel Clear" panose="020B0604020203020204" pitchFamily="34" charset="0"/>
                        </a:rPr>
                        <a:t>Oven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Elite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house made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KTX-600, 19LSL01, 2019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Elite, UV703, 05/2017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Elite; Greative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Where </a:t>
                      </a:r>
                      <a:r>
                        <a:rPr lang="en-US" sz="1000" b="0" i="0" u="none" strike="noStrike" dirty="0" smtClean="0">
                          <a:solidFill>
                            <a:srgbClr val="000000"/>
                          </a:solidFill>
                          <a:effectLst/>
                          <a:latin typeface="Intel Clear" panose="020B0604020203020204" pitchFamily="34" charset="0"/>
                        </a:rPr>
                        <a:t>is </a:t>
                      </a:r>
                      <a:r>
                        <a:rPr lang="en-US" sz="1000" b="0" i="0" u="none" strike="noStrike" dirty="0">
                          <a:solidFill>
                            <a:srgbClr val="000000"/>
                          </a:solidFill>
                          <a:effectLst/>
                          <a:latin typeface="Intel Clear" panose="020B0604020203020204" pitchFamily="34" charset="0"/>
                        </a:rPr>
                        <a:t>the adhesive </a:t>
                      </a:r>
                      <a:r>
                        <a:rPr lang="en-US" sz="1000" b="0" i="0" u="none" strike="noStrike" dirty="0" smtClean="0">
                          <a:solidFill>
                            <a:srgbClr val="000000"/>
                          </a:solidFill>
                          <a:effectLst/>
                          <a:latin typeface="Intel Clear" panose="020B0604020203020204" pitchFamily="34" charset="0"/>
                        </a:rPr>
                        <a:t>applied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After reflow/Before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After reflow/Before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Corner Glue: After reflow/Before test</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Underfill: After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After reflow/Before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After reflow/Before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During SMT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After test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altLang="zh-CN" sz="1000" b="0" i="0" u="none" strike="noStrike" dirty="0" smtClean="0">
                          <a:solidFill>
                            <a:srgbClr val="000000"/>
                          </a:solidFill>
                          <a:effectLst/>
                          <a:latin typeface="Intel Clear" panose="020B0604020203020204" pitchFamily="34" charset="0"/>
                        </a:rPr>
                        <a:t>A</a:t>
                      </a:r>
                      <a:r>
                        <a:rPr lang="en-US" sz="1000" b="0" i="0" u="none" strike="noStrike" dirty="0" smtClean="0">
                          <a:solidFill>
                            <a:srgbClr val="000000"/>
                          </a:solidFill>
                          <a:effectLst/>
                          <a:latin typeface="Intel Clear" panose="020B0604020203020204" pitchFamily="34" charset="0"/>
                        </a:rPr>
                        <a:t>dhesive </a:t>
                      </a:r>
                      <a:r>
                        <a:rPr lang="en-US" sz="1000" b="0" i="0" u="none" strike="noStrike" dirty="0" err="1">
                          <a:solidFill>
                            <a:srgbClr val="000000"/>
                          </a:solidFill>
                          <a:effectLst/>
                          <a:latin typeface="Intel Clear" panose="020B0604020203020204" pitchFamily="34" charset="0"/>
                        </a:rPr>
                        <a:t>reworkable</a:t>
                      </a:r>
                      <a:r>
                        <a:rPr lang="en-US" sz="1000" b="0" i="0" u="none" strike="noStrike" dirty="0">
                          <a:solidFill>
                            <a:srgbClr val="000000"/>
                          </a:solidFill>
                          <a:effectLst/>
                          <a:latin typeface="Intel Clear" panose="020B0604020203020204" pitchFamily="34" charset="0"/>
                        </a:rPr>
                        <a: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In</a:t>
                      </a:r>
                      <a:r>
                        <a:rPr lang="en-US" sz="1000" b="0" i="0" u="none" strike="noStrike" baseline="0" dirty="0" smtClean="0">
                          <a:solidFill>
                            <a:srgbClr val="000000"/>
                          </a:solidFill>
                          <a:effectLst/>
                          <a:latin typeface="Intel Clear" panose="020B0604020203020204" pitchFamily="34" charset="0"/>
                        </a:rPr>
                        <a:t> line or offline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In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How is after cure </a:t>
                      </a:r>
                      <a:r>
                        <a:rPr lang="en-US" sz="1000" b="0" i="0" u="none" strike="noStrike" dirty="0" smtClean="0">
                          <a:solidFill>
                            <a:srgbClr val="000000"/>
                          </a:solidFill>
                          <a:effectLst/>
                          <a:latin typeface="Intel Clear" panose="020B0604020203020204" pitchFamily="34" charset="0"/>
                        </a:rPr>
                        <a:t>validated</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Visual Inspect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Visual Inspect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Visual Inspect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Visual Inspect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Visual Inspect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Visual Inspect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Rounded Rectangle 10"/>
          <p:cNvSpPr/>
          <p:nvPr/>
        </p:nvSpPr>
        <p:spPr bwMode="auto">
          <a:xfrm>
            <a:off x="76200" y="4946106"/>
            <a:ext cx="8841924" cy="476726"/>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Samsung start to remove the needs of under film, current ~70% of their product have no adhesive for Intel BGA. Only thin PCB project will use </a:t>
            </a:r>
            <a:r>
              <a:rPr lang="en-US" sz="1400" dirty="0" err="1" smtClean="0">
                <a:cs typeface="Arial" pitchFamily="34" charset="0"/>
              </a:rPr>
              <a:t>underfilm</a:t>
            </a:r>
            <a:endParaRPr lang="en-US" sz="1400" dirty="0" smtClean="0">
              <a:cs typeface="Arial" pitchFamily="34" charset="0"/>
            </a:endParaRPr>
          </a:p>
        </p:txBody>
      </p:sp>
      <p:sp>
        <p:nvSpPr>
          <p:cNvPr id="12" name="Action Button: Home 11">
            <a:hlinkClick r:id="rId3" action="ppaction://hlinksldjump" highlightClick="1"/>
          </p:cNvPr>
          <p:cNvSpPr/>
          <p:nvPr/>
        </p:nvSpPr>
        <p:spPr bwMode="auto">
          <a:xfrm>
            <a:off x="8320459" y="5543697"/>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12620400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1ABE2FC7-05C3-4E29-9CB5-29E80127A999}"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27</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smtClean="0"/>
              <a:t>REWORK</a:t>
            </a:r>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29735946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28</a:t>
            </a:fld>
            <a:endParaRPr lang="en-US" dirty="0"/>
          </a:p>
        </p:txBody>
      </p:sp>
      <p:sp>
        <p:nvSpPr>
          <p:cNvPr id="8" name="Rectangle 7"/>
          <p:cNvSpPr/>
          <p:nvPr/>
        </p:nvSpPr>
        <p:spPr>
          <a:xfrm>
            <a:off x="76200" y="76200"/>
            <a:ext cx="1282723" cy="400110"/>
          </a:xfrm>
          <a:prstGeom prst="rect">
            <a:avLst/>
          </a:prstGeom>
        </p:spPr>
        <p:txBody>
          <a:bodyPr wrap="none">
            <a:spAutoFit/>
          </a:bodyPr>
          <a:lstStyle/>
          <a:p>
            <a:r>
              <a:rPr lang="en-US" sz="2000" b="1" dirty="0" smtClean="0"/>
              <a:t>Rework</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3401819712"/>
              </p:ext>
            </p:extLst>
          </p:nvPr>
        </p:nvGraphicFramePr>
        <p:xfrm>
          <a:off x="361618" y="785091"/>
          <a:ext cx="8343810" cy="3961985"/>
        </p:xfrm>
        <a:graphic>
          <a:graphicData uri="http://schemas.openxmlformats.org/drawingml/2006/table">
            <a:tbl>
              <a:tblPr firstRow="1" bandRow="1">
                <a:tableStyleId>{5C22544A-7EE6-4342-B048-85BDC9FD1C3A}</a:tableStyleId>
              </a:tblPr>
              <a:tblGrid>
                <a:gridCol w="1390635"/>
                <a:gridCol w="1390635"/>
                <a:gridCol w="1390635"/>
                <a:gridCol w="1390635"/>
                <a:gridCol w="1390635"/>
                <a:gridCol w="1390635"/>
              </a:tblGrid>
              <a:tr h="289481">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BGA rework tool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Quick, EA-H00.2016</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 Ou electric</a:t>
                      </a:r>
                      <a:r>
                        <a:rPr lang="en-US" sz="1000" b="0" i="0" u="none" strike="noStrike">
                          <a:solidFill>
                            <a:srgbClr val="000000"/>
                          </a:solidFill>
                          <a:effectLst/>
                          <a:latin typeface="宋体" panose="02010600030101010101" pitchFamily="2" charset="-122"/>
                          <a:ea typeface="宋体" panose="02010600030101010101" pitchFamily="2" charset="-122"/>
                        </a:rPr>
                        <a:t/>
                      </a:r>
                      <a:br>
                        <a:rPr lang="en-US" sz="1000" b="0" i="0" u="none" strike="noStrike">
                          <a:solidFill>
                            <a:srgbClr val="000000"/>
                          </a:solidFill>
                          <a:effectLst/>
                          <a:latin typeface="宋体" panose="02010600030101010101" pitchFamily="2" charset="-122"/>
                          <a:ea typeface="宋体" panose="02010600030101010101" pitchFamily="2" charset="-122"/>
                        </a:rPr>
                      </a:br>
                      <a:r>
                        <a:rPr lang="en-US" sz="1000" b="0" i="0" u="none" strike="noStrike">
                          <a:solidFill>
                            <a:srgbClr val="000000"/>
                          </a:solidFill>
                          <a:effectLst/>
                          <a:latin typeface="Intel Clear" panose="020B0604020203020204" pitchFamily="34" charset="0"/>
                        </a:rPr>
                        <a:t>TP500: Year 2015*2  Year 2013*3 </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TP580:2019*1</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nn-NO" sz="1000" b="0" i="0" u="none" strike="noStrike">
                          <a:solidFill>
                            <a:srgbClr val="000000"/>
                          </a:solidFill>
                          <a:effectLst/>
                          <a:latin typeface="Intel Clear" panose="020B0604020203020204" pitchFamily="34" charset="0"/>
                        </a:rPr>
                        <a:t>shuttle star / RW-SV600 /90105120067 /2012.10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SRT，SRT Micra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QUICK EA-H15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Use</a:t>
                      </a:r>
                      <a:r>
                        <a:rPr lang="en-US" sz="1000" b="0" i="0" u="none" strike="noStrike" baseline="0" dirty="0" smtClean="0">
                          <a:solidFill>
                            <a:srgbClr val="000000"/>
                          </a:solidFill>
                          <a:effectLst/>
                          <a:latin typeface="Intel Clear" panose="020B0604020203020204" pitchFamily="34" charset="0"/>
                        </a:rPr>
                        <a:t> paste or flux</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 and Flux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Solder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 and flux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Paste/Flux</a:t>
                      </a:r>
                      <a:r>
                        <a:rPr lang="en-US" sz="1000" b="0" i="0" u="none" strike="noStrike" baseline="0" dirty="0" smtClean="0">
                          <a:solidFill>
                            <a:srgbClr val="000000"/>
                          </a:solidFill>
                          <a:effectLst/>
                          <a:latin typeface="Intel Clear" panose="020B0604020203020204" pitchFamily="34" charset="0"/>
                        </a:rPr>
                        <a:t> brand and formulation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Shenmao PF606-P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Shenmao PF606-P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 SHENMAO  PF606-P   Type 4</a:t>
                      </a:r>
                      <a:br>
                        <a:rPr lang="en-US" sz="1000" b="0" i="0" u="none" strike="noStrike" dirty="0">
                          <a:solidFill>
                            <a:srgbClr val="000000"/>
                          </a:solidFill>
                          <a:effectLst/>
                          <a:latin typeface="Intel Clear" panose="020B0604020203020204" pitchFamily="34" charset="0"/>
                        </a:rPr>
                      </a:br>
                      <a:r>
                        <a:rPr lang="en-US" sz="1000" b="0" i="0" u="none" strike="noStrike" dirty="0" smtClean="0">
                          <a:solidFill>
                            <a:srgbClr val="000000"/>
                          </a:solidFill>
                          <a:effectLst/>
                          <a:latin typeface="Intel Clear" panose="020B0604020203020204" pitchFamily="34" charset="0"/>
                        </a:rPr>
                        <a:t>SENJU </a:t>
                      </a:r>
                      <a:r>
                        <a:rPr lang="en-US" sz="1000" b="0" i="0" u="none" strike="noStrike" dirty="0">
                          <a:solidFill>
                            <a:srgbClr val="000000"/>
                          </a:solidFill>
                          <a:effectLst/>
                          <a:latin typeface="Intel Clear" panose="020B0604020203020204" pitchFamily="34" charset="0"/>
                        </a:rPr>
                        <a:t>M705-S101HF (NL3) Type4</a:t>
                      </a:r>
                      <a:br>
                        <a:rPr lang="en-US" sz="1000" b="0" i="0" u="none" strike="noStrike" dirty="0">
                          <a:solidFill>
                            <a:srgbClr val="000000"/>
                          </a:solidFill>
                          <a:effectLst/>
                          <a:latin typeface="Intel Clear" panose="020B0604020203020204" pitchFamily="34" charset="0"/>
                        </a:rPr>
                      </a:br>
                      <a:r>
                        <a:rPr lang="en-US" sz="1000" b="0" i="0" u="none" strike="noStrike" dirty="0" err="1">
                          <a:solidFill>
                            <a:srgbClr val="000000"/>
                          </a:solidFill>
                          <a:effectLst/>
                          <a:latin typeface="Intel Clear" panose="020B0604020203020204" pitchFamily="34" charset="0"/>
                        </a:rPr>
                        <a:t>Senju</a:t>
                      </a:r>
                      <a:r>
                        <a:rPr lang="en-US" sz="1000" b="0" i="0" u="none" strike="noStrike" dirty="0">
                          <a:solidFill>
                            <a:srgbClr val="000000"/>
                          </a:solidFill>
                          <a:effectLst/>
                          <a:latin typeface="Intel Clear" panose="020B0604020203020204" pitchFamily="34" charset="0"/>
                        </a:rPr>
                        <a:t> L28-143HF(L)Type4(LTS)</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Flux: AMTECH /NC-559-ASM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senju/ shengmao, same as printing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Shenmao PF606-P (Paste), AIM(NC-254, Flux)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Hole covering during</a:t>
                      </a:r>
                      <a:r>
                        <a:rPr lang="en-US" sz="1000" b="0" i="0" u="none" strike="noStrike" baseline="0" dirty="0" smtClean="0">
                          <a:solidFill>
                            <a:srgbClr val="000000"/>
                          </a:solidFill>
                          <a:effectLst/>
                          <a:latin typeface="Intel Clear" panose="020B0604020203020204" pitchFamily="34" charset="0"/>
                        </a:rPr>
                        <a:t> HIMB rework</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we don't have HIMB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Cut scrapped PCB</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Not </a:t>
                      </a:r>
                      <a:r>
                        <a:rPr lang="en-US" sz="1000" b="0" i="0" u="none" strike="noStrike" dirty="0" smtClean="0">
                          <a:solidFill>
                            <a:srgbClr val="000000"/>
                          </a:solidFill>
                          <a:effectLst/>
                          <a:latin typeface="Intel Clear" panose="020B0604020203020204" pitchFamily="34" charset="0"/>
                        </a:rPr>
                        <a:t>covering </a:t>
                      </a:r>
                      <a:r>
                        <a:rPr lang="en-US" sz="1000" b="0" i="0" u="none" strike="noStrike" dirty="0">
                          <a:solidFill>
                            <a:srgbClr val="000000"/>
                          </a:solidFill>
                          <a:effectLst/>
                          <a:latin typeface="Intel Clear" panose="020B0604020203020204" pitchFamily="34" charset="0"/>
                        </a:rPr>
                        <a:t>hole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Not </a:t>
                      </a:r>
                      <a:r>
                        <a:rPr lang="en-US" sz="1000" b="0" i="0" u="none" strike="noStrike" dirty="0" smtClean="0">
                          <a:solidFill>
                            <a:srgbClr val="000000"/>
                          </a:solidFill>
                          <a:effectLst/>
                          <a:latin typeface="Intel Clear" panose="020B0604020203020204" pitchFamily="34" charset="0"/>
                        </a:rPr>
                        <a:t>covering </a:t>
                      </a:r>
                      <a:r>
                        <a:rPr lang="en-US" sz="1000" b="0" i="0" u="none" strike="noStrike" dirty="0">
                          <a:solidFill>
                            <a:srgbClr val="000000"/>
                          </a:solidFill>
                          <a:effectLst/>
                          <a:latin typeface="Intel Clear" panose="020B0604020203020204" pitchFamily="34" charset="0"/>
                        </a:rPr>
                        <a:t>hole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Not </a:t>
                      </a:r>
                      <a:r>
                        <a:rPr lang="en-US" sz="1000" b="0" i="0" u="none" strike="noStrike" dirty="0" smtClean="0">
                          <a:solidFill>
                            <a:srgbClr val="000000"/>
                          </a:solidFill>
                          <a:effectLst/>
                          <a:latin typeface="Intel Clear" panose="020B0604020203020204" pitchFamily="34" charset="0"/>
                        </a:rPr>
                        <a:t>covering </a:t>
                      </a:r>
                      <a:r>
                        <a:rPr lang="en-US" sz="1000" b="0" i="0" u="none" strike="noStrike" dirty="0">
                          <a:solidFill>
                            <a:srgbClr val="000000"/>
                          </a:solidFill>
                          <a:effectLst/>
                          <a:latin typeface="Intel Clear" panose="020B0604020203020204" pitchFamily="34" charset="0"/>
                        </a:rPr>
                        <a:t>hole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Peak temp</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240-250C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230-250℃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235--250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r>
                        <a:rPr lang="en-US" altLang="zh-CN" sz="1000" b="0" i="0" u="none" strike="noStrike">
                          <a:solidFill>
                            <a:srgbClr val="000000"/>
                          </a:solidFill>
                          <a:effectLst/>
                          <a:latin typeface="Intel Clear" panose="020B0604020203020204" pitchFamily="34" charset="0"/>
                        </a:rPr>
                        <a:t>235~245℃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230~250C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40-100S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50~70s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Ramp Rate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 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1~3 degree C/sec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1--3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a:t>
                      </a:r>
                      <a:r>
                        <a:rPr lang="en-US" altLang="zh-CN" sz="1000" b="0" i="0" u="none" strike="noStrike">
                          <a:solidFill>
                            <a:srgbClr val="000000"/>
                          </a:solidFill>
                          <a:effectLst/>
                          <a:latin typeface="Intel Clear" panose="020B0604020203020204" pitchFamily="34" charset="0"/>
                        </a:rPr>
                        <a:t>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&lt;4C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BGA replacement circle time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 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20 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5 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about 12 mins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15min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293739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29</a:t>
            </a:fld>
            <a:endParaRPr lang="en-US" dirty="0"/>
          </a:p>
        </p:txBody>
      </p:sp>
      <p:sp>
        <p:nvSpPr>
          <p:cNvPr id="8" name="Rectangle 7"/>
          <p:cNvSpPr/>
          <p:nvPr/>
        </p:nvSpPr>
        <p:spPr>
          <a:xfrm>
            <a:off x="76200" y="76200"/>
            <a:ext cx="1282723" cy="400110"/>
          </a:xfrm>
          <a:prstGeom prst="rect">
            <a:avLst/>
          </a:prstGeom>
        </p:spPr>
        <p:txBody>
          <a:bodyPr wrap="none">
            <a:spAutoFit/>
          </a:bodyPr>
          <a:lstStyle/>
          <a:p>
            <a:r>
              <a:rPr lang="en-US" sz="2000" b="1" dirty="0" smtClean="0"/>
              <a:t>Rework</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7" name="Table 6"/>
          <p:cNvGraphicFramePr>
            <a:graphicFrameLocks noGrp="1"/>
          </p:cNvGraphicFramePr>
          <p:nvPr>
            <p:extLst>
              <p:ext uri="{D42A27DB-BD31-4B8C-83A1-F6EECF244321}">
                <p14:modId xmlns:p14="http://schemas.microsoft.com/office/powerpoint/2010/main" val="1983280886"/>
              </p:ext>
            </p:extLst>
          </p:nvPr>
        </p:nvGraphicFramePr>
        <p:xfrm>
          <a:off x="363448" y="614857"/>
          <a:ext cx="8532992" cy="3828467"/>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BGA rework tool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QUICK EA-H15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Intel Clear" panose="020B0604020203020204" pitchFamily="34" charset="0"/>
                        </a:rPr>
                        <a:t>QUICK EA-EH15, Y2015; IR2015 Y2000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Ersa, 20217, Y2019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it-IT" sz="1000" b="0" i="0" u="none" strike="noStrike">
                          <a:solidFill>
                            <a:srgbClr val="000000"/>
                          </a:solidFill>
                          <a:effectLst/>
                          <a:latin typeface="Intel Clear" panose="020B0604020203020204" pitchFamily="34" charset="0"/>
                        </a:rPr>
                        <a:t>Shuttle Star, RW E6250U, 09/2014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Use</a:t>
                      </a:r>
                      <a:r>
                        <a:rPr lang="en-US" sz="1000" b="0" i="0" u="none" strike="noStrike" baseline="0" dirty="0" smtClean="0">
                          <a:solidFill>
                            <a:srgbClr val="000000"/>
                          </a:solidFill>
                          <a:effectLst/>
                          <a:latin typeface="Intel Clear" panose="020B0604020203020204" pitchFamily="34" charset="0"/>
                        </a:rPr>
                        <a:t> paste or flux</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 and flux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 and Flux</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Paste/Flux</a:t>
                      </a:r>
                      <a:r>
                        <a:rPr lang="en-US" sz="1000" b="0" i="0" u="none" strike="noStrike" baseline="0" dirty="0" smtClean="0">
                          <a:solidFill>
                            <a:srgbClr val="000000"/>
                          </a:solidFill>
                          <a:effectLst/>
                          <a:latin typeface="Intel Clear" panose="020B0604020203020204" pitchFamily="34" charset="0"/>
                        </a:rPr>
                        <a:t> brand and formulation</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panose="020B0604020203020204" pitchFamily="34" charset="0"/>
                        </a:rPr>
                        <a:t>ShenMao</a:t>
                      </a:r>
                      <a:r>
                        <a:rPr lang="en-US" sz="1000" b="0" i="0" u="none" strike="noStrike" dirty="0">
                          <a:solidFill>
                            <a:srgbClr val="000000"/>
                          </a:solidFill>
                          <a:effectLst/>
                          <a:latin typeface="Intel Clear" panose="020B0604020203020204" pitchFamily="34" charset="0"/>
                        </a:rPr>
                        <a:t> PF606-P      </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Yunnan Tin YW9-3005-98CY04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 ShenMao PF606-P; Yunnan Tin YW9-3005-98CY04</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Flux: NO CLEAN NC254 (For pad clean)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 ShenMao PF606-p245</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Flux: Loctite 450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Paste: SENJU M705-SMH Type 5.5</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FULX ALPHA-615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Hole covering during</a:t>
                      </a:r>
                      <a:r>
                        <a:rPr lang="en-US" sz="1000" b="0" i="0" u="none" strike="noStrike" baseline="0" dirty="0" smtClean="0">
                          <a:solidFill>
                            <a:srgbClr val="000000"/>
                          </a:solidFill>
                          <a:effectLst/>
                          <a:latin typeface="Intel Clear" panose="020B0604020203020204" pitchFamily="34" charset="0"/>
                        </a:rPr>
                        <a:t> HIMB rework</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Use reflow pallet to cover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Peak temp</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220~248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235~245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235~245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249</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TAL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60-90s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45~70s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10~20s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Ramp Rate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Up: 1~3</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/S, Down:-5~-1</a:t>
                      </a:r>
                      <a:r>
                        <a:rPr lang="en-US" sz="1000" b="0" i="0" u="none" strike="noStrike">
                          <a:solidFill>
                            <a:srgbClr val="000000"/>
                          </a:solidFill>
                          <a:effectLst/>
                          <a:latin typeface="宋体" panose="02010600030101010101" pitchFamily="2" charset="-122"/>
                          <a:ea typeface="宋体" panose="02010600030101010101" pitchFamily="2" charset="-122"/>
                        </a:rPr>
                        <a:t>℃</a:t>
                      </a:r>
                      <a:r>
                        <a:rPr lang="en-US" sz="1000" b="0" i="0" u="none" strike="noStrike">
                          <a:solidFill>
                            <a:srgbClr val="000000"/>
                          </a:solidFill>
                          <a:effectLst/>
                          <a:latin typeface="Intel Clear" panose="020B0604020203020204" pitchFamily="34" charset="0"/>
                        </a:rPr>
                        <a: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1.5-2c/s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Up: 0~3c/s, down: -4~-1mm/s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Same as SMT reflow</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smtClean="0">
                          <a:solidFill>
                            <a:srgbClr val="000000"/>
                          </a:solidFill>
                          <a:effectLst/>
                          <a:latin typeface="Intel Clear" panose="020B0604020203020204" pitchFamily="34" charset="0"/>
                        </a:rPr>
                        <a:t>BGA replacement circle time</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16min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20min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25min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35min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15min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Rounded Rectangle 9"/>
          <p:cNvSpPr/>
          <p:nvPr/>
        </p:nvSpPr>
        <p:spPr bwMode="auto">
          <a:xfrm>
            <a:off x="208982" y="4676651"/>
            <a:ext cx="8841924" cy="476726"/>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QUICK (4/9) and Shuttle Star (2/9) is top 1 and 2, only JDM1 use SRT</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BGA replacement circle time range between 5min to 35min </a:t>
            </a:r>
          </a:p>
        </p:txBody>
      </p:sp>
      <p:sp>
        <p:nvSpPr>
          <p:cNvPr id="11" name="Action Button: Home 10">
            <a:hlinkClick r:id="rId3" action="ppaction://hlinksldjump" highlightClick="1"/>
          </p:cNvPr>
          <p:cNvSpPr/>
          <p:nvPr/>
        </p:nvSpPr>
        <p:spPr bwMode="auto">
          <a:xfrm>
            <a:off x="8320459" y="5543697"/>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23715991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1ABE2FC7-05C3-4E29-9CB5-29E80127A999}"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30</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smtClean="0"/>
              <a:t>PCB</a:t>
            </a:r>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34867182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31</a:t>
            </a:fld>
            <a:endParaRPr lang="en-US" dirty="0"/>
          </a:p>
        </p:txBody>
      </p:sp>
      <p:sp>
        <p:nvSpPr>
          <p:cNvPr id="8" name="Rectangle 7"/>
          <p:cNvSpPr/>
          <p:nvPr/>
        </p:nvSpPr>
        <p:spPr>
          <a:xfrm>
            <a:off x="76200" y="76200"/>
            <a:ext cx="753732" cy="400110"/>
          </a:xfrm>
          <a:prstGeom prst="rect">
            <a:avLst/>
          </a:prstGeom>
        </p:spPr>
        <p:txBody>
          <a:bodyPr wrap="none">
            <a:spAutoFit/>
          </a:bodyPr>
          <a:lstStyle/>
          <a:p>
            <a:r>
              <a:rPr lang="en-US" sz="2000" b="1" dirty="0" smtClean="0"/>
              <a:t>PCB</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719362935"/>
              </p:ext>
            </p:extLst>
          </p:nvPr>
        </p:nvGraphicFramePr>
        <p:xfrm>
          <a:off x="287729" y="476310"/>
          <a:ext cx="8532990" cy="2620865"/>
        </p:xfrm>
        <a:graphic>
          <a:graphicData uri="http://schemas.openxmlformats.org/drawingml/2006/table">
            <a:tbl>
              <a:tblPr firstRow="1" bandRow="1">
                <a:tableStyleId>{5C22544A-7EE6-4342-B048-85BDC9FD1C3A}</a:tableStyleId>
              </a:tblPr>
              <a:tblGrid>
                <a:gridCol w="1422165"/>
                <a:gridCol w="1422165"/>
                <a:gridCol w="1422165"/>
                <a:gridCol w="1422165"/>
                <a:gridCol w="1422165"/>
                <a:gridCol w="142216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PCB thickness Range (mm)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1-1.5mm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0.8mm~1.2mm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0.44-0.85mm, 0.85mm for mother board with CPU</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0.8~1.2mm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PCB type (3,4)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 &amp; Type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type3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 &amp; Type 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Line Width/Spacing (mm or mils)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3mil line width, 3.5mil line spacing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HDI PCB Width/Spacing: 2.3/2.3 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Line width </a:t>
                      </a:r>
                      <a:r>
                        <a:rPr lang="en-US" sz="1000" b="0" i="0" u="none" strike="noStrike" dirty="0" smtClean="0">
                          <a:solidFill>
                            <a:srgbClr val="000000"/>
                          </a:solidFill>
                          <a:effectLst/>
                          <a:latin typeface="Intel Clear" panose="020B0604020203020204" pitchFamily="34" charset="0"/>
                        </a:rPr>
                        <a:t>3mil</a:t>
                      </a:r>
                      <a:r>
                        <a:rPr lang="en-US" sz="1000" b="0" i="0" u="none" strike="noStrike" dirty="0">
                          <a:solidFill>
                            <a:srgbClr val="000000"/>
                          </a:solidFill>
                          <a:effectLst/>
                          <a:latin typeface="Intel Clear" panose="020B0604020203020204" pitchFamily="34" charset="0"/>
                        </a:rPr>
                        <a:t>, Line space </a:t>
                      </a:r>
                      <a:r>
                        <a:rPr lang="en-US" sz="1000" b="0" i="0" u="none" strike="noStrike" dirty="0" smtClean="0">
                          <a:solidFill>
                            <a:srgbClr val="000000"/>
                          </a:solidFill>
                          <a:effectLst/>
                          <a:latin typeface="Intel Clear" panose="020B0604020203020204" pitchFamily="34" charset="0"/>
                        </a:rPr>
                        <a:t>3mil</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Width:75</a:t>
                      </a:r>
                      <a:r>
                        <a:rPr lang="el-GR" sz="1000" b="0" i="0" u="none" strike="noStrike">
                          <a:solidFill>
                            <a:srgbClr val="000000"/>
                          </a:solidFill>
                          <a:effectLst/>
                          <a:latin typeface="Intel Clear" panose="020B0604020203020204" pitchFamily="34" charset="0"/>
                        </a:rPr>
                        <a:t>μ</a:t>
                      </a:r>
                      <a:r>
                        <a:rPr lang="en-US" sz="1000" b="0" i="0" u="none" strike="noStrike">
                          <a:solidFill>
                            <a:srgbClr val="000000"/>
                          </a:solidFill>
                          <a:effectLst/>
                          <a:latin typeface="Intel Clear" panose="020B0604020203020204" pitchFamily="34" charset="0"/>
                        </a:rPr>
                        <a:t>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Spacing:75</a:t>
                      </a:r>
                      <a:r>
                        <a:rPr lang="el-GR" sz="1000" b="0" i="0" u="none" strike="noStrike">
                          <a:solidFill>
                            <a:srgbClr val="000000"/>
                          </a:solidFill>
                          <a:effectLst/>
                          <a:latin typeface="Intel Clear" panose="020B0604020203020204" pitchFamily="34" charset="0"/>
                        </a:rPr>
                        <a:t>μ</a:t>
                      </a:r>
                      <a:r>
                        <a:rPr lang="en-US" sz="1000" b="0" i="0" u="none" strike="noStrike">
                          <a:solidFill>
                            <a:srgbClr val="000000"/>
                          </a:solidFill>
                          <a:effectLst/>
                          <a:latin typeface="Intel Clear" panose="020B0604020203020204" pitchFamily="34" charset="0"/>
                        </a:rPr>
                        <a:t>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zh-CN" altLang="en-US" sz="1000" b="0" i="0" u="none" strike="noStrike">
                          <a:solidFill>
                            <a:srgbClr val="000000"/>
                          </a:solidFill>
                          <a:effectLst/>
                          <a:latin typeface="Intel Clear" panose="020B0604020203020204" pitchFamily="34" charset="0"/>
                        </a:rPr>
                        <a:t>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Smallest BGA pad size (mm) - MD and SMD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SMD, C10M8</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Pitch 0.4 BGA all use SMD pad : Pad 11.7 mil     SRO: 9 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0.2 mm circle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MD pad: 210</a:t>
                      </a:r>
                      <a:r>
                        <a:rPr lang="el-GR" sz="1000" b="0" i="0" u="none" strike="noStrike">
                          <a:solidFill>
                            <a:srgbClr val="000000"/>
                          </a:solidFill>
                          <a:effectLst/>
                          <a:latin typeface="Intel Clear" panose="020B0604020203020204" pitchFamily="34" charset="0"/>
                        </a:rPr>
                        <a:t>μ</a:t>
                      </a:r>
                      <a:r>
                        <a:rPr lang="en-US" sz="1000" b="0" i="0" u="none" strike="noStrike">
                          <a:solidFill>
                            <a:srgbClr val="000000"/>
                          </a:solidFill>
                          <a:effectLst/>
                          <a:latin typeface="Intel Clear" panose="020B0604020203020204" pitchFamily="34" charset="0"/>
                        </a:rPr>
                        <a:t>m</a:t>
                      </a:r>
                      <a:br>
                        <a:rPr lang="en-US" sz="1000" b="0" i="0" u="none" strike="noStrike">
                          <a:solidFill>
                            <a:srgbClr val="000000"/>
                          </a:solidFill>
                          <a:effectLst/>
                          <a:latin typeface="Intel Clear" panose="020B0604020203020204" pitchFamily="34" charset="0"/>
                        </a:rPr>
                      </a:br>
                      <a:r>
                        <a:rPr lang="en-US" sz="1000" b="0" i="0" u="none" strike="noStrike">
                          <a:solidFill>
                            <a:srgbClr val="000000"/>
                          </a:solidFill>
                          <a:effectLst/>
                          <a:latin typeface="Intel Clear" panose="020B0604020203020204" pitchFamily="34" charset="0"/>
                        </a:rPr>
                        <a:t>SMD pad: 250</a:t>
                      </a:r>
                      <a:r>
                        <a:rPr lang="el-GR" sz="1000" b="0" i="0" u="none" strike="noStrike">
                          <a:solidFill>
                            <a:srgbClr val="000000"/>
                          </a:solidFill>
                          <a:effectLst/>
                          <a:latin typeface="Intel Clear" panose="020B0604020203020204" pitchFamily="34" charset="0"/>
                        </a:rPr>
                        <a:t>μ</a:t>
                      </a:r>
                      <a:r>
                        <a:rPr lang="en-US" sz="1000" b="0" i="0" u="none" strike="noStrike">
                          <a:solidFill>
                            <a:srgbClr val="000000"/>
                          </a:solidFill>
                          <a:effectLst/>
                          <a:latin typeface="Intel Clear" panose="020B0604020203020204" pitchFamily="34" charset="0"/>
                        </a:rPr>
                        <a:t>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0.2mm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RIMB and HIMB Capability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 we don't have such design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NPI now, no HVM product before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HIMB - yes; RIMB - 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Surface finish( OSP, </a:t>
                      </a:r>
                      <a:r>
                        <a:rPr lang="en-US" sz="1000" b="0" i="0" u="none" strike="noStrike" dirty="0" err="1">
                          <a:solidFill>
                            <a:srgbClr val="000000"/>
                          </a:solidFill>
                          <a:effectLst/>
                          <a:latin typeface="Intel Clear" panose="020B0604020203020204" pitchFamily="34" charset="0"/>
                        </a:rPr>
                        <a:t>ImAg</a:t>
                      </a:r>
                      <a:r>
                        <a:rPr lang="en-US" sz="1000" b="0" i="0" u="none" strike="noStrike" dirty="0">
                          <a:solidFill>
                            <a:srgbClr val="000000"/>
                          </a:solidFill>
                          <a:effectLst/>
                          <a:latin typeface="Intel Clear" panose="020B0604020203020204" pitchFamily="34" charset="0"/>
                        </a:rPr>
                        <a:t>, ENIG, HASL, Other)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 Intek</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ENIG,OSP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24950379"/>
              </p:ext>
            </p:extLst>
          </p:nvPr>
        </p:nvGraphicFramePr>
        <p:xfrm>
          <a:off x="287729" y="3224573"/>
          <a:ext cx="8532992" cy="2773265"/>
        </p:xfrm>
        <a:graphic>
          <a:graphicData uri="http://schemas.openxmlformats.org/drawingml/2006/table">
            <a:tbl>
              <a:tblPr firstRow="1" bandRow="1">
                <a:tableStyleId>{5C22544A-7EE6-4342-B048-85BDC9FD1C3A}</a:tableStyleId>
              </a:tblPr>
              <a:tblGrid>
                <a:gridCol w="1066624"/>
                <a:gridCol w="1066624"/>
                <a:gridCol w="1066624"/>
                <a:gridCol w="1066624"/>
                <a:gridCol w="1066624"/>
                <a:gridCol w="1066624"/>
                <a:gridCol w="1066624"/>
                <a:gridCol w="106662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PCB thickness Range (mm)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0.9~1.1mm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1.1~1.3mm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1.0mm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0.6mm~1.4mm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PCB type (3,4)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Type 3 , Type4 </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Line Width/Spacing (mm or mils)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Follow layout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Width: 2.5mil, Space: 3mil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Width: 4mil, Space: 4mil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3.1mil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pt-BR" sz="1000" b="0" i="0" u="none" strike="noStrike">
                          <a:solidFill>
                            <a:srgbClr val="000000"/>
                          </a:solidFill>
                          <a:effectLst/>
                          <a:latin typeface="Intel Clear" panose="020B0604020203020204" pitchFamily="34" charset="0"/>
                        </a:rPr>
                        <a:t>MLB PCB 3/3mil HDI 2.5/2.5mil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Smallest BGA pad size (mm) - MD and SMD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Follow layout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Follow vendor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0.23mm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0.254mm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MD: 0.23mm, SMD: 0.33mm</a:t>
                      </a:r>
                      <a:r>
                        <a:rPr lang="en-US" sz="1000" b="0" i="0" u="none" strike="noStrike">
                          <a:solidFill>
                            <a:srgbClr val="000000"/>
                          </a:solidFill>
                          <a:effectLst/>
                          <a:latin typeface="宋体" panose="02010600030101010101" pitchFamily="2" charset="-122"/>
                          <a:ea typeface="宋体" panose="02010600030101010101" pitchFamily="2" charset="-122"/>
                        </a:rPr>
                        <a:t/>
                      </a:r>
                      <a:br>
                        <a:rPr lang="en-US" sz="1000" b="0" i="0" u="none" strike="noStrike">
                          <a:solidFill>
                            <a:srgbClr val="000000"/>
                          </a:solidFill>
                          <a:effectLst/>
                          <a:latin typeface="宋体" panose="02010600030101010101" pitchFamily="2" charset="-122"/>
                          <a:ea typeface="宋体" panose="02010600030101010101" pitchFamily="2" charset="-122"/>
                        </a:rPr>
                      </a:b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RIMB and HIMB Capability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HIMB: Yes, RIMB: No</a:t>
                      </a:r>
                      <a:r>
                        <a:rPr lang="en-US" sz="1000" b="0" i="0" u="none" strike="noStrike">
                          <a:solidFill>
                            <a:srgbClr val="000000"/>
                          </a:solidFill>
                          <a:effectLst/>
                          <a:latin typeface="宋体" panose="02010600030101010101" pitchFamily="2" charset="-122"/>
                          <a:ea typeface="宋体" panose="02010600030101010101" pitchFamily="2" charset="-122"/>
                        </a:rPr>
                        <a:t/>
                      </a:r>
                      <a:br>
                        <a:rPr lang="en-US" sz="1000" b="0" i="0" u="none" strike="noStrike">
                          <a:solidFill>
                            <a:srgbClr val="000000"/>
                          </a:solidFill>
                          <a:effectLst/>
                          <a:latin typeface="宋体" panose="02010600030101010101" pitchFamily="2" charset="-122"/>
                          <a:ea typeface="宋体" panose="02010600030101010101" pitchFamily="2" charset="-122"/>
                        </a:rPr>
                      </a:br>
                      <a:endParaRPr lang="en-US" sz="1000" b="0" i="0" u="none" strike="noStrike">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Surface finish( OSP, </a:t>
                      </a:r>
                      <a:r>
                        <a:rPr lang="en-US" sz="1000" b="0" i="0" u="none" strike="noStrike" dirty="0" err="1">
                          <a:solidFill>
                            <a:srgbClr val="000000"/>
                          </a:solidFill>
                          <a:effectLst/>
                          <a:latin typeface="Intel Clear" panose="020B0604020203020204" pitchFamily="34" charset="0"/>
                        </a:rPr>
                        <a:t>ImAg</a:t>
                      </a:r>
                      <a:r>
                        <a:rPr lang="en-US" sz="1000" b="0" i="0" u="none" strike="noStrike" dirty="0">
                          <a:solidFill>
                            <a:srgbClr val="000000"/>
                          </a:solidFill>
                          <a:effectLst/>
                          <a:latin typeface="Intel Clear" panose="020B0604020203020204" pitchFamily="34" charset="0"/>
                        </a:rPr>
                        <a:t>, ENIG, HASL, Other)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0SP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OSP,ENIG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OSP ， ENIG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OSP</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198171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1ABE2FC7-05C3-4E29-9CB5-29E80127A999}"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32</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smtClean="0"/>
              <a:t>LTS</a:t>
            </a:r>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37273968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CFC3799B-C3A7-4AD7-B835-49C51ED163C0}" type="datetime1">
              <a:rPr lang="en-US" sz="800" smtClean="0">
                <a:solidFill>
                  <a:srgbClr val="FFFFFF"/>
                </a:solidFill>
              </a:rPr>
              <a:t>11/7/2019</a:t>
            </a:fld>
            <a:endParaRPr lang="en-US" sz="800" dirty="0" smtClean="0">
              <a:solidFill>
                <a:srgbClr val="FFFFFF"/>
              </a:solidFill>
            </a:endParaRP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42D8B441-F742-4634-AB10-E80DE781C58B}" type="slidenum">
              <a:rPr lang="en-US" sz="800" smtClean="0">
                <a:solidFill>
                  <a:schemeClr val="bg1"/>
                </a:solidFill>
              </a:rPr>
              <a:pPr/>
              <a:t>33</a:t>
            </a:fld>
            <a:endParaRPr lang="en-US" sz="800" dirty="0" smtClean="0">
              <a:solidFill>
                <a:schemeClr val="bg1"/>
              </a:solidFill>
            </a:endParaRPr>
          </a:p>
        </p:txBody>
      </p:sp>
      <p:sp>
        <p:nvSpPr>
          <p:cNvPr id="4100"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4101" name="Rectangle 2"/>
          <p:cNvSpPr>
            <a:spLocks noGrp="1" noChangeArrowheads="1"/>
          </p:cNvSpPr>
          <p:nvPr>
            <p:ph type="title"/>
          </p:nvPr>
        </p:nvSpPr>
        <p:spPr>
          <a:xfrm>
            <a:off x="152400" y="104774"/>
            <a:ext cx="8237538" cy="612775"/>
          </a:xfrm>
        </p:spPr>
        <p:txBody>
          <a:bodyPr/>
          <a:lstStyle/>
          <a:p>
            <a:pPr eaLnBrk="1" hangingPunct="1"/>
            <a:r>
              <a:rPr lang="en-US" dirty="0" smtClean="0"/>
              <a:t>LTS</a:t>
            </a:r>
            <a:endParaRPr lang="en-US" dirty="0" smtClean="0">
              <a:solidFill>
                <a:srgbClr val="FF0000"/>
              </a:solidFill>
            </a:endParaRPr>
          </a:p>
        </p:txBody>
      </p:sp>
      <p:sp>
        <p:nvSpPr>
          <p:cNvPr id="4102" name="Rectangle 3"/>
          <p:cNvSpPr>
            <a:spLocks noGrp="1" noChangeArrowheads="1"/>
          </p:cNvSpPr>
          <p:nvPr>
            <p:ph type="body" idx="1"/>
          </p:nvPr>
        </p:nvSpPr>
        <p:spPr>
          <a:xfrm>
            <a:off x="169816" y="578755"/>
            <a:ext cx="8669383" cy="5049837"/>
          </a:xfrm>
        </p:spPr>
        <p:txBody>
          <a:bodyPr/>
          <a:lstStyle/>
          <a:p>
            <a:pPr marL="0" indent="0" eaLnBrk="1" hangingPunct="1">
              <a:spcBef>
                <a:spcPct val="40000"/>
              </a:spcBef>
              <a:buFont typeface="Wingdings" pitchFamily="2" charset="2"/>
              <a:buNone/>
            </a:pPr>
            <a:r>
              <a:rPr lang="en-US" sz="1600" dirty="0" smtClean="0">
                <a:solidFill>
                  <a:srgbClr val="000000"/>
                </a:solidFill>
              </a:rPr>
              <a:t>Among the 12 customers we surveyed, only LCFC in HVM, other customers either no reply those question, or reply based on their common sense or own study</a:t>
            </a:r>
          </a:p>
        </p:txBody>
      </p:sp>
      <p:graphicFrame>
        <p:nvGraphicFramePr>
          <p:cNvPr id="7" name="Table 6"/>
          <p:cNvGraphicFramePr>
            <a:graphicFrameLocks noGrp="1"/>
          </p:cNvGraphicFramePr>
          <p:nvPr>
            <p:extLst>
              <p:ext uri="{D42A27DB-BD31-4B8C-83A1-F6EECF244321}">
                <p14:modId xmlns:p14="http://schemas.microsoft.com/office/powerpoint/2010/main" val="2992989854"/>
              </p:ext>
            </p:extLst>
          </p:nvPr>
        </p:nvGraphicFramePr>
        <p:xfrm>
          <a:off x="275312" y="1446895"/>
          <a:ext cx="8458389" cy="4017314"/>
        </p:xfrm>
        <a:graphic>
          <a:graphicData uri="http://schemas.openxmlformats.org/drawingml/2006/table">
            <a:tbl>
              <a:tblPr firstRow="1" bandRow="1">
                <a:tableStyleId>{5C22544A-7EE6-4342-B048-85BDC9FD1C3A}</a:tableStyleId>
              </a:tblPr>
              <a:tblGrid>
                <a:gridCol w="1947160"/>
                <a:gridCol w="1563347"/>
                <a:gridCol w="1649294"/>
                <a:gridCol w="1649294"/>
                <a:gridCol w="1649294"/>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Which OEM have discussed on LTS validation or implementation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Think pad all introduced LTS from 2018.05 at Intel platform</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What are the pastes you are currently evaluating or tested with confident? What is your build plans or currently utlizing?</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We </a:t>
                      </a:r>
                      <a:r>
                        <a:rPr lang="en-US" sz="1000" b="0" i="0" u="none" strike="noStrike" dirty="0" smtClean="0">
                          <a:solidFill>
                            <a:srgbClr val="000000"/>
                          </a:solidFill>
                          <a:effectLst/>
                          <a:latin typeface="Intel Clear" panose="020B0604020203020204" pitchFamily="34" charset="0"/>
                        </a:rPr>
                        <a:t>tested </a:t>
                      </a:r>
                      <a:r>
                        <a:rPr lang="en-US" sz="1000" b="0" i="0" u="none" strike="noStrike" dirty="0">
                          <a:solidFill>
                            <a:srgbClr val="000000"/>
                          </a:solidFill>
                          <a:effectLst/>
                          <a:latin typeface="Intel Clear" panose="020B0604020203020204" pitchFamily="34" charset="0"/>
                        </a:rPr>
                        <a:t>3 LTS paste, but not use in production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qualifying </a:t>
                      </a:r>
                      <a:r>
                        <a:rPr lang="en-US" sz="1000" b="0" i="0" u="none" strike="noStrike" dirty="0">
                          <a:solidFill>
                            <a:srgbClr val="000000"/>
                          </a:solidFill>
                          <a:effectLst/>
                          <a:latin typeface="Intel Clear" panose="020B0604020203020204" pitchFamily="34" charset="0"/>
                        </a:rPr>
                        <a:t>: Alpha OM550LP-HRL2</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qualified: </a:t>
                      </a:r>
                      <a:r>
                        <a:rPr lang="en-US" sz="1000" b="0" i="0" u="none" strike="noStrike" dirty="0" err="1">
                          <a:solidFill>
                            <a:srgbClr val="000000"/>
                          </a:solidFill>
                          <a:effectLst/>
                          <a:latin typeface="Intel Clear" panose="020B0604020203020204" pitchFamily="34" charset="0"/>
                        </a:rPr>
                        <a:t>Senju</a:t>
                      </a:r>
                      <a:r>
                        <a:rPr lang="en-US" sz="1000" b="0" i="0" u="none" strike="noStrike" dirty="0">
                          <a:solidFill>
                            <a:srgbClr val="000000"/>
                          </a:solidFill>
                          <a:effectLst/>
                          <a:latin typeface="Intel Clear" panose="020B0604020203020204" pitchFamily="34" charset="0"/>
                        </a:rPr>
                        <a:t> L28-143HF(L)Type4</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What is your expectation of benefits for LTS adoption / in order for you to adopt LTS?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To have similar reliability with SAC joint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Reliability same as SAC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Reliability same as SAC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Do you see obstacle / challenges in LTS implementation if LTS can meets the rel performance of your customers?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cost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CPU </a:t>
                      </a:r>
                      <a:r>
                        <a:rPr lang="en-US" sz="1000" b="0" i="0" u="none" strike="noStrike" dirty="0" smtClean="0">
                          <a:solidFill>
                            <a:srgbClr val="000000"/>
                          </a:solidFill>
                          <a:effectLst/>
                          <a:latin typeface="Intel Clear" panose="020B0604020203020204" pitchFamily="34" charset="0"/>
                        </a:rPr>
                        <a:t>solder ball </a:t>
                      </a:r>
                      <a:r>
                        <a:rPr lang="en-US" sz="1000" b="0" i="0" u="none" strike="noStrike" dirty="0">
                          <a:solidFill>
                            <a:srgbClr val="000000"/>
                          </a:solidFill>
                          <a:effectLst/>
                          <a:latin typeface="Intel Clear" panose="020B0604020203020204" pitchFamily="34" charset="0"/>
                        </a:rPr>
                        <a:t>are still SAC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Price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Have you utilize LTS for your products (any type of products)?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we just </a:t>
                      </a:r>
                      <a:r>
                        <a:rPr lang="en-US" sz="1000" b="0" i="0" u="none" strike="noStrike" dirty="0" smtClean="0">
                          <a:solidFill>
                            <a:srgbClr val="000000"/>
                          </a:solidFill>
                          <a:effectLst/>
                          <a:latin typeface="Intel Clear" panose="020B0604020203020204" pitchFamily="34" charset="0"/>
                        </a:rPr>
                        <a:t>tested </a:t>
                      </a:r>
                      <a:r>
                        <a:rPr lang="en-US" sz="1000" b="0" i="0" u="none" strike="noStrike" dirty="0">
                          <a:solidFill>
                            <a:srgbClr val="000000"/>
                          </a:solidFill>
                          <a:effectLst/>
                          <a:latin typeface="Intel Clear" panose="020B0604020203020204" pitchFamily="34" charset="0"/>
                        </a:rPr>
                        <a:t>it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If you implement LTS, do you prefer to have  dedicated line for LTS or switch between LTS and SAC designs on the same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Dedicate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Dedicate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Dedicate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Same line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kern="1200" dirty="0">
                          <a:solidFill>
                            <a:srgbClr val="000000"/>
                          </a:solidFill>
                          <a:effectLst/>
                          <a:latin typeface="Intel Clear" panose="020B0604020203020204" pitchFamily="34" charset="0"/>
                          <a:ea typeface="+mn-ea"/>
                          <a:cs typeface="+mn-cs"/>
                        </a:rPr>
                        <a:t>Are there any classes of components that with special concern to you if building with LTS?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Fine pitch component, like QFN</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smtClean="0">
                          <a:solidFill>
                            <a:srgbClr val="000000"/>
                          </a:solidFill>
                          <a:effectLst/>
                          <a:latin typeface="Intel Clear" panose="020B0604020203020204" pitchFamily="34" charset="0"/>
                        </a:rPr>
                        <a:t>No, LCFC will keep on monitoring and let us know</a:t>
                      </a:r>
                      <a:r>
                        <a:rPr lang="en-US" sz="1000" b="0" i="0" u="none" strike="noStrike" baseline="0" dirty="0" smtClean="0">
                          <a:solidFill>
                            <a:srgbClr val="000000"/>
                          </a:solidFill>
                          <a:effectLst/>
                          <a:latin typeface="Intel Clear" panose="020B0604020203020204" pitchFamily="34" charset="0"/>
                        </a:rPr>
                        <a:t> if there are any.</a:t>
                      </a:r>
                      <a:endParaRPr lang="en-US" sz="1000" b="0" i="0" u="none" strike="noStrike" dirty="0">
                        <a:solidFill>
                          <a:srgbClr val="000000"/>
                        </a:solidFill>
                        <a:effectLst/>
                        <a:latin typeface="Intel Clear" panose="020B0604020203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Pin through hole connector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947620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CFC3799B-C3A7-4AD7-B835-49C51ED163C0}" type="datetime1">
              <a:rPr lang="en-US" sz="800" smtClean="0">
                <a:solidFill>
                  <a:srgbClr val="FFFFFF"/>
                </a:solidFill>
              </a:rPr>
              <a:t>11/7/2019</a:t>
            </a:fld>
            <a:endParaRPr lang="en-US" sz="800" dirty="0" smtClean="0">
              <a:solidFill>
                <a:srgbClr val="FFFFFF"/>
              </a:solidFill>
            </a:endParaRP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42D8B441-F742-4634-AB10-E80DE781C58B}" type="slidenum">
              <a:rPr lang="en-US" sz="800" smtClean="0">
                <a:solidFill>
                  <a:schemeClr val="bg1"/>
                </a:solidFill>
              </a:rPr>
              <a:pPr/>
              <a:t>34</a:t>
            </a:fld>
            <a:endParaRPr lang="en-US" sz="800" dirty="0" smtClean="0">
              <a:solidFill>
                <a:schemeClr val="bg1"/>
              </a:solidFill>
            </a:endParaRPr>
          </a:p>
        </p:txBody>
      </p:sp>
      <p:sp>
        <p:nvSpPr>
          <p:cNvPr id="4100"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
        <p:nvSpPr>
          <p:cNvPr id="4101" name="Rectangle 2"/>
          <p:cNvSpPr>
            <a:spLocks noGrp="1" noChangeArrowheads="1"/>
          </p:cNvSpPr>
          <p:nvPr>
            <p:ph type="title"/>
          </p:nvPr>
        </p:nvSpPr>
        <p:spPr>
          <a:xfrm>
            <a:off x="152400" y="104774"/>
            <a:ext cx="8237538" cy="612775"/>
          </a:xfrm>
        </p:spPr>
        <p:txBody>
          <a:bodyPr/>
          <a:lstStyle/>
          <a:p>
            <a:pPr eaLnBrk="1" hangingPunct="1"/>
            <a:r>
              <a:rPr lang="en-US" dirty="0" smtClean="0"/>
              <a:t>LTS</a:t>
            </a:r>
            <a:endParaRPr lang="en-US" dirty="0" smtClean="0">
              <a:solidFill>
                <a:srgbClr val="FF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670379100"/>
              </p:ext>
            </p:extLst>
          </p:nvPr>
        </p:nvGraphicFramePr>
        <p:xfrm>
          <a:off x="248112" y="717549"/>
          <a:ext cx="8579900" cy="4150664"/>
        </p:xfrm>
        <a:graphic>
          <a:graphicData uri="http://schemas.openxmlformats.org/drawingml/2006/table">
            <a:tbl>
              <a:tblPr firstRow="1" bandRow="1">
                <a:tableStyleId>{5C22544A-7EE6-4342-B048-85BDC9FD1C3A}</a:tableStyleId>
              </a:tblPr>
              <a:tblGrid>
                <a:gridCol w="1349779"/>
                <a:gridCol w="1634836"/>
                <a:gridCol w="1939637"/>
                <a:gridCol w="1874981"/>
                <a:gridCol w="1780667"/>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What is the minimum number of LTS paste options you would need to qualify to support an HVM product?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3</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panose="020B0604020203020204" pitchFamily="34" charset="0"/>
                        </a:rPr>
                        <a:t>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altLang="zh-CN" sz="1000" b="0" i="0" u="none" strike="noStrike">
                          <a:solidFill>
                            <a:srgbClr val="000000"/>
                          </a:solidFill>
                          <a:effectLst/>
                          <a:latin typeface="Intel Clear" panose="020B0604020203020204" pitchFamily="34" charset="0"/>
                        </a:rPr>
                        <a:t>2</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Would you consider LTS to be benifitial if the solder paste pricing is still the same with SAC?</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Depends on market acceptance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 current LTS have short </a:t>
                      </a:r>
                      <a:r>
                        <a:rPr lang="en-US" sz="1000" b="0" i="0" u="none" strike="noStrike" dirty="0" smtClean="0">
                          <a:solidFill>
                            <a:srgbClr val="000000"/>
                          </a:solidFill>
                          <a:effectLst/>
                          <a:latin typeface="Intel Clear" panose="020B0604020203020204" pitchFamily="34" charset="0"/>
                        </a:rPr>
                        <a:t>life </a:t>
                      </a:r>
                      <a:r>
                        <a:rPr lang="en-US" sz="1000" b="0" i="0" u="none" strike="noStrike" dirty="0">
                          <a:solidFill>
                            <a:srgbClr val="000000"/>
                          </a:solidFill>
                          <a:effectLst/>
                          <a:latin typeface="Intel Clear" panose="020B0604020203020204" pitchFamily="34" charset="0"/>
                        </a:rPr>
                        <a:t>span compare to SAC </a:t>
                      </a:r>
                      <a:r>
                        <a:rPr lang="en-US" sz="1000" b="0" i="0" u="none" strike="noStrike" dirty="0" smtClean="0">
                          <a:solidFill>
                            <a:srgbClr val="000000"/>
                          </a:solidFill>
                          <a:effectLst/>
                          <a:latin typeface="Intel Clear" panose="020B0604020203020204" pitchFamily="34" charset="0"/>
                        </a:rPr>
                        <a:t>paste </a:t>
                      </a:r>
                      <a:r>
                        <a:rPr lang="en-US" sz="1000" b="0" i="0" u="none" strike="noStrike" dirty="0">
                          <a:solidFill>
                            <a:srgbClr val="000000"/>
                          </a:solidFill>
                          <a:effectLst/>
                          <a:latin typeface="Intel Clear" panose="020B0604020203020204" pitchFamily="34" charset="0"/>
                        </a:rPr>
                        <a:t>(per paste vendor recommendation:1. Short Stencil life (LTS 0.5hr, SAC 7~8 hour), 2. Short PCB life (LTS 1hr, SAC 2hours), 3. After open the jar: LTS: 8hours; SAC 12hours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Should be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Only if same relibility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Any restriction on only use Halogen free solder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 need use HF paste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Yes</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Any restriction on Antimony (</a:t>
                      </a:r>
                      <a:r>
                        <a:rPr lang="zh-CN" altLang="en-US" sz="1000" b="0" i="0" u="none" strike="noStrike">
                          <a:solidFill>
                            <a:srgbClr val="000000"/>
                          </a:solidFill>
                          <a:effectLst/>
                          <a:latin typeface="宋体" panose="02010600030101010101" pitchFamily="2" charset="-122"/>
                          <a:ea typeface="宋体" panose="02010600030101010101" pitchFamily="2" charset="-122"/>
                        </a:rPr>
                        <a:t>锑</a:t>
                      </a:r>
                      <a:r>
                        <a:rPr lang="zh-CN" altLang="en-US" sz="1000" b="0" i="0" u="none" strike="noStrike">
                          <a:solidFill>
                            <a:srgbClr val="000000"/>
                          </a:solidFill>
                          <a:effectLst/>
                          <a:latin typeface="Intel Clear" panose="020B0604020203020204" pitchFamily="34" charset="0"/>
                        </a:rPr>
                        <a:t> </a:t>
                      </a:r>
                      <a:r>
                        <a:rPr lang="en-US" sz="1000" b="0" i="0" u="none" strike="noStrike">
                          <a:solidFill>
                            <a:srgbClr val="000000"/>
                          </a:solidFill>
                          <a:effectLst/>
                          <a:latin typeface="Intel Clear" panose="020B0604020203020204" pitchFamily="34" charset="0"/>
                        </a:rPr>
                        <a:t>Sb) content in solder paste? and to what level?</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LTS Solder Paste model (Vendor Name, Formulation Name, Particle Mesh Size)</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Alpha HRL1 alloy</a:t>
                      </a:r>
                      <a:br>
                        <a:rPr lang="en-US" sz="1000" b="0" i="0" u="none" strike="noStrike" dirty="0">
                          <a:solidFill>
                            <a:srgbClr val="000000"/>
                          </a:solidFill>
                          <a:effectLst/>
                          <a:latin typeface="Intel Clear" panose="020B0604020203020204" pitchFamily="34" charset="0"/>
                        </a:rPr>
                      </a:br>
                      <a:r>
                        <a:rPr lang="en-US" sz="1000" b="0" i="0" u="none" strike="noStrike" dirty="0" smtClean="0">
                          <a:solidFill>
                            <a:srgbClr val="000000"/>
                          </a:solidFill>
                          <a:effectLst/>
                          <a:latin typeface="Intel Clear" panose="020B0604020203020204" pitchFamily="34" charset="0"/>
                        </a:rPr>
                        <a:t>Tamura </a:t>
                      </a:r>
                      <a:r>
                        <a:rPr lang="en-US" sz="1000" b="0" i="0" u="none" strike="noStrike" dirty="0">
                          <a:solidFill>
                            <a:srgbClr val="000000"/>
                          </a:solidFill>
                          <a:effectLst/>
                          <a:latin typeface="Intel Clear" panose="020B0604020203020204" pitchFamily="34" charset="0"/>
                        </a:rPr>
                        <a:t>Sn Bi58</a:t>
                      </a:r>
                      <a:br>
                        <a:rPr lang="en-US" sz="1000" b="0" i="0" u="none" strike="noStrike" dirty="0">
                          <a:solidFill>
                            <a:srgbClr val="000000"/>
                          </a:solidFill>
                          <a:effectLst/>
                          <a:latin typeface="Intel Clear" panose="020B0604020203020204" pitchFamily="34" charset="0"/>
                        </a:rPr>
                      </a:br>
                      <a:r>
                        <a:rPr lang="en-US" sz="1000" b="0" i="0" u="none" strike="noStrike" dirty="0">
                          <a:solidFill>
                            <a:srgbClr val="000000"/>
                          </a:solidFill>
                          <a:effectLst/>
                          <a:latin typeface="Intel Clear" panose="020B0604020203020204" pitchFamily="34" charset="0"/>
                        </a:rPr>
                        <a:t>Yunnan </a:t>
                      </a:r>
                      <a:r>
                        <a:rPr lang="en-US" sz="1000" b="0" i="0" u="none" strike="noStrike" dirty="0" smtClean="0">
                          <a:solidFill>
                            <a:srgbClr val="000000"/>
                          </a:solidFill>
                          <a:effectLst/>
                          <a:latin typeface="Intel Clear" panose="020B0604020203020204" pitchFamily="34" charset="0"/>
                        </a:rPr>
                        <a:t>tin Sn </a:t>
                      </a:r>
                      <a:r>
                        <a:rPr lang="en-US" sz="1000" b="0" i="0" u="none" strike="noStrike" dirty="0">
                          <a:solidFill>
                            <a:srgbClr val="000000"/>
                          </a:solidFill>
                          <a:effectLst/>
                          <a:latin typeface="Intel Clear" panose="020B0604020203020204" pitchFamily="34" charset="0"/>
                        </a:rPr>
                        <a:t>Bi57</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panose="020B0604020203020204" pitchFamily="34" charset="0"/>
                        </a:rPr>
                        <a:t>Senju</a:t>
                      </a:r>
                      <a:r>
                        <a:rPr lang="en-US" sz="1000" b="0" i="0" u="none" strike="noStrike" dirty="0">
                          <a:solidFill>
                            <a:srgbClr val="000000"/>
                          </a:solidFill>
                          <a:effectLst/>
                          <a:latin typeface="Intel Clear" panose="020B0604020203020204" pitchFamily="34" charset="0"/>
                        </a:rPr>
                        <a:t> L28-143HF(L)Type4, 0.43 and 0.35 pitch use type 5</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Action Button: Home 7">
            <a:hlinkClick r:id="rId3" action="ppaction://hlinksldjump" highlightClick="1"/>
          </p:cNvPr>
          <p:cNvSpPr/>
          <p:nvPr/>
        </p:nvSpPr>
        <p:spPr bwMode="auto">
          <a:xfrm>
            <a:off x="8320459" y="5543697"/>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18260572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1ABE2FC7-05C3-4E29-9CB5-29E80127A999}"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35</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smtClean="0"/>
              <a:t>THERMAL MODULE ASSEMBLY/DISASSEMBLY</a:t>
            </a:r>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17282498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BFF1028-66B5-49AE-B47F-975F676A8A28}"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36</a:t>
            </a:fld>
            <a:endParaRPr lang="en-US" dirty="0"/>
          </a:p>
        </p:txBody>
      </p:sp>
      <p:sp>
        <p:nvSpPr>
          <p:cNvPr id="8" name="Rectangle 7"/>
          <p:cNvSpPr/>
          <p:nvPr/>
        </p:nvSpPr>
        <p:spPr>
          <a:xfrm>
            <a:off x="76200" y="76200"/>
            <a:ext cx="5913798" cy="400110"/>
          </a:xfrm>
          <a:prstGeom prst="rect">
            <a:avLst/>
          </a:prstGeom>
        </p:spPr>
        <p:txBody>
          <a:bodyPr wrap="none">
            <a:spAutoFit/>
          </a:bodyPr>
          <a:lstStyle/>
          <a:p>
            <a:r>
              <a:rPr lang="en-US" sz="2000" b="1" dirty="0" smtClean="0"/>
              <a:t>Thermal module assembly/disassembly</a:t>
            </a:r>
            <a:endParaRPr lang="en-US" sz="2000" b="1" dirty="0"/>
          </a:p>
        </p:txBody>
      </p:sp>
      <p:sp>
        <p:nvSpPr>
          <p:cNvPr id="9"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graphicFrame>
        <p:nvGraphicFramePr>
          <p:cNvPr id="12" name="Table 11"/>
          <p:cNvGraphicFramePr>
            <a:graphicFrameLocks noGrp="1"/>
          </p:cNvGraphicFramePr>
          <p:nvPr>
            <p:extLst>
              <p:ext uri="{D42A27DB-BD31-4B8C-83A1-F6EECF244321}">
                <p14:modId xmlns:p14="http://schemas.microsoft.com/office/powerpoint/2010/main" val="2989163251"/>
              </p:ext>
            </p:extLst>
          </p:nvPr>
        </p:nvGraphicFramePr>
        <p:xfrm>
          <a:off x="176893" y="569097"/>
          <a:ext cx="8532992" cy="1845614"/>
        </p:xfrm>
        <a:graphic>
          <a:graphicData uri="http://schemas.openxmlformats.org/drawingml/2006/table">
            <a:tbl>
              <a:tblPr firstRow="1" bandRow="1">
                <a:tableStyleId>{5C22544A-7EE6-4342-B048-85BDC9FD1C3A}</a:tableStyleId>
              </a:tblPr>
              <a:tblGrid>
                <a:gridCol w="2067193"/>
                <a:gridCol w="1057927"/>
                <a:gridCol w="1141376"/>
                <a:gridCol w="1805709"/>
                <a:gridCol w="1180722"/>
                <a:gridCol w="1280065"/>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Quanta</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Inventec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LCFC</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smtClean="0">
                          <a:solidFill>
                            <a:srgbClr val="002060"/>
                          </a:solidFill>
                          <a:latin typeface="+mn-lt"/>
                        </a:rPr>
                        <a:t>JDM1</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Do you have process to evaluate die crack during thermal solution assembly/dis-assembly?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RD will verify it at RD lab. Factory just follow the process instruction from RD</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How do you evaluate die pressure during thermal solution assembly/dis-assembly?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Pessure paper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Pressure paper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Pressure paper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If you are using film sensor,  do you follow Intel's recommended process to condition, equalize and calibrate the film sensor?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3" name="Rounded Rectangle 12"/>
          <p:cNvSpPr/>
          <p:nvPr/>
        </p:nvSpPr>
        <p:spPr bwMode="auto">
          <a:xfrm>
            <a:off x="76200" y="4863819"/>
            <a:ext cx="8841924" cy="953453"/>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t" anchorCtr="0" compatLnSpc="1">
            <a:prstTxWarp prst="textNoShape">
              <a:avLst/>
            </a:prstTxWarp>
            <a:spAutoFit/>
          </a:bodyPr>
          <a:lstStyle/>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None of the ODMs have thin </a:t>
            </a:r>
            <a:r>
              <a:rPr lang="en-US" sz="1400" dirty="0">
                <a:cs typeface="Arial" pitchFamily="34" charset="0"/>
              </a:rPr>
              <a:t>f</a:t>
            </a:r>
            <a:r>
              <a:rPr lang="en-US" sz="1400" dirty="0" smtClean="0">
                <a:cs typeface="Arial" pitchFamily="34" charset="0"/>
              </a:rPr>
              <a:t>ilm pressure sensor capability and die crack risk evaluation procedure in their factory</a:t>
            </a:r>
          </a:p>
          <a:p>
            <a:pPr marL="285750" marR="0" indent="-28575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400" dirty="0" smtClean="0">
                <a:cs typeface="Arial" pitchFamily="34" charset="0"/>
              </a:rPr>
              <a:t>ODM RD at TW (or elsewhere) can do the measurement during </a:t>
            </a:r>
            <a:r>
              <a:rPr lang="en-US" sz="1400" dirty="0">
                <a:cs typeface="Arial" pitchFamily="34" charset="0"/>
              </a:rPr>
              <a:t>t</a:t>
            </a:r>
            <a:r>
              <a:rPr lang="en-US" sz="1400" dirty="0" smtClean="0">
                <a:cs typeface="Arial" pitchFamily="34" charset="0"/>
              </a:rPr>
              <a:t>hermal module design and provide assembly SOP to factory team</a:t>
            </a:r>
          </a:p>
        </p:txBody>
      </p:sp>
      <p:graphicFrame>
        <p:nvGraphicFramePr>
          <p:cNvPr id="10" name="Table 9"/>
          <p:cNvGraphicFramePr>
            <a:graphicFrameLocks noGrp="1"/>
          </p:cNvGraphicFramePr>
          <p:nvPr>
            <p:extLst>
              <p:ext uri="{D42A27DB-BD31-4B8C-83A1-F6EECF244321}">
                <p14:modId xmlns:p14="http://schemas.microsoft.com/office/powerpoint/2010/main" val="1782328723"/>
              </p:ext>
            </p:extLst>
          </p:nvPr>
        </p:nvGraphicFramePr>
        <p:xfrm>
          <a:off x="176893" y="2716458"/>
          <a:ext cx="8532992" cy="1845614"/>
        </p:xfrm>
        <a:graphic>
          <a:graphicData uri="http://schemas.openxmlformats.org/drawingml/2006/table">
            <a:tbl>
              <a:tblPr firstRow="1" bandRow="1">
                <a:tableStyleId>{5C22544A-7EE6-4342-B048-85BDC9FD1C3A}</a:tableStyleId>
              </a:tblPr>
              <a:tblGrid>
                <a:gridCol w="2039834"/>
                <a:gridCol w="1006764"/>
                <a:gridCol w="1052945"/>
                <a:gridCol w="895928"/>
                <a:gridCol w="748145"/>
                <a:gridCol w="822036"/>
                <a:gridCol w="895928"/>
                <a:gridCol w="1071412"/>
              </a:tblGrid>
              <a:tr h="293039">
                <a:tc>
                  <a:txBody>
                    <a:bodyPr/>
                    <a:lstStyle/>
                    <a:p>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CD</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Compal</a:t>
                      </a:r>
                      <a:r>
                        <a:rPr lang="en-US" sz="1000" baseline="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Huaqin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MSI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err="1" smtClean="0">
                          <a:solidFill>
                            <a:srgbClr val="002060"/>
                          </a:solidFill>
                          <a:latin typeface="+mn-lt"/>
                        </a:rPr>
                        <a:t>Pega</a:t>
                      </a:r>
                      <a:r>
                        <a:rPr lang="en-US" sz="1000" dirty="0" smtClean="0">
                          <a:solidFill>
                            <a:srgbClr val="002060"/>
                          </a:solidFill>
                          <a:latin typeface="+mn-lt"/>
                        </a:rPr>
                        <a:t> CQ</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Samsung</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Wistron</a:t>
                      </a:r>
                      <a:r>
                        <a:rPr lang="en-US" sz="1000" baseline="0" dirty="0" smtClean="0">
                          <a:solidFill>
                            <a:srgbClr val="002060"/>
                          </a:solidFill>
                          <a:latin typeface="+mn-lt"/>
                        </a:rPr>
                        <a:t> KS</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Do you have process to evaluate die crack during thermal solution assembly/dis-assembly?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RD will do it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RD will do it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No, RD will do it</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a:solidFill>
                            <a:srgbClr val="000000"/>
                          </a:solidFill>
                          <a:effectLst/>
                          <a:latin typeface="Intel Clear" panose="020B0604020203020204" pitchFamily="34" charset="0"/>
                        </a:rPr>
                        <a:t>How do you evaluate die pressure during thermal solution assembly/dis-assembly?</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Pressure pater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Pressure pater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Pressure pater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Pressure pater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99001">
                <a:tc>
                  <a:txBody>
                    <a:bodyPr/>
                    <a:lstStyle/>
                    <a:p>
                      <a:pPr algn="l" fontAlgn="b"/>
                      <a:r>
                        <a:rPr lang="en-US" sz="1000" b="0" i="0" u="none" strike="noStrike" dirty="0">
                          <a:solidFill>
                            <a:srgbClr val="000000"/>
                          </a:solidFill>
                          <a:effectLst/>
                          <a:latin typeface="Intel Clear" panose="020B0604020203020204" pitchFamily="34" charset="0"/>
                        </a:rPr>
                        <a:t>If you are using film sensor,  do you follow Intel's recommended process to condition, equalize and calibrate the film sensor?</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panose="020B0604020203020204" pitchFamily="34" charset="0"/>
                        </a:rPr>
                        <a:t>N/A</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Action Button: Home 10">
            <a:hlinkClick r:id="rId3" action="ppaction://hlinksldjump" highlightClick="1"/>
          </p:cNvPr>
          <p:cNvSpPr/>
          <p:nvPr/>
        </p:nvSpPr>
        <p:spPr bwMode="auto">
          <a:xfrm>
            <a:off x="8431296" y="5618690"/>
            <a:ext cx="397421" cy="397164"/>
          </a:xfrm>
          <a:prstGeom prst="actionButtonHome">
            <a:avLst/>
          </a:prstGeom>
          <a:solidFill>
            <a:schemeClr val="accent1"/>
          </a:solidFill>
          <a:ln w="254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smtClean="0">
              <a:ln>
                <a:noFill/>
              </a:ln>
              <a:solidFill>
                <a:schemeClr val="tx1"/>
              </a:solidFill>
              <a:effectLst/>
              <a:latin typeface="Verdana" pitchFamily="34" charset="0"/>
              <a:cs typeface="Arial" pitchFamily="34" charset="0"/>
            </a:endParaRPr>
          </a:p>
        </p:txBody>
      </p:sp>
    </p:spTree>
    <p:extLst>
      <p:ext uri="{BB962C8B-B14F-4D97-AF65-F5344CB8AC3E}">
        <p14:creationId xmlns:p14="http://schemas.microsoft.com/office/powerpoint/2010/main" val="12642385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1ABE2FC7-05C3-4E29-9CB5-29E80127A999}" type="datetime1">
              <a:rPr lang="en-US" sz="800" smtClean="0">
                <a:solidFill>
                  <a:srgbClr val="FFFFFF"/>
                </a:solidFill>
              </a:rPr>
              <a:t>11/7/2019</a:t>
            </a:fld>
            <a:endParaRPr lang="en-US" sz="800" smtClean="0">
              <a:solidFill>
                <a:srgbClr val="FFFFFF"/>
              </a:solidFill>
            </a:endParaRP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fld id="{FC10E682-E551-44EA-81A8-EC85D3A291B3}" type="slidenum">
              <a:rPr lang="en-US" sz="800" smtClean="0">
                <a:solidFill>
                  <a:schemeClr val="bg1"/>
                </a:solidFill>
              </a:rPr>
              <a:pPr/>
              <a:t>37</a:t>
            </a:fld>
            <a:endParaRPr lang="en-US" sz="800" smtClean="0">
              <a:solidFill>
                <a:schemeClr val="bg1"/>
              </a:solidFill>
            </a:endParaRPr>
          </a:p>
        </p:txBody>
      </p:sp>
      <p:sp>
        <p:nvSpPr>
          <p:cNvPr id="7172" name="Rectangle 2"/>
          <p:cNvSpPr>
            <a:spLocks noGrp="1" noChangeArrowheads="1"/>
          </p:cNvSpPr>
          <p:nvPr>
            <p:ph type="title"/>
          </p:nvPr>
        </p:nvSpPr>
        <p:spPr>
          <a:xfrm>
            <a:off x="482600" y="2506663"/>
            <a:ext cx="8237538" cy="889000"/>
          </a:xfrm>
        </p:spPr>
        <p:txBody>
          <a:bodyPr/>
          <a:lstStyle/>
          <a:p>
            <a:pPr algn="ctr" eaLnBrk="1" hangingPunct="1"/>
            <a:r>
              <a:rPr lang="en-US" dirty="0" smtClean="0"/>
              <a:t>Back up</a:t>
            </a:r>
          </a:p>
        </p:txBody>
      </p:sp>
      <p:sp>
        <p:nvSpPr>
          <p:cNvPr id="6"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2019 CRD Summary</a:t>
            </a:r>
          </a:p>
        </p:txBody>
      </p:sp>
    </p:spTree>
    <p:extLst>
      <p:ext uri="{BB962C8B-B14F-4D97-AF65-F5344CB8AC3E}">
        <p14:creationId xmlns:p14="http://schemas.microsoft.com/office/powerpoint/2010/main" val="7858253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5612" y="25699"/>
            <a:ext cx="8237537" cy="328160"/>
          </a:xfrm>
        </p:spPr>
        <p:txBody>
          <a:bodyPr/>
          <a:lstStyle/>
          <a:p>
            <a:r>
              <a:rPr lang="en-US" dirty="0"/>
              <a:t>Adhesive on Intel </a:t>
            </a:r>
            <a:r>
              <a:rPr lang="en-US" dirty="0" smtClean="0"/>
              <a:t>BGA</a:t>
            </a:r>
            <a:endParaRPr lang="en-US" dirty="0"/>
          </a:p>
        </p:txBody>
      </p:sp>
      <p:sp>
        <p:nvSpPr>
          <p:cNvPr id="4" name="Date Placeholder 3"/>
          <p:cNvSpPr>
            <a:spLocks noGrp="1"/>
          </p:cNvSpPr>
          <p:nvPr>
            <p:ph type="dt" sz="half" idx="10"/>
          </p:nvPr>
        </p:nvSpPr>
        <p:spPr/>
        <p:txBody>
          <a:bodyPr/>
          <a:lstStyle/>
          <a:p>
            <a:pPr>
              <a:defRPr/>
            </a:pPr>
            <a:fld id="{63F55D9A-6D29-4D50-86F0-F4CC0ABF6DBC}"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38</a:t>
            </a:fld>
            <a:endParaRPr lang="en-US" dirty="0"/>
          </a:p>
        </p:txBody>
      </p:sp>
      <p:sp>
        <p:nvSpPr>
          <p:cNvPr id="6" name="Footer Placeholder 5"/>
          <p:cNvSpPr>
            <a:spLocks noGrp="1"/>
          </p:cNvSpPr>
          <p:nvPr>
            <p:ph type="ftr" sz="quarter" idx="12"/>
          </p:nvPr>
        </p:nvSpPr>
        <p:spPr/>
        <p:txBody>
          <a:bodyPr/>
          <a:lstStyle/>
          <a:p>
            <a:pPr>
              <a:defRPr/>
            </a:pPr>
            <a:r>
              <a:rPr lang="en-US" smtClean="0"/>
              <a:t>CMEE – Customer Manufacturing Enabling &amp; Engineering / Intel Confidential / Collected Under NDA                                     Mobile 2017 CRD Summary</a:t>
            </a:r>
            <a:endParaRPr lang="en-US" dirty="0"/>
          </a:p>
        </p:txBody>
      </p:sp>
      <p:sp>
        <p:nvSpPr>
          <p:cNvPr id="12" name="Content Placeholder 11"/>
          <p:cNvSpPr>
            <a:spLocks noGrp="1"/>
          </p:cNvSpPr>
          <p:nvPr>
            <p:ph idx="1"/>
          </p:nvPr>
        </p:nvSpPr>
        <p:spPr>
          <a:xfrm>
            <a:off x="446148" y="504098"/>
            <a:ext cx="8237537" cy="4343400"/>
          </a:xfrm>
        </p:spPr>
        <p:txBody>
          <a:bodyPr/>
          <a:lstStyle/>
          <a:p>
            <a:pPr marL="0" indent="0"/>
            <a:r>
              <a:rPr lang="en-US" b="1" dirty="0" smtClean="0"/>
              <a:t>Adhesive questions that were recently asked during Cannon Lake Platform Introduction, in 2017:</a:t>
            </a:r>
          </a:p>
          <a:p>
            <a:endParaRPr lang="en-US" b="1" dirty="0" smtClean="0"/>
          </a:p>
          <a:p>
            <a:endParaRPr lang="en-US" b="1" dirty="0"/>
          </a:p>
          <a:p>
            <a:endParaRPr lang="en-US" b="1" dirty="0" smtClean="0"/>
          </a:p>
          <a:p>
            <a:endParaRPr lang="en-US" b="1" dirty="0"/>
          </a:p>
          <a:p>
            <a:pPr marL="0" indent="0"/>
            <a:r>
              <a:rPr lang="en-US" b="1" dirty="0" smtClean="0">
                <a:solidFill>
                  <a:srgbClr val="00B050"/>
                </a:solidFill>
              </a:rPr>
              <a:t>Previously we had not been asking                                           customers about adhesive usage</a:t>
            </a:r>
          </a:p>
        </p:txBody>
      </p:sp>
      <p:pic>
        <p:nvPicPr>
          <p:cNvPr id="13" name="Picture 12"/>
          <p:cNvPicPr>
            <a:picLocks noChangeAspect="1"/>
          </p:cNvPicPr>
          <p:nvPr/>
        </p:nvPicPr>
        <p:blipFill rotWithShape="1">
          <a:blip r:embed="rId2"/>
          <a:srcRect t="20402"/>
          <a:stretch/>
        </p:blipFill>
        <p:spPr>
          <a:xfrm>
            <a:off x="5612179" y="828433"/>
            <a:ext cx="2578343" cy="5406082"/>
          </a:xfrm>
          <a:prstGeom prst="rect">
            <a:avLst/>
          </a:prstGeom>
          <a:ln w="19050">
            <a:solidFill>
              <a:srgbClr val="000000"/>
            </a:solidFill>
          </a:ln>
        </p:spPr>
      </p:pic>
    </p:spTree>
    <p:extLst>
      <p:ext uri="{BB962C8B-B14F-4D97-AF65-F5344CB8AC3E}">
        <p14:creationId xmlns:p14="http://schemas.microsoft.com/office/powerpoint/2010/main" val="40299932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5612" y="25699"/>
            <a:ext cx="8237537" cy="328160"/>
          </a:xfrm>
        </p:spPr>
        <p:txBody>
          <a:bodyPr/>
          <a:lstStyle/>
          <a:p>
            <a:r>
              <a:rPr lang="en-US" dirty="0"/>
              <a:t>Adhesive on Intel </a:t>
            </a:r>
            <a:r>
              <a:rPr lang="en-US" dirty="0" smtClean="0"/>
              <a:t>BGA</a:t>
            </a:r>
            <a:endParaRPr lang="en-US" dirty="0"/>
          </a:p>
        </p:txBody>
      </p:sp>
      <p:sp>
        <p:nvSpPr>
          <p:cNvPr id="4" name="Date Placeholder 3"/>
          <p:cNvSpPr>
            <a:spLocks noGrp="1"/>
          </p:cNvSpPr>
          <p:nvPr>
            <p:ph type="dt" sz="half" idx="10"/>
          </p:nvPr>
        </p:nvSpPr>
        <p:spPr/>
        <p:txBody>
          <a:bodyPr/>
          <a:lstStyle/>
          <a:p>
            <a:pPr>
              <a:defRPr/>
            </a:pPr>
            <a:fld id="{63F55D9A-6D29-4D50-86F0-F4CC0ABF6DBC}"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39</a:t>
            </a:fld>
            <a:endParaRPr lang="en-US" dirty="0"/>
          </a:p>
        </p:txBody>
      </p:sp>
      <p:sp>
        <p:nvSpPr>
          <p:cNvPr id="6" name="Footer Placeholder 5"/>
          <p:cNvSpPr>
            <a:spLocks noGrp="1"/>
          </p:cNvSpPr>
          <p:nvPr>
            <p:ph type="ftr" sz="quarter" idx="12"/>
          </p:nvPr>
        </p:nvSpPr>
        <p:spPr/>
        <p:txBody>
          <a:bodyPr/>
          <a:lstStyle/>
          <a:p>
            <a:pPr>
              <a:defRPr/>
            </a:pPr>
            <a:r>
              <a:rPr lang="en-US" smtClean="0"/>
              <a:t>CMEE – Customer Manufacturing Enabling &amp; Engineering / Intel Confidential / Collected Under NDA                                     Mobile 2017 CRD Summary</a:t>
            </a:r>
            <a:endParaRPr lang="en-US" dirty="0"/>
          </a:p>
        </p:txBody>
      </p:sp>
      <p:sp>
        <p:nvSpPr>
          <p:cNvPr id="12" name="Content Placeholder 11"/>
          <p:cNvSpPr>
            <a:spLocks noGrp="1"/>
          </p:cNvSpPr>
          <p:nvPr>
            <p:ph idx="1"/>
          </p:nvPr>
        </p:nvSpPr>
        <p:spPr>
          <a:xfrm>
            <a:off x="446148" y="504098"/>
            <a:ext cx="8526402" cy="4343400"/>
          </a:xfrm>
        </p:spPr>
        <p:txBody>
          <a:bodyPr/>
          <a:lstStyle/>
          <a:p>
            <a:pPr marL="0" indent="0"/>
            <a:r>
              <a:rPr lang="en-US" b="1" dirty="0" smtClean="0"/>
              <a:t>Updated </a:t>
            </a:r>
            <a:r>
              <a:rPr lang="en-US" b="1" dirty="0"/>
              <a:t>a</a:t>
            </a:r>
            <a:r>
              <a:rPr lang="en-US" b="1" dirty="0" smtClean="0"/>
              <a:t>dhesive </a:t>
            </a:r>
            <a:r>
              <a:rPr lang="en-US" b="1" dirty="0"/>
              <a:t>q</a:t>
            </a:r>
            <a:r>
              <a:rPr lang="en-US" b="1" dirty="0" smtClean="0"/>
              <a:t>uestions to be asked </a:t>
            </a:r>
            <a:r>
              <a:rPr lang="en-US" b="1" dirty="0"/>
              <a:t>(</a:t>
            </a:r>
            <a:r>
              <a:rPr lang="en-US" b="1" dirty="0" smtClean="0"/>
              <a:t>Jan 2018) for a deeper understanding of adhesive usage across the ODM customer base:</a:t>
            </a:r>
          </a:p>
          <a:p>
            <a:endParaRPr lang="en-US" b="1" dirty="0" smtClean="0"/>
          </a:p>
        </p:txBody>
      </p:sp>
      <p:pic>
        <p:nvPicPr>
          <p:cNvPr id="2" name="Picture 1"/>
          <p:cNvPicPr>
            <a:picLocks noChangeAspect="1"/>
          </p:cNvPicPr>
          <p:nvPr/>
        </p:nvPicPr>
        <p:blipFill>
          <a:blip r:embed="rId2"/>
          <a:stretch>
            <a:fillRect/>
          </a:stretch>
        </p:blipFill>
        <p:spPr>
          <a:xfrm>
            <a:off x="624890" y="1285874"/>
            <a:ext cx="8010108" cy="4643541"/>
          </a:xfrm>
          <a:prstGeom prst="rect">
            <a:avLst/>
          </a:prstGeom>
        </p:spPr>
      </p:pic>
    </p:spTree>
    <p:extLst>
      <p:ext uri="{BB962C8B-B14F-4D97-AF65-F5344CB8AC3E}">
        <p14:creationId xmlns:p14="http://schemas.microsoft.com/office/powerpoint/2010/main" val="2354131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2"/>
          <a:stretch>
            <a:fillRect/>
          </a:stretch>
        </p:blipFill>
        <p:spPr>
          <a:xfrm>
            <a:off x="4190055" y="731696"/>
            <a:ext cx="4723002" cy="1121065"/>
          </a:xfrm>
          <a:prstGeom prst="rect">
            <a:avLst/>
          </a:prstGeom>
        </p:spPr>
      </p:pic>
      <p:sp>
        <p:nvSpPr>
          <p:cNvPr id="2" name="Content Placeholder 1"/>
          <p:cNvSpPr>
            <a:spLocks noGrp="1"/>
          </p:cNvSpPr>
          <p:nvPr>
            <p:ph idx="1"/>
          </p:nvPr>
        </p:nvSpPr>
        <p:spPr>
          <a:xfrm>
            <a:off x="2318255" y="3488155"/>
            <a:ext cx="4100061" cy="391886"/>
          </a:xfrm>
        </p:spPr>
        <p:txBody>
          <a:bodyPr/>
          <a:lstStyle/>
          <a:p>
            <a:r>
              <a:rPr lang="en-US" b="1" dirty="0" smtClean="0"/>
              <a:t>Pre-SMT </a:t>
            </a:r>
            <a:r>
              <a:rPr lang="en-US" b="1" dirty="0" err="1" smtClean="0"/>
              <a:t>Under</a:t>
            </a:r>
            <a:r>
              <a:rPr lang="en-US" b="1" u="sng" dirty="0" err="1" smtClean="0"/>
              <a:t>film</a:t>
            </a:r>
            <a:r>
              <a:rPr lang="en-US" b="1" dirty="0" smtClean="0"/>
              <a:t> - Concept</a:t>
            </a:r>
            <a:endParaRPr lang="en-US" b="1" dirty="0"/>
          </a:p>
        </p:txBody>
      </p:sp>
      <p:sp>
        <p:nvSpPr>
          <p:cNvPr id="3" name="Title 2"/>
          <p:cNvSpPr>
            <a:spLocks noGrp="1"/>
          </p:cNvSpPr>
          <p:nvPr>
            <p:ph type="title"/>
          </p:nvPr>
        </p:nvSpPr>
        <p:spPr>
          <a:xfrm>
            <a:off x="455612" y="88219"/>
            <a:ext cx="8237537" cy="328160"/>
          </a:xfrm>
        </p:spPr>
        <p:txBody>
          <a:bodyPr/>
          <a:lstStyle/>
          <a:p>
            <a:r>
              <a:rPr lang="en-US" dirty="0"/>
              <a:t>Adhesive on Intel </a:t>
            </a:r>
            <a:r>
              <a:rPr lang="en-US" dirty="0" smtClean="0"/>
              <a:t>BGA</a:t>
            </a:r>
            <a:endParaRPr lang="en-US" dirty="0"/>
          </a:p>
        </p:txBody>
      </p:sp>
      <p:sp>
        <p:nvSpPr>
          <p:cNvPr id="4" name="Date Placeholder 3"/>
          <p:cNvSpPr>
            <a:spLocks noGrp="1"/>
          </p:cNvSpPr>
          <p:nvPr>
            <p:ph type="dt" sz="half" idx="10"/>
          </p:nvPr>
        </p:nvSpPr>
        <p:spPr/>
        <p:txBody>
          <a:bodyPr/>
          <a:lstStyle/>
          <a:p>
            <a:pPr>
              <a:defRPr/>
            </a:pPr>
            <a:fld id="{63F55D9A-6D29-4D50-86F0-F4CC0ABF6DBC}"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40</a:t>
            </a:fld>
            <a:endParaRPr lang="en-US" dirty="0"/>
          </a:p>
        </p:txBody>
      </p:sp>
      <p:sp>
        <p:nvSpPr>
          <p:cNvPr id="6" name="Footer Placeholder 5"/>
          <p:cNvSpPr>
            <a:spLocks noGrp="1"/>
          </p:cNvSpPr>
          <p:nvPr>
            <p:ph type="ftr" sz="quarter" idx="12"/>
          </p:nvPr>
        </p:nvSpPr>
        <p:spPr/>
        <p:txBody>
          <a:bodyPr/>
          <a:lstStyle/>
          <a:p>
            <a:pPr>
              <a:defRPr/>
            </a:pPr>
            <a:r>
              <a:rPr lang="en-US" smtClean="0"/>
              <a:t>CMEE – Customer Manufacturing Enabling &amp; Engineering / Intel Confidential / Collected Under NDA                                     Mobile 2017 CRD Summary</a:t>
            </a:r>
            <a:endParaRPr lang="en-US" dirty="0"/>
          </a:p>
        </p:txBody>
      </p:sp>
      <p:pic>
        <p:nvPicPr>
          <p:cNvPr id="7" name="Picture 6"/>
          <p:cNvPicPr>
            <a:picLocks noChangeAspect="1"/>
          </p:cNvPicPr>
          <p:nvPr/>
        </p:nvPicPr>
        <p:blipFill>
          <a:blip r:embed="rId3"/>
          <a:stretch>
            <a:fillRect/>
          </a:stretch>
        </p:blipFill>
        <p:spPr>
          <a:xfrm>
            <a:off x="2165684" y="3730079"/>
            <a:ext cx="5761037" cy="2163213"/>
          </a:xfrm>
          <a:prstGeom prst="rect">
            <a:avLst/>
          </a:prstGeom>
        </p:spPr>
      </p:pic>
      <p:pic>
        <p:nvPicPr>
          <p:cNvPr id="8" name="Content Placeholder 4"/>
          <p:cNvPicPr>
            <a:picLocks noChangeAspect="1"/>
          </p:cNvPicPr>
          <p:nvPr/>
        </p:nvPicPr>
        <p:blipFill rotWithShape="1">
          <a:blip r:embed="rId4"/>
          <a:srcRect l="12729" t="13287" r="19065" b="14406"/>
          <a:stretch/>
        </p:blipFill>
        <p:spPr>
          <a:xfrm rot="16200000">
            <a:off x="884954" y="357000"/>
            <a:ext cx="2345872" cy="3758437"/>
          </a:xfrm>
          <a:prstGeom prst="rect">
            <a:avLst/>
          </a:prstGeom>
        </p:spPr>
      </p:pic>
      <p:sp>
        <p:nvSpPr>
          <p:cNvPr id="9" name="Content Placeholder 1"/>
          <p:cNvSpPr txBox="1">
            <a:spLocks/>
          </p:cNvSpPr>
          <p:nvPr/>
        </p:nvSpPr>
        <p:spPr bwMode="auto">
          <a:xfrm>
            <a:off x="87272" y="671398"/>
            <a:ext cx="4102783" cy="39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60000"/>
              </a:spcBef>
              <a:spcAft>
                <a:spcPct val="0"/>
              </a:spcAft>
              <a:defRPr>
                <a:solidFill>
                  <a:schemeClr val="tx1"/>
                </a:solidFill>
                <a:latin typeface="+mn-lt"/>
                <a:ea typeface="+mn-ea"/>
                <a:cs typeface="+mn-cs"/>
              </a:defRPr>
            </a:lvl1pPr>
            <a:lvl2pPr marL="246063" indent="-244475" algn="l" rtl="0" eaLnBrk="0" fontAlgn="base" hangingPunct="0">
              <a:spcBef>
                <a:spcPct val="40000"/>
              </a:spcBef>
              <a:spcAft>
                <a:spcPct val="0"/>
              </a:spcAft>
              <a:buSzPct val="125000"/>
              <a:buFont typeface="Times" pitchFamily="18" charset="0"/>
              <a:buChar char="•"/>
              <a:defRPr>
                <a:solidFill>
                  <a:schemeClr val="tx1"/>
                </a:solidFill>
                <a:latin typeface="+mn-lt"/>
              </a:defRPr>
            </a:lvl2pPr>
            <a:lvl3pPr marL="571500" indent="-323850" algn="l" rtl="0" eaLnBrk="0" fontAlgn="base" hangingPunct="0">
              <a:spcBef>
                <a:spcPct val="20000"/>
              </a:spcBef>
              <a:spcAft>
                <a:spcPct val="0"/>
              </a:spcAft>
              <a:buChar char="–"/>
              <a:defRPr sz="1600">
                <a:solidFill>
                  <a:schemeClr val="tx1"/>
                </a:solidFill>
                <a:latin typeface="+mn-lt"/>
              </a:defRPr>
            </a:lvl3pPr>
            <a:lvl4pPr marL="725488" indent="-152400" algn="l" rtl="0" eaLnBrk="0" fontAlgn="base" hangingPunct="0">
              <a:spcBef>
                <a:spcPct val="20000"/>
              </a:spcBef>
              <a:spcAft>
                <a:spcPct val="0"/>
              </a:spcAft>
              <a:buFont typeface="Times" pitchFamily="18" charset="0"/>
              <a:buChar char="•"/>
              <a:defRPr sz="1600">
                <a:solidFill>
                  <a:schemeClr val="tx1"/>
                </a:solidFill>
                <a:latin typeface="+mn-lt"/>
              </a:defRPr>
            </a:lvl4pPr>
            <a:lvl5pPr marL="1136650" indent="-409575" algn="l" rtl="0" eaLnBrk="0" fontAlgn="base" hangingPunct="0">
              <a:spcBef>
                <a:spcPct val="20000"/>
              </a:spcBef>
              <a:spcAft>
                <a:spcPct val="0"/>
              </a:spcAft>
              <a:buChar char="–"/>
              <a:defRPr sz="1600">
                <a:solidFill>
                  <a:schemeClr val="tx1"/>
                </a:solidFill>
                <a:latin typeface="+mn-lt"/>
              </a:defRPr>
            </a:lvl5pPr>
            <a:lvl6pPr marL="1593850" indent="-409575" algn="l" rtl="0" fontAlgn="base">
              <a:spcBef>
                <a:spcPct val="20000"/>
              </a:spcBef>
              <a:spcAft>
                <a:spcPct val="0"/>
              </a:spcAft>
              <a:buChar char="–"/>
              <a:defRPr sz="1600">
                <a:solidFill>
                  <a:schemeClr val="tx1"/>
                </a:solidFill>
                <a:latin typeface="+mn-lt"/>
              </a:defRPr>
            </a:lvl6pPr>
            <a:lvl7pPr marL="2051050" indent="-409575" algn="l" rtl="0" fontAlgn="base">
              <a:spcBef>
                <a:spcPct val="20000"/>
              </a:spcBef>
              <a:spcAft>
                <a:spcPct val="0"/>
              </a:spcAft>
              <a:buChar char="–"/>
              <a:defRPr sz="1600">
                <a:solidFill>
                  <a:schemeClr val="tx1"/>
                </a:solidFill>
                <a:latin typeface="+mn-lt"/>
              </a:defRPr>
            </a:lvl7pPr>
            <a:lvl8pPr marL="2508250" indent="-409575" algn="l" rtl="0" fontAlgn="base">
              <a:spcBef>
                <a:spcPct val="20000"/>
              </a:spcBef>
              <a:spcAft>
                <a:spcPct val="0"/>
              </a:spcAft>
              <a:buChar char="–"/>
              <a:defRPr sz="1600">
                <a:solidFill>
                  <a:schemeClr val="tx1"/>
                </a:solidFill>
                <a:latin typeface="+mn-lt"/>
              </a:defRPr>
            </a:lvl8pPr>
            <a:lvl9pPr marL="2965450" indent="-409575" algn="l" rtl="0" fontAlgn="base">
              <a:spcBef>
                <a:spcPct val="20000"/>
              </a:spcBef>
              <a:spcAft>
                <a:spcPct val="0"/>
              </a:spcAft>
              <a:buChar char="–"/>
              <a:defRPr sz="1600">
                <a:solidFill>
                  <a:schemeClr val="tx1"/>
                </a:solidFill>
                <a:latin typeface="+mn-lt"/>
              </a:defRPr>
            </a:lvl9pPr>
          </a:lstStyle>
          <a:p>
            <a:r>
              <a:rPr lang="en-US" b="1" kern="0" dirty="0" smtClean="0"/>
              <a:t>Corner “L-Shaped” Adhesive</a:t>
            </a:r>
            <a:endParaRPr lang="en-US" b="1" kern="0" dirty="0"/>
          </a:p>
        </p:txBody>
      </p:sp>
      <p:sp>
        <p:nvSpPr>
          <p:cNvPr id="11" name="Content Placeholder 1"/>
          <p:cNvSpPr txBox="1">
            <a:spLocks/>
          </p:cNvSpPr>
          <p:nvPr/>
        </p:nvSpPr>
        <p:spPr bwMode="auto">
          <a:xfrm>
            <a:off x="5074920" y="348388"/>
            <a:ext cx="3535680" cy="39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60000"/>
              </a:spcBef>
              <a:spcAft>
                <a:spcPct val="0"/>
              </a:spcAft>
              <a:defRPr>
                <a:solidFill>
                  <a:schemeClr val="tx1"/>
                </a:solidFill>
                <a:latin typeface="+mn-lt"/>
                <a:ea typeface="+mn-ea"/>
                <a:cs typeface="+mn-cs"/>
              </a:defRPr>
            </a:lvl1pPr>
            <a:lvl2pPr marL="246063" indent="-244475" algn="l" rtl="0" eaLnBrk="0" fontAlgn="base" hangingPunct="0">
              <a:spcBef>
                <a:spcPct val="40000"/>
              </a:spcBef>
              <a:spcAft>
                <a:spcPct val="0"/>
              </a:spcAft>
              <a:buSzPct val="125000"/>
              <a:buFont typeface="Times" pitchFamily="18" charset="0"/>
              <a:buChar char="•"/>
              <a:defRPr>
                <a:solidFill>
                  <a:schemeClr val="tx1"/>
                </a:solidFill>
                <a:latin typeface="+mn-lt"/>
              </a:defRPr>
            </a:lvl2pPr>
            <a:lvl3pPr marL="571500" indent="-323850" algn="l" rtl="0" eaLnBrk="0" fontAlgn="base" hangingPunct="0">
              <a:spcBef>
                <a:spcPct val="20000"/>
              </a:spcBef>
              <a:spcAft>
                <a:spcPct val="0"/>
              </a:spcAft>
              <a:buChar char="–"/>
              <a:defRPr sz="1600">
                <a:solidFill>
                  <a:schemeClr val="tx1"/>
                </a:solidFill>
                <a:latin typeface="+mn-lt"/>
              </a:defRPr>
            </a:lvl3pPr>
            <a:lvl4pPr marL="725488" indent="-152400" algn="l" rtl="0" eaLnBrk="0" fontAlgn="base" hangingPunct="0">
              <a:spcBef>
                <a:spcPct val="20000"/>
              </a:spcBef>
              <a:spcAft>
                <a:spcPct val="0"/>
              </a:spcAft>
              <a:buFont typeface="Times" pitchFamily="18" charset="0"/>
              <a:buChar char="•"/>
              <a:defRPr sz="1600">
                <a:solidFill>
                  <a:schemeClr val="tx1"/>
                </a:solidFill>
                <a:latin typeface="+mn-lt"/>
              </a:defRPr>
            </a:lvl4pPr>
            <a:lvl5pPr marL="1136650" indent="-409575" algn="l" rtl="0" eaLnBrk="0" fontAlgn="base" hangingPunct="0">
              <a:spcBef>
                <a:spcPct val="20000"/>
              </a:spcBef>
              <a:spcAft>
                <a:spcPct val="0"/>
              </a:spcAft>
              <a:buChar char="–"/>
              <a:defRPr sz="1600">
                <a:solidFill>
                  <a:schemeClr val="tx1"/>
                </a:solidFill>
                <a:latin typeface="+mn-lt"/>
              </a:defRPr>
            </a:lvl5pPr>
            <a:lvl6pPr marL="1593850" indent="-409575" algn="l" rtl="0" fontAlgn="base">
              <a:spcBef>
                <a:spcPct val="20000"/>
              </a:spcBef>
              <a:spcAft>
                <a:spcPct val="0"/>
              </a:spcAft>
              <a:buChar char="–"/>
              <a:defRPr sz="1600">
                <a:solidFill>
                  <a:schemeClr val="tx1"/>
                </a:solidFill>
                <a:latin typeface="+mn-lt"/>
              </a:defRPr>
            </a:lvl6pPr>
            <a:lvl7pPr marL="2051050" indent="-409575" algn="l" rtl="0" fontAlgn="base">
              <a:spcBef>
                <a:spcPct val="20000"/>
              </a:spcBef>
              <a:spcAft>
                <a:spcPct val="0"/>
              </a:spcAft>
              <a:buChar char="–"/>
              <a:defRPr sz="1600">
                <a:solidFill>
                  <a:schemeClr val="tx1"/>
                </a:solidFill>
                <a:latin typeface="+mn-lt"/>
              </a:defRPr>
            </a:lvl7pPr>
            <a:lvl8pPr marL="2508250" indent="-409575" algn="l" rtl="0" fontAlgn="base">
              <a:spcBef>
                <a:spcPct val="20000"/>
              </a:spcBef>
              <a:spcAft>
                <a:spcPct val="0"/>
              </a:spcAft>
              <a:buChar char="–"/>
              <a:defRPr sz="1600">
                <a:solidFill>
                  <a:schemeClr val="tx1"/>
                </a:solidFill>
                <a:latin typeface="+mn-lt"/>
              </a:defRPr>
            </a:lvl8pPr>
            <a:lvl9pPr marL="2965450" indent="-409575" algn="l" rtl="0" fontAlgn="base">
              <a:spcBef>
                <a:spcPct val="20000"/>
              </a:spcBef>
              <a:spcAft>
                <a:spcPct val="0"/>
              </a:spcAft>
              <a:buChar char="–"/>
              <a:defRPr sz="1600">
                <a:solidFill>
                  <a:schemeClr val="tx1"/>
                </a:solidFill>
                <a:latin typeface="+mn-lt"/>
              </a:defRPr>
            </a:lvl9pPr>
          </a:lstStyle>
          <a:p>
            <a:pPr algn="ctr"/>
            <a:r>
              <a:rPr lang="en-US" b="1" kern="0" dirty="0" smtClean="0"/>
              <a:t>Corner Dot (Big or Small) Adhesive</a:t>
            </a:r>
            <a:endParaRPr lang="en-US" b="1" kern="0" dirty="0"/>
          </a:p>
        </p:txBody>
      </p:sp>
      <p:pic>
        <p:nvPicPr>
          <p:cNvPr id="12" name="圖片 2"/>
          <p:cNvPicPr>
            <a:picLocks noChangeAspect="1"/>
          </p:cNvPicPr>
          <p:nvPr/>
        </p:nvPicPr>
        <p:blipFill rotWithShape="1">
          <a:blip r:embed="rId5"/>
          <a:srcRect l="52118" b="17955"/>
          <a:stretch/>
        </p:blipFill>
        <p:spPr>
          <a:xfrm>
            <a:off x="7178039" y="1905462"/>
            <a:ext cx="1750373" cy="1513667"/>
          </a:xfrm>
          <a:prstGeom prst="rect">
            <a:avLst/>
          </a:prstGeom>
        </p:spPr>
      </p:pic>
      <p:sp>
        <p:nvSpPr>
          <p:cNvPr id="13" name="Content Placeholder 1"/>
          <p:cNvSpPr txBox="1">
            <a:spLocks/>
          </p:cNvSpPr>
          <p:nvPr/>
        </p:nvSpPr>
        <p:spPr bwMode="auto">
          <a:xfrm>
            <a:off x="5972650" y="2849677"/>
            <a:ext cx="1270160" cy="39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60000"/>
              </a:spcBef>
              <a:spcAft>
                <a:spcPct val="0"/>
              </a:spcAft>
              <a:defRPr>
                <a:solidFill>
                  <a:schemeClr val="tx1"/>
                </a:solidFill>
                <a:latin typeface="+mn-lt"/>
                <a:ea typeface="+mn-ea"/>
                <a:cs typeface="+mn-cs"/>
              </a:defRPr>
            </a:lvl1pPr>
            <a:lvl2pPr marL="246063" indent="-244475" algn="l" rtl="0" eaLnBrk="0" fontAlgn="base" hangingPunct="0">
              <a:spcBef>
                <a:spcPct val="40000"/>
              </a:spcBef>
              <a:spcAft>
                <a:spcPct val="0"/>
              </a:spcAft>
              <a:buSzPct val="125000"/>
              <a:buFont typeface="Times" pitchFamily="18" charset="0"/>
              <a:buChar char="•"/>
              <a:defRPr>
                <a:solidFill>
                  <a:schemeClr val="tx1"/>
                </a:solidFill>
                <a:latin typeface="+mn-lt"/>
              </a:defRPr>
            </a:lvl2pPr>
            <a:lvl3pPr marL="571500" indent="-323850" algn="l" rtl="0" eaLnBrk="0" fontAlgn="base" hangingPunct="0">
              <a:spcBef>
                <a:spcPct val="20000"/>
              </a:spcBef>
              <a:spcAft>
                <a:spcPct val="0"/>
              </a:spcAft>
              <a:buChar char="–"/>
              <a:defRPr sz="1600">
                <a:solidFill>
                  <a:schemeClr val="tx1"/>
                </a:solidFill>
                <a:latin typeface="+mn-lt"/>
              </a:defRPr>
            </a:lvl3pPr>
            <a:lvl4pPr marL="725488" indent="-152400" algn="l" rtl="0" eaLnBrk="0" fontAlgn="base" hangingPunct="0">
              <a:spcBef>
                <a:spcPct val="20000"/>
              </a:spcBef>
              <a:spcAft>
                <a:spcPct val="0"/>
              </a:spcAft>
              <a:buFont typeface="Times" pitchFamily="18" charset="0"/>
              <a:buChar char="•"/>
              <a:defRPr sz="1600">
                <a:solidFill>
                  <a:schemeClr val="tx1"/>
                </a:solidFill>
                <a:latin typeface="+mn-lt"/>
              </a:defRPr>
            </a:lvl4pPr>
            <a:lvl5pPr marL="1136650" indent="-409575" algn="l" rtl="0" eaLnBrk="0" fontAlgn="base" hangingPunct="0">
              <a:spcBef>
                <a:spcPct val="20000"/>
              </a:spcBef>
              <a:spcAft>
                <a:spcPct val="0"/>
              </a:spcAft>
              <a:buChar char="–"/>
              <a:defRPr sz="1600">
                <a:solidFill>
                  <a:schemeClr val="tx1"/>
                </a:solidFill>
                <a:latin typeface="+mn-lt"/>
              </a:defRPr>
            </a:lvl5pPr>
            <a:lvl6pPr marL="1593850" indent="-409575" algn="l" rtl="0" fontAlgn="base">
              <a:spcBef>
                <a:spcPct val="20000"/>
              </a:spcBef>
              <a:spcAft>
                <a:spcPct val="0"/>
              </a:spcAft>
              <a:buChar char="–"/>
              <a:defRPr sz="1600">
                <a:solidFill>
                  <a:schemeClr val="tx1"/>
                </a:solidFill>
                <a:latin typeface="+mn-lt"/>
              </a:defRPr>
            </a:lvl6pPr>
            <a:lvl7pPr marL="2051050" indent="-409575" algn="l" rtl="0" fontAlgn="base">
              <a:spcBef>
                <a:spcPct val="20000"/>
              </a:spcBef>
              <a:spcAft>
                <a:spcPct val="0"/>
              </a:spcAft>
              <a:buChar char="–"/>
              <a:defRPr sz="1600">
                <a:solidFill>
                  <a:schemeClr val="tx1"/>
                </a:solidFill>
                <a:latin typeface="+mn-lt"/>
              </a:defRPr>
            </a:lvl7pPr>
            <a:lvl8pPr marL="2508250" indent="-409575" algn="l" rtl="0" fontAlgn="base">
              <a:spcBef>
                <a:spcPct val="20000"/>
              </a:spcBef>
              <a:spcAft>
                <a:spcPct val="0"/>
              </a:spcAft>
              <a:buChar char="–"/>
              <a:defRPr sz="1600">
                <a:solidFill>
                  <a:schemeClr val="tx1"/>
                </a:solidFill>
                <a:latin typeface="+mn-lt"/>
              </a:defRPr>
            </a:lvl8pPr>
            <a:lvl9pPr marL="2965450" indent="-409575" algn="l" rtl="0" fontAlgn="base">
              <a:spcBef>
                <a:spcPct val="20000"/>
              </a:spcBef>
              <a:spcAft>
                <a:spcPct val="0"/>
              </a:spcAft>
              <a:buChar char="–"/>
              <a:defRPr sz="1600">
                <a:solidFill>
                  <a:schemeClr val="tx1"/>
                </a:solidFill>
                <a:latin typeface="+mn-lt"/>
              </a:defRPr>
            </a:lvl9pPr>
          </a:lstStyle>
          <a:p>
            <a:pPr algn="ctr"/>
            <a:r>
              <a:rPr lang="en-US" b="1" kern="0" dirty="0" smtClean="0"/>
              <a:t>1 Dot</a:t>
            </a:r>
            <a:endParaRPr lang="en-US" b="1" kern="0" dirty="0"/>
          </a:p>
        </p:txBody>
      </p:sp>
      <p:sp>
        <p:nvSpPr>
          <p:cNvPr id="14" name="Content Placeholder 1"/>
          <p:cNvSpPr txBox="1">
            <a:spLocks/>
          </p:cNvSpPr>
          <p:nvPr/>
        </p:nvSpPr>
        <p:spPr bwMode="auto">
          <a:xfrm>
            <a:off x="5972650" y="1816562"/>
            <a:ext cx="1270160" cy="39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60000"/>
              </a:spcBef>
              <a:spcAft>
                <a:spcPct val="0"/>
              </a:spcAft>
              <a:defRPr>
                <a:solidFill>
                  <a:schemeClr val="tx1"/>
                </a:solidFill>
                <a:latin typeface="+mn-lt"/>
                <a:ea typeface="+mn-ea"/>
                <a:cs typeface="+mn-cs"/>
              </a:defRPr>
            </a:lvl1pPr>
            <a:lvl2pPr marL="246063" indent="-244475" algn="l" rtl="0" eaLnBrk="0" fontAlgn="base" hangingPunct="0">
              <a:spcBef>
                <a:spcPct val="40000"/>
              </a:spcBef>
              <a:spcAft>
                <a:spcPct val="0"/>
              </a:spcAft>
              <a:buSzPct val="125000"/>
              <a:buFont typeface="Times" pitchFamily="18" charset="0"/>
              <a:buChar char="•"/>
              <a:defRPr>
                <a:solidFill>
                  <a:schemeClr val="tx1"/>
                </a:solidFill>
                <a:latin typeface="+mn-lt"/>
              </a:defRPr>
            </a:lvl2pPr>
            <a:lvl3pPr marL="571500" indent="-323850" algn="l" rtl="0" eaLnBrk="0" fontAlgn="base" hangingPunct="0">
              <a:spcBef>
                <a:spcPct val="20000"/>
              </a:spcBef>
              <a:spcAft>
                <a:spcPct val="0"/>
              </a:spcAft>
              <a:buChar char="–"/>
              <a:defRPr sz="1600">
                <a:solidFill>
                  <a:schemeClr val="tx1"/>
                </a:solidFill>
                <a:latin typeface="+mn-lt"/>
              </a:defRPr>
            </a:lvl3pPr>
            <a:lvl4pPr marL="725488" indent="-152400" algn="l" rtl="0" eaLnBrk="0" fontAlgn="base" hangingPunct="0">
              <a:spcBef>
                <a:spcPct val="20000"/>
              </a:spcBef>
              <a:spcAft>
                <a:spcPct val="0"/>
              </a:spcAft>
              <a:buFont typeface="Times" pitchFamily="18" charset="0"/>
              <a:buChar char="•"/>
              <a:defRPr sz="1600">
                <a:solidFill>
                  <a:schemeClr val="tx1"/>
                </a:solidFill>
                <a:latin typeface="+mn-lt"/>
              </a:defRPr>
            </a:lvl4pPr>
            <a:lvl5pPr marL="1136650" indent="-409575" algn="l" rtl="0" eaLnBrk="0" fontAlgn="base" hangingPunct="0">
              <a:spcBef>
                <a:spcPct val="20000"/>
              </a:spcBef>
              <a:spcAft>
                <a:spcPct val="0"/>
              </a:spcAft>
              <a:buChar char="–"/>
              <a:defRPr sz="1600">
                <a:solidFill>
                  <a:schemeClr val="tx1"/>
                </a:solidFill>
                <a:latin typeface="+mn-lt"/>
              </a:defRPr>
            </a:lvl5pPr>
            <a:lvl6pPr marL="1593850" indent="-409575" algn="l" rtl="0" fontAlgn="base">
              <a:spcBef>
                <a:spcPct val="20000"/>
              </a:spcBef>
              <a:spcAft>
                <a:spcPct val="0"/>
              </a:spcAft>
              <a:buChar char="–"/>
              <a:defRPr sz="1600">
                <a:solidFill>
                  <a:schemeClr val="tx1"/>
                </a:solidFill>
                <a:latin typeface="+mn-lt"/>
              </a:defRPr>
            </a:lvl6pPr>
            <a:lvl7pPr marL="2051050" indent="-409575" algn="l" rtl="0" fontAlgn="base">
              <a:spcBef>
                <a:spcPct val="20000"/>
              </a:spcBef>
              <a:spcAft>
                <a:spcPct val="0"/>
              </a:spcAft>
              <a:buChar char="–"/>
              <a:defRPr sz="1600">
                <a:solidFill>
                  <a:schemeClr val="tx1"/>
                </a:solidFill>
                <a:latin typeface="+mn-lt"/>
              </a:defRPr>
            </a:lvl7pPr>
            <a:lvl8pPr marL="2508250" indent="-409575" algn="l" rtl="0" fontAlgn="base">
              <a:spcBef>
                <a:spcPct val="20000"/>
              </a:spcBef>
              <a:spcAft>
                <a:spcPct val="0"/>
              </a:spcAft>
              <a:buChar char="–"/>
              <a:defRPr sz="1600">
                <a:solidFill>
                  <a:schemeClr val="tx1"/>
                </a:solidFill>
                <a:latin typeface="+mn-lt"/>
              </a:defRPr>
            </a:lvl8pPr>
            <a:lvl9pPr marL="2965450" indent="-409575" algn="l" rtl="0" fontAlgn="base">
              <a:spcBef>
                <a:spcPct val="20000"/>
              </a:spcBef>
              <a:spcAft>
                <a:spcPct val="0"/>
              </a:spcAft>
              <a:buChar char="–"/>
              <a:defRPr sz="1600">
                <a:solidFill>
                  <a:schemeClr val="tx1"/>
                </a:solidFill>
                <a:latin typeface="+mn-lt"/>
              </a:defRPr>
            </a:lvl9pPr>
          </a:lstStyle>
          <a:p>
            <a:pPr algn="ctr"/>
            <a:r>
              <a:rPr lang="en-US" b="1" kern="0" dirty="0"/>
              <a:t>3</a:t>
            </a:r>
            <a:r>
              <a:rPr lang="en-US" b="1" kern="0" dirty="0" smtClean="0"/>
              <a:t> Dots</a:t>
            </a:r>
            <a:endParaRPr lang="en-US" b="1" kern="0" dirty="0"/>
          </a:p>
        </p:txBody>
      </p:sp>
    </p:spTree>
    <p:extLst>
      <p:ext uri="{BB962C8B-B14F-4D97-AF65-F5344CB8AC3E}">
        <p14:creationId xmlns:p14="http://schemas.microsoft.com/office/powerpoint/2010/main" val="177514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2706" y="61323"/>
            <a:ext cx="8237537" cy="328160"/>
          </a:xfrm>
        </p:spPr>
        <p:txBody>
          <a:bodyPr/>
          <a:lstStyle/>
          <a:p>
            <a:r>
              <a:rPr lang="en-US" dirty="0"/>
              <a:t>Adhesive on Intel </a:t>
            </a:r>
            <a:r>
              <a:rPr lang="en-US" dirty="0" smtClean="0"/>
              <a:t>BGA</a:t>
            </a:r>
            <a:endParaRPr lang="en-US" dirty="0"/>
          </a:p>
        </p:txBody>
      </p:sp>
      <p:sp>
        <p:nvSpPr>
          <p:cNvPr id="4" name="Date Placeholder 3"/>
          <p:cNvSpPr>
            <a:spLocks noGrp="1"/>
          </p:cNvSpPr>
          <p:nvPr>
            <p:ph type="dt" sz="half" idx="10"/>
          </p:nvPr>
        </p:nvSpPr>
        <p:spPr/>
        <p:txBody>
          <a:bodyPr/>
          <a:lstStyle/>
          <a:p>
            <a:pPr>
              <a:defRPr/>
            </a:pPr>
            <a:fld id="{63F55D9A-6D29-4D50-86F0-F4CC0ABF6DBC}"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41</a:t>
            </a:fld>
            <a:endParaRPr lang="en-US" dirty="0"/>
          </a:p>
        </p:txBody>
      </p:sp>
      <p:sp>
        <p:nvSpPr>
          <p:cNvPr id="6" name="Footer Placeholder 5"/>
          <p:cNvSpPr>
            <a:spLocks noGrp="1"/>
          </p:cNvSpPr>
          <p:nvPr>
            <p:ph type="ftr" sz="quarter" idx="12"/>
          </p:nvPr>
        </p:nvSpPr>
        <p:spPr/>
        <p:txBody>
          <a:bodyPr/>
          <a:lstStyle/>
          <a:p>
            <a:pPr>
              <a:defRPr/>
            </a:pPr>
            <a:r>
              <a:rPr lang="en-US" smtClean="0"/>
              <a:t>CMEE – Customer Manufacturing Enabling &amp; Engineering / Intel Confidential / Collected Under NDA                                     Mobile 2017 CRD Summary</a:t>
            </a:r>
            <a:endParaRPr lang="en-US" dirty="0"/>
          </a:p>
        </p:txBody>
      </p:sp>
      <p:sp>
        <p:nvSpPr>
          <p:cNvPr id="9" name="Content Placeholder 1"/>
          <p:cNvSpPr txBox="1">
            <a:spLocks/>
          </p:cNvSpPr>
          <p:nvPr/>
        </p:nvSpPr>
        <p:spPr bwMode="auto">
          <a:xfrm>
            <a:off x="87272" y="476410"/>
            <a:ext cx="5916840" cy="39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60000"/>
              </a:spcBef>
              <a:spcAft>
                <a:spcPct val="0"/>
              </a:spcAft>
              <a:defRPr>
                <a:solidFill>
                  <a:schemeClr val="tx1"/>
                </a:solidFill>
                <a:latin typeface="+mn-lt"/>
                <a:ea typeface="+mn-ea"/>
                <a:cs typeface="+mn-cs"/>
              </a:defRPr>
            </a:lvl1pPr>
            <a:lvl2pPr marL="246063" indent="-244475" algn="l" rtl="0" eaLnBrk="0" fontAlgn="base" hangingPunct="0">
              <a:spcBef>
                <a:spcPct val="40000"/>
              </a:spcBef>
              <a:spcAft>
                <a:spcPct val="0"/>
              </a:spcAft>
              <a:buSzPct val="125000"/>
              <a:buFont typeface="Times" pitchFamily="18" charset="0"/>
              <a:buChar char="•"/>
              <a:defRPr>
                <a:solidFill>
                  <a:schemeClr val="tx1"/>
                </a:solidFill>
                <a:latin typeface="+mn-lt"/>
              </a:defRPr>
            </a:lvl2pPr>
            <a:lvl3pPr marL="571500" indent="-323850" algn="l" rtl="0" eaLnBrk="0" fontAlgn="base" hangingPunct="0">
              <a:spcBef>
                <a:spcPct val="20000"/>
              </a:spcBef>
              <a:spcAft>
                <a:spcPct val="0"/>
              </a:spcAft>
              <a:buChar char="–"/>
              <a:defRPr sz="1600">
                <a:solidFill>
                  <a:schemeClr val="tx1"/>
                </a:solidFill>
                <a:latin typeface="+mn-lt"/>
              </a:defRPr>
            </a:lvl3pPr>
            <a:lvl4pPr marL="725488" indent="-152400" algn="l" rtl="0" eaLnBrk="0" fontAlgn="base" hangingPunct="0">
              <a:spcBef>
                <a:spcPct val="20000"/>
              </a:spcBef>
              <a:spcAft>
                <a:spcPct val="0"/>
              </a:spcAft>
              <a:buFont typeface="Times" pitchFamily="18" charset="0"/>
              <a:buChar char="•"/>
              <a:defRPr sz="1600">
                <a:solidFill>
                  <a:schemeClr val="tx1"/>
                </a:solidFill>
                <a:latin typeface="+mn-lt"/>
              </a:defRPr>
            </a:lvl4pPr>
            <a:lvl5pPr marL="1136650" indent="-409575" algn="l" rtl="0" eaLnBrk="0" fontAlgn="base" hangingPunct="0">
              <a:spcBef>
                <a:spcPct val="20000"/>
              </a:spcBef>
              <a:spcAft>
                <a:spcPct val="0"/>
              </a:spcAft>
              <a:buChar char="–"/>
              <a:defRPr sz="1600">
                <a:solidFill>
                  <a:schemeClr val="tx1"/>
                </a:solidFill>
                <a:latin typeface="+mn-lt"/>
              </a:defRPr>
            </a:lvl5pPr>
            <a:lvl6pPr marL="1593850" indent="-409575" algn="l" rtl="0" fontAlgn="base">
              <a:spcBef>
                <a:spcPct val="20000"/>
              </a:spcBef>
              <a:spcAft>
                <a:spcPct val="0"/>
              </a:spcAft>
              <a:buChar char="–"/>
              <a:defRPr sz="1600">
                <a:solidFill>
                  <a:schemeClr val="tx1"/>
                </a:solidFill>
                <a:latin typeface="+mn-lt"/>
              </a:defRPr>
            </a:lvl6pPr>
            <a:lvl7pPr marL="2051050" indent="-409575" algn="l" rtl="0" fontAlgn="base">
              <a:spcBef>
                <a:spcPct val="20000"/>
              </a:spcBef>
              <a:spcAft>
                <a:spcPct val="0"/>
              </a:spcAft>
              <a:buChar char="–"/>
              <a:defRPr sz="1600">
                <a:solidFill>
                  <a:schemeClr val="tx1"/>
                </a:solidFill>
                <a:latin typeface="+mn-lt"/>
              </a:defRPr>
            </a:lvl7pPr>
            <a:lvl8pPr marL="2508250" indent="-409575" algn="l" rtl="0" fontAlgn="base">
              <a:spcBef>
                <a:spcPct val="20000"/>
              </a:spcBef>
              <a:spcAft>
                <a:spcPct val="0"/>
              </a:spcAft>
              <a:buChar char="–"/>
              <a:defRPr sz="1600">
                <a:solidFill>
                  <a:schemeClr val="tx1"/>
                </a:solidFill>
                <a:latin typeface="+mn-lt"/>
              </a:defRPr>
            </a:lvl8pPr>
            <a:lvl9pPr marL="2965450" indent="-409575" algn="l" rtl="0" fontAlgn="base">
              <a:spcBef>
                <a:spcPct val="20000"/>
              </a:spcBef>
              <a:spcAft>
                <a:spcPct val="0"/>
              </a:spcAft>
              <a:buChar char="–"/>
              <a:defRPr sz="1600">
                <a:solidFill>
                  <a:schemeClr val="tx1"/>
                </a:solidFill>
                <a:latin typeface="+mn-lt"/>
              </a:defRPr>
            </a:lvl9pPr>
          </a:lstStyle>
          <a:p>
            <a:r>
              <a:rPr lang="en-US" b="1" kern="0" dirty="0" smtClean="0"/>
              <a:t>Corner Underfill (Lenovo Confidential)</a:t>
            </a:r>
            <a:endParaRPr lang="en-US" b="1" kern="0" dirty="0"/>
          </a:p>
        </p:txBody>
      </p:sp>
      <p:pic>
        <p:nvPicPr>
          <p:cNvPr id="13" name="Picture 12"/>
          <p:cNvPicPr>
            <a:picLocks noChangeAspect="1"/>
          </p:cNvPicPr>
          <p:nvPr/>
        </p:nvPicPr>
        <p:blipFill rotWithShape="1">
          <a:blip r:embed="rId2"/>
          <a:srcRect b="43087"/>
          <a:stretch/>
        </p:blipFill>
        <p:spPr>
          <a:xfrm>
            <a:off x="4915400" y="2043956"/>
            <a:ext cx="4233487" cy="1923966"/>
          </a:xfrm>
          <a:prstGeom prst="rect">
            <a:avLst/>
          </a:prstGeom>
        </p:spPr>
      </p:pic>
      <p:pic>
        <p:nvPicPr>
          <p:cNvPr id="14" name="Picture 13"/>
          <p:cNvPicPr>
            <a:picLocks noChangeAspect="1"/>
          </p:cNvPicPr>
          <p:nvPr/>
        </p:nvPicPr>
        <p:blipFill>
          <a:blip r:embed="rId3"/>
          <a:stretch>
            <a:fillRect/>
          </a:stretch>
        </p:blipFill>
        <p:spPr>
          <a:xfrm>
            <a:off x="2380" y="2448334"/>
            <a:ext cx="5170255" cy="1552702"/>
          </a:xfrm>
          <a:prstGeom prst="rect">
            <a:avLst/>
          </a:prstGeom>
        </p:spPr>
      </p:pic>
      <p:pic>
        <p:nvPicPr>
          <p:cNvPr id="15" name="Picture 14"/>
          <p:cNvPicPr>
            <a:picLocks noChangeAspect="1"/>
          </p:cNvPicPr>
          <p:nvPr/>
        </p:nvPicPr>
        <p:blipFill>
          <a:blip r:embed="rId4"/>
          <a:stretch>
            <a:fillRect/>
          </a:stretch>
        </p:blipFill>
        <p:spPr>
          <a:xfrm>
            <a:off x="0" y="3986007"/>
            <a:ext cx="9144000" cy="1978806"/>
          </a:xfrm>
          <a:prstGeom prst="rect">
            <a:avLst/>
          </a:prstGeom>
        </p:spPr>
      </p:pic>
      <p:pic>
        <p:nvPicPr>
          <p:cNvPr id="16" name="Picture 15"/>
          <p:cNvPicPr>
            <a:picLocks noChangeAspect="1"/>
          </p:cNvPicPr>
          <p:nvPr/>
        </p:nvPicPr>
        <p:blipFill>
          <a:blip r:embed="rId5"/>
          <a:stretch>
            <a:fillRect/>
          </a:stretch>
        </p:blipFill>
        <p:spPr>
          <a:xfrm>
            <a:off x="0" y="747795"/>
            <a:ext cx="5607424" cy="1670112"/>
          </a:xfrm>
          <a:prstGeom prst="rect">
            <a:avLst/>
          </a:prstGeom>
        </p:spPr>
      </p:pic>
    </p:spTree>
    <p:extLst>
      <p:ext uri="{BB962C8B-B14F-4D97-AF65-F5344CB8AC3E}">
        <p14:creationId xmlns:p14="http://schemas.microsoft.com/office/powerpoint/2010/main" val="29450686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147C5307-4D7E-4EAF-95D5-3B9F35D670D9}"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42</a:t>
            </a:fld>
            <a:endParaRPr lang="en-US" dirty="0"/>
          </a:p>
        </p:txBody>
      </p:sp>
      <p:sp>
        <p:nvSpPr>
          <p:cNvPr id="7" name="Rectangle 6"/>
          <p:cNvSpPr/>
          <p:nvPr/>
        </p:nvSpPr>
        <p:spPr>
          <a:xfrm>
            <a:off x="77790" y="-32051"/>
            <a:ext cx="9066210" cy="369332"/>
          </a:xfrm>
          <a:prstGeom prst="rect">
            <a:avLst/>
          </a:prstGeom>
        </p:spPr>
        <p:txBody>
          <a:bodyPr wrap="square">
            <a:spAutoFit/>
          </a:bodyPr>
          <a:lstStyle/>
          <a:p>
            <a:r>
              <a:rPr lang="en-US" b="1" dirty="0" smtClean="0"/>
              <a:t>Adhesive</a:t>
            </a:r>
            <a:r>
              <a:rPr lang="en-US" b="1" dirty="0"/>
              <a:t> </a:t>
            </a:r>
            <a:r>
              <a:rPr lang="en-US" b="1" dirty="0" smtClean="0"/>
              <a:t>on Intel BGA (Focused on Laptop </a:t>
            </a:r>
            <a:r>
              <a:rPr lang="en-US" b="1" dirty="0"/>
              <a:t>&amp;</a:t>
            </a:r>
            <a:r>
              <a:rPr lang="en-US" b="1" dirty="0" smtClean="0"/>
              <a:t> 2-in-1 Manufacturing)</a:t>
            </a:r>
            <a:endParaRPr lang="en-US" b="1" dirty="0"/>
          </a:p>
        </p:txBody>
      </p:sp>
      <p:graphicFrame>
        <p:nvGraphicFramePr>
          <p:cNvPr id="2" name="Table 1"/>
          <p:cNvGraphicFramePr>
            <a:graphicFrameLocks noGrp="1"/>
          </p:cNvGraphicFramePr>
          <p:nvPr>
            <p:extLst/>
          </p:nvPr>
        </p:nvGraphicFramePr>
        <p:xfrm>
          <a:off x="152399" y="301762"/>
          <a:ext cx="8890748" cy="4419670"/>
        </p:xfrm>
        <a:graphic>
          <a:graphicData uri="http://schemas.openxmlformats.org/drawingml/2006/table">
            <a:tbl>
              <a:tblPr firstRow="1" bandRow="1">
                <a:tableStyleId>{5C22544A-7EE6-4342-B048-85BDC9FD1C3A}</a:tableStyleId>
              </a:tblPr>
              <a:tblGrid>
                <a:gridCol w="1146425"/>
                <a:gridCol w="584517"/>
                <a:gridCol w="1416226"/>
                <a:gridCol w="2406839"/>
                <a:gridCol w="1684478"/>
                <a:gridCol w="786792"/>
                <a:gridCol w="865471"/>
              </a:tblGrid>
              <a:tr h="370501">
                <a:tc>
                  <a:txBody>
                    <a:bodyPr/>
                    <a:lstStyle/>
                    <a:p>
                      <a:r>
                        <a:rPr lang="en-US" sz="1000" dirty="0" smtClean="0">
                          <a:solidFill>
                            <a:srgbClr val="002060"/>
                          </a:solidFill>
                          <a:latin typeface="+mn-lt"/>
                        </a:rPr>
                        <a:t>Customer</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Y/N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Adhesive shape/location</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Vendor</a:t>
                      </a:r>
                      <a:r>
                        <a:rPr lang="en-US" sz="1000" baseline="0" dirty="0" smtClean="0">
                          <a:solidFill>
                            <a:srgbClr val="002060"/>
                          </a:solidFill>
                          <a:latin typeface="+mn-lt"/>
                        </a:rPr>
                        <a:t> name/Model#</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Where</a:t>
                      </a:r>
                      <a:r>
                        <a:rPr lang="en-US" sz="1000" baseline="0" dirty="0" smtClean="0">
                          <a:solidFill>
                            <a:srgbClr val="002060"/>
                          </a:solidFill>
                          <a:latin typeface="+mn-lt"/>
                        </a:rPr>
                        <a:t> applied in Factory</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Rework-able?</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dirty="0" smtClean="0">
                          <a:solidFill>
                            <a:srgbClr val="002060"/>
                          </a:solidFill>
                          <a:latin typeface="+mn-lt"/>
                        </a:rPr>
                        <a:t>On/Off line</a:t>
                      </a:r>
                      <a:endParaRPr lang="en-US" sz="1000" dirty="0">
                        <a:solidFill>
                          <a:srgbClr val="00206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Inventec</a:t>
                      </a:r>
                      <a:r>
                        <a:rPr lang="en-US" sz="1000" baseline="0" dirty="0" smtClean="0">
                          <a:latin typeface="+mn-lt"/>
                        </a:rPr>
                        <a:t> CQ</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Loctite 3619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a:t>
                      </a:r>
                      <a:r>
                        <a:rPr lang="en-US" sz="1000" baseline="0" dirty="0" smtClean="0">
                          <a:latin typeface="+mn-lt"/>
                        </a:rPr>
                        <a:t> FT</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On</a:t>
                      </a:r>
                      <a:r>
                        <a:rPr lang="en-US" sz="1000" baseline="0" dirty="0" smtClean="0">
                          <a:latin typeface="+mn-lt"/>
                        </a:rPr>
                        <a:t> line</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Quanta CQ</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Loctite 3619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 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On</a:t>
                      </a:r>
                      <a:r>
                        <a:rPr lang="en-US" altLang="zh-CN" sz="1000" baseline="0" dirty="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Quanta SH</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Loctite 3619, EICT (UV)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a:t>
                      </a:r>
                      <a:r>
                        <a:rPr lang="en-US" sz="1000" baseline="0" dirty="0" smtClean="0">
                          <a:latin typeface="+mn-lt"/>
                        </a:rPr>
                        <a:t> ICT</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On</a:t>
                      </a:r>
                      <a:r>
                        <a:rPr lang="en-US" altLang="zh-CN" sz="1000" baseline="0" dirty="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4170">
                <a:tc>
                  <a:txBody>
                    <a:bodyPr/>
                    <a:lstStyle/>
                    <a:p>
                      <a:r>
                        <a:rPr lang="en-US" sz="1000" dirty="0" smtClean="0">
                          <a:latin typeface="+mn-lt"/>
                        </a:rPr>
                        <a:t>Compal CQ</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U-BOND</a:t>
                      </a:r>
                      <a:r>
                        <a:rPr lang="en-US" sz="1000" baseline="0" dirty="0" smtClean="0">
                          <a:latin typeface="+mn-lt"/>
                        </a:rPr>
                        <a:t> </a:t>
                      </a:r>
                      <a:r>
                        <a:rPr lang="en-US" sz="1000" dirty="0" smtClean="0">
                          <a:latin typeface="+mn-lt"/>
                        </a:rPr>
                        <a:t>UB-4305 (UV)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 ICT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On</a:t>
                      </a:r>
                      <a:r>
                        <a:rPr lang="en-US" altLang="zh-CN" sz="1000" baseline="0" dirty="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Compal KS</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‘L’, Corner Underfill (Lenovo)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 ‘L’: Loctite 3705 (UV)</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 Underfill:</a:t>
                      </a:r>
                      <a:r>
                        <a:rPr lang="en-US" sz="1000" baseline="0" dirty="0" smtClean="0">
                          <a:latin typeface="+mn-lt"/>
                        </a:rPr>
                        <a:t> Likely Loctite 3910</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a:t>
                      </a:r>
                      <a:r>
                        <a:rPr lang="en-US" sz="1000" baseline="0" dirty="0" smtClean="0">
                          <a:latin typeface="+mn-lt"/>
                        </a:rPr>
                        <a:t> ‘L’: Before FT</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baseline="0" dirty="0" smtClean="0">
                          <a:latin typeface="+mn-lt"/>
                        </a:rPr>
                        <a:t>C Underfill: After ICT</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Yes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smtClean="0">
                          <a:latin typeface="+mn-lt"/>
                        </a:rPr>
                        <a:t>On</a:t>
                      </a:r>
                      <a:r>
                        <a:rPr lang="en-US" altLang="zh-CN" sz="1000" baseline="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Wistron KS</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 Dot,</a:t>
                      </a:r>
                      <a:r>
                        <a:rPr lang="en-US" sz="1000" baseline="0" dirty="0" smtClean="0">
                          <a:latin typeface="+mn-lt"/>
                        </a:rPr>
                        <a:t> Corner Underfill (Lenovo)</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 </a:t>
                      </a:r>
                      <a:r>
                        <a:rPr lang="en-US" sz="1000" dirty="0" err="1" smtClean="0">
                          <a:latin typeface="+mn-lt"/>
                        </a:rPr>
                        <a:t>Dot:Panasonic</a:t>
                      </a:r>
                      <a:r>
                        <a:rPr lang="en-US" sz="1000" dirty="0" smtClean="0">
                          <a:latin typeface="+mn-lt"/>
                        </a:rPr>
                        <a:t> ADE480D-1</a:t>
                      </a:r>
                      <a:endParaRPr lang="en-US" sz="1000" baseline="0" dirty="0" smtClean="0">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 Underfill:</a:t>
                      </a:r>
                      <a:r>
                        <a:rPr lang="en-US" sz="1000" baseline="0" dirty="0" smtClean="0">
                          <a:latin typeface="+mn-lt"/>
                        </a:rPr>
                        <a:t> </a:t>
                      </a:r>
                      <a:r>
                        <a:rPr lang="en-US" sz="1000" dirty="0" smtClean="0">
                          <a:latin typeface="+mn-lt"/>
                        </a:rPr>
                        <a:t>ASEC-AS3910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 </a:t>
                      </a:r>
                      <a:r>
                        <a:rPr lang="en-US" sz="1000" dirty="0" err="1" smtClean="0">
                          <a:latin typeface="+mn-lt"/>
                        </a:rPr>
                        <a:t>Dot:</a:t>
                      </a:r>
                      <a:r>
                        <a:rPr lang="en-US" sz="1000" baseline="0" dirty="0" err="1" smtClean="0">
                          <a:latin typeface="+mn-lt"/>
                        </a:rPr>
                        <a:t>Before</a:t>
                      </a:r>
                      <a:r>
                        <a:rPr lang="en-US" sz="1000" baseline="0" dirty="0" smtClean="0">
                          <a:latin typeface="+mn-lt"/>
                        </a:rPr>
                        <a:t> SMT</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 Underfill:</a:t>
                      </a:r>
                      <a:r>
                        <a:rPr lang="en-US" sz="1000" baseline="0" dirty="0" smtClean="0">
                          <a:latin typeface="+mn-lt"/>
                        </a:rPr>
                        <a:t> Before FT</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smtClean="0">
                          <a:latin typeface="+mn-lt"/>
                        </a:rPr>
                        <a:t>On</a:t>
                      </a:r>
                      <a:r>
                        <a:rPr lang="en-US" altLang="zh-CN" sz="1000" baseline="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LCFC</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100%</a:t>
                      </a:r>
                      <a:r>
                        <a:rPr lang="en-US" sz="1000" baseline="0" dirty="0" smtClean="0">
                          <a:latin typeface="+mn-lt"/>
                        </a:rPr>
                        <a:t> Corner Underfill (Lenovo)</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 Underfill: ASEC, COOTEK, </a:t>
                      </a:r>
                      <a:r>
                        <a:rPr lang="en-US" sz="1000" dirty="0" err="1" smtClean="0">
                          <a:latin typeface="+mn-lt"/>
                        </a:rPr>
                        <a:t>TaiLiDe</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After 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 </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smtClean="0">
                          <a:latin typeface="+mn-lt"/>
                        </a:rPr>
                        <a:t>On</a:t>
                      </a:r>
                      <a:r>
                        <a:rPr lang="en-US" altLang="zh-CN" sz="1000" baseline="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Pegatron SZ</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000" dirty="0" smtClean="0">
                          <a:latin typeface="+mn-lt"/>
                        </a:rPr>
                        <a:t>視域</a:t>
                      </a:r>
                      <a:r>
                        <a:rPr lang="en-US" altLang="zh-CN" sz="1000" dirty="0" smtClean="0">
                          <a:latin typeface="+mn-lt"/>
                        </a:rPr>
                        <a:t>:</a:t>
                      </a:r>
                      <a:r>
                        <a:rPr lang="en-US" sz="1000" dirty="0" smtClean="0">
                          <a:latin typeface="+mn-lt"/>
                        </a:rPr>
                        <a:t>UV649/</a:t>
                      </a:r>
                      <a:r>
                        <a:rPr lang="zh-CN" altLang="en-US" sz="1000" dirty="0" smtClean="0">
                          <a:latin typeface="+mn-lt"/>
                        </a:rPr>
                        <a:t>信友</a:t>
                      </a:r>
                      <a:r>
                        <a:rPr lang="en-US" altLang="zh-CN" sz="1000" dirty="0" smtClean="0">
                          <a:latin typeface="+mn-lt"/>
                        </a:rPr>
                        <a:t>:3329/</a:t>
                      </a:r>
                      <a:r>
                        <a:rPr lang="en-US" sz="1000" dirty="0" smtClean="0">
                          <a:latin typeface="+mn-lt"/>
                        </a:rPr>
                        <a:t>DYMAX 9-20558/Loctite 3705 (All UV)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 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smtClean="0">
                          <a:latin typeface="+mn-lt"/>
                        </a:rPr>
                        <a:t>On</a:t>
                      </a:r>
                      <a:r>
                        <a:rPr lang="en-US" altLang="zh-CN" sz="1000" baseline="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MSFT/JDM1</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srgbClr val="00B050"/>
                          </a:solidFill>
                          <a:latin typeface="+mn-lt"/>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001">
                <a:tc>
                  <a:txBody>
                    <a:bodyPr/>
                    <a:lstStyle/>
                    <a:p>
                      <a:r>
                        <a:rPr lang="en-US" sz="1000" dirty="0" smtClean="0">
                          <a:latin typeface="+mn-lt"/>
                        </a:rPr>
                        <a:t>MSI KS</a:t>
                      </a:r>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err="1" smtClean="0">
                          <a:latin typeface="+mn-lt"/>
                        </a:rPr>
                        <a:t>ZhongYu</a:t>
                      </a:r>
                      <a:r>
                        <a:rPr lang="en-US" sz="1000" dirty="0" smtClean="0">
                          <a:latin typeface="+mn-lt"/>
                        </a:rPr>
                        <a:t> ZY-303</a:t>
                      </a:r>
                      <a:r>
                        <a:rPr lang="en-US" sz="1000" baseline="0" dirty="0" smtClean="0">
                          <a:latin typeface="+mn-lt"/>
                        </a:rPr>
                        <a:t> (UV)</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a:t>
                      </a:r>
                      <a:r>
                        <a:rPr lang="en-US" sz="1000" baseline="0" dirty="0" smtClean="0">
                          <a:latin typeface="+mn-lt"/>
                        </a:rPr>
                        <a:t> ICT</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smtClean="0">
                          <a:latin typeface="+mn-lt"/>
                        </a:rPr>
                        <a:t>On</a:t>
                      </a:r>
                      <a:r>
                        <a:rPr lang="en-US" altLang="zh-CN" sz="1000" baseline="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9430">
                <a:tc>
                  <a:txBody>
                    <a:bodyPr/>
                    <a:lstStyle/>
                    <a:p>
                      <a:r>
                        <a:rPr lang="en-US" altLang="zh-CN" sz="1000" dirty="0" smtClean="0"/>
                        <a:t>Pegatron CQ</a:t>
                      </a:r>
                      <a:endParaRPr lang="zh-CN" alt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Xin You</a:t>
                      </a:r>
                      <a:r>
                        <a:rPr lang="en-US" altLang="zh-CN" sz="1000" baseline="0" dirty="0" smtClean="0">
                          <a:latin typeface="+mn-lt"/>
                        </a:rPr>
                        <a:t> </a:t>
                      </a:r>
                      <a:r>
                        <a:rPr lang="en-US" altLang="zh-CN" sz="1000" dirty="0" smtClean="0">
                          <a:latin typeface="+mn-lt"/>
                        </a:rPr>
                        <a:t>UV3329 (UV)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 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On</a:t>
                      </a:r>
                      <a:r>
                        <a:rPr lang="en-US" altLang="zh-CN" sz="1000" baseline="0" dirty="0" smtClean="0">
                          <a:latin typeface="+mn-lt"/>
                        </a:rPr>
                        <a:t> line</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9430">
                <a:tc>
                  <a:txBody>
                    <a:bodyPr/>
                    <a:lstStyle/>
                    <a:p>
                      <a:r>
                        <a:rPr lang="en-US" altLang="zh-CN" sz="1000" dirty="0" smtClean="0"/>
                        <a:t>Foxconn WH</a:t>
                      </a:r>
                      <a:endParaRPr lang="zh-CN" alt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Corner Glue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Loctite 3705 (UV)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After</a:t>
                      </a:r>
                      <a:r>
                        <a:rPr lang="en-US" sz="1000" baseline="0" dirty="0" smtClean="0">
                          <a:latin typeface="+mn-lt"/>
                        </a:rPr>
                        <a:t> SMT</a:t>
                      </a:r>
                      <a:endParaRPr lang="en-US"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On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9430">
                <a:tc>
                  <a:txBody>
                    <a:bodyPr/>
                    <a:lstStyle/>
                    <a:p>
                      <a:r>
                        <a:rPr lang="en-US" altLang="zh-CN" sz="1000" dirty="0" smtClean="0"/>
                        <a:t>Samsung*</a:t>
                      </a:r>
                      <a:endParaRPr lang="zh-CN" alt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err="1" smtClean="0">
                          <a:latin typeface="+mn-lt"/>
                        </a:rPr>
                        <a:t>Under</a:t>
                      </a:r>
                      <a:r>
                        <a:rPr lang="en-US" altLang="zh-CN" sz="1000" u="sng" dirty="0" err="1" smtClean="0">
                          <a:latin typeface="+mn-lt"/>
                        </a:rPr>
                        <a:t>film</a:t>
                      </a:r>
                      <a:endParaRPr lang="en-US" altLang="zh-CN" sz="1000" u="sng"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Unknown.</a:t>
                      </a:r>
                      <a:r>
                        <a:rPr lang="en-US" altLang="zh-CN" sz="1000" baseline="0" dirty="0" smtClean="0">
                          <a:latin typeface="+mn-lt"/>
                        </a:rPr>
                        <a:t> Placed by PnP machine onto bd pads.</a:t>
                      </a:r>
                      <a:endParaRPr lang="en-US" altLang="zh-CN" sz="100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Before SMT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Unknown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dirty="0" smtClean="0">
                          <a:latin typeface="+mn-lt"/>
                        </a:rPr>
                        <a:t>On 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Rounded Rectangle 8"/>
          <p:cNvSpPr/>
          <p:nvPr/>
        </p:nvSpPr>
        <p:spPr bwMode="auto">
          <a:xfrm>
            <a:off x="68456" y="5029003"/>
            <a:ext cx="8999916" cy="1072634"/>
          </a:xfrm>
          <a:prstGeom prst="roundRect">
            <a:avLst/>
          </a:prstGeom>
          <a:solidFill>
            <a:schemeClr val="tx2">
              <a:lumMod val="20000"/>
              <a:lumOff val="80000"/>
            </a:schemeClr>
          </a:solidFill>
          <a:ln w="25400" cap="flat" cmpd="sng" algn="ctr">
            <a:solidFill>
              <a:schemeClr val="tx1"/>
            </a:solidFill>
            <a:prstDash val="solid"/>
            <a:round/>
            <a:headEnd type="none" w="med" len="med"/>
            <a:tailEnd type="none" w="med" len="med"/>
          </a:ln>
          <a:effectLst/>
        </p:spPr>
        <p:txBody>
          <a:bodyPr vert="horz" wrap="square" lIns="91440" tIns="0" rIns="91440" bIns="0" numCol="1" rtlCol="0" anchor="ctr" anchorCtr="0" compatLnSpc="1">
            <a:prstTxWarp prst="textNoShape">
              <a:avLst/>
            </a:prstTxWarp>
            <a:spAutoFit/>
          </a:bodyPr>
          <a:lstStyle/>
          <a:p>
            <a:pPr marL="285750" indent="-285750" eaLnBrk="0" fontAlgn="base" hangingPunct="0">
              <a:spcBef>
                <a:spcPct val="0"/>
              </a:spcBef>
              <a:spcAft>
                <a:spcPct val="0"/>
              </a:spcAft>
              <a:buFont typeface="Wingdings" panose="05000000000000000000" pitchFamily="2" charset="2"/>
              <a:buChar char="§"/>
            </a:pPr>
            <a:r>
              <a:rPr lang="en-US" sz="900" dirty="0" smtClean="0">
                <a:cs typeface="Arial" pitchFamily="34" charset="0"/>
              </a:rPr>
              <a:t>All </a:t>
            </a:r>
            <a:r>
              <a:rPr lang="en-US" sz="900" dirty="0">
                <a:cs typeface="Arial" pitchFamily="34" charset="0"/>
              </a:rPr>
              <a:t>m</a:t>
            </a:r>
            <a:r>
              <a:rPr lang="en-US" sz="900" dirty="0" smtClean="0">
                <a:cs typeface="Arial" pitchFamily="34" charset="0"/>
              </a:rPr>
              <a:t>ajor customers applying adhesive on Intel BGA except MSFT (adhesive decision is based on the reliability test results-to prevent SJ cracks)</a:t>
            </a:r>
          </a:p>
          <a:p>
            <a:pPr marL="285750" indent="-285750" eaLnBrk="0" fontAlgn="base" hangingPunct="0">
              <a:spcBef>
                <a:spcPct val="0"/>
              </a:spcBef>
              <a:spcAft>
                <a:spcPct val="0"/>
              </a:spcAft>
              <a:buFont typeface="Wingdings" panose="05000000000000000000" pitchFamily="2" charset="2"/>
              <a:buChar char="§"/>
            </a:pPr>
            <a:r>
              <a:rPr lang="en-US" sz="900" dirty="0" smtClean="0">
                <a:cs typeface="Arial" pitchFamily="34" charset="0"/>
              </a:rPr>
              <a:t>All major customers are applying adhesive after SMT but before FT test (to prevent SJ crack during FT test), except with the underfill process (it is hard to rework)</a:t>
            </a:r>
          </a:p>
          <a:p>
            <a:pPr marL="285750" indent="-285750" eaLnBrk="0" fontAlgn="base" hangingPunct="0">
              <a:spcBef>
                <a:spcPct val="0"/>
              </a:spcBef>
              <a:spcAft>
                <a:spcPct val="0"/>
              </a:spcAft>
              <a:buFont typeface="Wingdings" panose="05000000000000000000" pitchFamily="2" charset="2"/>
              <a:buChar char="§"/>
            </a:pPr>
            <a:r>
              <a:rPr lang="en-US" sz="900" dirty="0" smtClean="0">
                <a:cs typeface="Arial" pitchFamily="34" charset="0"/>
              </a:rPr>
              <a:t>Lenovo’s corner underfill covers a minimum of 5 solderballs in all 4 corners</a:t>
            </a:r>
          </a:p>
          <a:p>
            <a:pPr marL="285750" indent="-285750" eaLnBrk="0" fontAlgn="base" hangingPunct="0">
              <a:spcBef>
                <a:spcPct val="0"/>
              </a:spcBef>
              <a:spcAft>
                <a:spcPct val="0"/>
              </a:spcAft>
              <a:buFont typeface="Wingdings" panose="05000000000000000000" pitchFamily="2" charset="2"/>
              <a:buChar char="§"/>
            </a:pPr>
            <a:r>
              <a:rPr lang="en-US" sz="900" dirty="0" smtClean="0">
                <a:cs typeface="Arial" pitchFamily="34" charset="0"/>
              </a:rPr>
              <a:t>UV glue is more popular than thermal glue, due to less factory floor space &amp; easy to cure</a:t>
            </a:r>
          </a:p>
          <a:p>
            <a:pPr marL="285750" indent="-285750" eaLnBrk="0" fontAlgn="base" hangingPunct="0">
              <a:spcBef>
                <a:spcPct val="0"/>
              </a:spcBef>
              <a:spcAft>
                <a:spcPct val="0"/>
              </a:spcAft>
              <a:buFont typeface="Wingdings" panose="05000000000000000000" pitchFamily="2" charset="2"/>
              <a:buChar char="§"/>
            </a:pPr>
            <a:r>
              <a:rPr lang="en-US" sz="900" dirty="0" smtClean="0">
                <a:cs typeface="Arial" pitchFamily="34" charset="0"/>
              </a:rPr>
              <a:t>*We know Samsung uses under</a:t>
            </a:r>
            <a:r>
              <a:rPr lang="en-US" sz="900" u="sng" dirty="0" smtClean="0">
                <a:cs typeface="Arial" pitchFamily="34" charset="0"/>
              </a:rPr>
              <a:t>film</a:t>
            </a:r>
            <a:r>
              <a:rPr lang="en-US" sz="900" dirty="0" smtClean="0">
                <a:cs typeface="Arial" pitchFamily="34" charset="0"/>
              </a:rPr>
              <a:t> but the CMEE team did not visit them</a:t>
            </a:r>
          </a:p>
          <a:p>
            <a:pPr marL="285750" indent="-285750" eaLnBrk="0" fontAlgn="base" hangingPunct="0">
              <a:spcBef>
                <a:spcPct val="0"/>
              </a:spcBef>
              <a:spcAft>
                <a:spcPct val="0"/>
              </a:spcAft>
              <a:buFont typeface="Wingdings" panose="05000000000000000000" pitchFamily="2" charset="2"/>
              <a:buChar char="§"/>
            </a:pPr>
            <a:r>
              <a:rPr lang="en-US" sz="900" dirty="0">
                <a:cs typeface="Arial" pitchFamily="34" charset="0"/>
              </a:rPr>
              <a:t>Top DT customers (Gigabyte &amp; MSI) seldom add adhesive on Intel PCH (one exception: Asustek)</a:t>
            </a:r>
            <a:endParaRPr lang="en-US" sz="900" dirty="0" smtClean="0">
              <a:cs typeface="Arial" pitchFamily="34" charset="0"/>
            </a:endParaRPr>
          </a:p>
        </p:txBody>
      </p:sp>
      <p:sp>
        <p:nvSpPr>
          <p:cNvPr id="8" name="Footer Placeholder 5"/>
          <p:cNvSpPr>
            <a:spLocks noGrp="1"/>
          </p:cNvSpPr>
          <p:nvPr>
            <p:ph type="ftr" sz="quarter" idx="12"/>
          </p:nvPr>
        </p:nvSpPr>
        <p:spPr>
          <a:xfrm>
            <a:off x="1749425" y="6357938"/>
            <a:ext cx="5761038" cy="500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cs typeface="Arial" charset="0"/>
              </a:defRPr>
            </a:lvl1pPr>
            <a:lvl2pPr marL="742950" indent="-285750">
              <a:defRPr sz="2400">
                <a:solidFill>
                  <a:schemeClr val="tx1"/>
                </a:solidFill>
                <a:latin typeface="Verdana" pitchFamily="34" charset="0"/>
                <a:cs typeface="Arial" charset="0"/>
              </a:defRPr>
            </a:lvl2pPr>
            <a:lvl3pPr marL="1143000" indent="-228600">
              <a:defRPr sz="2400">
                <a:solidFill>
                  <a:schemeClr val="tx1"/>
                </a:solidFill>
                <a:latin typeface="Verdana" pitchFamily="34" charset="0"/>
                <a:cs typeface="Arial" charset="0"/>
              </a:defRPr>
            </a:lvl3pPr>
            <a:lvl4pPr marL="1600200" indent="-228600">
              <a:defRPr sz="2400">
                <a:solidFill>
                  <a:schemeClr val="tx1"/>
                </a:solidFill>
                <a:latin typeface="Verdana" pitchFamily="34" charset="0"/>
                <a:cs typeface="Arial" charset="0"/>
              </a:defRPr>
            </a:lvl4pPr>
            <a:lvl5pPr marL="2057400" indent="-228600">
              <a:defRPr sz="2400">
                <a:solidFill>
                  <a:schemeClr val="tx1"/>
                </a:solidFill>
                <a:latin typeface="Verdana" pitchFamily="34" charset="0"/>
                <a:cs typeface="Arial" charset="0"/>
              </a:defRPr>
            </a:lvl5pPr>
            <a:lvl6pPr marL="2514600" indent="-228600" algn="ctr" eaLnBrk="0" fontAlgn="base" hangingPunct="0">
              <a:spcBef>
                <a:spcPct val="0"/>
              </a:spcBef>
              <a:spcAft>
                <a:spcPct val="0"/>
              </a:spcAft>
              <a:defRPr sz="2400">
                <a:solidFill>
                  <a:schemeClr val="tx1"/>
                </a:solidFill>
                <a:latin typeface="Verdana" pitchFamily="34" charset="0"/>
                <a:cs typeface="Arial" charset="0"/>
              </a:defRPr>
            </a:lvl6pPr>
            <a:lvl7pPr marL="2971800" indent="-228600" algn="ctr" eaLnBrk="0" fontAlgn="base" hangingPunct="0">
              <a:spcBef>
                <a:spcPct val="0"/>
              </a:spcBef>
              <a:spcAft>
                <a:spcPct val="0"/>
              </a:spcAft>
              <a:defRPr sz="2400">
                <a:solidFill>
                  <a:schemeClr val="tx1"/>
                </a:solidFill>
                <a:latin typeface="Verdana" pitchFamily="34" charset="0"/>
                <a:cs typeface="Arial" charset="0"/>
              </a:defRPr>
            </a:lvl7pPr>
            <a:lvl8pPr marL="3429000" indent="-228600" algn="ctr" eaLnBrk="0" fontAlgn="base" hangingPunct="0">
              <a:spcBef>
                <a:spcPct val="0"/>
              </a:spcBef>
              <a:spcAft>
                <a:spcPct val="0"/>
              </a:spcAft>
              <a:defRPr sz="2400">
                <a:solidFill>
                  <a:schemeClr val="tx1"/>
                </a:solidFill>
                <a:latin typeface="Verdana" pitchFamily="34" charset="0"/>
                <a:cs typeface="Arial" charset="0"/>
              </a:defRPr>
            </a:lvl8pPr>
            <a:lvl9pPr marL="3886200" indent="-228600" algn="ctr" eaLnBrk="0" fontAlgn="base" hangingPunct="0">
              <a:spcBef>
                <a:spcPct val="0"/>
              </a:spcBef>
              <a:spcAft>
                <a:spcPct val="0"/>
              </a:spcAft>
              <a:defRPr sz="2400">
                <a:solidFill>
                  <a:schemeClr val="tx1"/>
                </a:solidFill>
                <a:latin typeface="Verdana" pitchFamily="34" charset="0"/>
                <a:cs typeface="Arial" charset="0"/>
              </a:defRPr>
            </a:lvl9pPr>
          </a:lstStyle>
          <a:p>
            <a:r>
              <a:rPr lang="en-US" sz="800" dirty="0" smtClean="0">
                <a:solidFill>
                  <a:srgbClr val="FFFFFF"/>
                </a:solidFill>
              </a:rPr>
              <a:t>CMEE – Customer Manufacturing Enabling &amp; Engineering / Intel Confidential / Collected Under NDA                                     Mobile 2017 CRD Summary</a:t>
            </a:r>
          </a:p>
        </p:txBody>
      </p:sp>
      <p:sp>
        <p:nvSpPr>
          <p:cNvPr id="3" name="TextBox 2"/>
          <p:cNvSpPr txBox="1"/>
          <p:nvPr/>
        </p:nvSpPr>
        <p:spPr>
          <a:xfrm>
            <a:off x="152399" y="4728448"/>
            <a:ext cx="5335884" cy="276999"/>
          </a:xfrm>
          <a:prstGeom prst="rect">
            <a:avLst/>
          </a:prstGeom>
          <a:solidFill>
            <a:schemeClr val="tx2"/>
          </a:solidFill>
        </p:spPr>
        <p:txBody>
          <a:bodyPr wrap="none" rtlCol="0">
            <a:spAutoFit/>
          </a:bodyPr>
          <a:lstStyle/>
          <a:p>
            <a:r>
              <a:rPr lang="en-US" sz="1200" dirty="0" smtClean="0"/>
              <a:t>Note: Apple uses Dynamics 26663. Microsoft uses </a:t>
            </a:r>
            <a:r>
              <a:rPr lang="en-US" sz="1200" dirty="0" err="1"/>
              <a:t>Zymet</a:t>
            </a:r>
            <a:r>
              <a:rPr lang="en-US" sz="1200"/>
              <a:t> </a:t>
            </a:r>
            <a:r>
              <a:rPr lang="en-US" sz="1200" smtClean="0"/>
              <a:t>UA2605.</a:t>
            </a:r>
            <a:endParaRPr lang="en-US" sz="1200" dirty="0"/>
          </a:p>
        </p:txBody>
      </p:sp>
    </p:spTree>
    <p:extLst>
      <p:ext uri="{BB962C8B-B14F-4D97-AF65-F5344CB8AC3E}">
        <p14:creationId xmlns:p14="http://schemas.microsoft.com/office/powerpoint/2010/main" val="15053647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5613" y="80167"/>
            <a:ext cx="8237537" cy="889000"/>
          </a:xfrm>
        </p:spPr>
        <p:txBody>
          <a:bodyPr/>
          <a:lstStyle/>
          <a:p>
            <a:r>
              <a:rPr lang="en-US" dirty="0" smtClean="0"/>
              <a:t>Corner Glue Video (HVM Factory)</a:t>
            </a:r>
            <a:endParaRPr lang="en-US" dirty="0"/>
          </a:p>
        </p:txBody>
      </p:sp>
      <p:sp>
        <p:nvSpPr>
          <p:cNvPr id="4" name="Date Placeholder 3"/>
          <p:cNvSpPr>
            <a:spLocks noGrp="1"/>
          </p:cNvSpPr>
          <p:nvPr>
            <p:ph type="dt" sz="half" idx="10"/>
          </p:nvPr>
        </p:nvSpPr>
        <p:spPr/>
        <p:txBody>
          <a:bodyPr/>
          <a:lstStyle/>
          <a:p>
            <a:pPr>
              <a:defRPr/>
            </a:pPr>
            <a:fld id="{63F55D9A-6D29-4D50-86F0-F4CC0ABF6DBC}" type="datetime1">
              <a:rPr lang="en-US" smtClean="0"/>
              <a:t>11/7/2019</a:t>
            </a:fld>
            <a:endParaRPr lang="en-US" dirty="0"/>
          </a:p>
        </p:txBody>
      </p:sp>
      <p:sp>
        <p:nvSpPr>
          <p:cNvPr id="5" name="Slide Number Placeholder 4"/>
          <p:cNvSpPr>
            <a:spLocks noGrp="1"/>
          </p:cNvSpPr>
          <p:nvPr>
            <p:ph type="sldNum" sz="quarter" idx="11"/>
          </p:nvPr>
        </p:nvSpPr>
        <p:spPr/>
        <p:txBody>
          <a:bodyPr/>
          <a:lstStyle/>
          <a:p>
            <a:pPr>
              <a:defRPr/>
            </a:pPr>
            <a:fld id="{A981B834-8D6B-43A4-B359-26F0172CC691}" type="slidenum">
              <a:rPr lang="en-US" smtClean="0"/>
              <a:pPr>
                <a:defRPr/>
              </a:pPr>
              <a:t>43</a:t>
            </a:fld>
            <a:endParaRPr lang="en-US" dirty="0"/>
          </a:p>
        </p:txBody>
      </p:sp>
      <p:sp>
        <p:nvSpPr>
          <p:cNvPr id="6" name="Footer Placeholder 5"/>
          <p:cNvSpPr>
            <a:spLocks noGrp="1"/>
          </p:cNvSpPr>
          <p:nvPr>
            <p:ph type="ftr" sz="quarter" idx="12"/>
          </p:nvPr>
        </p:nvSpPr>
        <p:spPr/>
        <p:txBody>
          <a:bodyPr/>
          <a:lstStyle/>
          <a:p>
            <a:pPr>
              <a:defRPr/>
            </a:pPr>
            <a:r>
              <a:rPr lang="en-US" smtClean="0"/>
              <a:t>CMEE – Customer Manufacturing Enabling &amp; Engineering / Intel Confidential / Collected Under NDA                                     Mobile 2017 CRD Summary</a:t>
            </a:r>
            <a:endParaRPr lang="en-US" dirty="0"/>
          </a:p>
        </p:txBody>
      </p:sp>
      <p:pic>
        <p:nvPicPr>
          <p:cNvPr id="7" name="Picture 6"/>
          <p:cNvPicPr>
            <a:picLocks noChangeAspect="1"/>
          </p:cNvPicPr>
          <p:nvPr/>
        </p:nvPicPr>
        <p:blipFill>
          <a:blip r:embed="rId2"/>
          <a:stretch>
            <a:fillRect/>
          </a:stretch>
        </p:blipFill>
        <p:spPr>
          <a:xfrm>
            <a:off x="1430804" y="580818"/>
            <a:ext cx="5927260" cy="5391353"/>
          </a:xfrm>
          <a:prstGeom prst="rect">
            <a:avLst/>
          </a:prstGeom>
        </p:spPr>
      </p:pic>
    </p:spTree>
    <p:extLst>
      <p:ext uri="{BB962C8B-B14F-4D97-AF65-F5344CB8AC3E}">
        <p14:creationId xmlns:p14="http://schemas.microsoft.com/office/powerpoint/2010/main" val="1702935489"/>
      </p:ext>
    </p:extLst>
  </p:cSld>
  <p:clrMapOvr>
    <a:masterClrMapping/>
  </p:clrMapOvr>
</p:sld>
</file>

<file path=ppt/theme/theme1.xml><?xml version="1.0" encoding="utf-8"?>
<a:theme xmlns:a="http://schemas.openxmlformats.org/drawingml/2006/main" name="intel_template_1_111605_WHITE">
  <a:themeElements>
    <a:clrScheme name="intel_template_1_111605_WHITE 2">
      <a:dk1>
        <a:srgbClr val="0860A8"/>
      </a:dk1>
      <a:lt1>
        <a:srgbClr val="FFFFFF"/>
      </a:lt1>
      <a:dk2>
        <a:srgbClr val="F5E647"/>
      </a:dk2>
      <a:lt2>
        <a:srgbClr val="FF5C47"/>
      </a:lt2>
      <a:accent1>
        <a:srgbClr val="A6CAE1"/>
      </a:accent1>
      <a:accent2>
        <a:srgbClr val="567EB9"/>
      </a:accent2>
      <a:accent3>
        <a:srgbClr val="FFFFFF"/>
      </a:accent3>
      <a:accent4>
        <a:srgbClr val="06518F"/>
      </a:accent4>
      <a:accent5>
        <a:srgbClr val="D0E1EE"/>
      </a:accent5>
      <a:accent6>
        <a:srgbClr val="4D72A7"/>
      </a:accent6>
      <a:hlink>
        <a:srgbClr val="0C2E86"/>
      </a:hlink>
      <a:folHlink>
        <a:srgbClr val="AA014C"/>
      </a:folHlink>
    </a:clrScheme>
    <a:fontScheme name="intel_template_1_111605_WHI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cs typeface="Arial" pitchFamily="34" charset="0"/>
          </a:defRPr>
        </a:defPPr>
      </a:lstStyle>
    </a:lnDef>
  </a:objectDefaults>
  <a:extraClrSchemeLst>
    <a:extraClrScheme>
      <a:clrScheme name="intel_template_1_111605_WHITE 1">
        <a:dk1>
          <a:srgbClr val="FF5C00"/>
        </a:dk1>
        <a:lt1>
          <a:srgbClr val="FFFFFF"/>
        </a:lt1>
        <a:dk2>
          <a:srgbClr val="0C2E86"/>
        </a:dk2>
        <a:lt2>
          <a:srgbClr val="F5E647"/>
        </a:lt2>
        <a:accent1>
          <a:srgbClr val="A6CAE1"/>
        </a:accent1>
        <a:accent2>
          <a:srgbClr val="567EB9"/>
        </a:accent2>
        <a:accent3>
          <a:srgbClr val="AAADC3"/>
        </a:accent3>
        <a:accent4>
          <a:srgbClr val="DADADA"/>
        </a:accent4>
        <a:accent5>
          <a:srgbClr val="D0E1EE"/>
        </a:accent5>
        <a:accent6>
          <a:srgbClr val="4D72A7"/>
        </a:accent6>
        <a:hlink>
          <a:srgbClr val="0860A8"/>
        </a:hlink>
        <a:folHlink>
          <a:srgbClr val="AA014C"/>
        </a:folHlink>
      </a:clrScheme>
      <a:clrMap bg1="dk2" tx1="lt1" bg2="dk1" tx2="lt2" accent1="accent1" accent2="accent2" accent3="accent3" accent4="accent4" accent5="accent5" accent6="accent6" hlink="hlink" folHlink="folHlink"/>
    </a:extraClrScheme>
    <a:extraClrScheme>
      <a:clrScheme name="intel_template_1_111605_WHITE 2">
        <a:dk1>
          <a:srgbClr val="0860A8"/>
        </a:dk1>
        <a:lt1>
          <a:srgbClr val="FFFFFF"/>
        </a:lt1>
        <a:dk2>
          <a:srgbClr val="F5E647"/>
        </a:dk2>
        <a:lt2>
          <a:srgbClr val="FF5C47"/>
        </a:lt2>
        <a:accent1>
          <a:srgbClr val="A6CAE1"/>
        </a:accent1>
        <a:accent2>
          <a:srgbClr val="567EB9"/>
        </a:accent2>
        <a:accent3>
          <a:srgbClr val="FFFFFF"/>
        </a:accent3>
        <a:accent4>
          <a:srgbClr val="06518F"/>
        </a:accent4>
        <a:accent5>
          <a:srgbClr val="D0E1EE"/>
        </a:accent5>
        <a:accent6>
          <a:srgbClr val="4D72A7"/>
        </a:accent6>
        <a:hlink>
          <a:srgbClr val="0C2E86"/>
        </a:hlink>
        <a:folHlink>
          <a:srgbClr val="AA014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B7B10884-7068-418F-A4E8-A94B81C87258}"/>
</file>

<file path=customXml/itemProps2.xml><?xml version="1.0" encoding="utf-8"?>
<ds:datastoreItem xmlns:ds="http://schemas.openxmlformats.org/officeDocument/2006/customXml" ds:itemID="{EFAC01BF-7DE3-4B02-ABAD-7868B17BC1BB}"/>
</file>

<file path=customXml/itemProps3.xml><?xml version="1.0" encoding="utf-8"?>
<ds:datastoreItem xmlns:ds="http://schemas.openxmlformats.org/officeDocument/2006/customXml" ds:itemID="{3BA8DA65-AEBB-4259-9FFA-7371413EC908}"/>
</file>

<file path=docProps/app.xml><?xml version="1.0" encoding="utf-8"?>
<Properties xmlns="http://schemas.openxmlformats.org/officeDocument/2006/extended-properties" xmlns:vt="http://schemas.openxmlformats.org/officeDocument/2006/docPropsVTypes">
  <Template/>
  <TotalTime>26517</TotalTime>
  <Words>6546</Words>
  <Application>Microsoft Office PowerPoint</Application>
  <PresentationFormat>On-screen Show (4:3)</PresentationFormat>
  <Paragraphs>1734</Paragraphs>
  <Slides>43</Slides>
  <Notes>28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2" baseType="lpstr">
      <vt:lpstr>宋体</vt:lpstr>
      <vt:lpstr>Arial</vt:lpstr>
      <vt:lpstr>Calibri</vt:lpstr>
      <vt:lpstr>Intel Clear</vt:lpstr>
      <vt:lpstr>Times</vt:lpstr>
      <vt:lpstr>Verdana</vt:lpstr>
      <vt:lpstr>Wingdings</vt:lpstr>
      <vt:lpstr>intel_template_1_111605_WHITE</vt:lpstr>
      <vt:lpstr>Worksheet</vt:lpstr>
      <vt:lpstr>2019 TGL Customers CRD Summary Report  </vt:lpstr>
      <vt:lpstr>PowerPoint Presentation</vt:lpstr>
      <vt:lpstr>Objectives</vt:lpstr>
      <vt:lpstr>High Level Intel pkg design and validation requirement based on customer data (1/2) </vt:lpstr>
      <vt:lpstr>High Level Intel pkg design and validation requirement based on customer data (2/2)</vt:lpstr>
      <vt:lpstr>SOLDER PASTE PRINT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REFLOW</vt:lpstr>
      <vt:lpstr>PowerPoint Presentation</vt:lpstr>
      <vt:lpstr>PowerPoint Presentation</vt:lpstr>
      <vt:lpstr>PowerPoint Presentation</vt:lpstr>
      <vt:lpstr>PowerPoint Presentation</vt:lpstr>
      <vt:lpstr>ADHESIVE</vt:lpstr>
      <vt:lpstr>PowerPoint Presentation</vt:lpstr>
      <vt:lpstr>PowerPoint Presentation</vt:lpstr>
      <vt:lpstr>REWORK</vt:lpstr>
      <vt:lpstr>PowerPoint Presentation</vt:lpstr>
      <vt:lpstr>PowerPoint Presentation</vt:lpstr>
      <vt:lpstr>PCB</vt:lpstr>
      <vt:lpstr>PowerPoint Presentation</vt:lpstr>
      <vt:lpstr>LTS</vt:lpstr>
      <vt:lpstr>LTS</vt:lpstr>
      <vt:lpstr>LTS</vt:lpstr>
      <vt:lpstr>THERMAL MODULE ASSEMBLY/DISASSEMBLY</vt:lpstr>
      <vt:lpstr>PowerPoint Presentation</vt:lpstr>
      <vt:lpstr>Back up</vt:lpstr>
      <vt:lpstr>Adhesive on Intel BGA</vt:lpstr>
      <vt:lpstr>Adhesive on Intel BGA</vt:lpstr>
      <vt:lpstr>Adhesive on Intel BGA</vt:lpstr>
      <vt:lpstr>Adhesive on Intel BGA</vt:lpstr>
      <vt:lpstr>PowerPoint Presentation</vt:lpstr>
      <vt:lpstr>Corner Glue Video (HVM Factory)</vt:lpstr>
    </vt:vector>
  </TitlesOfParts>
  <Company>Intel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smoy</dc:creator>
  <cp:keywords>CTPClassification=CTP_IC:VisualMarkings=, CTPClassification=CTP_IC</cp:keywords>
  <cp:lastModifiedBy>Yu, Harry</cp:lastModifiedBy>
  <cp:revision>590</cp:revision>
  <dcterms:created xsi:type="dcterms:W3CDTF">2011-10-18T02:30:40Z</dcterms:created>
  <dcterms:modified xsi:type="dcterms:W3CDTF">2019-11-07T06:07:05Z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bbf65b74-c0a3-4adc-8d60-4d240b1f7a6e</vt:lpwstr>
  </property>
  <property fmtid="{D5CDD505-2E9C-101B-9397-08002B2CF9AE}" pid="3" name="CTP_BU">
    <vt:lpwstr>TECHNOLOGY MANUFACTURING GROUP</vt:lpwstr>
  </property>
  <property fmtid="{D5CDD505-2E9C-101B-9397-08002B2CF9AE}" pid="4" name="CTP_TimeStamp">
    <vt:lpwstr>2019-11-07 06:06:36Z</vt:lpwstr>
  </property>
  <property fmtid="{D5CDD505-2E9C-101B-9397-08002B2CF9AE}" pid="5" name="CTPClassification">
    <vt:lpwstr>CTP_IC</vt:lpwstr>
  </property>
  <property fmtid="{D5CDD505-2E9C-101B-9397-08002B2CF9AE}" pid="6" name="ContentTypeId">
    <vt:lpwstr>0x010100C25921F9D4874B40A69C72F5C132575A</vt:lpwstr>
  </property>
</Properties>
</file>