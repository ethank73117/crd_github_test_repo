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3"/>
  </p:notesMasterIdLst>
  <p:handoutMasterIdLst>
    <p:handoutMasterId r:id="rId44"/>
  </p:handoutMasterIdLst>
  <p:sldIdLst>
    <p:sldId id="256" r:id="rId5"/>
    <p:sldId id="346" r:id="rId6"/>
    <p:sldId id="526" r:id="rId7"/>
    <p:sldId id="402" r:id="rId8"/>
    <p:sldId id="437" r:id="rId9"/>
    <p:sldId id="451" r:id="rId10"/>
    <p:sldId id="528" r:id="rId11"/>
    <p:sldId id="529" r:id="rId12"/>
    <p:sldId id="530" r:id="rId13"/>
    <p:sldId id="531" r:id="rId14"/>
    <p:sldId id="444" r:id="rId15"/>
    <p:sldId id="532" r:id="rId16"/>
    <p:sldId id="534" r:id="rId17"/>
    <p:sldId id="533" r:id="rId18"/>
    <p:sldId id="447" r:id="rId19"/>
    <p:sldId id="535" r:id="rId20"/>
    <p:sldId id="536" r:id="rId21"/>
    <p:sldId id="537" r:id="rId22"/>
    <p:sldId id="450" r:id="rId23"/>
    <p:sldId id="538" r:id="rId24"/>
    <p:sldId id="539" r:id="rId25"/>
    <p:sldId id="540" r:id="rId26"/>
    <p:sldId id="507" r:id="rId27"/>
    <p:sldId id="541" r:id="rId28"/>
    <p:sldId id="542" r:id="rId29"/>
    <p:sldId id="543" r:id="rId30"/>
    <p:sldId id="544" r:id="rId31"/>
    <p:sldId id="545" r:id="rId32"/>
    <p:sldId id="512" r:id="rId33"/>
    <p:sldId id="546" r:id="rId34"/>
    <p:sldId id="547" r:id="rId35"/>
    <p:sldId id="548" r:id="rId36"/>
    <p:sldId id="549" r:id="rId37"/>
    <p:sldId id="550" r:id="rId38"/>
    <p:sldId id="523" r:id="rId39"/>
    <p:sldId id="551" r:id="rId40"/>
    <p:sldId id="292" r:id="rId41"/>
    <p:sldId id="525" r:id="rId42"/>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6467"/>
    <a:srgbClr val="00B0F0"/>
    <a:srgbClr val="0068B5"/>
    <a:srgbClr val="E7EBF3"/>
    <a:srgbClr val="2872C5"/>
    <a:srgbClr val="525252"/>
    <a:srgbClr val="FFFFFF"/>
    <a:srgbClr val="00C7FD"/>
    <a:srgbClr val="004A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781737-B979-4FB4-9FB1-7552744B0BBE}" v="2" dt="2024-11-26T23:15:37.59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7423" autoAdjust="0"/>
  </p:normalViewPr>
  <p:slideViewPr>
    <p:cSldViewPr snapToGrid="0" snapToObjects="1">
      <p:cViewPr varScale="1">
        <p:scale>
          <a:sx n="81" d="100"/>
          <a:sy n="81" d="100"/>
        </p:scale>
        <p:origin x="416" y="6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5"/>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rkholder, Dan S" userId="9ba5b14c-4df1-4e1a-b82b-b994ae8072a6" providerId="ADAL" clId="{94781737-B979-4FB4-9FB1-7552744B0BBE}"/>
    <pc:docChg chg="custSel modSld">
      <pc:chgData name="Burkholder, Dan S" userId="9ba5b14c-4df1-4e1a-b82b-b994ae8072a6" providerId="ADAL" clId="{94781737-B979-4FB4-9FB1-7552744B0BBE}" dt="2024-11-26T23:15:52.311" v="254" actId="1076"/>
      <pc:docMkLst>
        <pc:docMk/>
      </pc:docMkLst>
      <pc:sldChg chg="addSp modSp mod">
        <pc:chgData name="Burkholder, Dan S" userId="9ba5b14c-4df1-4e1a-b82b-b994ae8072a6" providerId="ADAL" clId="{94781737-B979-4FB4-9FB1-7552744B0BBE}" dt="2024-11-26T23:15:33.930" v="249" actId="20577"/>
        <pc:sldMkLst>
          <pc:docMk/>
          <pc:sldMk cId="2143570823" sldId="536"/>
        </pc:sldMkLst>
        <pc:spChg chg="add mod">
          <ac:chgData name="Burkholder, Dan S" userId="9ba5b14c-4df1-4e1a-b82b-b994ae8072a6" providerId="ADAL" clId="{94781737-B979-4FB4-9FB1-7552744B0BBE}" dt="2024-11-26T23:15:33.930" v="249" actId="20577"/>
          <ac:spMkLst>
            <pc:docMk/>
            <pc:sldMk cId="2143570823" sldId="536"/>
            <ac:spMk id="2" creationId="{5D97FA7A-5FD1-D0AC-9BC5-43B1B1FE0A31}"/>
          </ac:spMkLst>
        </pc:spChg>
      </pc:sldChg>
      <pc:sldChg chg="addSp modSp mod">
        <pc:chgData name="Burkholder, Dan S" userId="9ba5b14c-4df1-4e1a-b82b-b994ae8072a6" providerId="ADAL" clId="{94781737-B979-4FB4-9FB1-7552744B0BBE}" dt="2024-11-26T23:15:52.311" v="254" actId="1076"/>
        <pc:sldMkLst>
          <pc:docMk/>
          <pc:sldMk cId="1752587123" sldId="537"/>
        </pc:sldMkLst>
        <pc:spChg chg="mod">
          <ac:chgData name="Burkholder, Dan S" userId="9ba5b14c-4df1-4e1a-b82b-b994ae8072a6" providerId="ADAL" clId="{94781737-B979-4FB4-9FB1-7552744B0BBE}" dt="2024-11-26T23:15:50.064" v="253" actId="1076"/>
          <ac:spMkLst>
            <pc:docMk/>
            <pc:sldMk cId="1752587123" sldId="537"/>
            <ac:spMk id="4" creationId="{739ED610-7AC8-45CD-BCC6-B494109E5D9F}"/>
          </ac:spMkLst>
        </pc:spChg>
        <pc:spChg chg="add mod">
          <ac:chgData name="Burkholder, Dan S" userId="9ba5b14c-4df1-4e1a-b82b-b994ae8072a6" providerId="ADAL" clId="{94781737-B979-4FB4-9FB1-7552744B0BBE}" dt="2024-11-26T23:15:52.311" v="254" actId="1076"/>
          <ac:spMkLst>
            <pc:docMk/>
            <pc:sldMk cId="1752587123" sldId="537"/>
            <ac:spMk id="5" creationId="{3042AA9C-C610-FBE7-8915-A4F4620D6C9A}"/>
          </ac:spMkLst>
        </pc:spChg>
        <pc:graphicFrameChg chg="modGraphic">
          <ac:chgData name="Burkholder, Dan S" userId="9ba5b14c-4df1-4e1a-b82b-b994ae8072a6" providerId="ADAL" clId="{94781737-B979-4FB4-9FB1-7552744B0BBE}" dt="2024-11-26T23:15:46.697" v="252" actId="14100"/>
          <ac:graphicFrameMkLst>
            <pc:docMk/>
            <pc:sldMk cId="1752587123" sldId="537"/>
            <ac:graphicFrameMk id="3" creationId="{503B5CA7-8C98-49CD-062E-DAB370D359FC}"/>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11/26/2024</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Clear</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dirty="0"/>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dirty="0"/>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dirty="0"/>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dirty="0"/>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dirty="0"/>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dirty="0"/>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9144"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4835881" y="6562504"/>
            <a:ext cx="2520242" cy="231410"/>
          </a:xfrm>
          <a:prstGeom prst="rect">
            <a:avLst/>
          </a:prstGeom>
        </p:spPr>
        <p:txBody>
          <a:bodyPr wrap="none">
            <a:spAutoFit/>
          </a:bodyPr>
          <a:lstStyle/>
          <a:p>
            <a:pPr algn="ctr"/>
            <a:r>
              <a:rPr lang="en-US" sz="1000" dirty="0">
                <a:solidFill>
                  <a:schemeClr val="bg2"/>
                </a:solidFill>
              </a:rPr>
              <a:t>Intel Confidential | For Internal Use Only</a:t>
            </a:r>
          </a:p>
        </p:txBody>
      </p:sp>
      <p:sp>
        <p:nvSpPr>
          <p:cNvPr id="5" name="Rectangle 4">
            <a:extLst>
              <a:ext uri="{FF2B5EF4-FFF2-40B4-BE49-F238E27FC236}">
                <a16:creationId xmlns:a16="http://schemas.microsoft.com/office/drawing/2014/main" id="{7FE2005A-EE28-4562-A018-55A90BB1BA11}"/>
              </a:ext>
            </a:extLst>
          </p:cNvPr>
          <p:cNvSpPr/>
          <p:nvPr userDrawn="1"/>
        </p:nvSpPr>
        <p:spPr>
          <a:xfrm>
            <a:off x="483010" y="6562504"/>
            <a:ext cx="2319866" cy="231410"/>
          </a:xfrm>
          <a:prstGeom prst="rect">
            <a:avLst/>
          </a:prstGeom>
        </p:spPr>
        <p:txBody>
          <a:bodyPr wrap="none">
            <a:spAutoFit/>
          </a:bodyPr>
          <a:lstStyle/>
          <a:p>
            <a:pPr algn="l"/>
            <a:r>
              <a:rPr lang="en-US" sz="1000" b="1" dirty="0">
                <a:solidFill>
                  <a:schemeClr val="bg2"/>
                </a:solidFill>
              </a:rPr>
              <a:t>CQR | </a:t>
            </a:r>
            <a:r>
              <a:rPr lang="en-US" sz="1000" b="0" dirty="0">
                <a:solidFill>
                  <a:schemeClr val="bg2"/>
                </a:solidFill>
              </a:rPr>
              <a:t> Customer Quality &amp; Reliability</a:t>
            </a:r>
            <a:endParaRPr lang="en-US" sz="1000" b="1" dirty="0">
              <a:solidFill>
                <a:schemeClr val="bg2"/>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 Target="slide11.xml"/><Relationship Id="rId7" Type="http://schemas.openxmlformats.org/officeDocument/2006/relationships/slide" Target="slide29.xml"/><Relationship Id="rId2" Type="http://schemas.openxmlformats.org/officeDocument/2006/relationships/slide" Target="slide5.xml"/><Relationship Id="rId1" Type="http://schemas.openxmlformats.org/officeDocument/2006/relationships/slideLayout" Target="../slideLayouts/slideLayout6.xml"/><Relationship Id="rId6" Type="http://schemas.openxmlformats.org/officeDocument/2006/relationships/slide" Target="slide23.xml"/><Relationship Id="rId5" Type="http://schemas.openxmlformats.org/officeDocument/2006/relationships/slide" Target="slide19.xml"/><Relationship Id="rId4" Type="http://schemas.openxmlformats.org/officeDocument/2006/relationships/slide" Target="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 Id="rId5" Type="http://schemas.openxmlformats.org/officeDocument/2006/relationships/image" Target="../media/image11.jpeg"/><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627484" y="1454727"/>
            <a:ext cx="10568898" cy="2170334"/>
          </a:xfrm>
        </p:spPr>
        <p:txBody>
          <a:bodyPr anchor="b" anchorCtr="0"/>
          <a:lstStyle/>
          <a:p>
            <a:pPr algn="ctr"/>
            <a:r>
              <a:rPr lang="en-US" sz="6000" dirty="0"/>
              <a:t>2024 Panther Lake CRD_OEM Summary Report</a:t>
            </a:r>
          </a:p>
        </p:txBody>
      </p:sp>
      <p:sp>
        <p:nvSpPr>
          <p:cNvPr id="9" name="Text Placeholder 8">
            <a:extLst>
              <a:ext uri="{FF2B5EF4-FFF2-40B4-BE49-F238E27FC236}">
                <a16:creationId xmlns:a16="http://schemas.microsoft.com/office/drawing/2014/main" id="{ABEAF9F9-E88D-44A4-A1B6-BAA2E532B65E}"/>
              </a:ext>
            </a:extLst>
          </p:cNvPr>
          <p:cNvSpPr>
            <a:spLocks noGrp="1"/>
          </p:cNvSpPr>
          <p:nvPr>
            <p:ph type="body" sz="quarter" idx="27"/>
          </p:nvPr>
        </p:nvSpPr>
        <p:spPr>
          <a:xfrm>
            <a:off x="1908349" y="4778609"/>
            <a:ext cx="9695388" cy="326776"/>
          </a:xfrm>
        </p:spPr>
        <p:txBody>
          <a:bodyPr/>
          <a:lstStyle/>
          <a:p>
            <a:r>
              <a:rPr lang="en-US" dirty="0"/>
              <a:t>Rev1.0, CQ&amp;R CMEE Team, 2024Q3</a:t>
            </a:r>
          </a:p>
        </p:txBody>
      </p:sp>
      <p:sp>
        <p:nvSpPr>
          <p:cNvPr id="8" name="Octagon 7">
            <a:extLst>
              <a:ext uri="{FF2B5EF4-FFF2-40B4-BE49-F238E27FC236}">
                <a16:creationId xmlns:a16="http://schemas.microsoft.com/office/drawing/2014/main" id="{6042841E-0D98-468A-8176-AB4F17BB07E7}"/>
              </a:ext>
            </a:extLst>
          </p:cNvPr>
          <p:cNvSpPr/>
          <p:nvPr/>
        </p:nvSpPr>
        <p:spPr>
          <a:xfrm>
            <a:off x="10330099" y="17705"/>
            <a:ext cx="1861901" cy="2061686"/>
          </a:xfrm>
          <a:prstGeom prst="octagon">
            <a:avLst/>
          </a:prstGeom>
          <a:solidFill>
            <a:srgbClr val="FF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Stop</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Customers confidential information </a:t>
            </a:r>
            <a:r>
              <a:rPr lang="en-US" sz="1200" u="sng"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under NDA</a:t>
            </a: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 Intel internal use only</a:t>
            </a:r>
            <a:endParaRPr kumimoji="0" lang="en-US" sz="1200" b="0"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endParaRPr>
          </a:p>
        </p:txBody>
      </p:sp>
    </p:spTree>
    <p:extLst>
      <p:ext uri="{BB962C8B-B14F-4D97-AF65-F5344CB8AC3E}">
        <p14:creationId xmlns:p14="http://schemas.microsoft.com/office/powerpoint/2010/main" val="2086400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sz="3200" dirty="0"/>
              <a:t>Objectives</a:t>
            </a: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84993" y="2191431"/>
            <a:ext cx="11010900" cy="4191322"/>
          </a:xfrm>
        </p:spPr>
        <p:txBody>
          <a:bodyPr>
            <a:normAutofit/>
          </a:bodyPr>
          <a:lstStyle/>
          <a:p>
            <a:r>
              <a:rPr lang="en-US" sz="2000" dirty="0"/>
              <a:t>Data Collected From 7 OEM Customers</a:t>
            </a:r>
          </a:p>
          <a:p>
            <a:pPr lvl="1"/>
            <a:r>
              <a:rPr lang="en-US" sz="1800" dirty="0"/>
              <a:t>HP</a:t>
            </a:r>
          </a:p>
          <a:p>
            <a:pPr lvl="1"/>
            <a:r>
              <a:rPr lang="en-US" sz="1800" dirty="0"/>
              <a:t>Microsoft</a:t>
            </a:r>
          </a:p>
          <a:p>
            <a:pPr lvl="1"/>
            <a:r>
              <a:rPr lang="en-US" sz="1800" dirty="0"/>
              <a:t>Dell</a:t>
            </a:r>
          </a:p>
          <a:p>
            <a:pPr lvl="1"/>
            <a:r>
              <a:rPr lang="en-US" sz="1800" dirty="0"/>
              <a:t>Lenovo(</a:t>
            </a:r>
            <a:r>
              <a:rPr lang="en-US" sz="1800" dirty="0" err="1"/>
              <a:t>Thinkpad</a:t>
            </a:r>
            <a:r>
              <a:rPr lang="en-US" sz="1800" dirty="0"/>
              <a:t>)</a:t>
            </a:r>
          </a:p>
          <a:p>
            <a:pPr lvl="1"/>
            <a:r>
              <a:rPr lang="en-US" sz="1800" dirty="0"/>
              <a:t>Acer</a:t>
            </a:r>
          </a:p>
          <a:p>
            <a:pPr lvl="1"/>
            <a:r>
              <a:rPr lang="en-US" sz="1800" dirty="0"/>
              <a:t>Dynabook</a:t>
            </a:r>
          </a:p>
          <a:p>
            <a:pPr lvl="1"/>
            <a:r>
              <a:rPr lang="en-US" sz="1800" dirty="0"/>
              <a:t>Samsung(Only limited information collected)</a:t>
            </a:r>
          </a:p>
          <a:p>
            <a:pPr lvl="1"/>
            <a:r>
              <a:rPr lang="en-US" sz="1800" dirty="0"/>
              <a:t>Fujitsu</a:t>
            </a:r>
          </a:p>
          <a:p>
            <a:pPr lvl="1"/>
            <a:endParaRPr lang="en-US" sz="1800" dirty="0"/>
          </a:p>
        </p:txBody>
      </p:sp>
      <p:sp>
        <p:nvSpPr>
          <p:cNvPr id="4" name="Text Placeholder 3">
            <a:extLst>
              <a:ext uri="{FF2B5EF4-FFF2-40B4-BE49-F238E27FC236}">
                <a16:creationId xmlns:a16="http://schemas.microsoft.com/office/drawing/2014/main" id="{F40B3903-56DF-4903-AAAF-FFE7DC00ED5A}"/>
              </a:ext>
            </a:extLst>
          </p:cNvPr>
          <p:cNvSpPr>
            <a:spLocks noGrp="1"/>
          </p:cNvSpPr>
          <p:nvPr>
            <p:ph type="body" sz="quarter" idx="29"/>
          </p:nvPr>
        </p:nvSpPr>
        <p:spPr>
          <a:xfrm>
            <a:off x="584993" y="1161717"/>
            <a:ext cx="11022013" cy="781384"/>
          </a:xfrm>
        </p:spPr>
        <p:txBody>
          <a:bodyPr/>
          <a:lstStyle/>
          <a:p>
            <a:r>
              <a:rPr lang="en-US" sz="2400" dirty="0"/>
              <a:t>Share Findings From CMEE Mobile Industry Data Collection (Panther Lake Platform Customer Survey)</a:t>
            </a:r>
          </a:p>
        </p:txBody>
      </p:sp>
    </p:spTree>
    <p:extLst>
      <p:ext uri="{BB962C8B-B14F-4D97-AF65-F5344CB8AC3E}">
        <p14:creationId xmlns:p14="http://schemas.microsoft.com/office/powerpoint/2010/main" val="197084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altLang="zh-CN" sz="3200" dirty="0"/>
              <a:t>Agenda</a:t>
            </a:r>
            <a:endParaRPr lang="en-US" sz="3200" dirty="0"/>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84993" y="1333339"/>
            <a:ext cx="11010900" cy="4191322"/>
          </a:xfrm>
        </p:spPr>
        <p:txBody>
          <a:bodyPr>
            <a:normAutofit/>
          </a:bodyPr>
          <a:lstStyle/>
          <a:p>
            <a:r>
              <a:rPr lang="en-US" sz="2000" dirty="0"/>
              <a:t>Reliability Test</a:t>
            </a:r>
          </a:p>
          <a:p>
            <a:r>
              <a:rPr lang="en-US" sz="2000" dirty="0"/>
              <a:t>Functional Test</a:t>
            </a:r>
          </a:p>
          <a:p>
            <a:r>
              <a:rPr lang="en-US" sz="2000" dirty="0"/>
              <a:t>SMT Process &amp; Rework</a:t>
            </a:r>
          </a:p>
          <a:p>
            <a:r>
              <a:rPr lang="en-US" sz="2000" dirty="0"/>
              <a:t>Solder paste &amp; Solder ball</a:t>
            </a:r>
          </a:p>
          <a:p>
            <a:r>
              <a:rPr lang="en-US" altLang="zh-CN" sz="2000" dirty="0"/>
              <a:t>BFI Related</a:t>
            </a:r>
          </a:p>
          <a:p>
            <a:r>
              <a:rPr lang="en-US" sz="2000" dirty="0"/>
              <a:t>Adhesive Related</a:t>
            </a:r>
          </a:p>
          <a:p>
            <a:r>
              <a:rPr lang="en-US" sz="2000" dirty="0"/>
              <a:t>Others </a:t>
            </a:r>
          </a:p>
        </p:txBody>
      </p:sp>
      <p:sp>
        <p:nvSpPr>
          <p:cNvPr id="4" name="Action Button: Go Forward or Next 3">
            <a:hlinkClick r:id="rId2" action="ppaction://hlinksldjump" highlightClick="1"/>
            <a:extLst>
              <a:ext uri="{FF2B5EF4-FFF2-40B4-BE49-F238E27FC236}">
                <a16:creationId xmlns:a16="http://schemas.microsoft.com/office/drawing/2014/main" id="{C44F9908-8493-CADD-DAEA-3FCD09D25791}"/>
              </a:ext>
            </a:extLst>
          </p:cNvPr>
          <p:cNvSpPr/>
          <p:nvPr/>
        </p:nvSpPr>
        <p:spPr>
          <a:xfrm>
            <a:off x="2558390" y="141875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Action Button: Go Forward or Next 4">
            <a:hlinkClick r:id="rId3" action="ppaction://hlinksldjump" highlightClick="1"/>
            <a:extLst>
              <a:ext uri="{FF2B5EF4-FFF2-40B4-BE49-F238E27FC236}">
                <a16:creationId xmlns:a16="http://schemas.microsoft.com/office/drawing/2014/main" id="{0B529C48-B12C-F541-0648-D0A6AF41C6CA}"/>
              </a:ext>
            </a:extLst>
          </p:cNvPr>
          <p:cNvSpPr/>
          <p:nvPr/>
        </p:nvSpPr>
        <p:spPr>
          <a:xfrm>
            <a:off x="2698921" y="1856392"/>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Action Button: Go Forward or Next 5">
            <a:hlinkClick r:id="rId4" action="ppaction://hlinksldjump" highlightClick="1"/>
            <a:extLst>
              <a:ext uri="{FF2B5EF4-FFF2-40B4-BE49-F238E27FC236}">
                <a16:creationId xmlns:a16="http://schemas.microsoft.com/office/drawing/2014/main" id="{DDC441B3-3DF3-17C5-D782-FF880523A06E}"/>
              </a:ext>
            </a:extLst>
          </p:cNvPr>
          <p:cNvSpPr/>
          <p:nvPr/>
        </p:nvSpPr>
        <p:spPr>
          <a:xfrm>
            <a:off x="3458916" y="232410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Action Button: Go Forward or Next 6">
            <a:hlinkClick r:id="rId5" action="ppaction://hlinksldjump" highlightClick="1"/>
            <a:extLst>
              <a:ext uri="{FF2B5EF4-FFF2-40B4-BE49-F238E27FC236}">
                <a16:creationId xmlns:a16="http://schemas.microsoft.com/office/drawing/2014/main" id="{955F1123-D62D-6899-72BA-31F0E7FF8DFB}"/>
              </a:ext>
            </a:extLst>
          </p:cNvPr>
          <p:cNvSpPr/>
          <p:nvPr/>
        </p:nvSpPr>
        <p:spPr>
          <a:xfrm>
            <a:off x="3813847" y="276076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Action Button: Go Forward or Next 8">
            <a:hlinkClick r:id="rId6" action="ppaction://hlinksldjump" highlightClick="1"/>
            <a:extLst>
              <a:ext uri="{FF2B5EF4-FFF2-40B4-BE49-F238E27FC236}">
                <a16:creationId xmlns:a16="http://schemas.microsoft.com/office/drawing/2014/main" id="{6448FA80-07C8-1E40-59D2-931DC695625D}"/>
              </a:ext>
            </a:extLst>
          </p:cNvPr>
          <p:cNvSpPr/>
          <p:nvPr/>
        </p:nvSpPr>
        <p:spPr>
          <a:xfrm>
            <a:off x="2173542" y="3254608"/>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Action Button: Go Forward or Next 9">
            <a:hlinkClick r:id="rId7" action="ppaction://hlinksldjump" highlightClick="1"/>
            <a:extLst>
              <a:ext uri="{FF2B5EF4-FFF2-40B4-BE49-F238E27FC236}">
                <a16:creationId xmlns:a16="http://schemas.microsoft.com/office/drawing/2014/main" id="{E485B54C-0F26-63E9-E36C-5194F02EC143}"/>
              </a:ext>
            </a:extLst>
          </p:cNvPr>
          <p:cNvSpPr/>
          <p:nvPr/>
        </p:nvSpPr>
        <p:spPr>
          <a:xfrm>
            <a:off x="2839453" y="3690526"/>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ction Button: Go Forward or Next 10">
            <a:hlinkClick r:id="rId8" action="ppaction://hlinksldjump" highlightClick="1"/>
            <a:extLst>
              <a:ext uri="{FF2B5EF4-FFF2-40B4-BE49-F238E27FC236}">
                <a16:creationId xmlns:a16="http://schemas.microsoft.com/office/drawing/2014/main" id="{792B62FB-BE6B-58A7-C939-1651B163D4B1}"/>
              </a:ext>
            </a:extLst>
          </p:cNvPr>
          <p:cNvSpPr/>
          <p:nvPr/>
        </p:nvSpPr>
        <p:spPr>
          <a:xfrm>
            <a:off x="1656184" y="4152418"/>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56375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sz="3200" dirty="0">
                <a:solidFill>
                  <a:schemeClr val="tx1"/>
                </a:solidFill>
              </a:rPr>
              <a:t>Highlight</a:t>
            </a:r>
            <a:r>
              <a:rPr lang="en-US" altLang="zh-CN" sz="3200" dirty="0">
                <a:solidFill>
                  <a:schemeClr val="tx1"/>
                </a:solidFill>
              </a:rPr>
              <a:t>s</a:t>
            </a:r>
            <a:endParaRPr lang="en-US" sz="3200" dirty="0">
              <a:solidFill>
                <a:schemeClr val="tx1"/>
              </a:solidFill>
            </a:endParaRP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71286" y="1139466"/>
            <a:ext cx="11010900" cy="4557488"/>
          </a:xfrm>
        </p:spPr>
        <p:txBody>
          <a:bodyPr>
            <a:normAutofit/>
          </a:bodyPr>
          <a:lstStyle/>
          <a:p>
            <a:pPr marL="288925" indent="-288925">
              <a:spcBef>
                <a:spcPts val="600"/>
              </a:spcBef>
            </a:pPr>
            <a:r>
              <a:rPr lang="en-US" sz="1800" dirty="0"/>
              <a:t>All customers perform TC/Shock/</a:t>
            </a:r>
            <a:r>
              <a:rPr lang="en-US" sz="1800" dirty="0">
                <a:solidFill>
                  <a:schemeClr val="accent1"/>
                </a:solidFill>
              </a:rPr>
              <a:t> </a:t>
            </a:r>
            <a:r>
              <a:rPr lang="en-US" sz="1800" dirty="0"/>
              <a:t>Thermal Humidity test, but thermal test conditions were different</a:t>
            </a:r>
          </a:p>
          <a:p>
            <a:pPr marL="288925" indent="-288925">
              <a:spcBef>
                <a:spcPts val="600"/>
              </a:spcBef>
            </a:pPr>
            <a:r>
              <a:rPr lang="en-US" altLang="zh-CN" sz="1800" dirty="0">
                <a:sym typeface="Wingdings" panose="05000000000000000000" pitchFamily="2" charset="2"/>
              </a:rPr>
              <a:t>Customers have some difficulty on testing Thunderbolt. </a:t>
            </a:r>
          </a:p>
          <a:p>
            <a:pPr marL="288925" indent="-288925">
              <a:lnSpc>
                <a:spcPct val="110000"/>
              </a:lnSpc>
              <a:spcBef>
                <a:spcPts val="600"/>
              </a:spcBef>
            </a:pPr>
            <a:r>
              <a:rPr lang="en-US" altLang="zh-CN" sz="1800" dirty="0">
                <a:sym typeface="Wingdings" panose="05000000000000000000" pitchFamily="2" charset="2"/>
              </a:rPr>
              <a:t>Half customers have experience placing small parts underneath a taller part.</a:t>
            </a:r>
          </a:p>
          <a:p>
            <a:pPr marL="288925" indent="-288925">
              <a:spcBef>
                <a:spcPts val="600"/>
              </a:spcBef>
            </a:pPr>
            <a:r>
              <a:rPr lang="en-US" altLang="zh-CN" sz="1800" dirty="0">
                <a:sym typeface="Wingdings" panose="05000000000000000000" pitchFamily="2" charset="2"/>
              </a:rPr>
              <a:t>Most customers prefer NCTF testable pins connected to ground plane.</a:t>
            </a:r>
          </a:p>
          <a:p>
            <a:pPr marL="288925" indent="-288925">
              <a:spcBef>
                <a:spcPts val="600"/>
              </a:spcBef>
            </a:pPr>
            <a:r>
              <a:rPr lang="en-US" altLang="zh-CN" sz="1800" dirty="0">
                <a:sym typeface="Wingdings" panose="05000000000000000000" pitchFamily="2" charset="2"/>
              </a:rPr>
              <a:t>MSFT is using recycled solder paste. Dell and Lenovo are evaluating. Other customers don’t have any plan. Cost and reliability is their main concern.</a:t>
            </a:r>
          </a:p>
          <a:p>
            <a:pPr marL="288925" indent="-288925" rtl="0">
              <a:spcBef>
                <a:spcPts val="600"/>
              </a:spcBef>
            </a:pPr>
            <a:r>
              <a:rPr lang="en-US" sz="1800" dirty="0"/>
              <a:t>Half customers hope Intel don’t remove solder paste recommendation in MAS, otherwise they have to qualified by themselves.</a:t>
            </a:r>
          </a:p>
          <a:p>
            <a:pPr marL="288925" indent="-288925" rtl="0">
              <a:spcBef>
                <a:spcPts val="600"/>
              </a:spcBef>
            </a:pPr>
            <a:r>
              <a:rPr lang="en-US" sz="1800" dirty="0"/>
              <a:t>All customers don’t perform compatibility testing between solder flux residue and adhesive, only perform after-cure quality validation.</a:t>
            </a:r>
          </a:p>
          <a:p>
            <a:pPr marL="288925" indent="-288925" rtl="0">
              <a:spcBef>
                <a:spcPts val="600"/>
              </a:spcBef>
            </a:pPr>
            <a:r>
              <a:rPr lang="en-US" sz="1800" dirty="0">
                <a:sym typeface="Helvetica Neue"/>
              </a:rPr>
              <a:t>Different customers have different understandings on the influence of adhesive.</a:t>
            </a:r>
          </a:p>
          <a:p>
            <a:pPr marL="288925" indent="-288925" rtl="0">
              <a:spcBef>
                <a:spcPts val="600"/>
              </a:spcBef>
            </a:pPr>
            <a:endParaRPr lang="en-US" sz="1800" dirty="0"/>
          </a:p>
          <a:p>
            <a:pPr marL="288925" indent="-288925" rtl="0">
              <a:spcBef>
                <a:spcPts val="600"/>
              </a:spcBef>
            </a:pPr>
            <a:endParaRPr lang="en-US" sz="1800" dirty="0"/>
          </a:p>
          <a:p>
            <a:pPr marL="288925" indent="-288925" rtl="0">
              <a:spcBef>
                <a:spcPts val="600"/>
              </a:spcBef>
            </a:pPr>
            <a:endParaRPr lang="en-US" sz="1800" dirty="0"/>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sz="1800" dirty="0">
              <a:sym typeface="Wingdings" panose="05000000000000000000" pitchFamily="2" charset="2"/>
            </a:endParaRPr>
          </a:p>
        </p:txBody>
      </p:sp>
    </p:spTree>
    <p:extLst>
      <p:ext uri="{BB962C8B-B14F-4D97-AF65-F5344CB8AC3E}">
        <p14:creationId xmlns:p14="http://schemas.microsoft.com/office/powerpoint/2010/main" val="72353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Reliability Test</a:t>
            </a:r>
          </a:p>
        </p:txBody>
      </p:sp>
    </p:spTree>
    <p:extLst>
      <p:ext uri="{BB962C8B-B14F-4D97-AF65-F5344CB8AC3E}">
        <p14:creationId xmlns:p14="http://schemas.microsoft.com/office/powerpoint/2010/main" val="205909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Test(1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6129285"/>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perform TC test, but thermal test conditions were different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200991935"/>
              </p:ext>
            </p:extLst>
          </p:nvPr>
        </p:nvGraphicFramePr>
        <p:xfrm>
          <a:off x="210553" y="675827"/>
          <a:ext cx="11271882" cy="5266996"/>
        </p:xfrm>
        <a:graphic>
          <a:graphicData uri="http://schemas.openxmlformats.org/drawingml/2006/table">
            <a:tbl>
              <a:tblPr firstRow="1" bandRow="1">
                <a:tableStyleId>{B301B821-A1FF-4177-AEE7-76D212191A09}</a:tableStyleId>
              </a:tblPr>
              <a:tblGrid>
                <a:gridCol w="1016668">
                  <a:extLst>
                    <a:ext uri="{9D8B030D-6E8A-4147-A177-3AD203B41FA5}">
                      <a16:colId xmlns:a16="http://schemas.microsoft.com/office/drawing/2014/main" val="476935505"/>
                    </a:ext>
                  </a:extLst>
                </a:gridCol>
                <a:gridCol w="1798721">
                  <a:extLst>
                    <a:ext uri="{9D8B030D-6E8A-4147-A177-3AD203B41FA5}">
                      <a16:colId xmlns:a16="http://schemas.microsoft.com/office/drawing/2014/main" val="1213491659"/>
                    </a:ext>
                  </a:extLst>
                </a:gridCol>
                <a:gridCol w="1997242">
                  <a:extLst>
                    <a:ext uri="{9D8B030D-6E8A-4147-A177-3AD203B41FA5}">
                      <a16:colId xmlns:a16="http://schemas.microsoft.com/office/drawing/2014/main" val="1470204383"/>
                    </a:ext>
                  </a:extLst>
                </a:gridCol>
                <a:gridCol w="1888958">
                  <a:extLst>
                    <a:ext uri="{9D8B030D-6E8A-4147-A177-3AD203B41FA5}">
                      <a16:colId xmlns:a16="http://schemas.microsoft.com/office/drawing/2014/main" val="4194567538"/>
                    </a:ext>
                  </a:extLst>
                </a:gridCol>
                <a:gridCol w="4570293">
                  <a:extLst>
                    <a:ext uri="{9D8B030D-6E8A-4147-A177-3AD203B41FA5}">
                      <a16:colId xmlns:a16="http://schemas.microsoft.com/office/drawing/2014/main" val="3653989113"/>
                    </a:ext>
                  </a:extLst>
                </a:gridCol>
              </a:tblGrid>
              <a:tr h="674373">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perform reliability test for your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When do you decide to perform reliability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do Thermal Cycle (TC)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TC test details?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3718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for new form factors or higher risks platforms.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-25°C~65°C, 1.5 ℃/min, dwell 2 hours, sample size::5, 20 cycles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50577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 system level and board level, Board level: -40°C~100°C, System level: -20°C~60°C, </a:t>
                      </a:r>
                      <a:r>
                        <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15°C/min, dwell 15 min, &gt;30pcs in one build</a:t>
                      </a:r>
                      <a:r>
                        <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500 cycles (at board level)</a:t>
                      </a:r>
                      <a:r>
                        <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endPar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851747">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technology ingredient and risk</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 system level : Thermal shock: -40°C~85°C </a:t>
                      </a:r>
                      <a:r>
                        <a:rPr kumimoji="0" lang="en-US" sz="1200" b="1"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for mainstream and Mil standard tests for Rugged</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15 mins, sample size varies (~21 units), no control on temperature ramping up/down (~40C ramp rate), Min 1000 cycles (success criteria), and pass system level functional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514560">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-40°C~85°C, </a:t>
                      </a:r>
                      <a:r>
                        <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15°C/min, dwell 7.5 mins, sample size:5, 1000 cycles, 2000 cycles with and w./o glue. Use daisy chain part, 0.6mm PCB, </a:t>
                      </a: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monitor &gt;10% resistance change</a:t>
                      </a:r>
                      <a:endPar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45967">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-20°C~43°C, dwell &gt; 12 hours, sample size:3/SKU, 1 cycle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14560">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 system level and board level25°C~100°C, no control on temperature ramping up/down, dwell 30 min, 30pcs</a:t>
                      </a:r>
                      <a:r>
                        <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1042 cycles (at board level)</a:t>
                      </a:r>
                      <a:r>
                        <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endPar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79856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Samsung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Temperature Cycling Condition: -40~85C, 40min/cycle, ramp up/down 10C/min; Passing Criterial: 360 cycles no failure. Extend 500 cycles or more, Sample Size: 100Pcs, PCB Thickness: 0.65mm</a:t>
                      </a:r>
                    </a:p>
                    <a:p>
                      <a:pPr marL="0" marR="0" indent="0" algn="ctr" defTabSz="609600" fontAlgn="b"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thermal solution attached, Use Samsung Adhesive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underfilm</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42957579"/>
                  </a:ext>
                </a:extLst>
              </a:tr>
              <a:tr h="50846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level-55℃～85℃,</a:t>
                      </a:r>
                      <a:r>
                        <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15°C/min, dwell 15min., sample size 1, 408cycles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80412216"/>
                  </a:ext>
                </a:extLst>
              </a:tr>
            </a:tbl>
          </a:graphicData>
        </a:graphic>
      </p:graphicFrame>
    </p:spTree>
    <p:extLst>
      <p:ext uri="{BB962C8B-B14F-4D97-AF65-F5344CB8AC3E}">
        <p14:creationId xmlns:p14="http://schemas.microsoft.com/office/powerpoint/2010/main" val="205025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Test(2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991402"/>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perform </a:t>
            </a:r>
            <a:r>
              <a:rPr kumimoji="0" lang="en-US" altLang="zh-CN" sz="1600" i="0" u="none" strike="noStrike" cap="none" spc="0" normalizeH="0" baseline="0" dirty="0">
                <a:ln>
                  <a:noFill/>
                </a:ln>
                <a:solidFill>
                  <a:schemeClr val="accent1"/>
                </a:solidFill>
                <a:effectLst/>
                <a:uFillTx/>
                <a:latin typeface="+mn-lt"/>
                <a:ea typeface="+mn-ea"/>
                <a:cs typeface="+mn-cs"/>
                <a:sym typeface="Helvetica Neue"/>
              </a:rPr>
              <a:t>Shock</a:t>
            </a:r>
            <a:r>
              <a:rPr kumimoji="0" lang="en-US" sz="1600" i="0" u="none" strike="noStrike" cap="none" spc="0" normalizeH="0" baseline="0" dirty="0">
                <a:ln>
                  <a:noFill/>
                </a:ln>
                <a:solidFill>
                  <a:schemeClr val="accent1"/>
                </a:solidFill>
                <a:effectLst/>
                <a:uFillTx/>
                <a:latin typeface="+mn-lt"/>
                <a:ea typeface="+mn-ea"/>
                <a:cs typeface="+mn-cs"/>
                <a:sym typeface="Helvetica Neue"/>
              </a:rPr>
              <a:t> test, but thermal test conditions were different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004375130"/>
              </p:ext>
            </p:extLst>
          </p:nvPr>
        </p:nvGraphicFramePr>
        <p:xfrm>
          <a:off x="210553" y="675828"/>
          <a:ext cx="11495218" cy="5275399"/>
        </p:xfrm>
        <a:graphic>
          <a:graphicData uri="http://schemas.openxmlformats.org/drawingml/2006/table">
            <a:tbl>
              <a:tblPr firstRow="1" bandRow="1">
                <a:tableStyleId>{B301B821-A1FF-4177-AEE7-76D212191A09}</a:tableStyleId>
              </a:tblPr>
              <a:tblGrid>
                <a:gridCol w="1036812">
                  <a:extLst>
                    <a:ext uri="{9D8B030D-6E8A-4147-A177-3AD203B41FA5}">
                      <a16:colId xmlns:a16="http://schemas.microsoft.com/office/drawing/2014/main" val="476935505"/>
                    </a:ext>
                  </a:extLst>
                </a:gridCol>
                <a:gridCol w="1568218">
                  <a:extLst>
                    <a:ext uri="{9D8B030D-6E8A-4147-A177-3AD203B41FA5}">
                      <a16:colId xmlns:a16="http://schemas.microsoft.com/office/drawing/2014/main" val="1213491659"/>
                    </a:ext>
                  </a:extLst>
                </a:gridCol>
                <a:gridCol w="2005653">
                  <a:extLst>
                    <a:ext uri="{9D8B030D-6E8A-4147-A177-3AD203B41FA5}">
                      <a16:colId xmlns:a16="http://schemas.microsoft.com/office/drawing/2014/main" val="1470204383"/>
                    </a:ext>
                  </a:extLst>
                </a:gridCol>
                <a:gridCol w="1909441">
                  <a:extLst>
                    <a:ext uri="{9D8B030D-6E8A-4147-A177-3AD203B41FA5}">
                      <a16:colId xmlns:a16="http://schemas.microsoft.com/office/drawing/2014/main" val="4194567538"/>
                    </a:ext>
                  </a:extLst>
                </a:gridCol>
                <a:gridCol w="4975094">
                  <a:extLst>
                    <a:ext uri="{9D8B030D-6E8A-4147-A177-3AD203B41FA5}">
                      <a16:colId xmlns:a16="http://schemas.microsoft.com/office/drawing/2014/main" val="3653989113"/>
                    </a:ext>
                  </a:extLst>
                </a:gridCol>
              </a:tblGrid>
              <a:tr h="877495">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perform shock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do you do shock test at system level or board level?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what is the sample size you normally used for shock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Do you monitor the acceleration and shock wave in your shock test, if yes, what is the G level and wave spec?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7020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4 units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Notebooks: 2. Yes, 240g, 2ms, half sine pulse                           </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DT/AIO: Yes, 40g, 2ms, half sine pulse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58946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&gt; 10 pcs.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1116393">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It varies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Pre-test pre-condition:  storage @71C for 60 days + hot ops @ 63C for 60 days. Followed by: </a:t>
                      </a:r>
                      <a:r>
                        <a:rPr kumimoji="0" lang="en-US" sz="1200" b="1" i="0" u="sng"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Mainstream Drop Test</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 20 inch drop onto steel plate, 20 units. </a:t>
                      </a:r>
                      <a:r>
                        <a:rPr kumimoji="0" lang="en-US" sz="1200" b="1" i="0" u="sng"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Mainstream HALT</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 10 units.</a:t>
                      </a:r>
                    </a:p>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Or Followed by: </a:t>
                      </a:r>
                      <a:r>
                        <a:rPr kumimoji="0" lang="en-US" sz="1200" b="1" i="0" u="sng"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Rugged Drop Test</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 8 feet drop onto steel pate, 12 units. </a:t>
                      </a:r>
                      <a:r>
                        <a:rPr kumimoji="0" lang="en-US" sz="1200" b="1" i="0" u="sng"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Rugged Shock</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 10 units. </a:t>
                      </a:r>
                      <a:r>
                        <a:rPr kumimoji="0" lang="en-US" sz="1200" b="1" i="0" u="sng"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Rugged Vibe</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 10 units. </a:t>
                      </a:r>
                      <a:r>
                        <a:rPr kumimoji="0" lang="en-US" sz="1200" b="1" i="0" u="sng"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Rugged HALT</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 10 units. </a:t>
                      </a:r>
                      <a:r>
                        <a:rPr kumimoji="0" lang="en-US" sz="1200" b="1" i="0" u="sng"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Rugged Sequential Micro Drop</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3K+TS46 = 8 units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70205">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3Pcs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250G, 2ms, half sine pulse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47020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By 3 / SKU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220G/2ms , Half-sine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91781">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 Pcs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others(60G)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9178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pcs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923677095"/>
                  </a:ext>
                </a:extLst>
              </a:tr>
            </a:tbl>
          </a:graphicData>
        </a:graphic>
      </p:graphicFrame>
    </p:spTree>
    <p:extLst>
      <p:ext uri="{BB962C8B-B14F-4D97-AF65-F5344CB8AC3E}">
        <p14:creationId xmlns:p14="http://schemas.microsoft.com/office/powerpoint/2010/main" val="500102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Test(3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812841"/>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a:t>
            </a:r>
            <a:r>
              <a:rPr kumimoji="0" lang="en-US" sz="1600" i="0" u="none" strike="noStrike" cap="none" spc="0" normalizeH="0" baseline="0" dirty="0">
                <a:ln>
                  <a:noFill/>
                </a:ln>
                <a:solidFill>
                  <a:schemeClr val="accent1"/>
                </a:solidFill>
                <a:effectLst/>
                <a:uFillTx/>
                <a:latin typeface="+mn-lt"/>
                <a:ea typeface="+mn-ea"/>
                <a:cs typeface="+mn-cs"/>
                <a:sym typeface="Helvetica Neue"/>
              </a:rPr>
              <a:t>customers perform Thermal Humidity (TH) Test, but test conditions were different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921038828"/>
              </p:ext>
            </p:extLst>
          </p:nvPr>
        </p:nvGraphicFramePr>
        <p:xfrm>
          <a:off x="210553" y="675827"/>
          <a:ext cx="11177336" cy="4950471"/>
        </p:xfrm>
        <a:graphic>
          <a:graphicData uri="http://schemas.openxmlformats.org/drawingml/2006/table">
            <a:tbl>
              <a:tblPr firstRow="1" bandRow="1">
                <a:tableStyleId>{B301B821-A1FF-4177-AEE7-76D212191A09}</a:tableStyleId>
              </a:tblPr>
              <a:tblGrid>
                <a:gridCol w="1181690">
                  <a:extLst>
                    <a:ext uri="{9D8B030D-6E8A-4147-A177-3AD203B41FA5}">
                      <a16:colId xmlns:a16="http://schemas.microsoft.com/office/drawing/2014/main" val="476935505"/>
                    </a:ext>
                  </a:extLst>
                </a:gridCol>
                <a:gridCol w="3360231">
                  <a:extLst>
                    <a:ext uri="{9D8B030D-6E8A-4147-A177-3AD203B41FA5}">
                      <a16:colId xmlns:a16="http://schemas.microsoft.com/office/drawing/2014/main" val="1470204383"/>
                    </a:ext>
                  </a:extLst>
                </a:gridCol>
                <a:gridCol w="3404937">
                  <a:extLst>
                    <a:ext uri="{9D8B030D-6E8A-4147-A177-3AD203B41FA5}">
                      <a16:colId xmlns:a16="http://schemas.microsoft.com/office/drawing/2014/main" val="4194567538"/>
                    </a:ext>
                  </a:extLst>
                </a:gridCol>
                <a:gridCol w="3230478">
                  <a:extLst>
                    <a:ext uri="{9D8B030D-6E8A-4147-A177-3AD203B41FA5}">
                      <a16:colId xmlns:a16="http://schemas.microsoft.com/office/drawing/2014/main" val="3653989113"/>
                    </a:ext>
                  </a:extLst>
                </a:gridCol>
              </a:tblGrid>
              <a:tr h="649519">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perform Thermal Humidity (TH) Test? (Double 85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do you do TH test at system level or board level?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is your total test time of TH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900834">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combinations of paste/flux materials used on HP products must pass an IPC-B-25A comb coupon 85/85/V bias 28 days test.                </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Systems must also pass variable heat/humidity tests (described in the following cells).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NB non-operational system level test: 10 days test at 95 %RH and 1 cycle 30-60C per day.</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DT operational system-level test: 4 days test between 10-50C and 10-90 %RH.</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721687">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Double 85 at board level. 55C/85RH at system-level.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~900hrs at board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30482">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IPC spec</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90571">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Board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1000 hours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3873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System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51 hours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52541">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52541">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65 deg C - 90%, 240Hrs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9440174"/>
                  </a:ext>
                </a:extLst>
              </a:tr>
            </a:tbl>
          </a:graphicData>
        </a:graphic>
      </p:graphicFrame>
    </p:spTree>
    <p:extLst>
      <p:ext uri="{BB962C8B-B14F-4D97-AF65-F5344CB8AC3E}">
        <p14:creationId xmlns:p14="http://schemas.microsoft.com/office/powerpoint/2010/main" val="367414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Test(4 Of 5)</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410395617"/>
              </p:ext>
            </p:extLst>
          </p:nvPr>
        </p:nvGraphicFramePr>
        <p:xfrm>
          <a:off x="210553" y="675826"/>
          <a:ext cx="11271882" cy="5486400"/>
        </p:xfrm>
        <a:graphic>
          <a:graphicData uri="http://schemas.openxmlformats.org/drawingml/2006/table">
            <a:tbl>
              <a:tblPr firstRow="1" bandRow="1">
                <a:tableStyleId>{B301B821-A1FF-4177-AEE7-76D212191A09}</a:tableStyleId>
              </a:tblPr>
              <a:tblGrid>
                <a:gridCol w="619626">
                  <a:extLst>
                    <a:ext uri="{9D8B030D-6E8A-4147-A177-3AD203B41FA5}">
                      <a16:colId xmlns:a16="http://schemas.microsoft.com/office/drawing/2014/main" val="476935505"/>
                    </a:ext>
                  </a:extLst>
                </a:gridCol>
                <a:gridCol w="4944979">
                  <a:extLst>
                    <a:ext uri="{9D8B030D-6E8A-4147-A177-3AD203B41FA5}">
                      <a16:colId xmlns:a16="http://schemas.microsoft.com/office/drawing/2014/main" val="1213491659"/>
                    </a:ext>
                  </a:extLst>
                </a:gridCol>
                <a:gridCol w="1666374">
                  <a:extLst>
                    <a:ext uri="{9D8B030D-6E8A-4147-A177-3AD203B41FA5}">
                      <a16:colId xmlns:a16="http://schemas.microsoft.com/office/drawing/2014/main" val="1470204383"/>
                    </a:ext>
                  </a:extLst>
                </a:gridCol>
                <a:gridCol w="1564105">
                  <a:extLst>
                    <a:ext uri="{9D8B030D-6E8A-4147-A177-3AD203B41FA5}">
                      <a16:colId xmlns:a16="http://schemas.microsoft.com/office/drawing/2014/main" val="4194567538"/>
                    </a:ext>
                  </a:extLst>
                </a:gridCol>
                <a:gridCol w="2476798">
                  <a:extLst>
                    <a:ext uri="{9D8B030D-6E8A-4147-A177-3AD203B41FA5}">
                      <a16:colId xmlns:a16="http://schemas.microsoft.com/office/drawing/2014/main" val="3653989113"/>
                    </a:ext>
                  </a:extLst>
                </a:gridCol>
              </a:tblGrid>
              <a:tr h="899344">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Any other reliability test you perform except above 3 mentioned tests? If yes, please specify the test name, test condition, sample size and passing/failing criteria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Are the tests run on daisy chain parts/boards or functional parts/boards?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board thickness will be used for the tests?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Is the test run on bare boards, or run on bare boards with thermal solution attached, or run inside a fully populated system/chassis?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60789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bend, torque, tumble drop, Low level drop, HALT (DT only)</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Electrical tests including CPU transient voltage, CPU catastrophic thermal protection, processor throttling, signal integrity</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Environmental tests including operational thermal tests,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FoS</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Bending test</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Bend Load: Initial force is 10N; Max force is 100N, Incremental load with the rate of 10N/s. Bend cycles: 10 cycles. Tested samples: 2 units minimum (1unit for X direction test, 1unit for Y direction test)</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Torque test</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Tablet platforms: Torque:  40kgf-cm (35.4lbf-in),15 twisting events, (1 twisting event =1 CW follow by 1 CCW) with top and bottom side of device, total of 30 events.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Standard NB &amp; x360 NB mode platforms: Torque: 100kgf-cm, 1 twisting event and dwell for 10 seconds. Samples: 2 units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Tumble Drop</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Tumble drop tester: Height of fall: 0.5 meter. The drum size is no less than 600mm(W)*600mm(L), Number of drops: 1000 (Education platform), Samples: 2 units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Low Level Drop</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Standard NB/Docking platforms: 6 faces. Bottom face, Top face, Front face, Back face, Right face, and Left face. Drop unit from height of 18” on steel floor for each plane. Samples: 2 units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Functional boards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It depends on the product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bl>
          </a:graphicData>
        </a:graphic>
      </p:graphicFrame>
    </p:spTree>
    <p:extLst>
      <p:ext uri="{BB962C8B-B14F-4D97-AF65-F5344CB8AC3E}">
        <p14:creationId xmlns:p14="http://schemas.microsoft.com/office/powerpoint/2010/main" val="385582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Test(5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958411"/>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Different customers have different reliability test requirements except above 3 mentioned tests.</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75170270"/>
              </p:ext>
            </p:extLst>
          </p:nvPr>
        </p:nvGraphicFramePr>
        <p:xfrm>
          <a:off x="210553" y="675825"/>
          <a:ext cx="11271882" cy="5158148"/>
        </p:xfrm>
        <a:graphic>
          <a:graphicData uri="http://schemas.openxmlformats.org/drawingml/2006/table">
            <a:tbl>
              <a:tblPr firstRow="1" bandRow="1">
                <a:tableStyleId>{B301B821-A1FF-4177-AEE7-76D212191A09}</a:tableStyleId>
              </a:tblPr>
              <a:tblGrid>
                <a:gridCol w="1016668">
                  <a:extLst>
                    <a:ext uri="{9D8B030D-6E8A-4147-A177-3AD203B41FA5}">
                      <a16:colId xmlns:a16="http://schemas.microsoft.com/office/drawing/2014/main" val="476935505"/>
                    </a:ext>
                  </a:extLst>
                </a:gridCol>
                <a:gridCol w="4192123">
                  <a:extLst>
                    <a:ext uri="{9D8B030D-6E8A-4147-A177-3AD203B41FA5}">
                      <a16:colId xmlns:a16="http://schemas.microsoft.com/office/drawing/2014/main" val="1213491659"/>
                    </a:ext>
                  </a:extLst>
                </a:gridCol>
                <a:gridCol w="1661240">
                  <a:extLst>
                    <a:ext uri="{9D8B030D-6E8A-4147-A177-3AD203B41FA5}">
                      <a16:colId xmlns:a16="http://schemas.microsoft.com/office/drawing/2014/main" val="1470204383"/>
                    </a:ext>
                  </a:extLst>
                </a:gridCol>
                <a:gridCol w="1850056">
                  <a:extLst>
                    <a:ext uri="{9D8B030D-6E8A-4147-A177-3AD203B41FA5}">
                      <a16:colId xmlns:a16="http://schemas.microsoft.com/office/drawing/2014/main" val="4194567538"/>
                    </a:ext>
                  </a:extLst>
                </a:gridCol>
                <a:gridCol w="2551795">
                  <a:extLst>
                    <a:ext uri="{9D8B030D-6E8A-4147-A177-3AD203B41FA5}">
                      <a16:colId xmlns:a16="http://schemas.microsoft.com/office/drawing/2014/main" val="3653989113"/>
                    </a:ext>
                  </a:extLst>
                </a:gridCol>
              </a:tblGrid>
              <a:tr h="1507926">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Any other reliability test you perform except above 3 mentioned tests? If yes, please specify the test name, test condition, sample size and passing/failing criteria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Are the tests run on daisy chain parts/boards or functional parts/boards?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board thickness will be used for the tests?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Is the test run on bare boards, or run on bare boards with thermal solution attached, or run inside a fully populated system/chassis?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59447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Conducting a range of tests at the system level, targeting all user scenarios.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Functional boards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Yypically betweeen 0.8mm and 1.0mm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Bare boards for PCBA-level test; system for system-level test.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26113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Free Fall Drop, Micro Drop, HALT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etc</a:t>
                      </a:r>
                      <a:endPar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It depends on the product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It depends on the Test.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1884908">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Bending test （for BGA）</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800u stain /2hz 7200 times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function pass/ X-section no crack found/no solder joint issue</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Whisker</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 ATC(40℃ &lt;-&gt;85, 2 Cycle/Hour ,1000 cycle</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1.Ta=85℃for7.5mins, 2.Ta=85℃to-40℃for 7.5mins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3.Ta=-40℃for 7.5mins, 4.Ta=-40℃to 85℃ for 7.5mins)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B.85℃@85％, with BIAS ,1000Hrs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 Store in Room ambient 3000Hrs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Total axial whisker length &lt; 50um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0.6-1.2mm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Bare boards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40705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Free drop (28 cm) / 2 units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Spill test/ 330 cc /  1 unit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test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It depends on the product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251321">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Functional boards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0.8-1.2mm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system/chassis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251321">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0.8-0.9mm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Bare boards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981389990"/>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286001ED-C139-8C0D-9189-C8A276E45613}"/>
              </a:ext>
            </a:extLst>
          </p:cNvPr>
          <p:cNvSpPr/>
          <p:nvPr/>
        </p:nvSpPr>
        <p:spPr>
          <a:xfrm>
            <a:off x="11057450" y="256989"/>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393417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Functional Test</a:t>
            </a:r>
          </a:p>
        </p:txBody>
      </p:sp>
    </p:spTree>
    <p:extLst>
      <p:ext uri="{BB962C8B-B14F-4D97-AF65-F5344CB8AC3E}">
        <p14:creationId xmlns:p14="http://schemas.microsoft.com/office/powerpoint/2010/main" val="14959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Test(1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156411" y="5260697"/>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USB is the most difficult feature for HP to test. And they are only testing AI features being shipped on the device. </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615703720"/>
              </p:ext>
            </p:extLst>
          </p:nvPr>
        </p:nvGraphicFramePr>
        <p:xfrm>
          <a:off x="210553" y="675826"/>
          <a:ext cx="11271882" cy="4474531"/>
        </p:xfrm>
        <a:graphic>
          <a:graphicData uri="http://schemas.openxmlformats.org/drawingml/2006/table">
            <a:tbl>
              <a:tblPr firstRow="1" bandRow="1">
                <a:tableStyleId>{B301B821-A1FF-4177-AEE7-76D212191A09}</a:tableStyleId>
              </a:tblPr>
              <a:tblGrid>
                <a:gridCol w="723370">
                  <a:extLst>
                    <a:ext uri="{9D8B030D-6E8A-4147-A177-3AD203B41FA5}">
                      <a16:colId xmlns:a16="http://schemas.microsoft.com/office/drawing/2014/main" val="476935505"/>
                    </a:ext>
                  </a:extLst>
                </a:gridCol>
                <a:gridCol w="1159572">
                  <a:extLst>
                    <a:ext uri="{9D8B030D-6E8A-4147-A177-3AD203B41FA5}">
                      <a16:colId xmlns:a16="http://schemas.microsoft.com/office/drawing/2014/main" val="1213491659"/>
                    </a:ext>
                  </a:extLst>
                </a:gridCol>
                <a:gridCol w="2081463">
                  <a:extLst>
                    <a:ext uri="{9D8B030D-6E8A-4147-A177-3AD203B41FA5}">
                      <a16:colId xmlns:a16="http://schemas.microsoft.com/office/drawing/2014/main" val="1470204383"/>
                    </a:ext>
                  </a:extLst>
                </a:gridCol>
                <a:gridCol w="2316079">
                  <a:extLst>
                    <a:ext uri="{9D8B030D-6E8A-4147-A177-3AD203B41FA5}">
                      <a16:colId xmlns:a16="http://schemas.microsoft.com/office/drawing/2014/main" val="4194567538"/>
                    </a:ext>
                  </a:extLst>
                </a:gridCol>
                <a:gridCol w="2580774">
                  <a:extLst>
                    <a:ext uri="{9D8B030D-6E8A-4147-A177-3AD203B41FA5}">
                      <a16:colId xmlns:a16="http://schemas.microsoft.com/office/drawing/2014/main" val="3653989113"/>
                    </a:ext>
                  </a:extLst>
                </a:gridCol>
                <a:gridCol w="2410624">
                  <a:extLst>
                    <a:ext uri="{9D8B030D-6E8A-4147-A177-3AD203B41FA5}">
                      <a16:colId xmlns:a16="http://schemas.microsoft.com/office/drawing/2014/main" val="1695122163"/>
                    </a:ext>
                  </a:extLst>
                </a:gridCol>
              </a:tblGrid>
              <a:tr h="1453763">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Are ICT testers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Which feature is the most difficult to test or causes the most false failures (Accumulate&gt;=2000DPM)?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Which SW or HW tools used for functional testing of peripheral and functional modules in MB needs to be improved?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Do you have any difficulty knowing how to test the functionality of AI (Artificial Intelligence) features?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please state what is the difficulty you are experiencing?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01149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USB fail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answer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we could use guidance here. We are unaware of the ability to test AI during PCA-level functional test, as software and an internet connection is needed to test Co-pilot (not possible on a factory line). OOBE is the only option to test anything AI-related. </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From a general test perspective (not specific to FT), we are only testing AI features being shipped on the device.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Would be interested in any Intel developer tools for AI if available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bl>
          </a:graphicData>
        </a:graphic>
      </p:graphicFrame>
    </p:spTree>
    <p:extLst>
      <p:ext uri="{BB962C8B-B14F-4D97-AF65-F5344CB8AC3E}">
        <p14:creationId xmlns:p14="http://schemas.microsoft.com/office/powerpoint/2010/main" val="307890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Test(2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519376"/>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Microsoft don’t use ICT testers, and has some advices on Intel functional testing tools. </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703898382"/>
              </p:ext>
            </p:extLst>
          </p:nvPr>
        </p:nvGraphicFramePr>
        <p:xfrm>
          <a:off x="210553" y="675826"/>
          <a:ext cx="11271882" cy="4389120"/>
        </p:xfrm>
        <a:graphic>
          <a:graphicData uri="http://schemas.openxmlformats.org/drawingml/2006/table">
            <a:tbl>
              <a:tblPr firstRow="1" bandRow="1">
                <a:tableStyleId>{B301B821-A1FF-4177-AEE7-76D212191A09}</a:tableStyleId>
              </a:tblPr>
              <a:tblGrid>
                <a:gridCol w="723370">
                  <a:extLst>
                    <a:ext uri="{9D8B030D-6E8A-4147-A177-3AD203B41FA5}">
                      <a16:colId xmlns:a16="http://schemas.microsoft.com/office/drawing/2014/main" val="476935505"/>
                    </a:ext>
                  </a:extLst>
                </a:gridCol>
                <a:gridCol w="822688">
                  <a:extLst>
                    <a:ext uri="{9D8B030D-6E8A-4147-A177-3AD203B41FA5}">
                      <a16:colId xmlns:a16="http://schemas.microsoft.com/office/drawing/2014/main" val="1213491659"/>
                    </a:ext>
                  </a:extLst>
                </a:gridCol>
                <a:gridCol w="2057400">
                  <a:extLst>
                    <a:ext uri="{9D8B030D-6E8A-4147-A177-3AD203B41FA5}">
                      <a16:colId xmlns:a16="http://schemas.microsoft.com/office/drawing/2014/main" val="1470204383"/>
                    </a:ext>
                  </a:extLst>
                </a:gridCol>
                <a:gridCol w="2677026">
                  <a:extLst>
                    <a:ext uri="{9D8B030D-6E8A-4147-A177-3AD203B41FA5}">
                      <a16:colId xmlns:a16="http://schemas.microsoft.com/office/drawing/2014/main" val="4194567538"/>
                    </a:ext>
                  </a:extLst>
                </a:gridCol>
                <a:gridCol w="2237874">
                  <a:extLst>
                    <a:ext uri="{9D8B030D-6E8A-4147-A177-3AD203B41FA5}">
                      <a16:colId xmlns:a16="http://schemas.microsoft.com/office/drawing/2014/main" val="3653989113"/>
                    </a:ext>
                  </a:extLst>
                </a:gridCol>
                <a:gridCol w="2753524">
                  <a:extLst>
                    <a:ext uri="{9D8B030D-6E8A-4147-A177-3AD203B41FA5}">
                      <a16:colId xmlns:a16="http://schemas.microsoft.com/office/drawing/2014/main" val="1695122163"/>
                    </a:ext>
                  </a:extLst>
                </a:gridCol>
              </a:tblGrid>
              <a:tr h="899344">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Are ICT testers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Which feature is the most difficult to test or causes the most false failures (Accumulate&gt;=2000DPM)?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Which SW or HW tools used for functional testing of peripheral and functional modules in MB needs to be improved?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Do you have any difficulty knowing how to test the functionality of AI (Artificial Intelligence) features?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please state what is the difficult you are experiencing?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99927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 ICT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USB(USB-C/TBT) due to  inconsistent PD  controller SW features of different generation (might not Intel SoC directly related)</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Unstable USB communication"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"DRTU, PTAT and VPU tools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DRTU - Mainly used for RF testing. The regressions on DRTU tool have been observed on each program during the early EV stages. That takes a lot of time to debug and collaborate with intel  to address instability issue. The expectation of DRTU should be much stable after so many programs have been run.</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PTAT - Test time is too long for production line and hard to reconfigure for time reduction. We would like Intel to share more details about this toolset, specifications and manual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an inference test on individual Intel VPU for a premium product so far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Something needed from intel about VPU test </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 Get clear info on how to debug and what information needs to be collected if some issues happen.</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b. Understand more on the work mechanism for the NUDD, like which components or subsystems will communicate with.</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c. Establish the same env on production line when validating at the initial stage, not treat production line as lab.</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VPU test time is long for production line. </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 Expect Intel can provide one quick self-test for AI functionality check if really need for production test."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bl>
          </a:graphicData>
        </a:graphic>
      </p:graphicFrame>
    </p:spTree>
    <p:extLst>
      <p:ext uri="{BB962C8B-B14F-4D97-AF65-F5344CB8AC3E}">
        <p14:creationId xmlns:p14="http://schemas.microsoft.com/office/powerpoint/2010/main" val="297714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Test(3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366290"/>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Customers have some difficulty on testing Thunderbolt. </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41533124"/>
              </p:ext>
            </p:extLst>
          </p:nvPr>
        </p:nvGraphicFramePr>
        <p:xfrm>
          <a:off x="210553" y="675826"/>
          <a:ext cx="11271882" cy="4573007"/>
        </p:xfrm>
        <a:graphic>
          <a:graphicData uri="http://schemas.openxmlformats.org/drawingml/2006/table">
            <a:tbl>
              <a:tblPr firstRow="1" bandRow="1">
                <a:tableStyleId>{B301B821-A1FF-4177-AEE7-76D212191A09}</a:tableStyleId>
              </a:tblPr>
              <a:tblGrid>
                <a:gridCol w="1028700">
                  <a:extLst>
                    <a:ext uri="{9D8B030D-6E8A-4147-A177-3AD203B41FA5}">
                      <a16:colId xmlns:a16="http://schemas.microsoft.com/office/drawing/2014/main" val="476935505"/>
                    </a:ext>
                  </a:extLst>
                </a:gridCol>
                <a:gridCol w="1215189">
                  <a:extLst>
                    <a:ext uri="{9D8B030D-6E8A-4147-A177-3AD203B41FA5}">
                      <a16:colId xmlns:a16="http://schemas.microsoft.com/office/drawing/2014/main" val="1213491659"/>
                    </a:ext>
                  </a:extLst>
                </a:gridCol>
                <a:gridCol w="2520616">
                  <a:extLst>
                    <a:ext uri="{9D8B030D-6E8A-4147-A177-3AD203B41FA5}">
                      <a16:colId xmlns:a16="http://schemas.microsoft.com/office/drawing/2014/main" val="1470204383"/>
                    </a:ext>
                  </a:extLst>
                </a:gridCol>
                <a:gridCol w="2544679">
                  <a:extLst>
                    <a:ext uri="{9D8B030D-6E8A-4147-A177-3AD203B41FA5}">
                      <a16:colId xmlns:a16="http://schemas.microsoft.com/office/drawing/2014/main" val="4194567538"/>
                    </a:ext>
                  </a:extLst>
                </a:gridCol>
                <a:gridCol w="2394284">
                  <a:extLst>
                    <a:ext uri="{9D8B030D-6E8A-4147-A177-3AD203B41FA5}">
                      <a16:colId xmlns:a16="http://schemas.microsoft.com/office/drawing/2014/main" val="3653989113"/>
                    </a:ext>
                  </a:extLst>
                </a:gridCol>
                <a:gridCol w="1568414">
                  <a:extLst>
                    <a:ext uri="{9D8B030D-6E8A-4147-A177-3AD203B41FA5}">
                      <a16:colId xmlns:a16="http://schemas.microsoft.com/office/drawing/2014/main" val="1695122163"/>
                    </a:ext>
                  </a:extLst>
                </a:gridCol>
              </a:tblGrid>
              <a:tr h="899344">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Are ICT testers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Which feature is the most difficult to test or causes the most false failures (Accumulate&gt;=2000DPM)?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Which SW or HW tools used for functional testing of peripheral and functional modules in MB needs to be improved?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Do you have any difficulty knowing how to test the functionality of AI (Artificial Intelligence) features?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please state what is the difficult you are experiencing?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60789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 VGA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607891">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TYPE C related test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br>
                        <a:rPr kumimoji="0" lang="zh-CN" altLang="en-US" sz="1200" b="0" i="0" u="none" strike="noStrike" kern="0" cap="none" spc="0" normalizeH="0" baseline="0" dirty="0">
                          <a:ln>
                            <a:noFill/>
                          </a:ln>
                          <a:solidFill>
                            <a:srgbClr val="FF000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How to fool proofing test flip/</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unflip</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Thunderbolt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60789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76506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76506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ctr" latinLnBrk="0">
                        <a:lnSpc>
                          <a:spcPct val="100000"/>
                        </a:lnSpc>
                        <a:spcBef>
                          <a:spcPts val="0"/>
                        </a:spcBef>
                        <a:spcAft>
                          <a:spcPts val="0"/>
                        </a:spcAft>
                        <a:buClrTx/>
                        <a:buSzTx/>
                        <a:buFontTx/>
                        <a:buNone/>
                        <a:tabLst/>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594741057"/>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94FF2E35-849B-E364-1E2D-4803D45B017A}"/>
              </a:ext>
            </a:extLst>
          </p:cNvPr>
          <p:cNvSpPr/>
          <p:nvPr/>
        </p:nvSpPr>
        <p:spPr>
          <a:xfrm>
            <a:off x="11057450" y="314401"/>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344567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SMT Process &amp; Rework</a:t>
            </a:r>
          </a:p>
        </p:txBody>
      </p:sp>
    </p:spTree>
    <p:extLst>
      <p:ext uri="{BB962C8B-B14F-4D97-AF65-F5344CB8AC3E}">
        <p14:creationId xmlns:p14="http://schemas.microsoft.com/office/powerpoint/2010/main" val="298819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SMT Process &amp; </a:t>
            </a:r>
            <a:r>
              <a:rPr lang="en-US" dirty="0"/>
              <a:t>Rework(1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925084"/>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follow Intel MAS to design adhesive KOZ and land pattern. </a:t>
            </a:r>
          </a:p>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Half customers have experience placing small parts underneath a taller part.</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677105696"/>
              </p:ext>
            </p:extLst>
          </p:nvPr>
        </p:nvGraphicFramePr>
        <p:xfrm>
          <a:off x="210553" y="675826"/>
          <a:ext cx="11271882" cy="4881158"/>
        </p:xfrm>
        <a:graphic>
          <a:graphicData uri="http://schemas.openxmlformats.org/drawingml/2006/table">
            <a:tbl>
              <a:tblPr firstRow="1" bandRow="1">
                <a:tableStyleId>{B301B821-A1FF-4177-AEE7-76D212191A09}</a:tableStyleId>
              </a:tblPr>
              <a:tblGrid>
                <a:gridCol w="1016668">
                  <a:extLst>
                    <a:ext uri="{9D8B030D-6E8A-4147-A177-3AD203B41FA5}">
                      <a16:colId xmlns:a16="http://schemas.microsoft.com/office/drawing/2014/main" val="476935505"/>
                    </a:ext>
                  </a:extLst>
                </a:gridCol>
                <a:gridCol w="2286000">
                  <a:extLst>
                    <a:ext uri="{9D8B030D-6E8A-4147-A177-3AD203B41FA5}">
                      <a16:colId xmlns:a16="http://schemas.microsoft.com/office/drawing/2014/main" val="1213491659"/>
                    </a:ext>
                  </a:extLst>
                </a:gridCol>
                <a:gridCol w="2454442">
                  <a:extLst>
                    <a:ext uri="{9D8B030D-6E8A-4147-A177-3AD203B41FA5}">
                      <a16:colId xmlns:a16="http://schemas.microsoft.com/office/drawing/2014/main" val="1470204383"/>
                    </a:ext>
                  </a:extLst>
                </a:gridCol>
                <a:gridCol w="2622884">
                  <a:extLst>
                    <a:ext uri="{9D8B030D-6E8A-4147-A177-3AD203B41FA5}">
                      <a16:colId xmlns:a16="http://schemas.microsoft.com/office/drawing/2014/main" val="4194567538"/>
                    </a:ext>
                  </a:extLst>
                </a:gridCol>
                <a:gridCol w="2891888">
                  <a:extLst>
                    <a:ext uri="{9D8B030D-6E8A-4147-A177-3AD203B41FA5}">
                      <a16:colId xmlns:a16="http://schemas.microsoft.com/office/drawing/2014/main" val="3653989113"/>
                    </a:ext>
                  </a:extLst>
                </a:gridCol>
              </a:tblGrid>
              <a:tr h="885715">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follow the Intel MAS adhesive KOZ?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follow Intel MAS/PDG guidance for the SOC land pattern creation?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is your board surface finish?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Have you placed small passive parts underneath a taller SMT part?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5336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 Cu OSP</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 on some platforms.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99643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if the question is asking any passives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SMTed</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on the board underneath a taller Package instead of on the opposite of PCBA.</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if the passives attached under the substrate of SOC but not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SMTed</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on PCB.</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1262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 for no Beam connection design;</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 + ENIG if Beam connection on board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44479">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OSP</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0891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3981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OSP</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3981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977946531"/>
                  </a:ext>
                </a:extLst>
              </a:tr>
            </a:tbl>
          </a:graphicData>
        </a:graphic>
      </p:graphicFrame>
    </p:spTree>
    <p:extLst>
      <p:ext uri="{BB962C8B-B14F-4D97-AF65-F5344CB8AC3E}">
        <p14:creationId xmlns:p14="http://schemas.microsoft.com/office/powerpoint/2010/main" val="3788249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SMT Process &amp; </a:t>
            </a:r>
            <a:r>
              <a:rPr lang="en-US" dirty="0"/>
              <a:t>Rework(2 Of 3)</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360877320"/>
              </p:ext>
            </p:extLst>
          </p:nvPr>
        </p:nvGraphicFramePr>
        <p:xfrm>
          <a:off x="210552" y="675827"/>
          <a:ext cx="11105146" cy="5202537"/>
        </p:xfrm>
        <a:graphic>
          <a:graphicData uri="http://schemas.openxmlformats.org/drawingml/2006/table">
            <a:tbl>
              <a:tblPr firstRow="1" bandRow="1">
                <a:tableStyleId>{B301B821-A1FF-4177-AEE7-76D212191A09}</a:tableStyleId>
              </a:tblPr>
              <a:tblGrid>
                <a:gridCol w="1347286">
                  <a:extLst>
                    <a:ext uri="{9D8B030D-6E8A-4147-A177-3AD203B41FA5}">
                      <a16:colId xmlns:a16="http://schemas.microsoft.com/office/drawing/2014/main" val="476935505"/>
                    </a:ext>
                  </a:extLst>
                </a:gridCol>
                <a:gridCol w="3029401">
                  <a:extLst>
                    <a:ext uri="{9D8B030D-6E8A-4147-A177-3AD203B41FA5}">
                      <a16:colId xmlns:a16="http://schemas.microsoft.com/office/drawing/2014/main" val="1213491659"/>
                    </a:ext>
                  </a:extLst>
                </a:gridCol>
                <a:gridCol w="3252620">
                  <a:extLst>
                    <a:ext uri="{9D8B030D-6E8A-4147-A177-3AD203B41FA5}">
                      <a16:colId xmlns:a16="http://schemas.microsoft.com/office/drawing/2014/main" val="1470204383"/>
                    </a:ext>
                  </a:extLst>
                </a:gridCol>
                <a:gridCol w="3475839">
                  <a:extLst>
                    <a:ext uri="{9D8B030D-6E8A-4147-A177-3AD203B41FA5}">
                      <a16:colId xmlns:a16="http://schemas.microsoft.com/office/drawing/2014/main" val="4194567538"/>
                    </a:ext>
                  </a:extLst>
                </a:gridCol>
              </a:tblGrid>
              <a:tr h="1158105">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 you aware Intel Client BGA has NCTF testable pin designed to make it possible to detect solder joint crack use continuity test (ICT or manual probe)?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 you apply corner NCTF solder joint open detection design in your mother board? </a:t>
                      </a:r>
                      <a:br>
                        <a:rPr lang="en-US" sz="1600" b="1" i="0" u="none" strike="noStrike" cap="none" spc="0" baseline="0" dirty="0">
                          <a:solidFill>
                            <a:schemeClr val="lt1"/>
                          </a:solidFill>
                          <a:uFillTx/>
                          <a:latin typeface="+mn-lt"/>
                          <a:ea typeface="+mn-ea"/>
                          <a:cs typeface="+mn-cs"/>
                          <a:sym typeface="Intel Clear"/>
                        </a:rPr>
                      </a:br>
                      <a:endParaRPr lang="en-US" sz="1600" b="1" i="0" u="none" strike="noStrike" cap="none" spc="0" baseline="0" dirty="0">
                        <a:solidFill>
                          <a:schemeClr val="lt1"/>
                        </a:solidFill>
                        <a:uFillTx/>
                        <a:latin typeface="+mn-lt"/>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yes, what percentage of your designs implemented this kind of design? </a:t>
                      </a:r>
                      <a:br>
                        <a:rPr lang="en-US" sz="1600" b="1" i="0" u="none" strike="noStrike" cap="none" spc="0" baseline="0" dirty="0">
                          <a:solidFill>
                            <a:schemeClr val="lt1"/>
                          </a:solidFill>
                          <a:uFillTx/>
                          <a:latin typeface="+mn-lt"/>
                          <a:ea typeface="+mn-ea"/>
                          <a:cs typeface="+mn-cs"/>
                          <a:sym typeface="Intel Clear"/>
                        </a:rPr>
                      </a:br>
                      <a:endParaRPr lang="en-US" sz="1600" b="1" i="0" u="none" strike="noStrike" cap="none" spc="0" baseline="0" dirty="0">
                        <a:solidFill>
                          <a:schemeClr val="lt1"/>
                        </a:solidFill>
                        <a:uFillTx/>
                        <a:latin typeface="+mn-lt"/>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59526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currently for LNL-Mx platforms, and under consideration to expand to additional platforms.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&lt;50%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552403">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1772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&lt;50%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541676">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&gt;50%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6905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603609">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603609">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97363017"/>
                  </a:ext>
                </a:extLst>
              </a:tr>
            </a:tbl>
          </a:graphicData>
        </a:graphic>
      </p:graphicFrame>
      <p:sp>
        <p:nvSpPr>
          <p:cNvPr id="2" name="TextBox 1">
            <a:extLst>
              <a:ext uri="{FF2B5EF4-FFF2-40B4-BE49-F238E27FC236}">
                <a16:creationId xmlns:a16="http://schemas.microsoft.com/office/drawing/2014/main" id="{5D97FA7A-5FD1-D0AC-9BC5-43B1B1FE0A31}"/>
              </a:ext>
            </a:extLst>
          </p:cNvPr>
          <p:cNvSpPr txBox="1"/>
          <p:nvPr/>
        </p:nvSpPr>
        <p:spPr>
          <a:xfrm>
            <a:off x="193623" y="5857153"/>
            <a:ext cx="11386148" cy="615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tx2"/>
                </a:solidFill>
                <a:effectLst/>
                <a:uFillTx/>
                <a:latin typeface="+mn-lt"/>
                <a:ea typeface="+mn-ea"/>
                <a:cs typeface="+mn-cs"/>
                <a:sym typeface="Helvetica Neue"/>
              </a:rPr>
              <a:t>Fujitsu adds NCTF testability into their designs, but the feature is not actually used in the factory for SMT failure detection.  So there’s no problem to remove NCTF testability from Intel, if needed.</a:t>
            </a:r>
          </a:p>
        </p:txBody>
      </p:sp>
    </p:spTree>
    <p:extLst>
      <p:ext uri="{BB962C8B-B14F-4D97-AF65-F5344CB8AC3E}">
        <p14:creationId xmlns:p14="http://schemas.microsoft.com/office/powerpoint/2010/main" val="214357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SMT Process &amp; </a:t>
            </a:r>
            <a:r>
              <a:rPr lang="en-US" dirty="0"/>
              <a:t>Rework(3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2" y="5350416"/>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prefer NCTF testable pins connected to ground plane.</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69387334"/>
              </p:ext>
            </p:extLst>
          </p:nvPr>
        </p:nvGraphicFramePr>
        <p:xfrm>
          <a:off x="210552" y="675826"/>
          <a:ext cx="11105146" cy="4580534"/>
        </p:xfrm>
        <a:graphic>
          <a:graphicData uri="http://schemas.openxmlformats.org/drawingml/2006/table">
            <a:tbl>
              <a:tblPr firstRow="1" bandRow="1">
                <a:tableStyleId>{B301B821-A1FF-4177-AEE7-76D212191A09}</a:tableStyleId>
              </a:tblPr>
              <a:tblGrid>
                <a:gridCol w="1347286">
                  <a:extLst>
                    <a:ext uri="{9D8B030D-6E8A-4147-A177-3AD203B41FA5}">
                      <a16:colId xmlns:a16="http://schemas.microsoft.com/office/drawing/2014/main" val="476935505"/>
                    </a:ext>
                  </a:extLst>
                </a:gridCol>
                <a:gridCol w="3029401">
                  <a:extLst>
                    <a:ext uri="{9D8B030D-6E8A-4147-A177-3AD203B41FA5}">
                      <a16:colId xmlns:a16="http://schemas.microsoft.com/office/drawing/2014/main" val="1213491659"/>
                    </a:ext>
                  </a:extLst>
                </a:gridCol>
                <a:gridCol w="3252620">
                  <a:extLst>
                    <a:ext uri="{9D8B030D-6E8A-4147-A177-3AD203B41FA5}">
                      <a16:colId xmlns:a16="http://schemas.microsoft.com/office/drawing/2014/main" val="1470204383"/>
                    </a:ext>
                  </a:extLst>
                </a:gridCol>
                <a:gridCol w="3475839">
                  <a:extLst>
                    <a:ext uri="{9D8B030D-6E8A-4147-A177-3AD203B41FA5}">
                      <a16:colId xmlns:a16="http://schemas.microsoft.com/office/drawing/2014/main" val="4194567538"/>
                    </a:ext>
                  </a:extLst>
                </a:gridCol>
              </a:tblGrid>
              <a:tr h="866442">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 you prefer the NCTF testable pins to be connected to Ground plane or PWR plane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 you think it is a ‘must to have’ feature for future Intel BGA package design?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‘must to have’ or ‘nice to have’, what is the minimum QTY of NCTF testable pins you think are needed for each corner?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53874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Ground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Nice to have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1</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49996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Ground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Must to have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More than 2</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46857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preference – both are OK</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Must to have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More than 2</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90251">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Ground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Must to have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More than 2</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15034">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4630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Don’t care – we don’t use this feature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4630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Ground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Don’t care – we don’t use this feature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89671543"/>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FF68E08E-5B6D-7563-1777-B6C119007A9A}"/>
              </a:ext>
            </a:extLst>
          </p:cNvPr>
          <p:cNvSpPr/>
          <p:nvPr/>
        </p:nvSpPr>
        <p:spPr>
          <a:xfrm>
            <a:off x="10896990" y="314401"/>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
        <p:nvSpPr>
          <p:cNvPr id="5" name="TextBox 4">
            <a:extLst>
              <a:ext uri="{FF2B5EF4-FFF2-40B4-BE49-F238E27FC236}">
                <a16:creationId xmlns:a16="http://schemas.microsoft.com/office/drawing/2014/main" id="{3042AA9C-C610-FBE7-8915-A4F4620D6C9A}"/>
              </a:ext>
            </a:extLst>
          </p:cNvPr>
          <p:cNvSpPr txBox="1"/>
          <p:nvPr/>
        </p:nvSpPr>
        <p:spPr>
          <a:xfrm>
            <a:off x="210552" y="5799636"/>
            <a:ext cx="11386148" cy="6155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tx2"/>
                </a:solidFill>
                <a:effectLst/>
                <a:uFillTx/>
                <a:latin typeface="+mn-lt"/>
                <a:ea typeface="+mn-ea"/>
                <a:cs typeface="+mn-cs"/>
                <a:sym typeface="Helvetica Neue"/>
              </a:rPr>
              <a:t>Fujitsu adds NCTF testability into their designs, but the feature is not actually used in the factory for SMT failure detection.  So there’s no problem to remove NCTF testability from Intel, if needed.</a:t>
            </a:r>
          </a:p>
        </p:txBody>
      </p:sp>
    </p:spTree>
    <p:extLst>
      <p:ext uri="{BB962C8B-B14F-4D97-AF65-F5344CB8AC3E}">
        <p14:creationId xmlns:p14="http://schemas.microsoft.com/office/powerpoint/2010/main" val="1752587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Solder paste &amp; Solder ball </a:t>
            </a:r>
          </a:p>
        </p:txBody>
      </p:sp>
    </p:spTree>
    <p:extLst>
      <p:ext uri="{BB962C8B-B14F-4D97-AF65-F5344CB8AC3E}">
        <p14:creationId xmlns:p14="http://schemas.microsoft.com/office/powerpoint/2010/main" val="220935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Solder paste &amp; Solder </a:t>
            </a:r>
            <a:r>
              <a:rPr lang="en-US" dirty="0"/>
              <a:t>ball (1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848786"/>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MSFT is using recycled solder paste. Dell and Lenovo are evaluating. Other customers don’t have any plan. Cost and reliability is their main concern.</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123106547"/>
              </p:ext>
            </p:extLst>
          </p:nvPr>
        </p:nvGraphicFramePr>
        <p:xfrm>
          <a:off x="210553" y="675827"/>
          <a:ext cx="11271882" cy="5133404"/>
        </p:xfrm>
        <a:graphic>
          <a:graphicData uri="http://schemas.openxmlformats.org/drawingml/2006/table">
            <a:tbl>
              <a:tblPr firstRow="1" bandRow="1">
                <a:tableStyleId>{B301B821-A1FF-4177-AEE7-76D212191A09}</a:tableStyleId>
              </a:tblPr>
              <a:tblGrid>
                <a:gridCol w="1016668">
                  <a:extLst>
                    <a:ext uri="{9D8B030D-6E8A-4147-A177-3AD203B41FA5}">
                      <a16:colId xmlns:a16="http://schemas.microsoft.com/office/drawing/2014/main" val="476935505"/>
                    </a:ext>
                  </a:extLst>
                </a:gridCol>
                <a:gridCol w="2255921">
                  <a:extLst>
                    <a:ext uri="{9D8B030D-6E8A-4147-A177-3AD203B41FA5}">
                      <a16:colId xmlns:a16="http://schemas.microsoft.com/office/drawing/2014/main" val="1213491659"/>
                    </a:ext>
                  </a:extLst>
                </a:gridCol>
                <a:gridCol w="2658979">
                  <a:extLst>
                    <a:ext uri="{9D8B030D-6E8A-4147-A177-3AD203B41FA5}">
                      <a16:colId xmlns:a16="http://schemas.microsoft.com/office/drawing/2014/main" val="1470204383"/>
                    </a:ext>
                  </a:extLst>
                </a:gridCol>
                <a:gridCol w="2797342">
                  <a:extLst>
                    <a:ext uri="{9D8B030D-6E8A-4147-A177-3AD203B41FA5}">
                      <a16:colId xmlns:a16="http://schemas.microsoft.com/office/drawing/2014/main" val="4194567538"/>
                    </a:ext>
                  </a:extLst>
                </a:gridCol>
                <a:gridCol w="2542972">
                  <a:extLst>
                    <a:ext uri="{9D8B030D-6E8A-4147-A177-3AD203B41FA5}">
                      <a16:colId xmlns:a16="http://schemas.microsoft.com/office/drawing/2014/main" val="3653989113"/>
                    </a:ext>
                  </a:extLst>
                </a:gridCol>
              </a:tblGrid>
              <a:tr h="1116595">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Have you ever utilized Recycled Tin solder paste or solder bars in your HVM factories?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If you have utilized Recycled Tin Solder paste or solder bars, which suppliers and formulations have you used?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Would you consider utilizing Recycled Tin Solder paste or solder bars in your products to support sustainability efforts?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is the primary reason for not considering utilizing Recycled Tin Solder paste or solder bars?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52078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50944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Senju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Reliability and  Cost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45442">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 - under evaluation 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 - ShenMao PF606-P26R under evaluation 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 Yes (if passes qualification testing)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Cost - Quality and availability.  There is a limited supply chain for recycled Sn.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510573">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In progress, TBD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8459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62008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62008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Availability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638860217"/>
                  </a:ext>
                </a:extLst>
              </a:tr>
            </a:tbl>
          </a:graphicData>
        </a:graphic>
      </p:graphicFrame>
    </p:spTree>
    <p:extLst>
      <p:ext uri="{BB962C8B-B14F-4D97-AF65-F5344CB8AC3E}">
        <p14:creationId xmlns:p14="http://schemas.microsoft.com/office/powerpoint/2010/main" val="4040135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Solder paste &amp; Solder </a:t>
            </a:r>
            <a:r>
              <a:rPr lang="en-US" dirty="0"/>
              <a:t>ball (2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2" y="5903079"/>
            <a:ext cx="11363826"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sz="1600" dirty="0">
                <a:solidFill>
                  <a:schemeClr val="accent1"/>
                </a:solidFill>
              </a:rPr>
              <a:t>Half customers hope Intel don’t remove solder paste recommendation in MAS, otherwise they have to qualified by themselves.</a:t>
            </a:r>
          </a:p>
          <a:p>
            <a:pPr marL="0" marR="0" indent="0" defTabSz="2438338" rtl="0" fontAlgn="auto" latinLnBrk="0" hangingPunct="0">
              <a:lnSpc>
                <a:spcPct val="100000"/>
              </a:lnSpc>
              <a:spcBef>
                <a:spcPts val="0"/>
              </a:spcBef>
              <a:spcAft>
                <a:spcPts val="0"/>
              </a:spcAft>
              <a:buClrTx/>
              <a:buSzTx/>
              <a:buFontTx/>
              <a:buNone/>
              <a:tabLst/>
            </a:pP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205801863"/>
              </p:ext>
            </p:extLst>
          </p:nvPr>
        </p:nvGraphicFramePr>
        <p:xfrm>
          <a:off x="210552" y="675826"/>
          <a:ext cx="11184941" cy="5170810"/>
        </p:xfrm>
        <a:graphic>
          <a:graphicData uri="http://schemas.openxmlformats.org/drawingml/2006/table">
            <a:tbl>
              <a:tblPr firstRow="1" bandRow="1">
                <a:tableStyleId>{B301B821-A1FF-4177-AEE7-76D212191A09}</a:tableStyleId>
              </a:tblPr>
              <a:tblGrid>
                <a:gridCol w="1302725">
                  <a:extLst>
                    <a:ext uri="{9D8B030D-6E8A-4147-A177-3AD203B41FA5}">
                      <a16:colId xmlns:a16="http://schemas.microsoft.com/office/drawing/2014/main" val="476935505"/>
                    </a:ext>
                  </a:extLst>
                </a:gridCol>
                <a:gridCol w="2890664">
                  <a:extLst>
                    <a:ext uri="{9D8B030D-6E8A-4147-A177-3AD203B41FA5}">
                      <a16:colId xmlns:a16="http://schemas.microsoft.com/office/drawing/2014/main" val="1213491659"/>
                    </a:ext>
                  </a:extLst>
                </a:gridCol>
                <a:gridCol w="3407129">
                  <a:extLst>
                    <a:ext uri="{9D8B030D-6E8A-4147-A177-3AD203B41FA5}">
                      <a16:colId xmlns:a16="http://schemas.microsoft.com/office/drawing/2014/main" val="1470204383"/>
                    </a:ext>
                  </a:extLst>
                </a:gridCol>
                <a:gridCol w="3584423">
                  <a:extLst>
                    <a:ext uri="{9D8B030D-6E8A-4147-A177-3AD203B41FA5}">
                      <a16:colId xmlns:a16="http://schemas.microsoft.com/office/drawing/2014/main" val="4194567538"/>
                    </a:ext>
                  </a:extLst>
                </a:gridCol>
              </a:tblGrid>
              <a:tr h="850772">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Will there be impact if we remove the solder paste vendor/model list recommendation from MAS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yes, what is the impact?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What % of non-Intel BGAs do you currently assemble with SAC305 solder balls?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96004">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50%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91440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More qualifications need to be planned on early stage, significant increase the # of build if there is reliability issues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6082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 The vendor list is not critical, but the solder alloy is critical to correlate results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 - Independent testing is already being done, but alignment on the solder alloy is important.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90% - whatever the standard offering is from the other BGA component vendors.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86279">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For reference, Lenovo will do qualification not limit on that list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50%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56774">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Can't know whether the solder paste can meet soldering requirement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90580">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90580">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Varied by vendor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640697981"/>
                  </a:ext>
                </a:extLst>
              </a:tr>
            </a:tbl>
          </a:graphicData>
        </a:graphic>
      </p:graphicFrame>
    </p:spTree>
    <p:extLst>
      <p:ext uri="{BB962C8B-B14F-4D97-AF65-F5344CB8AC3E}">
        <p14:creationId xmlns:p14="http://schemas.microsoft.com/office/powerpoint/2010/main" val="99969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Solder paste &amp; Solder </a:t>
            </a:r>
            <a:r>
              <a:rPr lang="en-US" dirty="0"/>
              <a:t>ball (3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6139054"/>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Microsoft has some </a:t>
            </a:r>
            <a:r>
              <a:rPr lang="en-US" sz="1600" dirty="0">
                <a:solidFill>
                  <a:schemeClr val="accent1"/>
                </a:solidFill>
              </a:rPr>
              <a:t>thought</a:t>
            </a:r>
            <a:r>
              <a:rPr kumimoji="0" lang="en-US" sz="1600" i="0" u="none" strike="noStrike" cap="none" spc="0" normalizeH="0" baseline="0" dirty="0">
                <a:ln>
                  <a:noFill/>
                </a:ln>
                <a:solidFill>
                  <a:schemeClr val="accent1"/>
                </a:solidFill>
                <a:effectLst/>
                <a:uFillTx/>
                <a:latin typeface="+mn-lt"/>
                <a:ea typeface="+mn-ea"/>
                <a:cs typeface="+mn-cs"/>
                <a:sym typeface="Helvetica Neue"/>
              </a:rPr>
              <a:t>s on the solder ball material change. </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542525008"/>
              </p:ext>
            </p:extLst>
          </p:nvPr>
        </p:nvGraphicFramePr>
        <p:xfrm>
          <a:off x="210552" y="675827"/>
          <a:ext cx="11184941" cy="5453926"/>
        </p:xfrm>
        <a:graphic>
          <a:graphicData uri="http://schemas.openxmlformats.org/drawingml/2006/table">
            <a:tbl>
              <a:tblPr firstRow="1" bandRow="1">
                <a:tableStyleId>{B301B821-A1FF-4177-AEE7-76D212191A09}</a:tableStyleId>
              </a:tblPr>
              <a:tblGrid>
                <a:gridCol w="1302725">
                  <a:extLst>
                    <a:ext uri="{9D8B030D-6E8A-4147-A177-3AD203B41FA5}">
                      <a16:colId xmlns:a16="http://schemas.microsoft.com/office/drawing/2014/main" val="476935505"/>
                    </a:ext>
                  </a:extLst>
                </a:gridCol>
                <a:gridCol w="4646891">
                  <a:extLst>
                    <a:ext uri="{9D8B030D-6E8A-4147-A177-3AD203B41FA5}">
                      <a16:colId xmlns:a16="http://schemas.microsoft.com/office/drawing/2014/main" val="1213491659"/>
                    </a:ext>
                  </a:extLst>
                </a:gridCol>
                <a:gridCol w="2737185">
                  <a:extLst>
                    <a:ext uri="{9D8B030D-6E8A-4147-A177-3AD203B41FA5}">
                      <a16:colId xmlns:a16="http://schemas.microsoft.com/office/drawing/2014/main" val="1470204383"/>
                    </a:ext>
                  </a:extLst>
                </a:gridCol>
                <a:gridCol w="2498140">
                  <a:extLst>
                    <a:ext uri="{9D8B030D-6E8A-4147-A177-3AD203B41FA5}">
                      <a16:colId xmlns:a16="http://schemas.microsoft.com/office/drawing/2014/main" val="4194567538"/>
                    </a:ext>
                  </a:extLst>
                </a:gridCol>
              </a:tblGrid>
              <a:tr h="698017">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 you have any concerns if Intel switch BGA solder balls from SAC405 to SAC305 metallurgy?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Would any new qualifications need to be done if Intel do this change?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What is the largest void size in BGA solder joint allowed?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8493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&lt;30%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244305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The lower silver content in SAC305 may slightly impact the conductivity and thermal conductivity of the solder joints, which could be more data to get insight in high-power or high-frequency applications.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SAC405, with its higher silver content, generally provides greater mechanical strength and thermal cycling:  SAC405, with its higher silver content, generally provides greater mechanical strength; Due to the lower silver content, SAC305 solder joints may exhibit different behavior under thermal cycling and high-temperature conditions. Reliability testing is necessary to ensure stability and durability under actual operating conditions.</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Interesting the get the substrate warp data benchmark from Intel</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Reflow profile need to be fine-turned since SAC305 generally is slightly lower melting points than SAC405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based on the above concerns we have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&lt;25%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189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 minimal testing (low risk)</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&lt;30%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18762">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need qualification test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3930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359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&lt;30%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359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concern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07934236"/>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19D219B0-4851-C3A8-B2C9-FE42DA309094}"/>
              </a:ext>
            </a:extLst>
          </p:cNvPr>
          <p:cNvSpPr/>
          <p:nvPr/>
        </p:nvSpPr>
        <p:spPr>
          <a:xfrm>
            <a:off x="10970508" y="256989"/>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66377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altLang="zh-CN" dirty="0"/>
              <a:t>BFI</a:t>
            </a:r>
            <a:r>
              <a:rPr lang="en-US" dirty="0"/>
              <a:t> Related</a:t>
            </a:r>
          </a:p>
        </p:txBody>
      </p:sp>
    </p:spTree>
    <p:extLst>
      <p:ext uri="{BB962C8B-B14F-4D97-AF65-F5344CB8AC3E}">
        <p14:creationId xmlns:p14="http://schemas.microsoft.com/office/powerpoint/2010/main" val="4001441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BFI Related</a:t>
            </a:r>
            <a:r>
              <a:rPr lang="en-US" dirty="0"/>
              <a:t>(1 Of 5)</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264447263"/>
              </p:ext>
            </p:extLst>
          </p:nvPr>
        </p:nvGraphicFramePr>
        <p:xfrm>
          <a:off x="210552" y="675827"/>
          <a:ext cx="11165305" cy="4666879"/>
        </p:xfrm>
        <a:graphic>
          <a:graphicData uri="http://schemas.openxmlformats.org/drawingml/2006/table">
            <a:tbl>
              <a:tblPr firstRow="1" bandRow="1">
                <a:tableStyleId>{B301B821-A1FF-4177-AEE7-76D212191A09}</a:tableStyleId>
              </a:tblPr>
              <a:tblGrid>
                <a:gridCol w="1509964">
                  <a:extLst>
                    <a:ext uri="{9D8B030D-6E8A-4147-A177-3AD203B41FA5}">
                      <a16:colId xmlns:a16="http://schemas.microsoft.com/office/drawing/2014/main" val="476935505"/>
                    </a:ext>
                  </a:extLst>
                </a:gridCol>
                <a:gridCol w="3964405">
                  <a:extLst>
                    <a:ext uri="{9D8B030D-6E8A-4147-A177-3AD203B41FA5}">
                      <a16:colId xmlns:a16="http://schemas.microsoft.com/office/drawing/2014/main" val="1213491659"/>
                    </a:ext>
                  </a:extLst>
                </a:gridCol>
                <a:gridCol w="5690936">
                  <a:extLst>
                    <a:ext uri="{9D8B030D-6E8A-4147-A177-3AD203B41FA5}">
                      <a16:colId xmlns:a16="http://schemas.microsoft.com/office/drawing/2014/main" val="1470204383"/>
                    </a:ext>
                  </a:extLst>
                </a:gridCol>
              </a:tblGrid>
              <a:tr h="1262778">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When do you monitor board strain through board assembly, test, and handling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board strain guidance do you use?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53092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450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ue</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POR gage location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66715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FF0000"/>
                          </a:solidFill>
                          <a:effectLst/>
                          <a:uLnTx/>
                          <a:uFillTx/>
                          <a:latin typeface="Intel Clear Light" panose="020B0404020203020204" pitchFamily="34" charset="0"/>
                          <a:ea typeface="+mn-ea"/>
                          <a:cs typeface="+mn-cs"/>
                          <a:sym typeface="Intel Clear"/>
                        </a:rPr>
                        <a:t>Questions:  Is this BFI same or similar as SBT (Spherical bend test) ? If yes, </a:t>
                      </a:r>
                      <a:br>
                        <a:rPr kumimoji="0" lang="en-US" sz="1200" b="0" i="0" u="none" strike="noStrike" kern="0" cap="none" spc="0" normalizeH="0" baseline="0" dirty="0">
                          <a:ln>
                            <a:noFill/>
                          </a:ln>
                          <a:solidFill>
                            <a:srgbClr val="FF000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FF0000"/>
                          </a:solidFill>
                          <a:effectLst/>
                          <a:uLnTx/>
                          <a:uFillTx/>
                          <a:latin typeface="Intel Clear Light" panose="020B0404020203020204" pitchFamily="34" charset="0"/>
                          <a:ea typeface="+mn-ea"/>
                          <a:cs typeface="+mn-cs"/>
                          <a:sym typeface="Intel Clear"/>
                        </a:rPr>
                        <a:t>For product level strain gauge that following MS Internal Guideline and IPC standard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473542">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Every project/Every generation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Intel BFI (Board Flexture Initiative) Guidance using diagonal strain at POR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73542">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pl-PL"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Lenovo document (450u w/o glue</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r>
                        <a:rPr kumimoji="0" lang="pl-PL"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1000u w/ glue)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40331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42780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Intel BFI (Board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Flexture</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Initiative) Guidance using diagonal strain at POR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42780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978966903"/>
                  </a:ext>
                </a:extLst>
              </a:tr>
            </a:tbl>
          </a:graphicData>
        </a:graphic>
      </p:graphicFrame>
    </p:spTree>
    <p:extLst>
      <p:ext uri="{BB962C8B-B14F-4D97-AF65-F5344CB8AC3E}">
        <p14:creationId xmlns:p14="http://schemas.microsoft.com/office/powerpoint/2010/main" val="807333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BFI Related</a:t>
            </a:r>
            <a:r>
              <a:rPr lang="en-US" dirty="0"/>
              <a:t>(2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6755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Lowest BFI strain in customer site is </a:t>
            </a:r>
            <a:r>
              <a:rPr lang="en-US" sz="1600" dirty="0">
                <a:solidFill>
                  <a:schemeClr val="accent1"/>
                </a:solidFill>
                <a:sym typeface="Intel Clear"/>
              </a:rPr>
              <a:t>350 </a:t>
            </a:r>
            <a:r>
              <a:rPr lang="en-US" sz="1600" dirty="0" err="1">
                <a:solidFill>
                  <a:schemeClr val="accent1"/>
                </a:solidFill>
                <a:sym typeface="Intel Clear"/>
              </a:rPr>
              <a:t>ue</a:t>
            </a:r>
            <a:r>
              <a:rPr lang="en-US" sz="1600" dirty="0">
                <a:solidFill>
                  <a:schemeClr val="accent1"/>
                </a:solidFill>
                <a:sym typeface="Intel Clear"/>
              </a:rPr>
              <a:t>.</a:t>
            </a:r>
            <a:endParaRPr lang="en-US" sz="1600" dirty="0">
              <a:solidFill>
                <a:schemeClr val="accent1"/>
              </a:solidFill>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586237918"/>
              </p:ext>
            </p:extLst>
          </p:nvPr>
        </p:nvGraphicFramePr>
        <p:xfrm>
          <a:off x="210553" y="675826"/>
          <a:ext cx="11237494" cy="4812790"/>
        </p:xfrm>
        <a:graphic>
          <a:graphicData uri="http://schemas.openxmlformats.org/drawingml/2006/table">
            <a:tbl>
              <a:tblPr firstRow="1" bandRow="1">
                <a:tableStyleId>{B301B821-A1FF-4177-AEE7-76D212191A09}</a:tableStyleId>
              </a:tblPr>
              <a:tblGrid>
                <a:gridCol w="1455821">
                  <a:extLst>
                    <a:ext uri="{9D8B030D-6E8A-4147-A177-3AD203B41FA5}">
                      <a16:colId xmlns:a16="http://schemas.microsoft.com/office/drawing/2014/main" val="476935505"/>
                    </a:ext>
                  </a:extLst>
                </a:gridCol>
                <a:gridCol w="4944979">
                  <a:extLst>
                    <a:ext uri="{9D8B030D-6E8A-4147-A177-3AD203B41FA5}">
                      <a16:colId xmlns:a16="http://schemas.microsoft.com/office/drawing/2014/main" val="4194567538"/>
                    </a:ext>
                  </a:extLst>
                </a:gridCol>
                <a:gridCol w="4836694">
                  <a:extLst>
                    <a:ext uri="{9D8B030D-6E8A-4147-A177-3AD203B41FA5}">
                      <a16:colId xmlns:a16="http://schemas.microsoft.com/office/drawing/2014/main" val="3653989113"/>
                    </a:ext>
                  </a:extLst>
                </a:gridCol>
              </a:tblGrid>
              <a:tr h="1249540">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is the lowest BFI strain that you have been able to meet through board assembly, test, handling steps prior to  thermal-solution attach?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How many total process steps (assembly, test, handling) do you monitor board strain on?       (1. ICT test；2. De-panel；3. Function test；4. Thermal module assembly；5.System assembly；6. All steps from 1-5；7. Others)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93715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&lt;450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ue</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6. All steps 1-5</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7. Also, for NBs: open/close display, lift unit by each corner and center, type on keyboard, apply 5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lb</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load on system near center of each BGA, hinge drops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443207">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＜350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ue</a:t>
                      </a:r>
                      <a:endPar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but not include SMT in generally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468577">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＜450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ue</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except for LNL spec with 350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ue</a:t>
                      </a:r>
                      <a:endPar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ICT test, De-panel, Function test, Thermal module assembly, System assembly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68577">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pl-PL"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450u w/o glue</a:t>
                      </a:r>
                      <a:br>
                        <a:rPr kumimoji="0" lang="pl-PL"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pl-PL"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1000u w/ glue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6</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9909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423322">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others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De-panel, Thermal module assembly, System assembly；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423322">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4006457"/>
                  </a:ext>
                </a:extLst>
              </a:tr>
            </a:tbl>
          </a:graphicData>
        </a:graphic>
      </p:graphicFrame>
    </p:spTree>
    <p:extLst>
      <p:ext uri="{BB962C8B-B14F-4D97-AF65-F5344CB8AC3E}">
        <p14:creationId xmlns:p14="http://schemas.microsoft.com/office/powerpoint/2010/main" val="580835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BFI Related</a:t>
            </a:r>
            <a:r>
              <a:rPr lang="en-US" dirty="0"/>
              <a:t>(3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785985"/>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endParaRPr lang="en-US" sz="1600" dirty="0">
              <a:solidFill>
                <a:schemeClr val="accent1"/>
              </a:solidFill>
            </a:endParaRPr>
          </a:p>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collect any solder joint FA(</a:t>
            </a:r>
            <a:r>
              <a:rPr lang="en-US" sz="1600" dirty="0" err="1">
                <a:solidFill>
                  <a:schemeClr val="accent1"/>
                </a:solidFill>
              </a:rPr>
              <a:t>DnP</a:t>
            </a:r>
            <a:r>
              <a:rPr lang="en-US" sz="1600" dirty="0">
                <a:solidFill>
                  <a:schemeClr val="accent1"/>
                </a:solidFill>
              </a:rPr>
              <a:t>, XS, X-Ray ) after board assembly, test, and handling steps.</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321665066"/>
              </p:ext>
            </p:extLst>
          </p:nvPr>
        </p:nvGraphicFramePr>
        <p:xfrm>
          <a:off x="210553" y="675827"/>
          <a:ext cx="11271882" cy="5282677"/>
        </p:xfrm>
        <a:graphic>
          <a:graphicData uri="http://schemas.openxmlformats.org/drawingml/2006/table">
            <a:tbl>
              <a:tblPr firstRow="1" bandRow="1">
                <a:tableStyleId>{B301B821-A1FF-4177-AEE7-76D212191A09}</a:tableStyleId>
              </a:tblPr>
              <a:tblGrid>
                <a:gridCol w="1016668">
                  <a:extLst>
                    <a:ext uri="{9D8B030D-6E8A-4147-A177-3AD203B41FA5}">
                      <a16:colId xmlns:a16="http://schemas.microsoft.com/office/drawing/2014/main" val="476935505"/>
                    </a:ext>
                  </a:extLst>
                </a:gridCol>
                <a:gridCol w="2255921">
                  <a:extLst>
                    <a:ext uri="{9D8B030D-6E8A-4147-A177-3AD203B41FA5}">
                      <a16:colId xmlns:a16="http://schemas.microsoft.com/office/drawing/2014/main" val="1213491659"/>
                    </a:ext>
                  </a:extLst>
                </a:gridCol>
                <a:gridCol w="2370221">
                  <a:extLst>
                    <a:ext uri="{9D8B030D-6E8A-4147-A177-3AD203B41FA5}">
                      <a16:colId xmlns:a16="http://schemas.microsoft.com/office/drawing/2014/main" val="1470204383"/>
                    </a:ext>
                  </a:extLst>
                </a:gridCol>
                <a:gridCol w="2388269">
                  <a:extLst>
                    <a:ext uri="{9D8B030D-6E8A-4147-A177-3AD203B41FA5}">
                      <a16:colId xmlns:a16="http://schemas.microsoft.com/office/drawing/2014/main" val="4194567538"/>
                    </a:ext>
                  </a:extLst>
                </a:gridCol>
                <a:gridCol w="3240803">
                  <a:extLst>
                    <a:ext uri="{9D8B030D-6E8A-4147-A177-3AD203B41FA5}">
                      <a16:colId xmlns:a16="http://schemas.microsoft.com/office/drawing/2014/main" val="3653989113"/>
                    </a:ext>
                  </a:extLst>
                </a:gridCol>
              </a:tblGrid>
              <a:tr h="916146">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collect any solder joint FA after board assembly, test, and handling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what type of tools are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when?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what is the purpose?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501462">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XS, X-ray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T0 solder joint quality check</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75027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X-section and X-ray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b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As a board or system assembly time=0 solder joint quality control check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6699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if have failure, we will provide FA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X-Ray , Dye&amp;Pry, Cross section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Every project/Every generation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687109">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E.g.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XS, X-Ray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board or system assembly time=0 solder joint quality control check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6290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97079">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X-ray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board or system assembly time=0 solder joint quality control check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97079">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021562232"/>
                  </a:ext>
                </a:extLst>
              </a:tr>
            </a:tbl>
          </a:graphicData>
        </a:graphic>
      </p:graphicFrame>
    </p:spTree>
    <p:extLst>
      <p:ext uri="{BB962C8B-B14F-4D97-AF65-F5344CB8AC3E}">
        <p14:creationId xmlns:p14="http://schemas.microsoft.com/office/powerpoint/2010/main" val="180272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BFI Related</a:t>
            </a:r>
            <a:r>
              <a:rPr lang="en-US" dirty="0"/>
              <a:t>(4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689730"/>
            <a:ext cx="11399921"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Intel BGA is the largest BGA that most customers can handle. Test fixture design and handling is the main concern if packages grow larger. OEMs are willing to share BFI data.</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973742044"/>
              </p:ext>
            </p:extLst>
          </p:nvPr>
        </p:nvGraphicFramePr>
        <p:xfrm>
          <a:off x="210553" y="675827"/>
          <a:ext cx="11219447" cy="4912055"/>
        </p:xfrm>
        <a:graphic>
          <a:graphicData uri="http://schemas.openxmlformats.org/drawingml/2006/table">
            <a:tbl>
              <a:tblPr firstRow="1" bandRow="1">
                <a:tableStyleId>{B301B821-A1FF-4177-AEE7-76D212191A09}</a:tableStyleId>
              </a:tblPr>
              <a:tblGrid>
                <a:gridCol w="1420289">
                  <a:extLst>
                    <a:ext uri="{9D8B030D-6E8A-4147-A177-3AD203B41FA5}">
                      <a16:colId xmlns:a16="http://schemas.microsoft.com/office/drawing/2014/main" val="476935505"/>
                    </a:ext>
                  </a:extLst>
                </a:gridCol>
                <a:gridCol w="3151530">
                  <a:extLst>
                    <a:ext uri="{9D8B030D-6E8A-4147-A177-3AD203B41FA5}">
                      <a16:colId xmlns:a16="http://schemas.microsoft.com/office/drawing/2014/main" val="1213491659"/>
                    </a:ext>
                  </a:extLst>
                </a:gridCol>
                <a:gridCol w="3193550">
                  <a:extLst>
                    <a:ext uri="{9D8B030D-6E8A-4147-A177-3AD203B41FA5}">
                      <a16:colId xmlns:a16="http://schemas.microsoft.com/office/drawing/2014/main" val="1470204383"/>
                    </a:ext>
                  </a:extLst>
                </a:gridCol>
                <a:gridCol w="3454078">
                  <a:extLst>
                    <a:ext uri="{9D8B030D-6E8A-4147-A177-3AD203B41FA5}">
                      <a16:colId xmlns:a16="http://schemas.microsoft.com/office/drawing/2014/main" val="4194567538"/>
                    </a:ext>
                  </a:extLst>
                </a:gridCol>
              </a:tblGrid>
              <a:tr h="899438">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is the largest BGA package that factory can currently manufacture through SMT, test, board assembly?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Do you anticipate any challenges controlling board strain as packages grow larger, more rectangular, etc.?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Would you be willing to share BFI strain data that you have collected on an Intel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6684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25mm  x 50 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86064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s-E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Intel SOC (50mm x 25mm)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if there is value added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27853">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The largest BGA of mass production platform --- Intel Kaby Lake-G (58.5 x 31 mm; ball pitch 0.65mm, 2270 balls)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600561">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Intel CPU is biggest one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2403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46798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40 mm X 40 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467987">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120 mm x 90 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data to share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320381803"/>
                  </a:ext>
                </a:extLst>
              </a:tr>
            </a:tbl>
          </a:graphicData>
        </a:graphic>
      </p:graphicFrame>
    </p:spTree>
    <p:extLst>
      <p:ext uri="{BB962C8B-B14F-4D97-AF65-F5344CB8AC3E}">
        <p14:creationId xmlns:p14="http://schemas.microsoft.com/office/powerpoint/2010/main" val="278607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BFI Related</a:t>
            </a:r>
            <a:r>
              <a:rPr lang="en-US" dirty="0"/>
              <a:t>(5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2" y="5974334"/>
            <a:ext cx="11219446"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rgbClr val="FF0000"/>
                </a:solidFill>
                <a:effectLst/>
                <a:uFillTx/>
                <a:latin typeface="+mn-lt"/>
                <a:ea typeface="+mn-ea"/>
                <a:cs typeface="+mn-cs"/>
                <a:sym typeface="Helvetica Neue"/>
              </a:rPr>
              <a: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98737004"/>
              </p:ext>
            </p:extLst>
          </p:nvPr>
        </p:nvGraphicFramePr>
        <p:xfrm>
          <a:off x="210553" y="675826"/>
          <a:ext cx="11219447" cy="5174069"/>
        </p:xfrm>
        <a:graphic>
          <a:graphicData uri="http://schemas.openxmlformats.org/drawingml/2006/table">
            <a:tbl>
              <a:tblPr firstRow="1" bandRow="1">
                <a:tableStyleId>{B301B821-A1FF-4177-AEE7-76D212191A09}</a:tableStyleId>
              </a:tblPr>
              <a:tblGrid>
                <a:gridCol w="1420289">
                  <a:extLst>
                    <a:ext uri="{9D8B030D-6E8A-4147-A177-3AD203B41FA5}">
                      <a16:colId xmlns:a16="http://schemas.microsoft.com/office/drawing/2014/main" val="476935505"/>
                    </a:ext>
                  </a:extLst>
                </a:gridCol>
                <a:gridCol w="3151530">
                  <a:extLst>
                    <a:ext uri="{9D8B030D-6E8A-4147-A177-3AD203B41FA5}">
                      <a16:colId xmlns:a16="http://schemas.microsoft.com/office/drawing/2014/main" val="1213491659"/>
                    </a:ext>
                  </a:extLst>
                </a:gridCol>
                <a:gridCol w="3193550">
                  <a:extLst>
                    <a:ext uri="{9D8B030D-6E8A-4147-A177-3AD203B41FA5}">
                      <a16:colId xmlns:a16="http://schemas.microsoft.com/office/drawing/2014/main" val="1470204383"/>
                    </a:ext>
                  </a:extLst>
                </a:gridCol>
                <a:gridCol w="3454078">
                  <a:extLst>
                    <a:ext uri="{9D8B030D-6E8A-4147-A177-3AD203B41FA5}">
                      <a16:colId xmlns:a16="http://schemas.microsoft.com/office/drawing/2014/main" val="4194567538"/>
                    </a:ext>
                  </a:extLst>
                </a:gridCol>
              </a:tblGrid>
              <a:tr h="771318">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When do you use shock board strain?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If yes, what shock board strain guidance do you use?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How is shock strain guidance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49682">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1450 ue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During system shock tesitng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82900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when new form factors/process were introduced (component/PCB size; new PCB surface finish; new paste)</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Question: Is the question for Spherical bend test or product level strain gauge?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If for SBT: the answer is IPC</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FF0000"/>
                          </a:solidFill>
                          <a:effectLst/>
                          <a:uLnTx/>
                          <a:uFillTx/>
                          <a:latin typeface="Intel Clear Light" panose="020B0404020203020204" pitchFamily="34" charset="0"/>
                          <a:ea typeface="+mn-ea"/>
                          <a:cs typeface="+mn-cs"/>
                          <a:sym typeface="Intel Clear"/>
                        </a:rPr>
                        <a:t>Question: what is different between BFI and Shock Strain?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If the question is shock test, FEA modeling is one  and also RE testing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64662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Intel Q Metric Shock Strain Guidance in the Intel TMDG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For board and/or system design for FEA modeling</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During board and/or system shock reliability testing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646621">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Lenovo strain gauge test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For board and/or system design for FEA modeling</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During board and/or system shock reliability testing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04777">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35426">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Intel Q Metric Shock Strain Guidance in the Intel TMDG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During board and/or system shock reliability testing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35426">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021251953"/>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56BF3E19-D701-6168-EC64-B03A47939F36}"/>
              </a:ext>
            </a:extLst>
          </p:cNvPr>
          <p:cNvSpPr/>
          <p:nvPr/>
        </p:nvSpPr>
        <p:spPr>
          <a:xfrm>
            <a:off x="11005014" y="256989"/>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929312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Adhesive Related</a:t>
            </a:r>
          </a:p>
        </p:txBody>
      </p:sp>
    </p:spTree>
    <p:extLst>
      <p:ext uri="{BB962C8B-B14F-4D97-AF65-F5344CB8AC3E}">
        <p14:creationId xmlns:p14="http://schemas.microsoft.com/office/powerpoint/2010/main" val="1713096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Adhesive Related</a:t>
            </a:r>
            <a:r>
              <a:rPr lang="en-US" dirty="0"/>
              <a:t>(1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726829"/>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prefer corner glue. </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864861837"/>
              </p:ext>
            </p:extLst>
          </p:nvPr>
        </p:nvGraphicFramePr>
        <p:xfrm>
          <a:off x="210553" y="675826"/>
          <a:ext cx="11219447" cy="4950882"/>
        </p:xfrm>
        <a:graphic>
          <a:graphicData uri="http://schemas.openxmlformats.org/drawingml/2006/table">
            <a:tbl>
              <a:tblPr firstRow="1" bandRow="1">
                <a:tableStyleId>{B301B821-A1FF-4177-AEE7-76D212191A09}</a:tableStyleId>
              </a:tblPr>
              <a:tblGrid>
                <a:gridCol w="1420289">
                  <a:extLst>
                    <a:ext uri="{9D8B030D-6E8A-4147-A177-3AD203B41FA5}">
                      <a16:colId xmlns:a16="http://schemas.microsoft.com/office/drawing/2014/main" val="476935505"/>
                    </a:ext>
                  </a:extLst>
                </a:gridCol>
                <a:gridCol w="3151530">
                  <a:extLst>
                    <a:ext uri="{9D8B030D-6E8A-4147-A177-3AD203B41FA5}">
                      <a16:colId xmlns:a16="http://schemas.microsoft.com/office/drawing/2014/main" val="1213491659"/>
                    </a:ext>
                  </a:extLst>
                </a:gridCol>
                <a:gridCol w="3193550">
                  <a:extLst>
                    <a:ext uri="{9D8B030D-6E8A-4147-A177-3AD203B41FA5}">
                      <a16:colId xmlns:a16="http://schemas.microsoft.com/office/drawing/2014/main" val="1470204383"/>
                    </a:ext>
                  </a:extLst>
                </a:gridCol>
                <a:gridCol w="3454078">
                  <a:extLst>
                    <a:ext uri="{9D8B030D-6E8A-4147-A177-3AD203B41FA5}">
                      <a16:colId xmlns:a16="http://schemas.microsoft.com/office/drawing/2014/main" val="4194567538"/>
                    </a:ext>
                  </a:extLst>
                </a:gridCol>
              </a:tblGrid>
              <a:tr h="935454">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 What adhesive application process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If no, what method do you use?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adhesive make/model/type(thermal, UV, 2 part)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9356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Corner glue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Thermal cure (Loctite 3619, Zymet UA2625-B)</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55953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Corner glue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Thermal curing glue(model/type)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58073">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Corner glue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Zymet 2625-B Thermal glue used on Lunar Lake/MTL , others used UV glue.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634945">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Partial Fill, and some underfill</a:t>
                      </a:r>
                      <a:endParaRPr kumimoji="0" lang="zh-CN"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 Underfill                                                                           ASEC 391003</a:t>
                      </a:r>
                      <a:b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b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ASEC 3910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540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87680">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Corner glue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UV glue(model/type)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87680">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None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340365250"/>
                  </a:ext>
                </a:extLst>
              </a:tr>
            </a:tbl>
          </a:graphicData>
        </a:graphic>
      </p:graphicFrame>
    </p:spTree>
    <p:extLst>
      <p:ext uri="{BB962C8B-B14F-4D97-AF65-F5344CB8AC3E}">
        <p14:creationId xmlns:p14="http://schemas.microsoft.com/office/powerpoint/2010/main" val="3134193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Adhesive Related</a:t>
            </a:r>
            <a:r>
              <a:rPr lang="en-US" dirty="0"/>
              <a:t>(2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587685"/>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Different customers have different understanding on adhesive influence.</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591923721"/>
              </p:ext>
            </p:extLst>
          </p:nvPr>
        </p:nvGraphicFramePr>
        <p:xfrm>
          <a:off x="210553" y="675827"/>
          <a:ext cx="11219447" cy="4696175"/>
        </p:xfrm>
        <a:graphic>
          <a:graphicData uri="http://schemas.openxmlformats.org/drawingml/2006/table">
            <a:tbl>
              <a:tblPr firstRow="1" bandRow="1">
                <a:tableStyleId>{B301B821-A1FF-4177-AEE7-76D212191A09}</a:tableStyleId>
              </a:tblPr>
              <a:tblGrid>
                <a:gridCol w="1420289">
                  <a:extLst>
                    <a:ext uri="{9D8B030D-6E8A-4147-A177-3AD203B41FA5}">
                      <a16:colId xmlns:a16="http://schemas.microsoft.com/office/drawing/2014/main" val="476935505"/>
                    </a:ext>
                  </a:extLst>
                </a:gridCol>
                <a:gridCol w="3151530">
                  <a:extLst>
                    <a:ext uri="{9D8B030D-6E8A-4147-A177-3AD203B41FA5}">
                      <a16:colId xmlns:a16="http://schemas.microsoft.com/office/drawing/2014/main" val="1213491659"/>
                    </a:ext>
                  </a:extLst>
                </a:gridCol>
                <a:gridCol w="3193550">
                  <a:extLst>
                    <a:ext uri="{9D8B030D-6E8A-4147-A177-3AD203B41FA5}">
                      <a16:colId xmlns:a16="http://schemas.microsoft.com/office/drawing/2014/main" val="1470204383"/>
                    </a:ext>
                  </a:extLst>
                </a:gridCol>
                <a:gridCol w="3454078">
                  <a:extLst>
                    <a:ext uri="{9D8B030D-6E8A-4147-A177-3AD203B41FA5}">
                      <a16:colId xmlns:a16="http://schemas.microsoft.com/office/drawing/2014/main" val="4194567538"/>
                    </a:ext>
                  </a:extLst>
                </a:gridCol>
              </a:tblGrid>
              <a:tr h="753814">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 you apply adhesives to all Intel BGAs?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If No, to what percent of Intel BGAs is adhesive applied?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Yes, which mechanical stress is the adhesive meant to provide additional margin for?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61184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Drop, mechanical shock (during transportation, use), transient bend (during manufacturing, ICT, system assembly), cyclic bend (during use)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574632">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less than 50%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5631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Only applied on BGAs, which size overs 20mmx20mm.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Applied on CPU/GPU/PCH only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drop/thermal shock, vibration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565360">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shock, drop, vibration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580834">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FF0000"/>
                          </a:solidFill>
                          <a:effectLst/>
                          <a:uLnTx/>
                          <a:uFillTx/>
                          <a:latin typeface="Intel Clear Light" panose="020B0404020203020204" pitchFamily="34" charset="0"/>
                          <a:ea typeface="+mn-ea"/>
                          <a:cs typeface="+mn-cs"/>
                          <a:sym typeface="Intel Clear"/>
                        </a:rPr>
                        <a:t>Solder joint strength for bending, drop, shock, vibration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52327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50%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shock</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523275">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518158349"/>
                  </a:ext>
                </a:extLst>
              </a:tr>
            </a:tbl>
          </a:graphicData>
        </a:graphic>
      </p:graphicFrame>
    </p:spTree>
    <p:extLst>
      <p:ext uri="{BB962C8B-B14F-4D97-AF65-F5344CB8AC3E}">
        <p14:creationId xmlns:p14="http://schemas.microsoft.com/office/powerpoint/2010/main" val="275667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Adhesive Related</a:t>
            </a:r>
            <a:r>
              <a:rPr lang="en-US" dirty="0"/>
              <a:t>(3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4814220"/>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don’t perform compatibility testing between solder flux residue and adhesive.</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31315877"/>
              </p:ext>
            </p:extLst>
          </p:nvPr>
        </p:nvGraphicFramePr>
        <p:xfrm>
          <a:off x="210553" y="675826"/>
          <a:ext cx="11183352" cy="3890920"/>
        </p:xfrm>
        <a:graphic>
          <a:graphicData uri="http://schemas.openxmlformats.org/drawingml/2006/table">
            <a:tbl>
              <a:tblPr firstRow="1" bandRow="1">
                <a:tableStyleId>{B301B821-A1FF-4177-AEE7-76D212191A09}</a:tableStyleId>
              </a:tblPr>
              <a:tblGrid>
                <a:gridCol w="2045439">
                  <a:extLst>
                    <a:ext uri="{9D8B030D-6E8A-4147-A177-3AD203B41FA5}">
                      <a16:colId xmlns:a16="http://schemas.microsoft.com/office/drawing/2014/main" val="476935505"/>
                    </a:ext>
                  </a:extLst>
                </a:gridCol>
                <a:gridCol w="4538699">
                  <a:extLst>
                    <a:ext uri="{9D8B030D-6E8A-4147-A177-3AD203B41FA5}">
                      <a16:colId xmlns:a16="http://schemas.microsoft.com/office/drawing/2014/main" val="1213491659"/>
                    </a:ext>
                  </a:extLst>
                </a:gridCol>
                <a:gridCol w="4599214">
                  <a:extLst>
                    <a:ext uri="{9D8B030D-6E8A-4147-A177-3AD203B41FA5}">
                      <a16:colId xmlns:a16="http://schemas.microsoft.com/office/drawing/2014/main" val="1470204383"/>
                    </a:ext>
                  </a:extLst>
                </a:gridCol>
              </a:tblGrid>
              <a:tr h="677058">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Are you performing any compatibility testing between solder flux residue and adhesive?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Yes, what is the test method/equipment used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44844">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46356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44631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76057">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44309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469993">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469993">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144079699"/>
                  </a:ext>
                </a:extLst>
              </a:tr>
            </a:tbl>
          </a:graphicData>
        </a:graphic>
      </p:graphicFrame>
    </p:spTree>
    <p:extLst>
      <p:ext uri="{BB962C8B-B14F-4D97-AF65-F5344CB8AC3E}">
        <p14:creationId xmlns:p14="http://schemas.microsoft.com/office/powerpoint/2010/main" val="302819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Adhesive Related</a:t>
            </a:r>
            <a:r>
              <a:rPr lang="en-US" dirty="0"/>
              <a:t>(4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46893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perform after-cure quality validation.</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789266591"/>
              </p:ext>
            </p:extLst>
          </p:nvPr>
        </p:nvGraphicFramePr>
        <p:xfrm>
          <a:off x="210553" y="675826"/>
          <a:ext cx="11183351" cy="3906928"/>
        </p:xfrm>
        <a:graphic>
          <a:graphicData uri="http://schemas.openxmlformats.org/drawingml/2006/table">
            <a:tbl>
              <a:tblPr firstRow="1" bandRow="1">
                <a:tableStyleId>{B301B821-A1FF-4177-AEE7-76D212191A09}</a:tableStyleId>
              </a:tblPr>
              <a:tblGrid>
                <a:gridCol w="1449375">
                  <a:extLst>
                    <a:ext uri="{9D8B030D-6E8A-4147-A177-3AD203B41FA5}">
                      <a16:colId xmlns:a16="http://schemas.microsoft.com/office/drawing/2014/main" val="476935505"/>
                    </a:ext>
                  </a:extLst>
                </a:gridCol>
                <a:gridCol w="3216072">
                  <a:extLst>
                    <a:ext uri="{9D8B030D-6E8A-4147-A177-3AD203B41FA5}">
                      <a16:colId xmlns:a16="http://schemas.microsoft.com/office/drawing/2014/main" val="1213491659"/>
                    </a:ext>
                  </a:extLst>
                </a:gridCol>
                <a:gridCol w="3258952">
                  <a:extLst>
                    <a:ext uri="{9D8B030D-6E8A-4147-A177-3AD203B41FA5}">
                      <a16:colId xmlns:a16="http://schemas.microsoft.com/office/drawing/2014/main" val="1470204383"/>
                    </a:ext>
                  </a:extLst>
                </a:gridCol>
                <a:gridCol w="3258952">
                  <a:extLst>
                    <a:ext uri="{9D8B030D-6E8A-4147-A177-3AD203B41FA5}">
                      <a16:colId xmlns:a16="http://schemas.microsoft.com/office/drawing/2014/main" val="1702358577"/>
                    </a:ext>
                  </a:extLst>
                </a:gridCol>
              </a:tblGrid>
              <a:tr h="639455">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Are you performing any after-cure quality validation?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Yes, what kind of validation will you do?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Yes, what is the test method/equipment used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280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Coverage, cure % for new adhesive solutions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687283">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42152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Shape, height, wide/length, Coverage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x-section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79592">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Adhesion / Cure % / Coverage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Pushing and pulling force test/Horizontal grinding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418482">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443891">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Coverage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443891">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9077219"/>
                  </a:ext>
                </a:extLst>
              </a:tr>
            </a:tbl>
          </a:graphicData>
        </a:graphic>
      </p:graphicFrame>
    </p:spTree>
    <p:extLst>
      <p:ext uri="{BB962C8B-B14F-4D97-AF65-F5344CB8AC3E}">
        <p14:creationId xmlns:p14="http://schemas.microsoft.com/office/powerpoint/2010/main" val="165713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Adhesive Related</a:t>
            </a:r>
            <a:r>
              <a:rPr lang="en-US" dirty="0"/>
              <a:t>(5 Of 5)</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4915073"/>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Different customers have different understandings on the influence of adhesive.</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749763393"/>
              </p:ext>
            </p:extLst>
          </p:nvPr>
        </p:nvGraphicFramePr>
        <p:xfrm>
          <a:off x="210553" y="675827"/>
          <a:ext cx="11183351" cy="4098314"/>
        </p:xfrm>
        <a:graphic>
          <a:graphicData uri="http://schemas.openxmlformats.org/drawingml/2006/table">
            <a:tbl>
              <a:tblPr firstRow="1" bandRow="1">
                <a:tableStyleId>{B301B821-A1FF-4177-AEE7-76D212191A09}</a:tableStyleId>
              </a:tblPr>
              <a:tblGrid>
                <a:gridCol w="1449375">
                  <a:extLst>
                    <a:ext uri="{9D8B030D-6E8A-4147-A177-3AD203B41FA5}">
                      <a16:colId xmlns:a16="http://schemas.microsoft.com/office/drawing/2014/main" val="476935505"/>
                    </a:ext>
                  </a:extLst>
                </a:gridCol>
                <a:gridCol w="2924104">
                  <a:extLst>
                    <a:ext uri="{9D8B030D-6E8A-4147-A177-3AD203B41FA5}">
                      <a16:colId xmlns:a16="http://schemas.microsoft.com/office/drawing/2014/main" val="1213491659"/>
                    </a:ext>
                  </a:extLst>
                </a:gridCol>
                <a:gridCol w="3128210">
                  <a:extLst>
                    <a:ext uri="{9D8B030D-6E8A-4147-A177-3AD203B41FA5}">
                      <a16:colId xmlns:a16="http://schemas.microsoft.com/office/drawing/2014/main" val="1470204383"/>
                    </a:ext>
                  </a:extLst>
                </a:gridCol>
                <a:gridCol w="3681662">
                  <a:extLst>
                    <a:ext uri="{9D8B030D-6E8A-4147-A177-3AD203B41FA5}">
                      <a16:colId xmlns:a16="http://schemas.microsoft.com/office/drawing/2014/main" val="1702358577"/>
                    </a:ext>
                  </a:extLst>
                </a:gridCol>
              </a:tblGrid>
              <a:tr h="724963">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 you apply adhesives to non-Intel BOM components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     If Yes, what is the components?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lang="en-US" sz="1600" b="1" i="0" u="none" strike="noStrike" cap="none" spc="0" baseline="0" dirty="0">
                          <a:solidFill>
                            <a:schemeClr val="lt1"/>
                          </a:solidFill>
                          <a:uFillTx/>
                          <a:latin typeface="+mn-lt"/>
                          <a:ea typeface="+mn-ea"/>
                          <a:cs typeface="+mn-cs"/>
                          <a:sym typeface="Intel Clear"/>
                        </a:rPr>
                        <a:t>Does applying BGA adhesives reduces thermal margin capability (i.e. the number of temperature cycling)?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962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All BGAs &gt; 10 mm, non-BGA components (such as caps) in high-risk board locations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 Minimial impact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428661">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Any benefits to intel from this question?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Decrease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724963">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DRAM/GPU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 When the adhesive CTE and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Tg</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properties closely match the solder joint CTE properties.  A CTE mismatch or low </a:t>
                      </a:r>
                      <a:r>
                        <a:rPr kumimoji="0" lang="en-US" sz="12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Tg</a:t>
                      </a: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can decrease the thermal cycle performance.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21997">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GPU/RAM/BGA/IC</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444788">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471794">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471794">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Unknown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52789845"/>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E04E731A-8048-B4A7-5FB9-6E151751981E}"/>
              </a:ext>
            </a:extLst>
          </p:cNvPr>
          <p:cNvSpPr/>
          <p:nvPr/>
        </p:nvSpPr>
        <p:spPr>
          <a:xfrm>
            <a:off x="10968919" y="287920"/>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203575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Others</a:t>
            </a:r>
          </a:p>
        </p:txBody>
      </p:sp>
    </p:spTree>
    <p:extLst>
      <p:ext uri="{BB962C8B-B14F-4D97-AF65-F5344CB8AC3E}">
        <p14:creationId xmlns:p14="http://schemas.microsoft.com/office/powerpoint/2010/main" val="270786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4000" dirty="0"/>
              <a:t>Others</a:t>
            </a:r>
            <a:endParaRPr lang="en-US" dirty="0"/>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903518639"/>
              </p:ext>
            </p:extLst>
          </p:nvPr>
        </p:nvGraphicFramePr>
        <p:xfrm>
          <a:off x="210553" y="675826"/>
          <a:ext cx="11345779" cy="5028272"/>
        </p:xfrm>
        <a:graphic>
          <a:graphicData uri="http://schemas.openxmlformats.org/drawingml/2006/table">
            <a:tbl>
              <a:tblPr firstRow="1" bandRow="1">
                <a:tableStyleId>{B301B821-A1FF-4177-AEE7-76D212191A09}</a:tableStyleId>
              </a:tblPr>
              <a:tblGrid>
                <a:gridCol w="1786689">
                  <a:extLst>
                    <a:ext uri="{9D8B030D-6E8A-4147-A177-3AD203B41FA5}">
                      <a16:colId xmlns:a16="http://schemas.microsoft.com/office/drawing/2014/main" val="476935505"/>
                    </a:ext>
                  </a:extLst>
                </a:gridCol>
                <a:gridCol w="9559090">
                  <a:extLst>
                    <a:ext uri="{9D8B030D-6E8A-4147-A177-3AD203B41FA5}">
                      <a16:colId xmlns:a16="http://schemas.microsoft.com/office/drawing/2014/main" val="1213491659"/>
                    </a:ext>
                  </a:extLst>
                </a:gridCol>
              </a:tblGrid>
              <a:tr h="1604886">
                <a:tc>
                  <a:txBody>
                    <a:bodyPr/>
                    <a:lstStyle/>
                    <a:p>
                      <a:pPr algn="ctr" fontAlgn="b"/>
                      <a:endParaRPr lang="en-US" sz="16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600" b="1" i="0" u="none" strike="noStrike" cap="none" spc="0" baseline="0" dirty="0">
                          <a:solidFill>
                            <a:schemeClr val="lt1"/>
                          </a:solidFill>
                          <a:uFillTx/>
                          <a:latin typeface="+mn-lt"/>
                          <a:ea typeface="+mn-ea"/>
                          <a:cs typeface="+mn-cs"/>
                          <a:sym typeface="Intel Clear"/>
                        </a:rPr>
                        <a:t>What is/are the biggest manufacturing challenge(s) you face? What are your platform pain points? </a:t>
                      </a:r>
                    </a:p>
                    <a:p>
                      <a:pPr algn="ctr" fontAlgn="b"/>
                      <a:r>
                        <a:rPr lang="en-US" sz="1600" b="1" i="0" u="none" strike="noStrike" cap="none" spc="0" baseline="0" dirty="0">
                          <a:solidFill>
                            <a:schemeClr val="lt1"/>
                          </a:solidFill>
                          <a:uFillTx/>
                          <a:latin typeface="+mn-lt"/>
                          <a:ea typeface="+mn-ea"/>
                          <a:cs typeface="+mn-cs"/>
                          <a:sym typeface="Intel Clear"/>
                        </a:rPr>
                        <a:t>1. Concern of mother board get thinner and thinner</a:t>
                      </a:r>
                    </a:p>
                    <a:p>
                      <a:pPr algn="ctr" fontAlgn="b"/>
                      <a:r>
                        <a:rPr lang="en-US" sz="1600" b="1" i="0" u="none" strike="noStrike" cap="none" spc="0" baseline="0" dirty="0">
                          <a:solidFill>
                            <a:schemeClr val="lt1"/>
                          </a:solidFill>
                          <a:uFillTx/>
                          <a:latin typeface="+mn-lt"/>
                          <a:ea typeface="+mn-ea"/>
                          <a:cs typeface="+mn-cs"/>
                          <a:sym typeface="Intel Clear"/>
                        </a:rPr>
                        <a:t>2. Component spacing become tighter - 0.15mm spacing </a:t>
                      </a:r>
                    </a:p>
                    <a:p>
                      <a:pPr algn="ctr" fontAlgn="b"/>
                      <a:r>
                        <a:rPr lang="en-US" sz="1600" b="1" i="0" u="none" strike="noStrike" cap="none" spc="0" baseline="0" dirty="0">
                          <a:solidFill>
                            <a:schemeClr val="lt1"/>
                          </a:solidFill>
                          <a:uFillTx/>
                          <a:latin typeface="+mn-lt"/>
                          <a:ea typeface="+mn-ea"/>
                          <a:cs typeface="+mn-cs"/>
                          <a:sym typeface="Intel Clear"/>
                        </a:rPr>
                        <a:t>3. BGA pitch become smaller  - 0.35mm</a:t>
                      </a:r>
                    </a:p>
                    <a:p>
                      <a:pPr algn="ctr" fontAlgn="b"/>
                      <a:r>
                        <a:rPr lang="en-US" sz="1600" b="1" i="0" u="none" strike="noStrike" cap="none" spc="0" baseline="0" dirty="0">
                          <a:solidFill>
                            <a:schemeClr val="lt1"/>
                          </a:solidFill>
                          <a:uFillTx/>
                          <a:latin typeface="+mn-lt"/>
                          <a:ea typeface="+mn-ea"/>
                          <a:cs typeface="+mn-cs"/>
                          <a:sym typeface="Intel Clear"/>
                        </a:rPr>
                        <a:t>4. QFN pitch become smaller - 0.35mm</a:t>
                      </a:r>
                    </a:p>
                    <a:p>
                      <a:pPr algn="ctr" fontAlgn="b"/>
                      <a:r>
                        <a:rPr lang="en-US" sz="1600" b="1" i="0" u="none" strike="noStrike" cap="none" spc="0" baseline="0" dirty="0">
                          <a:solidFill>
                            <a:schemeClr val="lt1"/>
                          </a:solidFill>
                          <a:uFillTx/>
                          <a:latin typeface="+mn-lt"/>
                          <a:ea typeface="+mn-ea"/>
                          <a:cs typeface="+mn-cs"/>
                          <a:sym typeface="Intel Clear"/>
                        </a:rPr>
                        <a:t>5. Smaller chip component being used </a:t>
                      </a:r>
                    </a:p>
                    <a:p>
                      <a:pPr algn="ctr" fontAlgn="b"/>
                      <a:r>
                        <a:rPr lang="en-US" sz="1600" b="1" i="0" u="none" strike="noStrike" cap="none" spc="0" baseline="0" dirty="0">
                          <a:solidFill>
                            <a:schemeClr val="lt1"/>
                          </a:solidFill>
                          <a:uFillTx/>
                          <a:latin typeface="+mn-lt"/>
                          <a:ea typeface="+mn-ea"/>
                          <a:cs typeface="+mn-cs"/>
                          <a:sym typeface="Intel Clear"/>
                        </a:rPr>
                        <a:t>6. Solder down EMI shield become larger </a:t>
                      </a:r>
                    </a:p>
                    <a:p>
                      <a:pPr algn="ctr" fontAlgn="b"/>
                      <a:r>
                        <a:rPr lang="en-US" sz="1600" b="1" i="0" u="none" strike="noStrike" cap="none" spc="0" baseline="0" dirty="0">
                          <a:solidFill>
                            <a:schemeClr val="lt1"/>
                          </a:solidFill>
                          <a:uFillTx/>
                          <a:latin typeface="+mn-lt"/>
                          <a:ea typeface="+mn-ea"/>
                          <a:cs typeface="+mn-cs"/>
                          <a:sym typeface="Intel Clear"/>
                        </a:rPr>
                        <a:t>7. Others, please provide an example.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62219">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HP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1, 3</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44048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MSFT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Paint point is from thermal cycling failures and need to add adhesives for mitigations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415315">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Dell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1, 2, 3, 4</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472523">
                <a:tc>
                  <a:txBody>
                    <a:bodyPr/>
                    <a:lstStyle/>
                    <a:p>
                      <a:pPr algn="ctr" fontAlgn="b"/>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Lenovo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1, 2, 3, 4, 5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412313">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600" b="1" i="0" u="none" strike="noStrike" cap="none" spc="0" baseline="0" noProof="0" dirty="0">
                          <a:solidFill>
                            <a:schemeClr val="tx1"/>
                          </a:solidFill>
                          <a:effectLst/>
                          <a:uFillTx/>
                          <a:latin typeface="Intel Clear Light" panose="020B0404020203020204" pitchFamily="34" charset="0"/>
                          <a:ea typeface="+mn-ea"/>
                          <a:cs typeface="+mn-cs"/>
                          <a:sym typeface="Intel Clear"/>
                        </a:rPr>
                        <a:t>Acer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437348">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Dynabook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Concern of mother board get thinner and thinner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437348">
                <a:tc>
                  <a:txBody>
                    <a:bodyPr/>
                    <a:lstStyle/>
                    <a:p>
                      <a:pPr marL="0" marR="0" indent="0" algn="ctr" defTabSz="609600" fontAlgn="b" latinLnBrk="0">
                        <a:lnSpc>
                          <a:spcPct val="100000"/>
                        </a:lnSpc>
                        <a:spcBef>
                          <a:spcPts val="0"/>
                        </a:spcBef>
                        <a:spcAft>
                          <a:spcPts val="0"/>
                        </a:spcAft>
                        <a:buClrTx/>
                        <a:buSzTx/>
                        <a:buFontTx/>
                        <a:buNone/>
                        <a:tabLst/>
                      </a:pPr>
                      <a:r>
                        <a:rPr lang="en-US" sz="1600" b="1" i="0" u="none" strike="noStrike" cap="none" spc="0" baseline="0" dirty="0">
                          <a:solidFill>
                            <a:schemeClr val="tx1"/>
                          </a:solidFill>
                          <a:effectLst/>
                          <a:uFillTx/>
                          <a:latin typeface="Intel Clear Light" panose="020B0404020203020204" pitchFamily="34" charset="0"/>
                          <a:ea typeface="+mn-ea"/>
                          <a:cs typeface="+mn-cs"/>
                          <a:sym typeface="Intel Clear"/>
                        </a:rPr>
                        <a:t>Fujitsu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a:t>
                      </a:r>
                      <a:r>
                        <a:rPr kumimoji="0" lang="ja-JP" alt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r>
                        <a:rPr kumimoji="0" lang="en-US" altLang="ja-JP"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(Difficult to deal with thinner metal mask/ lessen solder vol. for connector/warpage as # of pin increase/ package size increase)</a:t>
                      </a:r>
                      <a:endParaRPr kumimoji="0" lang="en-US" sz="12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846685385"/>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785C1A4D-0EB8-71FA-35B6-869071FA83A7}"/>
              </a:ext>
            </a:extLst>
          </p:cNvPr>
          <p:cNvSpPr/>
          <p:nvPr/>
        </p:nvSpPr>
        <p:spPr>
          <a:xfrm>
            <a:off x="11131347" y="314401"/>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062213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Back Up – Images of HP X-ray Machine</a:t>
            </a:r>
          </a:p>
        </p:txBody>
      </p:sp>
      <p:pic>
        <p:nvPicPr>
          <p:cNvPr id="4" name="Picture 3" descr="A black case with a foam cover&#10;&#10;Description automatically generated">
            <a:extLst>
              <a:ext uri="{FF2B5EF4-FFF2-40B4-BE49-F238E27FC236}">
                <a16:creationId xmlns:a16="http://schemas.microsoft.com/office/drawing/2014/main" id="{4CD85965-FA88-3ADC-0B97-8F0798CF36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2381842" y="3836874"/>
            <a:ext cx="2749216" cy="2061912"/>
          </a:xfrm>
          <a:prstGeom prst="rect">
            <a:avLst/>
          </a:prstGeom>
        </p:spPr>
      </p:pic>
      <p:pic>
        <p:nvPicPr>
          <p:cNvPr id="7" name="Picture 6" descr="A white box with black text and a red blue and white triangle on it&#10;&#10;Description automatically generated">
            <a:extLst>
              <a:ext uri="{FF2B5EF4-FFF2-40B4-BE49-F238E27FC236}">
                <a16:creationId xmlns:a16="http://schemas.microsoft.com/office/drawing/2014/main" id="{07C1EAD5-3F11-E017-B200-F8EA6B77BF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2388232" y="957617"/>
            <a:ext cx="2736436" cy="2052327"/>
          </a:xfrm>
          <a:prstGeom prst="rect">
            <a:avLst/>
          </a:prstGeom>
        </p:spPr>
      </p:pic>
      <p:pic>
        <p:nvPicPr>
          <p:cNvPr id="9" name="Picture 8" descr="A computer screen with a grid of squares&#10;&#10;Description automatically generated">
            <a:extLst>
              <a:ext uri="{FF2B5EF4-FFF2-40B4-BE49-F238E27FC236}">
                <a16:creationId xmlns:a16="http://schemas.microsoft.com/office/drawing/2014/main" id="{4C67695F-220B-A733-30DD-5F2813D99D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32947" y="3506001"/>
            <a:ext cx="3657600" cy="2743200"/>
          </a:xfrm>
          <a:prstGeom prst="rect">
            <a:avLst/>
          </a:prstGeom>
        </p:spPr>
      </p:pic>
      <p:pic>
        <p:nvPicPr>
          <p:cNvPr id="11" name="Picture 10" descr="A computer chip with many small holes&#10;&#10;Description automatically generated with medium confidence">
            <a:extLst>
              <a:ext uri="{FF2B5EF4-FFF2-40B4-BE49-F238E27FC236}">
                <a16:creationId xmlns:a16="http://schemas.microsoft.com/office/drawing/2014/main" id="{E6439A1A-28E8-18D2-086C-B367F244C4A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32948" y="608799"/>
            <a:ext cx="3657599" cy="2743200"/>
          </a:xfrm>
          <a:prstGeom prst="rect">
            <a:avLst/>
          </a:prstGeom>
        </p:spPr>
      </p:pic>
    </p:spTree>
    <p:extLst>
      <p:ext uri="{BB962C8B-B14F-4D97-AF65-F5344CB8AC3E}">
        <p14:creationId xmlns:p14="http://schemas.microsoft.com/office/powerpoint/2010/main" val="52821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c4463d611c42fa325f5ca3c445a3aa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a72e8be0cb631526d533f4f6f1b05f42"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http://schemas.microsoft.com/office/infopath/2007/PartnerControls"/>
    <ds:schemaRef ds:uri="http://purl.org/dc/terms/"/>
    <ds:schemaRef ds:uri="http://purl.org/dc/elements/1.1/"/>
    <ds:schemaRef ds:uri="a7bc6c04-a6f3-4b85-abcc-278c78dc556b"/>
    <ds:schemaRef ds:uri="http://www.w3.org/XML/1998/namespace"/>
    <ds:schemaRef ds:uri="http://schemas.microsoft.com/office/2006/documentManagement/types"/>
    <ds:schemaRef ds:uri="http://schemas.openxmlformats.org/package/2006/metadata/core-properties"/>
    <ds:schemaRef ds:uri="5e37b643-6edd-4e99-882c-9f9c6c52fc16"/>
    <ds:schemaRef ds:uri="b0a3e817-7ff1-4682-9cdc-9e68f1944ac6"/>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FEE854B1-C762-4891-8858-03AE2C9523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0a3e817-7ff1-4682-9cdc-9e68f1944ac6"/>
    <ds:schemaRef ds:uri="5e37b643-6edd-4e99-882c-9f9c6c52fc16"/>
    <ds:schemaRef ds:uri="a7bc6c04-a6f3-4b85-abcc-278c78dc55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
  <TotalTime>30146</TotalTime>
  <Words>5704</Words>
  <Application>Microsoft Office PowerPoint</Application>
  <PresentationFormat>Widescreen</PresentationFormat>
  <Paragraphs>828</Paragraphs>
  <Slides>38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Calibri</vt:lpstr>
      <vt:lpstr>Helvetica</vt:lpstr>
      <vt:lpstr>Helvetica Neue</vt:lpstr>
      <vt:lpstr>Helvetica Neue Medium</vt:lpstr>
      <vt:lpstr>Intel Clear</vt:lpstr>
      <vt:lpstr>Intel Clear Light</vt:lpstr>
      <vt:lpstr>IntelOne Display Regular</vt:lpstr>
      <vt:lpstr>Wingdings</vt:lpstr>
      <vt:lpstr>21_BasicWhite</vt:lpstr>
      <vt:lpstr>2024 Panther Lake CRD_OEM Summary Report</vt:lpstr>
      <vt:lpstr>Objectives</vt:lpstr>
      <vt:lpstr>Agenda</vt:lpstr>
      <vt:lpstr>Highlights</vt:lpstr>
      <vt:lpstr>Reliability Test</vt:lpstr>
      <vt:lpstr>Reliability Test(1 Of 5)</vt:lpstr>
      <vt:lpstr>Reliability Test(2 Of 5)</vt:lpstr>
      <vt:lpstr>Reliability Test(3 Of 6)</vt:lpstr>
      <vt:lpstr>Reliability Test(4 Of 5)</vt:lpstr>
      <vt:lpstr>Reliability Test(5 Of 5)</vt:lpstr>
      <vt:lpstr>Functional Test</vt:lpstr>
      <vt:lpstr>Functional Test(1 Of 3)</vt:lpstr>
      <vt:lpstr>Functional Test(2 Of 3)</vt:lpstr>
      <vt:lpstr>Functional Test(3 Of 3)</vt:lpstr>
      <vt:lpstr>SMT Process &amp; Rework</vt:lpstr>
      <vt:lpstr>SMT Process &amp; Rework(1 Of 3)</vt:lpstr>
      <vt:lpstr>SMT Process &amp; Rework(2 Of 3)</vt:lpstr>
      <vt:lpstr>SMT Process &amp; Rework(3 Of 3)</vt:lpstr>
      <vt:lpstr>Solder paste &amp; Solder ball </vt:lpstr>
      <vt:lpstr>Solder paste &amp; Solder ball (1 Of 3)</vt:lpstr>
      <vt:lpstr>Solder paste &amp; Solder ball (2 Of 3)</vt:lpstr>
      <vt:lpstr>Solder paste &amp; Solder ball (3 Of 3)</vt:lpstr>
      <vt:lpstr>BFI Related</vt:lpstr>
      <vt:lpstr>BFI Related(1 Of 5)</vt:lpstr>
      <vt:lpstr>BFI Related(2 Of 5)</vt:lpstr>
      <vt:lpstr>BFI Related(3 Of 5)</vt:lpstr>
      <vt:lpstr>BFI Related(4 Of 5)</vt:lpstr>
      <vt:lpstr>BFI Related(5 Of 5)</vt:lpstr>
      <vt:lpstr>Adhesive Related</vt:lpstr>
      <vt:lpstr>Adhesive Related(1 Of 5)</vt:lpstr>
      <vt:lpstr>Adhesive Related(2 Of 5)</vt:lpstr>
      <vt:lpstr>Adhesive Related(3 Of 5)</vt:lpstr>
      <vt:lpstr>Adhesive Related(4 Of 5)</vt:lpstr>
      <vt:lpstr>Adhesive Related(5 Of 5)</vt:lpstr>
      <vt:lpstr>Others</vt:lpstr>
      <vt:lpstr>Others</vt:lpstr>
      <vt:lpstr>PowerPoint Presentation</vt:lpstr>
      <vt:lpstr>Back Up – Images of HP X-ray Machine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Burkholder, Dan S</cp:lastModifiedBy>
  <cp:revision>188</cp:revision>
  <dcterms:modified xsi:type="dcterms:W3CDTF">2024-11-26T23:15:54Z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y fmtid="{D5CDD505-2E9C-101B-9397-08002B2CF9AE}" pid="9" name="MediaServiceImageTags">
    <vt:lpwstr/>
  </property>
</Properties>
</file>