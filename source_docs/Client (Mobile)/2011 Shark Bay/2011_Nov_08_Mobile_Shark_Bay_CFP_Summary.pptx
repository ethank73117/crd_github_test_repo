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1" r:id="rId3"/>
    <p:sldId id="262" r:id="rId4"/>
    <p:sldId id="28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60" r:id="rId16"/>
    <p:sldId id="274" r:id="rId17"/>
    <p:sldId id="275" r:id="rId18"/>
    <p:sldId id="277" r:id="rId19"/>
    <p:sldId id="278" r:id="rId20"/>
    <p:sldId id="279" r:id="rId21"/>
    <p:sldId id="280" r:id="rId22"/>
    <p:sldId id="282" r:id="rId23"/>
    <p:sldId id="283" r:id="rId24"/>
    <p:sldId id="284" r:id="rId25"/>
    <p:sldId id="285" r:id="rId26"/>
    <p:sldId id="286" r:id="rId27"/>
    <p:sldId id="289" r:id="rId28"/>
    <p:sldId id="288" r:id="rId29"/>
    <p:sldId id="290" r:id="rId30"/>
    <p:sldId id="291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1" autoAdjust="0"/>
    <p:restoredTop sz="94660"/>
  </p:normalViewPr>
  <p:slideViewPr>
    <p:cSldViewPr>
      <p:cViewPr>
        <p:scale>
          <a:sx n="100" d="100"/>
          <a:sy n="100" d="100"/>
        </p:scale>
        <p:origin x="-618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Solder Paste Brand &amp; Model</c:v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</c:dPt>
          <c:dPt>
            <c:idx val="1"/>
            <c:invertIfNegative val="0"/>
            <c:bubble3D val="0"/>
            <c:spPr>
              <a:solidFill>
                <a:srgbClr val="7030A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Summary!$A$19:$A$21</c:f>
              <c:strCache>
                <c:ptCount val="3"/>
                <c:pt idx="0">
                  <c:v>Shenmao
PF606-P</c:v>
                </c:pt>
                <c:pt idx="1">
                  <c:v>Senju
M705-S101ZH-S4</c:v>
                </c:pt>
                <c:pt idx="2">
                  <c:v>Alpha
OM388</c:v>
                </c:pt>
              </c:strCache>
            </c:strRef>
          </c:cat>
          <c:val>
            <c:numRef>
              <c:f>Summary!$B$19:$B$21</c:f>
              <c:numCache>
                <c:formatCode>General</c:formatCode>
                <c:ptCount val="3"/>
                <c:pt idx="0">
                  <c:v>10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75447040"/>
        <c:axId val="575448576"/>
      </c:barChart>
      <c:catAx>
        <c:axId val="575447040"/>
        <c:scaling>
          <c:orientation val="minMax"/>
        </c:scaling>
        <c:delete val="0"/>
        <c:axPos val="b"/>
        <c:majorTickMark val="out"/>
        <c:minorTickMark val="none"/>
        <c:tickLblPos val="nextTo"/>
        <c:crossAx val="575448576"/>
        <c:crosses val="autoZero"/>
        <c:auto val="1"/>
        <c:lblAlgn val="ctr"/>
        <c:lblOffset val="100"/>
        <c:noMultiLvlLbl val="0"/>
      </c:catAx>
      <c:valAx>
        <c:axId val="5754485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57544704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spPr>
    <a:ln>
      <a:solidFill>
        <a:srgbClr val="002060"/>
      </a:solidFill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Stencil Thickness (unit in 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Stencil Thickness</c:v>
          </c:tx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</c:spPr>
          </c:dPt>
          <c:dPt>
            <c:idx val="1"/>
            <c:invertIfNegative val="0"/>
            <c:bubble3D val="0"/>
            <c:spPr>
              <a:solidFill>
                <a:srgbClr val="7030A0"/>
              </a:solidFill>
            </c:spPr>
          </c:dPt>
          <c:dPt>
            <c:idx val="2"/>
            <c:invertIfNegative val="0"/>
            <c:bubble3D val="0"/>
            <c:spPr>
              <a:solidFill>
                <a:srgbClr val="7030A0"/>
              </a:solidFill>
            </c:spPr>
          </c:dPt>
          <c:dPt>
            <c:idx val="3"/>
            <c:invertIfNegative val="0"/>
            <c:bubble3D val="0"/>
            <c:spPr>
              <a:solidFill>
                <a:schemeClr val="tx2"/>
              </a:solidFill>
            </c:spPr>
          </c:dPt>
          <c:dPt>
            <c:idx val="4"/>
            <c:invertIfNegative val="0"/>
            <c:bubble3D val="0"/>
            <c:spPr>
              <a:solidFill>
                <a:schemeClr val="tx2"/>
              </a:solidFill>
            </c:spPr>
          </c:dPt>
          <c:dPt>
            <c:idx val="5"/>
            <c:invertIfNegative val="0"/>
            <c:bubble3D val="0"/>
            <c:spPr>
              <a:solidFill>
                <a:schemeClr val="tx2"/>
              </a:solidFill>
            </c:spPr>
          </c:dPt>
          <c:dPt>
            <c:idx val="6"/>
            <c:invertIfNegative val="0"/>
            <c:bubble3D val="0"/>
            <c:spPr>
              <a:solidFill>
                <a:schemeClr val="tx2"/>
              </a:solidFill>
            </c:spPr>
          </c:dPt>
          <c:dPt>
            <c:idx val="7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8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9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1"/>
            <c:invertIfNegative val="0"/>
            <c:bubble3D val="0"/>
            <c:spPr>
              <a:solidFill>
                <a:srgbClr val="FF99FF"/>
              </a:solidFill>
            </c:spPr>
          </c:dPt>
          <c:dPt>
            <c:idx val="12"/>
            <c:invertIfNegative val="0"/>
            <c:bubble3D val="0"/>
            <c:spPr>
              <a:solidFill>
                <a:srgbClr val="FF99FF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Summary!$A$2:$A$15</c:f>
              <c:strCache>
                <c:ptCount val="14"/>
                <c:pt idx="0">
                  <c:v>Quanta-Dell</c:v>
                </c:pt>
                <c:pt idx="1">
                  <c:v>Quanta-Toshiba</c:v>
                </c:pt>
                <c:pt idx="2">
                  <c:v>Quanta-NEC</c:v>
                </c:pt>
                <c:pt idx="3">
                  <c:v>Wistron-HP</c:v>
                </c:pt>
                <c:pt idx="4">
                  <c:v>Wistron-Dell</c:v>
                </c:pt>
                <c:pt idx="5">
                  <c:v>Wistron-Acer</c:v>
                </c:pt>
                <c:pt idx="6">
                  <c:v>Wistron-Lenovo</c:v>
                </c:pt>
                <c:pt idx="7">
                  <c:v>Compal</c:v>
                </c:pt>
                <c:pt idx="8">
                  <c:v>Compal</c:v>
                </c:pt>
                <c:pt idx="9">
                  <c:v>Compal</c:v>
                </c:pt>
                <c:pt idx="10">
                  <c:v>Compal</c:v>
                </c:pt>
                <c:pt idx="11">
                  <c:v>Inventec</c:v>
                </c:pt>
                <c:pt idx="12">
                  <c:v>Inventec</c:v>
                </c:pt>
                <c:pt idx="13">
                  <c:v>Pegatron</c:v>
                </c:pt>
              </c:strCache>
            </c:strRef>
          </c:cat>
          <c:val>
            <c:numRef>
              <c:f>Summary!$B$2:$B$15</c:f>
              <c:numCache>
                <c:formatCode>General</c:formatCode>
                <c:ptCount val="14"/>
                <c:pt idx="0">
                  <c:v>0.12</c:v>
                </c:pt>
                <c:pt idx="1">
                  <c:v>0.12</c:v>
                </c:pt>
                <c:pt idx="2">
                  <c:v>0.12</c:v>
                </c:pt>
                <c:pt idx="3">
                  <c:v>0.127</c:v>
                </c:pt>
                <c:pt idx="4">
                  <c:v>0.127</c:v>
                </c:pt>
                <c:pt idx="5">
                  <c:v>0.127</c:v>
                </c:pt>
                <c:pt idx="6">
                  <c:v>0.127</c:v>
                </c:pt>
                <c:pt idx="7">
                  <c:v>0.08</c:v>
                </c:pt>
                <c:pt idx="8">
                  <c:v>0.1</c:v>
                </c:pt>
                <c:pt idx="9">
                  <c:v>0.13</c:v>
                </c:pt>
                <c:pt idx="10">
                  <c:v>0.15</c:v>
                </c:pt>
                <c:pt idx="11">
                  <c:v>0.127</c:v>
                </c:pt>
                <c:pt idx="12">
                  <c:v>0.13</c:v>
                </c:pt>
                <c:pt idx="13">
                  <c:v>0.13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444032"/>
        <c:axId val="100445568"/>
      </c:barChart>
      <c:catAx>
        <c:axId val="100444032"/>
        <c:scaling>
          <c:orientation val="minMax"/>
        </c:scaling>
        <c:delete val="0"/>
        <c:axPos val="b"/>
        <c:majorTickMark val="out"/>
        <c:minorTickMark val="none"/>
        <c:tickLblPos val="nextTo"/>
        <c:crossAx val="100445568"/>
        <c:crosses val="autoZero"/>
        <c:auto val="1"/>
        <c:lblAlgn val="ctr"/>
        <c:lblOffset val="100"/>
        <c:noMultiLvlLbl val="0"/>
      </c:catAx>
      <c:valAx>
        <c:axId val="1004455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044403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Solder Paste Brand &amp; Model</c:v>
          </c:tx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</c:spPr>
          </c:dPt>
          <c:dPt>
            <c:idx val="1"/>
            <c:invertIfNegative val="0"/>
            <c:bubble3D val="0"/>
            <c:spPr>
              <a:solidFill>
                <a:srgbClr val="7030A0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Summary!$A$19:$A$21</c:f>
              <c:strCache>
                <c:ptCount val="3"/>
                <c:pt idx="0">
                  <c:v>Shenmao
PF606-P</c:v>
                </c:pt>
                <c:pt idx="1">
                  <c:v>Senju
M705-S101ZH-S4</c:v>
                </c:pt>
                <c:pt idx="2">
                  <c:v>Alpha
OM388</c:v>
                </c:pt>
              </c:strCache>
            </c:strRef>
          </c:cat>
          <c:val>
            <c:numRef>
              <c:f>Summary!$B$19:$B$21</c:f>
              <c:numCache>
                <c:formatCode>General</c:formatCode>
                <c:ptCount val="3"/>
                <c:pt idx="0">
                  <c:v>10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240832"/>
        <c:axId val="101242368"/>
      </c:barChart>
      <c:catAx>
        <c:axId val="101240832"/>
        <c:scaling>
          <c:orientation val="minMax"/>
        </c:scaling>
        <c:delete val="0"/>
        <c:axPos val="b"/>
        <c:majorTickMark val="out"/>
        <c:minorTickMark val="none"/>
        <c:tickLblPos val="nextTo"/>
        <c:crossAx val="101242368"/>
        <c:crosses val="autoZero"/>
        <c:auto val="1"/>
        <c:lblAlgn val="ctr"/>
        <c:lblOffset val="100"/>
        <c:noMultiLvlLbl val="0"/>
      </c:catAx>
      <c:valAx>
        <c:axId val="1012423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124083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Reflow Machine Belt Speed (cm/min)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Reflow Machine Belt Speed</c:v>
          </c:tx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</c:spPr>
          </c:dPt>
          <c:dPt>
            <c:idx val="1"/>
            <c:invertIfNegative val="0"/>
            <c:bubble3D val="0"/>
            <c:spPr>
              <a:solidFill>
                <a:srgbClr val="7030A0"/>
              </a:solidFill>
            </c:spPr>
          </c:dPt>
          <c:dPt>
            <c:idx val="2"/>
            <c:invertIfNegative val="0"/>
            <c:bubble3D val="0"/>
            <c:spPr>
              <a:solidFill>
                <a:srgbClr val="7030A0"/>
              </a:solidFill>
            </c:spPr>
          </c:dPt>
          <c:dPt>
            <c:idx val="3"/>
            <c:invertIfNegative val="0"/>
            <c:bubble3D val="0"/>
            <c:spPr>
              <a:solidFill>
                <a:schemeClr val="tx2"/>
              </a:solidFill>
            </c:spPr>
          </c:dPt>
          <c:dPt>
            <c:idx val="4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5"/>
            <c:invertIfNegative val="0"/>
            <c:bubble3D val="0"/>
            <c:spPr>
              <a:solidFill>
                <a:srgbClr val="FF99FF"/>
              </a:solidFill>
            </c:spPr>
          </c:dPt>
          <c:dPt>
            <c:idx val="6"/>
            <c:invertIfNegative val="0"/>
            <c:bubble3D val="0"/>
            <c:spPr>
              <a:solidFill>
                <a:srgbClr val="FF99FF"/>
              </a:solidFill>
            </c:spPr>
          </c:dPt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Summary!$A$37:$A$44</c:f>
              <c:strCache>
                <c:ptCount val="8"/>
                <c:pt idx="0">
                  <c:v>Quanta-Dell</c:v>
                </c:pt>
                <c:pt idx="1">
                  <c:v>Quanta-Toshiba</c:v>
                </c:pt>
                <c:pt idx="2">
                  <c:v>Quanta-NEC</c:v>
                </c:pt>
                <c:pt idx="3">
                  <c:v>Wistron</c:v>
                </c:pt>
                <c:pt idx="4">
                  <c:v>Compal</c:v>
                </c:pt>
                <c:pt idx="5">
                  <c:v>Inventec-F5</c:v>
                </c:pt>
                <c:pt idx="6">
                  <c:v>Inventec-F1</c:v>
                </c:pt>
                <c:pt idx="7">
                  <c:v>Pegatron</c:v>
                </c:pt>
              </c:strCache>
            </c:strRef>
          </c:cat>
          <c:val>
            <c:numRef>
              <c:f>Summary!$B$37:$B$44</c:f>
              <c:numCache>
                <c:formatCode>General</c:formatCode>
                <c:ptCount val="8"/>
                <c:pt idx="0">
                  <c:v>120</c:v>
                </c:pt>
                <c:pt idx="1">
                  <c:v>120</c:v>
                </c:pt>
                <c:pt idx="2">
                  <c:v>120</c:v>
                </c:pt>
                <c:pt idx="3">
                  <c:v>160</c:v>
                </c:pt>
                <c:pt idx="4">
                  <c:v>100</c:v>
                </c:pt>
                <c:pt idx="5">
                  <c:v>120</c:v>
                </c:pt>
                <c:pt idx="6">
                  <c:v>120</c:v>
                </c:pt>
                <c:pt idx="7">
                  <c:v>120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448640"/>
        <c:axId val="174450176"/>
      </c:barChart>
      <c:catAx>
        <c:axId val="174448640"/>
        <c:scaling>
          <c:orientation val="minMax"/>
        </c:scaling>
        <c:delete val="0"/>
        <c:axPos val="b"/>
        <c:majorTickMark val="out"/>
        <c:minorTickMark val="none"/>
        <c:tickLblPos val="nextTo"/>
        <c:crossAx val="174450176"/>
        <c:crosses val="autoZero"/>
        <c:auto val="1"/>
        <c:lblAlgn val="ctr"/>
        <c:lblOffset val="100"/>
        <c:noMultiLvlLbl val="0"/>
      </c:catAx>
      <c:valAx>
        <c:axId val="174450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7444864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spPr>
    <a:ln>
      <a:solidFill>
        <a:srgbClr val="002060"/>
      </a:solidFill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el_rgb_17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538163"/>
            <a:ext cx="12985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90550" y="4005263"/>
            <a:ext cx="2368550" cy="2424112"/>
          </a:xfrm>
          <a:prstGeom prst="octagon">
            <a:avLst>
              <a:gd name="adj" fmla="val 29287"/>
            </a:avLst>
          </a:prstGeom>
          <a:solidFill>
            <a:srgbClr val="FF0000">
              <a:alpha val="89803"/>
            </a:srgbClr>
          </a:solidFill>
          <a:ln w="254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/>
            <a:endParaRPr lang="en-US" sz="14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STOP</a:t>
            </a:r>
          </a:p>
          <a:p>
            <a:pPr eaLnBrk="1" hangingPunct="1"/>
            <a:endParaRPr lang="en-US" sz="12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Customer Information </a:t>
            </a:r>
          </a:p>
          <a:p>
            <a:pPr eaLnBrk="1" hangingPunct="1"/>
            <a:r>
              <a:rPr lang="en-US" sz="1200" u="sng" dirty="0">
                <a:solidFill>
                  <a:schemeClr val="bg1"/>
                </a:solidFill>
                <a:latin typeface="Arial" charset="0"/>
              </a:rPr>
              <a:t>Under </a:t>
            </a:r>
            <a:r>
              <a:rPr lang="en-US" sz="1200" b="1" u="sng" dirty="0">
                <a:solidFill>
                  <a:schemeClr val="bg1"/>
                </a:solidFill>
                <a:latin typeface="Arial" charset="0"/>
              </a:rPr>
              <a:t>NDA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Intel Internal Use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Only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479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6ED70-AFBC-4EB4-83B4-42690BB6E69F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1B834-8D6B-43A4-B359-26F0172CC6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84809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B010E-8957-4EF6-A735-8661FC0AFFA3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6763-BC50-44E5-9DBE-C7A656843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586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1600"/>
            <a:ext cx="40417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371600"/>
            <a:ext cx="4043362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06FB1-761C-42D9-83E1-DCB65BFA1B13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E6DCE-B720-403C-87F1-09E529B416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879834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6AFF7-04F8-46D1-A414-F5844458A430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AD820-A819-425B-8E97-67125C85A9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6557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4670C-F0BB-4E6E-B820-40F8A02C7520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A5A58-08C7-4F99-AFE2-9F0A58578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388655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34DCE-4A5F-4F59-9354-2C2B0C71A65D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AF4E6-0A42-41FC-9642-27C1443E85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267680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31025-E114-45C6-BA06-334F0928E45A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DF728-A66D-44A5-A1CE-54676FF5B5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93559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FBB8A-2113-477B-9C3D-E2EBA90013E5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163C3-19C0-4F2C-B682-45D0A79B4F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65367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AD3EA-BF9B-49A1-B99A-4F3A087E8A68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BC3B9-46E7-4CB0-A2B0-71B9EAC77D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305099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4163" y="273050"/>
            <a:ext cx="2058987" cy="54419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26150" cy="54419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F0AC4-49B2-4643-84DA-FD357EC13FCA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E9BD9-62AA-4464-862A-BA385D06D0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309994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white">
          <a:xfrm>
            <a:off x="3175" y="6029325"/>
            <a:ext cx="9140825" cy="828675"/>
          </a:xfrm>
          <a:prstGeom prst="rect">
            <a:avLst/>
          </a:prstGeom>
          <a:solidFill>
            <a:srgbClr val="0860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37537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371600"/>
            <a:ext cx="823753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5988" y="6357938"/>
            <a:ext cx="752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CFA6D570-23EB-4442-ABC3-8960BDAF7A17}" type="datetime1">
              <a:rPr lang="en-US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8788" y="63579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F0025F06-8835-4059-B522-FA96843AA8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8" descr="Intel_whit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6169025"/>
            <a:ext cx="81121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49425" y="6357938"/>
            <a:ext cx="576103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	CME – Customer Manufacturing Enabling / Intel Confidential / Collected Under NDA                                    	</a:t>
            </a:r>
            <a:r>
              <a:rPr lang="en-US" dirty="0" smtClean="0"/>
              <a:t>Mobile </a:t>
            </a:r>
            <a:r>
              <a:rPr lang="en-US" dirty="0"/>
              <a:t>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272554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6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46063" indent="-244475" algn="l" rtl="0" eaLnBrk="0" fontAlgn="base" hangingPunct="0">
        <a:spcBef>
          <a:spcPct val="40000"/>
        </a:spcBef>
        <a:spcAft>
          <a:spcPct val="0"/>
        </a:spcAft>
        <a:buSzPct val="125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571500" indent="-3238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3pPr>
      <a:lvl4pPr marL="725488" indent="-1524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4pPr>
      <a:lvl5pPr marL="1136650" indent="-409575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5pPr>
      <a:lvl6pPr marL="15938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6pPr>
      <a:lvl7pPr marL="20510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7pPr>
      <a:lvl8pPr marL="25082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8pPr>
      <a:lvl9pPr marL="29654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1763713"/>
            <a:ext cx="7315200" cy="1970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dirty="0" smtClean="0"/>
              <a:t>Mobile Customers Feedback Summary Report</a:t>
            </a:r>
            <a:br>
              <a:rPr lang="en-US" sz="3200" dirty="0" smtClean="0"/>
            </a:br>
            <a:r>
              <a:rPr lang="en-US" sz="3200" dirty="0" smtClean="0"/>
              <a:t> from 2011/2012 Industry Data Collection</a:t>
            </a:r>
            <a:br>
              <a:rPr lang="en-US" sz="3200" dirty="0" smtClean="0"/>
            </a:br>
            <a:r>
              <a:rPr lang="en-US" sz="3200" dirty="0" smtClean="0"/>
              <a:t>(WW46 2011)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43250" y="4478338"/>
            <a:ext cx="5829300" cy="984250"/>
          </a:xfrm>
        </p:spPr>
        <p:txBody>
          <a:bodyPr wrap="square">
            <a:normAutofit/>
          </a:bodyPr>
          <a:lstStyle/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Prepared by: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SA Moy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Contributed by: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KK Tang</a:t>
            </a:r>
          </a:p>
        </p:txBody>
      </p:sp>
    </p:spTree>
    <p:extLst>
      <p:ext uri="{BB962C8B-B14F-4D97-AF65-F5344CB8AC3E}">
        <p14:creationId xmlns:p14="http://schemas.microsoft.com/office/powerpoint/2010/main" val="87854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908DFC85-369F-462D-AE0D-9C679165AE15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2D8B441-F742-4634-AB10-E80DE781C58B}" type="slidenum">
              <a:rPr lang="en-US" sz="800" smtClean="0">
                <a:solidFill>
                  <a:schemeClr val="bg1"/>
                </a:solidFill>
              </a:rPr>
              <a:pPr/>
              <a:t>2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4100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33388"/>
            <a:ext cx="8237538" cy="612775"/>
          </a:xfrm>
        </p:spPr>
        <p:txBody>
          <a:bodyPr/>
          <a:lstStyle/>
          <a:p>
            <a:pPr eaLnBrk="1" hangingPunct="1"/>
            <a:r>
              <a:rPr lang="en-US" smtClean="0"/>
              <a:t>Objectives</a:t>
            </a:r>
            <a:endParaRPr lang="en-US" smtClean="0">
              <a:solidFill>
                <a:srgbClr val="FF0000"/>
              </a:solidFill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239838"/>
            <a:ext cx="8294688" cy="4090987"/>
          </a:xfrm>
        </p:spPr>
        <p:txBody>
          <a:bodyPr/>
          <a:lstStyle/>
          <a:p>
            <a:pPr marL="0" indent="0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00"/>
                </a:solidFill>
              </a:rPr>
              <a:t>Share Findings from CME Mobile Industry Data Collection (Shark Bay Platform Survey) 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Summarize data collected from the Mobile Customers manufacturers (Quanta, </a:t>
            </a:r>
            <a:r>
              <a:rPr lang="en-US" dirty="0" err="1" smtClean="0">
                <a:solidFill>
                  <a:srgbClr val="000000"/>
                </a:solidFill>
              </a:rPr>
              <a:t>Compal</a:t>
            </a:r>
            <a:r>
              <a:rPr lang="en-US" dirty="0" smtClean="0">
                <a:solidFill>
                  <a:srgbClr val="000000"/>
                </a:solidFill>
              </a:rPr>
              <a:t>, </a:t>
            </a:r>
            <a:r>
              <a:rPr lang="en-US" dirty="0" err="1" smtClean="0">
                <a:solidFill>
                  <a:srgbClr val="000000"/>
                </a:solidFill>
              </a:rPr>
              <a:t>Wistron</a:t>
            </a:r>
            <a:r>
              <a:rPr lang="en-US" dirty="0" smtClean="0">
                <a:solidFill>
                  <a:srgbClr val="000000"/>
                </a:solidFill>
              </a:rPr>
              <a:t>, </a:t>
            </a:r>
            <a:r>
              <a:rPr lang="en-US" dirty="0" err="1" smtClean="0">
                <a:solidFill>
                  <a:srgbClr val="000000"/>
                </a:solidFill>
              </a:rPr>
              <a:t>Inventec</a:t>
            </a:r>
            <a:r>
              <a:rPr lang="en-US" dirty="0" smtClean="0">
                <a:solidFill>
                  <a:srgbClr val="000000"/>
                </a:solidFill>
              </a:rPr>
              <a:t> and </a:t>
            </a:r>
            <a:r>
              <a:rPr lang="en-US" dirty="0" err="1" smtClean="0">
                <a:solidFill>
                  <a:srgbClr val="000000"/>
                </a:solidFill>
              </a:rPr>
              <a:t>Pegatron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Highlight key learning in focus areas of 2013 Platform (Shark Bay Platform).</a:t>
            </a:r>
          </a:p>
          <a:p>
            <a:pPr marL="0" indent="0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00"/>
                </a:solidFill>
              </a:rPr>
              <a:t>Assist Internal Stakeholder better Alignment with Industry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Provide data &amp; analysis to aid in future platform enabling and Technology Risk Assessments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Influence internal technology development direction toward more customer oriented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endParaRPr lang="en-US" dirty="0" smtClean="0">
              <a:solidFill>
                <a:srgbClr val="000000"/>
              </a:solidFill>
            </a:endParaRP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82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2"/>
          <p:cNvSpPr>
            <a:spLocks noGrp="1"/>
          </p:cNvSpPr>
          <p:nvPr>
            <p:ph type="title"/>
          </p:nvPr>
        </p:nvSpPr>
        <p:spPr>
          <a:xfrm>
            <a:off x="163513" y="82550"/>
            <a:ext cx="8237537" cy="889000"/>
          </a:xfrm>
        </p:spPr>
        <p:txBody>
          <a:bodyPr/>
          <a:lstStyle/>
          <a:p>
            <a:r>
              <a:rPr lang="en-US" dirty="0" smtClean="0"/>
              <a:t>Summary of Survey</a:t>
            </a:r>
          </a:p>
        </p:txBody>
      </p:sp>
      <p:sp>
        <p:nvSpPr>
          <p:cNvPr id="512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1707F90F-3D03-4206-B0B2-EA3023718512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0389970C-1387-4C07-BE85-653024FF8EC7}" type="slidenum">
              <a:rPr lang="en-US" sz="800" smtClean="0">
                <a:solidFill>
                  <a:schemeClr val="bg1"/>
                </a:solidFill>
              </a:rPr>
              <a:pPr/>
              <a:t>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5125" name="Rectangle 6"/>
          <p:cNvSpPr>
            <a:spLocks noChangeArrowheads="1"/>
          </p:cNvSpPr>
          <p:nvPr/>
        </p:nvSpPr>
        <p:spPr bwMode="auto">
          <a:xfrm>
            <a:off x="57150" y="544513"/>
            <a:ext cx="8936038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100" b="1" u="sng" dirty="0"/>
              <a:t>A). PCB </a:t>
            </a:r>
            <a:r>
              <a:rPr lang="en-US" sz="1100" b="1" u="sng" dirty="0" smtClean="0"/>
              <a:t>Technology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b="1" dirty="0"/>
              <a:t>No standard size of board form factor</a:t>
            </a:r>
            <a:r>
              <a:rPr lang="en-US" sz="1100" dirty="0"/>
              <a:t>, </a:t>
            </a:r>
            <a:r>
              <a:rPr lang="en-US" sz="1100" dirty="0" smtClean="0"/>
              <a:t>rectangle is common but </a:t>
            </a:r>
            <a:r>
              <a:rPr lang="en-US" sz="1100" dirty="0"/>
              <a:t>the size is different</a:t>
            </a:r>
            <a:r>
              <a:rPr lang="en-US" sz="1100" dirty="0" smtClean="0"/>
              <a:t>. Quanta (Dell, Toshiba, NEC) is using dual boards.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/>
              <a:t>The </a:t>
            </a:r>
            <a:r>
              <a:rPr lang="en-US" sz="1100" b="1" dirty="0"/>
              <a:t>Minimum </a:t>
            </a:r>
            <a:r>
              <a:rPr lang="en-US" sz="1100" b="1" dirty="0" smtClean="0"/>
              <a:t>Layers Count </a:t>
            </a:r>
            <a:r>
              <a:rPr lang="en-US" sz="1100" dirty="0"/>
              <a:t>is 2 (from </a:t>
            </a:r>
            <a:r>
              <a:rPr lang="en-US" sz="1100" dirty="0" err="1"/>
              <a:t>Compal</a:t>
            </a:r>
            <a:r>
              <a:rPr lang="en-US" sz="1100" dirty="0"/>
              <a:t>) and </a:t>
            </a:r>
            <a:r>
              <a:rPr lang="en-US" sz="1100" b="1" dirty="0"/>
              <a:t>Maximum </a:t>
            </a:r>
            <a:r>
              <a:rPr lang="en-US" sz="1100" b="1" dirty="0" smtClean="0"/>
              <a:t>Layers Count</a:t>
            </a:r>
            <a:r>
              <a:rPr lang="en-US" sz="1100" dirty="0" smtClean="0"/>
              <a:t> </a:t>
            </a:r>
            <a:r>
              <a:rPr lang="en-US" sz="1100" dirty="0"/>
              <a:t>is 8 (from </a:t>
            </a:r>
            <a:r>
              <a:rPr lang="en-US" sz="1100" dirty="0" err="1"/>
              <a:t>Inventec</a:t>
            </a:r>
            <a:r>
              <a:rPr lang="en-US" sz="1100" dirty="0" smtClean="0"/>
              <a:t>). </a:t>
            </a:r>
            <a:r>
              <a:rPr lang="en-US" sz="1100" b="1" dirty="0" smtClean="0"/>
              <a:t>6 Layers</a:t>
            </a:r>
            <a:r>
              <a:rPr lang="en-US" sz="1100" dirty="0" smtClean="0"/>
              <a:t> </a:t>
            </a:r>
            <a:r>
              <a:rPr lang="en-US" sz="1100" dirty="0"/>
              <a:t>are the most common and widely used by Quanta, </a:t>
            </a:r>
            <a:r>
              <a:rPr lang="en-US" sz="1100" dirty="0" err="1"/>
              <a:t>Wistron</a:t>
            </a:r>
            <a:r>
              <a:rPr lang="en-US" sz="1100" dirty="0"/>
              <a:t> and </a:t>
            </a:r>
            <a:r>
              <a:rPr lang="en-US" sz="1100" dirty="0" err="1"/>
              <a:t>Inventec</a:t>
            </a:r>
            <a:r>
              <a:rPr lang="en-US" sz="1100" dirty="0" smtClean="0"/>
              <a:t>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/>
              <a:t>The </a:t>
            </a:r>
            <a:r>
              <a:rPr lang="en-US" sz="1100" b="1" dirty="0"/>
              <a:t>Minimum Board Thickness </a:t>
            </a:r>
            <a:r>
              <a:rPr lang="en-US" sz="1100" dirty="0"/>
              <a:t>is 1mm (from </a:t>
            </a:r>
            <a:r>
              <a:rPr lang="en-US" sz="1100" dirty="0" err="1"/>
              <a:t>Compal</a:t>
            </a:r>
            <a:r>
              <a:rPr lang="en-US" sz="1100" dirty="0"/>
              <a:t> and </a:t>
            </a:r>
            <a:r>
              <a:rPr lang="en-US" sz="1100" dirty="0" err="1"/>
              <a:t>Inventec</a:t>
            </a:r>
            <a:r>
              <a:rPr lang="en-US" sz="1100" dirty="0"/>
              <a:t>) and </a:t>
            </a:r>
            <a:r>
              <a:rPr lang="en-US" sz="1100" b="1" dirty="0"/>
              <a:t>Maximum Board Thickness </a:t>
            </a:r>
            <a:r>
              <a:rPr lang="en-US" sz="1100" dirty="0"/>
              <a:t>is 1.2mm (from Quanta, </a:t>
            </a:r>
            <a:r>
              <a:rPr lang="en-US" sz="1100" dirty="0" err="1"/>
              <a:t>Wistron</a:t>
            </a:r>
            <a:r>
              <a:rPr lang="en-US" sz="1100" dirty="0"/>
              <a:t> and </a:t>
            </a:r>
            <a:r>
              <a:rPr lang="en-US" sz="1100" dirty="0" err="1"/>
              <a:t>Inventec</a:t>
            </a:r>
            <a:r>
              <a:rPr lang="en-US" sz="1100" dirty="0" smtClean="0"/>
              <a:t>). </a:t>
            </a:r>
            <a:r>
              <a:rPr lang="en-US" sz="1100" b="1" dirty="0" smtClean="0"/>
              <a:t>1.2mm </a:t>
            </a:r>
            <a:r>
              <a:rPr lang="en-US" sz="1100" b="1" dirty="0"/>
              <a:t>Board Thickness is the most common</a:t>
            </a:r>
            <a:r>
              <a:rPr lang="en-US" sz="1100" dirty="0"/>
              <a:t> used at ODMs.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b="1" dirty="0"/>
              <a:t>OSP</a:t>
            </a:r>
            <a:r>
              <a:rPr lang="en-US" sz="1100" dirty="0"/>
              <a:t> is the only surface finish used by ODMs.  </a:t>
            </a:r>
            <a:r>
              <a:rPr lang="en-US" sz="1100" dirty="0" smtClean="0"/>
              <a:t> </a:t>
            </a:r>
            <a:endParaRPr lang="en-US" sz="1100" dirty="0"/>
          </a:p>
          <a:p>
            <a:pPr algn="l">
              <a:lnSpc>
                <a:spcPct val="150000"/>
              </a:lnSpc>
            </a:pPr>
            <a:endParaRPr lang="en-US" sz="1100" b="1" u="sng" dirty="0" smtClean="0"/>
          </a:p>
          <a:p>
            <a:pPr algn="l">
              <a:lnSpc>
                <a:spcPct val="150000"/>
              </a:lnSpc>
            </a:pPr>
            <a:r>
              <a:rPr lang="en-US" sz="1100" b="1" u="sng" dirty="0" smtClean="0"/>
              <a:t>B). Screen </a:t>
            </a:r>
            <a:r>
              <a:rPr lang="en-US" sz="1100" b="1" u="sng" dirty="0" err="1" smtClean="0"/>
              <a:t>Pritning</a:t>
            </a:r>
            <a:endParaRPr lang="en-US" sz="1100" b="1" u="sng" dirty="0" smtClean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/>
              <a:t>The </a:t>
            </a:r>
            <a:r>
              <a:rPr lang="en-US" sz="1100" b="1" dirty="0" smtClean="0"/>
              <a:t>Minimum Stencil Thickness</a:t>
            </a:r>
            <a:r>
              <a:rPr lang="en-US" sz="1100" dirty="0" smtClean="0"/>
              <a:t> </a:t>
            </a:r>
            <a:r>
              <a:rPr lang="en-US" sz="1100" dirty="0"/>
              <a:t>is 0.08mm (3.15mil) and </a:t>
            </a:r>
            <a:r>
              <a:rPr lang="en-US" sz="1100" b="1" dirty="0" smtClean="0"/>
              <a:t>Maximum Stencil Thickness</a:t>
            </a:r>
            <a:r>
              <a:rPr lang="en-US" sz="1100" dirty="0" smtClean="0"/>
              <a:t> is </a:t>
            </a:r>
            <a:r>
              <a:rPr lang="en-US" sz="1100" dirty="0"/>
              <a:t>0.13mm (5.12mil</a:t>
            </a:r>
            <a:r>
              <a:rPr lang="en-US" sz="1100" dirty="0" smtClean="0"/>
              <a:t>). The </a:t>
            </a:r>
            <a:r>
              <a:rPr lang="en-US" sz="1100" dirty="0"/>
              <a:t>most common stencil thickness is range from </a:t>
            </a:r>
            <a:r>
              <a:rPr lang="en-US" sz="1100" b="1" dirty="0"/>
              <a:t>0.12-0.13mm (4.72-5.12mil</a:t>
            </a:r>
            <a:r>
              <a:rPr lang="en-US" sz="1100" b="1" dirty="0" smtClean="0"/>
              <a:t>).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b="1" dirty="0" err="1"/>
              <a:t>Shenmao</a:t>
            </a:r>
            <a:r>
              <a:rPr lang="en-US" sz="1100" b="1" dirty="0"/>
              <a:t> (PF606-P)</a:t>
            </a:r>
            <a:r>
              <a:rPr lang="en-US" sz="1100" dirty="0"/>
              <a:t> is the most common solder paste at ODMs</a:t>
            </a:r>
            <a:r>
              <a:rPr lang="en-US" sz="1100" dirty="0" smtClean="0"/>
              <a:t>. </a:t>
            </a:r>
            <a:r>
              <a:rPr lang="en-US" sz="1100" dirty="0" err="1" smtClean="0"/>
              <a:t>Wistron</a:t>
            </a:r>
            <a:r>
              <a:rPr lang="en-US" sz="1100" dirty="0" smtClean="0"/>
              <a:t>-Lenovo </a:t>
            </a:r>
            <a:r>
              <a:rPr lang="en-US" sz="1100" dirty="0"/>
              <a:t>is using </a:t>
            </a:r>
            <a:r>
              <a:rPr lang="en-US" sz="1100" b="1" dirty="0"/>
              <a:t>Alpha </a:t>
            </a:r>
            <a:r>
              <a:rPr lang="en-US" sz="1100" b="1" dirty="0" smtClean="0"/>
              <a:t>OM338</a:t>
            </a:r>
            <a:r>
              <a:rPr lang="en-US" sz="1100" dirty="0" smtClean="0"/>
              <a:t> </a:t>
            </a:r>
            <a:r>
              <a:rPr lang="en-US" sz="1100" dirty="0"/>
              <a:t>which is suspected high risk for hanging call issue. </a:t>
            </a:r>
            <a:r>
              <a:rPr lang="en-US" sz="1100" b="1" dirty="0" smtClean="0"/>
              <a:t>Low Ag solder paste (PF629-P)</a:t>
            </a:r>
            <a:r>
              <a:rPr lang="en-US" sz="1100" dirty="0" smtClean="0"/>
              <a:t> is next trend coming soon (using for small OEMs now). </a:t>
            </a:r>
            <a:r>
              <a:rPr lang="en-US" sz="1100" b="1" dirty="0" smtClean="0">
                <a:solidFill>
                  <a:srgbClr val="FF0000"/>
                </a:solidFill>
              </a:rPr>
              <a:t>[KOKI-Local OEM]</a:t>
            </a:r>
            <a:endParaRPr lang="en-US" sz="1100" b="1" dirty="0">
              <a:solidFill>
                <a:srgbClr val="FF0000"/>
              </a:solidFill>
            </a:endParaRPr>
          </a:p>
          <a:p>
            <a:pPr marL="171450" indent="-171450" algn="l">
              <a:lnSpc>
                <a:spcPct val="150000"/>
              </a:lnSpc>
              <a:buFont typeface="Arial" pitchFamily="34" charset="0"/>
              <a:buChar char="•"/>
            </a:pPr>
            <a:endParaRPr lang="en-US" sz="1100" b="1" u="sng" dirty="0"/>
          </a:p>
          <a:p>
            <a:pPr algn="l">
              <a:lnSpc>
                <a:spcPct val="150000"/>
              </a:lnSpc>
            </a:pPr>
            <a:r>
              <a:rPr lang="en-US" sz="1100" b="1" u="sng" dirty="0" smtClean="0"/>
              <a:t>C). Placement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100" dirty="0" smtClean="0"/>
              <a:t>ODMs are using PnP machines which has </a:t>
            </a:r>
            <a:r>
              <a:rPr lang="en-US" sz="1100" b="1" dirty="0" smtClean="0"/>
              <a:t>100</a:t>
            </a:r>
            <a:r>
              <a:rPr lang="en-US" sz="1100" b="1" dirty="0"/>
              <a:t>% solder ball recognition</a:t>
            </a:r>
            <a:r>
              <a:rPr lang="en-US" sz="1100" dirty="0"/>
              <a:t> capability. </a:t>
            </a:r>
            <a:endParaRPr lang="en-US" sz="1100" dirty="0" smtClean="0"/>
          </a:p>
          <a:p>
            <a:pPr algn="l">
              <a:lnSpc>
                <a:spcPct val="150000"/>
              </a:lnSpc>
            </a:pPr>
            <a:endParaRPr lang="en-US" sz="1100" b="1" u="sng" dirty="0" smtClean="0"/>
          </a:p>
          <a:p>
            <a:pPr algn="l">
              <a:lnSpc>
                <a:spcPct val="150000"/>
              </a:lnSpc>
            </a:pPr>
            <a:r>
              <a:rPr lang="en-US" sz="1100" b="1" u="sng" dirty="0" smtClean="0"/>
              <a:t>D). Reflow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/>
              <a:t>Different reflow machine type been used by ODMs</a:t>
            </a:r>
            <a:r>
              <a:rPr lang="en-US" sz="1100" dirty="0" smtClean="0"/>
              <a:t>. All </a:t>
            </a:r>
            <a:r>
              <a:rPr lang="en-US" sz="1100" dirty="0"/>
              <a:t>ODMs are </a:t>
            </a:r>
            <a:r>
              <a:rPr lang="en-US" sz="1100" b="1" dirty="0"/>
              <a:t>using N2 reflow</a:t>
            </a:r>
            <a:r>
              <a:rPr lang="en-US" sz="1100" dirty="0"/>
              <a:t>. </a:t>
            </a:r>
            <a:r>
              <a:rPr lang="en-US" sz="1100" dirty="0" err="1"/>
              <a:t>Inventec</a:t>
            </a:r>
            <a:r>
              <a:rPr lang="en-US" sz="1100" dirty="0"/>
              <a:t> and </a:t>
            </a:r>
            <a:r>
              <a:rPr lang="en-US" sz="1100" dirty="0" err="1"/>
              <a:t>Pegatron</a:t>
            </a:r>
            <a:r>
              <a:rPr lang="en-US" sz="1100" dirty="0"/>
              <a:t> reply &lt;1000 O2 ppm, others didn’t disclose detail</a:t>
            </a:r>
            <a:r>
              <a:rPr lang="en-US" sz="1100" dirty="0" smtClean="0"/>
              <a:t>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/>
              <a:t>All ODMs are using </a:t>
            </a:r>
            <a:r>
              <a:rPr lang="en-US" sz="1100" b="1" dirty="0"/>
              <a:t>reflow pallet</a:t>
            </a:r>
            <a:r>
              <a:rPr lang="en-US" sz="1100" dirty="0" smtClean="0"/>
              <a:t>. </a:t>
            </a:r>
            <a:r>
              <a:rPr lang="en-US" sz="1100" b="1" dirty="0" smtClean="0"/>
              <a:t>Aluminum</a:t>
            </a:r>
            <a:r>
              <a:rPr lang="en-US" sz="1100" dirty="0" smtClean="0"/>
              <a:t> </a:t>
            </a:r>
            <a:r>
              <a:rPr lang="en-US" sz="1100" dirty="0"/>
              <a:t>is the material common used and only </a:t>
            </a:r>
            <a:r>
              <a:rPr lang="en-US" sz="1100" dirty="0" err="1"/>
              <a:t>Pagatron</a:t>
            </a:r>
            <a:r>
              <a:rPr lang="en-US" sz="1100" dirty="0"/>
              <a:t> is using Glass Fiber, Epoxy Resin</a:t>
            </a:r>
            <a:r>
              <a:rPr lang="en-US" sz="1100" dirty="0" smtClean="0"/>
              <a:t>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/>
              <a:t>The </a:t>
            </a:r>
            <a:r>
              <a:rPr lang="en-US" sz="1100" b="1" dirty="0" smtClean="0"/>
              <a:t>Minimum </a:t>
            </a:r>
            <a:r>
              <a:rPr lang="en-US" sz="1100" b="1" dirty="0"/>
              <a:t>belt speed is 100 cm/min</a:t>
            </a:r>
            <a:r>
              <a:rPr lang="en-US" sz="1100" dirty="0"/>
              <a:t> (from </a:t>
            </a:r>
            <a:r>
              <a:rPr lang="en-US" sz="1100" dirty="0" err="1"/>
              <a:t>Compal</a:t>
            </a:r>
            <a:r>
              <a:rPr lang="en-US" sz="1100" dirty="0"/>
              <a:t>) and the </a:t>
            </a:r>
            <a:r>
              <a:rPr lang="en-US" sz="1100" b="1" dirty="0" smtClean="0"/>
              <a:t>Maximum </a:t>
            </a:r>
            <a:r>
              <a:rPr lang="en-US" sz="1100" b="1" dirty="0"/>
              <a:t>is 160 cm/min</a:t>
            </a:r>
            <a:r>
              <a:rPr lang="en-US" sz="1100" dirty="0"/>
              <a:t> (from </a:t>
            </a:r>
            <a:r>
              <a:rPr lang="en-US" sz="1100" dirty="0" err="1"/>
              <a:t>Wistron</a:t>
            </a:r>
            <a:r>
              <a:rPr lang="en-US" sz="1100" dirty="0" smtClean="0"/>
              <a:t>). </a:t>
            </a:r>
            <a:r>
              <a:rPr lang="en-US" sz="1100" b="1" dirty="0" smtClean="0"/>
              <a:t>120 </a:t>
            </a:r>
            <a:r>
              <a:rPr lang="en-US" sz="1100" b="1" dirty="0"/>
              <a:t>cm/min belt speed </a:t>
            </a:r>
            <a:r>
              <a:rPr lang="en-US" sz="1100" dirty="0"/>
              <a:t>is the most common used by ODMs. 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 smtClean="0"/>
              <a:t>The </a:t>
            </a:r>
            <a:r>
              <a:rPr lang="en-US" sz="1100" b="1" dirty="0"/>
              <a:t>minimum peak is 230 </a:t>
            </a:r>
            <a:r>
              <a:rPr lang="en-US" sz="1100" b="1" dirty="0" err="1"/>
              <a:t>deg</a:t>
            </a:r>
            <a:r>
              <a:rPr lang="en-US" sz="1100" b="1" dirty="0"/>
              <a:t> C and the maximum is 255 </a:t>
            </a:r>
            <a:r>
              <a:rPr lang="en-US" sz="1100" b="1" dirty="0" err="1"/>
              <a:t>deg</a:t>
            </a:r>
            <a:r>
              <a:rPr lang="en-US" sz="1100" b="1" dirty="0"/>
              <a:t> C</a:t>
            </a:r>
            <a:r>
              <a:rPr lang="en-US" sz="1100" dirty="0"/>
              <a:t>. The minimum TAL is 40 sec and maximum is 90 sec. Majority is following soak time 60-120 sec and </a:t>
            </a:r>
            <a:r>
              <a:rPr lang="en-US" sz="1100" dirty="0" err="1"/>
              <a:t>Inventec</a:t>
            </a:r>
            <a:r>
              <a:rPr lang="en-US" sz="1100" dirty="0"/>
              <a:t> is following soak time 60-90sec.  </a:t>
            </a:r>
          </a:p>
        </p:txBody>
      </p:sp>
      <p:sp>
        <p:nvSpPr>
          <p:cNvPr id="512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979613" y="6357938"/>
            <a:ext cx="5761037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364315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2"/>
          <p:cNvSpPr>
            <a:spLocks noGrp="1"/>
          </p:cNvSpPr>
          <p:nvPr>
            <p:ph type="title"/>
          </p:nvPr>
        </p:nvSpPr>
        <p:spPr>
          <a:xfrm>
            <a:off x="163513" y="82550"/>
            <a:ext cx="8237537" cy="889000"/>
          </a:xfrm>
        </p:spPr>
        <p:txBody>
          <a:bodyPr/>
          <a:lstStyle/>
          <a:p>
            <a:r>
              <a:rPr lang="en-US" dirty="0" smtClean="0"/>
              <a:t>Summary of Survey</a:t>
            </a:r>
          </a:p>
        </p:txBody>
      </p:sp>
      <p:sp>
        <p:nvSpPr>
          <p:cNvPr id="512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1707F90F-3D03-4206-B0B2-EA3023718512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0389970C-1387-4C07-BE85-653024FF8EC7}" type="slidenum">
              <a:rPr lang="en-US" sz="800" smtClean="0">
                <a:solidFill>
                  <a:schemeClr val="bg1"/>
                </a:solidFill>
              </a:rPr>
              <a:pPr/>
              <a:t>4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5125" name="Rectangle 6"/>
          <p:cNvSpPr>
            <a:spLocks noChangeArrowheads="1"/>
          </p:cNvSpPr>
          <p:nvPr/>
        </p:nvSpPr>
        <p:spPr bwMode="auto">
          <a:xfrm>
            <a:off x="57150" y="544513"/>
            <a:ext cx="8936038" cy="2885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100" b="1" u="sng" dirty="0" smtClean="0"/>
              <a:t>E). Rework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b="1" dirty="0"/>
              <a:t>Different Brand and Model </a:t>
            </a:r>
            <a:r>
              <a:rPr lang="en-US" sz="1100" dirty="0" smtClean="0"/>
              <a:t>of </a:t>
            </a:r>
            <a:r>
              <a:rPr lang="en-US" sz="1100" dirty="0"/>
              <a:t>rework machine used at </a:t>
            </a:r>
            <a:r>
              <a:rPr lang="en-US" sz="1100" dirty="0" smtClean="0"/>
              <a:t>ODMs </a:t>
            </a:r>
            <a:r>
              <a:rPr lang="en-US" sz="1100" dirty="0"/>
              <a:t>(Martin, DIC and Quick) </a:t>
            </a:r>
            <a:r>
              <a:rPr lang="en-US" sz="1100" dirty="0" smtClean="0"/>
              <a:t>. None </a:t>
            </a:r>
            <a:r>
              <a:rPr lang="en-US" sz="1100" dirty="0"/>
              <a:t>of ODMs using SRT</a:t>
            </a:r>
            <a:r>
              <a:rPr lang="en-US" sz="1100" dirty="0" smtClean="0"/>
              <a:t>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/>
              <a:t>4/8 using solder paste during rework and 4/8 using flux. </a:t>
            </a:r>
            <a:r>
              <a:rPr lang="en-US" sz="1100" dirty="0" smtClean="0"/>
              <a:t>Same </a:t>
            </a:r>
            <a:r>
              <a:rPr lang="en-US" sz="1100" dirty="0"/>
              <a:t>type of solder paste in SMT been used for rework (</a:t>
            </a:r>
            <a:r>
              <a:rPr lang="en-US" sz="1100" dirty="0" err="1"/>
              <a:t>Shenmao</a:t>
            </a:r>
            <a:r>
              <a:rPr lang="en-US" sz="1100" dirty="0"/>
              <a:t> PF606-P).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b="1" dirty="0" smtClean="0"/>
              <a:t>4/8 </a:t>
            </a:r>
            <a:r>
              <a:rPr lang="en-US" sz="1100" b="1" dirty="0"/>
              <a:t>customers are using manual component </a:t>
            </a:r>
            <a:r>
              <a:rPr lang="en-US" sz="1100" b="1" dirty="0" smtClean="0"/>
              <a:t>placement </a:t>
            </a:r>
            <a:r>
              <a:rPr lang="en-US" sz="1100" dirty="0" smtClean="0"/>
              <a:t>and expected </a:t>
            </a:r>
            <a:r>
              <a:rPr lang="en-US" sz="1100" dirty="0"/>
              <a:t>at least </a:t>
            </a:r>
            <a:r>
              <a:rPr lang="en-US" sz="1100" b="1" dirty="0"/>
              <a:t>&gt;85% </a:t>
            </a:r>
            <a:r>
              <a:rPr lang="en-US" sz="1100" dirty="0"/>
              <a:t>yield</a:t>
            </a:r>
            <a:r>
              <a:rPr lang="en-US" sz="1100" dirty="0" smtClean="0"/>
              <a:t>. </a:t>
            </a:r>
            <a:r>
              <a:rPr lang="en-US" sz="1100" dirty="0" err="1" smtClean="0"/>
              <a:t>Pegatron’s</a:t>
            </a:r>
            <a:r>
              <a:rPr lang="en-US" sz="1100" dirty="0" smtClean="0"/>
              <a:t> </a:t>
            </a:r>
            <a:r>
              <a:rPr lang="en-US" sz="1100" dirty="0"/>
              <a:t>reply manual placement and yield is 99.85%. </a:t>
            </a:r>
          </a:p>
          <a:p>
            <a:pPr algn="l">
              <a:lnSpc>
                <a:spcPct val="150000"/>
              </a:lnSpc>
            </a:pPr>
            <a:endParaRPr lang="en-US" sz="1100" b="1" u="sng" dirty="0" smtClean="0"/>
          </a:p>
          <a:p>
            <a:pPr algn="l">
              <a:lnSpc>
                <a:spcPct val="150000"/>
              </a:lnSpc>
            </a:pPr>
            <a:r>
              <a:rPr lang="en-US" sz="1100" b="1" u="sng" dirty="0" smtClean="0"/>
              <a:t>F). Glue</a:t>
            </a:r>
            <a:endParaRPr lang="en-US" sz="1100" b="1" u="sng" dirty="0"/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b="1" dirty="0"/>
              <a:t>All customers have corner glue process and </a:t>
            </a:r>
            <a:r>
              <a:rPr lang="en-US" sz="1100" b="1" dirty="0" smtClean="0"/>
              <a:t>capability</a:t>
            </a:r>
            <a:r>
              <a:rPr lang="en-US" sz="1100" dirty="0" smtClean="0"/>
              <a:t>. </a:t>
            </a:r>
            <a:r>
              <a:rPr lang="en-US" sz="1100" dirty="0" err="1" smtClean="0"/>
              <a:t>Wistron</a:t>
            </a:r>
            <a:r>
              <a:rPr lang="en-US" sz="1100" dirty="0" smtClean="0"/>
              <a:t> </a:t>
            </a:r>
            <a:r>
              <a:rPr lang="en-US" sz="1100" dirty="0"/>
              <a:t>is practicing dot shape corner glue and </a:t>
            </a:r>
            <a:r>
              <a:rPr lang="en-US" sz="1100" dirty="0" err="1"/>
              <a:t>Inventec</a:t>
            </a:r>
            <a:r>
              <a:rPr lang="en-US" sz="1100" dirty="0"/>
              <a:t> is practicing L-Shape. Others customers didn’t disclose details</a:t>
            </a:r>
            <a:r>
              <a:rPr lang="en-US" sz="1100" dirty="0" smtClean="0"/>
              <a:t>.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b="1" dirty="0"/>
              <a:t>Loctite 3705 UV cure </a:t>
            </a:r>
            <a:r>
              <a:rPr lang="en-US" sz="1100" dirty="0"/>
              <a:t>is widely used</a:t>
            </a:r>
            <a:r>
              <a:rPr lang="en-US" sz="1100" dirty="0" smtClean="0"/>
              <a:t>. Other </a:t>
            </a:r>
            <a:r>
              <a:rPr lang="en-US" sz="1100" dirty="0"/>
              <a:t>brand like Panasonic (ADE480D-1), DYMAX, Loctite 3619 and Loctite 3620 are also common adhesive material.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 smtClean="0"/>
              <a:t>Different </a:t>
            </a:r>
            <a:r>
              <a:rPr lang="en-US" sz="1100" dirty="0"/>
              <a:t>brand of equipment/dispenser been used. Only </a:t>
            </a:r>
            <a:r>
              <a:rPr lang="en-US" sz="1100" dirty="0" err="1"/>
              <a:t>Inventec</a:t>
            </a:r>
            <a:r>
              <a:rPr lang="en-US" sz="1100" dirty="0"/>
              <a:t> reply it is manual dispenser. There is no details sharing by </a:t>
            </a:r>
            <a:r>
              <a:rPr lang="en-US" sz="1100" dirty="0" smtClean="0"/>
              <a:t>other ODMs</a:t>
            </a:r>
            <a:r>
              <a:rPr lang="en-US" sz="1100" dirty="0"/>
              <a:t>.  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100" dirty="0"/>
          </a:p>
        </p:txBody>
      </p:sp>
      <p:sp>
        <p:nvSpPr>
          <p:cNvPr id="512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979613" y="6357938"/>
            <a:ext cx="5761037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06237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0A41F277-F1CE-426F-9C50-69F7F684FE9E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93638BB-9225-4B69-A0C1-AF56F4A4F462}" type="slidenum">
              <a:rPr lang="en-US" sz="800" smtClean="0">
                <a:solidFill>
                  <a:schemeClr val="bg1"/>
                </a:solidFill>
              </a:rPr>
              <a:pPr/>
              <a:t>5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Contents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6629400" cy="43434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u="sng" dirty="0" smtClean="0"/>
              <a:t>PCB Technology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u="sng" dirty="0" smtClean="0"/>
              <a:t>Screen </a:t>
            </a:r>
            <a:r>
              <a:rPr lang="en-US" sz="2400" b="1" u="sng" dirty="0" err="1" smtClean="0"/>
              <a:t>Pritning</a:t>
            </a:r>
            <a:endParaRPr lang="en-US" sz="2400" b="1" u="sng" dirty="0" smtClean="0"/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u="sng" dirty="0" smtClean="0"/>
              <a:t>Placement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u="sng" dirty="0" smtClean="0"/>
              <a:t>Reflow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u="sng" dirty="0" smtClean="0"/>
              <a:t>Rework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b="1" u="sng" dirty="0" smtClean="0"/>
              <a:t>Glue</a:t>
            </a:r>
            <a:endParaRPr lang="en-US" sz="2400" b="1" u="sng" dirty="0"/>
          </a:p>
        </p:txBody>
      </p:sp>
      <p:sp>
        <p:nvSpPr>
          <p:cNvPr id="61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209800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257502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5A50D7C-5A2C-4AA5-8EDB-8946741BE771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6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smtClean="0"/>
              <a:t>PCB Technology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241762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576730"/>
              </p:ext>
            </p:extLst>
          </p:nvPr>
        </p:nvGraphicFramePr>
        <p:xfrm>
          <a:off x="228600" y="822960"/>
          <a:ext cx="8229600" cy="4023360"/>
        </p:xfrm>
        <a:graphic>
          <a:graphicData uri="http://schemas.openxmlformats.org/drawingml/2006/table">
            <a:tbl>
              <a:tblPr/>
              <a:tblGrid>
                <a:gridCol w="444958"/>
                <a:gridCol w="1764842"/>
                <a:gridCol w="1116788"/>
                <a:gridCol w="1479727"/>
                <a:gridCol w="1982469"/>
                <a:gridCol w="1440816"/>
              </a:tblGrid>
              <a:tr h="722215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(Mobile/Table/Smart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Phone/Mobile/Server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 Name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OEM (Key in Company name)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Board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Form Factor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Shape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Size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Rectangle, dual board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410*245mm 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Rectangle, dual board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390*258mm 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Rectangle, dual board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259*217mm 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Rectangular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202* 202mm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Rectangular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350mm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Odd Shape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&gt;8" x 8"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Single panel/ Square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177.5X233.2mm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79107" y="76200"/>
            <a:ext cx="3935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Board Form 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953000"/>
            <a:ext cx="868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No standard size of board form factor, although it is rectangle but the size is different.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Quanta is using Rectangle shape with dual boards.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329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312188"/>
              </p:ext>
            </p:extLst>
          </p:nvPr>
        </p:nvGraphicFramePr>
        <p:xfrm>
          <a:off x="228600" y="777240"/>
          <a:ext cx="7924800" cy="3657600"/>
        </p:xfrm>
        <a:graphic>
          <a:graphicData uri="http://schemas.openxmlformats.org/drawingml/2006/table">
            <a:tbl>
              <a:tblPr/>
              <a:tblGrid>
                <a:gridCol w="528259"/>
                <a:gridCol w="1896838"/>
                <a:gridCol w="1524266"/>
                <a:gridCol w="1756748"/>
                <a:gridCol w="2218689"/>
              </a:tblGrid>
              <a:tr h="722215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(Mobile/Table/Smart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Phone/Mobile/Server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 Name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OEM (Key in Company name)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Board Layers Count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79107" y="76200"/>
            <a:ext cx="4139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Board </a:t>
            </a:r>
            <a:r>
              <a:rPr lang="en-US" sz="2800" b="1" dirty="0" smtClean="0"/>
              <a:t>Layers Count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82917" y="4724400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The Minimum layers count is 2 (from </a:t>
            </a:r>
            <a:r>
              <a:rPr lang="en-US" dirty="0" err="1" smtClean="0"/>
              <a:t>Compal</a:t>
            </a:r>
            <a:r>
              <a:rPr lang="en-US" dirty="0" smtClean="0"/>
              <a:t>) and Maximum layers count is 8 (from </a:t>
            </a:r>
            <a:r>
              <a:rPr lang="en-US" dirty="0" err="1" smtClean="0"/>
              <a:t>Inventec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6 layers are the most common and widely used by Quanta, </a:t>
            </a:r>
            <a:r>
              <a:rPr lang="en-US" dirty="0" err="1" smtClean="0"/>
              <a:t>Wistron</a:t>
            </a:r>
            <a:r>
              <a:rPr lang="en-US" dirty="0" smtClean="0"/>
              <a:t> and </a:t>
            </a:r>
            <a:r>
              <a:rPr lang="en-US" dirty="0" err="1" smtClean="0"/>
              <a:t>Inventec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809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578348"/>
              </p:ext>
            </p:extLst>
          </p:nvPr>
        </p:nvGraphicFramePr>
        <p:xfrm>
          <a:off x="228600" y="685800"/>
          <a:ext cx="8305800" cy="3657600"/>
        </p:xfrm>
        <a:graphic>
          <a:graphicData uri="http://schemas.openxmlformats.org/drawingml/2006/table">
            <a:tbl>
              <a:tblPr/>
              <a:tblGrid>
                <a:gridCol w="569938"/>
                <a:gridCol w="2046497"/>
                <a:gridCol w="1644529"/>
                <a:gridCol w="1895354"/>
                <a:gridCol w="2149482"/>
              </a:tblGrid>
              <a:tr h="722215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(Mobile/Table/Smart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Phone/Mobile/Server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 Name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OEM (Key in Company name)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Board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Thickness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47.2±5mil (1.2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± 0.127 mm)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47.2±5mil (1.2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± 0.127 mm)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47.2+/-5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MIL (1.2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± 0.127 mm)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1.2mm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1mm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1.2mm~1.0mm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1.2mm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79107" y="76200"/>
            <a:ext cx="3498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Board </a:t>
            </a:r>
            <a:r>
              <a:rPr lang="en-US" sz="2800" b="1" dirty="0" smtClean="0"/>
              <a:t>Thickness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82917" y="4724400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The Minimum Board Thickness is 1mm (from </a:t>
            </a:r>
            <a:r>
              <a:rPr lang="en-US" dirty="0" err="1" smtClean="0"/>
              <a:t>Compal</a:t>
            </a:r>
            <a:r>
              <a:rPr lang="en-US" dirty="0" smtClean="0"/>
              <a:t> and </a:t>
            </a:r>
            <a:r>
              <a:rPr lang="en-US" dirty="0" err="1" smtClean="0"/>
              <a:t>Inventec</a:t>
            </a:r>
            <a:r>
              <a:rPr lang="en-US" dirty="0" smtClean="0"/>
              <a:t>) and Maximum Board Thickness is 1.2mm (from Quanta, </a:t>
            </a:r>
            <a:r>
              <a:rPr lang="en-US" dirty="0" err="1" smtClean="0"/>
              <a:t>Wistron</a:t>
            </a:r>
            <a:r>
              <a:rPr lang="en-US" dirty="0" smtClean="0"/>
              <a:t> and </a:t>
            </a:r>
            <a:r>
              <a:rPr lang="en-US" dirty="0" err="1" smtClean="0"/>
              <a:t>Inventec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1.2mm Board Thickness is the most common used at ODMs. </a:t>
            </a:r>
          </a:p>
        </p:txBody>
      </p:sp>
    </p:spTree>
    <p:extLst>
      <p:ext uri="{BB962C8B-B14F-4D97-AF65-F5344CB8AC3E}">
        <p14:creationId xmlns:p14="http://schemas.microsoft.com/office/powerpoint/2010/main" val="216500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623190"/>
              </p:ext>
            </p:extLst>
          </p:nvPr>
        </p:nvGraphicFramePr>
        <p:xfrm>
          <a:off x="228600" y="710345"/>
          <a:ext cx="8534400" cy="4014055"/>
        </p:xfrm>
        <a:graphic>
          <a:graphicData uri="http://schemas.openxmlformats.org/drawingml/2006/table">
            <a:tbl>
              <a:tblPr/>
              <a:tblGrid>
                <a:gridCol w="607871"/>
                <a:gridCol w="2182703"/>
                <a:gridCol w="1753982"/>
                <a:gridCol w="2021501"/>
                <a:gridCol w="1968343"/>
              </a:tblGrid>
              <a:tr h="722215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(Mobile/Table/Smart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Phone/Mobile/Server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 Name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OEM (Key in Company name)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Surface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Finish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Surface Type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OSP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OSP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OSP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OSP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OSP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OSP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OSP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79107" y="76200"/>
            <a:ext cx="3047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Surface Finish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82917" y="4800600"/>
            <a:ext cx="868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OSP is the only surface finish used by ODMs.  </a:t>
            </a:r>
          </a:p>
        </p:txBody>
      </p:sp>
    </p:spTree>
    <p:extLst>
      <p:ext uri="{BB962C8B-B14F-4D97-AF65-F5344CB8AC3E}">
        <p14:creationId xmlns:p14="http://schemas.microsoft.com/office/powerpoint/2010/main" val="2844502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5A50D7C-5A2C-4AA5-8EDB-8946741BE771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11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Screen Printing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57024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106183"/>
              </p:ext>
            </p:extLst>
          </p:nvPr>
        </p:nvGraphicFramePr>
        <p:xfrm>
          <a:off x="228600" y="685800"/>
          <a:ext cx="8610600" cy="4019008"/>
        </p:xfrm>
        <a:graphic>
          <a:graphicData uri="http://schemas.openxmlformats.org/drawingml/2006/table">
            <a:tbl>
              <a:tblPr/>
              <a:tblGrid>
                <a:gridCol w="386536"/>
                <a:gridCol w="2487055"/>
                <a:gridCol w="1932680"/>
                <a:gridCol w="3804329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is the stencil thickness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Stencil Thickness (mm)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Wistron-HP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0.127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Wistron-Dell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0.127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Wistron-Acer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0.127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Wistron-HP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0.127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Wistron-Dell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0.127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Wistron-Acer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0.127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Wistron-Lenovo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0.127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0.08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0.13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0.127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0.13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48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0.13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4800" y="152400"/>
            <a:ext cx="3802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Stencil Thickness 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82917" y="4800600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The minimum stencil thickness is 0.08mm (3.15mil) and maximum is 0.13mm (5.12mil).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The most common stencil thickness is range from 0.12-0.13mm (4.72-5.12mil).   </a:t>
            </a:r>
          </a:p>
        </p:txBody>
      </p:sp>
    </p:spTree>
    <p:extLst>
      <p:ext uri="{BB962C8B-B14F-4D97-AF65-F5344CB8AC3E}">
        <p14:creationId xmlns:p14="http://schemas.microsoft.com/office/powerpoint/2010/main" val="809117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043791"/>
              </p:ext>
            </p:extLst>
          </p:nvPr>
        </p:nvGraphicFramePr>
        <p:xfrm>
          <a:off x="152400" y="533400"/>
          <a:ext cx="5562600" cy="4937760"/>
        </p:xfrm>
        <a:graphic>
          <a:graphicData uri="http://schemas.openxmlformats.org/drawingml/2006/table">
            <a:tbl>
              <a:tblPr/>
              <a:tblGrid>
                <a:gridCol w="250568"/>
                <a:gridCol w="751703"/>
                <a:gridCol w="952157"/>
                <a:gridCol w="1002270"/>
                <a:gridCol w="1102497"/>
                <a:gridCol w="801816"/>
                <a:gridCol w="701589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Paste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Alloy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Powder Type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Wistron-HP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SENJU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M705-S101ZH-S4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Wistron-Dell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SENJU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M705-S101ZH-S4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-Acer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SENJU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M705-S101ZH-S4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Wistron-HP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Wistron-Dell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Wistron-Acer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Wistron-Lenovo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Alpha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OM388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48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FORMAOSA  PF606-P 20-38   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flux:ROL1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Sn/Ag3.0/Cu0.5/x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200" y="0"/>
            <a:ext cx="2844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Solder Paste </a:t>
            </a:r>
            <a:endParaRPr lang="en-US" sz="2800" b="1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8069431"/>
              </p:ext>
            </p:extLst>
          </p:nvPr>
        </p:nvGraphicFramePr>
        <p:xfrm>
          <a:off x="5791200" y="553700"/>
          <a:ext cx="3048000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67400" y="3810000"/>
            <a:ext cx="30785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err="1" smtClean="0"/>
              <a:t>Shenmao</a:t>
            </a:r>
            <a:r>
              <a:rPr lang="en-US" sz="1600" dirty="0" smtClean="0"/>
              <a:t> (PF606-P) is the most common solder paste at ODMs.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err="1" smtClean="0"/>
              <a:t>Wistron</a:t>
            </a:r>
            <a:r>
              <a:rPr lang="en-US" sz="1600" dirty="0" smtClean="0"/>
              <a:t>-Lenovo is using Alpha OM388 which is suspected high risk for hanging call issue. </a:t>
            </a:r>
          </a:p>
        </p:txBody>
      </p:sp>
    </p:spTree>
    <p:extLst>
      <p:ext uri="{BB962C8B-B14F-4D97-AF65-F5344CB8AC3E}">
        <p14:creationId xmlns:p14="http://schemas.microsoft.com/office/powerpoint/2010/main" val="3626556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63400"/>
              </p:ext>
            </p:extLst>
          </p:nvPr>
        </p:nvGraphicFramePr>
        <p:xfrm>
          <a:off x="228600" y="762000"/>
          <a:ext cx="8610600" cy="4045620"/>
        </p:xfrm>
        <a:graphic>
          <a:graphicData uri="http://schemas.openxmlformats.org/drawingml/2006/table">
            <a:tbl>
              <a:tblPr/>
              <a:tblGrid>
                <a:gridCol w="324123"/>
                <a:gridCol w="2085481"/>
                <a:gridCol w="1620618"/>
                <a:gridCol w="1368994"/>
                <a:gridCol w="3211384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Screen Print Machine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SP28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SP60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GP641E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Wistron-HP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Horizon APiX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-Dell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Wistron-Acer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Wistron-HP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Wistron-Dell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Wistron-Acer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Wistron-Lenovo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Infinite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MPM  / DEK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Momentun elite / Infinity Api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DEK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DEK-Infinity AP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8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FUJI&amp;DEK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 GPX&amp;DEK INFINITY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762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smtClean="0"/>
              <a:t>Screen </a:t>
            </a:r>
            <a:r>
              <a:rPr lang="en-US" sz="2800" b="1" dirty="0"/>
              <a:t>Print </a:t>
            </a:r>
            <a:r>
              <a:rPr lang="en-US" sz="2800" b="1" dirty="0" smtClean="0"/>
              <a:t>Machine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42824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7812871"/>
              </p:ext>
            </p:extLst>
          </p:nvPr>
        </p:nvGraphicFramePr>
        <p:xfrm>
          <a:off x="152400" y="152400"/>
          <a:ext cx="5791200" cy="281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2116407"/>
              </p:ext>
            </p:extLst>
          </p:nvPr>
        </p:nvGraphicFramePr>
        <p:xfrm>
          <a:off x="228600" y="3276600"/>
          <a:ext cx="550545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89286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5A50D7C-5A2C-4AA5-8EDB-8946741BE771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16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Placement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297359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496570"/>
              </p:ext>
            </p:extLst>
          </p:nvPr>
        </p:nvGraphicFramePr>
        <p:xfrm>
          <a:off x="304800" y="1066800"/>
          <a:ext cx="8237537" cy="2560320"/>
        </p:xfrm>
        <a:graphic>
          <a:graphicData uri="http://schemas.openxmlformats.org/drawingml/2006/table">
            <a:tbl>
              <a:tblPr/>
              <a:tblGrid>
                <a:gridCol w="527378"/>
                <a:gridCol w="1112439"/>
                <a:gridCol w="999821"/>
                <a:gridCol w="1922733"/>
                <a:gridCol w="2200156"/>
                <a:gridCol w="1475010"/>
              </a:tblGrid>
              <a:tr h="49491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BGA Placement Machine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 Ball Recognition?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CM402-L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DT401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QP341/QP351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DT401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DT401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DT401 / CM602 B TYPE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Panasonic/Universal-GSM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DT401 / CM602 B TYPE/OSP/Windows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 NXT M6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04800" y="228600"/>
            <a:ext cx="5182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BGA Placement Machine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3810000"/>
            <a:ext cx="8641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Panasonic, Fuji and Universal (GSM) are the PnP machines used by ODMs.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All of them has 100% solder ball recognition capability. </a:t>
            </a:r>
          </a:p>
        </p:txBody>
      </p:sp>
    </p:spTree>
    <p:extLst>
      <p:ext uri="{BB962C8B-B14F-4D97-AF65-F5344CB8AC3E}">
        <p14:creationId xmlns:p14="http://schemas.microsoft.com/office/powerpoint/2010/main" val="216395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5A50D7C-5A2C-4AA5-8EDB-8946741BE771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18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Reflow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5202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52319"/>
              </p:ext>
            </p:extLst>
          </p:nvPr>
        </p:nvGraphicFramePr>
        <p:xfrm>
          <a:off x="205741" y="1143000"/>
          <a:ext cx="8709661" cy="2377440"/>
        </p:xfrm>
        <a:graphic>
          <a:graphicData uri="http://schemas.openxmlformats.org/drawingml/2006/table">
            <a:tbl>
              <a:tblPr/>
              <a:tblGrid>
                <a:gridCol w="295821"/>
                <a:gridCol w="1902926"/>
                <a:gridCol w="1456352"/>
                <a:gridCol w="1592884"/>
                <a:gridCol w="1937676"/>
                <a:gridCol w="781604"/>
                <a:gridCol w="742398"/>
              </a:tblGrid>
              <a:tr h="188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Q1: Reflow Machine's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Q2: N2 reflow?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Q3: O2 ppm level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257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Quanta-Dell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新細明體"/>
                        </a:rPr>
                        <a:t>超越</a:t>
                      </a:r>
                      <a:r>
                        <a:rPr lang="zh-TW" alt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CHA-400  N2-14CF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Quanta-Toshiba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TAMURA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TNR-6910PH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Quanta-NEC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TAMURA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TNR-6910PH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Rehm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VXs-944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BTU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Prymax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Inventec-HP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REMH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V7/ V8/ V9/ VXS944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&lt;1000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Inventec-Toshiba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REMH/HELLER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V7/ V8/ V9/ VXS944/1900EXI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&lt;1000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WAVE POINT &amp; TAMURA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CHA-400N2-1767CF&amp;TNP50-6910PM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&lt;1000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4800" y="228600"/>
            <a:ext cx="7930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Machine, N2 and O2 ppm Level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3802380"/>
            <a:ext cx="8641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Different reflow machine type been used by ODMs.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All ODMs are using N2 reflow. </a:t>
            </a:r>
            <a:r>
              <a:rPr lang="en-US" sz="1600" dirty="0" err="1" smtClean="0"/>
              <a:t>Inventec</a:t>
            </a:r>
            <a:r>
              <a:rPr lang="en-US" sz="1600" dirty="0" smtClean="0"/>
              <a:t> and </a:t>
            </a:r>
            <a:r>
              <a:rPr lang="en-US" sz="1600" dirty="0" err="1" smtClean="0"/>
              <a:t>Pegatron</a:t>
            </a:r>
            <a:r>
              <a:rPr lang="en-US" sz="1600" dirty="0" smtClean="0"/>
              <a:t> reply &lt;1000 O2 ppm, others didn’t disclose detail. </a:t>
            </a:r>
          </a:p>
        </p:txBody>
      </p:sp>
    </p:spTree>
    <p:extLst>
      <p:ext uri="{BB962C8B-B14F-4D97-AF65-F5344CB8AC3E}">
        <p14:creationId xmlns:p14="http://schemas.microsoft.com/office/powerpoint/2010/main" val="4114681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714176"/>
              </p:ext>
            </p:extLst>
          </p:nvPr>
        </p:nvGraphicFramePr>
        <p:xfrm>
          <a:off x="381000" y="1066800"/>
          <a:ext cx="8534399" cy="2560320"/>
        </p:xfrm>
        <a:graphic>
          <a:graphicData uri="http://schemas.openxmlformats.org/drawingml/2006/table">
            <a:tbl>
              <a:tblPr/>
              <a:tblGrid>
                <a:gridCol w="342693"/>
                <a:gridCol w="1867107"/>
                <a:gridCol w="2024448"/>
                <a:gridCol w="919342"/>
                <a:gridCol w="1809029"/>
                <a:gridCol w="1571780"/>
              </a:tblGrid>
              <a:tr h="30788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With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Pallet / Carrier?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525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/ 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 / generic pallet?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material used for Pallet fabrication?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 alloy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 alloy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 alloy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Aluminium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Both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Aluminium alloy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Inventec-HP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 pallet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 pallet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GLASS FIBER,EPOXY RESIN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4800" y="228600"/>
            <a:ext cx="54970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Pallet and Material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3810000"/>
            <a:ext cx="86411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All ODMs are using reflow pallet.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Quanta and </a:t>
            </a:r>
            <a:r>
              <a:rPr lang="en-US" sz="1600" dirty="0" err="1" smtClean="0"/>
              <a:t>Wistron’s</a:t>
            </a:r>
            <a:r>
              <a:rPr lang="en-US" sz="1600" dirty="0" smtClean="0"/>
              <a:t> pallets design are product specific. </a:t>
            </a:r>
            <a:r>
              <a:rPr lang="en-US" sz="1600" dirty="0" err="1" smtClean="0"/>
              <a:t>Inventec</a:t>
            </a:r>
            <a:r>
              <a:rPr lang="en-US" sz="1600" dirty="0" smtClean="0"/>
              <a:t> is using generic pallet and </a:t>
            </a:r>
            <a:r>
              <a:rPr lang="en-US" sz="1600" dirty="0" err="1" smtClean="0"/>
              <a:t>Compal</a:t>
            </a:r>
            <a:r>
              <a:rPr lang="en-US" sz="1600" dirty="0" smtClean="0"/>
              <a:t> has both.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Aluminum is the material common used and only </a:t>
            </a:r>
            <a:r>
              <a:rPr lang="en-US" sz="1600" dirty="0" err="1" smtClean="0"/>
              <a:t>Pagatron</a:t>
            </a:r>
            <a:r>
              <a:rPr lang="en-US" sz="1600" dirty="0" smtClean="0"/>
              <a:t> is using Glass Fiber, Epoxy Resin. </a:t>
            </a:r>
          </a:p>
        </p:txBody>
      </p:sp>
    </p:spTree>
    <p:extLst>
      <p:ext uri="{BB962C8B-B14F-4D97-AF65-F5344CB8AC3E}">
        <p14:creationId xmlns:p14="http://schemas.microsoft.com/office/powerpoint/2010/main" val="131587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339295"/>
              </p:ext>
            </p:extLst>
          </p:nvPr>
        </p:nvGraphicFramePr>
        <p:xfrm>
          <a:off x="304801" y="762000"/>
          <a:ext cx="4267200" cy="2773680"/>
        </p:xfrm>
        <a:graphic>
          <a:graphicData uri="http://schemas.openxmlformats.org/drawingml/2006/table">
            <a:tbl>
              <a:tblPr/>
              <a:tblGrid>
                <a:gridCol w="264632"/>
                <a:gridCol w="1702299"/>
                <a:gridCol w="1302807"/>
                <a:gridCol w="997462"/>
              </a:tblGrid>
              <a:tr h="188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Belt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Speed (cm/minute)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257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Quanta-Dell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Quanta-Toshiba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Quanta-NEC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Inventec-HP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Inventec-Toshiba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152400"/>
            <a:ext cx="2467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Belt Speed 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0203632"/>
              </p:ext>
            </p:extLst>
          </p:nvPr>
        </p:nvGraphicFramePr>
        <p:xfrm>
          <a:off x="4724400" y="694670"/>
          <a:ext cx="4038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2400" y="3810000"/>
            <a:ext cx="8641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The minimum belt speed is 100 cm/min (from </a:t>
            </a:r>
            <a:r>
              <a:rPr lang="en-US" sz="1600" dirty="0" err="1" smtClean="0"/>
              <a:t>Compal</a:t>
            </a:r>
            <a:r>
              <a:rPr lang="en-US" sz="1600" dirty="0" smtClean="0"/>
              <a:t>) and the maximum is 160 cm/min (from </a:t>
            </a:r>
            <a:r>
              <a:rPr lang="en-US" sz="1600" dirty="0" err="1" smtClean="0"/>
              <a:t>Wistron</a:t>
            </a:r>
            <a:r>
              <a:rPr lang="en-US" sz="1600" dirty="0" smtClean="0"/>
              <a:t>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120 cm/min belt speed is the most common used by ODMs.  </a:t>
            </a:r>
          </a:p>
        </p:txBody>
      </p:sp>
    </p:spTree>
    <p:extLst>
      <p:ext uri="{BB962C8B-B14F-4D97-AF65-F5344CB8AC3E}">
        <p14:creationId xmlns:p14="http://schemas.microsoft.com/office/powerpoint/2010/main" val="2230317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082554"/>
              </p:ext>
            </p:extLst>
          </p:nvPr>
        </p:nvGraphicFramePr>
        <p:xfrm>
          <a:off x="304800" y="685800"/>
          <a:ext cx="8458199" cy="2011680"/>
        </p:xfrm>
        <a:graphic>
          <a:graphicData uri="http://schemas.openxmlformats.org/drawingml/2006/table">
            <a:tbl>
              <a:tblPr/>
              <a:tblGrid>
                <a:gridCol w="278990"/>
                <a:gridCol w="1794651"/>
                <a:gridCol w="1373486"/>
                <a:gridCol w="1673935"/>
                <a:gridCol w="794046"/>
                <a:gridCol w="1094495"/>
                <a:gridCol w="751124"/>
                <a:gridCol w="697472"/>
              </a:tblGrid>
              <a:tr h="22183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Peak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temperature (°C)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Soak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Falling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235-255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40-70 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60-120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-6°C/s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235-250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40-70 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60-120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-6°C/s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Quanta-NEC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235-250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40-70 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60-120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-6°C/s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230-250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40-90 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60-120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1-3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°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C/s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&gt;1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°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C/s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240-250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45-90 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60-120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Inventec-HP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235-245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60-90 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60-90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≤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&lt;-4°C/s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Inventec-Toshiba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235-245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60-80 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60-90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≤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&lt;-3°C/s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235-243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40-70 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60-120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-3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°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76200"/>
            <a:ext cx="54841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Profile Parameters</a:t>
            </a:r>
            <a:endParaRPr lang="en-US" sz="2800" b="1" dirty="0"/>
          </a:p>
        </p:txBody>
      </p:sp>
      <p:grpSp>
        <p:nvGrpSpPr>
          <p:cNvPr id="29" name="Group 28"/>
          <p:cNvGrpSpPr/>
          <p:nvPr/>
        </p:nvGrpSpPr>
        <p:grpSpPr>
          <a:xfrm>
            <a:off x="152400" y="2819400"/>
            <a:ext cx="5560394" cy="3124120"/>
            <a:chOff x="152400" y="2907268"/>
            <a:chExt cx="8991600" cy="3848434"/>
          </a:xfrm>
        </p:grpSpPr>
        <p:sp>
          <p:nvSpPr>
            <p:cNvPr id="9" name="Rectangle 8"/>
            <p:cNvSpPr/>
            <p:nvPr/>
          </p:nvSpPr>
          <p:spPr>
            <a:xfrm>
              <a:off x="2895600" y="4615934"/>
              <a:ext cx="4419600" cy="139219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smtClean="0"/>
                <a:t>Quanta-Dell</a:t>
              </a:r>
              <a:endParaRPr lang="en-US" sz="7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76400" y="3701534"/>
              <a:ext cx="4572000" cy="2318266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 smtClean="0">
                  <a:solidFill>
                    <a:schemeClr val="tx1"/>
                  </a:solidFill>
                </a:rPr>
                <a:t>Wistron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609600" y="3276600"/>
              <a:ext cx="0" cy="3352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533400" y="6477000"/>
              <a:ext cx="7239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8001000" y="6324601"/>
              <a:ext cx="1143000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smtClean="0"/>
                <a:t>Peak (°C)</a:t>
              </a:r>
              <a:endParaRPr lang="en-US" sz="7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9599" y="2907268"/>
              <a:ext cx="1219200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smtClean="0"/>
                <a:t>TAL (sec)</a:t>
              </a:r>
              <a:endParaRPr lang="en-US" sz="7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24000" y="6509265"/>
              <a:ext cx="609599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smtClean="0"/>
                <a:t>230</a:t>
              </a:r>
              <a:endParaRPr lang="en-US" sz="7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62401" y="6488667"/>
              <a:ext cx="609599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smtClean="0"/>
                <a:t>240</a:t>
              </a:r>
              <a:endParaRPr lang="en-US" sz="7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600" y="6476999"/>
              <a:ext cx="609599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smtClean="0"/>
                <a:t>250</a:t>
              </a:r>
              <a:endParaRPr lang="en-US" sz="7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2400" y="5802871"/>
              <a:ext cx="838200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smtClean="0"/>
                <a:t>40</a:t>
              </a:r>
              <a:endParaRPr lang="en-US" sz="7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2400" y="5345669"/>
              <a:ext cx="838200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5</a:t>
              </a:r>
              <a:r>
                <a:rPr lang="en-US" sz="700" dirty="0" smtClean="0"/>
                <a:t>0</a:t>
              </a:r>
              <a:endParaRPr lang="en-US" sz="7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2400" y="4888466"/>
              <a:ext cx="838200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6</a:t>
              </a:r>
              <a:r>
                <a:rPr lang="en-US" sz="700" dirty="0" smtClean="0"/>
                <a:t>0</a:t>
              </a:r>
              <a:endParaRPr lang="en-US" sz="7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2400" y="4431267"/>
              <a:ext cx="838200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7</a:t>
              </a:r>
              <a:r>
                <a:rPr lang="en-US" sz="700" dirty="0" smtClean="0"/>
                <a:t>0</a:t>
              </a:r>
              <a:endParaRPr lang="en-US" sz="7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2400" y="3974069"/>
              <a:ext cx="838200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8</a:t>
              </a:r>
              <a:r>
                <a:rPr lang="en-US" sz="700" dirty="0" smtClean="0"/>
                <a:t>0</a:t>
              </a:r>
              <a:endParaRPr lang="en-US" sz="7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2400" y="3516868"/>
              <a:ext cx="838200" cy="24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9</a:t>
              </a:r>
              <a:r>
                <a:rPr lang="en-US" sz="700" dirty="0" smtClean="0"/>
                <a:t>0</a:t>
              </a:r>
              <a:endParaRPr lang="en-US" sz="700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895600" y="4627602"/>
              <a:ext cx="3352800" cy="1392198"/>
            </a:xfrm>
            <a:prstGeom prst="rect">
              <a:avLst/>
            </a:prstGeom>
            <a:solidFill>
              <a:schemeClr val="tx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smtClean="0"/>
                <a:t>Quanta-Dell</a:t>
              </a:r>
            </a:p>
            <a:p>
              <a:pPr algn="ctr"/>
              <a:r>
                <a:rPr lang="en-US" sz="700" dirty="0" smtClean="0"/>
                <a:t>Quanta-NEC</a:t>
              </a:r>
              <a:endParaRPr lang="en-US" sz="70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267200" y="3701534"/>
              <a:ext cx="1981200" cy="2101334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 smtClean="0">
                  <a:solidFill>
                    <a:schemeClr val="tx1"/>
                  </a:solidFill>
                </a:rPr>
                <a:t>Compal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895600" y="3701534"/>
              <a:ext cx="2438400" cy="140386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 smtClean="0">
                  <a:solidFill>
                    <a:schemeClr val="tx1"/>
                  </a:solidFill>
                </a:rPr>
                <a:t>Inventec</a:t>
              </a:r>
              <a:r>
                <a:rPr lang="en-US" sz="700" dirty="0" smtClean="0">
                  <a:solidFill>
                    <a:schemeClr val="tx1"/>
                  </a:solidFill>
                </a:rPr>
                <a:t>-HP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95600" y="4158734"/>
              <a:ext cx="2438400" cy="946666"/>
            </a:xfrm>
            <a:prstGeom prst="rect">
              <a:avLst/>
            </a:prstGeom>
            <a:solidFill>
              <a:schemeClr val="accent3">
                <a:lumMod val="7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 smtClean="0">
                  <a:solidFill>
                    <a:schemeClr val="tx1"/>
                  </a:solidFill>
                </a:rPr>
                <a:t>Inventec</a:t>
              </a:r>
              <a:r>
                <a:rPr lang="en-US" sz="700" dirty="0" smtClean="0">
                  <a:solidFill>
                    <a:schemeClr val="tx1"/>
                  </a:solidFill>
                </a:rPr>
                <a:t>-Toshiba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895600" y="4615934"/>
              <a:ext cx="2057400" cy="1403866"/>
            </a:xfrm>
            <a:prstGeom prst="rect">
              <a:avLst/>
            </a:prstGeom>
            <a:solidFill>
              <a:schemeClr val="tx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 smtClean="0">
                  <a:solidFill>
                    <a:schemeClr val="tx1"/>
                  </a:solidFill>
                </a:rPr>
                <a:t>Pegatron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712794" y="2919427"/>
            <a:ext cx="31264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The lowest peak is 230 </a:t>
            </a:r>
            <a:r>
              <a:rPr lang="en-US" sz="1600" dirty="0" err="1" smtClean="0"/>
              <a:t>deg</a:t>
            </a:r>
            <a:r>
              <a:rPr lang="en-US" sz="1600" dirty="0" smtClean="0"/>
              <a:t> C and the maximum is 255 </a:t>
            </a:r>
            <a:r>
              <a:rPr lang="en-US" sz="1600" dirty="0" err="1" smtClean="0"/>
              <a:t>deg</a:t>
            </a:r>
            <a:r>
              <a:rPr lang="en-US" sz="1600" dirty="0" smtClean="0"/>
              <a:t> C.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The minimum TAL is 40 sec and maximum is 90 sec.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Majority is following soak time 60-120sec and </a:t>
            </a:r>
            <a:r>
              <a:rPr lang="en-US" sz="1600" dirty="0" err="1" smtClean="0"/>
              <a:t>Inventec</a:t>
            </a:r>
            <a:r>
              <a:rPr lang="en-US" sz="1600" dirty="0" smtClean="0"/>
              <a:t> is following 60-90sec.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2420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5A50D7C-5A2C-4AA5-8EDB-8946741BE771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23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Rework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37925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16487"/>
              </p:ext>
            </p:extLst>
          </p:nvPr>
        </p:nvGraphicFramePr>
        <p:xfrm>
          <a:off x="457200" y="990600"/>
          <a:ext cx="7086600" cy="2949706"/>
        </p:xfrm>
        <a:graphic>
          <a:graphicData uri="http://schemas.openxmlformats.org/drawingml/2006/table">
            <a:tbl>
              <a:tblPr/>
              <a:tblGrid>
                <a:gridCol w="702661"/>
                <a:gridCol w="1786646"/>
                <a:gridCol w="976871"/>
                <a:gridCol w="1885190"/>
                <a:gridCol w="1735232"/>
              </a:tblGrid>
              <a:tr h="45206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Q1: Rework Machine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MARTIN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MT7000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MARTIN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MT7000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MARTIN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MT7000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RD500III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RD500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RD500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22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22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RD-500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228600"/>
            <a:ext cx="35108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Rework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225498"/>
            <a:ext cx="8641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Different Brand and Model (Martin, DIC and Quick) of rework machine used at ODMs.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None of ODMs using SRT. </a:t>
            </a:r>
          </a:p>
        </p:txBody>
      </p:sp>
    </p:spTree>
    <p:extLst>
      <p:ext uri="{BB962C8B-B14F-4D97-AF65-F5344CB8AC3E}">
        <p14:creationId xmlns:p14="http://schemas.microsoft.com/office/powerpoint/2010/main" val="2679324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450806"/>
              </p:ext>
            </p:extLst>
          </p:nvPr>
        </p:nvGraphicFramePr>
        <p:xfrm>
          <a:off x="304800" y="838200"/>
          <a:ext cx="8382001" cy="2743200"/>
        </p:xfrm>
        <a:graphic>
          <a:graphicData uri="http://schemas.openxmlformats.org/drawingml/2006/table">
            <a:tbl>
              <a:tblPr/>
              <a:tblGrid>
                <a:gridCol w="563842"/>
                <a:gridCol w="1433673"/>
                <a:gridCol w="783879"/>
                <a:gridCol w="1598700"/>
                <a:gridCol w="1664023"/>
                <a:gridCol w="2337884"/>
              </a:tblGrid>
              <a:tr h="45206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you use solder paste or flux for rework? What brand and model used?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 or Flux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Flux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paste: SENJU  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Flux: Shenmao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paste:M705-S101ZH-S4 /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Flux: SMF-2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06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Flux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SMF-2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22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Flux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AMTECH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NC559ASM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22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Flux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AMTECH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NC560ASM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Paste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FORMAOSA  PF606-P 20-38   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Flux:ROL1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152400"/>
            <a:ext cx="6930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Solder Paste and Flux for Rework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28599" y="3886200"/>
            <a:ext cx="8641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4/8 using solder paste during rework and 4/8 using flux.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Same type of solder paste in SMT been used for rework (</a:t>
            </a:r>
            <a:r>
              <a:rPr lang="en-US" sz="1600" dirty="0" err="1" smtClean="0"/>
              <a:t>Shenmao</a:t>
            </a:r>
            <a:r>
              <a:rPr lang="en-US" sz="1600" dirty="0" smtClean="0"/>
              <a:t> PF606-P). </a:t>
            </a:r>
          </a:p>
        </p:txBody>
      </p:sp>
    </p:spTree>
    <p:extLst>
      <p:ext uri="{BB962C8B-B14F-4D97-AF65-F5344CB8AC3E}">
        <p14:creationId xmlns:p14="http://schemas.microsoft.com/office/powerpoint/2010/main" val="1489836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266761"/>
              </p:ext>
            </p:extLst>
          </p:nvPr>
        </p:nvGraphicFramePr>
        <p:xfrm>
          <a:off x="304799" y="853440"/>
          <a:ext cx="8153401" cy="2346960"/>
        </p:xfrm>
        <a:graphic>
          <a:graphicData uri="http://schemas.openxmlformats.org/drawingml/2006/table">
            <a:tbl>
              <a:tblPr/>
              <a:tblGrid>
                <a:gridCol w="771141"/>
                <a:gridCol w="1960767"/>
                <a:gridCol w="1072072"/>
                <a:gridCol w="2952904"/>
                <a:gridCol w="1396517"/>
              </a:tblGrid>
              <a:tr h="23343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Component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placement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placement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is manual or by machine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Rework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Yield?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7781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Hand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&gt;85%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1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Hand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&gt;85%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1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Hand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&gt;85%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62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&gt;95%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81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Auto/Hand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7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Auto/Hand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≤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7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Auto/Hand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≤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62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Hand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99.85%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152400"/>
            <a:ext cx="83808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Component Placement and Rework Yield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09549" y="3505200"/>
            <a:ext cx="8641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4/8 customers are using manual component placement.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Expected at least &gt;85% yield.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err="1" smtClean="0"/>
              <a:t>Pegatron’s</a:t>
            </a:r>
            <a:r>
              <a:rPr lang="en-US" sz="1600" dirty="0" smtClean="0"/>
              <a:t> reply manual placement and yield is 99.85%. </a:t>
            </a:r>
          </a:p>
        </p:txBody>
      </p:sp>
    </p:spTree>
    <p:extLst>
      <p:ext uri="{BB962C8B-B14F-4D97-AF65-F5344CB8AC3E}">
        <p14:creationId xmlns:p14="http://schemas.microsoft.com/office/powerpoint/2010/main" val="3506317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5A50D7C-5A2C-4AA5-8EDB-8946741BE771}" type="datetime1">
              <a:rPr lang="en-US" sz="800" smtClean="0">
                <a:solidFill>
                  <a:srgbClr val="FFFFFF"/>
                </a:solidFill>
              </a:rPr>
              <a:pPr/>
              <a:t>11/18/2011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27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Glue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 CME – Customer Manufacturing Enabling / Intel Confidential / Collected Under NDA                                     Mobile 2013 Platform Customer Feedback Package (CFP) Summary</a:t>
            </a:r>
          </a:p>
        </p:txBody>
      </p:sp>
    </p:spTree>
    <p:extLst>
      <p:ext uri="{BB962C8B-B14F-4D97-AF65-F5344CB8AC3E}">
        <p14:creationId xmlns:p14="http://schemas.microsoft.com/office/powerpoint/2010/main" val="104683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56894"/>
              </p:ext>
            </p:extLst>
          </p:nvPr>
        </p:nvGraphicFramePr>
        <p:xfrm>
          <a:off x="304800" y="914400"/>
          <a:ext cx="8001000" cy="2377440"/>
        </p:xfrm>
        <a:graphic>
          <a:graphicData uri="http://schemas.openxmlformats.org/drawingml/2006/table">
            <a:tbl>
              <a:tblPr/>
              <a:tblGrid>
                <a:gridCol w="620735"/>
                <a:gridCol w="2006565"/>
                <a:gridCol w="1024935"/>
                <a:gridCol w="2280846"/>
                <a:gridCol w="2067919"/>
              </a:tblGrid>
              <a:tr h="25320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Adhesive/Glue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application processes. (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Underfill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/ Corner Glue / Other)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Q2: Reworkable / Non-reworkable adhesive material selection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Corner Glue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Corner Glue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Corner Glue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dots on corner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8862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Corner Glue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 shaped corner glue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 shaped corner glue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152400"/>
            <a:ext cx="6444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Corner Glue / </a:t>
            </a:r>
            <a:r>
              <a:rPr lang="en-US" sz="2800" b="1" dirty="0" err="1" smtClean="0"/>
              <a:t>Underfill</a:t>
            </a:r>
            <a:r>
              <a:rPr lang="en-US" sz="2800" b="1" dirty="0" smtClean="0"/>
              <a:t> / Other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09549" y="3505200"/>
            <a:ext cx="8641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All customers have corner glue process and capability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err="1" smtClean="0"/>
              <a:t>Wistron</a:t>
            </a:r>
            <a:r>
              <a:rPr lang="en-US" sz="1600" dirty="0" smtClean="0"/>
              <a:t> is practicing dot shape corner glue and </a:t>
            </a:r>
            <a:r>
              <a:rPr lang="en-US" sz="1600" dirty="0" err="1" smtClean="0"/>
              <a:t>Inventec</a:t>
            </a:r>
            <a:r>
              <a:rPr lang="en-US" sz="1600" dirty="0" smtClean="0"/>
              <a:t> is practicing L-Shape. Others customers didn’t disclose details.  </a:t>
            </a:r>
          </a:p>
        </p:txBody>
      </p:sp>
    </p:spTree>
    <p:extLst>
      <p:ext uri="{BB962C8B-B14F-4D97-AF65-F5344CB8AC3E}">
        <p14:creationId xmlns:p14="http://schemas.microsoft.com/office/powerpoint/2010/main" val="13261014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22175"/>
              </p:ext>
            </p:extLst>
          </p:nvPr>
        </p:nvGraphicFramePr>
        <p:xfrm>
          <a:off x="381000" y="990600"/>
          <a:ext cx="8229600" cy="2560320"/>
        </p:xfrm>
        <a:graphic>
          <a:graphicData uri="http://schemas.openxmlformats.org/drawingml/2006/table">
            <a:tbl>
              <a:tblPr/>
              <a:tblGrid>
                <a:gridCol w="631632"/>
                <a:gridCol w="2041793"/>
                <a:gridCol w="1042930"/>
                <a:gridCol w="1204512"/>
                <a:gridCol w="1178806"/>
                <a:gridCol w="2129927"/>
              </a:tblGrid>
              <a:tr h="25320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Adhesive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Material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Cure Type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Eict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UV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 3705/Eict UV-3200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Eict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UV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 3705/Eict UV-3200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Loctite/Eict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UV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 3705/Eict UV-3200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ADE480D-1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62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Loctite/Eict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L3619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LOCTITE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L3620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DYMAX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3069-GEL-ASUS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000" y="228600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Adhesive Material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39" y="4191000"/>
            <a:ext cx="8641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Loctite 3705 UV cure is widely used.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Other brand like Panasonic (ADE480D-1), DYMAX, Loctite 3619 and Loctite 3620 are also common adhesive material. </a:t>
            </a:r>
          </a:p>
        </p:txBody>
      </p:sp>
    </p:spTree>
    <p:extLst>
      <p:ext uri="{BB962C8B-B14F-4D97-AF65-F5344CB8AC3E}">
        <p14:creationId xmlns:p14="http://schemas.microsoft.com/office/powerpoint/2010/main" val="1391817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16ED70-AFBC-4EB4-83B4-42690BB6E69F}" type="datetime1">
              <a:rPr lang="en-US" smtClean="0"/>
              <a:pPr>
                <a:defRPr/>
              </a:pPr>
              <a:t>11/18/2011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	CME – Customer Manufacturing Enabling / Intel Confidential / Collected Under NDA                                    	Mobile 2013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169323"/>
              </p:ext>
            </p:extLst>
          </p:nvPr>
        </p:nvGraphicFramePr>
        <p:xfrm>
          <a:off x="381000" y="1249680"/>
          <a:ext cx="8001000" cy="3200400"/>
        </p:xfrm>
        <a:graphic>
          <a:graphicData uri="http://schemas.openxmlformats.org/drawingml/2006/table">
            <a:tbl>
              <a:tblPr/>
              <a:tblGrid>
                <a:gridCol w="670321"/>
                <a:gridCol w="1463279"/>
                <a:gridCol w="1810387"/>
                <a:gridCol w="2057736"/>
                <a:gridCol w="1999277"/>
              </a:tblGrid>
              <a:tr h="25320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Segment (Mobile/UMG(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PoP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)/Mobile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Equipment/Dispenser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Manufacturer 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and 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Dell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EM-5701N Dispenser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EM-5701N Dispenser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Toshiba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EM-5701N Dispenser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EM-5701N Dispenser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HTD/Camalot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62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億力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QUICK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ST-982 (Manual</a:t>
                      </a:r>
                      <a:r>
                        <a:rPr lang="en-US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Dispenser)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QUICK 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ST-982 (Manual Dispenser)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40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Mobile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Pegatron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MUSASHI SHOTMASTOR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04800" y="76200"/>
            <a:ext cx="807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Equipment/Dispenser Manufacturer </a:t>
            </a:r>
            <a:br>
              <a:rPr lang="en-US" sz="2800" b="1" dirty="0"/>
            </a:br>
            <a:r>
              <a:rPr lang="en-US" sz="2800" b="1" dirty="0"/>
              <a:t>and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39" y="4800600"/>
            <a:ext cx="8641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Different brand of equipment/dispenser been used. Only </a:t>
            </a:r>
            <a:r>
              <a:rPr lang="en-US" sz="1600" dirty="0" err="1" smtClean="0"/>
              <a:t>Inventec</a:t>
            </a:r>
            <a:r>
              <a:rPr lang="en-US" sz="1600" dirty="0" smtClean="0"/>
              <a:t> reply it is manual dispenser. There is no details sharing by others.  </a:t>
            </a:r>
          </a:p>
        </p:txBody>
      </p:sp>
    </p:spTree>
    <p:extLst>
      <p:ext uri="{BB962C8B-B14F-4D97-AF65-F5344CB8AC3E}">
        <p14:creationId xmlns:p14="http://schemas.microsoft.com/office/powerpoint/2010/main" val="2089536454"/>
      </p:ext>
    </p:extLst>
  </p:cSld>
  <p:clrMapOvr>
    <a:masterClrMapping/>
  </p:clrMapOvr>
</p:sld>
</file>

<file path=ppt/theme/theme1.xml><?xml version="1.0" encoding="utf-8"?>
<a:theme xmlns:a="http://schemas.openxmlformats.org/drawingml/2006/main" name="intel_template_1_111605_WHITE">
  <a:themeElements>
    <a:clrScheme name="intel_template_1_111605_WHITE 2">
      <a:dk1>
        <a:srgbClr val="0860A8"/>
      </a:dk1>
      <a:lt1>
        <a:srgbClr val="FFFFFF"/>
      </a:lt1>
      <a:dk2>
        <a:srgbClr val="F5E647"/>
      </a:dk2>
      <a:lt2>
        <a:srgbClr val="FF5C47"/>
      </a:lt2>
      <a:accent1>
        <a:srgbClr val="A6CAE1"/>
      </a:accent1>
      <a:accent2>
        <a:srgbClr val="567EB9"/>
      </a:accent2>
      <a:accent3>
        <a:srgbClr val="FFFFFF"/>
      </a:accent3>
      <a:accent4>
        <a:srgbClr val="06518F"/>
      </a:accent4>
      <a:accent5>
        <a:srgbClr val="D0E1EE"/>
      </a:accent5>
      <a:accent6>
        <a:srgbClr val="4D72A7"/>
      </a:accent6>
      <a:hlink>
        <a:srgbClr val="0C2E86"/>
      </a:hlink>
      <a:folHlink>
        <a:srgbClr val="AA014C"/>
      </a:folHlink>
    </a:clrScheme>
    <a:fontScheme name="intel_template_1_111605_WHI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intel_template_1_111605_WHIT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_template_1_111605_WHIT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77D7AF3D-B9D1-4CB9-BF54-4421CADF3580}"/>
</file>

<file path=customXml/itemProps2.xml><?xml version="1.0" encoding="utf-8"?>
<ds:datastoreItem xmlns:ds="http://schemas.openxmlformats.org/officeDocument/2006/customXml" ds:itemID="{B8903FB4-A338-4BD8-9947-92C9E1643411}"/>
</file>

<file path=customXml/itemProps3.xml><?xml version="1.0" encoding="utf-8"?>
<ds:datastoreItem xmlns:ds="http://schemas.openxmlformats.org/officeDocument/2006/customXml" ds:itemID="{4034A283-3FD3-4E7C-B405-8F898C3FAED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Words>2689</Words>
  <Application>Microsoft Office PowerPoint</Application>
  <PresentationFormat>On-screen Show (4:3)</PresentationFormat>
  <Paragraphs>1379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intel_template_1_111605_WHITE</vt:lpstr>
      <vt:lpstr>Mobile Customers Feedback Summary Report  from 2011/2012 Industry Data Collection (WW46 2011)</vt:lpstr>
      <vt:lpstr>Objectives</vt:lpstr>
      <vt:lpstr>Summary of Survey</vt:lpstr>
      <vt:lpstr>Summary of Survey</vt:lpstr>
      <vt:lpstr>Contents</vt:lpstr>
      <vt:lpstr>PCB Technology</vt:lpstr>
      <vt:lpstr>PowerPoint Presentation</vt:lpstr>
      <vt:lpstr>PowerPoint Presentation</vt:lpstr>
      <vt:lpstr>PowerPoint Presentation</vt:lpstr>
      <vt:lpstr>PowerPoint Presentation</vt:lpstr>
      <vt:lpstr>Screen Printing</vt:lpstr>
      <vt:lpstr>PowerPoint Presentation</vt:lpstr>
      <vt:lpstr>PowerPoint Presentation</vt:lpstr>
      <vt:lpstr>PowerPoint Presentation</vt:lpstr>
      <vt:lpstr>PowerPoint Presentation</vt:lpstr>
      <vt:lpstr>Placement</vt:lpstr>
      <vt:lpstr>PowerPoint Presentation</vt:lpstr>
      <vt:lpstr>Reflow</vt:lpstr>
      <vt:lpstr>PowerPoint Presentation</vt:lpstr>
      <vt:lpstr>PowerPoint Presentation</vt:lpstr>
      <vt:lpstr>PowerPoint Presentation</vt:lpstr>
      <vt:lpstr>PowerPoint Presentation</vt:lpstr>
      <vt:lpstr>Rework</vt:lpstr>
      <vt:lpstr>PowerPoint Presentation</vt:lpstr>
      <vt:lpstr>PowerPoint Presentation</vt:lpstr>
      <vt:lpstr>PowerPoint Presentation</vt:lpstr>
      <vt:lpstr>Glue</vt:lpstr>
      <vt:lpstr>PowerPoint Presentation</vt:lpstr>
      <vt:lpstr>PowerPoint Presentation</vt:lpstr>
      <vt:lpstr>PowerPoint Presentation</vt:lpstr>
    </vt:vector>
  </TitlesOfParts>
  <Company>Intel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smoy</dc:creator>
  <cp:lastModifiedBy>smoy</cp:lastModifiedBy>
  <cp:revision>46</cp:revision>
  <dcterms:created xsi:type="dcterms:W3CDTF">2011-10-18T02:30:40Z</dcterms:created>
  <dcterms:modified xsi:type="dcterms:W3CDTF">2011-11-18T03:27:21Z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