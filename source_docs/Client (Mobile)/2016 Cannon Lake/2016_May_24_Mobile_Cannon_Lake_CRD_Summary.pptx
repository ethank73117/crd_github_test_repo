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9" r:id="rId2"/>
    <p:sldId id="261" r:id="rId3"/>
    <p:sldId id="269" r:id="rId4"/>
    <p:sldId id="270" r:id="rId5"/>
    <p:sldId id="295" r:id="rId6"/>
    <p:sldId id="296" r:id="rId7"/>
    <p:sldId id="297" r:id="rId8"/>
    <p:sldId id="298" r:id="rId9"/>
    <p:sldId id="299" r:id="rId10"/>
    <p:sldId id="293" r:id="rId11"/>
    <p:sldId id="300" r:id="rId12"/>
    <p:sldId id="301" r:id="rId13"/>
    <p:sldId id="274" r:id="rId14"/>
    <p:sldId id="275" r:id="rId15"/>
    <p:sldId id="302" r:id="rId16"/>
    <p:sldId id="277" r:id="rId17"/>
    <p:sldId id="30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1" autoAdjust="0"/>
    <p:restoredTop sz="94660"/>
  </p:normalViewPr>
  <p:slideViewPr>
    <p:cSldViewPr>
      <p:cViewPr varScale="1">
        <p:scale>
          <a:sx n="113" d="100"/>
          <a:sy n="113" d="100"/>
        </p:scale>
        <p:origin x="14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07185-9FD8-40D7-866C-EA52F4AE1B2F}" type="datetimeFigureOut">
              <a:rPr lang="en-US" smtClean="0"/>
              <a:t>6/1/2016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5B860-0185-49D0-AE43-85F1D2C2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8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7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538163"/>
            <a:ext cx="1298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90550" y="4005263"/>
            <a:ext cx="2368550" cy="2424112"/>
          </a:xfrm>
          <a:prstGeom prst="octagon">
            <a:avLst>
              <a:gd name="adj" fmla="val 29287"/>
            </a:avLst>
          </a:prstGeom>
          <a:solidFill>
            <a:srgbClr val="FF0000">
              <a:alpha val="89803"/>
            </a:srgbClr>
          </a:solidFill>
          <a:ln w="254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/>
            <a:endParaRPr lang="en-US" sz="14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STOP</a:t>
            </a:r>
          </a:p>
          <a:p>
            <a:pPr eaLnBrk="1" hangingPunct="1"/>
            <a:endParaRPr lang="en-US" sz="12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Customer Information </a:t>
            </a:r>
          </a:p>
          <a:p>
            <a:pPr eaLnBrk="1" hangingPunct="1"/>
            <a:r>
              <a:rPr lang="en-US" sz="1200" u="sng" dirty="0">
                <a:solidFill>
                  <a:schemeClr val="bg1"/>
                </a:solidFill>
                <a:latin typeface="Arial" charset="0"/>
              </a:rPr>
              <a:t>Under </a:t>
            </a:r>
            <a:r>
              <a:rPr lang="en-US" sz="1200" b="1" u="sng" dirty="0">
                <a:solidFill>
                  <a:schemeClr val="bg1"/>
                </a:solidFill>
                <a:latin typeface="Arial" charset="0"/>
              </a:rPr>
              <a:t>NDA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Intel Internal Use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Only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4791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55D9A-6D29-4D50-86F0-F4CC0ABF6DBC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90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B6771-761A-4868-9897-D385611F56FD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6763-BC50-44E5-9DBE-C7A656843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C44E5-98D4-40D3-AB6C-F311509DDB6F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E6DCE-B720-403C-87F1-09E529B41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43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05A29-211D-4F9D-8907-940E34D9B9ED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AD820-A819-425B-8E97-67125C85A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C14D2-064D-4138-AD2B-B67FF0F7A6A1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A5A58-08C7-4F99-AFE2-9F0A58578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5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9D7B2-60A3-4196-8D9D-1D56C57857BC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AF4E6-0A42-41FC-9642-27C1443E85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09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0B1C0-6FD2-4E4C-A81E-8DB559E815F3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DF728-A66D-44A5-A1CE-54676FF5B5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9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25597-6124-4EBC-881A-3309B4FE72E0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63C3-19C0-4F2C-B682-45D0A79B4F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74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2CB96-30D1-476F-A434-DDFBF1F7FC64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BC3B9-46E7-4CB0-A2B0-71B9EAC77D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9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BF505-F994-430B-94D1-F16AEBFA583A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9BD9-62AA-4464-862A-BA385D06D0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43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988" y="6357938"/>
            <a:ext cx="752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649DA84E-7B68-4ADA-9629-27ADCEECE955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8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0025F06-8835-4059-B522-FA96843AA8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8" descr="Intel_whit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" y="6357938"/>
            <a:ext cx="576103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3200" y="1763713"/>
            <a:ext cx="6172200" cy="197008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CNL Customers CRD Summary Report</a:t>
            </a:r>
            <a:br>
              <a:rPr lang="en-US" sz="3200" dirty="0" smtClean="0"/>
            </a:br>
            <a:r>
              <a:rPr lang="en-US" sz="3200" dirty="0" smtClean="0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0" y="4478338"/>
            <a:ext cx="5829300" cy="984250"/>
          </a:xfrm>
        </p:spPr>
        <p:txBody>
          <a:bodyPr wrap="square"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Prepared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SA </a:t>
            </a:r>
            <a:r>
              <a:rPr lang="en-US" sz="1600" dirty="0" smtClean="0"/>
              <a:t>Moy, Kevin Fong and </a:t>
            </a:r>
            <a:r>
              <a:rPr lang="en-US" sz="1600" dirty="0" err="1" smtClean="0"/>
              <a:t>Erjin</a:t>
            </a:r>
            <a:r>
              <a:rPr lang="en-US" sz="1600" dirty="0" smtClean="0"/>
              <a:t> Ren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87854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FC3799B-C3A7-4AD7-B835-49C51ED163C0}" type="datetime1">
              <a:rPr lang="en-US" sz="800" smtClean="0">
                <a:solidFill>
                  <a:srgbClr val="FFFFFF"/>
                </a:solidFill>
              </a:rPr>
              <a:t>6/1/2016</a:t>
            </a:fld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2D8B441-F742-4634-AB10-E80DE781C58B}" type="slidenum">
              <a:rPr lang="en-US" sz="800" smtClean="0">
                <a:solidFill>
                  <a:schemeClr val="bg1"/>
                </a:solidFill>
              </a:rPr>
              <a:pPr/>
              <a:t>2</a:t>
            </a:fld>
            <a:endParaRPr lang="en-US" sz="800" dirty="0" smtClean="0">
              <a:solidFill>
                <a:schemeClr val="bg1"/>
              </a:solidFill>
            </a:endParaRPr>
          </a:p>
        </p:txBody>
      </p:sp>
      <p:sp>
        <p:nvSpPr>
          <p:cNvPr id="4100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2016 CRD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4774"/>
            <a:ext cx="8237538" cy="612775"/>
          </a:xfrm>
        </p:spPr>
        <p:txBody>
          <a:bodyPr/>
          <a:lstStyle/>
          <a:p>
            <a:pPr eaLnBrk="1" hangingPunct="1"/>
            <a:r>
              <a:rPr lang="en-US" dirty="0" smtClean="0"/>
              <a:t>Objectives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816" y="717549"/>
            <a:ext cx="8669383" cy="504983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Share Findings from CMEE Mobile Industry Data Collection (Cannon Lake Platform Survey based on </a:t>
            </a:r>
            <a:r>
              <a:rPr lang="en-US" sz="2000" b="1" dirty="0" err="1" smtClean="0">
                <a:solidFill>
                  <a:srgbClr val="000000"/>
                </a:solidFill>
              </a:rPr>
              <a:t>Skylake</a:t>
            </a:r>
            <a:r>
              <a:rPr lang="en-US" sz="2000" b="1" dirty="0" smtClean="0">
                <a:solidFill>
                  <a:srgbClr val="000000"/>
                </a:solidFill>
              </a:rPr>
              <a:t> process) 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Summarize data collected from the Mobile Customers manufacturers: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Compal</a:t>
            </a:r>
            <a:r>
              <a:rPr lang="en-US" dirty="0" smtClean="0">
                <a:solidFill>
                  <a:srgbClr val="000000"/>
                </a:solidFill>
              </a:rPr>
              <a:t> Plant 4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Compal</a:t>
            </a:r>
            <a:r>
              <a:rPr lang="en-US" dirty="0" smtClean="0">
                <a:solidFill>
                  <a:srgbClr val="000000"/>
                </a:solidFill>
              </a:rPr>
              <a:t> Plant 2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Compal</a:t>
            </a:r>
            <a:r>
              <a:rPr lang="en-US" dirty="0" smtClean="0">
                <a:solidFill>
                  <a:srgbClr val="000000"/>
                </a:solidFill>
              </a:rPr>
              <a:t> Plant 3 (-Y, -U, -H)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Inventec</a:t>
            </a:r>
            <a:r>
              <a:rPr lang="en-US" dirty="0" smtClean="0">
                <a:solidFill>
                  <a:srgbClr val="000000"/>
                </a:solidFill>
              </a:rPr>
              <a:t> CQ (- Y and –U)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MSFT/JDM1 (-Y, –U and -H)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Pegatron</a:t>
            </a:r>
            <a:endParaRPr lang="en-US" dirty="0" smtClean="0">
              <a:solidFill>
                <a:srgbClr val="000000"/>
              </a:solidFill>
            </a:endParaRP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Wistron</a:t>
            </a:r>
            <a:r>
              <a:rPr lang="en-US" dirty="0" smtClean="0">
                <a:solidFill>
                  <a:srgbClr val="000000"/>
                </a:solidFill>
              </a:rPr>
              <a:t> KS 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Quanta SH and CQ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CTE</a:t>
            </a:r>
          </a:p>
          <a:p>
            <a:pPr lvl="5">
              <a:spcBef>
                <a:spcPct val="40000"/>
              </a:spcBef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000000"/>
                </a:solidFill>
              </a:rPr>
              <a:t>IP3</a:t>
            </a:r>
          </a:p>
          <a:p>
            <a:pPr lvl="5">
              <a:spcBef>
                <a:spcPct val="40000"/>
              </a:spcBef>
              <a:buFont typeface="Courier New" panose="02070309020205020404" pitchFamily="49" charset="0"/>
              <a:buChar char="o"/>
            </a:pPr>
            <a:r>
              <a:rPr lang="en-US" dirty="0" err="1" smtClean="0">
                <a:solidFill>
                  <a:srgbClr val="000000"/>
                </a:solidFill>
              </a:rPr>
              <a:t>Emdoor</a:t>
            </a:r>
            <a:endParaRPr lang="en-US" dirty="0" smtClean="0">
              <a:solidFill>
                <a:srgbClr val="000000"/>
              </a:solidFill>
            </a:endParaRPr>
          </a:p>
          <a:p>
            <a:pPr lvl="5">
              <a:spcBef>
                <a:spcPct val="40000"/>
              </a:spcBef>
              <a:buFont typeface="Courier New" panose="02070309020205020404" pitchFamily="49" charset="0"/>
              <a:buChar char="o"/>
            </a:pPr>
            <a:r>
              <a:rPr lang="en-US" dirty="0" err="1" smtClean="0">
                <a:solidFill>
                  <a:srgbClr val="000000"/>
                </a:solidFill>
              </a:rPr>
              <a:t>Weibu</a:t>
            </a:r>
            <a:endParaRPr lang="en-US" dirty="0" smtClean="0">
              <a:solidFill>
                <a:srgbClr val="000000"/>
              </a:solidFill>
            </a:endParaRPr>
          </a:p>
          <a:p>
            <a:pPr marL="247650" lvl="2" indent="0" eaLnBrk="1" hangingPunct="1">
              <a:spcBef>
                <a:spcPct val="40000"/>
              </a:spcBef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30F90219-B887-4A1C-989C-09BBBE709AC0}" type="datetime1">
              <a:rPr lang="en-US" sz="800" smtClean="0">
                <a:solidFill>
                  <a:srgbClr val="FFFFFF"/>
                </a:solidFill>
              </a:rPr>
              <a:t>6/1/2016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/>
              <a:t>SOLDER PASTE PRINT</a:t>
            </a:r>
            <a:endParaRPr lang="en-US" dirty="0" smtClean="0"/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2016 CRD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24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1028-66B5-49AE-B47F-975F676A8A28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" y="76200"/>
            <a:ext cx="67136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Solder Paste Formulation ( Brand and </a:t>
            </a:r>
            <a:r>
              <a:rPr lang="en-US" sz="2000" b="1" dirty="0" smtClean="0"/>
              <a:t>Model)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082974"/>
              </p:ext>
            </p:extLst>
          </p:nvPr>
        </p:nvGraphicFramePr>
        <p:xfrm>
          <a:off x="152400" y="533400"/>
          <a:ext cx="8763000" cy="306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2190750"/>
                <a:gridCol w="2190750"/>
                <a:gridCol w="21907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rgbClr val="002060"/>
                          </a:solidFill>
                          <a:latin typeface="+mn-lt"/>
                        </a:rPr>
                        <a:t>Shenmao</a:t>
                      </a:r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(PF606-P)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rgbClr val="002060"/>
                          </a:solidFill>
                          <a:latin typeface="+mn-lt"/>
                        </a:rPr>
                        <a:t>Senju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Yunnan Tin (</a:t>
                      </a:r>
                      <a:r>
                        <a:rPr lang="en-US" sz="1000" u="none" strike="noStrike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YW9-3005-98CY04 )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Others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4 </a:t>
                      </a:r>
                      <a:r>
                        <a:rPr lang="en-US" sz="500" dirty="0" smtClean="0">
                          <a:latin typeface="+mn-lt"/>
                        </a:rPr>
                        <a:t>(Asus &amp; Lenovo)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4</a:t>
                      </a:r>
                      <a:r>
                        <a:rPr lang="en-US" sz="1000" baseline="0" dirty="0" smtClean="0">
                          <a:latin typeface="+mn-lt"/>
                        </a:rPr>
                        <a:t> (</a:t>
                      </a:r>
                      <a:r>
                        <a:rPr lang="en-US" sz="1000" u="none" strike="noStrike" dirty="0" err="1" smtClean="0">
                          <a:effectLst/>
                          <a:latin typeface="+mn-lt"/>
                        </a:rPr>
                        <a:t>Senju</a:t>
                      </a:r>
                      <a:r>
                        <a:rPr lang="en-US" sz="1000" u="none" strike="noStrike" dirty="0" smtClean="0">
                          <a:effectLst/>
                          <a:latin typeface="+mn-lt"/>
                        </a:rPr>
                        <a:t> M705-S101HF(NL3)-S4</a:t>
                      </a:r>
                      <a:endParaRPr lang="en-US" sz="1000" b="0" i="0" u="none" strike="noStrike" dirty="0" smtClean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2 </a:t>
                      </a:r>
                      <a:r>
                        <a:rPr lang="en-US" sz="500" dirty="0" smtClean="0">
                          <a:latin typeface="+mn-lt"/>
                        </a:rPr>
                        <a:t>(HP)</a:t>
                      </a:r>
                      <a:endParaRPr lang="en-US" sz="5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dirty="0" smtClean="0">
                          <a:latin typeface="+mn-lt"/>
                        </a:rPr>
                        <a:t> Suzhou:</a:t>
                      </a:r>
                      <a:r>
                        <a:rPr lang="en-US" sz="1000" baseline="0" dirty="0" smtClean="0">
                          <a:latin typeface="+mn-lt"/>
                        </a:rPr>
                        <a:t> YANKTAI (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亞太微</a:t>
                      </a:r>
                      <a:r>
                        <a:rPr lang="en-US" altLang="zh-CN" sz="1000" u="none" strike="noStrike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Inventec</a:t>
                      </a:r>
                      <a:r>
                        <a:rPr lang="en-US" sz="100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Pegatron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Suzhou Plant 6 (</a:t>
                      </a:r>
                      <a:r>
                        <a:rPr 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Senju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S101HF)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3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500" baseline="0" dirty="0" smtClean="0">
                          <a:latin typeface="+mn-lt"/>
                        </a:rPr>
                        <a:t>(Dell)</a:t>
                      </a:r>
                      <a:endParaRPr lang="en-US" sz="500" dirty="0" smtClean="0">
                        <a:latin typeface="+mn-lt"/>
                      </a:endParaRP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CTE – IP3:</a:t>
                      </a:r>
                      <a:r>
                        <a:rPr lang="en-US" sz="1000" u="none" strike="noStrike" baseline="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Vitual</a:t>
                      </a:r>
                      <a:r>
                        <a:rPr lang="en-US" sz="1000" u="none" strike="noStrike" baseline="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LF4000A-6 (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唯特偶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 (JDM1)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Wistron</a:t>
                      </a:r>
                      <a:r>
                        <a:rPr lang="en-US" sz="1000" dirty="0" smtClean="0">
                          <a:latin typeface="+mn-lt"/>
                        </a:rPr>
                        <a:t> (</a:t>
                      </a:r>
                      <a:r>
                        <a:rPr 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Senju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M705-S101ZH-S4(W2)</a:t>
                      </a: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CTE – </a:t>
                      </a:r>
                      <a:r>
                        <a:rPr lang="en-US" sz="1000" dirty="0" err="1" smtClean="0">
                          <a:latin typeface="+mn-lt"/>
                        </a:rPr>
                        <a:t>Emdoor</a:t>
                      </a:r>
                      <a:r>
                        <a:rPr lang="en-US" sz="1000" dirty="0" smtClean="0">
                          <a:latin typeface="+mn-lt"/>
                        </a:rPr>
                        <a:t>: </a:t>
                      </a:r>
                      <a:r>
                        <a:rPr lang="en-US" sz="1000" dirty="0" err="1" smtClean="0">
                          <a:latin typeface="+mn-lt"/>
                        </a:rPr>
                        <a:t>TongFang</a:t>
                      </a:r>
                      <a:r>
                        <a:rPr lang="en-US" sz="1000" dirty="0" smtClean="0">
                          <a:latin typeface="+mn-lt"/>
                        </a:rPr>
                        <a:t> 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TF238_M305_D_885 (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同方</a:t>
                      </a:r>
                      <a:r>
                        <a:rPr lang="en-US" altLang="zh-CN" sz="1000" u="none" strike="noStrike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CQ </a:t>
                      </a:r>
                      <a:r>
                        <a:rPr lang="en-US" sz="500" dirty="0" smtClean="0">
                          <a:latin typeface="+mn-lt"/>
                        </a:rPr>
                        <a:t>(Asus and Acer)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CTE – </a:t>
                      </a:r>
                      <a:r>
                        <a:rPr lang="en-US" sz="1000" dirty="0" err="1" smtClean="0">
                          <a:latin typeface="+mn-lt"/>
                        </a:rPr>
                        <a:t>Weibu</a:t>
                      </a:r>
                      <a:r>
                        <a:rPr lang="en-US" sz="1000" dirty="0" smtClean="0">
                          <a:latin typeface="+mn-lt"/>
                        </a:rPr>
                        <a:t>: N/A 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baseline="0" dirty="0" smtClean="0">
                          <a:latin typeface="+mn-lt"/>
                        </a:rPr>
                        <a:t>Suzhou 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dirty="0" smtClean="0">
                          <a:latin typeface="+mn-lt"/>
                        </a:rPr>
                        <a:t> Suzhou (Plant 6)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 and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76200" y="3810000"/>
            <a:ext cx="8915400" cy="1676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Shenmao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PF606-P is still preferred by many ODMs.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err="1" smtClean="0">
                <a:cs typeface="Arial" pitchFamily="34" charset="0"/>
              </a:rPr>
              <a:t>Compal</a:t>
            </a:r>
            <a:r>
              <a:rPr lang="en-US" sz="1600" dirty="0" smtClean="0">
                <a:cs typeface="Arial" pitchFamily="34" charset="0"/>
              </a:rPr>
              <a:t> is using Yunnan Tin across different plants.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Wistron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still prefers to use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Senju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lang="en-US" sz="1600" dirty="0"/>
              <a:t>M705-S101ZH-S4(W2</a:t>
            </a:r>
            <a:r>
              <a:rPr lang="en-US" sz="1600" dirty="0" smtClean="0"/>
              <a:t>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CTEs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are using local brand solder pastes.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baseline="0" dirty="0" smtClean="0">
                <a:cs typeface="Arial" pitchFamily="34" charset="0"/>
              </a:rPr>
              <a:t>MSFT</a:t>
            </a:r>
            <a:r>
              <a:rPr lang="en-US" sz="1600" dirty="0" smtClean="0">
                <a:cs typeface="Arial" pitchFamily="34" charset="0"/>
              </a:rPr>
              <a:t> (JDM1) mentioned that in progress of evaluating solder paste listed in MAS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cs typeface="Arial" pitchFamily="34" charset="0"/>
              </a:rPr>
              <a:t>i</a:t>
            </a:r>
            <a:r>
              <a:rPr lang="en-US" sz="1600" dirty="0" smtClean="0">
                <a:cs typeface="Arial" pitchFamily="34" charset="0"/>
              </a:rPr>
              <a:t>ncluded Indium</a:t>
            </a:r>
            <a:r>
              <a:rPr lang="en-US" sz="1600" dirty="0" smtClean="0">
                <a:cs typeface="Arial" pitchFamily="34" charset="0"/>
              </a:rPr>
              <a:t>.</a:t>
            </a:r>
            <a:r>
              <a:rPr lang="en-US" sz="1600" dirty="0" smtClean="0">
                <a:cs typeface="Arial" pitchFamily="34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11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7C5307-4D7E-4EAF-95D5-3B9F35D670D9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790" y="16933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Stencil Thickness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51881"/>
              </p:ext>
            </p:extLst>
          </p:nvPr>
        </p:nvGraphicFramePr>
        <p:xfrm>
          <a:off x="152400" y="457200"/>
          <a:ext cx="8610600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54400"/>
                <a:gridCol w="2870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3 mil (0.08mm</a:t>
                      </a:r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): SKL-Y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4 mil (0.10mm</a:t>
                      </a:r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): SKL-U22 &amp; -U23 &amp; -H &amp; -Y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5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mil (0.13mm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): SKL-H &amp; -U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4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3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Compal</a:t>
                      </a:r>
                      <a:r>
                        <a:rPr lang="en-US" sz="1000" dirty="0" smtClean="0">
                          <a:latin typeface="+mn-lt"/>
                        </a:rPr>
                        <a:t> Plant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Inventec</a:t>
                      </a:r>
                      <a:r>
                        <a:rPr lang="en-US" sz="100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Inventec</a:t>
                      </a:r>
                      <a:r>
                        <a:rPr lang="en-US" sz="1000" dirty="0" smtClean="0">
                          <a:latin typeface="+mn-lt"/>
                        </a:rPr>
                        <a:t> CQ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MSFT (JDM1)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MSFT</a:t>
                      </a:r>
                      <a:r>
                        <a:rPr lang="en-US" sz="1000" baseline="0" dirty="0" smtClean="0">
                          <a:latin typeface="+mn-lt"/>
                        </a:rPr>
                        <a:t> (JDM1)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dirty="0" smtClean="0">
                          <a:latin typeface="+mn-lt"/>
                        </a:rPr>
                        <a:t> CQ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Pegatron</a:t>
                      </a:r>
                      <a:r>
                        <a:rPr lang="en-US" sz="1000" dirty="0" smtClean="0">
                          <a:latin typeface="+mn-lt"/>
                        </a:rPr>
                        <a:t> Suzhou</a:t>
                      </a:r>
                      <a:r>
                        <a:rPr lang="en-US" sz="1000" baseline="0" dirty="0" smtClean="0">
                          <a:latin typeface="+mn-lt"/>
                        </a:rPr>
                        <a:t> Plant 6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CTE - </a:t>
                      </a:r>
                      <a:r>
                        <a:rPr lang="en-US" sz="1000" dirty="0" err="1" smtClean="0">
                          <a:latin typeface="+mn-lt"/>
                        </a:rPr>
                        <a:t>Weibu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Wistron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Quanta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Quanta SH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CTE – IP3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CTE - </a:t>
                      </a:r>
                      <a:r>
                        <a:rPr lang="en-US" sz="1000" dirty="0" err="1" smtClean="0">
                          <a:latin typeface="+mn-lt"/>
                        </a:rPr>
                        <a:t>Weibu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77790" y="3581215"/>
            <a:ext cx="8915400" cy="236238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cs typeface="Arial" pitchFamily="34" charset="0"/>
              </a:rPr>
              <a:t>Customers have 3 mil thick stencil capability included </a:t>
            </a:r>
            <a:r>
              <a:rPr lang="en-US" sz="1600" dirty="0" smtClean="0">
                <a:cs typeface="Arial" pitchFamily="34" charset="0"/>
              </a:rPr>
              <a:t>some of CTE </a:t>
            </a:r>
            <a:r>
              <a:rPr lang="en-US" sz="1600" dirty="0">
                <a:cs typeface="Arial" pitchFamily="34" charset="0"/>
              </a:rPr>
              <a:t>customers.  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 smtClean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Stencil thickness selection is based on package pitch and PCB pad size. 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cs typeface="Arial" pitchFamily="34" charset="0"/>
              </a:rPr>
              <a:t>This is related to stencil Area Ratio.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600" dirty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MSFT (JDM1) prefers to use 4mil thick stencil with </a:t>
            </a:r>
            <a:r>
              <a:rPr lang="en-US" sz="1600" dirty="0" err="1" smtClean="0">
                <a:cs typeface="Arial" pitchFamily="34" charset="0"/>
              </a:rPr>
              <a:t>nano</a:t>
            </a:r>
            <a:r>
              <a:rPr lang="en-US" sz="1600" dirty="0" smtClean="0">
                <a:cs typeface="Arial" pitchFamily="34" charset="0"/>
              </a:rPr>
              <a:t> coating for SKL-Y. 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cs typeface="Arial" pitchFamily="34" charset="0"/>
              </a:rPr>
              <a:t>This is to add more paste volume.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cs typeface="Arial" pitchFamily="34" charset="0"/>
              </a:rPr>
              <a:t>  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err="1" smtClean="0">
                <a:cs typeface="Arial" pitchFamily="34" charset="0"/>
              </a:rPr>
              <a:t>Compal</a:t>
            </a:r>
            <a:r>
              <a:rPr lang="en-US" sz="1600" dirty="0" smtClean="0">
                <a:cs typeface="Arial" pitchFamily="34" charset="0"/>
              </a:rPr>
              <a:t> and MSFT are using 5mil thick stencil for SKL-H package (0.65mm pitch).</a:t>
            </a:r>
          </a:p>
        </p:txBody>
      </p:sp>
    </p:spTree>
    <p:extLst>
      <p:ext uri="{BB962C8B-B14F-4D97-AF65-F5344CB8AC3E}">
        <p14:creationId xmlns:p14="http://schemas.microsoft.com/office/powerpoint/2010/main" val="21730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72EDFC-F230-4B85-BC53-AF7F1233E2A8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52400" y="152400"/>
            <a:ext cx="777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Min. Stencil Aperture Opening  per stencil thickness 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76200" y="609600"/>
            <a:ext cx="8915400" cy="31133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With 3mil thick stencil, minimum aperture opening is 9mil. 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err="1" smtClean="0">
                <a:cs typeface="Arial" pitchFamily="34" charset="0"/>
              </a:rPr>
              <a:t>Inventec</a:t>
            </a:r>
            <a:r>
              <a:rPr lang="en-US" sz="1600" dirty="0" smtClean="0">
                <a:cs typeface="Arial" pitchFamily="34" charset="0"/>
              </a:rPr>
              <a:t> changed to 0.245mm (9.65mil) to solve </a:t>
            </a:r>
            <a:r>
              <a:rPr lang="en-US" sz="1600" dirty="0" err="1" smtClean="0">
                <a:cs typeface="Arial" pitchFamily="34" charset="0"/>
              </a:rPr>
              <a:t>HoP</a:t>
            </a:r>
            <a:r>
              <a:rPr lang="en-US" sz="1600" dirty="0" smtClean="0">
                <a:cs typeface="Arial" pitchFamily="34" charset="0"/>
              </a:rPr>
              <a:t> issue on SKL-Y. 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Customers feedback that 9mil stencil opening is </a:t>
            </a:r>
            <a:r>
              <a:rPr lang="en-US" sz="1600" dirty="0" smtClean="0">
                <a:cs typeface="Arial" pitchFamily="34" charset="0"/>
              </a:rPr>
              <a:t>challenging for paste release.</a:t>
            </a:r>
            <a:endParaRPr lang="en-US" sz="1600" dirty="0" smtClean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b="1" u="sng" dirty="0" smtClean="0">
                <a:cs typeface="Arial" pitchFamily="34" charset="0"/>
              </a:rPr>
              <a:t>NOTE: </a:t>
            </a:r>
            <a:endParaRPr lang="en-US" sz="1600" b="1" u="sng" dirty="0" smtClean="0">
              <a:cs typeface="Arial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600" dirty="0" smtClean="0">
                <a:cs typeface="Arial" pitchFamily="34" charset="0"/>
              </a:rPr>
              <a:t>Possible stencil technology different between U.S.A vs PRC stencil vendors. 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600" dirty="0" smtClean="0">
                <a:cs typeface="Arial" pitchFamily="34" charset="0"/>
              </a:rPr>
              <a:t>Working </a:t>
            </a:r>
            <a:r>
              <a:rPr lang="en-US" sz="1600" dirty="0" smtClean="0">
                <a:cs typeface="Arial" pitchFamily="34" charset="0"/>
              </a:rPr>
              <a:t>with Quanta and </a:t>
            </a:r>
            <a:r>
              <a:rPr lang="en-US" sz="1600" dirty="0" err="1" smtClean="0">
                <a:cs typeface="Arial" pitchFamily="34" charset="0"/>
              </a:rPr>
              <a:t>Wistron</a:t>
            </a:r>
            <a:r>
              <a:rPr lang="en-US" sz="1600" dirty="0" smtClean="0">
                <a:cs typeface="Arial" pitchFamily="34" charset="0"/>
              </a:rPr>
              <a:t> on fine pitch stencil technology 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cs typeface="Arial" pitchFamily="34" charset="0"/>
              </a:rPr>
              <a:t>          collaboration</a:t>
            </a:r>
            <a:r>
              <a:rPr lang="en-US" sz="1600" dirty="0" smtClean="0">
                <a:cs typeface="Arial" pitchFamily="34" charset="0"/>
              </a:rPr>
              <a:t>.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533" y="3276600"/>
            <a:ext cx="4800600" cy="2685288"/>
          </a:xfrm>
          <a:prstGeom prst="rect">
            <a:avLst/>
          </a:prstGeom>
          <a:ln w="158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31234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C947FA-BB6F-47FC-8DC5-71BADE8E49B4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53643" y="3244334"/>
            <a:ext cx="1015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PNP</a:t>
            </a:r>
          </a:p>
        </p:txBody>
      </p:sp>
    </p:spTree>
    <p:extLst>
      <p:ext uri="{BB962C8B-B14F-4D97-AF65-F5344CB8AC3E}">
        <p14:creationId xmlns:p14="http://schemas.microsoft.com/office/powerpoint/2010/main" val="309910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4E1DCF-36CD-4C89-8560-F8219E39F2A0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76200"/>
            <a:ext cx="4815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Min Ball Size Recognition Capability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85604"/>
              </p:ext>
            </p:extLst>
          </p:nvPr>
        </p:nvGraphicFramePr>
        <p:xfrm>
          <a:off x="152400" y="609600"/>
          <a:ext cx="8610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3048000"/>
                <a:gridCol w="3200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0.18mm (7mil)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0.2mm (8mil)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0.254mm (10 mil)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Inventec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MSFT (JDM1)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Wistron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Emdoor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Weibu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 bwMode="auto">
          <a:xfrm>
            <a:off x="135467" y="3124200"/>
            <a:ext cx="8915400" cy="2209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cs typeface="Arial" pitchFamily="34" charset="0"/>
              </a:rPr>
              <a:t>The answer is based on current process and not machine capability</a:t>
            </a:r>
            <a:r>
              <a:rPr lang="en-US" sz="1600" dirty="0" smtClean="0">
                <a:cs typeface="Arial" pitchFamily="34" charset="0"/>
              </a:rPr>
              <a:t>.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 smtClean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Mix information received.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Current SKL-Y solder ball size is 9mil (0.23mm) but customer’s 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cs typeface="Arial" pitchFamily="34" charset="0"/>
              </a:rPr>
              <a:t>answer is 10mil (0.254mm).</a:t>
            </a:r>
          </a:p>
        </p:txBody>
      </p:sp>
    </p:spTree>
    <p:extLst>
      <p:ext uri="{BB962C8B-B14F-4D97-AF65-F5344CB8AC3E}">
        <p14:creationId xmlns:p14="http://schemas.microsoft.com/office/powerpoint/2010/main" val="191634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A8C071-3319-4A10-8C18-FEB67F6C1EBD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411" y="13570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Min Pitch Recognition </a:t>
            </a:r>
            <a:r>
              <a:rPr lang="en-US" b="1" dirty="0" smtClean="0"/>
              <a:t>Capability</a:t>
            </a:r>
            <a:endParaRPr lang="en-US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11210"/>
              </p:ext>
            </p:extLst>
          </p:nvPr>
        </p:nvGraphicFramePr>
        <p:xfrm>
          <a:off x="152400" y="609600"/>
          <a:ext cx="8610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3048000"/>
                <a:gridCol w="3200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0.30mm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0.35mm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0.40mm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MSFT (JDM1)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- </a:t>
                      </a:r>
                      <a:r>
                        <a:rPr lang="en-US" sz="1200" dirty="0" err="1" smtClean="0"/>
                        <a:t>Emdoor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Inventec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-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Weibu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Wistron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135467" y="3124200"/>
            <a:ext cx="8915400" cy="1447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cs typeface="Arial" pitchFamily="34" charset="0"/>
              </a:rPr>
              <a:t>The answer is based on current process and not machine capability</a:t>
            </a:r>
            <a:r>
              <a:rPr lang="en-US" sz="1600" dirty="0" smtClean="0">
                <a:cs typeface="Arial" pitchFamily="34" charset="0"/>
              </a:rPr>
              <a:t>.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600" dirty="0" smtClean="0"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Intel package smallest pitch is 0.40mm (SKL-Y), some customers have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dirty="0" smtClean="0">
                <a:cs typeface="Arial" pitchFamily="34" charset="0"/>
              </a:rPr>
              <a:t>experience with &lt;0.40mm pitch BGA. </a:t>
            </a:r>
          </a:p>
        </p:txBody>
      </p:sp>
    </p:spTree>
    <p:extLst>
      <p:ext uri="{BB962C8B-B14F-4D97-AF65-F5344CB8AC3E}">
        <p14:creationId xmlns:p14="http://schemas.microsoft.com/office/powerpoint/2010/main" val="184615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2A946610-8897-4139-B1D0-7D45B00677D7}" type="datetime1">
              <a:rPr lang="en-US" sz="800" smtClean="0">
                <a:solidFill>
                  <a:srgbClr val="FFFFFF"/>
                </a:solidFill>
              </a:rPr>
              <a:t>6/1/2016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10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/>
              <a:t>REFLOW</a:t>
            </a:r>
            <a:endParaRPr lang="en-US" dirty="0" smtClean="0"/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2016 CRD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48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016983-6F6C-470B-BDD9-8395467370F5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25400"/>
            <a:ext cx="1912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N2 Capability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339562"/>
              </p:ext>
            </p:extLst>
          </p:nvPr>
        </p:nvGraphicFramePr>
        <p:xfrm>
          <a:off x="152400" y="609600"/>
          <a:ext cx="83058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4724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Yes (O</a:t>
                      </a:r>
                      <a:r>
                        <a:rPr lang="en-US" sz="1200" baseline="-250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ppm)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No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4 (&lt;3000 ppm)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– IP3 (machine is capable</a:t>
                      </a:r>
                      <a:r>
                        <a:rPr lang="en-US" sz="1200" baseline="0" dirty="0" smtClean="0"/>
                        <a:t> but factory does not have N2 facility)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2 (&lt;1500 ppm)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CTE – </a:t>
                      </a:r>
                      <a:r>
                        <a:rPr lang="en-US" sz="1200" dirty="0" err="1" smtClean="0"/>
                        <a:t>Emdoor</a:t>
                      </a:r>
                      <a:r>
                        <a:rPr lang="en-US" sz="1200" dirty="0" smtClean="0"/>
                        <a:t> (machine is capable</a:t>
                      </a:r>
                      <a:r>
                        <a:rPr lang="en-US" sz="1200" baseline="0" dirty="0" smtClean="0"/>
                        <a:t> but factory does not have N2 facility)</a:t>
                      </a: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3 </a:t>
                      </a:r>
                      <a:r>
                        <a:rPr lang="en-US" sz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(&lt;40 000ppm)? </a:t>
                      </a:r>
                      <a:endParaRPr lang="en-US" sz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CTE – </a:t>
                      </a:r>
                      <a:r>
                        <a:rPr lang="en-US" sz="1200" dirty="0" err="1" smtClean="0"/>
                        <a:t>Weibu</a:t>
                      </a:r>
                      <a:r>
                        <a:rPr lang="en-US" sz="1200" dirty="0" smtClean="0"/>
                        <a:t> (machine is capable</a:t>
                      </a:r>
                      <a:r>
                        <a:rPr lang="en-US" sz="1200" baseline="0" dirty="0" smtClean="0"/>
                        <a:t> but factory does not have N2 facility)</a:t>
                      </a: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Inventec</a:t>
                      </a:r>
                      <a:r>
                        <a:rPr lang="en-US" sz="1200" dirty="0" smtClean="0"/>
                        <a:t> (&lt;1000 ppm)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MSFT (JDM1)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r>
                        <a:rPr lang="en-US" sz="1200" dirty="0" smtClean="0"/>
                        <a:t> SZ and CQ (&lt;1000 ppm)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Wistron</a:t>
                      </a:r>
                      <a:r>
                        <a:rPr lang="en-US" sz="1200" dirty="0" smtClean="0"/>
                        <a:t> (&lt;700 ppm)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Quanta SH and CQ (&lt;3000 ppm)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76200" y="4421108"/>
            <a:ext cx="8915400" cy="1447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CTE customers’ reflow machines are N2 capable but does not have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cs typeface="Arial" pitchFamily="34" charset="0"/>
              </a:rPr>
              <a:t>N2 facility in factory.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All major ODMs turn on N2. </a:t>
            </a:r>
          </a:p>
        </p:txBody>
      </p:sp>
    </p:spTree>
    <p:extLst>
      <p:ext uri="{BB962C8B-B14F-4D97-AF65-F5344CB8AC3E}">
        <p14:creationId xmlns:p14="http://schemas.microsoft.com/office/powerpoint/2010/main" val="11776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5CD1A6-6669-4B2B-B594-F6695545FFDD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25400"/>
            <a:ext cx="1899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Reflow Pallet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465864"/>
              </p:ext>
            </p:extLst>
          </p:nvPr>
        </p:nvGraphicFramePr>
        <p:xfrm>
          <a:off x="152400" y="487680"/>
          <a:ext cx="8305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47244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Yes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Products Dependence</a:t>
                      </a:r>
                      <a:r>
                        <a:rPr lang="en-US" sz="1200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r>
                        <a:rPr lang="en-US" sz="1200" dirty="0" smtClean="0"/>
                        <a:t> SZ Plant 6 and CQ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CTE – </a:t>
                      </a:r>
                      <a:r>
                        <a:rPr lang="en-US" sz="1200" dirty="0" err="1" smtClean="0"/>
                        <a:t>Weibu</a:t>
                      </a: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3</a:t>
                      </a:r>
                      <a:endParaRPr lang="en-US" sz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Inventec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MSFT (JDM1)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r>
                        <a:rPr lang="en-US" sz="1200" dirty="0" smtClean="0"/>
                        <a:t> SZ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Wistron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Quanta SH and CQ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– IP3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- </a:t>
                      </a:r>
                      <a:r>
                        <a:rPr lang="en-US" sz="1200" dirty="0" err="1" smtClean="0"/>
                        <a:t>Emdoor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118533" y="3810000"/>
            <a:ext cx="4910667" cy="1905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Customers are using reflow pallet.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4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Normal practice: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cs typeface="Arial" pitchFamily="34" charset="0"/>
              </a:rPr>
              <a:t>Universal pallet for secondary side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cs typeface="Arial" pitchFamily="34" charset="0"/>
              </a:rPr>
              <a:t>Custom pallet for primary side</a:t>
            </a:r>
            <a:endParaRPr lang="en-US" sz="1400" dirty="0">
              <a:cs typeface="Arial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err="1" smtClean="0">
                <a:cs typeface="Arial" pitchFamily="34" charset="0"/>
              </a:rPr>
              <a:t>Wistron</a:t>
            </a:r>
            <a:r>
              <a:rPr lang="en-US" sz="1400" dirty="0" smtClean="0">
                <a:cs typeface="Arial" pitchFamily="34" charset="0"/>
              </a:rPr>
              <a:t> and </a:t>
            </a:r>
            <a:r>
              <a:rPr lang="en-US" sz="1400" dirty="0" err="1" smtClean="0">
                <a:cs typeface="Arial" pitchFamily="34" charset="0"/>
              </a:rPr>
              <a:t>Compal</a:t>
            </a:r>
            <a:r>
              <a:rPr lang="en-US" sz="1400" dirty="0" smtClean="0">
                <a:cs typeface="Arial" pitchFamily="34" charset="0"/>
              </a:rPr>
              <a:t> consider automation is part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cs typeface="Arial" pitchFamily="34" charset="0"/>
              </a:rPr>
              <a:t>of during reflow pallet design criteria. </a:t>
            </a:r>
          </a:p>
        </p:txBody>
      </p:sp>
      <p:pic>
        <p:nvPicPr>
          <p:cNvPr id="10" name="圖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47800"/>
            <a:ext cx="1758614" cy="123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679905" y="2461404"/>
            <a:ext cx="914401" cy="20005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700" dirty="0" err="1" smtClean="0"/>
              <a:t>Compal</a:t>
            </a:r>
            <a:r>
              <a:rPr lang="en-US" sz="700" dirty="0" smtClean="0"/>
              <a:t> Plant 4</a:t>
            </a:r>
            <a:endParaRPr lang="en-US" sz="700" dirty="0"/>
          </a:p>
        </p:txBody>
      </p:sp>
      <p:pic>
        <p:nvPicPr>
          <p:cNvPr id="1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833184"/>
            <a:ext cx="2057400" cy="13440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1032" y="3840361"/>
            <a:ext cx="171450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700" dirty="0" err="1" smtClean="0"/>
              <a:t>Pegatron</a:t>
            </a:r>
            <a:r>
              <a:rPr lang="en-US" sz="700" dirty="0" smtClean="0"/>
              <a:t> SZ – Universal pallet for secondary side</a:t>
            </a:r>
            <a:endParaRPr lang="en-US" sz="700" dirty="0"/>
          </a:p>
        </p:txBody>
      </p:sp>
      <p:pic>
        <p:nvPicPr>
          <p:cNvPr id="1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4318418"/>
            <a:ext cx="1981200" cy="1605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5616193"/>
            <a:ext cx="1714501" cy="20005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700" dirty="0" smtClean="0"/>
              <a:t>Quanta CQ 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69947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1ABE2FC7-05C3-4E29-9CB5-29E80127A999}" type="datetime1">
              <a:rPr lang="en-US" sz="800" smtClean="0">
                <a:solidFill>
                  <a:srgbClr val="FFFFFF"/>
                </a:solidFill>
              </a:rPr>
              <a:t>6/1/2016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Rework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2016 CRD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6D1351-0194-4553-A0A4-4C789D1D9C14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Rework Machine </a:t>
            </a:r>
            <a:r>
              <a:rPr lang="en-US" b="1" dirty="0" smtClean="0"/>
              <a:t>(Manual </a:t>
            </a:r>
            <a:r>
              <a:rPr lang="en-US" b="1" dirty="0"/>
              <a:t>Hot Air Gun or </a:t>
            </a:r>
            <a:r>
              <a:rPr lang="en-US" b="1" dirty="0" smtClean="0"/>
              <a:t>Semi-Automated)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473718"/>
              </p:ext>
            </p:extLst>
          </p:nvPr>
        </p:nvGraphicFramePr>
        <p:xfrm>
          <a:off x="152400" y="487680"/>
          <a:ext cx="8305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47244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Semi-Auto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Manual Hot Air Gun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- </a:t>
                      </a:r>
                      <a:r>
                        <a:rPr lang="en-US" sz="1200" dirty="0" err="1" smtClean="0"/>
                        <a:t>Weibu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2</a:t>
                      </a:r>
                      <a:r>
                        <a:rPr lang="en-US" sz="1200" baseline="0" dirty="0" smtClean="0"/>
                        <a:t> (Machine: Quick 2015)</a:t>
                      </a: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3 (Machine:</a:t>
                      </a:r>
                      <a:r>
                        <a:rPr lang="en-US" sz="1200" baseline="0" dirty="0" smtClean="0"/>
                        <a:t> Quick 2015)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Inventec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MSFT/JDM1</a:t>
                      </a:r>
                      <a:r>
                        <a:rPr lang="en-US" sz="1200" baseline="0" dirty="0" smtClean="0"/>
                        <a:t> (SRT 1800)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r>
                        <a:rPr lang="en-US" sz="1200" baseline="0" dirty="0" smtClean="0"/>
                        <a:t> SZ and CQ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Wistron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Quanta SH and CQ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– IP3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- </a:t>
                      </a:r>
                      <a:r>
                        <a:rPr lang="en-US" sz="1200" dirty="0" err="1" smtClean="0"/>
                        <a:t>Emdoor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 bwMode="auto">
          <a:xfrm>
            <a:off x="118533" y="3810000"/>
            <a:ext cx="8915400" cy="533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Besides CTE – </a:t>
            </a:r>
            <a:r>
              <a:rPr lang="en-US" sz="1600" dirty="0" err="1" smtClean="0">
                <a:cs typeface="Arial" pitchFamily="34" charset="0"/>
              </a:rPr>
              <a:t>Weibu</a:t>
            </a:r>
            <a:r>
              <a:rPr lang="en-US" sz="1600" dirty="0" smtClean="0">
                <a:cs typeface="Arial" pitchFamily="34" charset="0"/>
              </a:rPr>
              <a:t> prefers to use manual hot air, all other customers are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cs typeface="Arial" pitchFamily="34" charset="0"/>
              </a:rPr>
              <a:t>using semi-auto rework machine for Big Core packages.  </a:t>
            </a:r>
          </a:p>
        </p:txBody>
      </p:sp>
    </p:spTree>
    <p:extLst>
      <p:ext uri="{BB962C8B-B14F-4D97-AF65-F5344CB8AC3E}">
        <p14:creationId xmlns:p14="http://schemas.microsoft.com/office/powerpoint/2010/main" val="216395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1DFDC7-3A65-47C1-A20C-64E9B2C8B7A5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9476" y="76200"/>
            <a:ext cx="7722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Rework Process ( Flux Only, Paste Print etc. 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50822"/>
              </p:ext>
            </p:extLst>
          </p:nvPr>
        </p:nvGraphicFramePr>
        <p:xfrm>
          <a:off x="152400" y="487680"/>
          <a:ext cx="86105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467"/>
                <a:gridCol w="2076811"/>
                <a:gridCol w="1834539"/>
                <a:gridCol w="2785782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Flux / Paste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Paste on BGA / Board?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Flux on PCB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Both depend on package size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Board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AIM NC254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Paste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Board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/>
                        <a:t>Yunnan Tin: </a:t>
                      </a:r>
                      <a:r>
                        <a:rPr lang="en-US" sz="1200" dirty="0" smtClean="0"/>
                        <a:t>YW9-3005-98CY04</a:t>
                      </a:r>
                      <a:endParaRPr lang="en-US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Compal</a:t>
                      </a:r>
                      <a:r>
                        <a:rPr lang="en-US" sz="1200" dirty="0" smtClean="0"/>
                        <a:t> Plant 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Flux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Both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AIM NC254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Inventec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Flux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-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Shenmao</a:t>
                      </a:r>
                      <a:r>
                        <a:rPr lang="en-US" sz="1200" dirty="0" smtClean="0"/>
                        <a:t> SMF-2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MSFT (JDM1)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Paste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Board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-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Pegatron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Paste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Board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-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Wistron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Both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BGA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Shenmao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dirty="0" smtClean="0"/>
                        <a:t>SMF-2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Paste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Board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-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– IP3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Both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– </a:t>
                      </a:r>
                      <a:r>
                        <a:rPr lang="en-US" sz="1200" dirty="0" err="1" smtClean="0"/>
                        <a:t>Emdoor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Flux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yc_m105_d_885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CTE - </a:t>
                      </a:r>
                      <a:r>
                        <a:rPr lang="en-US" sz="1200" dirty="0" err="1" smtClean="0"/>
                        <a:t>Weibu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Paste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BGA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228600" y="4245186"/>
            <a:ext cx="8763000" cy="13936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 smtClean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ODMs did some process change to meet rework yield target.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Manual paste printing process on PCB is still very challenging for ODMs,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cs typeface="Arial" pitchFamily="34" charset="0"/>
              </a:rPr>
              <a:t>required skillful rework operators.</a:t>
            </a:r>
            <a:endParaRPr lang="en-US" sz="16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913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3B720802-CE9E-463C-84E8-E42448681EBC}" type="datetime1">
              <a:rPr lang="en-US" sz="800" smtClean="0">
                <a:solidFill>
                  <a:srgbClr val="FFFFFF"/>
                </a:solidFill>
              </a:rPr>
              <a:t>6/1/2016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16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Yield Target</a:t>
            </a:r>
            <a:endParaRPr lang="en-US" dirty="0" smtClean="0"/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2016 CRD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6/1/2016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2016 CRD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76641"/>
              </p:ext>
            </p:extLst>
          </p:nvPr>
        </p:nvGraphicFramePr>
        <p:xfrm>
          <a:off x="304801" y="381000"/>
          <a:ext cx="8458199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762"/>
                <a:gridCol w="1565253"/>
                <a:gridCol w="1732984"/>
                <a:gridCol w="31242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SMT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Rework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Remark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Compal</a:t>
                      </a:r>
                      <a:r>
                        <a:rPr lang="en-US" sz="1000" dirty="0" smtClean="0"/>
                        <a:t> Plant 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1000 DPM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SKL U </a:t>
                      </a:r>
                    </a:p>
                    <a:p>
                      <a:r>
                        <a:rPr lang="en-US" sz="1000" dirty="0" smtClean="0"/>
                        <a:t>a. Under fill: 90%</a:t>
                      </a:r>
                    </a:p>
                    <a:p>
                      <a:r>
                        <a:rPr lang="en-US" sz="1000" dirty="0" smtClean="0"/>
                        <a:t>b. No Under fill: 95%</a:t>
                      </a:r>
                    </a:p>
                    <a:p>
                      <a:endParaRPr lang="en-US" sz="1000" dirty="0" smtClean="0"/>
                    </a:p>
                    <a:p>
                      <a:r>
                        <a:rPr lang="en-US" sz="1000" dirty="0" smtClean="0"/>
                        <a:t>SKL-Y</a:t>
                      </a:r>
                    </a:p>
                    <a:p>
                      <a:r>
                        <a:rPr lang="en-US" sz="1000" dirty="0" smtClean="0"/>
                        <a:t>a. Under fill: 85%</a:t>
                      </a:r>
                    </a:p>
                    <a:p>
                      <a:r>
                        <a:rPr lang="en-US" sz="1000" dirty="0" smtClean="0"/>
                        <a:t>b. No </a:t>
                      </a:r>
                      <a:r>
                        <a:rPr lang="en-US" sz="1000" dirty="0" err="1" smtClean="0"/>
                        <a:t>Underfill</a:t>
                      </a:r>
                      <a:r>
                        <a:rPr lang="en-US" sz="1000" dirty="0" smtClean="0"/>
                        <a:t>: 90%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OEM</a:t>
                      </a:r>
                      <a:r>
                        <a:rPr lang="en-US" sz="1000" baseline="0" dirty="0" smtClean="0"/>
                        <a:t> is Lenovo and requested to put under fill. Facing challenge in rework process. </a:t>
                      </a:r>
                    </a:p>
                    <a:p>
                      <a:r>
                        <a:rPr lang="en-US" sz="1000" b="1" u="sng" baseline="0" dirty="0" smtClean="0"/>
                        <a:t>Request:</a:t>
                      </a:r>
                      <a:r>
                        <a:rPr lang="en-US" sz="1000" baseline="0" dirty="0" smtClean="0"/>
                        <a:t> Is Intel able to influence on Lenovo under fill decision?  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Compal</a:t>
                      </a:r>
                      <a:r>
                        <a:rPr lang="en-US" sz="1000" dirty="0" smtClean="0"/>
                        <a:t> Plant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98%</a:t>
                      </a:r>
                      <a:endParaRPr lang="en-US" sz="1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Compal</a:t>
                      </a:r>
                      <a:r>
                        <a:rPr lang="en-US" sz="1000" dirty="0" smtClean="0"/>
                        <a:t> Plant 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SMT 1st pass yield for overall board.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Inventec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99.5%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SMT 1st pass yield for overall board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MSFT (JDM1)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500 DPM (99.95%)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For BGA part.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Pegatron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500 DPM (99.95%)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Wistron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SMT: Overall board AOI yield target.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Quanta CQ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99.50%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80%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CTE – IP3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70%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SMT: Overall board</a:t>
                      </a:r>
                      <a:r>
                        <a:rPr lang="en-US" sz="1000" baseline="0" dirty="0" smtClean="0"/>
                        <a:t> yield target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CTE – </a:t>
                      </a:r>
                      <a:r>
                        <a:rPr lang="en-US" sz="1000" dirty="0" err="1" smtClean="0"/>
                        <a:t>Emdoor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98.6%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SMT: Overall board</a:t>
                      </a:r>
                      <a:r>
                        <a:rPr lang="en-US" sz="1000" baseline="0" dirty="0" smtClean="0"/>
                        <a:t> yield target</a:t>
                      </a:r>
                      <a:endParaRPr lang="en-US" sz="1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CTE - </a:t>
                      </a:r>
                      <a:r>
                        <a:rPr lang="en-US" sz="1000" dirty="0" err="1" smtClean="0"/>
                        <a:t>Weibu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98.5%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90%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 bwMode="auto">
          <a:xfrm>
            <a:off x="152400" y="4495800"/>
            <a:ext cx="8763000" cy="533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 smtClean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Expectation from customer is high to reach good SMT and Rework quality. </a:t>
            </a:r>
            <a:endParaRPr lang="en-US" sz="16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094381"/>
      </p:ext>
    </p:extLst>
  </p:cSld>
  <p:clrMapOvr>
    <a:masterClrMapping/>
  </p:clrMapOvr>
</p:sld>
</file>

<file path=ppt/theme/theme1.xml><?xml version="1.0" encoding="utf-8"?>
<a:theme xmlns:a="http://schemas.openxmlformats.org/drawingml/2006/main" name="intel_template_1_111605_WHITE">
  <a:themeElements>
    <a:clrScheme name="intel_template_1_111605_WHITE 2">
      <a:dk1>
        <a:srgbClr val="0860A8"/>
      </a:dk1>
      <a:lt1>
        <a:srgbClr val="FFFFFF"/>
      </a:lt1>
      <a:dk2>
        <a:srgbClr val="F5E647"/>
      </a:dk2>
      <a:lt2>
        <a:srgbClr val="FF5C47"/>
      </a:lt2>
      <a:accent1>
        <a:srgbClr val="A6CAE1"/>
      </a:accent1>
      <a:accent2>
        <a:srgbClr val="567EB9"/>
      </a:accent2>
      <a:accent3>
        <a:srgbClr val="FFFFFF"/>
      </a:accent3>
      <a:accent4>
        <a:srgbClr val="06518F"/>
      </a:accent4>
      <a:accent5>
        <a:srgbClr val="D0E1EE"/>
      </a:accent5>
      <a:accent6>
        <a:srgbClr val="4D72A7"/>
      </a:accent6>
      <a:hlink>
        <a:srgbClr val="0C2E86"/>
      </a:hlink>
      <a:folHlink>
        <a:srgbClr val="AA014C"/>
      </a:folHlink>
    </a:clrScheme>
    <a:fontScheme name="intel_template_1_111605_WHI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intel_template_1_111605_WHIT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_template_1_111605_WHIT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64D010F7-FDAF-4B86-ADD8-D083DCBC080E}"/>
</file>

<file path=customXml/itemProps2.xml><?xml version="1.0" encoding="utf-8"?>
<ds:datastoreItem xmlns:ds="http://schemas.openxmlformats.org/officeDocument/2006/customXml" ds:itemID="{7D376572-83EA-4762-AC14-61A5A1B73B49}"/>
</file>

<file path=customXml/itemProps3.xml><?xml version="1.0" encoding="utf-8"?>
<ds:datastoreItem xmlns:ds="http://schemas.openxmlformats.org/officeDocument/2006/customXml" ds:itemID="{D0893887-BFD0-4176-80DB-19C071401C1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</TotalTime>
  <Words>1566</Words>
  <Application>Microsoft Office PowerPoint</Application>
  <PresentationFormat>On-screen Show (4:3)</PresentationFormat>
  <Paragraphs>343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Courier New</vt:lpstr>
      <vt:lpstr>Times</vt:lpstr>
      <vt:lpstr>Verdana</vt:lpstr>
      <vt:lpstr>Wingdings</vt:lpstr>
      <vt:lpstr>intel_template_1_111605_WHITE</vt:lpstr>
      <vt:lpstr>CNL Customers CRD Summary Report  </vt:lpstr>
      <vt:lpstr>Objectives</vt:lpstr>
      <vt:lpstr>SOLDER PASTE PRINT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REFLOW</vt:lpstr>
      <vt:lpstr>PowerPoint Presentation</vt:lpstr>
      <vt:lpstr>PowerPoint Presentation</vt:lpstr>
      <vt:lpstr>Rework</vt:lpstr>
      <vt:lpstr>PowerPoint Presentation</vt:lpstr>
      <vt:lpstr>PowerPoint Presentation</vt:lpstr>
      <vt:lpstr>Yield Target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smoy</dc:creator>
  <cp:lastModifiedBy>Moy, Shuh An</cp:lastModifiedBy>
  <cp:revision>138</cp:revision>
  <dcterms:created xsi:type="dcterms:W3CDTF">2011-10-18T02:30:40Z</dcterms:created>
  <dcterms:modified xsi:type="dcterms:W3CDTF">2016-06-01T08:01:02Z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