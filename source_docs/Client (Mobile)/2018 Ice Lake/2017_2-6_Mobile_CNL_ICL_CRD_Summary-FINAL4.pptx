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9" r:id="rId2"/>
    <p:sldId id="261" r:id="rId3"/>
    <p:sldId id="304" r:id="rId4"/>
    <p:sldId id="305" r:id="rId5"/>
    <p:sldId id="269" r:id="rId6"/>
    <p:sldId id="306" r:id="rId7"/>
    <p:sldId id="312" r:id="rId8"/>
    <p:sldId id="270" r:id="rId9"/>
    <p:sldId id="313" r:id="rId10"/>
    <p:sldId id="295" r:id="rId11"/>
    <p:sldId id="297" r:id="rId12"/>
    <p:sldId id="298" r:id="rId13"/>
    <p:sldId id="293" r:id="rId14"/>
    <p:sldId id="308" r:id="rId15"/>
    <p:sldId id="307" r:id="rId16"/>
    <p:sldId id="300" r:id="rId17"/>
    <p:sldId id="318" r:id="rId18"/>
    <p:sldId id="277" r:id="rId19"/>
    <p:sldId id="309" r:id="rId20"/>
    <p:sldId id="274" r:id="rId21"/>
    <p:sldId id="302" r:id="rId22"/>
    <p:sldId id="310" r:id="rId23"/>
    <p:sldId id="314" r:id="rId24"/>
    <p:sldId id="320" r:id="rId25"/>
    <p:sldId id="317" r:id="rId26"/>
    <p:sldId id="315" r:id="rId27"/>
    <p:sldId id="311" r:id="rId28"/>
    <p:sldId id="322" r:id="rId29"/>
    <p:sldId id="319" r:id="rId30"/>
    <p:sldId id="321" r:id="rId31"/>
    <p:sldId id="31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7143" autoAdjust="0"/>
  </p:normalViewPr>
  <p:slideViewPr>
    <p:cSldViewPr snapToGrid="0">
      <p:cViewPr varScale="1">
        <p:scale>
          <a:sx n="112" d="100"/>
          <a:sy n="112" d="100"/>
        </p:scale>
        <p:origin x="9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7185-9FD8-40D7-866C-EA52F4AE1B2F}" type="datetimeFigureOut">
              <a:rPr lang="en-US" smtClean="0"/>
              <a:t>4/23/2018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5B860-0185-49D0-AE43-85F1D2C2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65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2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51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35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55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FYI: Conversions: 0.08=3 mil, 0.1=4 mil, 0.12/0.13=5 mil,</a:t>
            </a:r>
            <a:r>
              <a:rPr lang="en-US" altLang="zh-CN" baseline="0" dirty="0" smtClean="0"/>
              <a:t> 0.15=6 mil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95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94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42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4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81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59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9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B6771-761A-4868-9897-D385611F56FD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C44E5-98D4-40D3-AB6C-F311509DDB6F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05A29-211D-4F9D-8907-940E34D9B9ED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C14D2-064D-4138-AD2B-B67FF0F7A6A1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9D7B2-60A3-4196-8D9D-1D56C57857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0B1C0-6FD2-4E4C-A81E-8DB559E815F3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25597-6124-4EBC-881A-3309B4FE72E0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2CB96-30D1-476F-A434-DDFBF1F7FC64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BF505-F994-430B-94D1-F16AEBFA583A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649DA84E-7B68-4ADA-9629-27ADCEECE955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cid:image003.png@01D37D71.E1D140C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43200" y="1763713"/>
            <a:ext cx="6172200" cy="19700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2018 CNL_ICL Customers CRD Summary Report</a:t>
            </a:r>
            <a:br>
              <a:rPr lang="en-US" sz="3200" dirty="0" smtClean="0"/>
            </a:br>
            <a:r>
              <a:rPr lang="en-US" sz="3200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Harry Yu, SA Moy, Jagadeesh, Dan Burkholder</a:t>
            </a:r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C3799B-C3A7-4AD7-B835-49C51ED163C0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dirty="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4774"/>
            <a:ext cx="8237538" cy="612775"/>
          </a:xfrm>
        </p:spPr>
        <p:txBody>
          <a:bodyPr/>
          <a:lstStyle/>
          <a:p>
            <a:pPr eaLnBrk="1" hangingPunct="1"/>
            <a:r>
              <a:rPr lang="en-US" dirty="0" smtClean="0"/>
              <a:t>Objectives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816" y="578755"/>
            <a:ext cx="8669383" cy="504983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CMEE Mobile Industry Data Collection (CNL/ICL platform customer survey)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manufacturers: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Inventec CQ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Compal CQ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Quanta CQ/SH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LCFC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Compal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MSFT/JDM1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Pegatron SZ -&gt; </a:t>
            </a:r>
            <a:r>
              <a:rPr lang="en-US" dirty="0" smtClean="0">
                <a:solidFill>
                  <a:schemeClr val="bg2"/>
                </a:solidFill>
              </a:rPr>
              <a:t>Just learned (Jan ’18) they are shutting down the BU that the CMEE team works with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Wistron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MSI KS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dirty="0" smtClean="0">
                <a:solidFill>
                  <a:srgbClr val="000000"/>
                </a:solidFill>
              </a:rPr>
              <a:t> Pegatron CQ (ICL ORS) 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altLang="zh-CN" dirty="0" smtClean="0">
                <a:solidFill>
                  <a:srgbClr val="000000"/>
                </a:solidFill>
              </a:rPr>
              <a:t> Foxconn WH </a:t>
            </a:r>
            <a:r>
              <a:rPr lang="en-US" altLang="zh-CN" dirty="0">
                <a:solidFill>
                  <a:srgbClr val="000000"/>
                </a:solidFill>
              </a:rPr>
              <a:t>(ICL </a:t>
            </a:r>
            <a:r>
              <a:rPr lang="en-US" altLang="zh-CN" dirty="0" smtClean="0">
                <a:solidFill>
                  <a:srgbClr val="000000"/>
                </a:solidFill>
              </a:rPr>
              <a:t>ORS) </a:t>
            </a:r>
          </a:p>
          <a:p>
            <a:pPr marL="915988" lvl="3" indent="-342900" eaLnBrk="1" hangingPunct="1">
              <a:spcBef>
                <a:spcPct val="40000"/>
              </a:spcBef>
              <a:buFont typeface="+mj-lt"/>
              <a:buAutoNum type="arabicPeriod"/>
            </a:pPr>
            <a:r>
              <a:rPr lang="en-US" altLang="zh-CN" dirty="0" smtClean="0">
                <a:solidFill>
                  <a:srgbClr val="000000"/>
                </a:solidFill>
              </a:rPr>
              <a:t> Huaqin </a:t>
            </a:r>
            <a:r>
              <a:rPr lang="en-US" altLang="zh-CN" dirty="0">
                <a:solidFill>
                  <a:srgbClr val="000000"/>
                </a:solidFill>
              </a:rPr>
              <a:t>(ICL </a:t>
            </a:r>
            <a:r>
              <a:rPr lang="en-US" altLang="zh-CN" dirty="0" smtClean="0">
                <a:solidFill>
                  <a:srgbClr val="000000"/>
                </a:solidFill>
              </a:rPr>
              <a:t>ORS) </a:t>
            </a: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74677" y="5654711"/>
            <a:ext cx="3228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0000"/>
                </a:solidFill>
              </a:rPr>
              <a:t>ORS=ODM Reference System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48618" y="4592171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Apple not included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30F90219-B887-4A1C-989C-09BBBE709AC0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PCB Vendor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52197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76200"/>
            <a:ext cx="8237537" cy="889000"/>
          </a:xfrm>
        </p:spPr>
        <p:txBody>
          <a:bodyPr/>
          <a:lstStyle/>
          <a:p>
            <a:r>
              <a:rPr lang="en-US" altLang="zh-CN" dirty="0" smtClean="0"/>
              <a:t>PCB vendors that ODMs are using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794203"/>
              </p:ext>
            </p:extLst>
          </p:nvPr>
        </p:nvGraphicFramePr>
        <p:xfrm>
          <a:off x="304800" y="657272"/>
          <a:ext cx="8586106" cy="2788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0451"/>
                <a:gridCol w="796835"/>
                <a:gridCol w="666882"/>
                <a:gridCol w="666882"/>
                <a:gridCol w="666882"/>
                <a:gridCol w="666882"/>
                <a:gridCol w="666882"/>
                <a:gridCol w="666882"/>
                <a:gridCol w="666882"/>
                <a:gridCol w="666882"/>
                <a:gridCol w="666882"/>
                <a:gridCol w="666882"/>
              </a:tblGrid>
              <a:tr h="844954">
                <a:tc>
                  <a:txBody>
                    <a:bodyPr/>
                    <a:lstStyle/>
                    <a:p>
                      <a:pPr algn="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TMT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T-Mac </a:t>
                      </a:r>
                      <a:r>
                        <a:rPr lang="en-US" sz="1100" u="none" strike="noStrike" dirty="0" err="1">
                          <a:effectLst/>
                        </a:rPr>
                        <a:t>Techvest</a:t>
                      </a:r>
                      <a:r>
                        <a:rPr lang="en-US" sz="1100" u="none" strike="noStrike" dirty="0">
                          <a:effectLst/>
                        </a:rPr>
                        <a:t> PCB Co</a:t>
                      </a:r>
                      <a:r>
                        <a:rPr lang="en-US" sz="1100" u="none" strike="noStrike" dirty="0" smtClean="0">
                          <a:effectLst/>
                        </a:rPr>
                        <a:t>. Ltd*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ChuanYi</a:t>
                      </a:r>
                      <a:r>
                        <a:rPr lang="en-US" sz="1100" u="none" strike="noStrike" dirty="0">
                          <a:effectLst/>
                        </a:rPr>
                        <a:t> = </a:t>
                      </a:r>
                      <a:r>
                        <a:rPr lang="en-US" sz="1100" u="none" strike="noStrike" dirty="0" smtClean="0">
                          <a:effectLst/>
                        </a:rPr>
                        <a:t>Under GBM**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Tripod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AT&amp;S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Wus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UMT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Compeq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</a:rPr>
                        <a:t>Hannstar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Unitech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ZDT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Inventec CQ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Quanta CQ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Quanta 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Compal CQ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Compal 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Wistron 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LCFC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 smtClean="0">
                          <a:effectLst/>
                        </a:rPr>
                        <a:t>Pegatron </a:t>
                      </a:r>
                      <a:r>
                        <a:rPr lang="en-US" sz="1100" u="none" strike="noStrike" dirty="0">
                          <a:effectLst/>
                        </a:rPr>
                        <a:t>SZ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MSFT/JDM1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>
                          <a:effectLst/>
                        </a:rPr>
                        <a:t>　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MSI KS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65343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Foxconn</a:t>
                      </a:r>
                      <a:r>
                        <a:rPr lang="en-US" sz="1100" b="0" i="0" u="none" strike="noStrike" baseline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 WH</a:t>
                      </a:r>
                      <a:endParaRPr lang="en-US" sz="11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 smtClean="0">
                          <a:effectLst/>
                        </a:rPr>
                        <a:t>x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u="none" strike="noStrike" dirty="0" smtClean="0">
                          <a:effectLst/>
                        </a:rPr>
                        <a:t>x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89" marR="8889" marT="888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 bwMode="auto">
          <a:xfrm>
            <a:off x="21933" y="3515067"/>
            <a:ext cx="9108620" cy="204311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200" dirty="0" smtClean="0">
                <a:cs typeface="Arial" pitchFamily="34" charset="0"/>
              </a:rPr>
              <a:t>ODMs have a wide PCB supply base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Tripod,</a:t>
            </a: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GCE and Hannstar looks more popular than others. </a:t>
            </a:r>
            <a:r>
              <a:rPr lang="en-US" sz="1200" dirty="0" smtClean="0">
                <a:cs typeface="Arial" pitchFamily="34" charset="0"/>
              </a:rPr>
              <a:t>AT&amp;S and Nanya are seldom used by client ODMs.</a:t>
            </a: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b="1" dirty="0" smtClean="0">
                <a:cs typeface="Arial" pitchFamily="34" charset="0"/>
              </a:rPr>
              <a:t>Other information</a:t>
            </a:r>
            <a:r>
              <a:rPr lang="en-US" sz="1200" dirty="0" smtClean="0">
                <a:cs typeface="Arial" pitchFamily="34" charset="0"/>
              </a:rPr>
              <a:t>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cs typeface="Arial" pitchFamily="34" charset="0"/>
              </a:rPr>
              <a:t>Most factory engineers prefer HIMB instead of RIMB due to lake of experience of RIMB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cs typeface="Arial" pitchFamily="34" charset="0"/>
              </a:rPr>
              <a:t>Customer sees 30%~50% cost up shift from type 3 to type 4 (HDI) PCB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cs typeface="Arial" pitchFamily="34" charset="0"/>
              </a:rPr>
              <a:t>Most customer prefer 8L (2-4-2) PCB due to cost efficiency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cs typeface="Arial" pitchFamily="34" charset="0"/>
              </a:rPr>
              <a:t>Factory people prefer to keep board thickness 0.8~1.0mm range, but see some OEM design trend to ~0.6mm (typically “boutique designs” on the –Y series, not mainstream. Typical roadblocks; plane inductance / impedance)</a:t>
            </a:r>
            <a:endParaRPr lang="en-US" altLang="zh-CN" sz="12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cs typeface="Arial" pitchFamily="34" charset="0"/>
              </a:rPr>
              <a:t>Almost all customers use OSP; Microsoft uses ENIG for critical BGA locations</a:t>
            </a:r>
            <a:endParaRPr lang="en-US" altLang="zh-CN" sz="1600" dirty="0"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0879" y="5521066"/>
            <a:ext cx="6684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*   TMT Website-&gt;  http</a:t>
            </a:r>
            <a:r>
              <a:rPr lang="en-US" sz="1400" dirty="0"/>
              <a:t>://</a:t>
            </a:r>
            <a:r>
              <a:rPr lang="en-US" sz="1400" dirty="0" smtClean="0"/>
              <a:t>www.tmt-pcb.com.tw</a:t>
            </a:r>
          </a:p>
          <a:p>
            <a:r>
              <a:rPr lang="en-US" sz="1400" dirty="0" smtClean="0"/>
              <a:t>** GBM Website -&gt; http</a:t>
            </a:r>
            <a:r>
              <a:rPr lang="en-US" sz="1400" dirty="0"/>
              <a:t>://www.gbm.com.tw/en/business/chuan-yi.html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23727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30F90219-B887-4A1C-989C-09BBBE709AC0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5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/>
              <a:t>SOLDER PASTE PRINT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15702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1028-66B5-49AE-B47F-975F676A8A28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" y="76200"/>
            <a:ext cx="39677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Board support mechanism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1610"/>
              </p:ext>
            </p:extLst>
          </p:nvPr>
        </p:nvGraphicFramePr>
        <p:xfrm>
          <a:off x="152400" y="533400"/>
          <a:ext cx="87630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2190750"/>
                <a:gridCol w="2190750"/>
                <a:gridCol w="21907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Support Pins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Support block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Vacuum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block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Print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pallet (Whole process pallet. Print -&gt; Reflow.)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Inventec CQ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Quanta CQ</a:t>
                      </a:r>
                      <a:endParaRPr lang="en-US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MSFT/JDM1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Compal 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Foxconn WH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</a:t>
                      </a:r>
                      <a:r>
                        <a:rPr lang="en-US" sz="1000" baseline="0" dirty="0" smtClean="0">
                          <a:latin typeface="+mn-lt"/>
                        </a:rPr>
                        <a:t>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4 Customers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7 Customers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1</a:t>
                      </a:r>
                      <a:r>
                        <a:rPr lang="en-US" sz="1200" b="1" baseline="0" dirty="0" smtClean="0">
                          <a:latin typeface="+mn-lt"/>
                        </a:rPr>
                        <a:t> Customer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2 Customers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83344" y="3965143"/>
            <a:ext cx="8926484" cy="200906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Most customers use support Pins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for NPI project and a Support block for HVM project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Quanta CQ use their own developed vacuum block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Pegatron is one customer that we know often prefers to use a whole process (print-&gt; reflow). Their rule, if &lt;0.85mm (33 mils) board thickness, must use whole process pallet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MSFT/JDM1 uses a Support block + Whole process pallet at same time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7617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1028-66B5-49AE-B47F-975F676A8A28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" y="76200"/>
            <a:ext cx="5181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Misprint board cleaning 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820768"/>
              </p:ext>
            </p:extLst>
          </p:nvPr>
        </p:nvGraphicFramePr>
        <p:xfrm>
          <a:off x="152400" y="533400"/>
          <a:ext cx="8763000" cy="309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2190750"/>
                <a:gridCol w="2190750"/>
                <a:gridCol w="2190750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Offline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machine clean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Manual clean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Quanta 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Pegatron SZ (OSP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only)</a:t>
                      </a:r>
                      <a:endParaRPr lang="en-US" altLang="zh-CN" sz="1000" dirty="0" smtClean="0">
                        <a:latin typeface="+mn-lt"/>
                      </a:endParaRPr>
                    </a:p>
                    <a:p>
                      <a:endParaRPr lang="en-US" sz="10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MSFT/JDM1 (OPS only)</a:t>
                      </a: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Foxconn WH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Compal CQ</a:t>
                      </a: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Wistron KS</a:t>
                      </a: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Pegatron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SZ (SF except OSP)</a:t>
                      </a:r>
                      <a:endParaRPr lang="en-US" altLang="zh-CN" sz="1000" dirty="0" smtClean="0">
                        <a:latin typeface="+mn-lt"/>
                      </a:endParaRP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MSFT/JDM1 (SF except OSP)</a:t>
                      </a: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152401" y="4164006"/>
            <a:ext cx="8820150" cy="9194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Most customers have an offline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machine to clean misprint boards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600" dirty="0" smtClean="0">
                <a:cs typeface="Arial" pitchFamily="34" charset="0"/>
              </a:rPr>
              <a:t>Pegatron SZ and JDM1 use a manual board clean process for OSP boards, due to the worry of impact of solvents to OSP board surface finish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340926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1028-66B5-49AE-B47F-975F676A8A28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" y="76200"/>
            <a:ext cx="73693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SAC Solder </a:t>
            </a:r>
            <a:r>
              <a:rPr lang="en-US" sz="2000" b="1" dirty="0"/>
              <a:t>Paste Formulation </a:t>
            </a:r>
            <a:r>
              <a:rPr lang="en-US" sz="2000" b="1" dirty="0" smtClean="0"/>
              <a:t>(Brand </a:t>
            </a:r>
            <a:r>
              <a:rPr lang="en-US" sz="2000" b="1" dirty="0"/>
              <a:t>and </a:t>
            </a:r>
            <a:r>
              <a:rPr lang="en-US" sz="2000" b="1" dirty="0" smtClean="0"/>
              <a:t>Model)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598545"/>
              </p:ext>
            </p:extLst>
          </p:nvPr>
        </p:nvGraphicFramePr>
        <p:xfrm>
          <a:off x="176893" y="456549"/>
          <a:ext cx="87630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50"/>
                <a:gridCol w="2767693"/>
                <a:gridCol w="2071007"/>
                <a:gridCol w="21907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Shenmao (PF606-P)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Senju (Various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Formulations)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Yunnan Tin/Eunow (</a:t>
                      </a:r>
                      <a:r>
                        <a:rPr lang="en-US" sz="1000" u="none" strike="noStrike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YW9-3005-98CY04 )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Other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Solder Paste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Plant 4 </a:t>
                      </a:r>
                    </a:p>
                    <a:p>
                      <a:r>
                        <a:rPr lang="en-US" sz="1000" dirty="0" smtClean="0">
                          <a:latin typeface="+mn-lt"/>
                        </a:rPr>
                        <a:t>(Asus &amp; Lenovo)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Compal Plant 4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n-lt"/>
                        </a:rPr>
                        <a:t>(</a:t>
                      </a:r>
                      <a:r>
                        <a:rPr lang="en-US" sz="1000" u="none" strike="noStrike" dirty="0" smtClean="0">
                          <a:effectLst/>
                          <a:latin typeface="+mn-lt"/>
                        </a:rPr>
                        <a:t>Senju M705-S101HF(NL3)-S4</a:t>
                      </a:r>
                      <a:endParaRPr lang="en-US" sz="1000" b="0" i="0" u="none" strike="noStrike" dirty="0" smtClean="0"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Plant 2 </a:t>
                      </a:r>
                    </a:p>
                    <a:p>
                      <a:r>
                        <a:rPr lang="en-US" sz="1000" dirty="0" smtClean="0">
                          <a:latin typeface="+mn-lt"/>
                        </a:rPr>
                        <a:t>(HP)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 CQ</a:t>
                      </a:r>
                    </a:p>
                    <a:p>
                      <a:r>
                        <a:rPr lang="en-US" sz="1000" dirty="0" smtClean="0">
                          <a:latin typeface="+mn-lt"/>
                        </a:rPr>
                        <a:t>(Tamura TLF-204-93 IVT</a:t>
                      </a:r>
                      <a:r>
                        <a:rPr lang="en-US" sz="1000" baseline="0" dirty="0" smtClean="0">
                          <a:latin typeface="+mn-lt"/>
                        </a:rPr>
                        <a:t>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Inventec</a:t>
                      </a:r>
                      <a:r>
                        <a:rPr lang="en-US" sz="100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strike="noStrike" dirty="0" smtClean="0">
                          <a:effectLst/>
                          <a:latin typeface="+mn-lt"/>
                          <a:ea typeface="+mn-ea"/>
                        </a:rPr>
                        <a:t>Pegatron Suzhou Plant 6 (JDM1/MSFT) </a:t>
                      </a:r>
                    </a:p>
                    <a:p>
                      <a:r>
                        <a:rPr lang="en-US" sz="1000" u="none" strike="noStrike" dirty="0" smtClean="0">
                          <a:effectLst/>
                          <a:latin typeface="+mn-lt"/>
                          <a:ea typeface="+mn-ea"/>
                        </a:rPr>
                        <a:t>(Senju M705-S101HF(N4)-S5 </a:t>
                      </a:r>
                      <a:r>
                        <a:rPr lang="en-US" sz="1000" b="1" u="none" strike="noStrike" dirty="0" smtClean="0">
                          <a:effectLst/>
                          <a:latin typeface="+mn-lt"/>
                          <a:ea typeface="+mn-ea"/>
                        </a:rPr>
                        <a:t>Type 5</a:t>
                      </a:r>
                      <a:r>
                        <a:rPr lang="en-US" sz="1000" u="none" strike="noStrike" dirty="0" smtClean="0"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Compal Plant 3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n-lt"/>
                        </a:rPr>
                        <a:t>(Dell)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(KOKI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S3X58-M406)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CQ/SH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Wistron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(</a:t>
                      </a:r>
                      <a:r>
                        <a:rPr lang="en-US" sz="1000" u="none" strike="noStrike" dirty="0" smtClean="0">
                          <a:effectLst/>
                          <a:latin typeface="+mn-lt"/>
                          <a:ea typeface="+mn-ea"/>
                        </a:rPr>
                        <a:t>Senju M705-S101ZH-S4(W2)</a:t>
                      </a:r>
                      <a:endParaRPr lang="en-US" sz="1000" b="0" i="0" u="none" strike="noStrike" dirty="0" smtClean="0">
                        <a:effectLst/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effectLst/>
                          <a:latin typeface="+mn-lt"/>
                          <a:ea typeface="+mn-ea"/>
                        </a:rPr>
                        <a:t>Foxconn WH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effectLst/>
                          <a:latin typeface="+mn-lt"/>
                          <a:ea typeface="+mn-ea"/>
                        </a:rPr>
                        <a:t>(Loctite</a:t>
                      </a:r>
                      <a:r>
                        <a:rPr lang="en-US" sz="1000" b="0" i="0" u="none" strike="noStrike" baseline="0" dirty="0" smtClean="0">
                          <a:effectLst/>
                          <a:latin typeface="+mn-lt"/>
                          <a:ea typeface="+mn-ea"/>
                        </a:rPr>
                        <a:t> HF108)</a:t>
                      </a:r>
                      <a:endParaRPr lang="en-US" sz="1000" b="0" i="0" u="none" strike="noStrike" dirty="0" smtClean="0">
                        <a:effectLst/>
                        <a:latin typeface="+mn-lt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Pegatron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Suzhou </a:t>
                      </a:r>
                      <a:endParaRPr lang="en-US" altLang="zh-CN" sz="1000" dirty="0" smtClean="0">
                        <a:latin typeface="+mn-lt"/>
                      </a:endParaRPr>
                    </a:p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</a:p>
                    <a:p>
                      <a:r>
                        <a:rPr lang="en-US" sz="1000" baseline="0" dirty="0" smtClean="0">
                          <a:latin typeface="+mn-lt"/>
                        </a:rPr>
                        <a:t>(Senju M705-XXX-S4) </a:t>
                      </a:r>
                      <a:r>
                        <a:rPr lang="en-US" sz="1000" b="1" baseline="0" dirty="0" smtClean="0">
                          <a:latin typeface="+mn-lt"/>
                        </a:rPr>
                        <a:t>*AND*</a:t>
                      </a:r>
                      <a:r>
                        <a:rPr lang="en-US" sz="1000" baseline="0" dirty="0" smtClean="0">
                          <a:latin typeface="+mn-lt"/>
                        </a:rPr>
                        <a:t/>
                      </a:r>
                      <a:br>
                        <a:rPr lang="en-US" sz="1000" baseline="0" dirty="0" smtClean="0">
                          <a:latin typeface="+mn-lt"/>
                        </a:rPr>
                      </a:br>
                      <a:r>
                        <a:rPr lang="en-US" sz="1000" baseline="0" dirty="0" smtClean="0">
                          <a:latin typeface="+mn-lt"/>
                        </a:rPr>
                        <a:t>(</a:t>
                      </a:r>
                      <a:r>
                        <a:rPr lang="en-US" sz="1000" baseline="0" dirty="0" smtClean="0">
                          <a:solidFill>
                            <a:srgbClr val="00B050"/>
                          </a:solidFill>
                          <a:latin typeface="+mn-lt"/>
                        </a:rPr>
                        <a:t>LTS paste on next page</a:t>
                      </a:r>
                      <a:r>
                        <a:rPr lang="en-US" sz="1000" baseline="0" dirty="0" smtClean="0">
                          <a:latin typeface="+mn-lt"/>
                        </a:rPr>
                        <a:t>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Plant</a:t>
                      </a:r>
                      <a:r>
                        <a:rPr lang="en-US" sz="1000" baseline="0" dirty="0" smtClean="0">
                          <a:latin typeface="+mn-lt"/>
                        </a:rPr>
                        <a:t> 3</a:t>
                      </a:r>
                      <a:endParaRPr lang="en-US" sz="1000" dirty="0" smtClean="0">
                        <a:latin typeface="+mn-lt"/>
                      </a:endParaRPr>
                    </a:p>
                    <a:p>
                      <a:r>
                        <a:rPr lang="en-US" sz="1000" dirty="0" smtClean="0">
                          <a:latin typeface="+mn-lt"/>
                        </a:rPr>
                        <a:t>(Dell)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</a:p>
                    <a:p>
                      <a:r>
                        <a:rPr lang="en-US" sz="1000" baseline="0" dirty="0" smtClean="0">
                          <a:latin typeface="+mn-lt"/>
                        </a:rPr>
                        <a:t>(Senju M705-S101ZH-S4(W2)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97969" y="3025148"/>
            <a:ext cx="8841924" cy="21452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Shenmao PF606-P is still widely used by many TW ODMs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400" dirty="0" smtClean="0">
                <a:cs typeface="Arial" pitchFamily="34" charset="0"/>
              </a:rPr>
              <a:t>Senju is also widely used in the industry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sz="1400" dirty="0" smtClean="0">
                <a:cs typeface="Arial" pitchFamily="34" charset="0"/>
              </a:rPr>
              <a:t>Compal is using Yunnan Tin/Eunow across different plants (</a:t>
            </a:r>
            <a:r>
              <a:rPr lang="en-US" altLang="zh-CN" sz="1400" dirty="0" smtClean="0">
                <a:cs typeface="Arial" pitchFamily="34" charset="0"/>
              </a:rPr>
              <a:t>No change from last survey)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Recent request was made in the PTR to remove YT solder paste from the MAS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baseline="0" dirty="0" smtClean="0">
                <a:cs typeface="Arial" pitchFamily="34" charset="0"/>
              </a:rPr>
              <a:t>Microsoft</a:t>
            </a:r>
            <a:r>
              <a:rPr lang="en-US" sz="1400" dirty="0" smtClean="0">
                <a:cs typeface="Arial" pitchFamily="34" charset="0"/>
              </a:rPr>
              <a:t> (JDM1) is switching their factories away from Indium, over to Senju (they claim that Shenmao doesn’t print well)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u="sng" dirty="0" smtClean="0">
                <a:cs typeface="Arial" pitchFamily="34" charset="0"/>
              </a:rPr>
              <a:t>Other information: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cs typeface="Arial" pitchFamily="34" charset="0"/>
              </a:rPr>
              <a:t>Most customers are not ready/not in progress switch to type 5 paste (except for Microsoft, using Type 5)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90" y="4894622"/>
            <a:ext cx="3809153" cy="1396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347" y="5237300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Mobile/Client</a:t>
            </a:r>
          </a:p>
          <a:p>
            <a:pPr algn="ctr"/>
            <a:r>
              <a:rPr lang="en-US" dirty="0" smtClean="0"/>
              <a:t>MAS: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1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1028-66B5-49AE-B47F-975F676A8A28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" y="76200"/>
            <a:ext cx="73228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LTS Solder </a:t>
            </a:r>
            <a:r>
              <a:rPr lang="en-US" sz="2000" b="1" dirty="0"/>
              <a:t>Paste Formulation </a:t>
            </a:r>
            <a:r>
              <a:rPr lang="en-US" sz="2000" b="1" dirty="0" smtClean="0"/>
              <a:t>(Brand </a:t>
            </a:r>
            <a:r>
              <a:rPr lang="en-US" sz="2000" b="1" dirty="0"/>
              <a:t>and </a:t>
            </a:r>
            <a:r>
              <a:rPr lang="en-US" sz="2000" b="1" dirty="0" smtClean="0"/>
              <a:t>Model)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670119"/>
              </p:ext>
            </p:extLst>
          </p:nvPr>
        </p:nvGraphicFramePr>
        <p:xfrm>
          <a:off x="152400" y="533400"/>
          <a:ext cx="8763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/>
                <a:gridCol w="2367643"/>
                <a:gridCol w="2013857"/>
                <a:gridCol w="21907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Alpha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OM550L-HRL2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Senju L28-143HF (L)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Others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 (First Source LTS</a:t>
                      </a:r>
                      <a:r>
                        <a:rPr lang="en-US" sz="1000" baseline="0" dirty="0" smtClean="0">
                          <a:latin typeface="+mn-lt"/>
                        </a:rPr>
                        <a:t> Paste)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effectLst/>
                          <a:latin typeface="+mn-lt"/>
                        </a:rPr>
                        <a:t>LCFC (Second Source LTS Paste)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5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 bwMode="auto">
          <a:xfrm>
            <a:off x="76200" y="3607408"/>
            <a:ext cx="8966947" cy="37457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LCFC is the only customer that we are aware is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using LTS in HVM </a:t>
            </a:r>
            <a:r>
              <a:rPr lang="en-US" sz="1600" dirty="0" smtClean="0">
                <a:cs typeface="Arial" pitchFamily="34" charset="0"/>
              </a:rPr>
              <a:t>(mobile/client)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25" y="4723984"/>
            <a:ext cx="5983941" cy="11520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3443" y="4422165"/>
            <a:ext cx="237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Cannon Lake MAS: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3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7C5307-4D7E-4EAF-95D5-3B9F35D670D9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790" y="16933"/>
            <a:ext cx="8685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Stencil </a:t>
            </a:r>
            <a:r>
              <a:rPr lang="en-US" b="1" dirty="0" smtClean="0"/>
              <a:t>Thickness, mfg process, stencil vendor and minimum AR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02485"/>
              </p:ext>
            </p:extLst>
          </p:nvPr>
        </p:nvGraphicFramePr>
        <p:xfrm>
          <a:off x="152400" y="457202"/>
          <a:ext cx="8610601" cy="341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676400"/>
                <a:gridCol w="2743200"/>
                <a:gridCol w="2362200"/>
                <a:gridCol w="60960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Stencil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Thickness for Y and U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Stencil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mfg process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Stencil Vendor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Min AR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0.1mm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  <a:r>
                        <a:rPr lang="en-US" sz="1000" baseline="0" dirty="0" smtClean="0">
                          <a:latin typeface="+mn-lt"/>
                        </a:rPr>
                        <a:t> + f</a:t>
                      </a:r>
                      <a:r>
                        <a:rPr lang="en-US" sz="1000" dirty="0" smtClean="0">
                          <a:latin typeface="+mn-lt"/>
                        </a:rPr>
                        <a:t>ine grain &amp;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baseline="0" dirty="0" err="1" smtClean="0">
                          <a:latin typeface="+mn-lt"/>
                        </a:rPr>
                        <a:t>n</a:t>
                      </a:r>
                      <a:r>
                        <a:rPr lang="en-US" sz="1000" dirty="0" err="1" smtClean="0">
                          <a:latin typeface="+mn-lt"/>
                        </a:rPr>
                        <a:t>ano</a:t>
                      </a:r>
                      <a:r>
                        <a:rPr lang="en-US" sz="1000" dirty="0" smtClean="0">
                          <a:latin typeface="+mn-lt"/>
                        </a:rPr>
                        <a:t> coat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Fosen</a:t>
                      </a:r>
                      <a:r>
                        <a:rPr lang="en-US" sz="1000" dirty="0" smtClean="0">
                          <a:latin typeface="+mn-lt"/>
                        </a:rPr>
                        <a:t> &amp; 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&gt;=0.08mm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Fosen</a:t>
                      </a:r>
                      <a:r>
                        <a:rPr lang="en-US" sz="1000" dirty="0" smtClean="0">
                          <a:latin typeface="+mn-lt"/>
                        </a:rPr>
                        <a:t> &amp; 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&gt;=0.08mm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Fosen</a:t>
                      </a:r>
                      <a:r>
                        <a:rPr lang="en-US" sz="1000" dirty="0" smtClean="0">
                          <a:latin typeface="+mn-lt"/>
                        </a:rPr>
                        <a:t> &amp; 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Follow</a:t>
                      </a:r>
                      <a:r>
                        <a:rPr lang="en-US" sz="1000" baseline="0" dirty="0" smtClean="0">
                          <a:latin typeface="+mn-lt"/>
                        </a:rPr>
                        <a:t> Intel MAS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Fosen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Prefer 0.1mm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Internal Lab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Follow Intel MAS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Forsen</a:t>
                      </a:r>
                      <a:r>
                        <a:rPr lang="en-US" sz="1000" dirty="0" smtClean="0">
                          <a:latin typeface="+mn-lt"/>
                        </a:rPr>
                        <a:t> &amp; 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0.13mm(U), 0.1mm(Y)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 + fine grain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latin typeface="+mn-lt"/>
                        </a:rPr>
                        <a:t>美微科技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0.08mm-0.1mm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 + </a:t>
                      </a:r>
                      <a:r>
                        <a:rPr lang="en-US" sz="1000" dirty="0" err="1" smtClean="0">
                          <a:latin typeface="+mn-lt"/>
                        </a:rPr>
                        <a:t>nano</a:t>
                      </a:r>
                      <a:r>
                        <a:rPr lang="en-US" sz="1000" dirty="0" smtClean="0">
                          <a:latin typeface="+mn-lt"/>
                        </a:rPr>
                        <a:t> coat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0.1mm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 or E-form (for Y) + </a:t>
                      </a:r>
                      <a:r>
                        <a:rPr lang="en-US" sz="1000" dirty="0" err="1" smtClean="0">
                          <a:latin typeface="+mn-lt"/>
                        </a:rPr>
                        <a:t>nano</a:t>
                      </a:r>
                      <a:r>
                        <a:rPr lang="en-US" sz="1000" baseline="0" dirty="0" smtClean="0">
                          <a:latin typeface="+mn-lt"/>
                        </a:rPr>
                        <a:t> coat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Desco</a:t>
                      </a:r>
                      <a:r>
                        <a:rPr lang="en-US" sz="1000" dirty="0" smtClean="0">
                          <a:latin typeface="+mn-lt"/>
                        </a:rPr>
                        <a:t> (DEK)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0.1mm-0.13mm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dirty="0" smtClean="0">
                          <a:latin typeface="+mn-lt"/>
                        </a:rPr>
                        <a:t>Zhuo Li Da&amp;Yun Sheng Ji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0.08mm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Sunshine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</a:t>
                      </a:r>
                      <a:r>
                        <a:rPr lang="en-US" altLang="zh-CN" sz="1000" baseline="0" dirty="0" smtClean="0"/>
                        <a:t>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0.12mm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Laser Cut and electro polishing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Internal Lab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71066" y="3914466"/>
            <a:ext cx="8927417" cy="15323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Most customer still prefer 3mil stencil thickness for -Y, and 4/5mil stencil thickness for -U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Thinner stencil</a:t>
            </a:r>
            <a:r>
              <a:rPr lang="en-US" sz="1400" dirty="0">
                <a:cs typeface="Arial" pitchFamily="34" charset="0"/>
              </a:rPr>
              <a:t> </a:t>
            </a:r>
            <a:r>
              <a:rPr lang="en-US" sz="1400" dirty="0" smtClean="0">
                <a:cs typeface="Arial" pitchFamily="34" charset="0"/>
              </a:rPr>
              <a:t>will cause insufficient past on other components (connectors)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sz="1400" dirty="0" smtClean="0">
                <a:cs typeface="Arial" pitchFamily="34" charset="0"/>
              </a:rPr>
              <a:t>Laser cut is still the mainstream, fine grain and nano coat also being used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sz="1400" dirty="0" err="1" smtClean="0">
                <a:cs typeface="Arial" pitchFamily="34" charset="0"/>
              </a:rPr>
              <a:t>Fosen</a:t>
            </a:r>
            <a:r>
              <a:rPr lang="en-US" sz="1400" dirty="0" smtClean="0">
                <a:cs typeface="Arial" pitchFamily="34" charset="0"/>
              </a:rPr>
              <a:t> and Sunshine are the major stencil suppliers in PRC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sz="1400" dirty="0" smtClean="0">
                <a:cs typeface="Arial" pitchFamily="34" charset="0"/>
              </a:rPr>
              <a:t>Most customer still maintain a 0.66 min Area Ration (AR), but </a:t>
            </a:r>
            <a:r>
              <a:rPr lang="en-US" sz="1400" dirty="0" smtClean="0">
                <a:cs typeface="Arial" pitchFamily="34" charset="0"/>
              </a:rPr>
              <a:t>Wistron &amp; </a:t>
            </a:r>
            <a:r>
              <a:rPr lang="en-US" sz="1400" dirty="0" smtClean="0">
                <a:cs typeface="Arial" pitchFamily="34" charset="0"/>
              </a:rPr>
              <a:t>Microsoft </a:t>
            </a:r>
            <a:r>
              <a:rPr lang="en-US" sz="1400" dirty="0" smtClean="0">
                <a:cs typeface="Arial" pitchFamily="34" charset="0"/>
              </a:rPr>
              <a:t>can </a:t>
            </a:r>
            <a:r>
              <a:rPr lang="en-US" sz="1400" dirty="0" smtClean="0">
                <a:cs typeface="Arial" pitchFamily="34" charset="0"/>
              </a:rPr>
              <a:t>achieve lower AR 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840" y="5566657"/>
            <a:ext cx="802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Mobile/Client MAS: -H &amp; -U Series (4 &amp; 5 mil), -Y Series (3 &amp; 4 mil)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C947FA-BB6F-47FC-8DC5-71BADE8E49B4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51084" y="2437511"/>
            <a:ext cx="10150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PNP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309910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4E1DCF-36CD-4C89-8560-F8219E39F2A0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76200"/>
            <a:ext cx="4511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Pitch, Ball size and Vision system</a:t>
            </a:r>
            <a:endParaRPr lang="en-US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0214"/>
              </p:ext>
            </p:extLst>
          </p:nvPr>
        </p:nvGraphicFramePr>
        <p:xfrm>
          <a:off x="152400" y="457202"/>
          <a:ext cx="8610600" cy="341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73217"/>
                <a:gridCol w="2827383"/>
                <a:gridCol w="2667000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Minimum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ball pitch experienced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Minimum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ball pitch PnP machine can recognize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Minimum</a:t>
                      </a:r>
                      <a:r>
                        <a:rPr lang="en-US" altLang="zh-CN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ball size PnP machine can recognize</a:t>
                      </a:r>
                      <a:endParaRPr lang="en-US" altLang="zh-CN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 mm (Panasonic NPM)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8mil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 (Panasonic CM602)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9mil (Panasonic NPM)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0.3mm (Panasonic), 0.4mm (Fuji)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7mil (Panasonic), 10mil (Fuji)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0.4mm,</a:t>
                      </a:r>
                      <a:r>
                        <a:rPr lang="en-US" sz="1000" baseline="0" dirty="0" smtClean="0">
                          <a:latin typeface="+mn-lt"/>
                        </a:rPr>
                        <a:t> 0.15mm (offline camera)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10mil, 3.5mil (offline camera)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0.35mm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0.4mm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 bwMode="auto">
          <a:xfrm>
            <a:off x="89014" y="3921978"/>
            <a:ext cx="8919253" cy="16344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0.4mm pitch still the main stream of the lowest ball pitch</a:t>
            </a: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&lt; 0.4 mm ball pitch is still challenging for most ODM customers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Apple’s expectation: HT package warpage must be held &lt;60um for &lt;0.4mm pitch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 smtClean="0">
                <a:cs typeface="Arial" pitchFamily="34" charset="0"/>
              </a:rPr>
              <a:t>Also, FYI, square packages (with tighter pitches) are easier to manufacturer than rectangular packages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Some customer have 0.35mm pitch experience on small BGAs (&lt;8x8mm) 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1916340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2A946610-8897-4139-B1D0-7D45B00677D7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SPI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176248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4E1DCF-36CD-4C89-8560-F8219E39F2A0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76200"/>
            <a:ext cx="8460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SPI brand/model#, camera resolution and volume up/low limit</a:t>
            </a:r>
            <a:endParaRPr lang="en-US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830690"/>
              </p:ext>
            </p:extLst>
          </p:nvPr>
        </p:nvGraphicFramePr>
        <p:xfrm>
          <a:off x="152400" y="457202"/>
          <a:ext cx="8610600" cy="4129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288"/>
                <a:gridCol w="1876843"/>
                <a:gridCol w="2679469"/>
                <a:gridCol w="2667000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SPI brand/model#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Camera resolution (x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um/pixel)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Paste Volume</a:t>
                      </a:r>
                      <a:r>
                        <a:rPr lang="en-US" altLang="zh-CN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</a:p>
                    <a:p>
                      <a:r>
                        <a:rPr lang="en-US" altLang="zh-CN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Upper/Lower limit (from theoretical paste volume)</a:t>
                      </a:r>
                      <a:endParaRPr lang="en-US" altLang="zh-CN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00" dirty="0" smtClean="0">
                          <a:latin typeface="+mn-lt"/>
                        </a:rPr>
                        <a:t>TRI 7007 SII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00" dirty="0" smtClean="0">
                          <a:latin typeface="+mn-lt"/>
                        </a:rPr>
                        <a:t>KY 8038-3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TRI:</a:t>
                      </a:r>
                      <a:r>
                        <a:rPr lang="en-US" sz="1000" baseline="0" dirty="0" smtClean="0">
                          <a:latin typeface="+mn-lt"/>
                        </a:rPr>
                        <a:t> 15um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n-lt"/>
                        </a:rPr>
                        <a:t>KY: 12um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-40% to +60%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Cyber Optic SE500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30um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-50% to +50%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Saki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XXX,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Cyber Optic SE500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30um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-50% to +50%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Cyber Optic SE500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-45% to +45%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Cyber Optic SE500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-40% to +60%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 8030-3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23.5um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-60% to +70%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 8038-3XDL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12.5um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-55% to +70%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TRI 7007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 8030L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-50% to +50%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8030L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-50% to +50%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TRI 7007i SII plus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-50% to +60%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</a:t>
                      </a:r>
                      <a:r>
                        <a:rPr lang="en-US" altLang="zh-CN" sz="1000" baseline="0" dirty="0" smtClean="0"/>
                        <a:t>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TRI 7006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 2NB/3/L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15-25um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-50% to +50%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KY 8030L/8030L-2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15&amp;23.5um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-40% to +60%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 bwMode="auto">
          <a:xfrm>
            <a:off x="158001" y="4680520"/>
            <a:ext cx="8604999" cy="9194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KY, TRI and Cyber Optic are the most common brands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Paste volume limits vary across ODMs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Customers screen by global BGA package limits (CPTD screens by each pad)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" y="5610585"/>
            <a:ext cx="879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CPTD Setting is -50% to +50% from Theoretical Paste Volume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04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2A946610-8897-4139-B1D0-7D45B00677D7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15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/>
              <a:t>REFLOW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06373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016983-6F6C-470B-BDD9-8395467370F5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25400"/>
            <a:ext cx="5742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Reflow Belt Speed, Reflow Pallet Clearance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500317" y="4457123"/>
            <a:ext cx="7863050" cy="64698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Most customer belt speed &gt;1000mm/min, some reach to 1500mm/min</a:t>
            </a:r>
            <a:endParaRPr lang="en-US" sz="1600" dirty="0">
              <a:cs typeface="Arial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Typical reflow pallet clearance ~0.5mm up to 2mm 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26554"/>
              </p:ext>
            </p:extLst>
          </p:nvPr>
        </p:nvGraphicFramePr>
        <p:xfrm>
          <a:off x="500317" y="685800"/>
          <a:ext cx="8178320" cy="371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54"/>
                <a:gridCol w="3370775"/>
                <a:gridCol w="32347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Belt Speed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Reflow pallet clearance (space for thermal expansion during reflow)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1250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1350~1400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&lt;0.5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1100~1200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&lt;0.5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1050~1100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2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1500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1300~1500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1200~1500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0.5 mm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1200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0.5 mm/each side, 1 mm 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900~1200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3 side 0.4 mm, 1 side 1 mm, tooling pin only at one side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2 </a:t>
                      </a:r>
                      <a:r>
                        <a:rPr lang="en-US" sz="1000" smtClean="0">
                          <a:solidFill>
                            <a:schemeClr val="tx1"/>
                          </a:solidFill>
                          <a:latin typeface="+mn-lt"/>
                        </a:rPr>
                        <a:t>dowel</a:t>
                      </a:r>
                      <a:r>
                        <a:rPr lang="en-US" sz="100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pins are used to hold the board 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0.15 mm clearance from pins)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1000~1500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850~950 mm/min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88" y="5309532"/>
            <a:ext cx="7199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CPTD Setting: *1mm (min) clearance from all board edges [</a:t>
            </a:r>
            <a:r>
              <a:rPr lang="en-US" dirty="0"/>
              <a:t>f</a:t>
            </a:r>
            <a:r>
              <a:rPr lang="en-US" dirty="0" smtClean="0"/>
              <a:t>or 1000mm or less boards]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68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" y="862965"/>
            <a:ext cx="5340187" cy="4343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New Automated Board Placement Into Reflow Pallets</a:t>
            </a:r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Compal has introduced a new automatic board handling flow. </a:t>
            </a:r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Before reflow, a machine will pick up the board and put it into the reflow pallet.</a:t>
            </a:r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The 4 raised edges </a:t>
            </a:r>
            <a:r>
              <a:rPr lang="en-US" dirty="0" smtClean="0">
                <a:solidFill>
                  <a:srgbClr val="FF0000"/>
                </a:solidFill>
              </a:rPr>
              <a:t>(circled)</a:t>
            </a:r>
            <a:r>
              <a:rPr lang="en-US" dirty="0" smtClean="0"/>
              <a:t> act as a guide - even if there is an offset by the pickup machine, the board will still sit correctly into the pallet.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Board Hold Down Usage Methodology</a:t>
            </a:r>
            <a:endParaRPr lang="en-US" dirty="0"/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Since Compal started using automated handling, they cannot use clamps or Kapton tape for board hold down. </a:t>
            </a:r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Their current rule is if the board has EMI fences/shields, they will use a top hat cover to hold down the shields </a:t>
            </a:r>
            <a:r>
              <a:rPr lang="en-US" dirty="0" smtClean="0">
                <a:solidFill>
                  <a:srgbClr val="0000FF"/>
                </a:solidFill>
              </a:rPr>
              <a:t>(circled)</a:t>
            </a:r>
            <a:r>
              <a:rPr lang="en-US" dirty="0" smtClean="0"/>
              <a:t>.</a:t>
            </a:r>
          </a:p>
          <a:p>
            <a:pPr marL="800100" lvl="2">
              <a:buFont typeface="Arial" panose="020B0604020202020204" pitchFamily="34" charset="0"/>
              <a:buChar char="•"/>
            </a:pPr>
            <a:r>
              <a:rPr lang="en-US" dirty="0" smtClean="0"/>
              <a:t>If there is no shield, they will use a pallet w/o clamps or tape.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7953" y="-16510"/>
            <a:ext cx="5145087" cy="889000"/>
          </a:xfrm>
        </p:spPr>
        <p:txBody>
          <a:bodyPr/>
          <a:lstStyle/>
          <a:p>
            <a:r>
              <a:rPr lang="en-US" dirty="0" smtClean="0"/>
              <a:t>Reflow Pallet Design – Compal KS (Example Case)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pic>
        <p:nvPicPr>
          <p:cNvPr id="1026" name="Picture 1" descr="cid:image003.png@01D37D71.E1D140C0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069" y="-1270"/>
            <a:ext cx="3597593" cy="314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068" y="3169082"/>
            <a:ext cx="3597593" cy="367463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 bwMode="auto">
          <a:xfrm flipV="1">
            <a:off x="4396740" y="5173980"/>
            <a:ext cx="1950720" cy="19050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3817620" y="2392680"/>
            <a:ext cx="1950720" cy="19050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27792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3B720802-CE9E-463C-84E8-E42448681EBC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18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Yield Target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520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016983-6F6C-470B-BDD9-8395467370F5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25400"/>
            <a:ext cx="230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BGA yield target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308315" y="4503095"/>
            <a:ext cx="8643257" cy="119181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Customer SMT &amp; Rework yield expectations are high for BGAs:</a:t>
            </a:r>
            <a:endParaRPr lang="en-US" sz="1600" dirty="0">
              <a:cs typeface="Arial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SMT Yield expectations between 300-1000 DPM for Intel BGA </a:t>
            </a:r>
            <a:r>
              <a:rPr lang="en-US" sz="1600" b="1" dirty="0" smtClean="0">
                <a:cs typeface="Arial" pitchFamily="34" charset="0"/>
              </a:rPr>
              <a:t>or</a:t>
            </a:r>
            <a:r>
              <a:rPr lang="en-US" sz="1600" dirty="0" smtClean="0">
                <a:cs typeface="Arial" pitchFamily="34" charset="0"/>
              </a:rPr>
              <a:t> 2500-5000 for whole MB, depending on the ODM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cs typeface="Arial" pitchFamily="34" charset="0"/>
              </a:rPr>
              <a:t>Rework Yield expectations between 85-98%, depending on the ODM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38099"/>
              </p:ext>
            </p:extLst>
          </p:nvPr>
        </p:nvGraphicFramePr>
        <p:xfrm>
          <a:off x="524809" y="370081"/>
          <a:ext cx="7892570" cy="4088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802"/>
                <a:gridCol w="3253000"/>
                <a:gridCol w="3121768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Intel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BGA SMT yield target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Intel</a:t>
                      </a:r>
                      <a:r>
                        <a:rPr lang="en-US" altLang="zh-CN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BGA rework yield target</a:t>
                      </a:r>
                      <a:endParaRPr lang="en-US" altLang="zh-CN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600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92%-95%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2500-3000 DPM (</a:t>
                      </a:r>
                      <a:r>
                        <a:rPr lang="en-US" altLang="zh-CN" sz="1000" b="1" dirty="0" smtClean="0">
                          <a:latin typeface="+mn-lt"/>
                        </a:rPr>
                        <a:t>Whole MB</a:t>
                      </a:r>
                      <a:r>
                        <a:rPr lang="en-US" altLang="zh-CN" sz="1000" dirty="0" smtClean="0">
                          <a:latin typeface="+mn-lt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85%-90%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2500-3000 DPM (</a:t>
                      </a:r>
                      <a:r>
                        <a:rPr lang="en-US" altLang="zh-CN" sz="1000" b="1" dirty="0" smtClean="0">
                          <a:latin typeface="+mn-lt"/>
                        </a:rPr>
                        <a:t>Whole MB</a:t>
                      </a:r>
                      <a:r>
                        <a:rPr lang="en-US" altLang="zh-CN" sz="1000" dirty="0" smtClean="0">
                          <a:latin typeface="+mn-lt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85%-90%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1000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 (Plant 3 / Dell)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 (Plant</a:t>
                      </a:r>
                      <a:r>
                        <a:rPr lang="en-US" sz="1000" baseline="0" dirty="0" smtClean="0">
                          <a:latin typeface="+mn-lt"/>
                        </a:rPr>
                        <a:t> 4 / Lenovo)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300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5000 DPM (</a:t>
                      </a:r>
                      <a:r>
                        <a:rPr lang="en-US" sz="1000" b="1" baseline="0" dirty="0" smtClean="0">
                          <a:latin typeface="+mn-lt"/>
                        </a:rPr>
                        <a:t>Whole MB</a:t>
                      </a:r>
                      <a:r>
                        <a:rPr lang="en-US" sz="1000" baseline="0" dirty="0" smtClean="0">
                          <a:latin typeface="+mn-lt"/>
                        </a:rPr>
                        <a:t>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N/A.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Rework With corner underfill: 85%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Rework Without corner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92%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5000 DPM (</a:t>
                      </a:r>
                      <a:r>
                        <a:rPr lang="en-US" sz="1000" b="1" baseline="0" dirty="0" smtClean="0">
                          <a:latin typeface="+mn-lt"/>
                        </a:rPr>
                        <a:t>Whole MB</a:t>
                      </a:r>
                      <a:r>
                        <a:rPr lang="en-US" sz="1000" baseline="0" dirty="0" smtClean="0">
                          <a:latin typeface="+mn-lt"/>
                        </a:rPr>
                        <a:t>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500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1000 DPM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5000 DPM (</a:t>
                      </a:r>
                      <a:r>
                        <a:rPr lang="en-US" altLang="zh-CN" sz="1000" b="1" baseline="0" dirty="0" smtClean="0">
                          <a:latin typeface="+mn-lt"/>
                        </a:rPr>
                        <a:t>Whole MB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)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</a:t>
                      </a:r>
                      <a:r>
                        <a:rPr lang="en-US" altLang="zh-CN" sz="1000" baseline="0" dirty="0" smtClean="0"/>
                        <a:t>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5000 DPM </a:t>
                      </a:r>
                      <a:r>
                        <a:rPr lang="en-US" sz="1000" dirty="0" smtClean="0">
                          <a:latin typeface="+mn-lt"/>
                        </a:rPr>
                        <a:t>(</a:t>
                      </a:r>
                      <a:r>
                        <a:rPr lang="en-US" sz="1000" b="1" baseline="0" dirty="0" smtClean="0">
                          <a:latin typeface="+mn-lt"/>
                        </a:rPr>
                        <a:t>Whole MB</a:t>
                      </a:r>
                      <a:r>
                        <a:rPr lang="en-US" sz="1000" baseline="0" dirty="0" smtClean="0">
                          <a:latin typeface="+mn-lt"/>
                        </a:rPr>
                        <a:t>)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98%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514423" y="5670256"/>
            <a:ext cx="8502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CPTD </a:t>
            </a:r>
            <a:r>
              <a:rPr lang="en-US" dirty="0" smtClean="0"/>
              <a:t>Setting: SMT &amp; Rework Validation (At PRQ) = 99.5% @ 90% CL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0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ABE2FC7-05C3-4E29-9CB5-29E80127A999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20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2973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DFDC7-3A65-47C1-A20C-64E9B2C8B7A5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9476" y="76200"/>
            <a:ext cx="7722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Rework Process </a:t>
            </a:r>
            <a:r>
              <a:rPr lang="en-US" b="1" dirty="0" smtClean="0"/>
              <a:t>(flux material used for flux-only rework)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93704"/>
              </p:ext>
            </p:extLst>
          </p:nvPr>
        </p:nvGraphicFramePr>
        <p:xfrm>
          <a:off x="324550" y="679299"/>
          <a:ext cx="834938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311"/>
                <a:gridCol w="3485662"/>
                <a:gridCol w="3531416"/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Customer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Flux-Only Material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Comments</a:t>
                      </a:r>
                      <a:endParaRPr lang="en-US" sz="12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Shenmao</a:t>
                      </a:r>
                      <a:r>
                        <a:rPr lang="en-US" sz="1000" dirty="0" smtClean="0">
                          <a:latin typeface="+mn-lt"/>
                        </a:rPr>
                        <a:t> SMF-2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Shenmao</a:t>
                      </a:r>
                      <a:r>
                        <a:rPr lang="en-US" sz="1000" dirty="0" smtClean="0">
                          <a:latin typeface="+mn-lt"/>
                        </a:rPr>
                        <a:t> (???)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err="1" smtClean="0">
                          <a:latin typeface="+mn-lt"/>
                        </a:rPr>
                        <a:t>Shenmao</a:t>
                      </a:r>
                      <a:r>
                        <a:rPr lang="en-US" altLang="zh-CN" sz="1000" dirty="0" smtClean="0">
                          <a:latin typeface="+mn-lt"/>
                        </a:rPr>
                        <a:t> (???)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AIM solder paste flux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NC254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AIM solder paste flux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sz="1000" dirty="0" smtClean="0">
                          <a:latin typeface="+mn-lt"/>
                        </a:rPr>
                        <a:t>NC254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latin typeface="+mn-lt"/>
                        </a:rPr>
                        <a:t>Shenmao</a:t>
                      </a:r>
                      <a:r>
                        <a:rPr lang="en-US" sz="1000" dirty="0" smtClean="0">
                          <a:latin typeface="+mn-lt"/>
                        </a:rPr>
                        <a:t> SMF-2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N/A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>
                          <a:latin typeface="+mn-lt"/>
                        </a:rPr>
                        <a:t>SAC305 paste on board, not using flux only rework</a:t>
                      </a:r>
                      <a:endParaRPr lang="en-US" altLang="zh-CN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PASTE FLUX 7LV (Alpha)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Most rework process use paste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Need match the printing solder paste (paste flux)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Yi Cheng Da,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Model:RW-3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For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sz="1000" dirty="0" smtClean="0">
                          <a:latin typeface="+mn-lt"/>
                        </a:rPr>
                        <a:t>Intel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BGA, always use paste print on board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aseline="0" dirty="0" smtClean="0"/>
                        <a:t>N/A (Customer didn’t answer)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Henkel HF108RWF or Vital LF4000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 bwMode="auto">
          <a:xfrm>
            <a:off x="199953" y="4199417"/>
            <a:ext cx="8859982" cy="9194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cs typeface="Arial" pitchFamily="34" charset="0"/>
              </a:rPr>
              <a:t>F</a:t>
            </a:r>
            <a:r>
              <a:rPr lang="en-US" sz="1600" dirty="0" smtClean="0">
                <a:cs typeface="Arial" pitchFamily="34" charset="0"/>
              </a:rPr>
              <a:t>or -Y package (with 0.43mm pitch), to p</a:t>
            </a:r>
            <a:r>
              <a:rPr lang="en-US" altLang="zh-CN" sz="1600" dirty="0" smtClean="0">
                <a:cs typeface="Arial" pitchFamily="34" charset="0"/>
              </a:rPr>
              <a:t>rint </a:t>
            </a:r>
            <a:r>
              <a:rPr lang="en-US" altLang="zh-CN" sz="1600" dirty="0">
                <a:cs typeface="Arial" pitchFamily="34" charset="0"/>
              </a:rPr>
              <a:t>paste </a:t>
            </a:r>
            <a:r>
              <a:rPr lang="en-US" altLang="zh-CN" sz="1600" dirty="0" smtClean="0">
                <a:cs typeface="Arial" pitchFamily="34" charset="0"/>
              </a:rPr>
              <a:t>onto the </a:t>
            </a:r>
            <a:r>
              <a:rPr lang="en-US" altLang="zh-CN" sz="1600" dirty="0">
                <a:cs typeface="Arial" pitchFamily="34" charset="0"/>
              </a:rPr>
              <a:t>PCB</a:t>
            </a:r>
            <a:r>
              <a:rPr lang="en-US" sz="1600" dirty="0" smtClean="0">
                <a:cs typeface="Arial" pitchFamily="34" charset="0"/>
              </a:rPr>
              <a:t> with a mini-stencil is very challenging, customers have to use a flux-only rework process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zh-CN" sz="1600" dirty="0" smtClean="0">
                <a:cs typeface="Arial" pitchFamily="34" charset="0"/>
              </a:rPr>
              <a:t>However, a flux-only rework process may not be suitable for LTS rework process</a:t>
            </a:r>
            <a:endParaRPr lang="en-US" altLang="zh-CN" sz="1600" dirty="0">
              <a:cs typeface="Arial" pitchFamily="34" charset="0"/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" y="5314783"/>
            <a:ext cx="61073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CPTD </a:t>
            </a:r>
            <a:r>
              <a:rPr lang="en-US" dirty="0" smtClean="0"/>
              <a:t>Setting: </a:t>
            </a:r>
            <a:r>
              <a:rPr lang="en-US" dirty="0"/>
              <a:t>Alpha PoP 707 </a:t>
            </a:r>
            <a:r>
              <a:rPr lang="en-US" dirty="0" smtClean="0"/>
              <a:t>flux</a:t>
            </a:r>
          </a:p>
          <a:p>
            <a:r>
              <a:rPr lang="en-US" dirty="0" smtClean="0"/>
              <a:t>The Flux-only Material is </a:t>
            </a:r>
            <a:r>
              <a:rPr lang="en-US" smtClean="0"/>
              <a:t>not Mentioned </a:t>
            </a:r>
            <a:r>
              <a:rPr lang="en-US" dirty="0" smtClean="0"/>
              <a:t>in the 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913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1ABE2FC7-05C3-4E29-9CB5-29E80127A999}" type="datetime1">
              <a:rPr lang="en-US" sz="800" smtClean="0">
                <a:solidFill>
                  <a:srgbClr val="FFFFFF"/>
                </a:solidFill>
              </a:rPr>
              <a:t>4/23/2018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22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Adhesive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</p:spTree>
    <p:extLst>
      <p:ext uri="{BB962C8B-B14F-4D97-AF65-F5344CB8AC3E}">
        <p14:creationId xmlns:p14="http://schemas.microsoft.com/office/powerpoint/2010/main" val="5793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2" y="25699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46148" y="504098"/>
            <a:ext cx="8237537" cy="4343400"/>
          </a:xfrm>
        </p:spPr>
        <p:txBody>
          <a:bodyPr/>
          <a:lstStyle/>
          <a:p>
            <a:pPr marL="0" indent="0"/>
            <a:r>
              <a:rPr lang="en-US" b="1" dirty="0" smtClean="0"/>
              <a:t>Adhesive questions that were recently asked during Cannon Lake Platform Introduction, in 2017: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0" indent="0"/>
            <a:r>
              <a:rPr lang="en-US" b="1" dirty="0" smtClean="0">
                <a:solidFill>
                  <a:srgbClr val="00B050"/>
                </a:solidFill>
              </a:rPr>
              <a:t>Previously we had not been asking                                           customers about adhesive usage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20402"/>
          <a:stretch/>
        </p:blipFill>
        <p:spPr>
          <a:xfrm>
            <a:off x="5612179" y="828433"/>
            <a:ext cx="2578343" cy="5406082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43211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2" y="25699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46148" y="504098"/>
            <a:ext cx="8526402" cy="4343400"/>
          </a:xfrm>
        </p:spPr>
        <p:txBody>
          <a:bodyPr/>
          <a:lstStyle/>
          <a:p>
            <a:pPr marL="0" indent="0"/>
            <a:r>
              <a:rPr lang="en-US" b="1" dirty="0" smtClean="0"/>
              <a:t>Updated </a:t>
            </a:r>
            <a:r>
              <a:rPr lang="en-US" b="1" dirty="0"/>
              <a:t>a</a:t>
            </a:r>
            <a:r>
              <a:rPr lang="en-US" b="1" dirty="0" smtClean="0"/>
              <a:t>dhesive </a:t>
            </a:r>
            <a:r>
              <a:rPr lang="en-US" b="1" dirty="0"/>
              <a:t>q</a:t>
            </a:r>
            <a:r>
              <a:rPr lang="en-US" b="1" dirty="0" smtClean="0"/>
              <a:t>uestions to be asked </a:t>
            </a:r>
            <a:r>
              <a:rPr lang="en-US" b="1" dirty="0"/>
              <a:t>(</a:t>
            </a:r>
            <a:r>
              <a:rPr lang="en-US" b="1" dirty="0" smtClean="0"/>
              <a:t>Jan 2018) for a deeper understanding of adhesive usage across the ODM customer base:</a:t>
            </a:r>
          </a:p>
          <a:p>
            <a:endParaRPr lang="en-US" b="1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90" y="1285874"/>
            <a:ext cx="8010108" cy="464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76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055" y="731696"/>
            <a:ext cx="4723002" cy="112106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318255" y="3488155"/>
            <a:ext cx="4100061" cy="391886"/>
          </a:xfrm>
        </p:spPr>
        <p:txBody>
          <a:bodyPr/>
          <a:lstStyle/>
          <a:p>
            <a:r>
              <a:rPr lang="en-US" b="1" dirty="0" smtClean="0"/>
              <a:t>Pre-SMT </a:t>
            </a:r>
            <a:r>
              <a:rPr lang="en-US" b="1" dirty="0" err="1" smtClean="0"/>
              <a:t>Under</a:t>
            </a:r>
            <a:r>
              <a:rPr lang="en-US" b="1" u="sng" dirty="0" err="1" smtClean="0"/>
              <a:t>film</a:t>
            </a:r>
            <a:r>
              <a:rPr lang="en-US" b="1" dirty="0" smtClean="0"/>
              <a:t> - Concept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2" y="88219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684" y="3730079"/>
            <a:ext cx="5761037" cy="2163213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 rotWithShape="1">
          <a:blip r:embed="rId4"/>
          <a:srcRect l="12729" t="13287" r="19065" b="14406"/>
          <a:stretch/>
        </p:blipFill>
        <p:spPr>
          <a:xfrm rot="16200000">
            <a:off x="884954" y="357000"/>
            <a:ext cx="2345872" cy="3758437"/>
          </a:xfrm>
          <a:prstGeom prst="rect">
            <a:avLst/>
          </a:prstGeom>
        </p:spPr>
      </p:pic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87272" y="671398"/>
            <a:ext cx="4102783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 smtClean="0"/>
              <a:t>Corner “L-Shaped” Adhesive</a:t>
            </a:r>
            <a:endParaRPr lang="en-US" b="1" kern="0" dirty="0"/>
          </a:p>
        </p:txBody>
      </p:sp>
      <p:sp>
        <p:nvSpPr>
          <p:cNvPr id="11" name="Content Placeholder 1"/>
          <p:cNvSpPr txBox="1">
            <a:spLocks/>
          </p:cNvSpPr>
          <p:nvPr/>
        </p:nvSpPr>
        <p:spPr bwMode="auto">
          <a:xfrm>
            <a:off x="5074920" y="348388"/>
            <a:ext cx="3535680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b="1" kern="0" dirty="0" smtClean="0"/>
              <a:t>Corner Dot (Big or Small) Adhesive</a:t>
            </a:r>
            <a:endParaRPr lang="en-US" b="1" kern="0" dirty="0"/>
          </a:p>
        </p:txBody>
      </p:sp>
      <p:pic>
        <p:nvPicPr>
          <p:cNvPr id="12" name="圖片 2"/>
          <p:cNvPicPr>
            <a:picLocks noChangeAspect="1"/>
          </p:cNvPicPr>
          <p:nvPr/>
        </p:nvPicPr>
        <p:blipFill rotWithShape="1">
          <a:blip r:embed="rId5"/>
          <a:srcRect l="52118" b="17955"/>
          <a:stretch/>
        </p:blipFill>
        <p:spPr>
          <a:xfrm>
            <a:off x="7178039" y="1905462"/>
            <a:ext cx="1750373" cy="1513667"/>
          </a:xfrm>
          <a:prstGeom prst="rect">
            <a:avLst/>
          </a:prstGeom>
        </p:spPr>
      </p:pic>
      <p:sp>
        <p:nvSpPr>
          <p:cNvPr id="13" name="Content Placeholder 1"/>
          <p:cNvSpPr txBox="1">
            <a:spLocks/>
          </p:cNvSpPr>
          <p:nvPr/>
        </p:nvSpPr>
        <p:spPr bwMode="auto">
          <a:xfrm>
            <a:off x="5972650" y="2849677"/>
            <a:ext cx="1270160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b="1" kern="0" dirty="0" smtClean="0"/>
              <a:t>1 Dot</a:t>
            </a:r>
            <a:endParaRPr lang="en-US" b="1" kern="0" dirty="0"/>
          </a:p>
        </p:txBody>
      </p:sp>
      <p:sp>
        <p:nvSpPr>
          <p:cNvPr id="14" name="Content Placeholder 1"/>
          <p:cNvSpPr txBox="1">
            <a:spLocks/>
          </p:cNvSpPr>
          <p:nvPr/>
        </p:nvSpPr>
        <p:spPr bwMode="auto">
          <a:xfrm>
            <a:off x="5972650" y="1816562"/>
            <a:ext cx="1270160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b="1" kern="0" dirty="0"/>
              <a:t>3</a:t>
            </a:r>
            <a:r>
              <a:rPr lang="en-US" b="1" kern="0" dirty="0" smtClean="0"/>
              <a:t> Dots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421978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706" y="61323"/>
            <a:ext cx="8237537" cy="328160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87272" y="476410"/>
            <a:ext cx="5916840" cy="39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6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46063" indent="-244475" algn="l" rtl="0" eaLnBrk="0" fontAlgn="base" hangingPunct="0">
              <a:spcBef>
                <a:spcPct val="40000"/>
              </a:spcBef>
              <a:spcAft>
                <a:spcPct val="0"/>
              </a:spcAft>
              <a:buSzPct val="125000"/>
              <a:buFont typeface="Times" pitchFamily="18" charset="0"/>
              <a:buChar char="•"/>
              <a:defRPr>
                <a:solidFill>
                  <a:schemeClr val="tx1"/>
                </a:solidFill>
                <a:latin typeface="+mn-lt"/>
              </a:defRPr>
            </a:lvl2pPr>
            <a:lvl3pPr marL="571500" indent="-3238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3pPr>
            <a:lvl4pPr marL="725488" indent="-1524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136650" indent="-409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5pPr>
            <a:lvl6pPr marL="15938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6pPr>
            <a:lvl7pPr marL="20510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7pPr>
            <a:lvl8pPr marL="25082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8pPr>
            <a:lvl9pPr marL="2965450" indent="-409575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 smtClean="0"/>
              <a:t>Corner Underfill (Lenovo Confidential)</a:t>
            </a:r>
            <a:endParaRPr lang="en-US" b="1" kern="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b="43087"/>
          <a:stretch/>
        </p:blipFill>
        <p:spPr>
          <a:xfrm>
            <a:off x="4915400" y="2043956"/>
            <a:ext cx="4233487" cy="19239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" y="2448334"/>
            <a:ext cx="5170255" cy="15527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007"/>
            <a:ext cx="9144000" cy="197880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7795"/>
            <a:ext cx="5607424" cy="16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35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7C5307-4D7E-4EAF-95D5-3B9F35D670D9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790" y="-32051"/>
            <a:ext cx="90662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Adhesive</a:t>
            </a:r>
            <a:r>
              <a:rPr lang="en-US" b="1" dirty="0"/>
              <a:t> </a:t>
            </a:r>
            <a:r>
              <a:rPr lang="en-US" b="1" dirty="0" smtClean="0"/>
              <a:t>on Intel BGA (Focused on Laptop </a:t>
            </a:r>
            <a:r>
              <a:rPr lang="en-US" b="1" dirty="0"/>
              <a:t>&amp;</a:t>
            </a:r>
            <a:r>
              <a:rPr lang="en-US" b="1" dirty="0" smtClean="0"/>
              <a:t> 2-in-1 Manufacturing)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4131"/>
              </p:ext>
            </p:extLst>
          </p:nvPr>
        </p:nvGraphicFramePr>
        <p:xfrm>
          <a:off x="152399" y="301762"/>
          <a:ext cx="8890748" cy="4419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25"/>
                <a:gridCol w="584517"/>
                <a:gridCol w="1416226"/>
                <a:gridCol w="2406839"/>
                <a:gridCol w="1684478"/>
                <a:gridCol w="786792"/>
                <a:gridCol w="86547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Customer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Y/N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Adhesive shape/location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Vendor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name/Model#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Where</a:t>
                      </a:r>
                      <a:r>
                        <a:rPr lang="en-US" sz="1000" baseline="0" dirty="0" smtClean="0">
                          <a:solidFill>
                            <a:srgbClr val="002060"/>
                          </a:solidFill>
                          <a:latin typeface="+mn-lt"/>
                        </a:rPr>
                        <a:t> applied in Factory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Rework-able?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rgbClr val="002060"/>
                          </a:solidFill>
                          <a:latin typeface="+mn-lt"/>
                        </a:rPr>
                        <a:t>On/Off line</a:t>
                      </a:r>
                      <a:endParaRPr lang="en-US" sz="10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Inventec</a:t>
                      </a:r>
                      <a:r>
                        <a:rPr lang="en-US" sz="1000" baseline="0" dirty="0" smtClean="0">
                          <a:latin typeface="+mn-lt"/>
                        </a:rPr>
                        <a:t>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FT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On</a:t>
                      </a:r>
                      <a:r>
                        <a:rPr lang="en-US" sz="1000" baseline="0" dirty="0" smtClean="0">
                          <a:latin typeface="+mn-lt"/>
                        </a:rPr>
                        <a:t> line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Quanta SH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Loctite 3619, EICT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17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CQ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U-BOND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UB-4305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ICT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Compal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‘L’, Corner Underfill (Lenovo)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‘L’: Loctite 3705 (UV)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Likely Loctite 3910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</a:t>
                      </a:r>
                      <a:r>
                        <a:rPr lang="en-US" sz="1000" baseline="0" dirty="0" smtClean="0">
                          <a:latin typeface="+mn-lt"/>
                        </a:rPr>
                        <a:t> ‘L’: Before FT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latin typeface="+mn-lt"/>
                        </a:rPr>
                        <a:t>C Underfill: After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Yes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Wistron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Dot,</a:t>
                      </a:r>
                      <a:r>
                        <a:rPr lang="en-US" sz="1000" baseline="0" dirty="0" smtClean="0">
                          <a:latin typeface="+mn-lt"/>
                        </a:rPr>
                        <a:t> Corner Underfill (Lenovo)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</a:t>
                      </a:r>
                      <a:r>
                        <a:rPr lang="en-US" sz="1000" dirty="0" err="1" smtClean="0">
                          <a:latin typeface="+mn-lt"/>
                        </a:rPr>
                        <a:t>Dot:Panasonic</a:t>
                      </a:r>
                      <a:r>
                        <a:rPr lang="en-US" sz="1000" dirty="0" smtClean="0">
                          <a:latin typeface="+mn-lt"/>
                        </a:rPr>
                        <a:t> ADE480D-1</a:t>
                      </a:r>
                      <a:endParaRPr lang="en-US" sz="1000" baseline="0" dirty="0" smtClean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</a:t>
                      </a:r>
                      <a:r>
                        <a:rPr lang="en-US" sz="1000" dirty="0" smtClean="0">
                          <a:latin typeface="+mn-lt"/>
                        </a:rPr>
                        <a:t>ASEC-AS3910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</a:t>
                      </a:r>
                      <a:r>
                        <a:rPr lang="en-US" sz="1000" dirty="0" err="1" smtClean="0">
                          <a:latin typeface="+mn-lt"/>
                        </a:rPr>
                        <a:t>Dot:</a:t>
                      </a:r>
                      <a:r>
                        <a:rPr lang="en-US" sz="1000" baseline="0" dirty="0" err="1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SMT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</a:t>
                      </a:r>
                      <a:r>
                        <a:rPr lang="en-US" sz="1000" baseline="0" dirty="0" smtClean="0">
                          <a:latin typeface="+mn-lt"/>
                        </a:rPr>
                        <a:t> Before FT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LCFC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100%</a:t>
                      </a:r>
                      <a:r>
                        <a:rPr lang="en-US" sz="1000" baseline="0" dirty="0" smtClean="0">
                          <a:latin typeface="+mn-lt"/>
                        </a:rPr>
                        <a:t> Corner Underfill (Lenovo)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 Underfill: ASEC, COOTEK, </a:t>
                      </a:r>
                      <a:r>
                        <a:rPr lang="en-US" sz="1000" dirty="0" err="1" smtClean="0">
                          <a:latin typeface="+mn-lt"/>
                        </a:rPr>
                        <a:t>TaiLiDe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After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Pegatron SZ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 smtClean="0">
                          <a:latin typeface="+mn-lt"/>
                        </a:rPr>
                        <a:t>視域</a:t>
                      </a:r>
                      <a:r>
                        <a:rPr lang="en-US" altLang="zh-CN" sz="1000" dirty="0" smtClean="0">
                          <a:latin typeface="+mn-lt"/>
                        </a:rPr>
                        <a:t>:</a:t>
                      </a:r>
                      <a:r>
                        <a:rPr lang="en-US" sz="1000" dirty="0" smtClean="0">
                          <a:latin typeface="+mn-lt"/>
                        </a:rPr>
                        <a:t>UV649/</a:t>
                      </a:r>
                      <a:r>
                        <a:rPr lang="zh-CN" altLang="en-US" sz="1000" dirty="0" smtClean="0">
                          <a:latin typeface="+mn-lt"/>
                        </a:rPr>
                        <a:t>信友</a:t>
                      </a:r>
                      <a:r>
                        <a:rPr lang="en-US" altLang="zh-CN" sz="1000" dirty="0" smtClean="0">
                          <a:latin typeface="+mn-lt"/>
                        </a:rPr>
                        <a:t>:3329/</a:t>
                      </a:r>
                      <a:r>
                        <a:rPr lang="en-US" sz="1000" dirty="0" smtClean="0">
                          <a:latin typeface="+mn-lt"/>
                        </a:rPr>
                        <a:t>DYMAX 9-20558/Loctite 3705 (All 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MSFT/JDM1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rgbClr val="00B050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01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latin typeface="+mn-lt"/>
                        </a:rPr>
                        <a:t>MSI KS</a:t>
                      </a:r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latin typeface="+mn-lt"/>
                        </a:rPr>
                        <a:t>ZhongYu</a:t>
                      </a:r>
                      <a:r>
                        <a:rPr lang="en-US" sz="1000" dirty="0" smtClean="0">
                          <a:latin typeface="+mn-lt"/>
                        </a:rPr>
                        <a:t> ZY-303</a:t>
                      </a:r>
                      <a:r>
                        <a:rPr lang="en-US" sz="1000" baseline="0" dirty="0" smtClean="0">
                          <a:latin typeface="+mn-lt"/>
                        </a:rPr>
                        <a:t> (UV)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</a:t>
                      </a:r>
                      <a:r>
                        <a:rPr lang="en-US" sz="1000" baseline="0" dirty="0" smtClean="0">
                          <a:latin typeface="+mn-lt"/>
                        </a:rPr>
                        <a:t> ICT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Pegatron CQ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‘L’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Xin You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</a:t>
                      </a:r>
                      <a:r>
                        <a:rPr lang="en-US" altLang="zh-CN" sz="1000" dirty="0" smtClean="0">
                          <a:latin typeface="+mn-lt"/>
                        </a:rPr>
                        <a:t>UV3329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line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Foxconn WH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Corner Glue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Loctite 3705 (UV)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After</a:t>
                      </a:r>
                      <a:r>
                        <a:rPr lang="en-US" sz="1000" baseline="0" dirty="0" smtClean="0">
                          <a:latin typeface="+mn-lt"/>
                        </a:rPr>
                        <a:t> SMT</a:t>
                      </a:r>
                      <a:endParaRPr lang="en-US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430">
                <a:tc>
                  <a:txBody>
                    <a:bodyPr/>
                    <a:lstStyle/>
                    <a:p>
                      <a:r>
                        <a:rPr lang="en-US" altLang="zh-CN" sz="1000" dirty="0" smtClean="0"/>
                        <a:t>Samsung*</a:t>
                      </a:r>
                      <a:endParaRPr lang="zh-CN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err="1" smtClean="0">
                          <a:latin typeface="+mn-lt"/>
                        </a:rPr>
                        <a:t>Under</a:t>
                      </a:r>
                      <a:r>
                        <a:rPr lang="en-US" altLang="zh-CN" sz="1000" u="sng" dirty="0" err="1" smtClean="0">
                          <a:latin typeface="+mn-lt"/>
                        </a:rPr>
                        <a:t>film</a:t>
                      </a:r>
                      <a:endParaRPr lang="en-US" altLang="zh-CN" sz="1000" u="sng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Unknown.</a:t>
                      </a:r>
                      <a:r>
                        <a:rPr lang="en-US" altLang="zh-CN" sz="1000" baseline="0" dirty="0" smtClean="0">
                          <a:latin typeface="+mn-lt"/>
                        </a:rPr>
                        <a:t> Placed by PnP machine onto bd pads.</a:t>
                      </a:r>
                      <a:endParaRPr lang="en-US" altLang="zh-CN" sz="1000" dirty="0" smtClean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Before SMT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atin typeface="+mn-lt"/>
                        </a:rPr>
                        <a:t>Unknown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smtClean="0">
                          <a:latin typeface="+mn-lt"/>
                        </a:rPr>
                        <a:t>On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 bwMode="auto">
          <a:xfrm>
            <a:off x="68456" y="5029003"/>
            <a:ext cx="8999916" cy="10726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 smtClean="0">
                <a:cs typeface="Arial" pitchFamily="34" charset="0"/>
              </a:rPr>
              <a:t>All </a:t>
            </a:r>
            <a:r>
              <a:rPr lang="en-US" sz="900" dirty="0">
                <a:cs typeface="Arial" pitchFamily="34" charset="0"/>
              </a:rPr>
              <a:t>m</a:t>
            </a:r>
            <a:r>
              <a:rPr lang="en-US" sz="900" dirty="0" smtClean="0">
                <a:cs typeface="Arial" pitchFamily="34" charset="0"/>
              </a:rPr>
              <a:t>ajor customers applying adhesive on Intel BGA except MSFT (adhesive decision is based on the reliability test results-to prevent SJ cracks)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 smtClean="0">
                <a:cs typeface="Arial" pitchFamily="34" charset="0"/>
              </a:rPr>
              <a:t>All major customers are applying adhesive after SMT but before FT test (to prevent SJ crack during FT test), except with the underfill process (it is hard to rework)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 smtClean="0">
                <a:cs typeface="Arial" pitchFamily="34" charset="0"/>
              </a:rPr>
              <a:t>Lenovo’s corner underfill covers a minimum of 5 solderballs in all 4 corners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 smtClean="0">
                <a:cs typeface="Arial" pitchFamily="34" charset="0"/>
              </a:rPr>
              <a:t>UV glue is more popular than thermal glue, due to less factory floor space &amp; easy to cure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 smtClean="0">
                <a:cs typeface="Arial" pitchFamily="34" charset="0"/>
              </a:rPr>
              <a:t>*We know Samsung uses under</a:t>
            </a:r>
            <a:r>
              <a:rPr lang="en-US" sz="900" u="sng" dirty="0" smtClean="0">
                <a:cs typeface="Arial" pitchFamily="34" charset="0"/>
              </a:rPr>
              <a:t>film</a:t>
            </a:r>
            <a:r>
              <a:rPr lang="en-US" sz="900" dirty="0" smtClean="0">
                <a:cs typeface="Arial" pitchFamily="34" charset="0"/>
              </a:rPr>
              <a:t> but the CMEE team did not visit them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900" dirty="0">
                <a:cs typeface="Arial" pitchFamily="34" charset="0"/>
              </a:rPr>
              <a:t>Top DT customers (Gigabyte &amp; MSI) seldom add adhesive on Intel PCH (one exception: Asustek)</a:t>
            </a:r>
            <a:endParaRPr lang="en-US" sz="900" dirty="0" smtClean="0">
              <a:cs typeface="Arial" pitchFamily="34" charset="0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749425" y="6357938"/>
            <a:ext cx="5761038" cy="500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dirty="0" smtClean="0">
                <a:solidFill>
                  <a:srgbClr val="FFFFFF"/>
                </a:solidFill>
              </a:rPr>
              <a:t>CMEE – Customer Manufacturing Enabling &amp; Engineering / Intel Confidential / Collected Under NDA                                     Mobile 2017 CRD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99" y="4728448"/>
            <a:ext cx="5335884" cy="276999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Note: Apple uses Dynamics 26663. Microsoft uses </a:t>
            </a:r>
            <a:r>
              <a:rPr lang="en-US" sz="1200" dirty="0" err="1"/>
              <a:t>Zymet</a:t>
            </a:r>
            <a:r>
              <a:rPr lang="en-US" sz="1200"/>
              <a:t> </a:t>
            </a:r>
            <a:r>
              <a:rPr lang="en-US" sz="1200" smtClean="0"/>
              <a:t>UA2605.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0419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80167"/>
            <a:ext cx="8237537" cy="889000"/>
          </a:xfrm>
        </p:spPr>
        <p:txBody>
          <a:bodyPr/>
          <a:lstStyle/>
          <a:p>
            <a:r>
              <a:rPr lang="en-US" dirty="0" smtClean="0"/>
              <a:t>Corner Glue Video (HVM Factory)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804" y="580818"/>
            <a:ext cx="5927260" cy="539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81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7001" y="1395805"/>
            <a:ext cx="8605885" cy="3964162"/>
          </a:xfrm>
        </p:spPr>
        <p:txBody>
          <a:bodyPr>
            <a:spAutoFit/>
          </a:bodyPr>
          <a:lstStyle/>
          <a:p>
            <a:pPr marL="0" indent="0"/>
            <a:r>
              <a:rPr lang="en-US" sz="1400" b="1" dirty="0" smtClean="0"/>
              <a:t>Stencil Area Ratio (A/R) Extensions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Provide solutions to help customers extend stencil A/R from 0.66 down to 0.55 by TGL timeframe (for additional SBB / package warpage margin)</a:t>
            </a:r>
          </a:p>
          <a:p>
            <a:pPr marL="0" indent="0"/>
            <a:r>
              <a:rPr lang="en-US" sz="1400" b="1" dirty="0" smtClean="0"/>
              <a:t>Board Thickness Reduction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Reduce the board thickness envelope to include 0.6mm, for ICL-Y series and beyond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Provide MAS solutions for monitoring &amp; controlling board warpage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smtClean="0"/>
              <a:t>Work with key PCB manufacturer’s to ensure they are also monitoring &amp; controlling warpage </a:t>
            </a:r>
          </a:p>
          <a:p>
            <a:pPr marL="0" indent="0"/>
            <a:r>
              <a:rPr lang="en-US" sz="1400" b="1" dirty="0" smtClean="0"/>
              <a:t>LTS Adoption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Provide mfg &amp; process solutions to enable industry LTS adoption, esp. by ADL if LTS becomes a rqmt.</a:t>
            </a:r>
          </a:p>
          <a:p>
            <a:pPr marL="0" indent="0"/>
            <a:r>
              <a:rPr lang="en-US" sz="1400" b="1" dirty="0" smtClean="0"/>
              <a:t>Board Level Adhesive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A robust &amp; validated adhesive process is key to ensuring LTS &amp; thin board reliability success  </a:t>
            </a:r>
            <a:endParaRPr lang="en-US"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3133" y="163050"/>
            <a:ext cx="8786489" cy="889000"/>
          </a:xfrm>
        </p:spPr>
        <p:txBody>
          <a:bodyPr/>
          <a:lstStyle/>
          <a:p>
            <a:r>
              <a:rPr lang="en-US" dirty="0" smtClean="0"/>
              <a:t>Key Mobile/Client Industry Enabling Projects for 2018 and Beyond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69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996803" y="2444750"/>
            <a:ext cx="3532585" cy="889000"/>
          </a:xfrm>
        </p:spPr>
        <p:txBody>
          <a:bodyPr/>
          <a:lstStyle/>
          <a:p>
            <a:r>
              <a:rPr lang="en-US" sz="4800" dirty="0" smtClean="0"/>
              <a:t>BACKUP</a:t>
            </a:r>
            <a:endParaRPr lang="en-US" sz="4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48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37537" cy="455612"/>
          </a:xfrm>
        </p:spPr>
        <p:txBody>
          <a:bodyPr/>
          <a:lstStyle/>
          <a:p>
            <a:r>
              <a:rPr lang="en-US" dirty="0"/>
              <a:t>Adhesive on Intel </a:t>
            </a:r>
            <a:r>
              <a:rPr lang="en-US" dirty="0" smtClean="0"/>
              <a:t>BGA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F55D9A-6D29-4D50-86F0-F4CC0ABF6DBC}" type="datetime1">
              <a:rPr lang="en-US" smtClean="0"/>
              <a:t>4/23/2018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CMEE – Customer Manufacturing Enabling &amp; Engineering / Intel Confidential / Collected Under NDA                                     Mobile 2017 CRD Summary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377459" y="1535602"/>
            <a:ext cx="8228012" cy="138499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I had looked at teardowns of Intel and non-Intel based </a:t>
            </a:r>
            <a:r>
              <a:rPr kumimoji="0" lang="en-US" sz="1800" b="1" i="0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tablets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(back when we were still focused on Tablets). At that time, I noticed that all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SoCs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(Intel and non-Intel) had corner glue or underfill. So, I would safely say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adhesives are common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laptop / 2-in-1 / tablets / cellphones </a:t>
            </a:r>
            <a:r>
              <a:rPr kumimoji="0" lang="en-US" sz="180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(</a:t>
            </a:r>
            <a:r>
              <a:rPr lang="en-US" b="1" noProof="0" dirty="0" smtClean="0">
                <a:latin typeface="Intel Clear"/>
              </a:rPr>
              <a:t>c</a:t>
            </a:r>
            <a:r>
              <a:rPr lang="en-US" b="1" dirty="0" smtClean="0">
                <a:latin typeface="Intel Clear"/>
              </a:rPr>
              <a:t>ell </a:t>
            </a:r>
            <a:r>
              <a:rPr lang="en-US" b="1" dirty="0">
                <a:latin typeface="Intel Clear"/>
              </a:rPr>
              <a:t>phones tend to have full </a:t>
            </a:r>
            <a:r>
              <a:rPr lang="en-US" b="1" dirty="0" smtClean="0">
                <a:latin typeface="Intel Clear"/>
              </a:rPr>
              <a:t>underfill</a:t>
            </a:r>
            <a:r>
              <a:rPr lang="en-US" dirty="0" smtClean="0">
                <a:latin typeface="Intel Clear"/>
              </a:rPr>
              <a:t>),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and adhesives are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less prevalent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 in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DT and servers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Arial" panose="020B0604020202020204" pitchFamily="34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1C5"/>
              </a:solidFill>
              <a:effectLst/>
              <a:uLnTx/>
              <a:uFillTx/>
              <a:latin typeface="Intel Clear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377459" y="1067625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2"/>
                </a:solidFill>
                <a:latin typeface="+mj-lt"/>
                <a:ea typeface="Intel Clear"/>
                <a:cs typeface="Arial" panose="020B0604020202020204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Intel Clear"/>
                <a:cs typeface="Arial" panose="020B0604020202020204" pitchFamily="34" charset="0"/>
              </a:rPr>
              <a:t>Additional </a:t>
            </a:r>
            <a:r>
              <a:rPr lang="en-US" noProof="0" dirty="0" smtClean="0">
                <a:solidFill>
                  <a:srgbClr val="003C71"/>
                </a:solidFill>
                <a:latin typeface="Intel Clear"/>
              </a:rPr>
              <a:t>Adhesive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Intel Clear"/>
                <a:cs typeface="Arial" panose="020B0604020202020204" pitchFamily="34" charset="0"/>
              </a:rPr>
              <a:t>Info per Jagadeesh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C71"/>
              </a:solidFill>
              <a:effectLst/>
              <a:uLnTx/>
              <a:uFillTx/>
              <a:latin typeface="Intel Clear"/>
              <a:ea typeface="Intel Clear"/>
              <a:cs typeface="Arial" panose="020B0604020202020204" pitchFamily="34" charset="0"/>
            </a:endParaRPr>
          </a:p>
        </p:txBody>
      </p:sp>
      <p:sp>
        <p:nvSpPr>
          <p:cNvPr id="13" name="Title 3"/>
          <p:cNvSpPr txBox="1">
            <a:spLocks/>
          </p:cNvSpPr>
          <p:nvPr/>
        </p:nvSpPr>
        <p:spPr>
          <a:xfrm>
            <a:off x="377459" y="3343580"/>
            <a:ext cx="8229600" cy="3998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0" baseline="0">
                <a:solidFill>
                  <a:schemeClr val="tx2"/>
                </a:solidFill>
                <a:latin typeface="+mj-lt"/>
                <a:ea typeface="Intel Clear"/>
                <a:cs typeface="Arial" panose="020B0604020202020204" pitchFamily="34" charset="0"/>
              </a:defRPr>
            </a:lvl1pPr>
          </a:lstStyle>
          <a:p>
            <a:r>
              <a:rPr lang="en-US" dirty="0" smtClean="0">
                <a:solidFill>
                  <a:srgbClr val="003C71"/>
                </a:solidFill>
                <a:latin typeface="Intel Clear"/>
              </a:rPr>
              <a:t>Additional Adhesive Info per SA Moy</a:t>
            </a:r>
            <a:endParaRPr lang="en-US" dirty="0">
              <a:solidFill>
                <a:srgbClr val="003C71"/>
              </a:solidFill>
              <a:latin typeface="Intel Clear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77459" y="3885102"/>
            <a:ext cx="8228012" cy="166199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457200" rtl="0" eaLnBrk="1" latinLnBrk="0" hangingPunct="1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None/>
              <a:defRPr sz="1800" b="0" kern="1200">
                <a:solidFill>
                  <a:srgbClr val="0071C5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5425" indent="-225425" algn="l" defTabSz="457200" rtl="0" eaLnBrk="1" latinLnBrk="0" hangingPunct="1">
              <a:spcBef>
                <a:spcPts val="1200"/>
              </a:spcBef>
              <a:buFont typeface="Wingdings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71500" indent="-228600" algn="l" defTabSz="457200" rtl="0" eaLnBrk="1" latinLnBrk="0" hangingPunct="1">
              <a:spcBef>
                <a:spcPts val="800"/>
              </a:spcBef>
              <a:buFont typeface="Intel Clear" panose="020B0604020203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69963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319213" indent="-228600" algn="l" defTabSz="457200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Intel Clear"/>
              </a:rPr>
              <a:t>For </a:t>
            </a:r>
            <a:r>
              <a:rPr lang="en-US" b="1" dirty="0" smtClean="0">
                <a:latin typeface="Intel Clear"/>
              </a:rPr>
              <a:t>tablets</a:t>
            </a:r>
            <a:r>
              <a:rPr lang="en-US" dirty="0" smtClean="0">
                <a:latin typeface="Intel Clear"/>
              </a:rPr>
              <a:t>, </a:t>
            </a:r>
            <a:r>
              <a:rPr lang="en-US" dirty="0">
                <a:latin typeface="Intel Clear"/>
              </a:rPr>
              <a:t>I think it is much more sensitive on mobility (drop test performance). Moreover, if our future is also focusing on </a:t>
            </a:r>
            <a:r>
              <a:rPr lang="en-US" b="1" dirty="0">
                <a:latin typeface="Intel Clear"/>
              </a:rPr>
              <a:t>LTS process</a:t>
            </a:r>
            <a:r>
              <a:rPr lang="en-US" dirty="0">
                <a:latin typeface="Intel Clear"/>
              </a:rPr>
              <a:t>, solder joint protection with </a:t>
            </a:r>
            <a:r>
              <a:rPr lang="en-US" b="1" dirty="0">
                <a:latin typeface="Intel Clear"/>
              </a:rPr>
              <a:t>using adhesive is </a:t>
            </a:r>
            <a:r>
              <a:rPr lang="en-US" b="1" dirty="0" smtClean="0">
                <a:latin typeface="Intel Clear"/>
              </a:rPr>
              <a:t>key</a:t>
            </a:r>
            <a:r>
              <a:rPr lang="en-US" dirty="0">
                <a:latin typeface="Intel Clear"/>
              </a:rPr>
              <a:t>. In this case, we also need to remind package platform guys that to </a:t>
            </a:r>
            <a:r>
              <a:rPr lang="en-US" b="1" dirty="0">
                <a:latin typeface="Intel Clear"/>
              </a:rPr>
              <a:t>consider keep out zone for adhesive</a:t>
            </a:r>
            <a:r>
              <a:rPr lang="en-US" dirty="0">
                <a:latin typeface="Intel Clear"/>
              </a:rPr>
              <a:t> (corner glue</a:t>
            </a:r>
            <a:r>
              <a:rPr lang="en-US" dirty="0" smtClean="0">
                <a:latin typeface="Intel Clear"/>
              </a:rPr>
              <a:t>). FYI</a:t>
            </a:r>
            <a:r>
              <a:rPr lang="en-US" dirty="0">
                <a:latin typeface="Intel Clear"/>
              </a:rPr>
              <a:t>…. During LTS sharing, a customer even asking us what type of adhesive that Intel recommended</a:t>
            </a:r>
            <a:r>
              <a:rPr lang="en-US" dirty="0" smtClean="0">
                <a:latin typeface="Intel Clear"/>
              </a:rPr>
              <a:t>.</a:t>
            </a:r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306276939"/>
      </p:ext>
    </p:extLst>
  </p:cSld>
  <p:clrMapOvr>
    <a:masterClrMapping/>
  </p:clrMapOvr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EA6F6BAD-49CE-44DA-BC42-08DA4D828C27}"/>
</file>

<file path=customXml/itemProps2.xml><?xml version="1.0" encoding="utf-8"?>
<ds:datastoreItem xmlns:ds="http://schemas.openxmlformats.org/officeDocument/2006/customXml" ds:itemID="{7966D942-D063-439B-B67B-BBE6FC97524F}"/>
</file>

<file path=customXml/itemProps3.xml><?xml version="1.0" encoding="utf-8"?>
<ds:datastoreItem xmlns:ds="http://schemas.openxmlformats.org/officeDocument/2006/customXml" ds:itemID="{266F4F37-87C5-4AB6-906A-AE8A7155B0F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13419</TotalTime>
  <Words>3632</Words>
  <Application>Microsoft Office PowerPoint</Application>
  <PresentationFormat>On-screen Show (4:3)</PresentationFormat>
  <Paragraphs>839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宋体</vt:lpstr>
      <vt:lpstr>Arial</vt:lpstr>
      <vt:lpstr>Calibri</vt:lpstr>
      <vt:lpstr>Intel Clear</vt:lpstr>
      <vt:lpstr>Times</vt:lpstr>
      <vt:lpstr>Verdana</vt:lpstr>
      <vt:lpstr>Wingdings</vt:lpstr>
      <vt:lpstr>intel_template_1_111605_WHITE</vt:lpstr>
      <vt:lpstr>2018 CNL_ICL Customers CRD Summary Report  </vt:lpstr>
      <vt:lpstr>Objectives</vt:lpstr>
      <vt:lpstr>PCB Vendor</vt:lpstr>
      <vt:lpstr>PCB vendors that ODMs are using</vt:lpstr>
      <vt:lpstr>SOLDER PASTE PRINT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SPI</vt:lpstr>
      <vt:lpstr>PowerPoint Presentation</vt:lpstr>
      <vt:lpstr>REFLOW</vt:lpstr>
      <vt:lpstr>PowerPoint Presentation</vt:lpstr>
      <vt:lpstr>Reflow Pallet Design – Compal KS (Example Case)</vt:lpstr>
      <vt:lpstr>Yield Target</vt:lpstr>
      <vt:lpstr>PowerPoint Presentation</vt:lpstr>
      <vt:lpstr>Rework</vt:lpstr>
      <vt:lpstr>PowerPoint Presentation</vt:lpstr>
      <vt:lpstr>Adhesive</vt:lpstr>
      <vt:lpstr>Adhesive on Intel BGA</vt:lpstr>
      <vt:lpstr>Adhesive on Intel BGA</vt:lpstr>
      <vt:lpstr>Adhesive on Intel BGA</vt:lpstr>
      <vt:lpstr>Adhesive on Intel BGA</vt:lpstr>
      <vt:lpstr>PowerPoint Presentation</vt:lpstr>
      <vt:lpstr>Corner Glue Video (HVM Factory)</vt:lpstr>
      <vt:lpstr>Key Mobile/Client Industry Enabling Projects for 2018 and Beyond</vt:lpstr>
      <vt:lpstr>BACKUP</vt:lpstr>
      <vt:lpstr>Adhesive on Intel BGA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keywords>CTPClassification=CTP_IC:VisualMarkings=, CTPClassification=CTP_IC</cp:keywords>
  <cp:lastModifiedBy>Burkholder, Dan S</cp:lastModifiedBy>
  <cp:revision>401</cp:revision>
  <dcterms:created xsi:type="dcterms:W3CDTF">2011-10-18T02:30:40Z</dcterms:created>
  <dcterms:modified xsi:type="dcterms:W3CDTF">2018-04-23T21:34:29Z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bbf65b74-c0a3-4adc-8d60-4d240b1f7a6e</vt:lpwstr>
  </property>
  <property fmtid="{D5CDD505-2E9C-101B-9397-08002B2CF9AE}" pid="3" name="CTP_BU">
    <vt:lpwstr>TECHNOLOGY MANUFACTURING GROUP</vt:lpwstr>
  </property>
  <property fmtid="{D5CDD505-2E9C-101B-9397-08002B2CF9AE}" pid="4" name="CTP_TimeStamp">
    <vt:lpwstr>2018-04-23 21:34:29Z</vt:lpwstr>
  </property>
  <property fmtid="{D5CDD505-2E9C-101B-9397-08002B2CF9AE}" pid="5" name="CTPClassification">
    <vt:lpwstr>CTP_IC</vt:lpwstr>
  </property>
  <property fmtid="{D5CDD505-2E9C-101B-9397-08002B2CF9AE}" pid="6" name="ContentTypeId">
    <vt:lpwstr>0x010100C25921F9D4874B40A69C72F5C132575A</vt:lpwstr>
  </property>
</Properties>
</file>