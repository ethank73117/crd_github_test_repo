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saveSubsetFonts="1">
  <p:sldMasterIdLst>
    <p:sldMasterId id="2147483648" r:id="rId4"/>
  </p:sldMasterIdLst>
  <p:notesMasterIdLst>
    <p:notesMasterId r:id="rId12"/>
  </p:notesMasterIdLst>
  <p:handoutMasterIdLst>
    <p:handoutMasterId r:id="rId13"/>
  </p:handoutMasterIdLst>
  <p:sldIdLst>
    <p:sldId id="310" r:id="rId5"/>
    <p:sldId id="315" r:id="rId6"/>
    <p:sldId id="311" r:id="rId7"/>
    <p:sldId id="312" r:id="rId8"/>
    <p:sldId id="313" r:id="rId9"/>
    <p:sldId id="314" r:id="rId10"/>
    <p:sldId id="307" r:id="rId11"/>
  </p:sldIdLst>
  <p:sldSz cx="9144000" cy="5143500" type="screen16x9"/>
  <p:notesSz cx="6858000" cy="9144000"/>
  <p:embeddedFontLst>
    <p:embeddedFont>
      <p:font typeface="Intel Clear" panose="020B0604020203020204" pitchFamily="34" charset="0"/>
      <p:regular r:id="rId14"/>
      <p:bold r:id="rId15"/>
      <p:italic r:id="rId16"/>
      <p:boldItalic r:id="rId17"/>
    </p:embeddedFont>
    <p:embeddedFont>
      <p:font typeface="Intel Clear Light" panose="020B0404020203020204" pitchFamily="34" charset="0"/>
      <p:regular r:id="rId18"/>
      <p: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1">
          <p15:clr>
            <a:srgbClr val="A4A3A4"/>
          </p15:clr>
        </p15:guide>
        <p15:guide id="2" orient="horz" pos="3004">
          <p15:clr>
            <a:srgbClr val="A4A3A4"/>
          </p15:clr>
        </p15:guide>
        <p15:guide id="3" orient="horz" pos="422">
          <p15:clr>
            <a:srgbClr val="A4A3A4"/>
          </p15:clr>
        </p15:guide>
        <p15:guide id="4" orient="horz" pos="824">
          <p15:clr>
            <a:srgbClr val="A4A3A4"/>
          </p15:clr>
        </p15:guide>
        <p15:guide id="5" orient="horz" pos="2916">
          <p15:clr>
            <a:srgbClr val="A4A3A4"/>
          </p15:clr>
        </p15:guide>
        <p15:guide id="6" orient="horz" pos="1643">
          <p15:clr>
            <a:srgbClr val="A4A3A4"/>
          </p15:clr>
        </p15:guide>
        <p15:guide id="7" pos="5470">
          <p15:clr>
            <a:srgbClr val="A4A3A4"/>
          </p15:clr>
        </p15:guide>
        <p15:guide id="8" pos="287">
          <p15:clr>
            <a:srgbClr val="A4A3A4"/>
          </p15:clr>
        </p15:guide>
        <p15:guide id="9" pos="2909">
          <p15:clr>
            <a:srgbClr val="A4A3A4"/>
          </p15:clr>
        </p15:guide>
        <p15:guide id="10" pos="2811">
          <p15:clr>
            <a:srgbClr val="A4A3A4"/>
          </p15:clr>
        </p15:guide>
        <p15:guide id="11" pos="285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C5"/>
    <a:srgbClr val="F83308"/>
    <a:srgbClr val="FD9208"/>
    <a:srgbClr val="009FDF"/>
    <a:srgbClr val="F3D54E"/>
    <a:srgbClr val="F0CE3E"/>
    <a:srgbClr val="003C71"/>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4634" autoAdjust="0"/>
  </p:normalViewPr>
  <p:slideViewPr>
    <p:cSldViewPr snapToGrid="0">
      <p:cViewPr varScale="1">
        <p:scale>
          <a:sx n="133" d="100"/>
          <a:sy n="133" d="100"/>
        </p:scale>
        <p:origin x="106" y="158"/>
      </p:cViewPr>
      <p:guideLst>
        <p:guide orient="horz" pos="1581"/>
        <p:guide orient="horz" pos="3004"/>
        <p:guide orient="horz" pos="422"/>
        <p:guide orient="horz" pos="824"/>
        <p:guide orient="horz" pos="2916"/>
        <p:guide orient="horz" pos="1643"/>
        <p:guide pos="5470"/>
        <p:guide pos="287"/>
        <p:guide pos="2909"/>
        <p:guide pos="2811"/>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6" d="100"/>
        <a:sy n="86" d="100"/>
      </p:scale>
      <p:origin x="0" y="1536"/>
    </p:cViewPr>
  </p:sorterViewPr>
  <p:notesViewPr>
    <p:cSldViewPr snapToGrid="0" showGuides="1">
      <p:cViewPr varScale="1">
        <p:scale>
          <a:sx n="74" d="100"/>
          <a:sy n="74" d="100"/>
        </p:scale>
        <p:origin x="-74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Intel Clea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ACFD7B2-88A6-E34E-8EF8-CB0C7BA47ADD}" type="datetimeFigureOut">
              <a:rPr lang="en-US" smtClean="0">
                <a:latin typeface="Intel Clear"/>
              </a:rPr>
              <a:pPr/>
              <a:t>2/28/2019</a:t>
            </a:fld>
            <a:endParaRPr lang="en-US" dirty="0">
              <a:latin typeface="Intel Clear"/>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Intel Clea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6CFA4E-18EB-6D49-8DE2-7A74038C2C1C}" type="slidenum">
              <a:rPr lang="en-US" smtClean="0">
                <a:latin typeface="Intel Clear"/>
              </a:rPr>
              <a:pPr/>
              <a:t>‹#›</a:t>
            </a:fld>
            <a:endParaRPr lang="en-US" dirty="0">
              <a:latin typeface="Intel Clear"/>
            </a:endParaRPr>
          </a:p>
        </p:txBody>
      </p:sp>
    </p:spTree>
    <p:extLst>
      <p:ext uri="{BB962C8B-B14F-4D97-AF65-F5344CB8AC3E}">
        <p14:creationId xmlns:p14="http://schemas.microsoft.com/office/powerpoint/2010/main" val="912994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Intel Clear"/>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Intel Clear"/>
              </a:defRPr>
            </a:lvl1pPr>
          </a:lstStyle>
          <a:p>
            <a:fld id="{ED7FC5FE-6F0D-D34A-8EE6-C95B4F5F4DC8}" type="datetimeFigureOut">
              <a:rPr lang="en-US" smtClean="0"/>
              <a:pPr/>
              <a:t>2/28/2019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Intel Clear"/>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Intel Clear"/>
              </a:defRPr>
            </a:lvl1pPr>
          </a:lstStyle>
          <a:p>
            <a:fld id="{D61C8689-8455-3546-ADF9-3B7273760F66}" type="slidenum">
              <a:rPr lang="en-US" smtClean="0"/>
              <a:pPr/>
              <a:t>‹#›</a:t>
            </a:fld>
            <a:endParaRPr lang="en-US" dirty="0"/>
          </a:p>
        </p:txBody>
      </p:sp>
    </p:spTree>
    <p:extLst>
      <p:ext uri="{BB962C8B-B14F-4D97-AF65-F5344CB8AC3E}">
        <p14:creationId xmlns:p14="http://schemas.microsoft.com/office/powerpoint/2010/main" val="260842922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Intel Clear"/>
        <a:ea typeface="+mn-ea"/>
        <a:cs typeface="+mn-cs"/>
      </a:defRPr>
    </a:lvl1pPr>
    <a:lvl2pPr marL="457200" algn="l" defTabSz="457200" rtl="0" eaLnBrk="1" latinLnBrk="0" hangingPunct="1">
      <a:defRPr sz="1200" kern="1200">
        <a:solidFill>
          <a:schemeClr val="tx1"/>
        </a:solidFill>
        <a:latin typeface="Intel Clear"/>
        <a:ea typeface="+mn-ea"/>
        <a:cs typeface="+mn-cs"/>
      </a:defRPr>
    </a:lvl2pPr>
    <a:lvl3pPr marL="914400" algn="l" defTabSz="457200" rtl="0" eaLnBrk="1" latinLnBrk="0" hangingPunct="1">
      <a:defRPr sz="1200" kern="1200">
        <a:solidFill>
          <a:schemeClr val="tx1"/>
        </a:solidFill>
        <a:latin typeface="Intel Clear"/>
        <a:ea typeface="+mn-ea"/>
        <a:cs typeface="+mn-cs"/>
      </a:defRPr>
    </a:lvl3pPr>
    <a:lvl4pPr marL="1371600" algn="l" defTabSz="457200" rtl="0" eaLnBrk="1" latinLnBrk="0" hangingPunct="1">
      <a:defRPr sz="1200" kern="1200">
        <a:solidFill>
          <a:schemeClr val="tx1"/>
        </a:solidFill>
        <a:latin typeface="Intel Clear"/>
        <a:ea typeface="+mn-ea"/>
        <a:cs typeface="+mn-cs"/>
      </a:defRPr>
    </a:lvl4pPr>
    <a:lvl5pPr marL="1828800" algn="l" defTabSz="457200" rtl="0" eaLnBrk="1" latinLnBrk="0" hangingPunct="1">
      <a:defRPr sz="1200" kern="1200">
        <a:solidFill>
          <a:schemeClr val="tx1"/>
        </a:solidFill>
        <a:latin typeface="Intel Clear"/>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130175"/>
            <a:ext cx="8228012" cy="3498975"/>
          </a:xfrm>
        </p:spPr>
        <p:txBody>
          <a:bodyPr/>
          <a:lstStyle>
            <a:lvl1pPr>
              <a:defRPr baseline="0">
                <a:solidFill>
                  <a:srgbClr val="0071C5"/>
                </a:solidFill>
              </a:defRPr>
            </a:lvl1pPr>
            <a:lvl2pPr>
              <a:defRPr sz="1600"/>
            </a:lvl2pPr>
            <a:lvl3pPr>
              <a:defRPr sz="1400"/>
            </a:lvl3pPr>
            <a:lvl4pPr>
              <a:defRPr sz="1200"/>
            </a:lvl4pPr>
            <a:lvl5pPr>
              <a:defRPr sz="1100"/>
            </a:lvl5pPr>
          </a:lstStyle>
          <a:p>
            <a:pPr lvl="0"/>
            <a:r>
              <a:rPr lang="en-US" dirty="0" smtClean="0"/>
              <a:t>Intro sentence or paragraph has no bullet and is Intel Blue</a:t>
            </a:r>
          </a:p>
          <a:p>
            <a:pPr lvl="1"/>
            <a:r>
              <a:rPr lang="en-US" dirty="0" smtClean="0"/>
              <a:t>Intel Clear bullet one</a:t>
            </a:r>
          </a:p>
          <a:p>
            <a:pPr lvl="2"/>
            <a:r>
              <a:rPr lang="en-US" dirty="0" smtClean="0"/>
              <a:t>Intel Clear sub-bullet</a:t>
            </a:r>
          </a:p>
          <a:p>
            <a:pPr lvl="3"/>
            <a:r>
              <a:rPr lang="en-US" dirty="0" smtClean="0"/>
              <a:t>Intel Clear fourth level</a:t>
            </a:r>
          </a:p>
          <a:p>
            <a:pPr lvl="4"/>
            <a:r>
              <a:rPr lang="en-US" dirty="0" smtClean="0"/>
              <a:t>Intel Clear fifth level</a:t>
            </a:r>
            <a:endParaRPr lang="en-US" dirty="0"/>
          </a:p>
        </p:txBody>
      </p:sp>
    </p:spTree>
    <p:extLst>
      <p:ext uri="{BB962C8B-B14F-4D97-AF65-F5344CB8AC3E}">
        <p14:creationId xmlns:p14="http://schemas.microsoft.com/office/powerpoint/2010/main" val="13585118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477432" y="1875130"/>
            <a:ext cx="2108795" cy="138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00967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87" y="475945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2" descr="\\.psf\Home\Desktop\Intel.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239915" y="4830589"/>
            <a:ext cx="364336" cy="24013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Intel Clear Headline</a:t>
            </a:r>
            <a:br>
              <a:rPr lang="en-US" dirty="0" smtClean="0"/>
            </a:br>
            <a:r>
              <a:rPr lang="en-US" dirty="0" smtClean="0"/>
              <a:t>2 lines</a:t>
            </a:r>
            <a:endParaRPr lang="en-US" dirty="0"/>
          </a:p>
        </p:txBody>
      </p:sp>
      <p:sp>
        <p:nvSpPr>
          <p:cNvPr id="3" name="Text Placeholder 2"/>
          <p:cNvSpPr>
            <a:spLocks noGrp="1"/>
          </p:cNvSpPr>
          <p:nvPr>
            <p:ph type="body" idx="1"/>
          </p:nvPr>
        </p:nvSpPr>
        <p:spPr>
          <a:xfrm>
            <a:off x="455613" y="1130175"/>
            <a:ext cx="8228012" cy="3498975"/>
          </a:xfrm>
          <a:prstGeom prst="rect">
            <a:avLst/>
          </a:prstGeom>
        </p:spPr>
        <p:txBody>
          <a:bodyPr vert="horz" lIns="0" tIns="0" rIns="0" bIns="0" rtlCol="0">
            <a:noAutofit/>
          </a:bodyPr>
          <a:lstStyle/>
          <a:p>
            <a:pPr lvl="0"/>
            <a:r>
              <a:rPr lang="en-US" dirty="0" smtClean="0"/>
              <a:t>Intel Clear body text</a:t>
            </a:r>
          </a:p>
          <a:p>
            <a:pPr lvl="1"/>
            <a:r>
              <a:rPr lang="en-US" dirty="0" smtClean="0"/>
              <a:t>Intel Clear bullet one</a:t>
            </a:r>
          </a:p>
          <a:p>
            <a:pPr lvl="2"/>
            <a:r>
              <a:rPr lang="en-US" dirty="0" smtClean="0"/>
              <a:t>Intel Clear sub-bullet</a:t>
            </a:r>
          </a:p>
          <a:p>
            <a:pPr lvl="3"/>
            <a:r>
              <a:rPr lang="en-US" dirty="0" smtClean="0"/>
              <a:t>Intel Clear fourth level</a:t>
            </a:r>
          </a:p>
          <a:p>
            <a:pPr lvl="4"/>
            <a:r>
              <a:rPr lang="en-US" dirty="0" smtClean="0"/>
              <a:t>Intel Clear fifth level</a:t>
            </a:r>
            <a:endParaRPr lang="en-US" dirty="0"/>
          </a:p>
        </p:txBody>
      </p:sp>
      <p:sp>
        <p:nvSpPr>
          <p:cNvPr id="6" name="Slide Number Placeholder 5"/>
          <p:cNvSpPr>
            <a:spLocks noGrp="1"/>
          </p:cNvSpPr>
          <p:nvPr>
            <p:ph type="sldNum" sz="quarter" idx="4"/>
          </p:nvPr>
        </p:nvSpPr>
        <p:spPr>
          <a:xfrm>
            <a:off x="6872352" y="4824387"/>
            <a:ext cx="2133600" cy="273844"/>
          </a:xfrm>
          <a:prstGeom prst="rect">
            <a:avLst/>
          </a:prstGeom>
        </p:spPr>
        <p:txBody>
          <a:bodyPr vert="horz" lIns="0" tIns="0" rIns="0" bIns="0" rtlCol="0" anchor="ctr"/>
          <a:lstStyle>
            <a:lvl1pPr algn="r">
              <a:defRPr sz="800">
                <a:solidFill>
                  <a:schemeClr val="bg1"/>
                </a:solidFill>
                <a:latin typeface="+mn-lt"/>
                <a:cs typeface="Intel Clear"/>
              </a:defRPr>
            </a:lvl1pPr>
          </a:lstStyle>
          <a:p>
            <a:fld id="{EE2556C5-CE8C-6547-B838-EA80C61A4AF7}" type="slidenum">
              <a:rPr lang="en-US" smtClean="0"/>
              <a:pPr/>
              <a:t>‹#›</a:t>
            </a:fld>
            <a:endParaRPr lang="en-US" dirty="0"/>
          </a:p>
        </p:txBody>
      </p:sp>
      <p:sp>
        <p:nvSpPr>
          <p:cNvPr id="10" name="TextBox 9"/>
          <p:cNvSpPr txBox="1"/>
          <p:nvPr userDrawn="1"/>
        </p:nvSpPr>
        <p:spPr>
          <a:xfrm>
            <a:off x="3856384" y="4837215"/>
            <a:ext cx="2886324" cy="253383"/>
          </a:xfrm>
          <a:prstGeom prst="rect">
            <a:avLst/>
          </a:prstGeom>
          <a:noFill/>
        </p:spPr>
        <p:txBody>
          <a:bodyPr vert="horz" wrap="none" lIns="0" tIns="0" rIns="0" bIns="0" rtlCol="0" anchor="ctr" anchorCtr="0">
            <a:no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800" dirty="0" smtClean="0">
                <a:solidFill>
                  <a:schemeClr val="bg1"/>
                </a:solidFill>
              </a:rPr>
              <a:t>Intel Confidential  |  Internal Use Only – Do Not Distribute</a:t>
            </a:r>
          </a:p>
        </p:txBody>
      </p:sp>
      <p:sp>
        <p:nvSpPr>
          <p:cNvPr id="14" name="Rectangle 13"/>
          <p:cNvSpPr/>
          <p:nvPr userDrawn="1"/>
        </p:nvSpPr>
        <p:spPr>
          <a:xfrm>
            <a:off x="245431" y="4813599"/>
            <a:ext cx="2547492" cy="276999"/>
          </a:xfrm>
          <a:prstGeom prst="rect">
            <a:avLst/>
          </a:prstGeom>
        </p:spPr>
        <p:txBody>
          <a:bodyPr wrap="none">
            <a:spAutoFit/>
          </a:bodyPr>
          <a:lstStyle/>
          <a:p>
            <a:pPr algn="just"/>
            <a:r>
              <a:rPr lang="en-US" sz="1200" b="1" dirty="0" smtClean="0">
                <a:solidFill>
                  <a:schemeClr val="bg1"/>
                </a:solidFill>
                <a:latin typeface="+mj-lt"/>
              </a:rPr>
              <a:t>CQR | </a:t>
            </a:r>
            <a:r>
              <a:rPr lang="en-US" sz="11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rPr>
              <a:t>Customer Quality &amp; Regulatory</a:t>
            </a:r>
            <a:endParaRPr lang="en-US" sz="12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Tree>
    <p:extLst>
      <p:ext uri="{BB962C8B-B14F-4D97-AF65-F5344CB8AC3E}">
        <p14:creationId xmlns:p14="http://schemas.microsoft.com/office/powerpoint/2010/main" val="3786227823"/>
      </p:ext>
    </p:extLst>
  </p:cSld>
  <p:clrMap bg1="lt1" tx1="dk1" bg2="lt2" tx2="dk2" accent1="accent1" accent2="accent2" accent3="accent3" accent4="accent4" accent5="accent5" accent6="accent6" hlink="hlink" folHlink="folHlink"/>
  <p:sldLayoutIdLst>
    <p:sldLayoutId id="2147483650" r:id="rId1"/>
    <p:sldLayoutId id="2147483676" r:id="rId2"/>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400" b="0" i="0" kern="1200" spc="0" baseline="0">
          <a:solidFill>
            <a:srgbClr val="003C71"/>
          </a:solidFill>
          <a:latin typeface="Intel Clear"/>
          <a:ea typeface="Intel Clear"/>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6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panose="020B0604020202020204" pitchFamily="34" charset="0"/>
        <a:buChar char="•"/>
        <a:defRPr sz="12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Courier New" panose="02070309020205020404" pitchFamily="49" charset="0"/>
        <a:buChar char="o"/>
        <a:defRPr sz="11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cid:image003.png@01D37D71.E1D140C0" TargetMode="External"/><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873625" y="756002"/>
            <a:ext cx="3976278" cy="2150039"/>
          </a:xfrm>
          <a:prstGeom prst="rect">
            <a:avLst/>
          </a:prstGeom>
        </p:spPr>
      </p:pic>
      <p:pic>
        <p:nvPicPr>
          <p:cNvPr id="6" name="Picture 5"/>
          <p:cNvPicPr>
            <a:picLocks noChangeAspect="1"/>
          </p:cNvPicPr>
          <p:nvPr/>
        </p:nvPicPr>
        <p:blipFill>
          <a:blip r:embed="rId3"/>
          <a:stretch>
            <a:fillRect/>
          </a:stretch>
        </p:blipFill>
        <p:spPr>
          <a:xfrm>
            <a:off x="338137" y="756002"/>
            <a:ext cx="4087813" cy="2150039"/>
          </a:xfrm>
          <a:prstGeom prst="rect">
            <a:avLst/>
          </a:prstGeom>
        </p:spPr>
      </p:pic>
      <p:sp>
        <p:nvSpPr>
          <p:cNvPr id="8" name="Title 3"/>
          <p:cNvSpPr>
            <a:spLocks noGrp="1"/>
          </p:cNvSpPr>
          <p:nvPr>
            <p:ph type="title"/>
          </p:nvPr>
        </p:nvSpPr>
        <p:spPr>
          <a:xfrm>
            <a:off x="455613" y="308848"/>
            <a:ext cx="8229600" cy="868680"/>
          </a:xfrm>
        </p:spPr>
        <p:txBody>
          <a:bodyPr/>
          <a:lstStyle/>
          <a:p>
            <a:r>
              <a:rPr lang="en-US" dirty="0" err="1" smtClean="0"/>
              <a:t>Huaqin</a:t>
            </a:r>
            <a:r>
              <a:rPr lang="en-US" dirty="0" smtClean="0"/>
              <a:t> reflow pallet for WHL-U</a:t>
            </a:r>
            <a:endParaRPr lang="en-US" dirty="0"/>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8137" y="3112645"/>
            <a:ext cx="3663950" cy="1546667"/>
          </a:xfrm>
          <a:prstGeom prst="rect">
            <a:avLst/>
          </a:prstGeom>
        </p:spPr>
      </p:pic>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114200" y="3112645"/>
            <a:ext cx="3735703" cy="1577649"/>
          </a:xfrm>
          <a:prstGeom prst="rect">
            <a:avLst/>
          </a:prstGeom>
        </p:spPr>
      </p:pic>
      <p:sp>
        <p:nvSpPr>
          <p:cNvPr id="11" name="TextBox 10"/>
          <p:cNvSpPr txBox="1"/>
          <p:nvPr/>
        </p:nvSpPr>
        <p:spPr>
          <a:xfrm>
            <a:off x="4292600" y="3799869"/>
            <a:ext cx="679450" cy="203200"/>
          </a:xfrm>
          <a:prstGeom prst="rect">
            <a:avLst/>
          </a:prstGeom>
          <a:noFill/>
        </p:spPr>
        <p:txBody>
          <a:bodyPr vert="horz" wrap="none" lIns="0" tIns="0" rIns="0" bIns="0" rtlCol="0">
            <a:noAutofit/>
          </a:bodyPr>
          <a:lstStyle/>
          <a:p>
            <a:r>
              <a:rPr lang="en-US" altLang="zh-CN" sz="1100" dirty="0" smtClean="0">
                <a:solidFill>
                  <a:srgbClr val="003C71"/>
                </a:solidFill>
              </a:rPr>
              <a:t>T = 5mm</a:t>
            </a:r>
            <a:endParaRPr lang="zh-CN" altLang="en-US" sz="1100" dirty="0" smtClean="0">
              <a:solidFill>
                <a:srgbClr val="003C71"/>
              </a:solidFill>
            </a:endParaRPr>
          </a:p>
        </p:txBody>
      </p:sp>
    </p:spTree>
    <p:extLst>
      <p:ext uri="{BB962C8B-B14F-4D97-AF65-F5344CB8AC3E}">
        <p14:creationId xmlns:p14="http://schemas.microsoft.com/office/powerpoint/2010/main" val="1183421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title"/>
          </p:nvPr>
        </p:nvSpPr>
        <p:spPr>
          <a:xfrm>
            <a:off x="455613" y="308848"/>
            <a:ext cx="8229600" cy="868680"/>
          </a:xfrm>
        </p:spPr>
        <p:txBody>
          <a:bodyPr/>
          <a:lstStyle/>
          <a:p>
            <a:r>
              <a:rPr lang="en-US" dirty="0" smtClean="0"/>
              <a:t>Compal KS reflow pallet for KBL-G</a:t>
            </a:r>
            <a:endParaRPr lang="en-US" dirty="0"/>
          </a:p>
        </p:txBody>
      </p:sp>
      <p:sp>
        <p:nvSpPr>
          <p:cNvPr id="15" name="TextBox 14"/>
          <p:cNvSpPr txBox="1"/>
          <p:nvPr/>
        </p:nvSpPr>
        <p:spPr>
          <a:xfrm>
            <a:off x="3633207" y="3106409"/>
            <a:ext cx="1563177" cy="403881"/>
          </a:xfrm>
          <a:prstGeom prst="rect">
            <a:avLst/>
          </a:prstGeom>
          <a:noFill/>
        </p:spPr>
        <p:txBody>
          <a:bodyPr vert="horz" wrap="none" lIns="0" tIns="0" rIns="0" bIns="0" rtlCol="0">
            <a:noAutofit/>
          </a:bodyPr>
          <a:lstStyle/>
          <a:p>
            <a:r>
              <a:rPr lang="en-US" altLang="zh-CN" sz="1100" dirty="0" smtClean="0">
                <a:solidFill>
                  <a:srgbClr val="003C71"/>
                </a:solidFill>
              </a:rPr>
              <a:t>Bottom carrier T= 8mm</a:t>
            </a:r>
          </a:p>
          <a:p>
            <a:r>
              <a:rPr lang="en-US" altLang="zh-CN" sz="1100" dirty="0" smtClean="0">
                <a:solidFill>
                  <a:srgbClr val="003C71"/>
                </a:solidFill>
              </a:rPr>
              <a:t>Top cover T= 6mm</a:t>
            </a:r>
            <a:endParaRPr lang="zh-CN" altLang="en-US" sz="1100" dirty="0" smtClean="0">
              <a:solidFill>
                <a:srgbClr val="003C71"/>
              </a:solidFill>
            </a:endParaRPr>
          </a:p>
        </p:txBody>
      </p:sp>
      <p:pic>
        <p:nvPicPr>
          <p:cNvPr id="2" name="Picture 1"/>
          <p:cNvPicPr>
            <a:picLocks noChangeAspect="1"/>
          </p:cNvPicPr>
          <p:nvPr/>
        </p:nvPicPr>
        <p:blipFill>
          <a:blip r:embed="rId2"/>
          <a:stretch>
            <a:fillRect/>
          </a:stretch>
        </p:blipFill>
        <p:spPr>
          <a:xfrm>
            <a:off x="455614" y="863817"/>
            <a:ext cx="3735742" cy="1218983"/>
          </a:xfrm>
          <a:prstGeom prst="rect">
            <a:avLst/>
          </a:prstGeom>
        </p:spPr>
      </p:pic>
      <p:pic>
        <p:nvPicPr>
          <p:cNvPr id="3" name="Picture 2"/>
          <p:cNvPicPr>
            <a:picLocks noChangeAspect="1"/>
          </p:cNvPicPr>
          <p:nvPr/>
        </p:nvPicPr>
        <p:blipFill>
          <a:blip r:embed="rId3"/>
          <a:stretch>
            <a:fillRect/>
          </a:stretch>
        </p:blipFill>
        <p:spPr>
          <a:xfrm>
            <a:off x="4457699" y="863817"/>
            <a:ext cx="4115287" cy="1218983"/>
          </a:xfrm>
          <a:prstGeom prst="rect">
            <a:avLst/>
          </a:prstGeom>
        </p:spPr>
      </p:pic>
      <p:pic>
        <p:nvPicPr>
          <p:cNvPr id="4" name="Picture 3"/>
          <p:cNvPicPr>
            <a:picLocks noChangeAspect="1"/>
          </p:cNvPicPr>
          <p:nvPr/>
        </p:nvPicPr>
        <p:blipFill>
          <a:blip r:embed="rId4"/>
          <a:stretch>
            <a:fillRect/>
          </a:stretch>
        </p:blipFill>
        <p:spPr>
          <a:xfrm>
            <a:off x="984250" y="2146300"/>
            <a:ext cx="2438870" cy="2324100"/>
          </a:xfrm>
          <a:prstGeom prst="rect">
            <a:avLst/>
          </a:prstGeom>
        </p:spPr>
      </p:pic>
      <p:pic>
        <p:nvPicPr>
          <p:cNvPr id="5" name="Picture 4"/>
          <p:cNvPicPr>
            <a:picLocks noChangeAspect="1"/>
          </p:cNvPicPr>
          <p:nvPr/>
        </p:nvPicPr>
        <p:blipFill>
          <a:blip r:embed="rId5"/>
          <a:stretch>
            <a:fillRect/>
          </a:stretch>
        </p:blipFill>
        <p:spPr>
          <a:xfrm>
            <a:off x="5355673" y="2146300"/>
            <a:ext cx="2319338" cy="2431306"/>
          </a:xfrm>
          <a:prstGeom prst="rect">
            <a:avLst/>
          </a:prstGeom>
        </p:spPr>
      </p:pic>
    </p:spTree>
    <p:extLst>
      <p:ext uri="{BB962C8B-B14F-4D97-AF65-F5344CB8AC3E}">
        <p14:creationId xmlns:p14="http://schemas.microsoft.com/office/powerpoint/2010/main" val="4046259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title"/>
          </p:nvPr>
        </p:nvSpPr>
        <p:spPr>
          <a:xfrm>
            <a:off x="455613" y="308848"/>
            <a:ext cx="8229600" cy="868680"/>
          </a:xfrm>
        </p:spPr>
        <p:txBody>
          <a:bodyPr/>
          <a:lstStyle/>
          <a:p>
            <a:r>
              <a:rPr lang="en-US" dirty="0" smtClean="0"/>
              <a:t>Compal KS reflow pallet for CNL-Y</a:t>
            </a:r>
            <a:endParaRPr lang="en-US" dirty="0"/>
          </a:p>
        </p:txBody>
      </p:sp>
      <p:pic>
        <p:nvPicPr>
          <p:cNvPr id="12" name="Picture 1" descr="cid:image003.png@01D37D71.E1D140C0"/>
          <p:cNvPicPr>
            <a:picLocks noChangeAspect="1" noChangeArrowheads="1"/>
          </p:cNvPicPr>
          <p:nvPr/>
        </p:nvPicPr>
        <p:blipFill>
          <a:blip r:embed="rId2" r:link="rId3">
            <a:extLst>
              <a:ext uri="{28A0092B-C50C-407E-A947-70E740481C1C}">
                <a14:useLocalDpi xmlns:a14="http://schemas.microsoft.com/office/drawing/2010/main"/>
              </a:ext>
            </a:extLst>
          </a:blip>
          <a:srcRect/>
          <a:stretch>
            <a:fillRect/>
          </a:stretch>
        </p:blipFill>
        <p:spPr bwMode="auto">
          <a:xfrm>
            <a:off x="2702595" y="881455"/>
            <a:ext cx="3597593" cy="314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a:xfrm>
            <a:off x="4025900" y="4129165"/>
            <a:ext cx="1193800" cy="201535"/>
          </a:xfrm>
          <a:prstGeom prst="rect">
            <a:avLst/>
          </a:prstGeom>
          <a:noFill/>
        </p:spPr>
        <p:txBody>
          <a:bodyPr vert="horz" wrap="none" lIns="0" tIns="0" rIns="0" bIns="0" rtlCol="0">
            <a:noAutofit/>
          </a:bodyPr>
          <a:lstStyle/>
          <a:p>
            <a:r>
              <a:rPr lang="en-US" altLang="zh-CN" sz="1100" dirty="0" smtClean="0">
                <a:solidFill>
                  <a:srgbClr val="003C71"/>
                </a:solidFill>
              </a:rPr>
              <a:t>Pallet w/o top cover</a:t>
            </a:r>
            <a:endParaRPr lang="zh-CN" altLang="en-US" sz="1100" dirty="0" smtClean="0">
              <a:solidFill>
                <a:srgbClr val="003C71"/>
              </a:solidFill>
            </a:endParaRPr>
          </a:p>
        </p:txBody>
      </p:sp>
    </p:spTree>
    <p:extLst>
      <p:ext uri="{BB962C8B-B14F-4D97-AF65-F5344CB8AC3E}">
        <p14:creationId xmlns:p14="http://schemas.microsoft.com/office/powerpoint/2010/main" val="2956501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639" y="1155700"/>
            <a:ext cx="4573323" cy="2578099"/>
          </a:xfrm>
          <a:prstGeom prst="rect">
            <a:avLst/>
          </a:prstGeom>
        </p:spPr>
      </p:pic>
      <p:pic>
        <p:nvPicPr>
          <p:cNvPr id="4" name="Picture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95962" y="1184272"/>
            <a:ext cx="4522638" cy="2549527"/>
          </a:xfrm>
          <a:prstGeom prst="rect">
            <a:avLst/>
          </a:prstGeom>
        </p:spPr>
      </p:pic>
      <p:sp>
        <p:nvSpPr>
          <p:cNvPr id="9" name="Title 3"/>
          <p:cNvSpPr>
            <a:spLocks noGrp="1"/>
          </p:cNvSpPr>
          <p:nvPr>
            <p:ph type="title"/>
          </p:nvPr>
        </p:nvSpPr>
        <p:spPr>
          <a:xfrm>
            <a:off x="455613" y="308848"/>
            <a:ext cx="8229600" cy="868680"/>
          </a:xfrm>
        </p:spPr>
        <p:txBody>
          <a:bodyPr/>
          <a:lstStyle/>
          <a:p>
            <a:r>
              <a:rPr lang="en-US" dirty="0" smtClean="0"/>
              <a:t>Samsung Suzhou reflow pallet for KBL-H</a:t>
            </a:r>
            <a:endParaRPr lang="en-US" dirty="0"/>
          </a:p>
        </p:txBody>
      </p:sp>
      <p:sp>
        <p:nvSpPr>
          <p:cNvPr id="10" name="TextBox 9"/>
          <p:cNvSpPr txBox="1"/>
          <p:nvPr/>
        </p:nvSpPr>
        <p:spPr>
          <a:xfrm>
            <a:off x="1911350" y="3995815"/>
            <a:ext cx="889000" cy="203200"/>
          </a:xfrm>
          <a:prstGeom prst="rect">
            <a:avLst/>
          </a:prstGeom>
          <a:noFill/>
        </p:spPr>
        <p:txBody>
          <a:bodyPr vert="horz" wrap="none" lIns="0" tIns="0" rIns="0" bIns="0" rtlCol="0">
            <a:noAutofit/>
          </a:bodyPr>
          <a:lstStyle/>
          <a:p>
            <a:r>
              <a:rPr lang="en-US" altLang="zh-CN" sz="1100" dirty="0" smtClean="0">
                <a:solidFill>
                  <a:srgbClr val="003C71"/>
                </a:solidFill>
              </a:rPr>
              <a:t>Top view</a:t>
            </a:r>
            <a:endParaRPr lang="zh-CN" altLang="en-US" sz="1100" dirty="0" smtClean="0">
              <a:solidFill>
                <a:srgbClr val="003C71"/>
              </a:solidFill>
            </a:endParaRPr>
          </a:p>
        </p:txBody>
      </p:sp>
      <p:sp>
        <p:nvSpPr>
          <p:cNvPr id="11" name="TextBox 10"/>
          <p:cNvSpPr txBox="1"/>
          <p:nvPr/>
        </p:nvSpPr>
        <p:spPr>
          <a:xfrm>
            <a:off x="6692900" y="3995815"/>
            <a:ext cx="889000" cy="203200"/>
          </a:xfrm>
          <a:prstGeom prst="rect">
            <a:avLst/>
          </a:prstGeom>
          <a:noFill/>
        </p:spPr>
        <p:txBody>
          <a:bodyPr vert="horz" wrap="none" lIns="0" tIns="0" rIns="0" bIns="0" rtlCol="0">
            <a:noAutofit/>
          </a:bodyPr>
          <a:lstStyle/>
          <a:p>
            <a:r>
              <a:rPr lang="en-US" altLang="zh-CN" sz="1100" dirty="0" smtClean="0">
                <a:solidFill>
                  <a:srgbClr val="003C71"/>
                </a:solidFill>
              </a:rPr>
              <a:t>Bottom view</a:t>
            </a:r>
            <a:endParaRPr lang="zh-CN" altLang="en-US" sz="1100" dirty="0" smtClean="0">
              <a:solidFill>
                <a:srgbClr val="003C71"/>
              </a:solidFill>
            </a:endParaRPr>
          </a:p>
        </p:txBody>
      </p:sp>
    </p:spTree>
    <p:extLst>
      <p:ext uri="{BB962C8B-B14F-4D97-AF65-F5344CB8AC3E}">
        <p14:creationId xmlns:p14="http://schemas.microsoft.com/office/powerpoint/2010/main" val="3067014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a:xfrm>
            <a:off x="455613" y="308848"/>
            <a:ext cx="8229600" cy="868680"/>
          </a:xfrm>
        </p:spPr>
        <p:txBody>
          <a:bodyPr/>
          <a:lstStyle/>
          <a:p>
            <a:r>
              <a:rPr lang="en-US" dirty="0" smtClean="0"/>
              <a:t>LCFC reflow pallet for CNL-Y</a:t>
            </a:r>
            <a:endParaRPr lang="en-US" dirty="0"/>
          </a:p>
        </p:txBody>
      </p:sp>
      <p:pic>
        <p:nvPicPr>
          <p:cNvPr id="6" name="Picture 2" descr="cid:image001.jpg@01D3946D.BA96AFA0"/>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85380" y="736600"/>
            <a:ext cx="4206750" cy="217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image00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25585" y="736600"/>
            <a:ext cx="4029478" cy="209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2" descr="image001"/>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33328" y="2984501"/>
            <a:ext cx="6166022" cy="205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90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title"/>
          </p:nvPr>
        </p:nvSpPr>
        <p:spPr>
          <a:xfrm>
            <a:off x="455613" y="308848"/>
            <a:ext cx="8229600" cy="868680"/>
          </a:xfrm>
        </p:spPr>
        <p:txBody>
          <a:bodyPr/>
          <a:lstStyle/>
          <a:p>
            <a:r>
              <a:rPr lang="en-US" dirty="0" smtClean="0"/>
              <a:t>Early 2018 CRD survey data</a:t>
            </a:r>
            <a:endParaRPr lang="en-US" dirty="0"/>
          </a:p>
        </p:txBody>
      </p:sp>
      <p:pic>
        <p:nvPicPr>
          <p:cNvPr id="5" name="Picture 4"/>
          <p:cNvPicPr>
            <a:picLocks noChangeAspect="1"/>
          </p:cNvPicPr>
          <p:nvPr/>
        </p:nvPicPr>
        <p:blipFill>
          <a:blip r:embed="rId2"/>
          <a:stretch>
            <a:fillRect/>
          </a:stretch>
        </p:blipFill>
        <p:spPr>
          <a:xfrm>
            <a:off x="1231091" y="988792"/>
            <a:ext cx="6678643" cy="3646707"/>
          </a:xfrm>
          <a:prstGeom prst="rect">
            <a:avLst/>
          </a:prstGeom>
        </p:spPr>
      </p:pic>
    </p:spTree>
    <p:extLst>
      <p:ext uri="{BB962C8B-B14F-4D97-AF65-F5344CB8AC3E}">
        <p14:creationId xmlns:p14="http://schemas.microsoft.com/office/powerpoint/2010/main" val="4220802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7</a:t>
            </a:fld>
            <a:endParaRPr lang="en-US" dirty="0"/>
          </a:p>
        </p:txBody>
      </p:sp>
      <p:sp>
        <p:nvSpPr>
          <p:cNvPr id="4" name="Title 3"/>
          <p:cNvSpPr>
            <a:spLocks noGrp="1"/>
          </p:cNvSpPr>
          <p:nvPr>
            <p:ph type="title"/>
          </p:nvPr>
        </p:nvSpPr>
        <p:spPr/>
        <p:txBody>
          <a:bodyPr/>
          <a:lstStyle/>
          <a:p>
            <a:r>
              <a:rPr lang="en-US" dirty="0" smtClean="0"/>
              <a:t>Observations</a:t>
            </a:r>
            <a:endParaRPr lang="en-US" dirty="0"/>
          </a:p>
        </p:txBody>
      </p:sp>
      <p:sp>
        <p:nvSpPr>
          <p:cNvPr id="5" name="Content Placeholder 4"/>
          <p:cNvSpPr>
            <a:spLocks noGrp="1"/>
          </p:cNvSpPr>
          <p:nvPr>
            <p:ph sz="quarter" idx="13"/>
          </p:nvPr>
        </p:nvSpPr>
        <p:spPr/>
        <p:txBody>
          <a:bodyPr>
            <a:normAutofit lnSpcReduction="10000"/>
          </a:bodyPr>
          <a:lstStyle/>
          <a:p>
            <a:pPr lvl="1"/>
            <a:r>
              <a:rPr lang="en-US" altLang="zh-CN" dirty="0" smtClean="0"/>
              <a:t>Nowadays, </a:t>
            </a:r>
            <a:r>
              <a:rPr lang="en-US" altLang="zh-CN" dirty="0"/>
              <a:t>a</a:t>
            </a:r>
            <a:r>
              <a:rPr lang="en-US" dirty="0" smtClean="0"/>
              <a:t>luminum is the dominating material customers are using for reflow pallet fabrication. </a:t>
            </a:r>
          </a:p>
          <a:p>
            <a:pPr lvl="2"/>
            <a:r>
              <a:rPr lang="en-US" dirty="0" smtClean="0"/>
              <a:t>Other material usage should &lt; 10%</a:t>
            </a:r>
          </a:p>
          <a:p>
            <a:pPr lvl="2"/>
            <a:r>
              <a:rPr lang="en-US" dirty="0" smtClean="0"/>
              <a:t>The pallet thickness is ~5 to 6mm, per CME observation</a:t>
            </a:r>
          </a:p>
          <a:p>
            <a:pPr lvl="1"/>
            <a:r>
              <a:rPr lang="en-US" dirty="0" smtClean="0"/>
              <a:t>Almost nobody use spring clamps because not able to adopt automation process</a:t>
            </a:r>
          </a:p>
          <a:p>
            <a:pPr lvl="1"/>
            <a:r>
              <a:rPr lang="en-US" dirty="0" smtClean="0"/>
              <a:t>Due to thinner PCBs, more and more customer introduce whole process pallet to support PCB (from paste print till reflow), to provide good support to PCB during print, SMT and reflow process</a:t>
            </a:r>
          </a:p>
          <a:p>
            <a:pPr lvl="2"/>
            <a:r>
              <a:rPr lang="en-US" dirty="0" smtClean="0"/>
              <a:t>The whole process pallet requests to use tooling pins and smaller clearance, to hold the PCB position precisely. </a:t>
            </a:r>
            <a:endParaRPr lang="en-US" dirty="0"/>
          </a:p>
          <a:p>
            <a:pPr lvl="1"/>
            <a:r>
              <a:rPr lang="en-US" dirty="0" smtClean="0"/>
              <a:t>When HVM, most customer use customized pallet to support instead of general pallet, due to the complexity of board shape, size, thickness and component layout</a:t>
            </a:r>
          </a:p>
        </p:txBody>
      </p:sp>
    </p:spTree>
    <p:extLst>
      <p:ext uri="{BB962C8B-B14F-4D97-AF65-F5344CB8AC3E}">
        <p14:creationId xmlns:p14="http://schemas.microsoft.com/office/powerpoint/2010/main" val="718782487"/>
      </p:ext>
    </p:extLst>
  </p:cSld>
  <p:clrMapOvr>
    <a:masterClrMapping/>
  </p:clrMapOvr>
  <p:timing>
    <p:tnLst>
      <p:par>
        <p:cTn id="1" dur="indefinite" restart="never" nodeType="tmRoot"/>
      </p:par>
    </p:tnLst>
  </p:timing>
</p:sld>
</file>

<file path=ppt/theme/theme1.xml><?xml version="1.0" encoding="utf-8"?>
<a:theme xmlns:a="http://schemas.openxmlformats.org/drawingml/2006/main" name="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A06151-3692-47B4-BD5C-B8A6FC42B110}">
  <ds:schemaRefs>
    <ds:schemaRef ds:uri="http://schemas.microsoft.com/sharepoint/v3/contenttype/forms"/>
  </ds:schemaRefs>
</ds:datastoreItem>
</file>

<file path=customXml/itemProps2.xml><?xml version="1.0" encoding="utf-8"?>
<ds:datastoreItem xmlns:ds="http://schemas.openxmlformats.org/officeDocument/2006/customXml" ds:itemID="{AE99ECB8-45FC-4100-8BF9-2ED702075700}">
  <ds:schemaRefs>
    <ds:schemaRef ds:uri="http://schemas.microsoft.com/office/2006/metadata/properties"/>
    <ds:schemaRef ds:uri="http://schemas.microsoft.com/office/infopath/2007/PartnerControls"/>
    <ds:schemaRef ds:uri="8be65adc-dafe-41de-b714-7d6fc7ef3c7a"/>
  </ds:schemaRefs>
</ds:datastoreItem>
</file>

<file path=customXml/itemProps3.xml><?xml version="1.0" encoding="utf-8"?>
<ds:datastoreItem xmlns:ds="http://schemas.openxmlformats.org/officeDocument/2006/customXml" ds:itemID="{F528A9B8-30DE-4A0C-B4AD-8A78E0A1919D}"/>
</file>

<file path=docProps/app.xml><?xml version="1.0" encoding="utf-8"?>
<Properties xmlns="http://schemas.openxmlformats.org/officeDocument/2006/extended-properties" xmlns:vt="http://schemas.openxmlformats.org/officeDocument/2006/docPropsVTypes">
  <Template/>
  <TotalTime>0</TotalTime>
  <Words>187</Words>
  <Application>Microsoft Office PowerPoint</Application>
  <PresentationFormat>On-screen Show (16:9)</PresentationFormat>
  <Paragraphs>21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Courier New</vt:lpstr>
      <vt:lpstr>Intel Clear</vt:lpstr>
      <vt:lpstr>Intel Clear Light</vt:lpstr>
      <vt:lpstr>Wingdings</vt:lpstr>
      <vt:lpstr>Arial</vt:lpstr>
      <vt:lpstr>Int_PPT Template_ClearPro_16x9</vt:lpstr>
      <vt:lpstr>Huaqin reflow pallet for WHL-U</vt:lpstr>
      <vt:lpstr>Compal KS reflow pallet for KBL-G</vt:lpstr>
      <vt:lpstr>Compal KS reflow pallet for CNL-Y</vt:lpstr>
      <vt:lpstr>Samsung Suzhou reflow pallet for KBL-H</vt:lpstr>
      <vt:lpstr>LCFC reflow pallet for CNL-Y</vt:lpstr>
      <vt:lpstr>Early 2018 CRD survey data</vt:lpstr>
      <vt:lpstr>Observations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2015-05-06T16:36:39Z</dcterms:created>
  <dcterms:modified xsi:type="dcterms:W3CDTF">2019-03-01T03:57:07Z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0x010100C25921F9D4874B40A69C72F5C132575A</vt:lpwstr>
  </property>
  <property fmtid="{D5CDD505-2E9C-101B-9397-08002B2CF9AE}" pid="3" name="TitusGUID">
    <vt:lpwstr>4407085c-61ae-4b2e-b625-3b1068b66586</vt:lpwstr>
  </property>
  <property fmtid="{D5CDD505-2E9C-101B-9397-08002B2CF9AE}" pid="4" name="CTP_TimeStamp">
    <vt:lpwstr>2019-03-01 03:56:30Z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