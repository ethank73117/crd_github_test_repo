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embedTrueTypeFonts="1" saveSubsetFonts="1">
  <p:sldMasterIdLst>
    <p:sldMasterId id="2147483648" r:id="rId4"/>
  </p:sldMasterIdLst>
  <p:notesMasterIdLst>
    <p:notesMasterId r:id="rId29"/>
  </p:notesMasterIdLst>
  <p:handoutMasterIdLst>
    <p:handoutMasterId r:id="rId30"/>
  </p:handoutMasterIdLst>
  <p:sldIdLst>
    <p:sldId id="308" r:id="rId5"/>
    <p:sldId id="338" r:id="rId6"/>
    <p:sldId id="342" r:id="rId7"/>
    <p:sldId id="349" r:id="rId8"/>
    <p:sldId id="350" r:id="rId9"/>
    <p:sldId id="309" r:id="rId10"/>
    <p:sldId id="340" r:id="rId11"/>
    <p:sldId id="339" r:id="rId12"/>
    <p:sldId id="341" r:id="rId13"/>
    <p:sldId id="311" r:id="rId14"/>
    <p:sldId id="337" r:id="rId15"/>
    <p:sldId id="319" r:id="rId16"/>
    <p:sldId id="333" r:id="rId17"/>
    <p:sldId id="330" r:id="rId18"/>
    <p:sldId id="329" r:id="rId19"/>
    <p:sldId id="326" r:id="rId20"/>
    <p:sldId id="327" r:id="rId21"/>
    <p:sldId id="328" r:id="rId22"/>
    <p:sldId id="336" r:id="rId23"/>
    <p:sldId id="325" r:id="rId24"/>
    <p:sldId id="331" r:id="rId25"/>
    <p:sldId id="332" r:id="rId26"/>
    <p:sldId id="266" r:id="rId27"/>
    <p:sldId id="335" r:id="rId28"/>
  </p:sldIdLst>
  <p:sldSz cx="9144000" cy="5143500" type="screen16x9"/>
  <p:notesSz cx="6858000" cy="9144000"/>
  <p:embeddedFontLst>
    <p:embeddedFont>
      <p:font typeface="Intel Clear" panose="020B0604020203020204" pitchFamily="34" charset="0"/>
      <p:regular r:id="rId31"/>
      <p:bold r:id="rId32"/>
      <p:italic r:id="rId33"/>
      <p:boldItalic r:id="rId34"/>
    </p:embeddedFont>
    <p:embeddedFont>
      <p:font typeface="Intel Clear Light" panose="020B0404020203020204" pitchFamily="34" charset="0"/>
      <p:regular r:id="rId35"/>
      <p:italic r:id="rId36"/>
    </p:embeddedFont>
    <p:embeddedFont>
      <p:font typeface="Intel Clear Pro" panose="020B0804020202060201" pitchFamily="34" charset="0"/>
      <p:bold r:id="rId3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1">
          <p15:clr>
            <a:srgbClr val="A4A3A4"/>
          </p15:clr>
        </p15:guide>
        <p15:guide id="2" orient="horz" pos="3004">
          <p15:clr>
            <a:srgbClr val="A4A3A4"/>
          </p15:clr>
        </p15:guide>
        <p15:guide id="3" orient="horz" pos="422">
          <p15:clr>
            <a:srgbClr val="A4A3A4"/>
          </p15:clr>
        </p15:guide>
        <p15:guide id="4" orient="horz" pos="824">
          <p15:clr>
            <a:srgbClr val="A4A3A4"/>
          </p15:clr>
        </p15:guide>
        <p15:guide id="5" orient="horz" pos="2916">
          <p15:clr>
            <a:srgbClr val="A4A3A4"/>
          </p15:clr>
        </p15:guide>
        <p15:guide id="6" orient="horz" pos="1643">
          <p15:clr>
            <a:srgbClr val="A4A3A4"/>
          </p15:clr>
        </p15:guide>
        <p15:guide id="7" pos="5470">
          <p15:clr>
            <a:srgbClr val="A4A3A4"/>
          </p15:clr>
        </p15:guide>
        <p15:guide id="8" pos="287">
          <p15:clr>
            <a:srgbClr val="A4A3A4"/>
          </p15:clr>
        </p15:guide>
        <p15:guide id="9" pos="2909">
          <p15:clr>
            <a:srgbClr val="A4A3A4"/>
          </p15:clr>
        </p15:guide>
        <p15:guide id="10" pos="2811">
          <p15:clr>
            <a:srgbClr val="A4A3A4"/>
          </p15:clr>
        </p15:guide>
        <p15:guide id="11" pos="285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3308"/>
    <a:srgbClr val="003E74"/>
    <a:srgbClr val="FD9208"/>
    <a:srgbClr val="003C71"/>
    <a:srgbClr val="0067B5"/>
    <a:srgbClr val="0071C5"/>
    <a:srgbClr val="009FDF"/>
    <a:srgbClr val="F3D54E"/>
    <a:srgbClr val="F0CE3E"/>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068" autoAdjust="0"/>
    <p:restoredTop sz="96325" autoAdjust="0"/>
  </p:normalViewPr>
  <p:slideViewPr>
    <p:cSldViewPr snapToGrid="0">
      <p:cViewPr varScale="1">
        <p:scale>
          <a:sx n="109" d="100"/>
          <a:sy n="109" d="100"/>
        </p:scale>
        <p:origin x="1094" y="82"/>
      </p:cViewPr>
      <p:guideLst>
        <p:guide orient="horz" pos="1581"/>
        <p:guide orient="horz" pos="3004"/>
        <p:guide orient="horz" pos="422"/>
        <p:guide orient="horz" pos="824"/>
        <p:guide orient="horz" pos="2916"/>
        <p:guide orient="horz" pos="1643"/>
        <p:guide pos="5470"/>
        <p:guide pos="287"/>
        <p:guide pos="2909"/>
        <p:guide pos="2811"/>
        <p:guide pos="28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6" d="100"/>
        <a:sy n="86" d="100"/>
      </p:scale>
      <p:origin x="0" y="1536"/>
    </p:cViewPr>
  </p:sorterViewPr>
  <p:notesViewPr>
    <p:cSldViewPr snapToGrid="0" showGuides="1">
      <p:cViewPr varScale="1">
        <p:scale>
          <a:sx n="74" d="100"/>
          <a:sy n="74" d="100"/>
        </p:scale>
        <p:origin x="-74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4.fntdata"/><Relationship Id="rId42"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6.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font" Target="fonts/font5.fntdata"/></Relationships>
</file>

<file path=ppt/charts/_rels/chart1.xml.rels><?xml version="1.0" encoding="UTF-8" standalone="yes"?>
<Relationships xmlns="http://schemas.openxmlformats.org/package/2006/relationships"><Relationship Id="rId3" Type="http://schemas.openxmlformats.org/officeDocument/2006/relationships/oleObject" Target="file:///C:\Users\saisivak\Documents\FCBGA15\Elkhart%20Lake\EHL%20Graph%20Ideas%20for%20Adhesive%20Requirements%20for%20IOTG%20Adopts%20%2004_30_20.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EHL Product</a:t>
            </a:r>
            <a:r>
              <a:rPr lang="en-US" baseline="0" dirty="0"/>
              <a:t> Requirements</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2"/>
          <c:order val="0"/>
          <c:tx>
            <c:v>6 Power Cycles/Day, 5 Year Lifetime</c:v>
          </c:tx>
          <c:spPr>
            <a:ln w="19050" cap="rnd">
              <a:solidFill>
                <a:schemeClr val="accent3"/>
              </a:solidFill>
              <a:round/>
            </a:ln>
            <a:effectLst/>
          </c:spPr>
          <c:marker>
            <c:symbol val="none"/>
          </c:marker>
          <c:xVal>
            <c:numRef>
              <c:f>'PC vs UC'!$A$29:$A$35</c:f>
              <c:numCache>
                <c:formatCode>General</c:formatCode>
                <c:ptCount val="7"/>
                <c:pt idx="0">
                  <c:v>65</c:v>
                </c:pt>
                <c:pt idx="1">
                  <c:v>70</c:v>
                </c:pt>
                <c:pt idx="2">
                  <c:v>75</c:v>
                </c:pt>
                <c:pt idx="3">
                  <c:v>80</c:v>
                </c:pt>
                <c:pt idx="4">
                  <c:v>85</c:v>
                </c:pt>
                <c:pt idx="5">
                  <c:v>90</c:v>
                </c:pt>
                <c:pt idx="6">
                  <c:v>95</c:v>
                </c:pt>
              </c:numCache>
            </c:numRef>
          </c:xVal>
          <c:yVal>
            <c:numRef>
              <c:f>'PC vs UC'!$B$29:$B$35</c:f>
              <c:numCache>
                <c:formatCode>General</c:formatCode>
                <c:ptCount val="7"/>
                <c:pt idx="0">
                  <c:v>1655</c:v>
                </c:pt>
                <c:pt idx="1">
                  <c:v>2189</c:v>
                </c:pt>
                <c:pt idx="2">
                  <c:v>2825</c:v>
                </c:pt>
                <c:pt idx="3">
                  <c:v>3575</c:v>
                </c:pt>
                <c:pt idx="4">
                  <c:v>4447</c:v>
                </c:pt>
                <c:pt idx="5">
                  <c:v>5454</c:v>
                </c:pt>
                <c:pt idx="6">
                  <c:v>6607</c:v>
                </c:pt>
              </c:numCache>
            </c:numRef>
          </c:yVal>
          <c:smooth val="0"/>
          <c:extLst>
            <c:ext xmlns:c16="http://schemas.microsoft.com/office/drawing/2014/chart" uri="{C3380CC4-5D6E-409C-BE32-E72D297353CC}">
              <c16:uniqueId val="{00000000-953E-412C-85BD-AE7079DAE673}"/>
            </c:ext>
          </c:extLst>
        </c:ser>
        <c:ser>
          <c:idx val="1"/>
          <c:order val="1"/>
          <c:tx>
            <c:v>4 Power Cycles/Day, 5 Year Lifetime</c:v>
          </c:tx>
          <c:spPr>
            <a:ln w="19050" cap="rnd">
              <a:solidFill>
                <a:schemeClr val="accent2"/>
              </a:solidFill>
              <a:round/>
            </a:ln>
            <a:effectLst/>
          </c:spPr>
          <c:marker>
            <c:symbol val="none"/>
          </c:marker>
          <c:xVal>
            <c:numRef>
              <c:f>'PC vs UC'!$A$16:$A$22</c:f>
              <c:numCache>
                <c:formatCode>General</c:formatCode>
                <c:ptCount val="7"/>
                <c:pt idx="0">
                  <c:v>65</c:v>
                </c:pt>
                <c:pt idx="1">
                  <c:v>70</c:v>
                </c:pt>
                <c:pt idx="2">
                  <c:v>75</c:v>
                </c:pt>
                <c:pt idx="3">
                  <c:v>80</c:v>
                </c:pt>
                <c:pt idx="4">
                  <c:v>85</c:v>
                </c:pt>
                <c:pt idx="5">
                  <c:v>90</c:v>
                </c:pt>
                <c:pt idx="6">
                  <c:v>95</c:v>
                </c:pt>
              </c:numCache>
            </c:numRef>
          </c:xVal>
          <c:yVal>
            <c:numRef>
              <c:f>'PC vs UC'!$B$16:$B$22</c:f>
              <c:numCache>
                <c:formatCode>General</c:formatCode>
                <c:ptCount val="7"/>
                <c:pt idx="0">
                  <c:v>1263</c:v>
                </c:pt>
                <c:pt idx="1">
                  <c:v>1670</c:v>
                </c:pt>
                <c:pt idx="2">
                  <c:v>2156</c:v>
                </c:pt>
                <c:pt idx="3">
                  <c:v>2728</c:v>
                </c:pt>
                <c:pt idx="4">
                  <c:v>3394</c:v>
                </c:pt>
                <c:pt idx="5">
                  <c:v>4162</c:v>
                </c:pt>
                <c:pt idx="6">
                  <c:v>5042</c:v>
                </c:pt>
              </c:numCache>
            </c:numRef>
          </c:yVal>
          <c:smooth val="0"/>
          <c:extLst>
            <c:ext xmlns:c16="http://schemas.microsoft.com/office/drawing/2014/chart" uri="{C3380CC4-5D6E-409C-BE32-E72D297353CC}">
              <c16:uniqueId val="{00000001-953E-412C-85BD-AE7079DAE673}"/>
            </c:ext>
          </c:extLst>
        </c:ser>
        <c:ser>
          <c:idx val="0"/>
          <c:order val="2"/>
          <c:tx>
            <c:v>2 Power Cycles/Day, 5 Year Lifetime</c:v>
          </c:tx>
          <c:spPr>
            <a:ln w="19050" cap="rnd">
              <a:solidFill>
                <a:schemeClr val="accent1"/>
              </a:solidFill>
              <a:round/>
            </a:ln>
            <a:effectLst/>
          </c:spPr>
          <c:marker>
            <c:symbol val="none"/>
          </c:marker>
          <c:xVal>
            <c:numRef>
              <c:f>'PC vs UC'!$A$4:$A$10</c:f>
              <c:numCache>
                <c:formatCode>General</c:formatCode>
                <c:ptCount val="7"/>
                <c:pt idx="0">
                  <c:v>65</c:v>
                </c:pt>
                <c:pt idx="1">
                  <c:v>70</c:v>
                </c:pt>
                <c:pt idx="2">
                  <c:v>75</c:v>
                </c:pt>
                <c:pt idx="3">
                  <c:v>80</c:v>
                </c:pt>
                <c:pt idx="4">
                  <c:v>85</c:v>
                </c:pt>
                <c:pt idx="5">
                  <c:v>90</c:v>
                </c:pt>
                <c:pt idx="6">
                  <c:v>95</c:v>
                </c:pt>
              </c:numCache>
            </c:numRef>
          </c:xVal>
          <c:yVal>
            <c:numRef>
              <c:f>'PC vs UC'!$B$4:$B$10</c:f>
              <c:numCache>
                <c:formatCode>General</c:formatCode>
                <c:ptCount val="7"/>
                <c:pt idx="0">
                  <c:v>796</c:v>
                </c:pt>
                <c:pt idx="1">
                  <c:v>1052</c:v>
                </c:pt>
                <c:pt idx="2">
                  <c:v>1358</c:v>
                </c:pt>
                <c:pt idx="3">
                  <c:v>1719</c:v>
                </c:pt>
                <c:pt idx="4">
                  <c:v>2138</c:v>
                </c:pt>
                <c:pt idx="5">
                  <c:v>2622</c:v>
                </c:pt>
                <c:pt idx="6">
                  <c:v>3176</c:v>
                </c:pt>
              </c:numCache>
            </c:numRef>
          </c:yVal>
          <c:smooth val="0"/>
          <c:extLst>
            <c:ext xmlns:c16="http://schemas.microsoft.com/office/drawing/2014/chart" uri="{C3380CC4-5D6E-409C-BE32-E72D297353CC}">
              <c16:uniqueId val="{00000002-953E-412C-85BD-AE7079DAE673}"/>
            </c:ext>
          </c:extLst>
        </c:ser>
        <c:ser>
          <c:idx val="3"/>
          <c:order val="3"/>
          <c:tx>
            <c:v>1 Power Cycle/Day, 5 Year Lifetime</c:v>
          </c:tx>
          <c:spPr>
            <a:ln w="19050" cap="rnd">
              <a:solidFill>
                <a:schemeClr val="accent4"/>
              </a:solidFill>
              <a:round/>
            </a:ln>
            <a:effectLst/>
          </c:spPr>
          <c:marker>
            <c:symbol val="none"/>
          </c:marker>
          <c:xVal>
            <c:numRef>
              <c:f>'PC vs UC'!$A$41:$A$47</c:f>
              <c:numCache>
                <c:formatCode>General</c:formatCode>
                <c:ptCount val="7"/>
                <c:pt idx="0">
                  <c:v>65</c:v>
                </c:pt>
                <c:pt idx="1">
                  <c:v>70</c:v>
                </c:pt>
                <c:pt idx="2">
                  <c:v>75</c:v>
                </c:pt>
                <c:pt idx="3">
                  <c:v>80</c:v>
                </c:pt>
                <c:pt idx="4">
                  <c:v>85</c:v>
                </c:pt>
                <c:pt idx="5">
                  <c:v>90</c:v>
                </c:pt>
                <c:pt idx="6">
                  <c:v>95</c:v>
                </c:pt>
              </c:numCache>
            </c:numRef>
          </c:xVal>
          <c:yVal>
            <c:numRef>
              <c:f>'PC vs UC'!$B$41:$B$47</c:f>
              <c:numCache>
                <c:formatCode>General</c:formatCode>
                <c:ptCount val="7"/>
                <c:pt idx="0">
                  <c:v>501</c:v>
                </c:pt>
                <c:pt idx="1">
                  <c:v>663</c:v>
                </c:pt>
                <c:pt idx="2">
                  <c:v>856</c:v>
                </c:pt>
                <c:pt idx="3">
                  <c:v>1083</c:v>
                </c:pt>
                <c:pt idx="4">
                  <c:v>1347</c:v>
                </c:pt>
                <c:pt idx="5">
                  <c:v>1652</c:v>
                </c:pt>
                <c:pt idx="6">
                  <c:v>2001</c:v>
                </c:pt>
              </c:numCache>
            </c:numRef>
          </c:yVal>
          <c:smooth val="0"/>
          <c:extLst>
            <c:ext xmlns:c16="http://schemas.microsoft.com/office/drawing/2014/chart" uri="{C3380CC4-5D6E-409C-BE32-E72D297353CC}">
              <c16:uniqueId val="{00000003-953E-412C-85BD-AE7079DAE673}"/>
            </c:ext>
          </c:extLst>
        </c:ser>
        <c:ser>
          <c:idx val="4"/>
          <c:order val="4"/>
          <c:tx>
            <c:v>1 Power Cycle/Day, 10 Year Lifetime</c:v>
          </c:tx>
          <c:spPr>
            <a:ln w="19050" cap="rnd">
              <a:solidFill>
                <a:schemeClr val="accent5"/>
              </a:solidFill>
              <a:prstDash val="dash"/>
              <a:round/>
            </a:ln>
            <a:effectLst/>
          </c:spPr>
          <c:marker>
            <c:symbol val="none"/>
          </c:marker>
          <c:xVal>
            <c:numRef>
              <c:f>'PC vs UC'!$A$52:$A$58</c:f>
              <c:numCache>
                <c:formatCode>General</c:formatCode>
                <c:ptCount val="7"/>
                <c:pt idx="0">
                  <c:v>65</c:v>
                </c:pt>
                <c:pt idx="1">
                  <c:v>70</c:v>
                </c:pt>
                <c:pt idx="2">
                  <c:v>75</c:v>
                </c:pt>
                <c:pt idx="3">
                  <c:v>80</c:v>
                </c:pt>
                <c:pt idx="4">
                  <c:v>85</c:v>
                </c:pt>
                <c:pt idx="5">
                  <c:v>90</c:v>
                </c:pt>
                <c:pt idx="6">
                  <c:v>95</c:v>
                </c:pt>
              </c:numCache>
            </c:numRef>
          </c:xVal>
          <c:yVal>
            <c:numRef>
              <c:f>'PC vs UC'!$B$52:$B$58</c:f>
              <c:numCache>
                <c:formatCode>General</c:formatCode>
                <c:ptCount val="7"/>
                <c:pt idx="0">
                  <c:v>1002</c:v>
                </c:pt>
                <c:pt idx="1">
                  <c:v>1326</c:v>
                </c:pt>
                <c:pt idx="2">
                  <c:v>1711</c:v>
                </c:pt>
                <c:pt idx="3">
                  <c:v>2165</c:v>
                </c:pt>
                <c:pt idx="4">
                  <c:v>2694</c:v>
                </c:pt>
                <c:pt idx="5">
                  <c:v>3304</c:v>
                </c:pt>
                <c:pt idx="6">
                  <c:v>4002</c:v>
                </c:pt>
              </c:numCache>
            </c:numRef>
          </c:yVal>
          <c:smooth val="0"/>
          <c:extLst>
            <c:ext xmlns:c16="http://schemas.microsoft.com/office/drawing/2014/chart" uri="{C3380CC4-5D6E-409C-BE32-E72D297353CC}">
              <c16:uniqueId val="{00000004-953E-412C-85BD-AE7079DAE673}"/>
            </c:ext>
          </c:extLst>
        </c:ser>
        <c:ser>
          <c:idx val="5"/>
          <c:order val="5"/>
          <c:tx>
            <c:v>Product Capability</c:v>
          </c:tx>
          <c:spPr>
            <a:ln w="19050" cap="rnd">
              <a:solidFill>
                <a:schemeClr val="accent6"/>
              </a:solidFill>
              <a:round/>
            </a:ln>
            <a:effectLst/>
          </c:spPr>
          <c:marker>
            <c:symbol val="none"/>
          </c:marker>
          <c:xVal>
            <c:numRef>
              <c:f>'PC vs UC'!$A$63:$A$71</c:f>
              <c:numCache>
                <c:formatCode>General</c:formatCode>
                <c:ptCount val="9"/>
                <c:pt idx="0">
                  <c:v>60</c:v>
                </c:pt>
                <c:pt idx="1">
                  <c:v>65</c:v>
                </c:pt>
                <c:pt idx="2">
                  <c:v>70</c:v>
                </c:pt>
                <c:pt idx="3">
                  <c:v>75</c:v>
                </c:pt>
                <c:pt idx="4">
                  <c:v>80</c:v>
                </c:pt>
                <c:pt idx="5">
                  <c:v>85</c:v>
                </c:pt>
                <c:pt idx="6">
                  <c:v>90</c:v>
                </c:pt>
                <c:pt idx="7">
                  <c:v>95</c:v>
                </c:pt>
                <c:pt idx="8">
                  <c:v>100</c:v>
                </c:pt>
              </c:numCache>
            </c:numRef>
          </c:xVal>
          <c:yVal>
            <c:numRef>
              <c:f>'PC vs UC'!$B$63:$B$71</c:f>
              <c:numCache>
                <c:formatCode>General</c:formatCode>
                <c:ptCount val="9"/>
                <c:pt idx="0">
                  <c:v>1000</c:v>
                </c:pt>
                <c:pt idx="1">
                  <c:v>1000</c:v>
                </c:pt>
                <c:pt idx="2">
                  <c:v>1000</c:v>
                </c:pt>
                <c:pt idx="3">
                  <c:v>1000</c:v>
                </c:pt>
                <c:pt idx="4">
                  <c:v>1000</c:v>
                </c:pt>
                <c:pt idx="5">
                  <c:v>1000</c:v>
                </c:pt>
                <c:pt idx="6">
                  <c:v>1000</c:v>
                </c:pt>
                <c:pt idx="7">
                  <c:v>1000</c:v>
                </c:pt>
                <c:pt idx="8">
                  <c:v>1000</c:v>
                </c:pt>
              </c:numCache>
            </c:numRef>
          </c:yVal>
          <c:smooth val="0"/>
          <c:extLst>
            <c:ext xmlns:c16="http://schemas.microsoft.com/office/drawing/2014/chart" uri="{C3380CC4-5D6E-409C-BE32-E72D297353CC}">
              <c16:uniqueId val="{00000005-953E-412C-85BD-AE7079DAE673}"/>
            </c:ext>
          </c:extLst>
        </c:ser>
        <c:dLbls>
          <c:showLegendKey val="0"/>
          <c:showVal val="0"/>
          <c:showCatName val="0"/>
          <c:showSerName val="0"/>
          <c:showPercent val="0"/>
          <c:showBubbleSize val="0"/>
        </c:dLbls>
        <c:axId val="576136136"/>
        <c:axId val="575255520"/>
      </c:scatterChart>
      <c:valAx>
        <c:axId val="576136136"/>
        <c:scaling>
          <c:orientation val="minMax"/>
          <c:max val="100"/>
          <c:min val="6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Tsb</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5255520"/>
        <c:crosses val="autoZero"/>
        <c:crossBetween val="midCat"/>
      </c:valAx>
      <c:valAx>
        <c:axId val="57525552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Temperature Cycle Requirement (TCX)</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6136136"/>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drawings/drawing1.xml><?xml version="1.0" encoding="utf-8"?>
<c:userShapes xmlns:c="http://schemas.openxmlformats.org/drawingml/2006/chart">
  <cdr:relSizeAnchor xmlns:cdr="http://schemas.openxmlformats.org/drawingml/2006/chartDrawing">
    <cdr:from>
      <cdr:x>0.28638</cdr:x>
      <cdr:y>0.88115</cdr:y>
    </cdr:from>
    <cdr:to>
      <cdr:x>0.45243</cdr:x>
      <cdr:y>0.92186</cdr:y>
    </cdr:to>
    <cdr:sp macro="" textlink="">
      <cdr:nvSpPr>
        <cdr:cNvPr id="2" name="Right Brace 1">
          <a:extLst xmlns:a="http://schemas.openxmlformats.org/drawingml/2006/main">
            <a:ext uri="{FF2B5EF4-FFF2-40B4-BE49-F238E27FC236}">
              <a16:creationId xmlns:a16="http://schemas.microsoft.com/office/drawing/2014/main" id="{0C142801-2EFC-4354-894C-2A27C4A8D9B2}"/>
            </a:ext>
          </a:extLst>
        </cdr:cNvPr>
        <cdr:cNvSpPr/>
      </cdr:nvSpPr>
      <cdr:spPr>
        <a:xfrm xmlns:a="http://schemas.openxmlformats.org/drawingml/2006/main" rot="5400000">
          <a:off x="1949803" y="2073504"/>
          <a:ext cx="114010" cy="902056"/>
        </a:xfrm>
        <a:prstGeom xmlns:a="http://schemas.openxmlformats.org/drawingml/2006/main" prst="rightBrace">
          <a:avLst/>
        </a:prstGeom>
        <a:ln xmlns:a="http://schemas.openxmlformats.org/drawingml/2006/main">
          <a:solidFill>
            <a:srgbClr val="F0CE3E"/>
          </a:solidFill>
        </a:ln>
      </cdr:spPr>
      <cdr: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cdr:style>
      <cdr:txBody>
        <a:bodyPr xmlns:a="http://schemas.openxmlformats.org/drawingml/2006/main" rot="0" spcFirstLastPara="0" vert="horz" wrap="square" lIns="91440" tIns="45720" rIns="91440" bIns="45720" numCol="1" spcCol="0" rtlCol="0" fromWordArt="0" anchor="ctr" anchorCtr="0" forceAA="0" compatLnSpc="1">
          <a:prstTxWarp prst="textNoShape">
            <a:avLst/>
          </a:prstTxWarp>
          <a:noAutofit/>
        </a:bodyPr>
        <a:lstStyle xmlns:a="http://schemas.openxmlformats.org/drawingml/2006/main">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xmlns:a="http://schemas.openxmlformats.org/drawingml/2006/main">
          <a:pPr algn="ctr"/>
          <a:endParaRPr lang="en-US"/>
        </a:p>
      </cdr:txBody>
    </cdr:sp>
  </cdr:relSizeAnchor>
  <cdr:relSizeAnchor xmlns:cdr="http://schemas.openxmlformats.org/drawingml/2006/chartDrawing">
    <cdr:from>
      <cdr:x>0.45243</cdr:x>
      <cdr:y>0.8828</cdr:y>
    </cdr:from>
    <cdr:to>
      <cdr:x>0.57277</cdr:x>
      <cdr:y>0.92351</cdr:y>
    </cdr:to>
    <cdr:sp macro="" textlink="">
      <cdr:nvSpPr>
        <cdr:cNvPr id="3" name="Right Brace 2">
          <a:extLst xmlns:a="http://schemas.openxmlformats.org/drawingml/2006/main">
            <a:ext uri="{FF2B5EF4-FFF2-40B4-BE49-F238E27FC236}">
              <a16:creationId xmlns:a16="http://schemas.microsoft.com/office/drawing/2014/main" id="{0C142801-2EFC-4354-894C-2A27C4A8D9B2}"/>
            </a:ext>
          </a:extLst>
        </cdr:cNvPr>
        <cdr:cNvSpPr/>
      </cdr:nvSpPr>
      <cdr:spPr>
        <a:xfrm xmlns:a="http://schemas.openxmlformats.org/drawingml/2006/main" rot="5400000">
          <a:off x="2727693" y="2202286"/>
          <a:ext cx="114010" cy="653725"/>
        </a:xfrm>
        <a:prstGeom xmlns:a="http://schemas.openxmlformats.org/drawingml/2006/main" prst="rightBrace">
          <a:avLst/>
        </a:prstGeom>
        <a:ln xmlns:a="http://schemas.openxmlformats.org/drawingml/2006/main">
          <a:solidFill>
            <a:srgbClr val="FF0000"/>
          </a:solidFill>
        </a:ln>
      </cdr:spPr>
      <cdr: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cdr:style>
      <cdr:txBody>
        <a:bodyPr xmlns:a="http://schemas.openxmlformats.org/drawingml/2006/main" rot="0" spcFirstLastPara="0" vert="horz" wrap="square" lIns="91440" tIns="45720" rIns="91440" bIns="45720" numCol="1" spcCol="0" rtlCol="0" fromWordArt="0" anchor="ctr" anchorCtr="0" forceAA="0" compatLnSpc="1">
          <a:prstTxWarp prst="textNoShape">
            <a:avLst/>
          </a:prstTxWarp>
          <a:noAutofit/>
        </a:bodyPr>
        <a:lstStyle xmlns:a="http://schemas.openxmlformats.org/drawingml/2006/main">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xmlns:a="http://schemas.openxmlformats.org/drawingml/2006/main">
          <a:pPr algn="ctr"/>
          <a:endParaRPr lang="en-US"/>
        </a:p>
      </cdr:txBody>
    </cdr:sp>
  </cdr:relSizeAnchor>
  <cdr:relSizeAnchor xmlns:cdr="http://schemas.openxmlformats.org/drawingml/2006/chartDrawing">
    <cdr:from>
      <cdr:x>0.33931</cdr:x>
      <cdr:y>0.92186</cdr:y>
    </cdr:from>
    <cdr:to>
      <cdr:x>0.42214</cdr:x>
      <cdr:y>0.97132</cdr:y>
    </cdr:to>
    <cdr:sp macro="" textlink="">
      <cdr:nvSpPr>
        <cdr:cNvPr id="4" name="TextBox 7">
          <a:extLst xmlns:a="http://schemas.openxmlformats.org/drawingml/2006/main">
            <a:ext uri="{FF2B5EF4-FFF2-40B4-BE49-F238E27FC236}">
              <a16:creationId xmlns:a16="http://schemas.microsoft.com/office/drawing/2014/main" id="{F7246B97-133A-4134-B104-3ADE82D53B1C}"/>
            </a:ext>
          </a:extLst>
        </cdr:cNvPr>
        <cdr:cNvSpPr txBox="1"/>
      </cdr:nvSpPr>
      <cdr:spPr>
        <a:xfrm xmlns:a="http://schemas.openxmlformats.org/drawingml/2006/main">
          <a:off x="1843315" y="2581537"/>
          <a:ext cx="449943" cy="138499"/>
        </a:xfrm>
        <a:prstGeom xmlns:a="http://schemas.openxmlformats.org/drawingml/2006/main" prst="rect">
          <a:avLst/>
        </a:prstGeom>
        <a:noFill xmlns:a="http://schemas.openxmlformats.org/drawingml/2006/main"/>
      </cdr:spPr>
      <cdr:txBody>
        <a:bodyPr xmlns:a="http://schemas.openxmlformats.org/drawingml/2006/main" vert="horz" wrap="square" lIns="0" tIns="0" rIns="0" bIns="0" rtlCol="0">
          <a:spAutoFit/>
        </a:bodyPr>
        <a:lstStyle xmlns:a="http://schemas.openxmlformats.org/drawingml/2006/main">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xmlns:a="http://schemas.openxmlformats.org/drawingml/2006/main">
          <a:pPr algn="ctr"/>
          <a:r>
            <a:rPr lang="en-US" sz="900" b="1" dirty="0">
              <a:solidFill>
                <a:srgbClr val="FFC000"/>
              </a:solidFill>
            </a:rPr>
            <a:t>Medium</a:t>
          </a:r>
        </a:p>
      </cdr:txBody>
    </cdr:sp>
  </cdr:relSizeAnchor>
  <cdr:relSizeAnchor xmlns:cdr="http://schemas.openxmlformats.org/drawingml/2006/chartDrawing">
    <cdr:from>
      <cdr:x>0.47023</cdr:x>
      <cdr:y>0.92547</cdr:y>
    </cdr:from>
    <cdr:to>
      <cdr:x>0.55305</cdr:x>
      <cdr:y>0.97493</cdr:y>
    </cdr:to>
    <cdr:sp macro="" textlink="">
      <cdr:nvSpPr>
        <cdr:cNvPr id="5" name="TextBox 7">
          <a:extLst xmlns:a="http://schemas.openxmlformats.org/drawingml/2006/main">
            <a:ext uri="{FF2B5EF4-FFF2-40B4-BE49-F238E27FC236}">
              <a16:creationId xmlns:a16="http://schemas.microsoft.com/office/drawing/2014/main" id="{7A4F7158-E579-4F18-BBE8-A02A9C861A39}"/>
            </a:ext>
          </a:extLst>
        </cdr:cNvPr>
        <cdr:cNvSpPr txBox="1"/>
      </cdr:nvSpPr>
      <cdr:spPr>
        <a:xfrm xmlns:a="http://schemas.openxmlformats.org/drawingml/2006/main">
          <a:off x="2554515" y="2591636"/>
          <a:ext cx="449943" cy="138499"/>
        </a:xfrm>
        <a:prstGeom xmlns:a="http://schemas.openxmlformats.org/drawingml/2006/main" prst="rect">
          <a:avLst/>
        </a:prstGeom>
        <a:noFill xmlns:a="http://schemas.openxmlformats.org/drawingml/2006/main"/>
      </cdr:spPr>
      <cdr:txBody>
        <a:bodyPr xmlns:a="http://schemas.openxmlformats.org/drawingml/2006/main" vert="horz" wrap="square" lIns="0" tIns="0" rIns="0" bIns="0" rtlCol="0">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sz="900" b="1" dirty="0">
              <a:solidFill>
                <a:srgbClr val="FF0000"/>
              </a:solidFill>
            </a:rPr>
            <a:t>High</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Intel Clear"/>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ACFD7B2-88A6-E34E-8EF8-CB0C7BA47ADD}" type="datetimeFigureOut">
              <a:rPr lang="en-US" smtClean="0">
                <a:latin typeface="Intel Clear"/>
              </a:rPr>
              <a:pPr/>
              <a:t>6/26/2020</a:t>
            </a:fld>
            <a:endParaRPr lang="en-US" dirty="0">
              <a:latin typeface="Intel Clear"/>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Intel Clear"/>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96CFA4E-18EB-6D49-8DE2-7A74038C2C1C}" type="slidenum">
              <a:rPr lang="en-US" smtClean="0">
                <a:latin typeface="Intel Clear"/>
              </a:rPr>
              <a:pPr/>
              <a:t>‹#›</a:t>
            </a:fld>
            <a:endParaRPr lang="en-US" dirty="0">
              <a:latin typeface="Intel Clear"/>
            </a:endParaRPr>
          </a:p>
        </p:txBody>
      </p:sp>
    </p:spTree>
    <p:extLst>
      <p:ext uri="{BB962C8B-B14F-4D97-AF65-F5344CB8AC3E}">
        <p14:creationId xmlns:p14="http://schemas.microsoft.com/office/powerpoint/2010/main" val="9129941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Intel Clear"/>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Intel Clear"/>
              </a:defRPr>
            </a:lvl1pPr>
          </a:lstStyle>
          <a:p>
            <a:fld id="{ED7FC5FE-6F0D-D34A-8EE6-C95B4F5F4DC8}" type="datetimeFigureOut">
              <a:rPr lang="en-US" smtClean="0"/>
              <a:pPr/>
              <a:t>6/26/2020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Intel Clear"/>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Intel Clear"/>
              </a:defRPr>
            </a:lvl1pPr>
          </a:lstStyle>
          <a:p>
            <a:fld id="{D61C8689-8455-3546-ADF9-3B7273760F66}" type="slidenum">
              <a:rPr lang="en-US" smtClean="0"/>
              <a:pPr/>
              <a:t>‹#›</a:t>
            </a:fld>
            <a:endParaRPr lang="en-US" dirty="0"/>
          </a:p>
        </p:txBody>
      </p:sp>
    </p:spTree>
    <p:extLst>
      <p:ext uri="{BB962C8B-B14F-4D97-AF65-F5344CB8AC3E}">
        <p14:creationId xmlns:p14="http://schemas.microsoft.com/office/powerpoint/2010/main" val="260842922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Intel Clear"/>
        <a:ea typeface="+mn-ea"/>
        <a:cs typeface="+mn-cs"/>
      </a:defRPr>
    </a:lvl1pPr>
    <a:lvl2pPr marL="457200" algn="l" defTabSz="457200" rtl="0" eaLnBrk="1" latinLnBrk="0" hangingPunct="1">
      <a:defRPr sz="1200" kern="1200">
        <a:solidFill>
          <a:schemeClr val="tx1"/>
        </a:solidFill>
        <a:latin typeface="Intel Clear"/>
        <a:ea typeface="+mn-ea"/>
        <a:cs typeface="+mn-cs"/>
      </a:defRPr>
    </a:lvl2pPr>
    <a:lvl3pPr marL="914400" algn="l" defTabSz="457200" rtl="0" eaLnBrk="1" latinLnBrk="0" hangingPunct="1">
      <a:defRPr sz="1200" kern="1200">
        <a:solidFill>
          <a:schemeClr val="tx1"/>
        </a:solidFill>
        <a:latin typeface="Intel Clear"/>
        <a:ea typeface="+mn-ea"/>
        <a:cs typeface="+mn-cs"/>
      </a:defRPr>
    </a:lvl3pPr>
    <a:lvl4pPr marL="1371600" algn="l" defTabSz="457200" rtl="0" eaLnBrk="1" latinLnBrk="0" hangingPunct="1">
      <a:defRPr sz="1200" kern="1200">
        <a:solidFill>
          <a:schemeClr val="tx1"/>
        </a:solidFill>
        <a:latin typeface="Intel Clear"/>
        <a:ea typeface="+mn-ea"/>
        <a:cs typeface="+mn-cs"/>
      </a:defRPr>
    </a:lvl4pPr>
    <a:lvl5pPr marL="1828800" algn="l" defTabSz="457200" rtl="0" eaLnBrk="1" latinLnBrk="0" hangingPunct="1">
      <a:defRPr sz="1200" kern="1200">
        <a:solidFill>
          <a:schemeClr val="tx1"/>
        </a:solidFill>
        <a:latin typeface="Intel Clear"/>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61C8689-8455-3546-ADF9-3B7273760F66}" type="slidenum">
              <a:rPr lang="en-US" smtClean="0"/>
              <a:pPr/>
              <a:t>11</a:t>
            </a:fld>
            <a:endParaRPr lang="en-US" dirty="0"/>
          </a:p>
        </p:txBody>
      </p:sp>
    </p:spTree>
    <p:extLst>
      <p:ext uri="{BB962C8B-B14F-4D97-AF65-F5344CB8AC3E}">
        <p14:creationId xmlns:p14="http://schemas.microsoft.com/office/powerpoint/2010/main" val="39478630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61C8689-8455-3546-ADF9-3B7273760F66}" type="slidenum">
              <a:rPr lang="en-US" smtClean="0"/>
              <a:pPr/>
              <a:t>12</a:t>
            </a:fld>
            <a:endParaRPr lang="en-US" dirty="0"/>
          </a:p>
        </p:txBody>
      </p:sp>
    </p:spTree>
    <p:extLst>
      <p:ext uri="{BB962C8B-B14F-4D97-AF65-F5344CB8AC3E}">
        <p14:creationId xmlns:p14="http://schemas.microsoft.com/office/powerpoint/2010/main" val="667113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61C8689-8455-3546-ADF9-3B7273760F66}" type="slidenum">
              <a:rPr lang="en-US" smtClean="0"/>
              <a:pPr/>
              <a:t>13</a:t>
            </a:fld>
            <a:endParaRPr lang="en-US" dirty="0"/>
          </a:p>
        </p:txBody>
      </p:sp>
    </p:spTree>
    <p:extLst>
      <p:ext uri="{BB962C8B-B14F-4D97-AF65-F5344CB8AC3E}">
        <p14:creationId xmlns:p14="http://schemas.microsoft.com/office/powerpoint/2010/main" val="3783467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61C8689-8455-3546-ADF9-3B7273760F66}" type="slidenum">
              <a:rPr lang="en-US" smtClean="0"/>
              <a:pPr/>
              <a:t>14</a:t>
            </a:fld>
            <a:endParaRPr lang="en-US" dirty="0"/>
          </a:p>
        </p:txBody>
      </p:sp>
    </p:spTree>
    <p:extLst>
      <p:ext uri="{BB962C8B-B14F-4D97-AF65-F5344CB8AC3E}">
        <p14:creationId xmlns:p14="http://schemas.microsoft.com/office/powerpoint/2010/main" val="1298305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61C8689-8455-3546-ADF9-3B7273760F66}" type="slidenum">
              <a:rPr lang="en-US" smtClean="0"/>
              <a:pPr/>
              <a:t>15</a:t>
            </a:fld>
            <a:endParaRPr lang="en-US" dirty="0"/>
          </a:p>
        </p:txBody>
      </p:sp>
    </p:spTree>
    <p:extLst>
      <p:ext uri="{BB962C8B-B14F-4D97-AF65-F5344CB8AC3E}">
        <p14:creationId xmlns:p14="http://schemas.microsoft.com/office/powerpoint/2010/main" val="18888947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61C8689-8455-3546-ADF9-3B7273760F66}" type="slidenum">
              <a:rPr lang="en-US" smtClean="0"/>
              <a:pPr/>
              <a:t>16</a:t>
            </a:fld>
            <a:endParaRPr lang="en-US" dirty="0"/>
          </a:p>
        </p:txBody>
      </p:sp>
    </p:spTree>
    <p:extLst>
      <p:ext uri="{BB962C8B-B14F-4D97-AF65-F5344CB8AC3E}">
        <p14:creationId xmlns:p14="http://schemas.microsoft.com/office/powerpoint/2010/main" val="33428764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61C8689-8455-3546-ADF9-3B7273760F66}" type="slidenum">
              <a:rPr lang="en-US" smtClean="0"/>
              <a:pPr/>
              <a:t>17</a:t>
            </a:fld>
            <a:endParaRPr lang="en-US" dirty="0"/>
          </a:p>
        </p:txBody>
      </p:sp>
    </p:spTree>
    <p:extLst>
      <p:ext uri="{BB962C8B-B14F-4D97-AF65-F5344CB8AC3E}">
        <p14:creationId xmlns:p14="http://schemas.microsoft.com/office/powerpoint/2010/main" val="3645196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61C8689-8455-3546-ADF9-3B7273760F66}" type="slidenum">
              <a:rPr lang="en-US" smtClean="0"/>
              <a:pPr/>
              <a:t>18</a:t>
            </a:fld>
            <a:endParaRPr lang="en-US" dirty="0"/>
          </a:p>
        </p:txBody>
      </p:sp>
    </p:spTree>
    <p:extLst>
      <p:ext uri="{BB962C8B-B14F-4D97-AF65-F5344CB8AC3E}">
        <p14:creationId xmlns:p14="http://schemas.microsoft.com/office/powerpoint/2010/main" val="22095789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61C8689-8455-3546-ADF9-3B7273760F66}" type="slidenum">
              <a:rPr lang="en-US" smtClean="0"/>
              <a:pPr/>
              <a:t>19</a:t>
            </a:fld>
            <a:endParaRPr lang="en-US" dirty="0"/>
          </a:p>
        </p:txBody>
      </p:sp>
    </p:spTree>
    <p:extLst>
      <p:ext uri="{BB962C8B-B14F-4D97-AF65-F5344CB8AC3E}">
        <p14:creationId xmlns:p14="http://schemas.microsoft.com/office/powerpoint/2010/main" val="3782853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61C8689-8455-3546-ADF9-3B7273760F66}" type="slidenum">
              <a:rPr lang="en-US" smtClean="0"/>
              <a:pPr/>
              <a:t>20</a:t>
            </a:fld>
            <a:endParaRPr lang="en-US" dirty="0"/>
          </a:p>
        </p:txBody>
      </p:sp>
    </p:spTree>
    <p:extLst>
      <p:ext uri="{BB962C8B-B14F-4D97-AF65-F5344CB8AC3E}">
        <p14:creationId xmlns:p14="http://schemas.microsoft.com/office/powerpoint/2010/main" val="13853805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61C8689-8455-3546-ADF9-3B7273760F66}" type="slidenum">
              <a:rPr kumimoji="0" lang="en-US" sz="1200" b="0" i="0" u="none" strike="noStrike" kern="1200" cap="none" spc="0" normalizeH="0" baseline="0" noProof="0" smtClean="0">
                <a:ln>
                  <a:noFill/>
                </a:ln>
                <a:solidFill>
                  <a:prstClr val="black"/>
                </a:solidFill>
                <a:effectLst/>
                <a:uLnTx/>
                <a:uFillTx/>
                <a:latin typeface="Intel Clear"/>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Intel Clear"/>
              <a:ea typeface="+mn-ea"/>
              <a:cs typeface="+mn-cs"/>
            </a:endParaRPr>
          </a:p>
        </p:txBody>
      </p:sp>
    </p:spTree>
    <p:extLst>
      <p:ext uri="{BB962C8B-B14F-4D97-AF65-F5344CB8AC3E}">
        <p14:creationId xmlns:p14="http://schemas.microsoft.com/office/powerpoint/2010/main" val="35026338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a:t>Intel Clear pro Title</a:t>
            </a:r>
            <a:br>
              <a:rPr lang="en-US" dirty="0"/>
            </a:br>
            <a:r>
              <a:rPr lang="en-US" dirty="0"/>
              <a:t>with radial gradient</a:t>
            </a:r>
          </a:p>
        </p:txBody>
      </p:sp>
      <p:sp>
        <p:nvSpPr>
          <p:cNvPr id="3"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Intel Clear Subhead, Date, Etc.</a:t>
            </a:r>
          </a:p>
        </p:txBody>
      </p:sp>
      <p:pic>
        <p:nvPicPr>
          <p:cNvPr id="6" name="Picture 2"/>
          <p:cNvPicPr>
            <a:picLocks noChangeAspect="1" noChangeArrowheads="1"/>
          </p:cNvPicPr>
          <p:nvPr userDrawn="1"/>
        </p:nvPicPr>
        <p:blipFill>
          <a:blip r:embed="rId3" cstate="screen">
            <a:extLst>
              <a:ext uri="{28A0092B-C50C-407E-A947-70E740481C1C}">
                <a14:useLocalDpi xmlns:a14="http://schemas.microsoft.com/office/drawing/2010/main" val="0"/>
              </a:ext>
            </a:extLst>
          </a:blip>
          <a:stretch>
            <a:fillRect/>
          </a:stretch>
        </p:blipFill>
        <p:spPr bwMode="auto">
          <a:xfrm>
            <a:off x="451797" y="383169"/>
            <a:ext cx="1248049" cy="82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6531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Bulleted Tex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a:t>28pt Intel Clear Headline</a:t>
            </a:r>
          </a:p>
        </p:txBody>
      </p:sp>
      <p:sp>
        <p:nvSpPr>
          <p:cNvPr id="9" name="Content Placeholder 8"/>
          <p:cNvSpPr>
            <a:spLocks noGrp="1"/>
          </p:cNvSpPr>
          <p:nvPr>
            <p:ph sz="quarter" idx="13" hasCustomPrompt="1"/>
          </p:nvPr>
        </p:nvSpPr>
        <p:spPr>
          <a:xfrm>
            <a:off x="455613" y="1130175"/>
            <a:ext cx="8228012" cy="3498975"/>
          </a:xfrm>
        </p:spPr>
        <p:txBody>
          <a:bodyPr/>
          <a:lstStyle>
            <a:lvl1pPr>
              <a:defRPr baseline="0">
                <a:solidFill>
                  <a:srgbClr val="0071C5"/>
                </a:solidFill>
              </a:defRPr>
            </a:lvl1pPr>
            <a:lvl2pPr>
              <a:defRPr sz="1600"/>
            </a:lvl2pPr>
            <a:lvl3pPr>
              <a:defRPr sz="1400"/>
            </a:lvl3pPr>
            <a:lvl4pPr>
              <a:defRPr sz="1200"/>
            </a:lvl4pPr>
            <a:lvl5pPr>
              <a:defRPr sz="1100"/>
            </a:lvl5pPr>
          </a:lstStyle>
          <a:p>
            <a:pPr lvl="0"/>
            <a:r>
              <a:rPr lang="en-US" dirty="0"/>
              <a:t>Intro sentence or paragraph has no bullet and is Intel Blue</a:t>
            </a:r>
          </a:p>
          <a:p>
            <a:pPr lvl="1"/>
            <a:r>
              <a:rPr lang="en-US" dirty="0"/>
              <a:t>Intel Clear bullet one</a:t>
            </a:r>
          </a:p>
          <a:p>
            <a:pPr lvl="2"/>
            <a:r>
              <a:rPr lang="en-US" dirty="0"/>
              <a:t>Intel Clear sub-bullet</a:t>
            </a:r>
          </a:p>
          <a:p>
            <a:pPr lvl="3"/>
            <a:r>
              <a:rPr lang="en-US" dirty="0"/>
              <a:t>Intel Clear fourth level</a:t>
            </a:r>
          </a:p>
          <a:p>
            <a:pPr lvl="4"/>
            <a:r>
              <a:rPr lang="en-US" dirty="0"/>
              <a:t>Intel Clear fifth level</a:t>
            </a:r>
          </a:p>
        </p:txBody>
      </p:sp>
    </p:spTree>
    <p:extLst>
      <p:ext uri="{BB962C8B-B14F-4D97-AF65-F5344CB8AC3E}">
        <p14:creationId xmlns:p14="http://schemas.microsoft.com/office/powerpoint/2010/main" val="1358511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2" descr="\\.psf\Home\Desktop\Intel.png"/>
          <p:cNvPicPr>
            <a:picLocks noChangeAspect="1" noChangeArrowheads="1"/>
          </p:cNvPicPr>
          <p:nvPr userDrawn="1"/>
        </p:nvPicPr>
        <p:blipFill>
          <a:blip r:embed="rId3" cstate="screen">
            <a:extLst>
              <a:ext uri="{28A0092B-C50C-407E-A947-70E740481C1C}">
                <a14:useLocalDpi xmlns:a14="http://schemas.microsoft.com/office/drawing/2010/main" val="0"/>
              </a:ext>
            </a:extLst>
          </a:blip>
          <a:srcRect/>
          <a:stretch>
            <a:fillRect/>
          </a:stretch>
        </p:blipFill>
        <p:spPr bwMode="auto">
          <a:xfrm>
            <a:off x="3477432" y="1875130"/>
            <a:ext cx="2108795" cy="1389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70096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1587" y="475945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1" name="Picture 2" descr="\\.psf\Home\Desktop\Intel.png"/>
          <p:cNvPicPr>
            <a:picLocks noChangeAspect="1" noChangeArrowheads="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8239915" y="4830589"/>
            <a:ext cx="364336" cy="240131"/>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8718551" y="4824510"/>
            <a:ext cx="2381" cy="237744"/>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Title Placeholder 1"/>
          <p:cNvSpPr>
            <a:spLocks noGrp="1"/>
          </p:cNvSpPr>
          <p:nvPr>
            <p:ph type="title"/>
          </p:nvPr>
        </p:nvSpPr>
        <p:spPr>
          <a:xfrm>
            <a:off x="455613" y="310130"/>
            <a:ext cx="8229600" cy="868680"/>
          </a:xfrm>
          <a:prstGeom prst="rect">
            <a:avLst/>
          </a:prstGeom>
        </p:spPr>
        <p:txBody>
          <a:bodyPr vert="horz" lIns="0" tIns="0" rIns="0" bIns="0" rtlCol="0" anchor="t" anchorCtr="0">
            <a:noAutofit/>
          </a:bodyPr>
          <a:lstStyle/>
          <a:p>
            <a:r>
              <a:rPr lang="en-US" dirty="0"/>
              <a:t>Intel Clear Headline</a:t>
            </a:r>
            <a:br>
              <a:rPr lang="en-US" dirty="0"/>
            </a:br>
            <a:r>
              <a:rPr lang="en-US" dirty="0"/>
              <a:t>2 lines</a:t>
            </a:r>
          </a:p>
        </p:txBody>
      </p:sp>
      <p:sp>
        <p:nvSpPr>
          <p:cNvPr id="3" name="Text Placeholder 2"/>
          <p:cNvSpPr>
            <a:spLocks noGrp="1"/>
          </p:cNvSpPr>
          <p:nvPr>
            <p:ph type="body" idx="1"/>
          </p:nvPr>
        </p:nvSpPr>
        <p:spPr>
          <a:xfrm>
            <a:off x="455613" y="1130175"/>
            <a:ext cx="8228012" cy="3498975"/>
          </a:xfrm>
          <a:prstGeom prst="rect">
            <a:avLst/>
          </a:prstGeom>
        </p:spPr>
        <p:txBody>
          <a:bodyPr vert="horz" lIns="0" tIns="0" rIns="0" bIns="0" rtlCol="0">
            <a:noAutofit/>
          </a:bodyPr>
          <a:lstStyle/>
          <a:p>
            <a:pPr lvl="0"/>
            <a:r>
              <a:rPr lang="en-US" dirty="0"/>
              <a:t>Intel Clear body text</a:t>
            </a:r>
          </a:p>
          <a:p>
            <a:pPr lvl="1"/>
            <a:r>
              <a:rPr lang="en-US" dirty="0"/>
              <a:t>Intel Clear bullet one</a:t>
            </a:r>
          </a:p>
          <a:p>
            <a:pPr lvl="2"/>
            <a:r>
              <a:rPr lang="en-US" dirty="0"/>
              <a:t>Intel Clear sub-bullet</a:t>
            </a:r>
          </a:p>
          <a:p>
            <a:pPr lvl="3"/>
            <a:r>
              <a:rPr lang="en-US" dirty="0"/>
              <a:t>Intel Clear fourth level</a:t>
            </a:r>
          </a:p>
          <a:p>
            <a:pPr lvl="4"/>
            <a:r>
              <a:rPr lang="en-US" dirty="0"/>
              <a:t>Intel Clear fifth level</a:t>
            </a:r>
          </a:p>
        </p:txBody>
      </p:sp>
      <p:sp>
        <p:nvSpPr>
          <p:cNvPr id="6" name="Slide Number Placeholder 5"/>
          <p:cNvSpPr>
            <a:spLocks noGrp="1"/>
          </p:cNvSpPr>
          <p:nvPr>
            <p:ph type="sldNum" sz="quarter" idx="4"/>
          </p:nvPr>
        </p:nvSpPr>
        <p:spPr>
          <a:xfrm>
            <a:off x="6872352" y="4824387"/>
            <a:ext cx="2133600" cy="273844"/>
          </a:xfrm>
          <a:prstGeom prst="rect">
            <a:avLst/>
          </a:prstGeom>
        </p:spPr>
        <p:txBody>
          <a:bodyPr vert="horz" lIns="0" tIns="0" rIns="0" bIns="0" rtlCol="0" anchor="ctr"/>
          <a:lstStyle>
            <a:lvl1pPr algn="r">
              <a:defRPr sz="800">
                <a:solidFill>
                  <a:schemeClr val="bg1"/>
                </a:solidFill>
                <a:latin typeface="+mn-lt"/>
                <a:cs typeface="Intel Clear"/>
              </a:defRPr>
            </a:lvl1pPr>
          </a:lstStyle>
          <a:p>
            <a:fld id="{EE2556C5-CE8C-6547-B838-EA80C61A4AF7}" type="slidenum">
              <a:rPr lang="en-US" smtClean="0"/>
              <a:pPr/>
              <a:t>‹#›</a:t>
            </a:fld>
            <a:endParaRPr lang="en-US" dirty="0"/>
          </a:p>
        </p:txBody>
      </p:sp>
      <p:sp>
        <p:nvSpPr>
          <p:cNvPr id="10" name="TextBox 9"/>
          <p:cNvSpPr txBox="1"/>
          <p:nvPr userDrawn="1"/>
        </p:nvSpPr>
        <p:spPr>
          <a:xfrm>
            <a:off x="3856384" y="4837215"/>
            <a:ext cx="2886324" cy="253383"/>
          </a:xfrm>
          <a:prstGeom prst="rect">
            <a:avLst/>
          </a:prstGeom>
          <a:noFill/>
        </p:spPr>
        <p:txBody>
          <a:bodyPr vert="horz" wrap="none" lIns="0" tIns="0" rIns="0" bIns="0" rtlCol="0" anchor="ctr" anchorCtr="0">
            <a:noAutofit/>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800" dirty="0">
                <a:solidFill>
                  <a:schemeClr val="bg1"/>
                </a:solidFill>
              </a:rPr>
              <a:t>Intel Confidential  |  Internal Use Only – Do Not Distribute</a:t>
            </a:r>
          </a:p>
        </p:txBody>
      </p:sp>
      <p:sp>
        <p:nvSpPr>
          <p:cNvPr id="14" name="Rectangle 13"/>
          <p:cNvSpPr/>
          <p:nvPr userDrawn="1"/>
        </p:nvSpPr>
        <p:spPr>
          <a:xfrm>
            <a:off x="281499" y="4813599"/>
            <a:ext cx="2475358" cy="276999"/>
          </a:xfrm>
          <a:prstGeom prst="rect">
            <a:avLst/>
          </a:prstGeom>
        </p:spPr>
        <p:txBody>
          <a:bodyPr wrap="none">
            <a:spAutoFit/>
          </a:bodyPr>
          <a:lstStyle/>
          <a:p>
            <a:pPr algn="just"/>
            <a:r>
              <a:rPr lang="en-US" sz="1200" b="1" dirty="0">
                <a:solidFill>
                  <a:schemeClr val="bg1"/>
                </a:solidFill>
                <a:latin typeface="+mj-lt"/>
              </a:rPr>
              <a:t>CQR | </a:t>
            </a:r>
            <a:r>
              <a:rPr lang="en-US" sz="1100" dirty="0">
                <a:solidFill>
                  <a:schemeClr val="bg1"/>
                </a:solidFill>
                <a:latin typeface="Intel Clear Light" panose="020B0404020203020204" pitchFamily="34" charset="0"/>
                <a:ea typeface="Intel Clear Light" panose="020B0404020203020204" pitchFamily="34" charset="0"/>
                <a:cs typeface="Intel Clear Light" panose="020B0404020203020204" pitchFamily="34" charset="0"/>
              </a:rPr>
              <a:t>Customer Quality &amp; Reliability</a:t>
            </a:r>
            <a:endParaRPr lang="en-US" sz="1200" dirty="0">
              <a:solidFill>
                <a:schemeClr val="bg1"/>
              </a:solidFill>
              <a:latin typeface="Intel Clear Light" panose="020B0404020203020204" pitchFamily="34" charset="0"/>
              <a:ea typeface="Intel Clear Light" panose="020B0404020203020204" pitchFamily="34" charset="0"/>
              <a:cs typeface="Intel Clear Light" panose="020B0404020203020204" pitchFamily="34" charset="0"/>
            </a:endParaRPr>
          </a:p>
        </p:txBody>
      </p:sp>
    </p:spTree>
    <p:extLst>
      <p:ext uri="{BB962C8B-B14F-4D97-AF65-F5344CB8AC3E}">
        <p14:creationId xmlns:p14="http://schemas.microsoft.com/office/powerpoint/2010/main" val="3786227823"/>
      </p:ext>
    </p:extLst>
  </p:cSld>
  <p:clrMap bg1="lt1" tx1="dk1" bg2="lt2" tx2="dk2" accent1="accent1" accent2="accent2" accent3="accent3" accent4="accent4" accent5="accent5" accent6="accent6" hlink="hlink" folHlink="folHlink"/>
  <p:sldLayoutIdLst>
    <p:sldLayoutId id="2147483677" r:id="rId1"/>
    <p:sldLayoutId id="2147483650" r:id="rId2"/>
    <p:sldLayoutId id="2147483676" r:id="rId3"/>
  </p:sldLayoutIdLst>
  <p:hf hdr="0" ftr="0" dt="0"/>
  <p:txStyles>
    <p:titleStyle>
      <a:lvl1pPr algn="l" defTabSz="457200" rtl="0" eaLnBrk="1" latinLnBrk="0" hangingPunct="1">
        <a:lnSpc>
          <a:spcPct val="100000"/>
        </a:lnSpc>
        <a:spcBef>
          <a:spcPct val="0"/>
        </a:spcBef>
        <a:buNone/>
        <a:defRPr sz="2400" b="0" i="0" kern="1200" spc="0" baseline="0">
          <a:solidFill>
            <a:srgbClr val="003C71"/>
          </a:solidFill>
          <a:latin typeface="Intel Clear"/>
          <a:ea typeface="Intel Clear"/>
          <a:cs typeface="Intel Clear"/>
        </a:defRPr>
      </a:lvl1pPr>
    </p:titleStyle>
    <p:bodyStyle>
      <a:lvl1pPr marL="0" indent="0" algn="l" defTabSz="457200" rtl="0" eaLnBrk="1" latinLnBrk="0" hangingPunct="1">
        <a:spcBef>
          <a:spcPts val="1200"/>
        </a:spcBef>
        <a:spcAft>
          <a:spcPts val="0"/>
        </a:spcAft>
        <a:buFont typeface="Wingdings" panose="05000000000000000000" pitchFamily="2" charset="2"/>
        <a:buNone/>
        <a:defRPr sz="16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600" kern="1200" baseline="0">
          <a:solidFill>
            <a:srgbClr val="003C71"/>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Intel Clear" panose="020B0604020203020204" pitchFamily="34" charset="0"/>
        <a:buChar char="–"/>
        <a:defRPr sz="1400" kern="1200">
          <a:solidFill>
            <a:srgbClr val="003C71"/>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panose="020B0604020202020204" pitchFamily="34" charset="0"/>
        <a:buChar char="•"/>
        <a:defRPr sz="1200" kern="1200">
          <a:solidFill>
            <a:srgbClr val="003C71"/>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Courier New" panose="02070309020205020404" pitchFamily="49" charset="0"/>
        <a:buChar char="o"/>
        <a:defRPr sz="1100" kern="1200">
          <a:solidFill>
            <a:srgbClr val="003C71"/>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8.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1.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71584" y="3206239"/>
            <a:ext cx="1677987" cy="925360"/>
          </a:xfrm>
        </p:spPr>
        <p:txBody>
          <a:bodyPr/>
          <a:lstStyle/>
          <a:p>
            <a:r>
              <a:rPr lang="en-US" b="0" dirty="0">
                <a:solidFill>
                  <a:schemeClr val="accent5"/>
                </a:solidFill>
              </a:rPr>
              <a:t>Date: WW26’20</a:t>
            </a:r>
          </a:p>
        </p:txBody>
      </p:sp>
      <p:sp>
        <p:nvSpPr>
          <p:cNvPr id="5" name="TextBox 4">
            <a:extLst>
              <a:ext uri="{FF2B5EF4-FFF2-40B4-BE49-F238E27FC236}">
                <a16:creationId xmlns:a16="http://schemas.microsoft.com/office/drawing/2014/main" id="{7F91B5E3-6033-4981-9026-11C14950BB00}"/>
              </a:ext>
            </a:extLst>
          </p:cNvPr>
          <p:cNvSpPr txBox="1"/>
          <p:nvPr/>
        </p:nvSpPr>
        <p:spPr>
          <a:xfrm>
            <a:off x="1527342" y="4375707"/>
            <a:ext cx="5749733" cy="537455"/>
          </a:xfrm>
          <a:prstGeom prst="rect">
            <a:avLst/>
          </a:prstGeom>
          <a:solidFill>
            <a:srgbClr val="FFFF00"/>
          </a:solidFill>
        </p:spPr>
        <p:txBody>
          <a:bodyPr vert="horz" wrap="square" lIns="0" tIns="0" rIns="0" bIns="0" rtlCol="0">
            <a:noAutofit/>
          </a:bodyPr>
          <a:lstStyle/>
          <a:p>
            <a:pPr algn="ctr"/>
            <a:r>
              <a:rPr lang="en-US" sz="1600" b="1" dirty="0">
                <a:solidFill>
                  <a:srgbClr val="FF0000"/>
                </a:solidFill>
              </a:rPr>
              <a:t>Intel Confidential and Customer Confidential Information</a:t>
            </a:r>
          </a:p>
          <a:p>
            <a:pPr algn="ctr"/>
            <a:r>
              <a:rPr lang="en-US" sz="1600" b="1" dirty="0">
                <a:solidFill>
                  <a:srgbClr val="FF0000"/>
                </a:solidFill>
              </a:rPr>
              <a:t>Never Share Outside of Intel</a:t>
            </a:r>
          </a:p>
        </p:txBody>
      </p:sp>
      <p:sp>
        <p:nvSpPr>
          <p:cNvPr id="8" name="TextBox 7">
            <a:extLst>
              <a:ext uri="{FF2B5EF4-FFF2-40B4-BE49-F238E27FC236}">
                <a16:creationId xmlns:a16="http://schemas.microsoft.com/office/drawing/2014/main" id="{43B1121C-0BCB-4BB6-9621-D3B84248FCD5}"/>
              </a:ext>
            </a:extLst>
          </p:cNvPr>
          <p:cNvSpPr txBox="1"/>
          <p:nvPr/>
        </p:nvSpPr>
        <p:spPr>
          <a:xfrm>
            <a:off x="414997" y="1557433"/>
            <a:ext cx="6984609" cy="1648805"/>
          </a:xfrm>
          <a:prstGeom prst="rect">
            <a:avLst/>
          </a:prstGeom>
          <a:noFill/>
        </p:spPr>
        <p:txBody>
          <a:bodyPr vert="horz" wrap="square" lIns="0" tIns="0" rIns="0" bIns="0" rtlCol="0">
            <a:noAutofit/>
          </a:bodyPr>
          <a:lstStyle/>
          <a:p>
            <a:r>
              <a:rPr lang="en-MY" sz="4000" b="1" dirty="0">
                <a:solidFill>
                  <a:schemeClr val="bg1"/>
                </a:solidFill>
              </a:rPr>
              <a:t>EHL MAS and Adhesive Survey Update</a:t>
            </a:r>
          </a:p>
        </p:txBody>
      </p:sp>
    </p:spTree>
    <p:extLst>
      <p:ext uri="{BB962C8B-B14F-4D97-AF65-F5344CB8AC3E}">
        <p14:creationId xmlns:p14="http://schemas.microsoft.com/office/powerpoint/2010/main" val="1289803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047129F-3A78-4B3A-BC2F-F1CFAA778371}"/>
              </a:ext>
            </a:extLst>
          </p:cNvPr>
          <p:cNvSpPr>
            <a:spLocks noGrp="1"/>
          </p:cNvSpPr>
          <p:nvPr>
            <p:ph type="sldNum" sz="quarter" idx="12"/>
          </p:nvPr>
        </p:nvSpPr>
        <p:spPr/>
        <p:txBody>
          <a:bodyPr/>
          <a:lstStyle/>
          <a:p>
            <a:fld id="{EE2556C5-CE8C-6547-B838-EA80C61A4AF7}" type="slidenum">
              <a:rPr lang="en-US" smtClean="0"/>
              <a:pPr/>
              <a:t>2</a:t>
            </a:fld>
            <a:endParaRPr lang="en-US" dirty="0"/>
          </a:p>
        </p:txBody>
      </p:sp>
      <p:sp>
        <p:nvSpPr>
          <p:cNvPr id="5" name="Rectangle: Rounded Corners 4">
            <a:extLst>
              <a:ext uri="{FF2B5EF4-FFF2-40B4-BE49-F238E27FC236}">
                <a16:creationId xmlns:a16="http://schemas.microsoft.com/office/drawing/2014/main" id="{E0DC840B-7ECB-4AB7-B1C7-B03547DCAC08}"/>
              </a:ext>
            </a:extLst>
          </p:cNvPr>
          <p:cNvSpPr/>
          <p:nvPr/>
        </p:nvSpPr>
        <p:spPr>
          <a:xfrm>
            <a:off x="70338" y="626015"/>
            <a:ext cx="2475914" cy="2194559"/>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MY" sz="1600" b="1" dirty="0">
                <a:solidFill>
                  <a:schemeClr val="bg1"/>
                </a:solidFill>
              </a:rPr>
              <a:t>Customer List:</a:t>
            </a:r>
          </a:p>
          <a:p>
            <a:r>
              <a:rPr lang="en-MY" sz="1200" u="sng" dirty="0">
                <a:solidFill>
                  <a:schemeClr val="bg1"/>
                </a:solidFill>
              </a:rPr>
              <a:t>APAC:</a:t>
            </a:r>
          </a:p>
          <a:p>
            <a:pPr marL="358775" indent="-266700">
              <a:buAutoNum type="arabicPeriod"/>
            </a:pPr>
            <a:r>
              <a:rPr lang="en-MY" sz="1100" dirty="0">
                <a:solidFill>
                  <a:schemeClr val="bg1"/>
                </a:solidFill>
              </a:rPr>
              <a:t>Advantech – Phase 1</a:t>
            </a:r>
          </a:p>
          <a:p>
            <a:pPr marL="358775" indent="-266700">
              <a:buAutoNum type="arabicPeriod"/>
            </a:pPr>
            <a:r>
              <a:rPr lang="en-MY" sz="1100" dirty="0" err="1">
                <a:solidFill>
                  <a:schemeClr val="bg1"/>
                </a:solidFill>
              </a:rPr>
              <a:t>Adlink</a:t>
            </a:r>
            <a:r>
              <a:rPr lang="en-MY" sz="1100" dirty="0">
                <a:solidFill>
                  <a:schemeClr val="bg1"/>
                </a:solidFill>
              </a:rPr>
              <a:t> – Phase 1</a:t>
            </a:r>
          </a:p>
          <a:p>
            <a:pPr marL="358775" indent="-266700">
              <a:buAutoNum type="arabicPeriod"/>
            </a:pPr>
            <a:r>
              <a:rPr lang="en-MY" sz="1100" dirty="0">
                <a:solidFill>
                  <a:schemeClr val="bg1"/>
                </a:solidFill>
              </a:rPr>
              <a:t>IEI - TEP</a:t>
            </a:r>
          </a:p>
          <a:p>
            <a:pPr marL="358775" indent="-266700">
              <a:buAutoNum type="arabicPeriod"/>
            </a:pPr>
            <a:r>
              <a:rPr lang="en-MY" sz="1100" dirty="0" err="1">
                <a:solidFill>
                  <a:schemeClr val="bg1"/>
                </a:solidFill>
              </a:rPr>
              <a:t>Aaeon</a:t>
            </a:r>
            <a:r>
              <a:rPr lang="en-MY" sz="1100" dirty="0">
                <a:solidFill>
                  <a:schemeClr val="bg1"/>
                </a:solidFill>
              </a:rPr>
              <a:t> – Phase 1</a:t>
            </a:r>
          </a:p>
          <a:p>
            <a:endParaRPr lang="en-MY" sz="1200" u="sng" dirty="0">
              <a:solidFill>
                <a:schemeClr val="bg1"/>
              </a:solidFill>
            </a:endParaRPr>
          </a:p>
          <a:p>
            <a:r>
              <a:rPr lang="en-MY" sz="1200" u="sng" dirty="0">
                <a:solidFill>
                  <a:schemeClr val="bg1"/>
                </a:solidFill>
              </a:rPr>
              <a:t>EMEA: </a:t>
            </a:r>
          </a:p>
          <a:p>
            <a:pPr marL="358775" indent="-266700">
              <a:buAutoNum type="arabicPeriod"/>
            </a:pPr>
            <a:r>
              <a:rPr lang="en-MY" sz="1100" dirty="0">
                <a:solidFill>
                  <a:schemeClr val="bg1"/>
                </a:solidFill>
              </a:rPr>
              <a:t>SECO - TEP</a:t>
            </a:r>
          </a:p>
          <a:p>
            <a:pPr marL="358775" indent="-266700">
              <a:buAutoNum type="arabicPeriod"/>
            </a:pPr>
            <a:r>
              <a:rPr lang="en-MY" sz="1100" dirty="0" err="1">
                <a:solidFill>
                  <a:schemeClr val="bg1"/>
                </a:solidFill>
              </a:rPr>
              <a:t>Congatech</a:t>
            </a:r>
            <a:r>
              <a:rPr lang="en-MY" sz="1100" dirty="0">
                <a:solidFill>
                  <a:schemeClr val="bg1"/>
                </a:solidFill>
              </a:rPr>
              <a:t> - TEP</a:t>
            </a:r>
          </a:p>
          <a:p>
            <a:pPr marL="358775" indent="-266700">
              <a:buAutoNum type="arabicPeriod"/>
            </a:pPr>
            <a:r>
              <a:rPr lang="en-MY" sz="1100" dirty="0">
                <a:solidFill>
                  <a:schemeClr val="bg1"/>
                </a:solidFill>
              </a:rPr>
              <a:t>MSC – Phase 1</a:t>
            </a:r>
          </a:p>
          <a:p>
            <a:pPr marL="358775" indent="-266700">
              <a:buAutoNum type="arabicPeriod"/>
            </a:pPr>
            <a:r>
              <a:rPr lang="en-MY" sz="1100" dirty="0">
                <a:solidFill>
                  <a:schemeClr val="bg1"/>
                </a:solidFill>
              </a:rPr>
              <a:t>Siemens (just email) - TEP</a:t>
            </a:r>
          </a:p>
        </p:txBody>
      </p:sp>
      <p:sp>
        <p:nvSpPr>
          <p:cNvPr id="6" name="Rectangle: Rounded Corners 5">
            <a:extLst>
              <a:ext uri="{FF2B5EF4-FFF2-40B4-BE49-F238E27FC236}">
                <a16:creationId xmlns:a16="http://schemas.microsoft.com/office/drawing/2014/main" id="{694C3F07-79FC-4380-BA8D-C644FFFE7C03}"/>
              </a:ext>
            </a:extLst>
          </p:cNvPr>
          <p:cNvSpPr/>
          <p:nvPr/>
        </p:nvSpPr>
        <p:spPr>
          <a:xfrm>
            <a:off x="2380066" y="576775"/>
            <a:ext cx="6625886" cy="4135905"/>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MY" sz="1600" b="1" dirty="0"/>
              <a:t>Summary:</a:t>
            </a:r>
          </a:p>
          <a:p>
            <a:pPr marL="182563" indent="-182563">
              <a:buFont typeface="Wingdings" panose="05000000000000000000" pitchFamily="2" charset="2"/>
              <a:buChar char="§"/>
            </a:pPr>
            <a:r>
              <a:rPr lang="en-MY" sz="1200" b="1" dirty="0">
                <a:solidFill>
                  <a:srgbClr val="FFFF00"/>
                </a:solidFill>
              </a:rPr>
              <a:t>Medium Risk: </a:t>
            </a:r>
            <a:r>
              <a:rPr lang="en-MY" sz="1200" dirty="0">
                <a:solidFill>
                  <a:schemeClr val="bg1"/>
                </a:solidFill>
              </a:rPr>
              <a:t>Pending to know customers reliability data and their final decision for corner glue application by end of June. QS will be WW36/38. </a:t>
            </a:r>
            <a:endParaRPr lang="en-MY" sz="1200" dirty="0">
              <a:solidFill>
                <a:srgbClr val="FF0000"/>
              </a:solidFill>
            </a:endParaRPr>
          </a:p>
          <a:p>
            <a:pPr marL="182563" indent="-182563">
              <a:buFont typeface="Wingdings" panose="05000000000000000000" pitchFamily="2" charset="2"/>
              <a:buChar char="§"/>
            </a:pPr>
            <a:r>
              <a:rPr lang="en-MY" sz="1200" b="1" dirty="0">
                <a:solidFill>
                  <a:srgbClr val="FFFF00"/>
                </a:solidFill>
              </a:rPr>
              <a:t>Medium Risk: </a:t>
            </a:r>
            <a:r>
              <a:rPr lang="en-MY" sz="1200" dirty="0">
                <a:solidFill>
                  <a:schemeClr val="bg1"/>
                </a:solidFill>
              </a:rPr>
              <a:t>Potential schedule impact if required board design change and add KOZ for corner glue application after knowing reliability testing result. </a:t>
            </a:r>
          </a:p>
          <a:p>
            <a:pPr marL="639763" lvl="1" indent="-182563">
              <a:buFont typeface="Wingdings" panose="05000000000000000000" pitchFamily="2" charset="2"/>
              <a:buChar char="q"/>
            </a:pPr>
            <a:r>
              <a:rPr lang="en-MY" sz="1200" dirty="0">
                <a:solidFill>
                  <a:schemeClr val="bg1"/>
                </a:solidFill>
              </a:rPr>
              <a:t>Options:</a:t>
            </a:r>
          </a:p>
          <a:p>
            <a:pPr marL="742950" lvl="1" indent="-285750">
              <a:buFont typeface="+mj-lt"/>
              <a:buAutoNum type="romanLcPeriod"/>
            </a:pPr>
            <a:r>
              <a:rPr lang="en-MY" sz="1200" dirty="0">
                <a:solidFill>
                  <a:schemeClr val="bg1"/>
                </a:solidFill>
              </a:rPr>
              <a:t>Fab spin, potential schedule impact.      </a:t>
            </a:r>
          </a:p>
          <a:p>
            <a:pPr marL="742950" lvl="1" indent="-285750">
              <a:buFont typeface="+mj-lt"/>
              <a:buAutoNum type="romanLcPeriod"/>
            </a:pPr>
            <a:r>
              <a:rPr lang="en-MY" sz="1200" dirty="0">
                <a:solidFill>
                  <a:schemeClr val="bg1"/>
                </a:solidFill>
              </a:rPr>
              <a:t>Applying corner glue with make sure encapsulate adjacent passive part. This is a workaround solution but not so manufacturing friendly process.  </a:t>
            </a:r>
          </a:p>
          <a:p>
            <a:pPr marL="182563" indent="-182563">
              <a:buFont typeface="Wingdings" panose="05000000000000000000" pitchFamily="2" charset="2"/>
              <a:buChar char="§"/>
            </a:pPr>
            <a:r>
              <a:rPr lang="en-MY" sz="1200" dirty="0" err="1"/>
              <a:t>IoTG</a:t>
            </a:r>
            <a:r>
              <a:rPr lang="en-MY" sz="1200" dirty="0"/>
              <a:t> customers define product reliability based on whole system functionality and not focus on SJR.</a:t>
            </a:r>
          </a:p>
          <a:p>
            <a:pPr marL="639763" lvl="1" indent="-182563">
              <a:buFont typeface="Wingdings" panose="05000000000000000000" pitchFamily="2" charset="2"/>
              <a:buChar char="q"/>
            </a:pPr>
            <a:r>
              <a:rPr lang="en-MY" sz="1200" dirty="0"/>
              <a:t>Opportunity to train </a:t>
            </a:r>
            <a:r>
              <a:rPr lang="en-MY" sz="1200" dirty="0" err="1"/>
              <a:t>IoTG</a:t>
            </a:r>
            <a:r>
              <a:rPr lang="en-MY" sz="1200" dirty="0"/>
              <a:t> customers about what is SJR during IPTS (Nov/Dec 2020). </a:t>
            </a:r>
          </a:p>
          <a:p>
            <a:pPr marL="182563" indent="-182563">
              <a:buFont typeface="Wingdings" panose="05000000000000000000" pitchFamily="2" charset="2"/>
              <a:buChar char="§"/>
            </a:pPr>
            <a:r>
              <a:rPr lang="en-MY" sz="1200" dirty="0"/>
              <a:t>Adhesive is not a common process for </a:t>
            </a:r>
            <a:r>
              <a:rPr lang="en-MY" sz="1200" dirty="0" err="1"/>
              <a:t>IoTG</a:t>
            </a:r>
            <a:r>
              <a:rPr lang="en-MY" sz="1200" dirty="0"/>
              <a:t> customers. Customers may have some adhesive experience but depending on request either from OEM customers / R&amp;D team.</a:t>
            </a:r>
          </a:p>
          <a:p>
            <a:pPr marL="182563" indent="-182563">
              <a:buFont typeface="Wingdings" panose="05000000000000000000" pitchFamily="2" charset="2"/>
              <a:buChar char="§"/>
            </a:pPr>
            <a:r>
              <a:rPr lang="en-MY" sz="1200" dirty="0"/>
              <a:t>No EHL SMT yield issue encountered with limited samples build. Customers are well aware about stencil design recommendation in MAS.</a:t>
            </a:r>
          </a:p>
          <a:p>
            <a:pPr marL="182563" indent="-182563">
              <a:buFont typeface="Wingdings" panose="05000000000000000000" pitchFamily="2" charset="2"/>
              <a:buChar char="§"/>
            </a:pPr>
            <a:r>
              <a:rPr lang="en-MY" sz="1200" dirty="0">
                <a:solidFill>
                  <a:schemeClr val="bg1"/>
                </a:solidFill>
              </a:rPr>
              <a:t>Legal: If customers don’t follow the MAS recommendation, a disclaimer on MAS is able to protect Intel and avoid compensation if any SJR issue related happen in future.  </a:t>
            </a:r>
          </a:p>
        </p:txBody>
      </p:sp>
      <p:sp>
        <p:nvSpPr>
          <p:cNvPr id="8" name="TextBox 7">
            <a:extLst>
              <a:ext uri="{FF2B5EF4-FFF2-40B4-BE49-F238E27FC236}">
                <a16:creationId xmlns:a16="http://schemas.microsoft.com/office/drawing/2014/main" id="{0929DA85-EEEA-4DAB-AF77-CAB7BABDC7DA}"/>
              </a:ext>
            </a:extLst>
          </p:cNvPr>
          <p:cNvSpPr txBox="1"/>
          <p:nvPr/>
        </p:nvSpPr>
        <p:spPr>
          <a:xfrm>
            <a:off x="147711" y="119575"/>
            <a:ext cx="6042074" cy="379828"/>
          </a:xfrm>
          <a:prstGeom prst="rect">
            <a:avLst/>
          </a:prstGeom>
          <a:noFill/>
        </p:spPr>
        <p:txBody>
          <a:bodyPr vert="horz" wrap="square" lIns="0" tIns="0" rIns="0" bIns="0" rtlCol="0">
            <a:noAutofit/>
          </a:bodyPr>
          <a:lstStyle/>
          <a:p>
            <a:r>
              <a:rPr lang="en-MY" sz="2000" b="1" dirty="0">
                <a:solidFill>
                  <a:srgbClr val="003C71"/>
                </a:solidFill>
              </a:rPr>
              <a:t>EHL MAS and Adhesive Survey Update</a:t>
            </a:r>
          </a:p>
        </p:txBody>
      </p:sp>
      <p:sp>
        <p:nvSpPr>
          <p:cNvPr id="11" name="Rectangle: Rounded Corners 10">
            <a:extLst>
              <a:ext uri="{FF2B5EF4-FFF2-40B4-BE49-F238E27FC236}">
                <a16:creationId xmlns:a16="http://schemas.microsoft.com/office/drawing/2014/main" id="{72293A6F-9FD0-4187-A9A0-04B464A796E8}"/>
              </a:ext>
            </a:extLst>
          </p:cNvPr>
          <p:cNvSpPr/>
          <p:nvPr/>
        </p:nvSpPr>
        <p:spPr>
          <a:xfrm>
            <a:off x="7476975" y="82207"/>
            <a:ext cx="1596687" cy="454564"/>
          </a:xfrm>
          <a:prstGeom prst="round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MY" sz="1600" b="1" dirty="0">
                <a:solidFill>
                  <a:schemeClr val="tx1"/>
                </a:solidFill>
              </a:rPr>
              <a:t>Risk Level:</a:t>
            </a:r>
          </a:p>
          <a:p>
            <a:pPr algn="ctr"/>
            <a:r>
              <a:rPr lang="en-MY" sz="1600" b="1" dirty="0">
                <a:solidFill>
                  <a:schemeClr val="tx1"/>
                </a:solidFill>
              </a:rPr>
              <a:t>Medium</a:t>
            </a:r>
          </a:p>
        </p:txBody>
      </p:sp>
    </p:spTree>
    <p:extLst>
      <p:ext uri="{BB962C8B-B14F-4D97-AF65-F5344CB8AC3E}">
        <p14:creationId xmlns:p14="http://schemas.microsoft.com/office/powerpoint/2010/main" val="2473620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073C7A-8E1F-42A8-BA77-E8B1261E4B0B}"/>
              </a:ext>
            </a:extLst>
          </p:cNvPr>
          <p:cNvSpPr>
            <a:spLocks noGrp="1"/>
          </p:cNvSpPr>
          <p:nvPr>
            <p:ph type="sldNum" sz="quarter" idx="12"/>
          </p:nvPr>
        </p:nvSpPr>
        <p:spPr/>
        <p:txBody>
          <a:bodyPr/>
          <a:lstStyle/>
          <a:p>
            <a:fld id="{EE2556C5-CE8C-6547-B838-EA80C61A4AF7}" type="slidenum">
              <a:rPr lang="en-US" smtClean="0"/>
              <a:pPr/>
              <a:t>3</a:t>
            </a:fld>
            <a:endParaRPr lang="en-US" dirty="0"/>
          </a:p>
        </p:txBody>
      </p:sp>
      <p:sp>
        <p:nvSpPr>
          <p:cNvPr id="5" name="Rectangle: Rounded Corners 4">
            <a:extLst>
              <a:ext uri="{FF2B5EF4-FFF2-40B4-BE49-F238E27FC236}">
                <a16:creationId xmlns:a16="http://schemas.microsoft.com/office/drawing/2014/main" id="{59D67531-9890-4FDB-B509-1477EEBCD8BB}"/>
              </a:ext>
            </a:extLst>
          </p:cNvPr>
          <p:cNvSpPr/>
          <p:nvPr/>
        </p:nvSpPr>
        <p:spPr>
          <a:xfrm>
            <a:off x="84406" y="75229"/>
            <a:ext cx="8975188" cy="1978654"/>
          </a:xfrm>
          <a:prstGeom prst="roundRect">
            <a:avLst/>
          </a:pr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spcAft>
                <a:spcPts val="0"/>
              </a:spcAft>
            </a:pPr>
            <a:r>
              <a:rPr lang="en-MY" sz="1600" b="1" dirty="0"/>
              <a:t>Next Steps:</a:t>
            </a:r>
          </a:p>
          <a:p>
            <a:pPr marL="171450" indent="-171450">
              <a:spcAft>
                <a:spcPts val="0"/>
              </a:spcAft>
              <a:buFont typeface="Wingdings" panose="05000000000000000000" pitchFamily="2" charset="2"/>
              <a:buChar char="§"/>
            </a:pPr>
            <a:r>
              <a:rPr lang="en-MY" sz="1200" dirty="0"/>
              <a:t>To ping all remaining TEP &amp; Phase 1 Customers, ask these questions (due date June 26</a:t>
            </a:r>
            <a:r>
              <a:rPr lang="en-MY" sz="1200" baseline="30000" dirty="0"/>
              <a:t>th</a:t>
            </a:r>
            <a:r>
              <a:rPr lang="en-MY" sz="1200" dirty="0"/>
              <a:t>)</a:t>
            </a:r>
          </a:p>
          <a:p>
            <a:pPr marL="685800" lvl="1" indent="-228600">
              <a:buFont typeface="+mj-lt"/>
              <a:buAutoNum type="arabicPeriod"/>
            </a:pPr>
            <a:r>
              <a:rPr lang="en-US" sz="1000" dirty="0">
                <a:ea typeface="Calibri" panose="020F0502020204030204" pitchFamily="34" charset="0"/>
                <a:cs typeface="Times New Roman" panose="02020603050405020304" pitchFamily="18" charset="0"/>
              </a:rPr>
              <a:t>Based on the corner glue recommendation in the EHL MAS &amp; TMDG, do you have any plans to add corner glue on the EHL package? </a:t>
            </a:r>
            <a:r>
              <a:rPr lang="en-US" sz="1000" b="1" dirty="0">
                <a:ea typeface="Calibri" panose="020F0502020204030204" pitchFamily="34" charset="0"/>
                <a:cs typeface="Times New Roman" panose="02020603050405020304" pitchFamily="18" charset="0"/>
              </a:rPr>
              <a:t>(Expected Response: “Yes”, “No” </a:t>
            </a:r>
            <a:r>
              <a:rPr lang="en-US" sz="1000" b="1" u="sng" dirty="0">
                <a:ea typeface="Calibri" panose="020F0502020204030204" pitchFamily="34" charset="0"/>
                <a:cs typeface="Times New Roman" panose="02020603050405020304" pitchFamily="18" charset="0"/>
              </a:rPr>
              <a:t>or</a:t>
            </a:r>
            <a:r>
              <a:rPr lang="en-US" sz="1000" b="1" dirty="0">
                <a:ea typeface="Calibri" panose="020F0502020204030204" pitchFamily="34" charset="0"/>
                <a:cs typeface="Times New Roman" panose="02020603050405020304" pitchFamily="18" charset="0"/>
              </a:rPr>
              <a:t> “Pending”)</a:t>
            </a:r>
          </a:p>
          <a:p>
            <a:pPr marL="685800" lvl="1" indent="-228600">
              <a:buFont typeface="+mj-lt"/>
              <a:buAutoNum type="arabicPeriod"/>
            </a:pPr>
            <a:r>
              <a:rPr lang="en-US" sz="1000" dirty="0">
                <a:ea typeface="Calibri" panose="020F0502020204030204" pitchFamily="34" charset="0"/>
                <a:cs typeface="Times New Roman" panose="02020603050405020304" pitchFamily="18" charset="0"/>
              </a:rPr>
              <a:t>If answered “No”: No further information is needed from the customer.</a:t>
            </a:r>
          </a:p>
          <a:p>
            <a:pPr marL="685800" lvl="1" indent="-228600">
              <a:buFont typeface="+mj-lt"/>
              <a:buAutoNum type="arabicPeriod"/>
            </a:pPr>
            <a:r>
              <a:rPr lang="en-US" sz="1000" dirty="0">
                <a:ea typeface="Calibri" panose="020F0502020204030204" pitchFamily="34" charset="0"/>
                <a:cs typeface="Times New Roman" panose="02020603050405020304" pitchFamily="18" charset="0"/>
              </a:rPr>
              <a:t>If answered "Yes": Are you working with a local corner glue vendor to help your factory add corner glue on the EHL package?</a:t>
            </a:r>
          </a:p>
          <a:p>
            <a:pPr marL="685800" lvl="1" indent="-228600">
              <a:buFont typeface="+mj-lt"/>
              <a:buAutoNum type="arabicPeriod"/>
            </a:pPr>
            <a:r>
              <a:rPr lang="en-US" sz="1000" dirty="0">
                <a:ea typeface="Calibri" panose="020F0502020204030204" pitchFamily="34" charset="0"/>
                <a:cs typeface="Times New Roman" panose="02020603050405020304" pitchFamily="18" charset="0"/>
              </a:rPr>
              <a:t>If answered "Yes": Do you need any additional help from Intel's Enabling Team to add corner glue on the EHL package?</a:t>
            </a:r>
          </a:p>
          <a:p>
            <a:pPr marL="685800" lvl="1" indent="-228600">
              <a:buFont typeface="+mj-lt"/>
              <a:buAutoNum type="arabicPeriod"/>
            </a:pPr>
            <a:r>
              <a:rPr lang="en-US" sz="1000" dirty="0">
                <a:ea typeface="Calibri" panose="020F0502020204030204" pitchFamily="34" charset="0"/>
                <a:cs typeface="Times New Roman" panose="02020603050405020304" pitchFamily="18" charset="0"/>
              </a:rPr>
              <a:t>If answered "Pending": By when and with what data is needed to make the EHL corner glue decision?</a:t>
            </a:r>
          </a:p>
          <a:p>
            <a:pPr marL="285750" indent="-285750">
              <a:buFont typeface="Wingdings" panose="05000000000000000000" pitchFamily="2" charset="2"/>
              <a:buChar char="§"/>
            </a:pPr>
            <a:endParaRPr lang="en-US" sz="1200" dirty="0">
              <a:cs typeface="Times New Roman" panose="02020603050405020304" pitchFamily="18" charset="0"/>
            </a:endParaRPr>
          </a:p>
          <a:p>
            <a:pPr marL="285750" indent="-285750">
              <a:buFont typeface="Wingdings" panose="05000000000000000000" pitchFamily="2" charset="2"/>
              <a:buChar char="§"/>
            </a:pPr>
            <a:r>
              <a:rPr lang="en-US" sz="1200" dirty="0">
                <a:cs typeface="Times New Roman" panose="02020603050405020304" pitchFamily="18" charset="0"/>
              </a:rPr>
              <a:t>EHL Temperature Cycle data review by August. </a:t>
            </a:r>
            <a:endParaRPr lang="en-MY" sz="1200" dirty="0"/>
          </a:p>
        </p:txBody>
      </p:sp>
      <p:sp>
        <p:nvSpPr>
          <p:cNvPr id="6" name="Rectangle: Rounded Corners 5">
            <a:extLst>
              <a:ext uri="{FF2B5EF4-FFF2-40B4-BE49-F238E27FC236}">
                <a16:creationId xmlns:a16="http://schemas.microsoft.com/office/drawing/2014/main" id="{5703E4B5-78F9-4246-BDA4-8804686E4C94}"/>
              </a:ext>
            </a:extLst>
          </p:cNvPr>
          <p:cNvSpPr/>
          <p:nvPr/>
        </p:nvSpPr>
        <p:spPr>
          <a:xfrm>
            <a:off x="84406" y="2250831"/>
            <a:ext cx="8975188" cy="1223890"/>
          </a:xfrm>
          <a:prstGeom prst="round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tlCol="0" anchor="t" anchorCtr="0"/>
          <a:lstStyle/>
          <a:p>
            <a:r>
              <a:rPr lang="en-MY" sz="1600" b="1" dirty="0"/>
              <a:t>Proactive Proposal Long Term Collaboration:</a:t>
            </a:r>
          </a:p>
          <a:p>
            <a:pPr marL="285750" indent="-285750">
              <a:buFont typeface="Wingdings" panose="05000000000000000000" pitchFamily="2" charset="2"/>
              <a:buChar char="q"/>
            </a:pPr>
            <a:r>
              <a:rPr lang="en-MY" sz="1600" b="1" dirty="0"/>
              <a:t>Request customers EHL boards for temperature cycle testing. Preferred to use QS samples. </a:t>
            </a:r>
          </a:p>
          <a:p>
            <a:pPr marL="285750" indent="-285750">
              <a:buFont typeface="Wingdings" panose="05000000000000000000" pitchFamily="2" charset="2"/>
              <a:buChar char="q"/>
            </a:pPr>
            <a:r>
              <a:rPr lang="en-MY" sz="1600" b="1" dirty="0"/>
              <a:t>Customers SJR risk assessment with using </a:t>
            </a:r>
            <a:r>
              <a:rPr lang="en-MY" sz="1600" b="1" dirty="0" err="1"/>
              <a:t>TCx</a:t>
            </a:r>
            <a:r>
              <a:rPr lang="en-MY" sz="1600" b="1" dirty="0"/>
              <a:t> profile. </a:t>
            </a:r>
          </a:p>
        </p:txBody>
      </p:sp>
      <p:sp>
        <p:nvSpPr>
          <p:cNvPr id="3" name="TextBox 2">
            <a:extLst>
              <a:ext uri="{FF2B5EF4-FFF2-40B4-BE49-F238E27FC236}">
                <a16:creationId xmlns:a16="http://schemas.microsoft.com/office/drawing/2014/main" id="{B4AD68C5-48ED-4C95-9463-E71BD4996A9F}"/>
              </a:ext>
            </a:extLst>
          </p:cNvPr>
          <p:cNvSpPr txBox="1"/>
          <p:nvPr/>
        </p:nvSpPr>
        <p:spPr>
          <a:xfrm rot="20792957">
            <a:off x="5654319" y="3103679"/>
            <a:ext cx="3299377" cy="1299588"/>
          </a:xfrm>
          <a:prstGeom prst="rect">
            <a:avLst/>
          </a:prstGeom>
          <a:solidFill>
            <a:srgbClr val="FFC000"/>
          </a:solidFill>
        </p:spPr>
        <p:txBody>
          <a:bodyPr vert="horz" wrap="square" lIns="0" tIns="0" rIns="0" bIns="0" rtlCol="0">
            <a:noAutofit/>
          </a:bodyPr>
          <a:lstStyle/>
          <a:p>
            <a:pPr algn="ctr"/>
            <a:r>
              <a:rPr lang="en-US" dirty="0">
                <a:solidFill>
                  <a:srgbClr val="003C71"/>
                </a:solidFill>
              </a:rPr>
              <a:t>Bin</a:t>
            </a:r>
          </a:p>
          <a:p>
            <a:pPr algn="ctr"/>
            <a:r>
              <a:rPr lang="en-US" dirty="0">
                <a:solidFill>
                  <a:srgbClr val="003C71"/>
                </a:solidFill>
              </a:rPr>
              <a:t>Reason: More critical is to know what is customer true requirement</a:t>
            </a:r>
            <a:endParaRPr lang="en-MY" dirty="0">
              <a:solidFill>
                <a:srgbClr val="003C71"/>
              </a:solidFill>
            </a:endParaRPr>
          </a:p>
        </p:txBody>
      </p:sp>
    </p:spTree>
    <p:extLst>
      <p:ext uri="{BB962C8B-B14F-4D97-AF65-F5344CB8AC3E}">
        <p14:creationId xmlns:p14="http://schemas.microsoft.com/office/powerpoint/2010/main" val="3831641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4</a:t>
            </a:fld>
            <a:endParaRPr lang="en-US" dirty="0"/>
          </a:p>
        </p:txBody>
      </p:sp>
      <p:sp>
        <p:nvSpPr>
          <p:cNvPr id="4" name="Title 3"/>
          <p:cNvSpPr>
            <a:spLocks noGrp="1"/>
          </p:cNvSpPr>
          <p:nvPr>
            <p:ph type="title"/>
          </p:nvPr>
        </p:nvSpPr>
        <p:spPr>
          <a:xfrm>
            <a:off x="455613" y="125964"/>
            <a:ext cx="8229600" cy="868680"/>
          </a:xfrm>
        </p:spPr>
        <p:txBody>
          <a:bodyPr/>
          <a:lstStyle/>
          <a:p>
            <a:r>
              <a:rPr lang="en-US" dirty="0"/>
              <a:t>EHL Adhesives Guidance</a:t>
            </a:r>
          </a:p>
        </p:txBody>
      </p:sp>
      <p:sp>
        <p:nvSpPr>
          <p:cNvPr id="7" name="TextBox 6"/>
          <p:cNvSpPr txBox="1"/>
          <p:nvPr/>
        </p:nvSpPr>
        <p:spPr>
          <a:xfrm>
            <a:off x="163158" y="447767"/>
            <a:ext cx="8655260" cy="1184940"/>
          </a:xfrm>
          <a:prstGeom prst="rect">
            <a:avLst/>
          </a:prstGeom>
          <a:noFill/>
        </p:spPr>
        <p:txBody>
          <a:bodyPr vert="horz" wrap="square" lIns="0" tIns="0" rIns="0" bIns="0" rtlCol="0">
            <a:spAutoFit/>
          </a:bodyPr>
          <a:lstStyle/>
          <a:p>
            <a:pPr algn="ctr"/>
            <a:r>
              <a:rPr lang="en-US" sz="1100" b="1" dirty="0">
                <a:solidFill>
                  <a:srgbClr val="003C71"/>
                </a:solidFill>
              </a:rPr>
              <a:t>Intel recommends the use of corner glue (CG) for Elkhart Lake for certain product use cases. The below chart is a guideline for temperature cycle risk based on solder ball temperature and power cycles. </a:t>
            </a:r>
          </a:p>
          <a:p>
            <a:pPr algn="ctr"/>
            <a:endParaRPr lang="en-US" sz="1100" b="1" dirty="0">
              <a:solidFill>
                <a:srgbClr val="003C71"/>
              </a:solidFill>
            </a:endParaRPr>
          </a:p>
          <a:p>
            <a:pPr algn="ctr"/>
            <a:r>
              <a:rPr lang="en-US" sz="1100" b="1" dirty="0">
                <a:solidFill>
                  <a:srgbClr val="003C71"/>
                </a:solidFill>
              </a:rPr>
              <a:t>If your product falls above the “Product Capability” line, CG may be advisable to increase the capability of the package solder joints. For more information and manufacturing guidance, please see the documents titled “Manufacturing with the Intel Platform Code Named Elkhart Lake” (RDC #621789) and “Manufacturing with Intel Products Adhesive Guidance for Ball Grid Array and Package on Package” (RDC #573768).</a:t>
            </a:r>
          </a:p>
        </p:txBody>
      </p:sp>
      <p:sp>
        <p:nvSpPr>
          <p:cNvPr id="13" name="TextBox 12"/>
          <p:cNvSpPr txBox="1"/>
          <p:nvPr/>
        </p:nvSpPr>
        <p:spPr>
          <a:xfrm>
            <a:off x="183940" y="1748428"/>
            <a:ext cx="3068782" cy="2746906"/>
          </a:xfrm>
          <a:prstGeom prst="rect">
            <a:avLst/>
          </a:prstGeom>
          <a:noFill/>
        </p:spPr>
        <p:txBody>
          <a:bodyPr vert="horz" wrap="square" lIns="0" tIns="0" rIns="0" bIns="0" rtlCol="0">
            <a:spAutoFit/>
          </a:bodyPr>
          <a:lstStyle/>
          <a:p>
            <a:r>
              <a:rPr lang="en-US" sz="1050" b="1" dirty="0" err="1">
                <a:solidFill>
                  <a:srgbClr val="003C71"/>
                </a:solidFill>
              </a:rPr>
              <a:t>Tsb</a:t>
            </a:r>
            <a:r>
              <a:rPr lang="en-US" sz="1050" b="1" dirty="0">
                <a:solidFill>
                  <a:srgbClr val="003C71"/>
                </a:solidFill>
              </a:rPr>
              <a:t> Guidelines:</a:t>
            </a:r>
          </a:p>
          <a:p>
            <a:endParaRPr lang="en-US" sz="1050" dirty="0">
              <a:solidFill>
                <a:srgbClr val="003C71"/>
              </a:solidFill>
            </a:endParaRPr>
          </a:p>
          <a:p>
            <a:r>
              <a:rPr lang="en-US" sz="1050" dirty="0" err="1">
                <a:solidFill>
                  <a:srgbClr val="003C71"/>
                </a:solidFill>
              </a:rPr>
              <a:t>Tsb</a:t>
            </a:r>
            <a:r>
              <a:rPr lang="en-US" sz="1050" dirty="0">
                <a:solidFill>
                  <a:srgbClr val="003C71"/>
                </a:solidFill>
              </a:rPr>
              <a:t> (Temperature at solder ball) is dependent on silicon  junction temperature as well as the heat dissipation of the thermal solution. The below ranges are a general guideline for determining </a:t>
            </a:r>
            <a:r>
              <a:rPr lang="en-US" sz="1050" dirty="0" err="1">
                <a:solidFill>
                  <a:srgbClr val="003C71"/>
                </a:solidFill>
              </a:rPr>
              <a:t>Tsb</a:t>
            </a:r>
            <a:r>
              <a:rPr lang="en-US" sz="1050" dirty="0">
                <a:solidFill>
                  <a:srgbClr val="003C71"/>
                </a:solidFill>
              </a:rPr>
              <a:t> range without having a full system thermal model available.</a:t>
            </a:r>
          </a:p>
          <a:p>
            <a:endParaRPr lang="en-US" sz="1050" dirty="0">
              <a:solidFill>
                <a:srgbClr val="003C71"/>
              </a:solidFill>
            </a:endParaRPr>
          </a:p>
          <a:p>
            <a:r>
              <a:rPr lang="en-US" sz="1050" b="1" dirty="0">
                <a:solidFill>
                  <a:srgbClr val="FD9208"/>
                </a:solidFill>
              </a:rPr>
              <a:t>High </a:t>
            </a:r>
            <a:r>
              <a:rPr lang="en-US" sz="1050" b="1" dirty="0" err="1">
                <a:solidFill>
                  <a:srgbClr val="FD9208"/>
                </a:solidFill>
              </a:rPr>
              <a:t>Tsb</a:t>
            </a:r>
            <a:r>
              <a:rPr lang="en-US" sz="1050" b="1" dirty="0">
                <a:solidFill>
                  <a:srgbClr val="FD9208"/>
                </a:solidFill>
              </a:rPr>
              <a:t>: </a:t>
            </a:r>
            <a:r>
              <a:rPr lang="en-US" sz="1050" dirty="0" err="1">
                <a:solidFill>
                  <a:srgbClr val="003C71"/>
                </a:solidFill>
              </a:rPr>
              <a:t>E.x</a:t>
            </a:r>
            <a:r>
              <a:rPr lang="en-US" sz="1050" dirty="0">
                <a:solidFill>
                  <a:srgbClr val="003C71"/>
                </a:solidFill>
              </a:rPr>
              <a:t>.: passive metal heat sink with no air flow, closed chassis</a:t>
            </a:r>
          </a:p>
          <a:p>
            <a:endParaRPr lang="en-US" sz="1050" dirty="0">
              <a:solidFill>
                <a:srgbClr val="003C71"/>
              </a:solidFill>
            </a:endParaRPr>
          </a:p>
          <a:p>
            <a:r>
              <a:rPr lang="en-US" sz="1050" b="1" dirty="0">
                <a:solidFill>
                  <a:srgbClr val="F0CE3E"/>
                </a:solidFill>
              </a:rPr>
              <a:t>Medium </a:t>
            </a:r>
            <a:r>
              <a:rPr lang="en-US" sz="1050" b="1" dirty="0" err="1">
                <a:solidFill>
                  <a:srgbClr val="F0CE3E"/>
                </a:solidFill>
              </a:rPr>
              <a:t>Tsb</a:t>
            </a:r>
            <a:r>
              <a:rPr lang="en-US" sz="1050" b="1" dirty="0">
                <a:solidFill>
                  <a:srgbClr val="F0CE3E"/>
                </a:solidFill>
              </a:rPr>
              <a:t>: </a:t>
            </a:r>
            <a:r>
              <a:rPr lang="en-US" sz="1050" dirty="0" err="1">
                <a:solidFill>
                  <a:srgbClr val="003C71"/>
                </a:solidFill>
              </a:rPr>
              <a:t>E.x</a:t>
            </a:r>
            <a:r>
              <a:rPr lang="en-US" sz="1050" dirty="0">
                <a:solidFill>
                  <a:srgbClr val="003C71"/>
                </a:solidFill>
              </a:rPr>
              <a:t>.: heavy heat sink with some air circulation (i.e.: vented chassis)</a:t>
            </a:r>
          </a:p>
          <a:p>
            <a:endParaRPr lang="en-US" sz="1050" dirty="0">
              <a:solidFill>
                <a:srgbClr val="003C71"/>
              </a:solidFill>
            </a:endParaRPr>
          </a:p>
          <a:p>
            <a:r>
              <a:rPr lang="en-US" sz="1050" b="1" dirty="0">
                <a:solidFill>
                  <a:srgbClr val="00B050"/>
                </a:solidFill>
              </a:rPr>
              <a:t>Low </a:t>
            </a:r>
            <a:r>
              <a:rPr lang="en-US" sz="1050" b="1" dirty="0" err="1">
                <a:solidFill>
                  <a:srgbClr val="00B050"/>
                </a:solidFill>
              </a:rPr>
              <a:t>Tsb</a:t>
            </a:r>
            <a:r>
              <a:rPr lang="en-US" sz="1050" b="1" dirty="0">
                <a:solidFill>
                  <a:srgbClr val="00B050"/>
                </a:solidFill>
              </a:rPr>
              <a:t>: </a:t>
            </a:r>
            <a:r>
              <a:rPr lang="en-US" sz="1050" dirty="0" err="1">
                <a:solidFill>
                  <a:srgbClr val="003C71"/>
                </a:solidFill>
              </a:rPr>
              <a:t>E.x</a:t>
            </a:r>
            <a:r>
              <a:rPr lang="en-US" sz="1050" dirty="0">
                <a:solidFill>
                  <a:srgbClr val="003C71"/>
                </a:solidFill>
              </a:rPr>
              <a:t>.: heavy desktop-like heat sink with forced air flow (i.e.: integrated fan )</a:t>
            </a:r>
          </a:p>
        </p:txBody>
      </p:sp>
      <p:sp>
        <p:nvSpPr>
          <p:cNvPr id="23" name="TextBox 22"/>
          <p:cNvSpPr txBox="1"/>
          <p:nvPr/>
        </p:nvSpPr>
        <p:spPr>
          <a:xfrm>
            <a:off x="110954" y="4620968"/>
            <a:ext cx="9103384" cy="123111"/>
          </a:xfrm>
          <a:prstGeom prst="rect">
            <a:avLst/>
          </a:prstGeom>
          <a:noFill/>
        </p:spPr>
        <p:txBody>
          <a:bodyPr vert="horz" wrap="square" lIns="0" tIns="0" rIns="0" bIns="0" rtlCol="0">
            <a:spAutoFit/>
          </a:bodyPr>
          <a:lstStyle/>
          <a:p>
            <a:r>
              <a:rPr lang="en-US" sz="800" b="1" dirty="0"/>
              <a:t>Intel recommends that all customers perform their own reliability evaluation to make sure that the product meets their expected requirements based on their own methodology. </a:t>
            </a:r>
            <a:endParaRPr lang="en-US" sz="800" dirty="0"/>
          </a:p>
        </p:txBody>
      </p:sp>
      <p:graphicFrame>
        <p:nvGraphicFramePr>
          <p:cNvPr id="25" name="Chart 24">
            <a:extLst>
              <a:ext uri="{FF2B5EF4-FFF2-40B4-BE49-F238E27FC236}">
                <a16:creationId xmlns:a16="http://schemas.microsoft.com/office/drawing/2014/main" id="{A44B5F17-7C5C-4BF0-BB06-2694DB9F9E20}"/>
              </a:ext>
            </a:extLst>
          </p:cNvPr>
          <p:cNvGraphicFramePr>
            <a:graphicFrameLocks/>
          </p:cNvGraphicFramePr>
          <p:nvPr>
            <p:extLst>
              <p:ext uri="{D42A27DB-BD31-4B8C-83A1-F6EECF244321}">
                <p14:modId xmlns:p14="http://schemas.microsoft.com/office/powerpoint/2010/main" val="2735641749"/>
              </p:ext>
            </p:extLst>
          </p:nvPr>
        </p:nvGraphicFramePr>
        <p:xfrm>
          <a:off x="3252722" y="1748428"/>
          <a:ext cx="5432491" cy="2800345"/>
        </p:xfrm>
        <a:graphic>
          <a:graphicData uri="http://schemas.openxmlformats.org/drawingml/2006/chart">
            <c:chart xmlns:c="http://schemas.openxmlformats.org/drawingml/2006/chart" xmlns:r="http://schemas.openxmlformats.org/officeDocument/2006/relationships" r:id="rId2"/>
          </a:graphicData>
        </a:graphic>
      </p:graphicFrame>
      <p:sp>
        <p:nvSpPr>
          <p:cNvPr id="6" name="Right Brace 5">
            <a:extLst>
              <a:ext uri="{FF2B5EF4-FFF2-40B4-BE49-F238E27FC236}">
                <a16:creationId xmlns:a16="http://schemas.microsoft.com/office/drawing/2014/main" id="{0C142801-2EFC-4354-894C-2A27C4A8D9B2}"/>
              </a:ext>
            </a:extLst>
          </p:cNvPr>
          <p:cNvSpPr/>
          <p:nvPr/>
        </p:nvSpPr>
        <p:spPr>
          <a:xfrm rot="5400000">
            <a:off x="4424635" y="3946098"/>
            <a:ext cx="114010" cy="653725"/>
          </a:xfrm>
          <a:prstGeom prst="rightBrace">
            <a:avLst/>
          </a:prstGeom>
          <a:ln>
            <a:solidFill>
              <a:srgbClr val="00B05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F7246B97-133A-4134-B104-3ADE82D53B1C}"/>
              </a:ext>
            </a:extLst>
          </p:cNvPr>
          <p:cNvSpPr txBox="1"/>
          <p:nvPr/>
        </p:nvSpPr>
        <p:spPr>
          <a:xfrm>
            <a:off x="4274457" y="4329966"/>
            <a:ext cx="449943" cy="138499"/>
          </a:xfrm>
          <a:prstGeom prst="rect">
            <a:avLst/>
          </a:prstGeom>
          <a:noFill/>
        </p:spPr>
        <p:txBody>
          <a:bodyPr vert="horz" wrap="square" lIns="0" tIns="0" rIns="0" bIns="0" rtlCol="0">
            <a:spAutoFit/>
          </a:bodyPr>
          <a:lstStyle/>
          <a:p>
            <a:pPr algn="ctr"/>
            <a:r>
              <a:rPr lang="en-US" sz="900" b="1" dirty="0">
                <a:solidFill>
                  <a:srgbClr val="00B050"/>
                </a:solidFill>
              </a:rPr>
              <a:t>Low</a:t>
            </a:r>
          </a:p>
        </p:txBody>
      </p:sp>
    </p:spTree>
    <p:extLst>
      <p:ext uri="{BB962C8B-B14F-4D97-AF65-F5344CB8AC3E}">
        <p14:creationId xmlns:p14="http://schemas.microsoft.com/office/powerpoint/2010/main" val="1552046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5</a:t>
            </a:fld>
            <a:endParaRPr lang="en-US" dirty="0"/>
          </a:p>
        </p:txBody>
      </p:sp>
      <p:sp>
        <p:nvSpPr>
          <p:cNvPr id="3" name="Content Placeholder 2"/>
          <p:cNvSpPr>
            <a:spLocks noGrp="1"/>
          </p:cNvSpPr>
          <p:nvPr>
            <p:ph sz="quarter" idx="13"/>
          </p:nvPr>
        </p:nvSpPr>
        <p:spPr/>
        <p:txBody>
          <a:bodyPr/>
          <a:lstStyle/>
          <a:p>
            <a:pPr marL="285750" indent="-285750">
              <a:buFont typeface="Arial" panose="020B0604020202020204" pitchFamily="34" charset="0"/>
              <a:buChar char="•"/>
            </a:pPr>
            <a:r>
              <a:rPr lang="en-US" sz="1600" dirty="0"/>
              <a:t>Power cycle </a:t>
            </a:r>
          </a:p>
          <a:p>
            <a:pPr marL="511175" lvl="1" indent="-285750">
              <a:buFont typeface="Arial" panose="020B0604020202020204" pitchFamily="34" charset="0"/>
              <a:buChar char="•"/>
            </a:pPr>
            <a:r>
              <a:rPr lang="en-US" sz="1600" dirty="0"/>
              <a:t>On to off cycle (assuming cooling down to ambient temperature when off)</a:t>
            </a:r>
          </a:p>
          <a:p>
            <a:pPr marL="511175" lvl="1" indent="-285750">
              <a:buFont typeface="Arial" panose="020B0604020202020204" pitchFamily="34" charset="0"/>
              <a:buChar char="•"/>
            </a:pPr>
            <a:r>
              <a:rPr lang="en-US" sz="1600" dirty="0"/>
              <a:t>On to standby cycle (assuming cooling nearly to ambient when in standby)</a:t>
            </a:r>
          </a:p>
          <a:p>
            <a:pPr marL="285750" indent="-285750">
              <a:buFont typeface="Arial" panose="020B0604020202020204" pitchFamily="34" charset="0"/>
              <a:buChar char="•"/>
            </a:pPr>
            <a:r>
              <a:rPr lang="en-US" sz="1600" dirty="0"/>
              <a:t>Ambient temperature</a:t>
            </a:r>
          </a:p>
          <a:p>
            <a:pPr marL="511175" lvl="1" indent="-285750">
              <a:buFont typeface="Arial" panose="020B0604020202020204" pitchFamily="34" charset="0"/>
              <a:buChar char="•"/>
            </a:pPr>
            <a:r>
              <a:rPr lang="en-US" sz="1600" dirty="0"/>
              <a:t>Temperature external to system (room temperature)</a:t>
            </a:r>
          </a:p>
          <a:p>
            <a:pPr marL="511175" lvl="1" indent="-285750">
              <a:buFont typeface="Arial" panose="020B0604020202020204" pitchFamily="34" charset="0"/>
              <a:buChar char="•"/>
            </a:pPr>
            <a:r>
              <a:rPr lang="en-US" sz="1600" dirty="0"/>
              <a:t>Assumed to be 24 C</a:t>
            </a:r>
          </a:p>
          <a:p>
            <a:pPr marL="285750" indent="-285750">
              <a:buFont typeface="Arial" panose="020B0604020202020204" pitchFamily="34" charset="0"/>
              <a:buChar char="•"/>
            </a:pPr>
            <a:r>
              <a:rPr lang="en-US" sz="1600" dirty="0"/>
              <a:t>The given product temperature cycle risk was calculated assuming a minimum 1.6 mm board with a 15 lbf load and no backing plate. Changes in board thickness, loading, or presence of a backing plate can affect temperature cycle risk</a:t>
            </a:r>
          </a:p>
        </p:txBody>
      </p:sp>
      <p:sp>
        <p:nvSpPr>
          <p:cNvPr id="4" name="Title 3"/>
          <p:cNvSpPr>
            <a:spLocks noGrp="1"/>
          </p:cNvSpPr>
          <p:nvPr>
            <p:ph type="title"/>
          </p:nvPr>
        </p:nvSpPr>
        <p:spPr/>
        <p:txBody>
          <a:bodyPr/>
          <a:lstStyle/>
          <a:p>
            <a:r>
              <a:rPr lang="en-US" dirty="0"/>
              <a:t>Assumptions/Definitions </a:t>
            </a:r>
          </a:p>
        </p:txBody>
      </p:sp>
    </p:spTree>
    <p:extLst>
      <p:ext uri="{BB962C8B-B14F-4D97-AF65-F5344CB8AC3E}">
        <p14:creationId xmlns:p14="http://schemas.microsoft.com/office/powerpoint/2010/main" val="3454694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1037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5C64A2-A4EC-4A20-BDA6-335ACA313B9C}"/>
              </a:ext>
            </a:extLst>
          </p:cNvPr>
          <p:cNvSpPr>
            <a:spLocks noGrp="1"/>
          </p:cNvSpPr>
          <p:nvPr>
            <p:ph type="sldNum" sz="quarter" idx="12"/>
          </p:nvPr>
        </p:nvSpPr>
        <p:spPr/>
        <p:txBody>
          <a:bodyPr/>
          <a:lstStyle/>
          <a:p>
            <a:fld id="{EE2556C5-CE8C-6547-B838-EA80C61A4AF7}" type="slidenum">
              <a:rPr lang="en-US" smtClean="0"/>
              <a:pPr/>
              <a:t>7</a:t>
            </a:fld>
            <a:endParaRPr lang="en-US" dirty="0"/>
          </a:p>
        </p:txBody>
      </p:sp>
      <p:pic>
        <p:nvPicPr>
          <p:cNvPr id="5" name="Picture 4">
            <a:extLst>
              <a:ext uri="{FF2B5EF4-FFF2-40B4-BE49-F238E27FC236}">
                <a16:creationId xmlns:a16="http://schemas.microsoft.com/office/drawing/2014/main" id="{1B075E53-B054-4396-B04C-C60D8BB13365}"/>
              </a:ext>
            </a:extLst>
          </p:cNvPr>
          <p:cNvPicPr>
            <a:picLocks noChangeAspect="1"/>
          </p:cNvPicPr>
          <p:nvPr/>
        </p:nvPicPr>
        <p:blipFill rotWithShape="1">
          <a:blip r:embed="rId2"/>
          <a:srcRect l="-646" b="8222"/>
          <a:stretch/>
        </p:blipFill>
        <p:spPr>
          <a:xfrm>
            <a:off x="398852" y="217803"/>
            <a:ext cx="8346296" cy="4279752"/>
          </a:xfrm>
          <a:prstGeom prst="rect">
            <a:avLst/>
          </a:prstGeom>
        </p:spPr>
      </p:pic>
    </p:spTree>
    <p:extLst>
      <p:ext uri="{BB962C8B-B14F-4D97-AF65-F5344CB8AC3E}">
        <p14:creationId xmlns:p14="http://schemas.microsoft.com/office/powerpoint/2010/main" val="27099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C3C0E2-9764-4F5E-9FA7-CDC4D6983A75}"/>
              </a:ext>
            </a:extLst>
          </p:cNvPr>
          <p:cNvSpPr>
            <a:spLocks noGrp="1"/>
          </p:cNvSpPr>
          <p:nvPr>
            <p:ph type="sldNum" sz="quarter" idx="12"/>
          </p:nvPr>
        </p:nvSpPr>
        <p:spPr/>
        <p:txBody>
          <a:bodyPr/>
          <a:lstStyle/>
          <a:p>
            <a:fld id="{EE2556C5-CE8C-6547-B838-EA80C61A4AF7}" type="slidenum">
              <a:rPr lang="en-US" smtClean="0"/>
              <a:pPr/>
              <a:t>8</a:t>
            </a:fld>
            <a:endParaRPr lang="en-US" dirty="0"/>
          </a:p>
        </p:txBody>
      </p:sp>
      <p:pic>
        <p:nvPicPr>
          <p:cNvPr id="5" name="Picture 4">
            <a:extLst>
              <a:ext uri="{FF2B5EF4-FFF2-40B4-BE49-F238E27FC236}">
                <a16:creationId xmlns:a16="http://schemas.microsoft.com/office/drawing/2014/main" id="{2A608834-BF8F-44F2-840D-8B66DE155DD1}"/>
              </a:ext>
            </a:extLst>
          </p:cNvPr>
          <p:cNvPicPr>
            <a:picLocks noChangeAspect="1"/>
          </p:cNvPicPr>
          <p:nvPr/>
        </p:nvPicPr>
        <p:blipFill rotWithShape="1">
          <a:blip r:embed="rId2"/>
          <a:srcRect l="-203" b="11127"/>
          <a:stretch/>
        </p:blipFill>
        <p:spPr>
          <a:xfrm>
            <a:off x="1539533" y="305522"/>
            <a:ext cx="6064934" cy="4034362"/>
          </a:xfrm>
          <a:prstGeom prst="rect">
            <a:avLst/>
          </a:prstGeom>
        </p:spPr>
      </p:pic>
    </p:spTree>
    <p:extLst>
      <p:ext uri="{BB962C8B-B14F-4D97-AF65-F5344CB8AC3E}">
        <p14:creationId xmlns:p14="http://schemas.microsoft.com/office/powerpoint/2010/main" val="1025070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3B635E-9BD9-4FE7-A341-F43ED6CBB9D4}"/>
              </a:ext>
            </a:extLst>
          </p:cNvPr>
          <p:cNvSpPr>
            <a:spLocks noGrp="1"/>
          </p:cNvSpPr>
          <p:nvPr>
            <p:ph type="sldNum" sz="quarter" idx="12"/>
          </p:nvPr>
        </p:nvSpPr>
        <p:spPr/>
        <p:txBody>
          <a:bodyPr/>
          <a:lstStyle/>
          <a:p>
            <a:fld id="{EE2556C5-CE8C-6547-B838-EA80C61A4AF7}" type="slidenum">
              <a:rPr lang="en-US" smtClean="0"/>
              <a:pPr/>
              <a:t>9</a:t>
            </a:fld>
            <a:endParaRPr lang="en-US" dirty="0"/>
          </a:p>
        </p:txBody>
      </p:sp>
      <p:sp>
        <p:nvSpPr>
          <p:cNvPr id="3" name="Title 2">
            <a:extLst>
              <a:ext uri="{FF2B5EF4-FFF2-40B4-BE49-F238E27FC236}">
                <a16:creationId xmlns:a16="http://schemas.microsoft.com/office/drawing/2014/main" id="{1AD9127E-E05B-48AE-AF3E-0D8F24F7B8B7}"/>
              </a:ext>
            </a:extLst>
          </p:cNvPr>
          <p:cNvSpPr>
            <a:spLocks noGrp="1"/>
          </p:cNvSpPr>
          <p:nvPr>
            <p:ph type="title"/>
          </p:nvPr>
        </p:nvSpPr>
        <p:spPr>
          <a:xfrm>
            <a:off x="237564" y="189273"/>
            <a:ext cx="8229600" cy="868680"/>
          </a:xfrm>
        </p:spPr>
        <p:txBody>
          <a:bodyPr/>
          <a:lstStyle/>
          <a:p>
            <a:r>
              <a:rPr lang="en-MY" dirty="0"/>
              <a:t>EHL Customer List</a:t>
            </a:r>
          </a:p>
        </p:txBody>
      </p:sp>
      <p:graphicFrame>
        <p:nvGraphicFramePr>
          <p:cNvPr id="6" name="Object 5">
            <a:extLst>
              <a:ext uri="{FF2B5EF4-FFF2-40B4-BE49-F238E27FC236}">
                <a16:creationId xmlns:a16="http://schemas.microsoft.com/office/drawing/2014/main" id="{8015ED38-8FB2-45B6-A3FD-F581D1F4EB31}"/>
              </a:ext>
            </a:extLst>
          </p:cNvPr>
          <p:cNvGraphicFramePr>
            <a:graphicFrameLocks noChangeAspect="1"/>
          </p:cNvGraphicFramePr>
          <p:nvPr>
            <p:extLst>
              <p:ext uri="{D42A27DB-BD31-4B8C-83A1-F6EECF244321}">
                <p14:modId xmlns:p14="http://schemas.microsoft.com/office/powerpoint/2010/main" val="78888461"/>
              </p:ext>
            </p:extLst>
          </p:nvPr>
        </p:nvGraphicFramePr>
        <p:xfrm>
          <a:off x="478302" y="775139"/>
          <a:ext cx="914400" cy="792163"/>
        </p:xfrm>
        <a:graphic>
          <a:graphicData uri="http://schemas.openxmlformats.org/presentationml/2006/ole">
            <mc:AlternateContent xmlns:mc="http://schemas.openxmlformats.org/markup-compatibility/2006">
              <mc:Choice xmlns:v="urn:schemas-microsoft-com:vml" Requires="v">
                <p:oleObj spid="_x0000_s3133" name="Worksheet" showAsIcon="1" r:id="rId3" imgW="914400" imgH="792360" progId="Excel.Sheet.12">
                  <p:embed/>
                </p:oleObj>
              </mc:Choice>
              <mc:Fallback>
                <p:oleObj name="Worksheet" showAsIcon="1" r:id="rId3" imgW="914400" imgH="792360" progId="Excel.Sheet.12">
                  <p:embed/>
                  <p:pic>
                    <p:nvPicPr>
                      <p:cNvPr id="0" name=""/>
                      <p:cNvPicPr/>
                      <p:nvPr/>
                    </p:nvPicPr>
                    <p:blipFill>
                      <a:blip r:embed="rId4"/>
                      <a:stretch>
                        <a:fillRect/>
                      </a:stretch>
                    </p:blipFill>
                    <p:spPr>
                      <a:xfrm>
                        <a:off x="478302" y="775139"/>
                        <a:ext cx="914400" cy="792163"/>
                      </a:xfrm>
                      <a:prstGeom prst="rect">
                        <a:avLst/>
                      </a:prstGeom>
                    </p:spPr>
                  </p:pic>
                </p:oleObj>
              </mc:Fallback>
            </mc:AlternateContent>
          </a:graphicData>
        </a:graphic>
      </p:graphicFrame>
    </p:spTree>
    <p:extLst>
      <p:ext uri="{BB962C8B-B14F-4D97-AF65-F5344CB8AC3E}">
        <p14:creationId xmlns:p14="http://schemas.microsoft.com/office/powerpoint/2010/main" val="780773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10</a:t>
            </a:fld>
            <a:endParaRPr lang="en-US" dirty="0"/>
          </a:p>
        </p:txBody>
      </p:sp>
      <p:sp>
        <p:nvSpPr>
          <p:cNvPr id="3" name="Title 2"/>
          <p:cNvSpPr>
            <a:spLocks noGrp="1"/>
          </p:cNvSpPr>
          <p:nvPr>
            <p:ph type="title"/>
          </p:nvPr>
        </p:nvSpPr>
        <p:spPr>
          <a:xfrm>
            <a:off x="455613" y="308848"/>
            <a:ext cx="8229600" cy="367013"/>
          </a:xfrm>
        </p:spPr>
        <p:txBody>
          <a:bodyPr/>
          <a:lstStyle/>
          <a:p>
            <a:r>
              <a:rPr lang="en-US" dirty="0"/>
              <a:t>Content:</a:t>
            </a:r>
          </a:p>
        </p:txBody>
      </p:sp>
      <p:sp>
        <p:nvSpPr>
          <p:cNvPr id="4" name="Content Placeholder 3"/>
          <p:cNvSpPr>
            <a:spLocks noGrp="1"/>
          </p:cNvSpPr>
          <p:nvPr>
            <p:ph sz="quarter" idx="13"/>
          </p:nvPr>
        </p:nvSpPr>
        <p:spPr>
          <a:xfrm>
            <a:off x="457201" y="865132"/>
            <a:ext cx="8228012" cy="3498975"/>
          </a:xfrm>
        </p:spPr>
        <p:txBody>
          <a:bodyPr/>
          <a:lstStyle/>
          <a:p>
            <a:pPr marL="342900" indent="-342900">
              <a:buFont typeface="+mj-lt"/>
              <a:buAutoNum type="arabicPeriod"/>
            </a:pPr>
            <a:r>
              <a:rPr lang="en-US" dirty="0"/>
              <a:t>Customer’s Surveyed -&gt; IOTG Sales Volume</a:t>
            </a:r>
          </a:p>
          <a:p>
            <a:pPr marL="342900" indent="-342900">
              <a:buFont typeface="+mj-lt"/>
              <a:buAutoNum type="arabicPeriod"/>
            </a:pPr>
            <a:r>
              <a:rPr lang="en-US" dirty="0"/>
              <a:t>Survey Summary Information</a:t>
            </a:r>
          </a:p>
          <a:p>
            <a:pPr marL="342900" indent="-342900">
              <a:buFont typeface="+mj-lt"/>
              <a:buAutoNum type="arabicPeriod"/>
            </a:pPr>
            <a:r>
              <a:rPr lang="en-US" dirty="0"/>
              <a:t>Market Segment, Power Cycles &amp; Temp Conditions</a:t>
            </a:r>
          </a:p>
          <a:p>
            <a:pPr marL="342900" indent="-342900">
              <a:buFont typeface="+mj-lt"/>
              <a:buAutoNum type="arabicPeriod"/>
            </a:pPr>
            <a:r>
              <a:rPr lang="en-US" dirty="0"/>
              <a:t>Board Level Temperature (TC) Testing</a:t>
            </a:r>
          </a:p>
          <a:p>
            <a:pPr marL="342900" indent="-342900">
              <a:buFont typeface="+mj-lt"/>
              <a:buAutoNum type="arabicPeriod"/>
            </a:pPr>
            <a:r>
              <a:rPr lang="en-US" dirty="0"/>
              <a:t>Adhesive Usage</a:t>
            </a:r>
          </a:p>
        </p:txBody>
      </p:sp>
    </p:spTree>
    <p:extLst>
      <p:ext uri="{BB962C8B-B14F-4D97-AF65-F5344CB8AC3E}">
        <p14:creationId xmlns:p14="http://schemas.microsoft.com/office/powerpoint/2010/main" val="3170443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E42ED0-125A-4BED-B975-1B25B5A47663}"/>
              </a:ext>
            </a:extLst>
          </p:cNvPr>
          <p:cNvSpPr>
            <a:spLocks noGrp="1"/>
          </p:cNvSpPr>
          <p:nvPr>
            <p:ph type="sldNum" sz="quarter" idx="12"/>
          </p:nvPr>
        </p:nvSpPr>
        <p:spPr/>
        <p:txBody>
          <a:bodyPr/>
          <a:lstStyle/>
          <a:p>
            <a:fld id="{EE2556C5-CE8C-6547-B838-EA80C61A4AF7}" type="slidenum">
              <a:rPr lang="en-US" smtClean="0"/>
              <a:pPr/>
              <a:t>11</a:t>
            </a:fld>
            <a:endParaRPr lang="en-US" dirty="0"/>
          </a:p>
        </p:txBody>
      </p:sp>
      <p:sp>
        <p:nvSpPr>
          <p:cNvPr id="3" name="Title 2">
            <a:extLst>
              <a:ext uri="{FF2B5EF4-FFF2-40B4-BE49-F238E27FC236}">
                <a16:creationId xmlns:a16="http://schemas.microsoft.com/office/drawing/2014/main" id="{D4DD82C2-DC62-4A3F-A315-2AE6B59E9F45}"/>
              </a:ext>
            </a:extLst>
          </p:cNvPr>
          <p:cNvSpPr>
            <a:spLocks noGrp="1"/>
          </p:cNvSpPr>
          <p:nvPr>
            <p:ph type="title"/>
          </p:nvPr>
        </p:nvSpPr>
        <p:spPr>
          <a:xfrm>
            <a:off x="438784" y="-28628"/>
            <a:ext cx="6223338" cy="388675"/>
          </a:xfrm>
        </p:spPr>
        <p:txBody>
          <a:bodyPr/>
          <a:lstStyle/>
          <a:p>
            <a:r>
              <a:rPr lang="en-US" dirty="0"/>
              <a:t>Customer Survey IOTG Sales Volume</a:t>
            </a:r>
          </a:p>
        </p:txBody>
      </p:sp>
      <p:sp>
        <p:nvSpPr>
          <p:cNvPr id="7" name="TextBox 6">
            <a:extLst>
              <a:ext uri="{FF2B5EF4-FFF2-40B4-BE49-F238E27FC236}">
                <a16:creationId xmlns:a16="http://schemas.microsoft.com/office/drawing/2014/main" id="{5ED71901-707F-4CEB-9FEA-B4E4BCF5D800}"/>
              </a:ext>
            </a:extLst>
          </p:cNvPr>
          <p:cNvSpPr txBox="1"/>
          <p:nvPr/>
        </p:nvSpPr>
        <p:spPr>
          <a:xfrm>
            <a:off x="468145" y="274964"/>
            <a:ext cx="8101424" cy="215444"/>
          </a:xfrm>
          <a:prstGeom prst="rect">
            <a:avLst/>
          </a:prstGeom>
          <a:noFill/>
        </p:spPr>
        <p:txBody>
          <a:bodyPr vert="horz" wrap="square" lIns="0" tIns="0" rIns="0" bIns="0" rtlCol="0">
            <a:spAutoFit/>
          </a:bodyPr>
          <a:lstStyle/>
          <a:p>
            <a:r>
              <a:rPr lang="en-US" sz="1400" b="1" dirty="0">
                <a:solidFill>
                  <a:srgbClr val="00B050"/>
                </a:solidFill>
              </a:rPr>
              <a:t>IOTG Sales Volume on Apollo Lake, Gemini Lake &amp; Valley View: </a:t>
            </a:r>
            <a:endParaRPr lang="en-US" sz="1100" b="1" dirty="0">
              <a:solidFill>
                <a:srgbClr val="003C71"/>
              </a:solidFill>
            </a:endParaRPr>
          </a:p>
        </p:txBody>
      </p:sp>
      <p:sp>
        <p:nvSpPr>
          <p:cNvPr id="4" name="TextBox 3">
            <a:extLst>
              <a:ext uri="{FF2B5EF4-FFF2-40B4-BE49-F238E27FC236}">
                <a16:creationId xmlns:a16="http://schemas.microsoft.com/office/drawing/2014/main" id="{6FC354BA-9A89-4A12-A782-810A4C8D88EF}"/>
              </a:ext>
            </a:extLst>
          </p:cNvPr>
          <p:cNvSpPr txBox="1"/>
          <p:nvPr/>
        </p:nvSpPr>
        <p:spPr>
          <a:xfrm>
            <a:off x="457202" y="2889456"/>
            <a:ext cx="8197689" cy="215444"/>
          </a:xfrm>
          <a:prstGeom prst="rect">
            <a:avLst/>
          </a:prstGeom>
          <a:solidFill>
            <a:srgbClr val="FFFF00"/>
          </a:solidFill>
        </p:spPr>
        <p:txBody>
          <a:bodyPr vert="horz" wrap="square" lIns="0" tIns="0" rIns="0" bIns="0" rtlCol="0">
            <a:spAutoFit/>
          </a:bodyPr>
          <a:lstStyle/>
          <a:p>
            <a:r>
              <a:rPr lang="en-US" sz="1400" b="1" dirty="0">
                <a:solidFill>
                  <a:srgbClr val="00B050"/>
                </a:solidFill>
              </a:rPr>
              <a:t>This Customer Survey represents ~18% of IOTG Sales Volume on APL, Gemini Lake &amp; Valleyview</a:t>
            </a:r>
          </a:p>
        </p:txBody>
      </p:sp>
      <p:graphicFrame>
        <p:nvGraphicFramePr>
          <p:cNvPr id="10" name="Table 9">
            <a:extLst>
              <a:ext uri="{FF2B5EF4-FFF2-40B4-BE49-F238E27FC236}">
                <a16:creationId xmlns:a16="http://schemas.microsoft.com/office/drawing/2014/main" id="{9B814CD1-DD99-47A1-94E8-FDE33DD2E206}"/>
              </a:ext>
            </a:extLst>
          </p:cNvPr>
          <p:cNvGraphicFramePr>
            <a:graphicFrameLocks noGrp="1"/>
          </p:cNvGraphicFramePr>
          <p:nvPr>
            <p:extLst>
              <p:ext uri="{D42A27DB-BD31-4B8C-83A1-F6EECF244321}">
                <p14:modId xmlns:p14="http://schemas.microsoft.com/office/powerpoint/2010/main" val="2632139985"/>
              </p:ext>
            </p:extLst>
          </p:nvPr>
        </p:nvGraphicFramePr>
        <p:xfrm>
          <a:off x="448338" y="471694"/>
          <a:ext cx="7645073" cy="2423464"/>
        </p:xfrm>
        <a:graphic>
          <a:graphicData uri="http://schemas.openxmlformats.org/drawingml/2006/table">
            <a:tbl>
              <a:tblPr>
                <a:tableStyleId>{5C22544A-7EE6-4342-B048-85BDC9FD1C3A}</a:tableStyleId>
              </a:tblPr>
              <a:tblGrid>
                <a:gridCol w="1423895">
                  <a:extLst>
                    <a:ext uri="{9D8B030D-6E8A-4147-A177-3AD203B41FA5}">
                      <a16:colId xmlns:a16="http://schemas.microsoft.com/office/drawing/2014/main" val="1604144366"/>
                    </a:ext>
                  </a:extLst>
                </a:gridCol>
                <a:gridCol w="926965">
                  <a:extLst>
                    <a:ext uri="{9D8B030D-6E8A-4147-A177-3AD203B41FA5}">
                      <a16:colId xmlns:a16="http://schemas.microsoft.com/office/drawing/2014/main" val="94424889"/>
                    </a:ext>
                  </a:extLst>
                </a:gridCol>
                <a:gridCol w="783620">
                  <a:extLst>
                    <a:ext uri="{9D8B030D-6E8A-4147-A177-3AD203B41FA5}">
                      <a16:colId xmlns:a16="http://schemas.microsoft.com/office/drawing/2014/main" val="412673654"/>
                    </a:ext>
                  </a:extLst>
                </a:gridCol>
                <a:gridCol w="860071">
                  <a:extLst>
                    <a:ext uri="{9D8B030D-6E8A-4147-A177-3AD203B41FA5}">
                      <a16:colId xmlns:a16="http://schemas.microsoft.com/office/drawing/2014/main" val="3997368176"/>
                    </a:ext>
                  </a:extLst>
                </a:gridCol>
                <a:gridCol w="1337888">
                  <a:extLst>
                    <a:ext uri="{9D8B030D-6E8A-4147-A177-3AD203B41FA5}">
                      <a16:colId xmlns:a16="http://schemas.microsoft.com/office/drawing/2014/main" val="4224623727"/>
                    </a:ext>
                  </a:extLst>
                </a:gridCol>
                <a:gridCol w="840958">
                  <a:extLst>
                    <a:ext uri="{9D8B030D-6E8A-4147-A177-3AD203B41FA5}">
                      <a16:colId xmlns:a16="http://schemas.microsoft.com/office/drawing/2014/main" val="1498868319"/>
                    </a:ext>
                  </a:extLst>
                </a:gridCol>
                <a:gridCol w="449148">
                  <a:extLst>
                    <a:ext uri="{9D8B030D-6E8A-4147-A177-3AD203B41FA5}">
                      <a16:colId xmlns:a16="http://schemas.microsoft.com/office/drawing/2014/main" val="761505315"/>
                    </a:ext>
                  </a:extLst>
                </a:gridCol>
                <a:gridCol w="563824">
                  <a:extLst>
                    <a:ext uri="{9D8B030D-6E8A-4147-A177-3AD203B41FA5}">
                      <a16:colId xmlns:a16="http://schemas.microsoft.com/office/drawing/2014/main" val="3654039720"/>
                    </a:ext>
                  </a:extLst>
                </a:gridCol>
                <a:gridCol w="458704">
                  <a:extLst>
                    <a:ext uri="{9D8B030D-6E8A-4147-A177-3AD203B41FA5}">
                      <a16:colId xmlns:a16="http://schemas.microsoft.com/office/drawing/2014/main" val="2908456005"/>
                    </a:ext>
                  </a:extLst>
                </a:gridCol>
              </a:tblGrid>
              <a:tr h="235927">
                <a:tc>
                  <a:txBody>
                    <a:bodyPr/>
                    <a:lstStyle/>
                    <a:p>
                      <a:pPr algn="l" fontAlgn="b"/>
                      <a:r>
                        <a:rPr lang="en-US" sz="900" u="none" strike="noStrike">
                          <a:effectLst/>
                          <a:latin typeface="+mn-lt"/>
                        </a:rPr>
                        <a:t>Parent Customer</a:t>
                      </a:r>
                      <a:endParaRPr lang="en-US" sz="900" b="0" i="0" u="none" strike="noStrike">
                        <a:solidFill>
                          <a:srgbClr val="FFFFFF"/>
                        </a:solidFill>
                        <a:effectLst/>
                        <a:latin typeface="+mn-lt"/>
                      </a:endParaRPr>
                    </a:p>
                  </a:txBody>
                  <a:tcPr marL="5734" marR="5734" marT="5734" marB="0" anchor="b"/>
                </a:tc>
                <a:tc>
                  <a:txBody>
                    <a:bodyPr/>
                    <a:lstStyle/>
                    <a:p>
                      <a:pPr algn="ctr" fontAlgn="b"/>
                      <a:r>
                        <a:rPr lang="en-US" sz="900" u="none" strike="noStrike">
                          <a:effectLst/>
                          <a:latin typeface="+mn-lt"/>
                        </a:rPr>
                        <a:t>APOLLO LAKE</a:t>
                      </a:r>
                      <a:endParaRPr lang="en-US" sz="900" b="0" i="0" u="none" strike="noStrike">
                        <a:solidFill>
                          <a:srgbClr val="FFFFFF"/>
                        </a:solidFill>
                        <a:effectLst/>
                        <a:latin typeface="+mn-lt"/>
                      </a:endParaRPr>
                    </a:p>
                  </a:txBody>
                  <a:tcPr marL="5734" marR="5734" marT="5734" marB="0" anchor="b"/>
                </a:tc>
                <a:tc>
                  <a:txBody>
                    <a:bodyPr/>
                    <a:lstStyle/>
                    <a:p>
                      <a:pPr algn="ctr" fontAlgn="b"/>
                      <a:r>
                        <a:rPr lang="en-US" sz="900" u="none" strike="noStrike">
                          <a:effectLst/>
                          <a:latin typeface="+mn-lt"/>
                        </a:rPr>
                        <a:t>GEMINI LAKE</a:t>
                      </a:r>
                      <a:endParaRPr lang="en-US" sz="900" b="0" i="0" u="none" strike="noStrike">
                        <a:solidFill>
                          <a:srgbClr val="FFFFFF"/>
                        </a:solidFill>
                        <a:effectLst/>
                        <a:latin typeface="+mn-lt"/>
                      </a:endParaRPr>
                    </a:p>
                  </a:txBody>
                  <a:tcPr marL="5734" marR="5734" marT="5734" marB="0" anchor="b"/>
                </a:tc>
                <a:tc>
                  <a:txBody>
                    <a:bodyPr/>
                    <a:lstStyle/>
                    <a:p>
                      <a:pPr algn="ctr" fontAlgn="b"/>
                      <a:r>
                        <a:rPr lang="en-US" sz="900" u="none" strike="noStrike">
                          <a:effectLst/>
                          <a:latin typeface="+mn-lt"/>
                        </a:rPr>
                        <a:t>VALLEYVIEW</a:t>
                      </a:r>
                      <a:endParaRPr lang="en-US" sz="900" b="0" i="0" u="none" strike="noStrike">
                        <a:solidFill>
                          <a:srgbClr val="FFFFFF"/>
                        </a:solidFill>
                        <a:effectLst/>
                        <a:latin typeface="+mn-lt"/>
                      </a:endParaRPr>
                    </a:p>
                  </a:txBody>
                  <a:tcPr marL="5734" marR="5734" marT="5734" marB="0" anchor="b"/>
                </a:tc>
                <a:tc>
                  <a:txBody>
                    <a:bodyPr/>
                    <a:lstStyle/>
                    <a:p>
                      <a:pPr algn="ctr" fontAlgn="b"/>
                      <a:r>
                        <a:rPr lang="pt-BR" sz="900" u="none" strike="noStrike">
                          <a:effectLst/>
                          <a:latin typeface="+mn-lt"/>
                        </a:rPr>
                        <a:t>2017-18 sum APL+GLK+APL</a:t>
                      </a:r>
                      <a:endParaRPr lang="pt-BR" sz="900" b="0" i="0" u="none" strike="noStrike">
                        <a:solidFill>
                          <a:srgbClr val="FFFFFF"/>
                        </a:solidFill>
                        <a:effectLst/>
                        <a:latin typeface="+mn-lt"/>
                      </a:endParaRPr>
                    </a:p>
                  </a:txBody>
                  <a:tcPr marL="5734" marR="5734" marT="5734" marB="0" anchor="b"/>
                </a:tc>
                <a:tc>
                  <a:txBody>
                    <a:bodyPr/>
                    <a:lstStyle/>
                    <a:p>
                      <a:pPr algn="ctr" fontAlgn="b"/>
                      <a:r>
                        <a:rPr lang="en-US" sz="900" u="none" strike="noStrike">
                          <a:effectLst/>
                          <a:latin typeface="+mn-lt"/>
                        </a:rPr>
                        <a:t>EA Customer?</a:t>
                      </a:r>
                      <a:endParaRPr lang="en-US" sz="900" b="0" i="0" u="none" strike="noStrike">
                        <a:solidFill>
                          <a:srgbClr val="FFFFFF"/>
                        </a:solidFill>
                        <a:effectLst/>
                        <a:latin typeface="+mn-lt"/>
                      </a:endParaRPr>
                    </a:p>
                  </a:txBody>
                  <a:tcPr marL="5734" marR="5734" marT="5734" marB="0" anchor="b"/>
                </a:tc>
                <a:tc>
                  <a:txBody>
                    <a:bodyPr/>
                    <a:lstStyle/>
                    <a:p>
                      <a:pPr algn="ctr" fontAlgn="b"/>
                      <a:r>
                        <a:rPr lang="en-US" sz="900" u="none" strike="noStrike">
                          <a:effectLst/>
                          <a:latin typeface="+mn-lt"/>
                        </a:rPr>
                        <a:t>time factor</a:t>
                      </a:r>
                      <a:endParaRPr lang="en-US" sz="900" b="0" i="0" u="none" strike="noStrike">
                        <a:solidFill>
                          <a:srgbClr val="FFFFFF"/>
                        </a:solidFill>
                        <a:effectLst/>
                        <a:latin typeface="+mn-lt"/>
                      </a:endParaRPr>
                    </a:p>
                  </a:txBody>
                  <a:tcPr marL="5734" marR="5734" marT="5734" marB="0" anchor="b"/>
                </a:tc>
                <a:tc>
                  <a:txBody>
                    <a:bodyPr/>
                    <a:lstStyle/>
                    <a:p>
                      <a:pPr algn="ctr" fontAlgn="b"/>
                      <a:r>
                        <a:rPr lang="en-US" sz="900" u="none" strike="noStrike">
                          <a:effectLst/>
                          <a:latin typeface="+mn-lt"/>
                        </a:rPr>
                        <a:t>vol*tf</a:t>
                      </a:r>
                      <a:endParaRPr lang="en-US" sz="900" b="0" i="0" u="none" strike="noStrike">
                        <a:solidFill>
                          <a:srgbClr val="FFFFFF"/>
                        </a:solidFill>
                        <a:effectLst/>
                        <a:latin typeface="+mn-lt"/>
                      </a:endParaRPr>
                    </a:p>
                  </a:txBody>
                  <a:tcPr marL="5734" marR="5734" marT="5734" marB="0" anchor="b"/>
                </a:tc>
                <a:tc>
                  <a:txBody>
                    <a:bodyPr/>
                    <a:lstStyle/>
                    <a:p>
                      <a:pPr algn="l" fontAlgn="b"/>
                      <a:r>
                        <a:rPr lang="en-US" sz="900" b="0" i="0" u="none" strike="noStrike" dirty="0">
                          <a:solidFill>
                            <a:srgbClr val="000000"/>
                          </a:solidFill>
                          <a:effectLst/>
                          <a:latin typeface="+mn-lt"/>
                        </a:rPr>
                        <a:t>%</a:t>
                      </a:r>
                    </a:p>
                  </a:txBody>
                  <a:tcPr marL="5734" marR="5734" marT="5734" marB="0" anchor="b"/>
                </a:tc>
                <a:extLst>
                  <a:ext uri="{0D108BD9-81ED-4DB2-BD59-A6C34878D82A}">
                    <a16:rowId xmlns:a16="http://schemas.microsoft.com/office/drawing/2014/main" val="43718530"/>
                  </a:ext>
                </a:extLst>
              </a:tr>
              <a:tr h="120379">
                <a:tc>
                  <a:txBody>
                    <a:bodyPr/>
                    <a:lstStyle/>
                    <a:p>
                      <a:pPr algn="l" fontAlgn="b"/>
                      <a:r>
                        <a:rPr lang="en-US" sz="900" u="none" strike="noStrike">
                          <a:effectLst/>
                          <a:latin typeface="+mn-lt"/>
                        </a:rPr>
                        <a:t>Advantech</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29047</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508675</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537722</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EA1</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1</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537722</a:t>
                      </a:r>
                      <a:endParaRPr lang="en-US" sz="900" b="0" i="0" u="none" strike="noStrike">
                        <a:solidFill>
                          <a:srgbClr val="000000"/>
                        </a:solidFill>
                        <a:effectLst/>
                        <a:latin typeface="+mn-lt"/>
                      </a:endParaRPr>
                    </a:p>
                  </a:txBody>
                  <a:tcPr marL="5734" marR="5734" marT="5734" marB="0" anchor="b"/>
                </a:tc>
                <a:tc>
                  <a:txBody>
                    <a:bodyPr/>
                    <a:lstStyle/>
                    <a:p>
                      <a:pPr algn="r" fontAlgn="b"/>
                      <a:r>
                        <a:rPr lang="en-US" sz="900" u="none" strike="noStrike">
                          <a:effectLst/>
                          <a:latin typeface="+mn-lt"/>
                        </a:rPr>
                        <a:t>4.6%</a:t>
                      </a:r>
                      <a:endParaRPr lang="en-US" sz="900" b="0" i="0" u="none" strike="noStrike">
                        <a:solidFill>
                          <a:srgbClr val="000000"/>
                        </a:solidFill>
                        <a:effectLst/>
                        <a:latin typeface="+mn-lt"/>
                      </a:endParaRPr>
                    </a:p>
                  </a:txBody>
                  <a:tcPr marL="5734" marR="5734" marT="5734" marB="0" anchor="b"/>
                </a:tc>
                <a:extLst>
                  <a:ext uri="{0D108BD9-81ED-4DB2-BD59-A6C34878D82A}">
                    <a16:rowId xmlns:a16="http://schemas.microsoft.com/office/drawing/2014/main" val="507400072"/>
                  </a:ext>
                </a:extLst>
              </a:tr>
              <a:tr h="120379">
                <a:tc>
                  <a:txBody>
                    <a:bodyPr/>
                    <a:lstStyle/>
                    <a:p>
                      <a:pPr algn="l" fontAlgn="b"/>
                      <a:r>
                        <a:rPr lang="en-US" sz="900" u="none" strike="noStrike">
                          <a:effectLst/>
                          <a:latin typeface="+mn-lt"/>
                        </a:rPr>
                        <a:t>IEI</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136275</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3068</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248095</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387438</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TEP</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1</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387438</a:t>
                      </a:r>
                      <a:endParaRPr lang="en-US" sz="900" b="0" i="0" u="none" strike="noStrike">
                        <a:solidFill>
                          <a:srgbClr val="000000"/>
                        </a:solidFill>
                        <a:effectLst/>
                        <a:latin typeface="+mn-lt"/>
                      </a:endParaRPr>
                    </a:p>
                  </a:txBody>
                  <a:tcPr marL="5734" marR="5734" marT="5734" marB="0" anchor="b"/>
                </a:tc>
                <a:tc>
                  <a:txBody>
                    <a:bodyPr/>
                    <a:lstStyle/>
                    <a:p>
                      <a:pPr algn="r" fontAlgn="b"/>
                      <a:r>
                        <a:rPr lang="en-US" sz="900" u="none" strike="noStrike">
                          <a:effectLst/>
                          <a:latin typeface="+mn-lt"/>
                        </a:rPr>
                        <a:t>3.3%</a:t>
                      </a:r>
                      <a:endParaRPr lang="en-US" sz="900" b="0" i="0" u="none" strike="noStrike">
                        <a:solidFill>
                          <a:srgbClr val="000000"/>
                        </a:solidFill>
                        <a:effectLst/>
                        <a:latin typeface="+mn-lt"/>
                      </a:endParaRPr>
                    </a:p>
                  </a:txBody>
                  <a:tcPr marL="5734" marR="5734" marT="5734" marB="0" anchor="b"/>
                </a:tc>
                <a:extLst>
                  <a:ext uri="{0D108BD9-81ED-4DB2-BD59-A6C34878D82A}">
                    <a16:rowId xmlns:a16="http://schemas.microsoft.com/office/drawing/2014/main" val="2029978339"/>
                  </a:ext>
                </a:extLst>
              </a:tr>
              <a:tr h="120379">
                <a:tc>
                  <a:txBody>
                    <a:bodyPr/>
                    <a:lstStyle/>
                    <a:p>
                      <a:pPr algn="l" fontAlgn="b"/>
                      <a:r>
                        <a:rPr lang="en-US" sz="900" u="none" strike="noStrike" dirty="0">
                          <a:effectLst/>
                          <a:latin typeface="+mn-lt"/>
                        </a:rPr>
                        <a:t>ADLINK Technology</a:t>
                      </a:r>
                      <a:endParaRPr lang="en-US" sz="900" b="0" i="0" u="none" strike="noStrike" dirty="0">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55155</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277849</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333004</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EA1</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1</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333004</a:t>
                      </a:r>
                      <a:endParaRPr lang="en-US" sz="900" b="0" i="0" u="none" strike="noStrike">
                        <a:solidFill>
                          <a:srgbClr val="000000"/>
                        </a:solidFill>
                        <a:effectLst/>
                        <a:latin typeface="+mn-lt"/>
                      </a:endParaRPr>
                    </a:p>
                  </a:txBody>
                  <a:tcPr marL="5734" marR="5734" marT="5734" marB="0" anchor="b"/>
                </a:tc>
                <a:tc>
                  <a:txBody>
                    <a:bodyPr/>
                    <a:lstStyle/>
                    <a:p>
                      <a:pPr algn="r" fontAlgn="b"/>
                      <a:r>
                        <a:rPr lang="en-US" sz="900" u="none" strike="noStrike">
                          <a:effectLst/>
                          <a:latin typeface="+mn-lt"/>
                        </a:rPr>
                        <a:t>2.9%</a:t>
                      </a:r>
                      <a:endParaRPr lang="en-US" sz="900" b="0" i="0" u="none" strike="noStrike">
                        <a:solidFill>
                          <a:srgbClr val="000000"/>
                        </a:solidFill>
                        <a:effectLst/>
                        <a:latin typeface="+mn-lt"/>
                      </a:endParaRPr>
                    </a:p>
                  </a:txBody>
                  <a:tcPr marL="5734" marR="5734" marT="5734" marB="0" anchor="b"/>
                </a:tc>
                <a:extLst>
                  <a:ext uri="{0D108BD9-81ED-4DB2-BD59-A6C34878D82A}">
                    <a16:rowId xmlns:a16="http://schemas.microsoft.com/office/drawing/2014/main" val="3535187866"/>
                  </a:ext>
                </a:extLst>
              </a:tr>
              <a:tr h="120379">
                <a:tc>
                  <a:txBody>
                    <a:bodyPr/>
                    <a:lstStyle/>
                    <a:p>
                      <a:pPr algn="l" fontAlgn="b"/>
                      <a:r>
                        <a:rPr lang="en-US" sz="900" u="none" strike="noStrike">
                          <a:effectLst/>
                          <a:latin typeface="+mn-lt"/>
                        </a:rPr>
                        <a:t>AAEON</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36154</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179144</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215298</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EA1</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1</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215298</a:t>
                      </a:r>
                      <a:endParaRPr lang="en-US" sz="900" b="0" i="0" u="none" strike="noStrike">
                        <a:solidFill>
                          <a:srgbClr val="000000"/>
                        </a:solidFill>
                        <a:effectLst/>
                        <a:latin typeface="+mn-lt"/>
                      </a:endParaRPr>
                    </a:p>
                  </a:txBody>
                  <a:tcPr marL="5734" marR="5734" marT="5734" marB="0" anchor="b"/>
                </a:tc>
                <a:tc>
                  <a:txBody>
                    <a:bodyPr/>
                    <a:lstStyle/>
                    <a:p>
                      <a:pPr algn="r" fontAlgn="b"/>
                      <a:r>
                        <a:rPr lang="en-US" sz="900" u="none" strike="noStrike">
                          <a:effectLst/>
                          <a:latin typeface="+mn-lt"/>
                        </a:rPr>
                        <a:t>1.9%</a:t>
                      </a:r>
                      <a:endParaRPr lang="en-US" sz="900" b="0" i="0" u="none" strike="noStrike">
                        <a:solidFill>
                          <a:srgbClr val="000000"/>
                        </a:solidFill>
                        <a:effectLst/>
                        <a:latin typeface="+mn-lt"/>
                      </a:endParaRPr>
                    </a:p>
                  </a:txBody>
                  <a:tcPr marL="5734" marR="5734" marT="5734" marB="0" anchor="b"/>
                </a:tc>
                <a:extLst>
                  <a:ext uri="{0D108BD9-81ED-4DB2-BD59-A6C34878D82A}">
                    <a16:rowId xmlns:a16="http://schemas.microsoft.com/office/drawing/2014/main" val="2015600333"/>
                  </a:ext>
                </a:extLst>
              </a:tr>
              <a:tr h="120379">
                <a:tc>
                  <a:txBody>
                    <a:bodyPr/>
                    <a:lstStyle/>
                    <a:p>
                      <a:pPr algn="l" fontAlgn="b"/>
                      <a:r>
                        <a:rPr lang="en-US" sz="900" u="none" strike="noStrike">
                          <a:effectLst/>
                          <a:latin typeface="+mn-lt"/>
                        </a:rPr>
                        <a:t>Congatec AG</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33303</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171565</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204868</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TEP</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1</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204868</a:t>
                      </a:r>
                      <a:endParaRPr lang="en-US" sz="900" b="0" i="0" u="none" strike="noStrike">
                        <a:solidFill>
                          <a:srgbClr val="000000"/>
                        </a:solidFill>
                        <a:effectLst/>
                        <a:latin typeface="+mn-lt"/>
                      </a:endParaRPr>
                    </a:p>
                  </a:txBody>
                  <a:tcPr marL="5734" marR="5734" marT="5734" marB="0" anchor="b"/>
                </a:tc>
                <a:tc>
                  <a:txBody>
                    <a:bodyPr/>
                    <a:lstStyle/>
                    <a:p>
                      <a:pPr algn="r" fontAlgn="b"/>
                      <a:r>
                        <a:rPr lang="en-US" sz="900" u="none" strike="noStrike">
                          <a:effectLst/>
                          <a:latin typeface="+mn-lt"/>
                        </a:rPr>
                        <a:t>1.8%</a:t>
                      </a:r>
                      <a:endParaRPr lang="en-US" sz="900" b="0" i="0" u="none" strike="noStrike">
                        <a:solidFill>
                          <a:srgbClr val="000000"/>
                        </a:solidFill>
                        <a:effectLst/>
                        <a:latin typeface="+mn-lt"/>
                      </a:endParaRPr>
                    </a:p>
                  </a:txBody>
                  <a:tcPr marL="5734" marR="5734" marT="5734" marB="0" anchor="b"/>
                </a:tc>
                <a:extLst>
                  <a:ext uri="{0D108BD9-81ED-4DB2-BD59-A6C34878D82A}">
                    <a16:rowId xmlns:a16="http://schemas.microsoft.com/office/drawing/2014/main" val="1807112504"/>
                  </a:ext>
                </a:extLst>
              </a:tr>
              <a:tr h="120379">
                <a:tc>
                  <a:txBody>
                    <a:bodyPr/>
                    <a:lstStyle/>
                    <a:p>
                      <a:pPr algn="l" fontAlgn="b"/>
                      <a:r>
                        <a:rPr lang="en-US" sz="900" u="none" strike="noStrike">
                          <a:effectLst/>
                          <a:latin typeface="+mn-lt"/>
                        </a:rPr>
                        <a:t>Kontron</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8638</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184156</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192794</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EA1</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1</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192794</a:t>
                      </a:r>
                      <a:endParaRPr lang="en-US" sz="900" b="0" i="0" u="none" strike="noStrike">
                        <a:solidFill>
                          <a:srgbClr val="000000"/>
                        </a:solidFill>
                        <a:effectLst/>
                        <a:latin typeface="+mn-lt"/>
                      </a:endParaRPr>
                    </a:p>
                  </a:txBody>
                  <a:tcPr marL="5734" marR="5734" marT="5734" marB="0" anchor="b"/>
                </a:tc>
                <a:tc>
                  <a:txBody>
                    <a:bodyPr/>
                    <a:lstStyle/>
                    <a:p>
                      <a:pPr algn="r" fontAlgn="b"/>
                      <a:r>
                        <a:rPr lang="en-US" sz="900" u="none" strike="noStrike">
                          <a:effectLst/>
                          <a:latin typeface="+mn-lt"/>
                        </a:rPr>
                        <a:t>1.7%</a:t>
                      </a:r>
                      <a:endParaRPr lang="en-US" sz="900" b="0" i="0" u="none" strike="noStrike">
                        <a:solidFill>
                          <a:srgbClr val="000000"/>
                        </a:solidFill>
                        <a:effectLst/>
                        <a:latin typeface="+mn-lt"/>
                      </a:endParaRPr>
                    </a:p>
                  </a:txBody>
                  <a:tcPr marL="5734" marR="5734" marT="5734" marB="0" anchor="b"/>
                </a:tc>
                <a:extLst>
                  <a:ext uri="{0D108BD9-81ED-4DB2-BD59-A6C34878D82A}">
                    <a16:rowId xmlns:a16="http://schemas.microsoft.com/office/drawing/2014/main" val="3748049525"/>
                  </a:ext>
                </a:extLst>
              </a:tr>
              <a:tr h="120379">
                <a:tc>
                  <a:txBody>
                    <a:bodyPr/>
                    <a:lstStyle/>
                    <a:p>
                      <a:pPr algn="l" fontAlgn="b"/>
                      <a:r>
                        <a:rPr lang="en-US" sz="900" u="none" strike="noStrike">
                          <a:effectLst/>
                          <a:latin typeface="+mn-lt"/>
                        </a:rPr>
                        <a:t>MSC Vertriebs GmbH</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1363</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154717</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156080</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EA2</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1</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156080</a:t>
                      </a:r>
                      <a:endParaRPr lang="en-US" sz="900" b="0" i="0" u="none" strike="noStrike">
                        <a:solidFill>
                          <a:srgbClr val="000000"/>
                        </a:solidFill>
                        <a:effectLst/>
                        <a:latin typeface="+mn-lt"/>
                      </a:endParaRPr>
                    </a:p>
                  </a:txBody>
                  <a:tcPr marL="5734" marR="5734" marT="5734" marB="0" anchor="b"/>
                </a:tc>
                <a:tc>
                  <a:txBody>
                    <a:bodyPr/>
                    <a:lstStyle/>
                    <a:p>
                      <a:pPr algn="r" fontAlgn="b"/>
                      <a:r>
                        <a:rPr lang="en-US" sz="900" u="none" strike="noStrike">
                          <a:effectLst/>
                          <a:latin typeface="+mn-lt"/>
                        </a:rPr>
                        <a:t>1.3%</a:t>
                      </a:r>
                      <a:endParaRPr lang="en-US" sz="900" b="0" i="0" u="none" strike="noStrike">
                        <a:solidFill>
                          <a:srgbClr val="000000"/>
                        </a:solidFill>
                        <a:effectLst/>
                        <a:latin typeface="+mn-lt"/>
                      </a:endParaRPr>
                    </a:p>
                  </a:txBody>
                  <a:tcPr marL="5734" marR="5734" marT="5734" marB="0" anchor="b"/>
                </a:tc>
                <a:extLst>
                  <a:ext uri="{0D108BD9-81ED-4DB2-BD59-A6C34878D82A}">
                    <a16:rowId xmlns:a16="http://schemas.microsoft.com/office/drawing/2014/main" val="4186266284"/>
                  </a:ext>
                </a:extLst>
              </a:tr>
              <a:tr h="120379">
                <a:tc>
                  <a:txBody>
                    <a:bodyPr/>
                    <a:lstStyle/>
                    <a:p>
                      <a:pPr algn="l" fontAlgn="b"/>
                      <a:r>
                        <a:rPr lang="en-US" sz="900" u="none" strike="noStrike">
                          <a:effectLst/>
                          <a:latin typeface="+mn-lt"/>
                        </a:rPr>
                        <a:t>Beckhoff GmbH</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100</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82350</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82450</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TEP</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1</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82450</a:t>
                      </a:r>
                      <a:endParaRPr lang="en-US" sz="900" b="0" i="0" u="none" strike="noStrike">
                        <a:solidFill>
                          <a:srgbClr val="000000"/>
                        </a:solidFill>
                        <a:effectLst/>
                        <a:latin typeface="+mn-lt"/>
                      </a:endParaRPr>
                    </a:p>
                  </a:txBody>
                  <a:tcPr marL="5734" marR="5734" marT="5734" marB="0" anchor="b"/>
                </a:tc>
                <a:tc>
                  <a:txBody>
                    <a:bodyPr/>
                    <a:lstStyle/>
                    <a:p>
                      <a:pPr algn="r" fontAlgn="b"/>
                      <a:r>
                        <a:rPr lang="en-US" sz="900" u="none" strike="noStrike">
                          <a:effectLst/>
                          <a:latin typeface="+mn-lt"/>
                        </a:rPr>
                        <a:t>0.7%</a:t>
                      </a:r>
                      <a:endParaRPr lang="en-US" sz="900" b="0" i="0" u="none" strike="noStrike">
                        <a:solidFill>
                          <a:srgbClr val="000000"/>
                        </a:solidFill>
                        <a:effectLst/>
                        <a:latin typeface="+mn-lt"/>
                      </a:endParaRPr>
                    </a:p>
                  </a:txBody>
                  <a:tcPr marL="5734" marR="5734" marT="5734" marB="0" anchor="b"/>
                </a:tc>
                <a:extLst>
                  <a:ext uri="{0D108BD9-81ED-4DB2-BD59-A6C34878D82A}">
                    <a16:rowId xmlns:a16="http://schemas.microsoft.com/office/drawing/2014/main" val="482221892"/>
                  </a:ext>
                </a:extLst>
              </a:tr>
              <a:tr h="120379">
                <a:tc>
                  <a:txBody>
                    <a:bodyPr/>
                    <a:lstStyle/>
                    <a:p>
                      <a:pPr algn="l" fontAlgn="b"/>
                      <a:r>
                        <a:rPr lang="en-US" sz="900" u="none" strike="noStrike">
                          <a:effectLst/>
                          <a:latin typeface="+mn-lt"/>
                        </a:rPr>
                        <a:t>Hitachi</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r" fontAlgn="b"/>
                      <a:r>
                        <a:rPr lang="en-US" sz="900" u="none" strike="noStrike">
                          <a:effectLst/>
                          <a:latin typeface="+mn-lt"/>
                        </a:rPr>
                        <a:t>0.0%</a:t>
                      </a:r>
                      <a:endParaRPr lang="en-US" sz="900" b="0" i="0" u="none" strike="noStrike">
                        <a:solidFill>
                          <a:srgbClr val="000000"/>
                        </a:solidFill>
                        <a:effectLst/>
                        <a:latin typeface="+mn-lt"/>
                      </a:endParaRPr>
                    </a:p>
                  </a:txBody>
                  <a:tcPr marL="5734" marR="5734" marT="5734" marB="0" anchor="b"/>
                </a:tc>
                <a:extLst>
                  <a:ext uri="{0D108BD9-81ED-4DB2-BD59-A6C34878D82A}">
                    <a16:rowId xmlns:a16="http://schemas.microsoft.com/office/drawing/2014/main" val="2171465480"/>
                  </a:ext>
                </a:extLst>
              </a:tr>
              <a:tr h="120379">
                <a:tc>
                  <a:txBody>
                    <a:bodyPr/>
                    <a:lstStyle/>
                    <a:p>
                      <a:pPr algn="l" fontAlgn="b"/>
                      <a:r>
                        <a:rPr lang="en-US" sz="900" u="none" strike="noStrike">
                          <a:effectLst/>
                          <a:latin typeface="+mn-lt"/>
                        </a:rPr>
                        <a:t>Omron</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r" fontAlgn="b"/>
                      <a:r>
                        <a:rPr lang="en-US" sz="900" u="none" strike="noStrike">
                          <a:effectLst/>
                          <a:latin typeface="+mn-lt"/>
                        </a:rPr>
                        <a:t>0.0%</a:t>
                      </a:r>
                      <a:endParaRPr lang="en-US" sz="900" b="0" i="0" u="none" strike="noStrike">
                        <a:solidFill>
                          <a:srgbClr val="000000"/>
                        </a:solidFill>
                        <a:effectLst/>
                        <a:latin typeface="+mn-lt"/>
                      </a:endParaRPr>
                    </a:p>
                  </a:txBody>
                  <a:tcPr marL="5734" marR="5734" marT="5734" marB="0" anchor="b"/>
                </a:tc>
                <a:extLst>
                  <a:ext uri="{0D108BD9-81ED-4DB2-BD59-A6C34878D82A}">
                    <a16:rowId xmlns:a16="http://schemas.microsoft.com/office/drawing/2014/main" val="466510187"/>
                  </a:ext>
                </a:extLst>
              </a:tr>
              <a:tr h="120379">
                <a:tc>
                  <a:txBody>
                    <a:bodyPr/>
                    <a:lstStyle/>
                    <a:p>
                      <a:pPr algn="l" fontAlgn="b"/>
                      <a:r>
                        <a:rPr lang="en-US" sz="900" u="none" strike="noStrike">
                          <a:effectLst/>
                          <a:latin typeface="+mn-lt"/>
                        </a:rPr>
                        <a:t>SECO</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r" fontAlgn="b"/>
                      <a:r>
                        <a:rPr lang="en-US" sz="900" u="none" strike="noStrike">
                          <a:effectLst/>
                          <a:latin typeface="+mn-lt"/>
                        </a:rPr>
                        <a:t>0.0%</a:t>
                      </a:r>
                      <a:endParaRPr lang="en-US" sz="900" b="0" i="0" u="none" strike="noStrike">
                        <a:solidFill>
                          <a:srgbClr val="000000"/>
                        </a:solidFill>
                        <a:effectLst/>
                        <a:latin typeface="+mn-lt"/>
                      </a:endParaRPr>
                    </a:p>
                  </a:txBody>
                  <a:tcPr marL="5734" marR="5734" marT="5734" marB="0" anchor="b"/>
                </a:tc>
                <a:extLst>
                  <a:ext uri="{0D108BD9-81ED-4DB2-BD59-A6C34878D82A}">
                    <a16:rowId xmlns:a16="http://schemas.microsoft.com/office/drawing/2014/main" val="511008557"/>
                  </a:ext>
                </a:extLst>
              </a:tr>
              <a:tr h="120379">
                <a:tc>
                  <a:txBody>
                    <a:bodyPr/>
                    <a:lstStyle/>
                    <a:p>
                      <a:pPr algn="l" fontAlgn="b"/>
                      <a:r>
                        <a:rPr lang="en-US" sz="900" u="none" strike="noStrike">
                          <a:effectLst/>
                          <a:latin typeface="+mn-lt"/>
                        </a:rPr>
                        <a:t>Siemens</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r" fontAlgn="b"/>
                      <a:r>
                        <a:rPr lang="en-US" sz="900" u="none" strike="noStrike">
                          <a:effectLst/>
                          <a:latin typeface="+mn-lt"/>
                        </a:rPr>
                        <a:t>0.0%</a:t>
                      </a:r>
                      <a:endParaRPr lang="en-US" sz="900" b="0" i="0" u="none" strike="noStrike">
                        <a:solidFill>
                          <a:srgbClr val="000000"/>
                        </a:solidFill>
                        <a:effectLst/>
                        <a:latin typeface="+mn-lt"/>
                      </a:endParaRPr>
                    </a:p>
                  </a:txBody>
                  <a:tcPr marL="5734" marR="5734" marT="5734" marB="0" anchor="b"/>
                </a:tc>
                <a:extLst>
                  <a:ext uri="{0D108BD9-81ED-4DB2-BD59-A6C34878D82A}">
                    <a16:rowId xmlns:a16="http://schemas.microsoft.com/office/drawing/2014/main" val="1003072077"/>
                  </a:ext>
                </a:extLst>
              </a:tr>
              <a:tr h="120379">
                <a:tc>
                  <a:txBody>
                    <a:bodyPr/>
                    <a:lstStyle/>
                    <a:p>
                      <a:pPr algn="l" fontAlgn="b"/>
                      <a:r>
                        <a:rPr lang="en-US" sz="900" u="none" strike="noStrike">
                          <a:effectLst/>
                          <a:latin typeface="+mn-lt"/>
                        </a:rPr>
                        <a:t>TQ</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r" fontAlgn="b"/>
                      <a:r>
                        <a:rPr lang="en-US" sz="900" u="none" strike="noStrike">
                          <a:effectLst/>
                          <a:latin typeface="+mn-lt"/>
                        </a:rPr>
                        <a:t>0.0%</a:t>
                      </a:r>
                      <a:endParaRPr lang="en-US" sz="900" b="0" i="0" u="none" strike="noStrike">
                        <a:solidFill>
                          <a:srgbClr val="000000"/>
                        </a:solidFill>
                        <a:effectLst/>
                        <a:latin typeface="+mn-lt"/>
                      </a:endParaRPr>
                    </a:p>
                  </a:txBody>
                  <a:tcPr marL="5734" marR="5734" marT="5734" marB="0" anchor="b"/>
                </a:tc>
                <a:extLst>
                  <a:ext uri="{0D108BD9-81ED-4DB2-BD59-A6C34878D82A}">
                    <a16:rowId xmlns:a16="http://schemas.microsoft.com/office/drawing/2014/main" val="3450255304"/>
                  </a:ext>
                </a:extLst>
              </a:tr>
              <a:tr h="120379">
                <a:tc>
                  <a:txBody>
                    <a:bodyPr/>
                    <a:lstStyle/>
                    <a:p>
                      <a:pPr algn="l" fontAlgn="b"/>
                      <a:r>
                        <a:rPr lang="en-US" sz="900" u="none" strike="noStrike">
                          <a:effectLst/>
                          <a:latin typeface="+mn-lt"/>
                        </a:rPr>
                        <a:t>Weibu</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ctr" fontAlgn="b"/>
                      <a:r>
                        <a:rPr lang="en-US" sz="900" u="none" strike="noStrike">
                          <a:effectLst/>
                          <a:latin typeface="+mn-lt"/>
                        </a:rPr>
                        <a:t> </a:t>
                      </a:r>
                      <a:endParaRPr lang="en-US" sz="900" b="0" i="0" u="none" strike="noStrike">
                        <a:solidFill>
                          <a:srgbClr val="000000"/>
                        </a:solidFill>
                        <a:effectLst/>
                        <a:latin typeface="+mn-lt"/>
                      </a:endParaRPr>
                    </a:p>
                  </a:txBody>
                  <a:tcPr marL="5734" marR="5734" marT="5734" marB="0" anchor="b"/>
                </a:tc>
                <a:tc>
                  <a:txBody>
                    <a:bodyPr/>
                    <a:lstStyle/>
                    <a:p>
                      <a:pPr algn="r" fontAlgn="b"/>
                      <a:r>
                        <a:rPr lang="en-US" sz="900" u="none" strike="noStrike">
                          <a:effectLst/>
                          <a:latin typeface="+mn-lt"/>
                        </a:rPr>
                        <a:t>0.0%</a:t>
                      </a:r>
                      <a:endParaRPr lang="en-US" sz="900" b="0" i="0" u="none" strike="noStrike">
                        <a:solidFill>
                          <a:srgbClr val="000000"/>
                        </a:solidFill>
                        <a:effectLst/>
                        <a:latin typeface="+mn-lt"/>
                      </a:endParaRPr>
                    </a:p>
                  </a:txBody>
                  <a:tcPr marL="5734" marR="5734" marT="5734" marB="0" anchor="b"/>
                </a:tc>
                <a:extLst>
                  <a:ext uri="{0D108BD9-81ED-4DB2-BD59-A6C34878D82A}">
                    <a16:rowId xmlns:a16="http://schemas.microsoft.com/office/drawing/2014/main" val="2218398052"/>
                  </a:ext>
                </a:extLst>
              </a:tr>
              <a:tr h="120379">
                <a:tc>
                  <a:txBody>
                    <a:bodyPr/>
                    <a:lstStyle/>
                    <a:p>
                      <a:pPr algn="l" fontAlgn="b"/>
                      <a:endParaRPr lang="en-US" sz="900" b="0" i="0" u="none" strike="noStrike">
                        <a:solidFill>
                          <a:srgbClr val="000000"/>
                        </a:solidFill>
                        <a:effectLst/>
                        <a:latin typeface="+mn-lt"/>
                      </a:endParaRPr>
                    </a:p>
                  </a:txBody>
                  <a:tcPr marL="5734" marR="5734" marT="5734" marB="0" anchor="b"/>
                </a:tc>
                <a:tc>
                  <a:txBody>
                    <a:bodyPr/>
                    <a:lstStyle/>
                    <a:p>
                      <a:pPr algn="ctr" fontAlgn="b"/>
                      <a:endParaRPr lang="en-US" sz="900" b="0" i="0" u="none" strike="noStrike">
                        <a:solidFill>
                          <a:srgbClr val="000000"/>
                        </a:solidFill>
                        <a:effectLst/>
                        <a:latin typeface="+mn-lt"/>
                      </a:endParaRPr>
                    </a:p>
                  </a:txBody>
                  <a:tcPr marL="5734" marR="5734" marT="5734" marB="0" anchor="b"/>
                </a:tc>
                <a:tc>
                  <a:txBody>
                    <a:bodyPr/>
                    <a:lstStyle/>
                    <a:p>
                      <a:pPr algn="ctr" fontAlgn="b"/>
                      <a:endParaRPr lang="en-US" sz="900" b="0" i="0" u="none" strike="noStrike">
                        <a:solidFill>
                          <a:srgbClr val="000000"/>
                        </a:solidFill>
                        <a:effectLst/>
                        <a:latin typeface="+mn-lt"/>
                      </a:endParaRPr>
                    </a:p>
                  </a:txBody>
                  <a:tcPr marL="5734" marR="5734" marT="5734" marB="0" anchor="b"/>
                </a:tc>
                <a:tc>
                  <a:txBody>
                    <a:bodyPr/>
                    <a:lstStyle/>
                    <a:p>
                      <a:pPr algn="ctr" fontAlgn="b"/>
                      <a:endParaRPr lang="en-US" sz="900" b="0" i="0" u="none" strike="noStrike">
                        <a:solidFill>
                          <a:srgbClr val="000000"/>
                        </a:solidFill>
                        <a:effectLst/>
                        <a:latin typeface="+mn-lt"/>
                      </a:endParaRPr>
                    </a:p>
                  </a:txBody>
                  <a:tcPr marL="5734" marR="5734" marT="5734" marB="0" anchor="b"/>
                </a:tc>
                <a:tc>
                  <a:txBody>
                    <a:bodyPr/>
                    <a:lstStyle/>
                    <a:p>
                      <a:pPr algn="ctr" fontAlgn="b"/>
                      <a:endParaRPr lang="en-US" sz="900" b="0" i="0" u="none" strike="noStrike">
                        <a:solidFill>
                          <a:srgbClr val="000000"/>
                        </a:solidFill>
                        <a:effectLst/>
                        <a:latin typeface="+mn-lt"/>
                      </a:endParaRPr>
                    </a:p>
                  </a:txBody>
                  <a:tcPr marL="5734" marR="5734" marT="5734" marB="0" anchor="b"/>
                </a:tc>
                <a:tc>
                  <a:txBody>
                    <a:bodyPr/>
                    <a:lstStyle/>
                    <a:p>
                      <a:pPr algn="ctr" fontAlgn="b"/>
                      <a:endParaRPr lang="en-US" sz="900" b="0" i="0" u="none" strike="noStrike">
                        <a:solidFill>
                          <a:srgbClr val="000000"/>
                        </a:solidFill>
                        <a:effectLst/>
                        <a:latin typeface="+mn-lt"/>
                      </a:endParaRPr>
                    </a:p>
                  </a:txBody>
                  <a:tcPr marL="5734" marR="5734" marT="5734" marB="0" anchor="b"/>
                </a:tc>
                <a:tc>
                  <a:txBody>
                    <a:bodyPr/>
                    <a:lstStyle/>
                    <a:p>
                      <a:pPr algn="ctr" fontAlgn="b"/>
                      <a:endParaRPr lang="en-US" sz="900" b="0" i="0" u="none" strike="noStrike">
                        <a:solidFill>
                          <a:srgbClr val="000000"/>
                        </a:solidFill>
                        <a:effectLst/>
                        <a:latin typeface="+mn-lt"/>
                      </a:endParaRPr>
                    </a:p>
                  </a:txBody>
                  <a:tcPr marL="5734" marR="5734" marT="5734" marB="0" anchor="b"/>
                </a:tc>
                <a:tc>
                  <a:txBody>
                    <a:bodyPr/>
                    <a:lstStyle/>
                    <a:p>
                      <a:pPr algn="ctr" fontAlgn="b"/>
                      <a:endParaRPr lang="en-US" sz="900" b="0" i="0" u="none" strike="noStrike">
                        <a:solidFill>
                          <a:srgbClr val="000000"/>
                        </a:solidFill>
                        <a:effectLst/>
                        <a:latin typeface="+mn-lt"/>
                      </a:endParaRPr>
                    </a:p>
                  </a:txBody>
                  <a:tcPr marL="5734" marR="5734" marT="5734" marB="0" anchor="b"/>
                </a:tc>
                <a:tc>
                  <a:txBody>
                    <a:bodyPr/>
                    <a:lstStyle/>
                    <a:p>
                      <a:pPr algn="r" fontAlgn="b"/>
                      <a:r>
                        <a:rPr lang="en-US" sz="900" u="none" strike="noStrike" dirty="0">
                          <a:effectLst/>
                          <a:latin typeface="+mn-lt"/>
                        </a:rPr>
                        <a:t>18.2%</a:t>
                      </a:r>
                      <a:endParaRPr lang="en-US" sz="900" b="0" i="0" u="none" strike="noStrike" dirty="0">
                        <a:solidFill>
                          <a:srgbClr val="000000"/>
                        </a:solidFill>
                        <a:effectLst/>
                        <a:latin typeface="+mn-lt"/>
                      </a:endParaRPr>
                    </a:p>
                  </a:txBody>
                  <a:tcPr marL="5734" marR="5734" marT="5734" marB="0" anchor="b"/>
                </a:tc>
                <a:extLst>
                  <a:ext uri="{0D108BD9-81ED-4DB2-BD59-A6C34878D82A}">
                    <a16:rowId xmlns:a16="http://schemas.microsoft.com/office/drawing/2014/main" val="369201038"/>
                  </a:ext>
                </a:extLst>
              </a:tr>
            </a:tbl>
          </a:graphicData>
        </a:graphic>
      </p:graphicFrame>
      <p:sp>
        <p:nvSpPr>
          <p:cNvPr id="8" name="TextBox 7">
            <a:extLst>
              <a:ext uri="{FF2B5EF4-FFF2-40B4-BE49-F238E27FC236}">
                <a16:creationId xmlns:a16="http://schemas.microsoft.com/office/drawing/2014/main" id="{BCC80A79-CF3E-471E-8C53-8BF6A1CAC1CA}"/>
              </a:ext>
            </a:extLst>
          </p:cNvPr>
          <p:cNvSpPr txBox="1"/>
          <p:nvPr/>
        </p:nvSpPr>
        <p:spPr>
          <a:xfrm>
            <a:off x="462426" y="4585171"/>
            <a:ext cx="8197689" cy="215444"/>
          </a:xfrm>
          <a:prstGeom prst="rect">
            <a:avLst/>
          </a:prstGeom>
          <a:solidFill>
            <a:srgbClr val="FFFF00"/>
          </a:solidFill>
        </p:spPr>
        <p:txBody>
          <a:bodyPr vert="horz" wrap="square" lIns="0" tIns="0" rIns="0" bIns="0" rtlCol="0">
            <a:spAutoFit/>
          </a:bodyPr>
          <a:lstStyle/>
          <a:p>
            <a:r>
              <a:rPr lang="en-US" sz="1400" b="1" dirty="0">
                <a:solidFill>
                  <a:srgbClr val="00B050"/>
                </a:solidFill>
              </a:rPr>
              <a:t>This Customer Survey represents ~52% (14/27) of the EHL TEP &amp; Phase 1 Customers</a:t>
            </a:r>
          </a:p>
        </p:txBody>
      </p:sp>
      <p:pic>
        <p:nvPicPr>
          <p:cNvPr id="5" name="Picture 4">
            <a:extLst>
              <a:ext uri="{FF2B5EF4-FFF2-40B4-BE49-F238E27FC236}">
                <a16:creationId xmlns:a16="http://schemas.microsoft.com/office/drawing/2014/main" id="{A2AC23F9-6D86-419F-ADD4-4174A0096DF9}"/>
              </a:ext>
            </a:extLst>
          </p:cNvPr>
          <p:cNvPicPr>
            <a:picLocks noChangeAspect="1"/>
          </p:cNvPicPr>
          <p:nvPr/>
        </p:nvPicPr>
        <p:blipFill>
          <a:blip r:embed="rId3"/>
          <a:stretch>
            <a:fillRect/>
          </a:stretch>
        </p:blipFill>
        <p:spPr>
          <a:xfrm>
            <a:off x="468145" y="3126780"/>
            <a:ext cx="2869871" cy="1456116"/>
          </a:xfrm>
          <a:prstGeom prst="rect">
            <a:avLst/>
          </a:prstGeom>
        </p:spPr>
      </p:pic>
      <p:pic>
        <p:nvPicPr>
          <p:cNvPr id="6" name="Picture 5">
            <a:extLst>
              <a:ext uri="{FF2B5EF4-FFF2-40B4-BE49-F238E27FC236}">
                <a16:creationId xmlns:a16="http://schemas.microsoft.com/office/drawing/2014/main" id="{F78223EC-DE47-4855-B159-F7C2FE8A567D}"/>
              </a:ext>
            </a:extLst>
          </p:cNvPr>
          <p:cNvPicPr>
            <a:picLocks noChangeAspect="1"/>
          </p:cNvPicPr>
          <p:nvPr/>
        </p:nvPicPr>
        <p:blipFill>
          <a:blip r:embed="rId4"/>
          <a:stretch>
            <a:fillRect/>
          </a:stretch>
        </p:blipFill>
        <p:spPr>
          <a:xfrm>
            <a:off x="3218110" y="4373981"/>
            <a:ext cx="3261643" cy="205758"/>
          </a:xfrm>
          <a:prstGeom prst="rect">
            <a:avLst/>
          </a:prstGeom>
        </p:spPr>
      </p:pic>
    </p:spTree>
    <p:extLst>
      <p:ext uri="{BB962C8B-B14F-4D97-AF65-F5344CB8AC3E}">
        <p14:creationId xmlns:p14="http://schemas.microsoft.com/office/powerpoint/2010/main" val="769196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E42ED0-125A-4BED-B975-1B25B5A47663}"/>
              </a:ext>
            </a:extLst>
          </p:cNvPr>
          <p:cNvSpPr>
            <a:spLocks noGrp="1"/>
          </p:cNvSpPr>
          <p:nvPr>
            <p:ph type="sldNum" sz="quarter" idx="12"/>
          </p:nvPr>
        </p:nvSpPr>
        <p:spPr/>
        <p:txBody>
          <a:bodyPr/>
          <a:lstStyle/>
          <a:p>
            <a:fld id="{EE2556C5-CE8C-6547-B838-EA80C61A4AF7}" type="slidenum">
              <a:rPr lang="en-US" smtClean="0"/>
              <a:pPr/>
              <a:t>12</a:t>
            </a:fld>
            <a:endParaRPr lang="en-US" dirty="0"/>
          </a:p>
        </p:txBody>
      </p:sp>
      <p:sp>
        <p:nvSpPr>
          <p:cNvPr id="3" name="Title 2">
            <a:extLst>
              <a:ext uri="{FF2B5EF4-FFF2-40B4-BE49-F238E27FC236}">
                <a16:creationId xmlns:a16="http://schemas.microsoft.com/office/drawing/2014/main" id="{D4DD82C2-DC62-4A3F-A315-2AE6B59E9F45}"/>
              </a:ext>
            </a:extLst>
          </p:cNvPr>
          <p:cNvSpPr>
            <a:spLocks noGrp="1"/>
          </p:cNvSpPr>
          <p:nvPr>
            <p:ph type="title"/>
          </p:nvPr>
        </p:nvSpPr>
        <p:spPr>
          <a:xfrm>
            <a:off x="381309" y="-48496"/>
            <a:ext cx="6223338" cy="388675"/>
          </a:xfrm>
        </p:spPr>
        <p:txBody>
          <a:bodyPr/>
          <a:lstStyle/>
          <a:p>
            <a:r>
              <a:rPr lang="en-US" dirty="0"/>
              <a:t>Survey Summary Information (Page 1 of 2)</a:t>
            </a:r>
          </a:p>
        </p:txBody>
      </p:sp>
      <p:graphicFrame>
        <p:nvGraphicFramePr>
          <p:cNvPr id="5" name="Table 4">
            <a:extLst>
              <a:ext uri="{FF2B5EF4-FFF2-40B4-BE49-F238E27FC236}">
                <a16:creationId xmlns:a16="http://schemas.microsoft.com/office/drawing/2014/main" id="{53E616CB-5B3B-41DC-9599-C481B6FAE6D9}"/>
              </a:ext>
            </a:extLst>
          </p:cNvPr>
          <p:cNvGraphicFramePr>
            <a:graphicFrameLocks noGrp="1"/>
          </p:cNvGraphicFramePr>
          <p:nvPr>
            <p:extLst>
              <p:ext uri="{D42A27DB-BD31-4B8C-83A1-F6EECF244321}">
                <p14:modId xmlns:p14="http://schemas.microsoft.com/office/powerpoint/2010/main" val="20997094"/>
              </p:ext>
            </p:extLst>
          </p:nvPr>
        </p:nvGraphicFramePr>
        <p:xfrm>
          <a:off x="403960" y="501414"/>
          <a:ext cx="8601991" cy="4351020"/>
        </p:xfrm>
        <a:graphic>
          <a:graphicData uri="http://schemas.openxmlformats.org/drawingml/2006/table">
            <a:tbl>
              <a:tblPr firstRow="1" bandRow="1">
                <a:tableStyleId>{5C22544A-7EE6-4342-B048-85BDC9FD1C3A}</a:tableStyleId>
              </a:tblPr>
              <a:tblGrid>
                <a:gridCol w="982201">
                  <a:extLst>
                    <a:ext uri="{9D8B030D-6E8A-4147-A177-3AD203B41FA5}">
                      <a16:colId xmlns:a16="http://schemas.microsoft.com/office/drawing/2014/main" val="2760948698"/>
                    </a:ext>
                  </a:extLst>
                </a:gridCol>
                <a:gridCol w="7619790">
                  <a:extLst>
                    <a:ext uri="{9D8B030D-6E8A-4147-A177-3AD203B41FA5}">
                      <a16:colId xmlns:a16="http://schemas.microsoft.com/office/drawing/2014/main" val="1220083597"/>
                    </a:ext>
                  </a:extLst>
                </a:gridCol>
              </a:tblGrid>
              <a:tr h="231693">
                <a:tc>
                  <a:txBody>
                    <a:bodyPr/>
                    <a:lstStyle/>
                    <a:p>
                      <a:r>
                        <a:rPr lang="en-US" sz="1050" b="1" dirty="0">
                          <a:solidFill>
                            <a:schemeClr val="tx1"/>
                          </a:solidFill>
                        </a:rPr>
                        <a:t>Customer</a:t>
                      </a:r>
                    </a:p>
                  </a:txBody>
                  <a:tcPr/>
                </a:tc>
                <a:tc>
                  <a:txBody>
                    <a:bodyPr/>
                    <a:lstStyle/>
                    <a:p>
                      <a:r>
                        <a:rPr lang="en-US" sz="1050" dirty="0">
                          <a:solidFill>
                            <a:schemeClr val="tx1"/>
                          </a:solidFill>
                        </a:rPr>
                        <a:t>Market Segment</a:t>
                      </a:r>
                    </a:p>
                  </a:txBody>
                  <a:tcPr/>
                </a:tc>
                <a:extLst>
                  <a:ext uri="{0D108BD9-81ED-4DB2-BD59-A6C34878D82A}">
                    <a16:rowId xmlns:a16="http://schemas.microsoft.com/office/drawing/2014/main" val="123338668"/>
                  </a:ext>
                </a:extLst>
              </a:tr>
              <a:tr h="231693">
                <a:tc>
                  <a:txBody>
                    <a:bodyPr/>
                    <a:lstStyle/>
                    <a:p>
                      <a:endParaRPr lang="en-US" sz="1050" b="1" dirty="0">
                        <a:solidFill>
                          <a:schemeClr val="tx1"/>
                        </a:solidFill>
                      </a:endParaRPr>
                    </a:p>
                  </a:txBody>
                  <a:tcPr/>
                </a:tc>
                <a:tc>
                  <a:txBody>
                    <a:bodyPr/>
                    <a:lstStyle/>
                    <a:p>
                      <a:r>
                        <a:rPr lang="en-US" sz="800" b="1" dirty="0">
                          <a:solidFill>
                            <a:schemeClr val="tx1"/>
                          </a:solidFill>
                        </a:rPr>
                        <a:t>Market segment for the product</a:t>
                      </a:r>
                    </a:p>
                  </a:txBody>
                  <a:tcPr/>
                </a:tc>
                <a:extLst>
                  <a:ext uri="{0D108BD9-81ED-4DB2-BD59-A6C34878D82A}">
                    <a16:rowId xmlns:a16="http://schemas.microsoft.com/office/drawing/2014/main" val="1482444361"/>
                  </a:ext>
                </a:extLst>
              </a:tr>
              <a:tr h="231693">
                <a:tc>
                  <a:txBody>
                    <a:bodyPr/>
                    <a:lstStyle/>
                    <a:p>
                      <a:r>
                        <a:rPr lang="en-US" sz="1050" b="1" dirty="0"/>
                        <a:t>Adlink</a:t>
                      </a:r>
                    </a:p>
                  </a:txBody>
                  <a:tcPr/>
                </a:tc>
                <a:tc>
                  <a:txBody>
                    <a:bodyPr/>
                    <a:lstStyle/>
                    <a:p>
                      <a:r>
                        <a:rPr lang="en-US" sz="800" dirty="0"/>
                        <a:t>Industrial &amp; EBM (designing a COM module, a generic </a:t>
                      </a:r>
                      <a:r>
                        <a:rPr lang="en-US" sz="800" dirty="0" err="1"/>
                        <a:t>soln</a:t>
                      </a:r>
                      <a:r>
                        <a:rPr lang="en-US" sz="800" dirty="0"/>
                        <a:t>, to be used in medical, defense, transportation &amp; robotics segments)</a:t>
                      </a:r>
                    </a:p>
                  </a:txBody>
                  <a:tcPr/>
                </a:tc>
                <a:extLst>
                  <a:ext uri="{0D108BD9-81ED-4DB2-BD59-A6C34878D82A}">
                    <a16:rowId xmlns:a16="http://schemas.microsoft.com/office/drawing/2014/main" val="1294788571"/>
                  </a:ext>
                </a:extLst>
              </a:tr>
              <a:tr h="231693">
                <a:tc>
                  <a:txBody>
                    <a:bodyPr/>
                    <a:lstStyle/>
                    <a:p>
                      <a:r>
                        <a:rPr lang="en-US" sz="1050" b="1" dirty="0"/>
                        <a:t>Advantech</a:t>
                      </a:r>
                    </a:p>
                  </a:txBody>
                  <a:tcPr/>
                </a:tc>
                <a:tc>
                  <a:txBody>
                    <a:bodyPr/>
                    <a:lstStyle/>
                    <a:p>
                      <a:r>
                        <a:rPr lang="en-US" sz="800" dirty="0"/>
                        <a:t>AIMB-218 plan go into digital signage, EBM, Industrial, kiosk, and Automation market</a:t>
                      </a:r>
                    </a:p>
                  </a:txBody>
                  <a:tcPr/>
                </a:tc>
                <a:extLst>
                  <a:ext uri="{0D108BD9-81ED-4DB2-BD59-A6C34878D82A}">
                    <a16:rowId xmlns:a16="http://schemas.microsoft.com/office/drawing/2014/main" val="3005190972"/>
                  </a:ext>
                </a:extLst>
              </a:tr>
              <a:tr h="231693">
                <a:tc>
                  <a:txBody>
                    <a:bodyPr/>
                    <a:lstStyle/>
                    <a:p>
                      <a:r>
                        <a:rPr lang="en-US" sz="1050" b="1" dirty="0"/>
                        <a:t>Aaeon</a:t>
                      </a:r>
                    </a:p>
                  </a:txBody>
                  <a:tcPr/>
                </a:tc>
                <a:tc>
                  <a:txBody>
                    <a:bodyPr/>
                    <a:lstStyle/>
                    <a:p>
                      <a:r>
                        <a:rPr lang="en-US" sz="800" dirty="0"/>
                        <a:t>Industrial</a:t>
                      </a:r>
                    </a:p>
                  </a:txBody>
                  <a:tcPr/>
                </a:tc>
                <a:extLst>
                  <a:ext uri="{0D108BD9-81ED-4DB2-BD59-A6C34878D82A}">
                    <a16:rowId xmlns:a16="http://schemas.microsoft.com/office/drawing/2014/main" val="2334986731"/>
                  </a:ext>
                </a:extLst>
              </a:tr>
              <a:tr h="231693">
                <a:tc>
                  <a:txBody>
                    <a:bodyPr/>
                    <a:lstStyle/>
                    <a:p>
                      <a:r>
                        <a:rPr lang="en-US" sz="1050" b="1" dirty="0"/>
                        <a:t>Beckhoff</a:t>
                      </a:r>
                    </a:p>
                  </a:txBody>
                  <a:tcPr/>
                </a:tc>
                <a:tc>
                  <a:txBody>
                    <a:bodyPr/>
                    <a:lstStyle/>
                    <a:p>
                      <a:r>
                        <a:rPr lang="en-US" sz="800" dirty="0">
                          <a:solidFill>
                            <a:srgbClr val="FF0000"/>
                          </a:solidFill>
                        </a:rPr>
                        <a:t>TBD</a:t>
                      </a:r>
                    </a:p>
                  </a:txBody>
                  <a:tcPr/>
                </a:tc>
                <a:extLst>
                  <a:ext uri="{0D108BD9-81ED-4DB2-BD59-A6C34878D82A}">
                    <a16:rowId xmlns:a16="http://schemas.microsoft.com/office/drawing/2014/main" val="2650027762"/>
                  </a:ext>
                </a:extLst>
              </a:tr>
              <a:tr h="231693">
                <a:tc>
                  <a:txBody>
                    <a:bodyPr/>
                    <a:lstStyle/>
                    <a:p>
                      <a:r>
                        <a:rPr lang="en-US" sz="1050" b="1" dirty="0"/>
                        <a:t>Congatec</a:t>
                      </a:r>
                    </a:p>
                  </a:txBody>
                  <a:tcPr/>
                </a:tc>
                <a:tc>
                  <a:txBody>
                    <a:bodyPr/>
                    <a:lstStyle/>
                    <a:p>
                      <a:r>
                        <a:rPr lang="en-US" sz="800" dirty="0"/>
                        <a:t>Plan to use in same segments as APL (PC Client, Embedded and Industrial. Not FuSA.)</a:t>
                      </a:r>
                    </a:p>
                  </a:txBody>
                  <a:tcPr/>
                </a:tc>
                <a:extLst>
                  <a:ext uri="{0D108BD9-81ED-4DB2-BD59-A6C34878D82A}">
                    <a16:rowId xmlns:a16="http://schemas.microsoft.com/office/drawing/2014/main" val="2926308342"/>
                  </a:ext>
                </a:extLst>
              </a:tr>
              <a:tr h="231693">
                <a:tc>
                  <a:txBody>
                    <a:bodyPr/>
                    <a:lstStyle/>
                    <a:p>
                      <a:r>
                        <a:rPr lang="en-US" sz="1050" b="1" dirty="0"/>
                        <a:t>Hitachi</a:t>
                      </a:r>
                    </a:p>
                  </a:txBody>
                  <a:tcPr/>
                </a:tc>
                <a:tc>
                  <a:txBody>
                    <a:bodyPr/>
                    <a:lstStyle/>
                    <a:p>
                      <a:r>
                        <a:rPr lang="en-US" sz="800" dirty="0"/>
                        <a:t>Industrial</a:t>
                      </a:r>
                    </a:p>
                  </a:txBody>
                  <a:tcPr/>
                </a:tc>
                <a:extLst>
                  <a:ext uri="{0D108BD9-81ED-4DB2-BD59-A6C34878D82A}">
                    <a16:rowId xmlns:a16="http://schemas.microsoft.com/office/drawing/2014/main" val="2513934432"/>
                  </a:ext>
                </a:extLst>
              </a:tr>
              <a:tr h="231693">
                <a:tc>
                  <a:txBody>
                    <a:bodyPr/>
                    <a:lstStyle/>
                    <a:p>
                      <a:r>
                        <a:rPr lang="en-US" sz="1050" b="1" dirty="0"/>
                        <a:t>IEI x QNAP</a:t>
                      </a:r>
                    </a:p>
                  </a:txBody>
                  <a:tcPr/>
                </a:tc>
                <a:tc>
                  <a:txBody>
                    <a:bodyPr/>
                    <a:lstStyle/>
                    <a:p>
                      <a:r>
                        <a:rPr lang="en-US" sz="800" dirty="0">
                          <a:solidFill>
                            <a:schemeClr val="tx1"/>
                          </a:solidFill>
                        </a:rPr>
                        <a:t>Industrial &amp; EBM</a:t>
                      </a:r>
                    </a:p>
                  </a:txBody>
                  <a:tcPr/>
                </a:tc>
                <a:extLst>
                  <a:ext uri="{0D108BD9-81ED-4DB2-BD59-A6C34878D82A}">
                    <a16:rowId xmlns:a16="http://schemas.microsoft.com/office/drawing/2014/main" val="190393241"/>
                  </a:ext>
                </a:extLst>
              </a:tr>
              <a:tr h="231693">
                <a:tc>
                  <a:txBody>
                    <a:bodyPr/>
                    <a:lstStyle/>
                    <a:p>
                      <a:r>
                        <a:rPr lang="en-US" sz="1050" b="1" dirty="0"/>
                        <a:t>Kontron</a:t>
                      </a:r>
                    </a:p>
                  </a:txBody>
                  <a:tcPr/>
                </a:tc>
                <a:tc>
                  <a:txBody>
                    <a:bodyPr/>
                    <a:lstStyle/>
                    <a:p>
                      <a:r>
                        <a:rPr lang="en-US" sz="800" dirty="0">
                          <a:solidFill>
                            <a:srgbClr val="FF0000"/>
                          </a:solidFill>
                        </a:rPr>
                        <a:t>TBD</a:t>
                      </a:r>
                      <a:endParaRPr lang="en-US" sz="800" dirty="0"/>
                    </a:p>
                  </a:txBody>
                  <a:tcPr/>
                </a:tc>
                <a:extLst>
                  <a:ext uri="{0D108BD9-81ED-4DB2-BD59-A6C34878D82A}">
                    <a16:rowId xmlns:a16="http://schemas.microsoft.com/office/drawing/2014/main" val="4035647758"/>
                  </a:ext>
                </a:extLst>
              </a:tr>
              <a:tr h="477429">
                <a:tc>
                  <a:txBody>
                    <a:bodyPr/>
                    <a:lstStyle/>
                    <a:p>
                      <a:r>
                        <a:rPr lang="en-US" sz="1050" b="1" dirty="0"/>
                        <a:t>MSC </a:t>
                      </a:r>
                      <a:r>
                        <a:rPr lang="en-US" sz="900" b="1" dirty="0"/>
                        <a:t>(Avnet)</a:t>
                      </a:r>
                      <a:endParaRPr lang="en-US" sz="1050" b="1" dirty="0"/>
                    </a:p>
                  </a:txBody>
                  <a:tcPr/>
                </a:tc>
                <a:tc>
                  <a:txBody>
                    <a:bodyPr/>
                    <a:lstStyle/>
                    <a:p>
                      <a:r>
                        <a:rPr lang="en-US" sz="800" dirty="0">
                          <a:solidFill>
                            <a:schemeClr val="tx1"/>
                          </a:solidFill>
                        </a:rPr>
                        <a:t>Industrial: We are making computer modules according to industries standards like COM-Express, SMARC, Q7. We sell these modules into all kind of markets. Some do run 24 by 7 at high loads. In HMI applications they run often in sleep mode and wake up as the user requests something. Environmental wise we offer industrial temp modules (-40 to 85 C) as the highest standard. </a:t>
                      </a:r>
                    </a:p>
                    <a:p>
                      <a:r>
                        <a:rPr lang="en-US" sz="800" dirty="0">
                          <a:solidFill>
                            <a:schemeClr val="tx1"/>
                          </a:solidFill>
                        </a:rPr>
                        <a:t>PC Client: For other applications we produce PC-client type modules.</a:t>
                      </a:r>
                    </a:p>
                  </a:txBody>
                  <a:tcPr/>
                </a:tc>
                <a:extLst>
                  <a:ext uri="{0D108BD9-81ED-4DB2-BD59-A6C34878D82A}">
                    <a16:rowId xmlns:a16="http://schemas.microsoft.com/office/drawing/2014/main" val="2616575557"/>
                  </a:ext>
                </a:extLst>
              </a:tr>
              <a:tr h="231693">
                <a:tc>
                  <a:txBody>
                    <a:bodyPr/>
                    <a:lstStyle/>
                    <a:p>
                      <a:r>
                        <a:rPr lang="en-US" sz="1050" b="1" dirty="0"/>
                        <a:t>Omron</a:t>
                      </a:r>
                    </a:p>
                  </a:txBody>
                  <a:tcPr/>
                </a:tc>
                <a:tc>
                  <a:txBody>
                    <a:bodyPr/>
                    <a:lstStyle/>
                    <a:p>
                      <a:r>
                        <a:rPr lang="en-US" sz="800" dirty="0"/>
                        <a:t>Industrial</a:t>
                      </a:r>
                    </a:p>
                  </a:txBody>
                  <a:tcPr/>
                </a:tc>
                <a:extLst>
                  <a:ext uri="{0D108BD9-81ED-4DB2-BD59-A6C34878D82A}">
                    <a16:rowId xmlns:a16="http://schemas.microsoft.com/office/drawing/2014/main" val="2678999601"/>
                  </a:ext>
                </a:extLst>
              </a:tr>
              <a:tr h="231693">
                <a:tc>
                  <a:txBody>
                    <a:bodyPr/>
                    <a:lstStyle/>
                    <a:p>
                      <a:r>
                        <a:rPr lang="en-US" sz="1050" b="1" dirty="0"/>
                        <a:t>SECO</a:t>
                      </a:r>
                    </a:p>
                  </a:txBody>
                  <a:tcPr/>
                </a:tc>
                <a:tc>
                  <a:txBody>
                    <a:bodyPr/>
                    <a:lstStyle/>
                    <a:p>
                      <a:r>
                        <a:rPr lang="en-US" sz="800" dirty="0"/>
                        <a:t>FuSA and EBM</a:t>
                      </a:r>
                    </a:p>
                  </a:txBody>
                  <a:tcPr/>
                </a:tc>
                <a:extLst>
                  <a:ext uri="{0D108BD9-81ED-4DB2-BD59-A6C34878D82A}">
                    <a16:rowId xmlns:a16="http://schemas.microsoft.com/office/drawing/2014/main" val="3432910154"/>
                  </a:ext>
                </a:extLst>
              </a:tr>
              <a:tr h="231693">
                <a:tc>
                  <a:txBody>
                    <a:bodyPr/>
                    <a:lstStyle/>
                    <a:p>
                      <a:r>
                        <a:rPr lang="en-US" sz="1050" b="1" dirty="0"/>
                        <a:t>Siemens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Industrial and EBM</a:t>
                      </a:r>
                    </a:p>
                  </a:txBody>
                  <a:tcPr/>
                </a:tc>
                <a:extLst>
                  <a:ext uri="{0D108BD9-81ED-4DB2-BD59-A6C34878D82A}">
                    <a16:rowId xmlns:a16="http://schemas.microsoft.com/office/drawing/2014/main" val="53297801"/>
                  </a:ext>
                </a:extLst>
              </a:tr>
              <a:tr h="231693">
                <a:tc>
                  <a:txBody>
                    <a:bodyPr/>
                    <a:lstStyle/>
                    <a:p>
                      <a:r>
                        <a:rPr lang="en-US" sz="1050" b="1" dirty="0"/>
                        <a:t>TQ</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EBM</a:t>
                      </a:r>
                    </a:p>
                  </a:txBody>
                  <a:tcPr/>
                </a:tc>
                <a:extLst>
                  <a:ext uri="{0D108BD9-81ED-4DB2-BD59-A6C34878D82A}">
                    <a16:rowId xmlns:a16="http://schemas.microsoft.com/office/drawing/2014/main" val="4015717281"/>
                  </a:ext>
                </a:extLst>
              </a:tr>
              <a:tr h="231693">
                <a:tc>
                  <a:txBody>
                    <a:bodyPr/>
                    <a:lstStyle/>
                    <a:p>
                      <a:r>
                        <a:rPr lang="en-US" sz="1050" b="1" dirty="0"/>
                        <a:t>Weibu</a:t>
                      </a:r>
                    </a:p>
                  </a:txBody>
                  <a:tcPr/>
                </a:tc>
                <a:tc>
                  <a:txBody>
                    <a:bodyPr/>
                    <a:lstStyle/>
                    <a:p>
                      <a:r>
                        <a:rPr lang="en-US" sz="800" dirty="0"/>
                        <a:t>PC Client</a:t>
                      </a:r>
                    </a:p>
                  </a:txBody>
                  <a:tcPr/>
                </a:tc>
                <a:extLst>
                  <a:ext uri="{0D108BD9-81ED-4DB2-BD59-A6C34878D82A}">
                    <a16:rowId xmlns:a16="http://schemas.microsoft.com/office/drawing/2014/main" val="3365675442"/>
                  </a:ext>
                </a:extLst>
              </a:tr>
            </a:tbl>
          </a:graphicData>
        </a:graphic>
      </p:graphicFrame>
      <p:sp>
        <p:nvSpPr>
          <p:cNvPr id="7" name="TextBox 6">
            <a:extLst>
              <a:ext uri="{FF2B5EF4-FFF2-40B4-BE49-F238E27FC236}">
                <a16:creationId xmlns:a16="http://schemas.microsoft.com/office/drawing/2014/main" id="{5ED71901-707F-4CEB-9FEA-B4E4BCF5D800}"/>
              </a:ext>
            </a:extLst>
          </p:cNvPr>
          <p:cNvSpPr txBox="1"/>
          <p:nvPr/>
        </p:nvSpPr>
        <p:spPr>
          <a:xfrm>
            <a:off x="402896" y="285970"/>
            <a:ext cx="2101513" cy="215444"/>
          </a:xfrm>
          <a:prstGeom prst="rect">
            <a:avLst/>
          </a:prstGeom>
          <a:noFill/>
        </p:spPr>
        <p:txBody>
          <a:bodyPr vert="horz" wrap="square" lIns="0" tIns="0" rIns="0" bIns="0" rtlCol="0">
            <a:spAutoFit/>
          </a:bodyPr>
          <a:lstStyle/>
          <a:p>
            <a:r>
              <a:rPr lang="en-US" sz="1400" b="1" dirty="0">
                <a:solidFill>
                  <a:srgbClr val="00B050"/>
                </a:solidFill>
              </a:rPr>
              <a:t>EHL Customers Surveyed</a:t>
            </a:r>
            <a:endParaRPr lang="en-US" sz="1100" b="1" dirty="0">
              <a:solidFill>
                <a:srgbClr val="003C71"/>
              </a:solidFill>
            </a:endParaRPr>
          </a:p>
        </p:txBody>
      </p:sp>
      <p:sp>
        <p:nvSpPr>
          <p:cNvPr id="4" name="TextBox 3">
            <a:extLst>
              <a:ext uri="{FF2B5EF4-FFF2-40B4-BE49-F238E27FC236}">
                <a16:creationId xmlns:a16="http://schemas.microsoft.com/office/drawing/2014/main" id="{6FC354BA-9A89-4A12-A782-810A4C8D88EF}"/>
              </a:ext>
            </a:extLst>
          </p:cNvPr>
          <p:cNvSpPr txBox="1"/>
          <p:nvPr/>
        </p:nvSpPr>
        <p:spPr>
          <a:xfrm>
            <a:off x="390279" y="4869046"/>
            <a:ext cx="7775258" cy="215444"/>
          </a:xfrm>
          <a:prstGeom prst="rect">
            <a:avLst/>
          </a:prstGeom>
          <a:solidFill>
            <a:srgbClr val="FFFF00"/>
          </a:solidFill>
        </p:spPr>
        <p:txBody>
          <a:bodyPr vert="horz" wrap="square" lIns="0" tIns="0" rIns="0" bIns="0" rtlCol="0">
            <a:spAutoFit/>
          </a:bodyPr>
          <a:lstStyle/>
          <a:p>
            <a:r>
              <a:rPr lang="en-US" sz="1400" b="1" dirty="0">
                <a:solidFill>
                  <a:srgbClr val="00B050"/>
                </a:solidFill>
              </a:rPr>
              <a:t>14 Total Customers Surveyed. 12 Customers have responded, working on 2 more responses.</a:t>
            </a:r>
          </a:p>
        </p:txBody>
      </p:sp>
    </p:spTree>
    <p:extLst>
      <p:ext uri="{BB962C8B-B14F-4D97-AF65-F5344CB8AC3E}">
        <p14:creationId xmlns:p14="http://schemas.microsoft.com/office/powerpoint/2010/main" val="367679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E42ED0-125A-4BED-B975-1B25B5A47663}"/>
              </a:ext>
            </a:extLst>
          </p:cNvPr>
          <p:cNvSpPr>
            <a:spLocks noGrp="1"/>
          </p:cNvSpPr>
          <p:nvPr>
            <p:ph type="sldNum" sz="quarter" idx="12"/>
          </p:nvPr>
        </p:nvSpPr>
        <p:spPr/>
        <p:txBody>
          <a:bodyPr/>
          <a:lstStyle/>
          <a:p>
            <a:fld id="{EE2556C5-CE8C-6547-B838-EA80C61A4AF7}" type="slidenum">
              <a:rPr lang="en-US" smtClean="0"/>
              <a:pPr/>
              <a:t>13</a:t>
            </a:fld>
            <a:endParaRPr lang="en-US" dirty="0"/>
          </a:p>
        </p:txBody>
      </p:sp>
      <p:sp>
        <p:nvSpPr>
          <p:cNvPr id="3" name="Title 2">
            <a:extLst>
              <a:ext uri="{FF2B5EF4-FFF2-40B4-BE49-F238E27FC236}">
                <a16:creationId xmlns:a16="http://schemas.microsoft.com/office/drawing/2014/main" id="{D4DD82C2-DC62-4A3F-A315-2AE6B59E9F45}"/>
              </a:ext>
            </a:extLst>
          </p:cNvPr>
          <p:cNvSpPr>
            <a:spLocks noGrp="1"/>
          </p:cNvSpPr>
          <p:nvPr>
            <p:ph type="title"/>
          </p:nvPr>
        </p:nvSpPr>
        <p:spPr>
          <a:xfrm>
            <a:off x="381309" y="3920"/>
            <a:ext cx="6095206" cy="388675"/>
          </a:xfrm>
        </p:spPr>
        <p:txBody>
          <a:bodyPr/>
          <a:lstStyle/>
          <a:p>
            <a:r>
              <a:rPr lang="en-US" dirty="0"/>
              <a:t>Survey Summary Information (Page 2 of 2)</a:t>
            </a:r>
          </a:p>
        </p:txBody>
      </p:sp>
      <p:sp>
        <p:nvSpPr>
          <p:cNvPr id="4" name="TextBox 3">
            <a:extLst>
              <a:ext uri="{FF2B5EF4-FFF2-40B4-BE49-F238E27FC236}">
                <a16:creationId xmlns:a16="http://schemas.microsoft.com/office/drawing/2014/main" id="{6FC354BA-9A89-4A12-A782-810A4C8D88EF}"/>
              </a:ext>
            </a:extLst>
          </p:cNvPr>
          <p:cNvSpPr txBox="1"/>
          <p:nvPr/>
        </p:nvSpPr>
        <p:spPr>
          <a:xfrm>
            <a:off x="374537" y="483965"/>
            <a:ext cx="8631416" cy="4231928"/>
          </a:xfrm>
          <a:prstGeom prst="rect">
            <a:avLst/>
          </a:prstGeom>
          <a:noFill/>
        </p:spPr>
        <p:txBody>
          <a:bodyPr vert="horz" wrap="square" lIns="0" tIns="0" rIns="0" bIns="0" rtlCol="0">
            <a:spAutoFit/>
          </a:bodyPr>
          <a:lstStyle/>
          <a:p>
            <a:r>
              <a:rPr lang="en-US" sz="1100" b="1" dirty="0">
                <a:solidFill>
                  <a:srgbClr val="003C71"/>
                </a:solidFill>
              </a:rPr>
              <a:t>Product Power Cycles</a:t>
            </a:r>
          </a:p>
          <a:p>
            <a:pPr marL="171450" indent="-171450">
              <a:buFont typeface="Arial" panose="020B0604020202020204" pitchFamily="34" charset="0"/>
              <a:buChar char="•"/>
            </a:pPr>
            <a:r>
              <a:rPr lang="en-US" sz="1100" dirty="0">
                <a:solidFill>
                  <a:srgbClr val="003C71"/>
                </a:solidFill>
              </a:rPr>
              <a:t>Range of </a:t>
            </a:r>
            <a:r>
              <a:rPr lang="en-US" sz="1100" dirty="0">
                <a:solidFill>
                  <a:schemeClr val="accent3"/>
                </a:solidFill>
              </a:rPr>
              <a:t>Industrial</a:t>
            </a:r>
            <a:r>
              <a:rPr lang="en-US" sz="1100" dirty="0">
                <a:solidFill>
                  <a:srgbClr val="003C71"/>
                </a:solidFill>
              </a:rPr>
              <a:t> # power cycles (on to off) is 0 to 4 cycles per day</a:t>
            </a:r>
          </a:p>
          <a:p>
            <a:pPr marL="171450" indent="-171450">
              <a:buFont typeface="Arial" panose="020B0604020202020204" pitchFamily="34" charset="0"/>
              <a:buChar char="•"/>
            </a:pPr>
            <a:r>
              <a:rPr lang="en-US" sz="1100" dirty="0">
                <a:solidFill>
                  <a:srgbClr val="003C71"/>
                </a:solidFill>
              </a:rPr>
              <a:t>Range of </a:t>
            </a:r>
            <a:r>
              <a:rPr lang="en-US" sz="1100" dirty="0">
                <a:solidFill>
                  <a:srgbClr val="00B050"/>
                </a:solidFill>
              </a:rPr>
              <a:t>PC Client</a:t>
            </a:r>
            <a:r>
              <a:rPr lang="en-US" sz="1100" dirty="0">
                <a:solidFill>
                  <a:srgbClr val="003C71"/>
                </a:solidFill>
              </a:rPr>
              <a:t> # power cycles (on to off) is 1 cycles per day</a:t>
            </a:r>
          </a:p>
          <a:p>
            <a:pPr marL="171450" indent="-171450">
              <a:buFont typeface="Arial" panose="020B0604020202020204" pitchFamily="34" charset="0"/>
              <a:buChar char="•"/>
            </a:pPr>
            <a:r>
              <a:rPr lang="en-US" sz="1100" dirty="0">
                <a:solidFill>
                  <a:srgbClr val="003C71"/>
                </a:solidFill>
              </a:rPr>
              <a:t>Range of </a:t>
            </a:r>
            <a:r>
              <a:rPr lang="en-US" sz="1100" dirty="0">
                <a:solidFill>
                  <a:schemeClr val="accent3"/>
                </a:solidFill>
              </a:rPr>
              <a:t>Industrial</a:t>
            </a:r>
            <a:r>
              <a:rPr lang="en-US" sz="1100" dirty="0">
                <a:solidFill>
                  <a:srgbClr val="003C71"/>
                </a:solidFill>
              </a:rPr>
              <a:t> # power cycles (active-to-standby) is 0 to 20 cycles per day</a:t>
            </a:r>
          </a:p>
          <a:p>
            <a:pPr marL="171450" indent="-171450">
              <a:buFont typeface="Arial" panose="020B0604020202020204" pitchFamily="34" charset="0"/>
              <a:buChar char="•"/>
            </a:pPr>
            <a:r>
              <a:rPr lang="en-US" sz="1100" dirty="0">
                <a:solidFill>
                  <a:srgbClr val="003C71"/>
                </a:solidFill>
              </a:rPr>
              <a:t>Range of </a:t>
            </a:r>
            <a:r>
              <a:rPr lang="en-US" sz="1100" dirty="0">
                <a:solidFill>
                  <a:srgbClr val="00B050"/>
                </a:solidFill>
              </a:rPr>
              <a:t>PC Client</a:t>
            </a:r>
            <a:r>
              <a:rPr lang="en-US" sz="1100" dirty="0">
                <a:solidFill>
                  <a:srgbClr val="003C71"/>
                </a:solidFill>
              </a:rPr>
              <a:t> # power cycles (active-to-standby) is 5 cycles per day</a:t>
            </a:r>
          </a:p>
          <a:p>
            <a:endParaRPr lang="en-US" sz="1100" dirty="0">
              <a:solidFill>
                <a:srgbClr val="003C71"/>
              </a:solidFill>
            </a:endParaRPr>
          </a:p>
          <a:p>
            <a:r>
              <a:rPr lang="en-US" sz="1100" b="1" dirty="0">
                <a:solidFill>
                  <a:srgbClr val="003C71"/>
                </a:solidFill>
              </a:rPr>
              <a:t>Product Temperature Conditions</a:t>
            </a:r>
          </a:p>
          <a:p>
            <a:pPr marL="171450" indent="-171450">
              <a:buFont typeface="Arial" panose="020B0604020202020204" pitchFamily="34" charset="0"/>
              <a:buChar char="•"/>
            </a:pPr>
            <a:r>
              <a:rPr lang="en-US" sz="1100" dirty="0">
                <a:solidFill>
                  <a:srgbClr val="003C71"/>
                </a:solidFill>
              </a:rPr>
              <a:t>Range of standby/idle temp of Intel SOC: -40°C to 100°C</a:t>
            </a:r>
          </a:p>
          <a:p>
            <a:pPr marL="171450" indent="-171450">
              <a:buFont typeface="Arial" panose="020B0604020202020204" pitchFamily="34" charset="0"/>
              <a:buChar char="•"/>
            </a:pPr>
            <a:r>
              <a:rPr lang="en-US" sz="1100" dirty="0">
                <a:solidFill>
                  <a:srgbClr val="003C71"/>
                </a:solidFill>
              </a:rPr>
              <a:t>Range of active temp of the Intel SOC: -40°C to 105°C</a:t>
            </a:r>
          </a:p>
          <a:p>
            <a:pPr marL="171450" indent="-171450">
              <a:buFont typeface="Arial" panose="020B0604020202020204" pitchFamily="34" charset="0"/>
              <a:buChar char="•"/>
            </a:pPr>
            <a:r>
              <a:rPr lang="en-US" sz="1100" dirty="0">
                <a:solidFill>
                  <a:srgbClr val="003C71"/>
                </a:solidFill>
              </a:rPr>
              <a:t>Range of ambient of system location: -40°C to 100°C</a:t>
            </a:r>
          </a:p>
          <a:p>
            <a:endParaRPr lang="en-US" sz="1100" dirty="0">
              <a:solidFill>
                <a:srgbClr val="003C71"/>
              </a:solidFill>
            </a:endParaRPr>
          </a:p>
          <a:p>
            <a:r>
              <a:rPr lang="en-US" sz="1100" b="1" dirty="0">
                <a:solidFill>
                  <a:srgbClr val="003C71"/>
                </a:solidFill>
              </a:rPr>
              <a:t>Board Level Temperature Cycling (TC) Testing</a:t>
            </a:r>
          </a:p>
          <a:p>
            <a:pPr marL="171450" indent="-171450">
              <a:buFont typeface="Arial" panose="020B0604020202020204" pitchFamily="34" charset="0"/>
              <a:buChar char="•"/>
            </a:pPr>
            <a:r>
              <a:rPr lang="en-US" sz="1100" dirty="0">
                <a:solidFill>
                  <a:srgbClr val="003C71"/>
                </a:solidFill>
              </a:rPr>
              <a:t>Range of Board thicknesses:  1.2mm (47mils), 1.4mm (55mils), 1.6mm (62mils), 2.0-2.4mm (79-94mils)</a:t>
            </a:r>
          </a:p>
          <a:p>
            <a:pPr marL="171450" indent="-171450">
              <a:buFont typeface="Arial" panose="020B0604020202020204" pitchFamily="34" charset="0"/>
              <a:buChar char="•"/>
            </a:pPr>
            <a:r>
              <a:rPr lang="en-US" sz="1100" dirty="0">
                <a:solidFill>
                  <a:srgbClr val="003C71"/>
                </a:solidFill>
              </a:rPr>
              <a:t>4 Customers appear to run an Accelerated SJR TC Test like Intel</a:t>
            </a:r>
          </a:p>
          <a:p>
            <a:pPr marL="628650" lvl="1" indent="-171450">
              <a:buFont typeface="Arial" panose="020B0604020202020204" pitchFamily="34" charset="0"/>
              <a:buChar char="•"/>
            </a:pPr>
            <a:r>
              <a:rPr lang="en-US" sz="1100" dirty="0">
                <a:solidFill>
                  <a:srgbClr val="003C71"/>
                </a:solidFill>
              </a:rPr>
              <a:t>Congatec: Require 1850 cycles for a 10 year life (185 cycles per year)</a:t>
            </a:r>
          </a:p>
          <a:p>
            <a:pPr marL="628650" lvl="1" indent="-171450">
              <a:buFont typeface="Arial" panose="020B0604020202020204" pitchFamily="34" charset="0"/>
              <a:buChar char="•"/>
            </a:pPr>
            <a:r>
              <a:rPr lang="en-US" sz="1100" dirty="0">
                <a:solidFill>
                  <a:srgbClr val="003C71"/>
                </a:solidFill>
              </a:rPr>
              <a:t>Hitachi: Require 545-1250 cycles, unloaded test, -55°C to 125°C </a:t>
            </a:r>
            <a:r>
              <a:rPr lang="en-US" sz="1100" b="1" dirty="0">
                <a:solidFill>
                  <a:srgbClr val="003C71"/>
                </a:solidFill>
              </a:rPr>
              <a:t>[IOTG believes they have high rqmt’s]</a:t>
            </a:r>
          </a:p>
          <a:p>
            <a:pPr marL="628650" lvl="1" indent="-171450">
              <a:buFont typeface="Arial" panose="020B0604020202020204" pitchFamily="34" charset="0"/>
              <a:buChar char="•"/>
            </a:pPr>
            <a:r>
              <a:rPr lang="en-US" sz="1100" dirty="0">
                <a:solidFill>
                  <a:srgbClr val="003C71"/>
                </a:solidFill>
              </a:rPr>
              <a:t>Omron: Require 1000 cycles, -40°C to 100°C </a:t>
            </a:r>
            <a:r>
              <a:rPr lang="en-US" sz="1100" b="1" dirty="0">
                <a:solidFill>
                  <a:srgbClr val="003C71"/>
                </a:solidFill>
              </a:rPr>
              <a:t>[IOTG believes they have high rqmt’s]</a:t>
            </a:r>
          </a:p>
          <a:p>
            <a:pPr marL="628650" lvl="1" indent="-171450">
              <a:buFont typeface="Arial" panose="020B0604020202020204" pitchFamily="34" charset="0"/>
              <a:buChar char="•"/>
            </a:pPr>
            <a:r>
              <a:rPr lang="en-US" sz="1100" dirty="0">
                <a:solidFill>
                  <a:srgbClr val="003C71"/>
                </a:solidFill>
              </a:rPr>
              <a:t>Siemens: Require 1000 cycles, loaded test, -40°C to 125°C</a:t>
            </a:r>
          </a:p>
          <a:p>
            <a:pPr marL="171450" indent="-171450">
              <a:buFont typeface="Arial" panose="020B0604020202020204" pitchFamily="34" charset="0"/>
              <a:buChar char="•"/>
            </a:pPr>
            <a:r>
              <a:rPr lang="en-US" sz="1100" dirty="0">
                <a:solidFill>
                  <a:srgbClr val="003C71"/>
                </a:solidFill>
              </a:rPr>
              <a:t>8 Customers – we are unsure if they perform an Accelerated SJR TC Test like Intel </a:t>
            </a:r>
          </a:p>
          <a:p>
            <a:pPr marL="628650" lvl="1" indent="-171450">
              <a:buFont typeface="Arial" panose="020B0604020202020204" pitchFamily="34" charset="0"/>
              <a:buChar char="•"/>
            </a:pPr>
            <a:r>
              <a:rPr lang="en-US" sz="1100" dirty="0">
                <a:solidFill>
                  <a:srgbClr val="003C71"/>
                </a:solidFill>
              </a:rPr>
              <a:t>The testing they perform looks more like a factory infant mortality or ‘</a:t>
            </a:r>
            <a:r>
              <a:rPr lang="en-US" sz="1100" dirty="0">
                <a:solidFill>
                  <a:schemeClr val="accent5"/>
                </a:solidFill>
              </a:rPr>
              <a:t>power cycling</a:t>
            </a:r>
            <a:r>
              <a:rPr lang="en-US" sz="1100" dirty="0">
                <a:solidFill>
                  <a:srgbClr val="003C71"/>
                </a:solidFill>
              </a:rPr>
              <a:t>’ test, </a:t>
            </a:r>
            <a:r>
              <a:rPr lang="en-US" sz="1100" dirty="0">
                <a:solidFill>
                  <a:schemeClr val="accent5"/>
                </a:solidFill>
              </a:rPr>
              <a:t>tests related more for performance &amp; functionality. </a:t>
            </a:r>
            <a:r>
              <a:rPr lang="en-US" sz="1100" dirty="0">
                <a:solidFill>
                  <a:srgbClr val="003C71"/>
                </a:solidFill>
              </a:rPr>
              <a:t>Need to clarify with these customers</a:t>
            </a:r>
          </a:p>
          <a:p>
            <a:pPr marL="171450" indent="-171450">
              <a:buFont typeface="Arial" panose="020B0604020202020204" pitchFamily="34" charset="0"/>
              <a:buChar char="•"/>
            </a:pPr>
            <a:endParaRPr lang="en-US" sz="1100" dirty="0">
              <a:solidFill>
                <a:srgbClr val="003C71"/>
              </a:solidFill>
            </a:endParaRPr>
          </a:p>
          <a:p>
            <a:r>
              <a:rPr lang="en-US" sz="1100" b="1" dirty="0">
                <a:solidFill>
                  <a:srgbClr val="003C71"/>
                </a:solidFill>
              </a:rPr>
              <a:t>Adhesive Usage</a:t>
            </a:r>
          </a:p>
          <a:p>
            <a:pPr marL="171450" indent="-171450">
              <a:buFont typeface="Arial" panose="020B0604020202020204" pitchFamily="34" charset="0"/>
              <a:buChar char="•"/>
            </a:pPr>
            <a:r>
              <a:rPr lang="en-US" sz="1100" dirty="0">
                <a:solidFill>
                  <a:srgbClr val="003C71"/>
                </a:solidFill>
              </a:rPr>
              <a:t>4 customers have some type of board level adhesive experience &amp; setup (but may not be for BGAs or using thermal cured adhesives)</a:t>
            </a:r>
          </a:p>
          <a:p>
            <a:pPr marL="171450" indent="-171450">
              <a:buFont typeface="Arial" panose="020B0604020202020204" pitchFamily="34" charset="0"/>
              <a:buChar char="•"/>
            </a:pPr>
            <a:r>
              <a:rPr lang="en-US" sz="1100" dirty="0">
                <a:solidFill>
                  <a:srgbClr val="003C71"/>
                </a:solidFill>
              </a:rPr>
              <a:t>8 customers don’t have any board level adhesive experience</a:t>
            </a:r>
          </a:p>
        </p:txBody>
      </p:sp>
    </p:spTree>
    <p:extLst>
      <p:ext uri="{BB962C8B-B14F-4D97-AF65-F5344CB8AC3E}">
        <p14:creationId xmlns:p14="http://schemas.microsoft.com/office/powerpoint/2010/main" val="3299904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E42ED0-125A-4BED-B975-1B25B5A47663}"/>
              </a:ext>
            </a:extLst>
          </p:cNvPr>
          <p:cNvSpPr>
            <a:spLocks noGrp="1"/>
          </p:cNvSpPr>
          <p:nvPr>
            <p:ph type="sldNum" sz="quarter" idx="12"/>
          </p:nvPr>
        </p:nvSpPr>
        <p:spPr/>
        <p:txBody>
          <a:bodyPr/>
          <a:lstStyle/>
          <a:p>
            <a:fld id="{EE2556C5-CE8C-6547-B838-EA80C61A4AF7}" type="slidenum">
              <a:rPr lang="en-US" smtClean="0"/>
              <a:pPr/>
              <a:t>14</a:t>
            </a:fld>
            <a:endParaRPr lang="en-US" dirty="0"/>
          </a:p>
        </p:txBody>
      </p:sp>
      <p:sp>
        <p:nvSpPr>
          <p:cNvPr id="3" name="Title 2">
            <a:extLst>
              <a:ext uri="{FF2B5EF4-FFF2-40B4-BE49-F238E27FC236}">
                <a16:creationId xmlns:a16="http://schemas.microsoft.com/office/drawing/2014/main" id="{D4DD82C2-DC62-4A3F-A315-2AE6B59E9F45}"/>
              </a:ext>
            </a:extLst>
          </p:cNvPr>
          <p:cNvSpPr>
            <a:spLocks noGrp="1"/>
          </p:cNvSpPr>
          <p:nvPr>
            <p:ph type="title"/>
          </p:nvPr>
        </p:nvSpPr>
        <p:spPr>
          <a:xfrm>
            <a:off x="230054" y="27797"/>
            <a:ext cx="9065374" cy="388675"/>
          </a:xfrm>
        </p:spPr>
        <p:txBody>
          <a:bodyPr/>
          <a:lstStyle/>
          <a:p>
            <a:r>
              <a:rPr lang="en-US" dirty="0"/>
              <a:t>Market Segment, Power Cycles &amp; Temp Conditions (Page 1 of 2)</a:t>
            </a:r>
          </a:p>
        </p:txBody>
      </p:sp>
      <p:graphicFrame>
        <p:nvGraphicFramePr>
          <p:cNvPr id="5" name="Table 5">
            <a:extLst>
              <a:ext uri="{FF2B5EF4-FFF2-40B4-BE49-F238E27FC236}">
                <a16:creationId xmlns:a16="http://schemas.microsoft.com/office/drawing/2014/main" id="{4E66A910-CC2C-4C63-B197-B16213A5C52F}"/>
              </a:ext>
            </a:extLst>
          </p:cNvPr>
          <p:cNvGraphicFramePr>
            <a:graphicFrameLocks noGrp="1"/>
          </p:cNvGraphicFramePr>
          <p:nvPr>
            <p:extLst>
              <p:ext uri="{D42A27DB-BD31-4B8C-83A1-F6EECF244321}">
                <p14:modId xmlns:p14="http://schemas.microsoft.com/office/powerpoint/2010/main" val="2530301472"/>
              </p:ext>
            </p:extLst>
          </p:nvPr>
        </p:nvGraphicFramePr>
        <p:xfrm>
          <a:off x="157748" y="433944"/>
          <a:ext cx="8848202" cy="3863340"/>
        </p:xfrm>
        <a:graphic>
          <a:graphicData uri="http://schemas.openxmlformats.org/drawingml/2006/table">
            <a:tbl>
              <a:tblPr firstRow="1" bandRow="1">
                <a:tableStyleId>{5C22544A-7EE6-4342-B048-85BDC9FD1C3A}</a:tableStyleId>
              </a:tblPr>
              <a:tblGrid>
                <a:gridCol w="926300">
                  <a:extLst>
                    <a:ext uri="{9D8B030D-6E8A-4147-A177-3AD203B41FA5}">
                      <a16:colId xmlns:a16="http://schemas.microsoft.com/office/drawing/2014/main" val="2427798588"/>
                    </a:ext>
                  </a:extLst>
                </a:gridCol>
                <a:gridCol w="1320317">
                  <a:extLst>
                    <a:ext uri="{9D8B030D-6E8A-4147-A177-3AD203B41FA5}">
                      <a16:colId xmlns:a16="http://schemas.microsoft.com/office/drawing/2014/main" val="2524759092"/>
                    </a:ext>
                  </a:extLst>
                </a:gridCol>
                <a:gridCol w="1320317">
                  <a:extLst>
                    <a:ext uri="{9D8B030D-6E8A-4147-A177-3AD203B41FA5}">
                      <a16:colId xmlns:a16="http://schemas.microsoft.com/office/drawing/2014/main" val="3847301582"/>
                    </a:ext>
                  </a:extLst>
                </a:gridCol>
                <a:gridCol w="1320317">
                  <a:extLst>
                    <a:ext uri="{9D8B030D-6E8A-4147-A177-3AD203B41FA5}">
                      <a16:colId xmlns:a16="http://schemas.microsoft.com/office/drawing/2014/main" val="1051834608"/>
                    </a:ext>
                  </a:extLst>
                </a:gridCol>
                <a:gridCol w="1320317">
                  <a:extLst>
                    <a:ext uri="{9D8B030D-6E8A-4147-A177-3AD203B41FA5}">
                      <a16:colId xmlns:a16="http://schemas.microsoft.com/office/drawing/2014/main" val="1430459665"/>
                    </a:ext>
                  </a:extLst>
                </a:gridCol>
                <a:gridCol w="1320317">
                  <a:extLst>
                    <a:ext uri="{9D8B030D-6E8A-4147-A177-3AD203B41FA5}">
                      <a16:colId xmlns:a16="http://schemas.microsoft.com/office/drawing/2014/main" val="1868766097"/>
                    </a:ext>
                  </a:extLst>
                </a:gridCol>
                <a:gridCol w="1320317">
                  <a:extLst>
                    <a:ext uri="{9D8B030D-6E8A-4147-A177-3AD203B41FA5}">
                      <a16:colId xmlns:a16="http://schemas.microsoft.com/office/drawing/2014/main" val="179359557"/>
                    </a:ext>
                  </a:extLst>
                </a:gridCol>
              </a:tblGrid>
              <a:tr h="215350">
                <a:tc>
                  <a:txBody>
                    <a:bodyPr/>
                    <a:lstStyle/>
                    <a:p>
                      <a:r>
                        <a:rPr lang="en-US" sz="1050" b="1" dirty="0">
                          <a:solidFill>
                            <a:schemeClr val="tx1"/>
                          </a:solidFill>
                        </a:rPr>
                        <a:t>Customer</a:t>
                      </a:r>
                    </a:p>
                  </a:txBody>
                  <a:tcPr/>
                </a:tc>
                <a:tc>
                  <a:txBody>
                    <a:bodyPr/>
                    <a:lstStyle/>
                    <a:p>
                      <a:r>
                        <a:rPr lang="en-US" sz="1050" dirty="0">
                          <a:solidFill>
                            <a:schemeClr val="tx1"/>
                          </a:solidFill>
                        </a:rPr>
                        <a:t>Market Segment</a:t>
                      </a:r>
                    </a:p>
                  </a:txBody>
                  <a:tcPr/>
                </a:tc>
                <a:tc gridSpan="2">
                  <a:txBody>
                    <a:bodyPr/>
                    <a:lstStyle/>
                    <a:p>
                      <a:r>
                        <a:rPr lang="en-US" sz="1050" dirty="0">
                          <a:solidFill>
                            <a:schemeClr val="tx1"/>
                          </a:solidFill>
                        </a:rPr>
                        <a:t>Product Power Cycles</a:t>
                      </a:r>
                    </a:p>
                  </a:txBody>
                  <a:tcPr/>
                </a:tc>
                <a:tc hMerge="1">
                  <a:txBody>
                    <a:bodyPr/>
                    <a:lstStyle/>
                    <a:p>
                      <a:endParaRPr lang="en-US" sz="500" dirty="0">
                        <a:solidFill>
                          <a:schemeClr val="tx1"/>
                        </a:solidFill>
                      </a:endParaRPr>
                    </a:p>
                  </a:txBody>
                  <a:tcPr/>
                </a:tc>
                <a:tc gridSpan="3">
                  <a:txBody>
                    <a:bodyPr/>
                    <a:lstStyle/>
                    <a:p>
                      <a:r>
                        <a:rPr lang="en-US" sz="1050" dirty="0">
                          <a:solidFill>
                            <a:schemeClr val="tx1"/>
                          </a:solidFill>
                        </a:rPr>
                        <a:t>Product Temperature Conditions</a:t>
                      </a:r>
                    </a:p>
                  </a:txBody>
                  <a:tcPr/>
                </a:tc>
                <a:tc hMerge="1">
                  <a:txBody>
                    <a:bodyPr/>
                    <a:lstStyle/>
                    <a:p>
                      <a:endParaRPr lang="en-US" sz="500" dirty="0">
                        <a:solidFill>
                          <a:schemeClr val="tx1"/>
                        </a:solidFill>
                      </a:endParaRPr>
                    </a:p>
                  </a:txBody>
                  <a:tcPr/>
                </a:tc>
                <a:tc hMerge="1">
                  <a:txBody>
                    <a:bodyPr/>
                    <a:lstStyle/>
                    <a:p>
                      <a:endParaRPr lang="en-US" sz="500" dirty="0">
                        <a:solidFill>
                          <a:schemeClr val="tx1"/>
                        </a:solidFill>
                      </a:endParaRPr>
                    </a:p>
                  </a:txBody>
                  <a:tcPr/>
                </a:tc>
                <a:extLst>
                  <a:ext uri="{0D108BD9-81ED-4DB2-BD59-A6C34878D82A}">
                    <a16:rowId xmlns:a16="http://schemas.microsoft.com/office/drawing/2014/main" val="877362529"/>
                  </a:ext>
                </a:extLst>
              </a:tr>
              <a:tr h="215350">
                <a:tc>
                  <a:txBody>
                    <a:bodyPr/>
                    <a:lstStyle/>
                    <a:p>
                      <a:endParaRPr lang="en-US" sz="1050" b="1" dirty="0">
                        <a:solidFill>
                          <a:schemeClr val="tx1"/>
                        </a:solidFill>
                      </a:endParaRPr>
                    </a:p>
                  </a:txBody>
                  <a:tcPr/>
                </a:tc>
                <a:tc>
                  <a:txBody>
                    <a:bodyPr/>
                    <a:lstStyle/>
                    <a:p>
                      <a:r>
                        <a:rPr lang="en-US" sz="700" b="1" dirty="0">
                          <a:solidFill>
                            <a:schemeClr val="tx1"/>
                          </a:solidFill>
                        </a:rPr>
                        <a:t>Market segment for the product</a:t>
                      </a:r>
                    </a:p>
                  </a:txBody>
                  <a:tcPr/>
                </a:tc>
                <a:tc>
                  <a:txBody>
                    <a:bodyPr/>
                    <a:lstStyle/>
                    <a:p>
                      <a:r>
                        <a:rPr lang="en-US" sz="700" b="1" dirty="0">
                          <a:solidFill>
                            <a:schemeClr val="tx1"/>
                          </a:solidFill>
                        </a:rPr>
                        <a:t>Avg # of On to Off power cycles a day</a:t>
                      </a:r>
                    </a:p>
                  </a:txBody>
                  <a:tcPr/>
                </a:tc>
                <a:tc>
                  <a:txBody>
                    <a:bodyPr/>
                    <a:lstStyle/>
                    <a:p>
                      <a:r>
                        <a:rPr lang="en-US" sz="700" b="1" dirty="0">
                          <a:solidFill>
                            <a:schemeClr val="tx1"/>
                          </a:solidFill>
                        </a:rPr>
                        <a:t>Avg # of active to standby (active to idle) cycles a day</a:t>
                      </a:r>
                    </a:p>
                  </a:txBody>
                  <a:tcPr/>
                </a:tc>
                <a:tc>
                  <a:txBody>
                    <a:bodyPr/>
                    <a:lstStyle/>
                    <a:p>
                      <a:r>
                        <a:rPr lang="en-US" sz="700" b="1" dirty="0">
                          <a:solidFill>
                            <a:schemeClr val="tx1"/>
                          </a:solidFill>
                        </a:rPr>
                        <a:t>Avg Standby or idle temp of the Intel SOC in the system</a:t>
                      </a:r>
                    </a:p>
                  </a:txBody>
                  <a:tcPr/>
                </a:tc>
                <a:tc>
                  <a:txBody>
                    <a:bodyPr/>
                    <a:lstStyle/>
                    <a:p>
                      <a:r>
                        <a:rPr lang="en-US" sz="700" b="1" dirty="0">
                          <a:solidFill>
                            <a:schemeClr val="tx1"/>
                          </a:solidFill>
                        </a:rPr>
                        <a:t>Avg Active temp of the Intel SOC in the system</a:t>
                      </a:r>
                    </a:p>
                  </a:txBody>
                  <a:tcPr/>
                </a:tc>
                <a:tc>
                  <a:txBody>
                    <a:bodyPr/>
                    <a:lstStyle/>
                    <a:p>
                      <a:r>
                        <a:rPr lang="en-US" sz="700" b="1" dirty="0">
                          <a:solidFill>
                            <a:schemeClr val="tx1"/>
                          </a:solidFill>
                        </a:rPr>
                        <a:t>Avg ambient (RT) at location of where the system is used</a:t>
                      </a:r>
                    </a:p>
                  </a:txBody>
                  <a:tcPr/>
                </a:tc>
                <a:extLst>
                  <a:ext uri="{0D108BD9-81ED-4DB2-BD59-A6C34878D82A}">
                    <a16:rowId xmlns:a16="http://schemas.microsoft.com/office/drawing/2014/main" val="3071589016"/>
                  </a:ext>
                </a:extLst>
              </a:tr>
              <a:tr h="215350">
                <a:tc>
                  <a:txBody>
                    <a:bodyPr/>
                    <a:lstStyle/>
                    <a:p>
                      <a:r>
                        <a:rPr lang="en-US" sz="1050" b="1" dirty="0"/>
                        <a:t>Adlink</a:t>
                      </a:r>
                    </a:p>
                  </a:txBody>
                  <a:tcPr/>
                </a:tc>
                <a:tc>
                  <a:txBody>
                    <a:bodyPr/>
                    <a:lstStyle/>
                    <a:p>
                      <a:r>
                        <a:rPr lang="en-US" sz="700" dirty="0"/>
                        <a:t>Industrial &amp; EBM (designing a COM module, a generic </a:t>
                      </a:r>
                      <a:r>
                        <a:rPr lang="en-US" sz="700" dirty="0" err="1"/>
                        <a:t>soln</a:t>
                      </a:r>
                      <a:r>
                        <a:rPr lang="en-US" sz="700" dirty="0"/>
                        <a:t>, to be used in medical, defense, transportation &amp; robotics segments)</a:t>
                      </a:r>
                    </a:p>
                  </a:txBody>
                  <a:tcPr/>
                </a:tc>
                <a:tc>
                  <a:txBody>
                    <a:bodyPr/>
                    <a:lstStyle/>
                    <a:p>
                      <a:r>
                        <a:rPr lang="en-US" sz="700" dirty="0"/>
                        <a:t>Unknown</a:t>
                      </a:r>
                    </a:p>
                  </a:txBody>
                  <a:tcPr/>
                </a:tc>
                <a:tc>
                  <a:txBody>
                    <a:bodyPr/>
                    <a:lstStyle/>
                    <a:p>
                      <a:r>
                        <a:rPr lang="en-US" sz="700" dirty="0"/>
                        <a:t>Unknown</a:t>
                      </a:r>
                    </a:p>
                  </a:txBody>
                  <a:tcPr/>
                </a:tc>
                <a:tc>
                  <a:txBody>
                    <a:bodyPr/>
                    <a:lstStyle/>
                    <a:p>
                      <a:r>
                        <a:rPr lang="en-US" sz="700" dirty="0"/>
                        <a:t>Unknown</a:t>
                      </a:r>
                    </a:p>
                  </a:txBody>
                  <a:tcPr/>
                </a:tc>
                <a:tc>
                  <a:txBody>
                    <a:bodyPr/>
                    <a:lstStyle/>
                    <a:p>
                      <a:r>
                        <a:rPr lang="en-US" sz="700" dirty="0"/>
                        <a:t>70% of cases, T-ambient is 70°C.  30% of cases, T-ambient is 85°C.</a:t>
                      </a:r>
                    </a:p>
                  </a:txBody>
                  <a:tcPr/>
                </a:tc>
                <a:tc>
                  <a:txBody>
                    <a:bodyPr/>
                    <a:lstStyle/>
                    <a:p>
                      <a:r>
                        <a:rPr lang="en-US" sz="700" dirty="0"/>
                        <a:t>Medical inside hospital. Defense on all kinds of diff </a:t>
                      </a:r>
                      <a:r>
                        <a:rPr lang="en-US" sz="700" dirty="0" err="1"/>
                        <a:t>environ’s</a:t>
                      </a:r>
                      <a:r>
                        <a:rPr lang="en-US" sz="700" dirty="0"/>
                        <a:t>. The ambient temp can be max to 85°C.</a:t>
                      </a:r>
                    </a:p>
                  </a:txBody>
                  <a:tcPr/>
                </a:tc>
                <a:extLst>
                  <a:ext uri="{0D108BD9-81ED-4DB2-BD59-A6C34878D82A}">
                    <a16:rowId xmlns:a16="http://schemas.microsoft.com/office/drawing/2014/main" val="3484211985"/>
                  </a:ext>
                </a:extLst>
              </a:tr>
              <a:tr h="215350">
                <a:tc>
                  <a:txBody>
                    <a:bodyPr/>
                    <a:lstStyle/>
                    <a:p>
                      <a:r>
                        <a:rPr lang="en-US" sz="1050" b="1" dirty="0"/>
                        <a:t>Advantech</a:t>
                      </a:r>
                    </a:p>
                  </a:txBody>
                  <a:tcPr/>
                </a:tc>
                <a:tc>
                  <a:txBody>
                    <a:bodyPr/>
                    <a:lstStyle/>
                    <a:p>
                      <a:r>
                        <a:rPr lang="en-US" sz="700" dirty="0"/>
                        <a:t>AIMB-218 plan go into digital signage, EBM, Industrial, kiosk, and Automation market</a:t>
                      </a:r>
                    </a:p>
                  </a:txBody>
                  <a:tcPr/>
                </a:tc>
                <a:tc>
                  <a:txBody>
                    <a:bodyPr/>
                    <a:lstStyle/>
                    <a:p>
                      <a:r>
                        <a:rPr lang="en-US" sz="700" dirty="0"/>
                        <a:t>&lt;5 times/day</a:t>
                      </a:r>
                    </a:p>
                  </a:txBody>
                  <a:tcPr/>
                </a:tc>
                <a:tc>
                  <a:txBody>
                    <a:bodyPr/>
                    <a:lstStyle/>
                    <a:p>
                      <a:r>
                        <a:rPr lang="en-US" sz="700" dirty="0"/>
                        <a:t>&lt;5 times/day</a:t>
                      </a:r>
                    </a:p>
                  </a:txBody>
                  <a:tcPr/>
                </a:tc>
                <a:tc>
                  <a:txBody>
                    <a:bodyPr/>
                    <a:lstStyle/>
                    <a:p>
                      <a:r>
                        <a:rPr lang="en-US" sz="700" dirty="0"/>
                        <a:t>-20 to ~75°C, depends on user scenarios</a:t>
                      </a:r>
                    </a:p>
                  </a:txBody>
                  <a:tcPr/>
                </a:tc>
                <a:tc>
                  <a:txBody>
                    <a:bodyPr/>
                    <a:lstStyle/>
                    <a:p>
                      <a:r>
                        <a:rPr lang="en-US" sz="700" dirty="0"/>
                        <a:t>-20 to ~75°C, depends on user scenarios</a:t>
                      </a:r>
                    </a:p>
                  </a:txBody>
                  <a:tcPr/>
                </a:tc>
                <a:tc>
                  <a:txBody>
                    <a:bodyPr/>
                    <a:lstStyle/>
                    <a:p>
                      <a:r>
                        <a:rPr lang="en-US" sz="700" dirty="0"/>
                        <a:t>Unknown, customer will use both indoor and outdoor</a:t>
                      </a:r>
                    </a:p>
                  </a:txBody>
                  <a:tcPr/>
                </a:tc>
                <a:extLst>
                  <a:ext uri="{0D108BD9-81ED-4DB2-BD59-A6C34878D82A}">
                    <a16:rowId xmlns:a16="http://schemas.microsoft.com/office/drawing/2014/main" val="3112022175"/>
                  </a:ext>
                </a:extLst>
              </a:tr>
              <a:tr h="215350">
                <a:tc>
                  <a:txBody>
                    <a:bodyPr/>
                    <a:lstStyle/>
                    <a:p>
                      <a:r>
                        <a:rPr lang="en-US" sz="1050" b="1" dirty="0"/>
                        <a:t>Aaeon</a:t>
                      </a:r>
                    </a:p>
                  </a:txBody>
                  <a:tcPr/>
                </a:tc>
                <a:tc>
                  <a:txBody>
                    <a:bodyPr/>
                    <a:lstStyle/>
                    <a:p>
                      <a:r>
                        <a:rPr lang="en-US" sz="700" dirty="0"/>
                        <a:t>EMB</a:t>
                      </a:r>
                    </a:p>
                    <a:p>
                      <a:r>
                        <a:rPr lang="en-US" sz="700" dirty="0"/>
                        <a:t>(For Industrial info, need to contact with other PM)</a:t>
                      </a:r>
                    </a:p>
                  </a:txBody>
                  <a:tcPr/>
                </a:tc>
                <a:tc>
                  <a:txBody>
                    <a:bodyPr/>
                    <a:lstStyle/>
                    <a:p>
                      <a:r>
                        <a:rPr lang="en-US" sz="700" dirty="0"/>
                        <a:t>Depends on Customer’s user scenario’s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00" dirty="0"/>
                        <a:t>Depends on Customer’s user scenario’s</a:t>
                      </a:r>
                    </a:p>
                  </a:txBody>
                  <a:tcPr/>
                </a:tc>
                <a:tc>
                  <a:txBody>
                    <a:bodyPr/>
                    <a:lstStyle/>
                    <a:p>
                      <a:r>
                        <a:rPr lang="en-US" sz="700" dirty="0"/>
                        <a:t>35°C</a:t>
                      </a:r>
                    </a:p>
                  </a:txBody>
                  <a:tcPr/>
                </a:tc>
                <a:tc>
                  <a:txBody>
                    <a:bodyPr/>
                    <a:lstStyle/>
                    <a:p>
                      <a:r>
                        <a:rPr lang="en-US" sz="700" dirty="0"/>
                        <a:t>55°C</a:t>
                      </a:r>
                    </a:p>
                  </a:txBody>
                  <a:tcPr/>
                </a:tc>
                <a:tc>
                  <a:txBody>
                    <a:bodyPr/>
                    <a:lstStyle/>
                    <a:p>
                      <a:r>
                        <a:rPr lang="en-US" sz="700" dirty="0"/>
                        <a:t>Standard: 0 to 60°C</a:t>
                      </a:r>
                    </a:p>
                  </a:txBody>
                  <a:tcPr/>
                </a:tc>
                <a:extLst>
                  <a:ext uri="{0D108BD9-81ED-4DB2-BD59-A6C34878D82A}">
                    <a16:rowId xmlns:a16="http://schemas.microsoft.com/office/drawing/2014/main" val="998006749"/>
                  </a:ext>
                </a:extLst>
              </a:tr>
              <a:tr h="215350">
                <a:tc>
                  <a:txBody>
                    <a:bodyPr/>
                    <a:lstStyle/>
                    <a:p>
                      <a:r>
                        <a:rPr lang="en-US" sz="1050" b="1" dirty="0"/>
                        <a:t>Congatec</a:t>
                      </a:r>
                    </a:p>
                  </a:txBody>
                  <a:tcPr/>
                </a:tc>
                <a:tc>
                  <a:txBody>
                    <a:bodyPr/>
                    <a:lstStyle/>
                    <a:p>
                      <a:r>
                        <a:rPr lang="en-US" sz="700" dirty="0"/>
                        <a:t>Plan to use in same seg’s as APL (PC Client, Embedded and Industrial. Not FuSA.)</a:t>
                      </a:r>
                    </a:p>
                  </a:txBody>
                  <a:tcPr/>
                </a:tc>
                <a:tc gridSpan="2">
                  <a:txBody>
                    <a:bodyPr/>
                    <a:lstStyle/>
                    <a:p>
                      <a:r>
                        <a:rPr lang="en-US" sz="700" dirty="0"/>
                        <a:t>Product </a:t>
                      </a:r>
                      <a:r>
                        <a:rPr lang="en-US" sz="700" dirty="0" err="1"/>
                        <a:t>pwr</a:t>
                      </a:r>
                      <a:r>
                        <a:rPr lang="en-US" sz="700" dirty="0"/>
                        <a:t> cycles vary sig. over the diff. field of app’s of our customers.  For some Industrial use cases we assume the module to be operated for at least one shift before it experiences a full on / off </a:t>
                      </a:r>
                      <a:r>
                        <a:rPr lang="en-US" sz="700" dirty="0" err="1"/>
                        <a:t>pwr</a:t>
                      </a:r>
                      <a:r>
                        <a:rPr lang="en-US" sz="700" dirty="0"/>
                        <a:t> cycle. The ratio of on / off cycles in respect to the run time in </a:t>
                      </a:r>
                      <a:r>
                        <a:rPr lang="en-US" sz="700" dirty="0" err="1"/>
                        <a:t>hrs</a:t>
                      </a:r>
                      <a:r>
                        <a:rPr lang="en-US" sz="700" dirty="0"/>
                        <a:t> is roughly 1/10 (meaning one on / off cycle comes with (at least) 10 </a:t>
                      </a:r>
                      <a:r>
                        <a:rPr lang="en-US" sz="700" dirty="0" err="1"/>
                        <a:t>hrs</a:t>
                      </a:r>
                      <a:r>
                        <a:rPr lang="en-US" sz="700" dirty="0"/>
                        <a:t> of operating time) </a:t>
                      </a:r>
                    </a:p>
                  </a:txBody>
                  <a:tcPr/>
                </a:tc>
                <a:tc h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700" dirty="0"/>
                    </a:p>
                  </a:txBody>
                  <a:tcPr/>
                </a:tc>
                <a:tc>
                  <a:txBody>
                    <a:bodyPr/>
                    <a:lstStyle/>
                    <a:p>
                      <a:endParaRPr lang="en-US" sz="700" dirty="0"/>
                    </a:p>
                  </a:txBody>
                  <a:tcPr/>
                </a:tc>
                <a:tc>
                  <a:txBody>
                    <a:bodyPr/>
                    <a:lstStyle/>
                    <a:p>
                      <a:endParaRPr lang="en-US" sz="700" dirty="0"/>
                    </a:p>
                  </a:txBody>
                  <a:tcPr/>
                </a:tc>
                <a:tc>
                  <a:txBody>
                    <a:bodyPr/>
                    <a:lstStyle/>
                    <a:p>
                      <a:r>
                        <a:rPr lang="en-US" sz="700" dirty="0"/>
                        <a:t>-40°C to 85°C can be achieved in customers environments</a:t>
                      </a:r>
                    </a:p>
                  </a:txBody>
                  <a:tcPr/>
                </a:tc>
                <a:extLst>
                  <a:ext uri="{0D108BD9-81ED-4DB2-BD59-A6C34878D82A}">
                    <a16:rowId xmlns:a16="http://schemas.microsoft.com/office/drawing/2014/main" val="2314791107"/>
                  </a:ext>
                </a:extLst>
              </a:tr>
              <a:tr h="215350">
                <a:tc>
                  <a:txBody>
                    <a:bodyPr/>
                    <a:lstStyle/>
                    <a:p>
                      <a:r>
                        <a:rPr lang="en-US" sz="1050" b="1" dirty="0"/>
                        <a:t>IEI x QNAP</a:t>
                      </a:r>
                    </a:p>
                  </a:txBody>
                  <a:tcPr/>
                </a:tc>
                <a:tc>
                  <a:txBody>
                    <a:bodyPr/>
                    <a:lstStyle/>
                    <a:p>
                      <a:r>
                        <a:rPr lang="en-US" sz="700" dirty="0">
                          <a:solidFill>
                            <a:schemeClr val="tx1"/>
                          </a:solidFill>
                        </a:rPr>
                        <a:t>Industrial &amp; EBM</a:t>
                      </a:r>
                    </a:p>
                  </a:txBody>
                  <a:tcPr/>
                </a:tc>
                <a:tc>
                  <a:txBody>
                    <a:bodyPr/>
                    <a:lstStyle/>
                    <a:p>
                      <a:r>
                        <a:rPr lang="en-US" sz="700" dirty="0"/>
                        <a:t>N/A</a:t>
                      </a:r>
                    </a:p>
                  </a:txBody>
                  <a:tcPr/>
                </a:tc>
                <a:tc>
                  <a:txBody>
                    <a:bodyPr/>
                    <a:lstStyle/>
                    <a:p>
                      <a:r>
                        <a:rPr lang="en-US" sz="700" dirty="0"/>
                        <a:t>N/A</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00" dirty="0"/>
                        <a:t>60 to 70°C</a:t>
                      </a:r>
                    </a:p>
                  </a:txBody>
                  <a:tcPr/>
                </a:tc>
                <a:tc>
                  <a:txBody>
                    <a:bodyPr/>
                    <a:lstStyle/>
                    <a:p>
                      <a:r>
                        <a:rPr lang="en-US" sz="700" dirty="0"/>
                        <a:t>It depends on which CPU Platform</a:t>
                      </a:r>
                    </a:p>
                  </a:txBody>
                  <a:tcPr/>
                </a:tc>
                <a:tc>
                  <a:txBody>
                    <a:bodyPr/>
                    <a:lstStyle/>
                    <a:p>
                      <a:r>
                        <a:rPr lang="en-US" sz="700" dirty="0"/>
                        <a:t>Indoor chamber with normal stream (25 Deg C)</a:t>
                      </a:r>
                    </a:p>
                  </a:txBody>
                  <a:tcPr/>
                </a:tc>
                <a:extLst>
                  <a:ext uri="{0D108BD9-81ED-4DB2-BD59-A6C34878D82A}">
                    <a16:rowId xmlns:a16="http://schemas.microsoft.com/office/drawing/2014/main" val="4194087988"/>
                  </a:ext>
                </a:extLst>
              </a:tr>
              <a:tr h="215350">
                <a:tc>
                  <a:txBody>
                    <a:bodyPr/>
                    <a:lstStyle/>
                    <a:p>
                      <a:r>
                        <a:rPr lang="en-US" sz="1050" b="1" dirty="0"/>
                        <a:t>SECO</a:t>
                      </a:r>
                    </a:p>
                  </a:txBody>
                  <a:tcPr/>
                </a:tc>
                <a:tc>
                  <a:txBody>
                    <a:bodyPr/>
                    <a:lstStyle/>
                    <a:p>
                      <a:r>
                        <a:rPr lang="en-US" sz="700" dirty="0"/>
                        <a:t>FuSA and EBM</a:t>
                      </a:r>
                    </a:p>
                  </a:txBody>
                  <a:tcPr/>
                </a:tc>
                <a:tc>
                  <a:txBody>
                    <a:bodyPr/>
                    <a:lstStyle/>
                    <a:p>
                      <a:r>
                        <a:rPr lang="en-US" sz="700" dirty="0"/>
                        <a:t>2 cycles per day</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Intel Clear"/>
                          <a:ea typeface="+mn-ea"/>
                          <a:cs typeface="+mn-cs"/>
                        </a:rPr>
                        <a:t>2 cycles per day</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Intel Clear"/>
                          <a:ea typeface="+mn-ea"/>
                          <a:cs typeface="+mn-cs"/>
                        </a:rPr>
                        <a:t>TBD, client dependent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Intel Clear"/>
                          <a:ea typeface="+mn-ea"/>
                          <a:cs typeface="+mn-cs"/>
                        </a:rPr>
                        <a:t>TBD, client dependent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Intel Clear"/>
                          <a:ea typeface="+mn-ea"/>
                          <a:cs typeface="+mn-cs"/>
                        </a:rPr>
                        <a:t>TBD, client dependent</a:t>
                      </a:r>
                    </a:p>
                  </a:txBody>
                  <a:tcPr/>
                </a:tc>
                <a:extLst>
                  <a:ext uri="{0D108BD9-81ED-4DB2-BD59-A6C34878D82A}">
                    <a16:rowId xmlns:a16="http://schemas.microsoft.com/office/drawing/2014/main" val="2727692758"/>
                  </a:ext>
                </a:extLst>
              </a:tr>
              <a:tr h="215350">
                <a:tc>
                  <a:txBody>
                    <a:bodyPr/>
                    <a:lstStyle/>
                    <a:p>
                      <a:r>
                        <a:rPr lang="en-US" sz="1050" b="1" dirty="0"/>
                        <a:t>Siemens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00" dirty="0">
                          <a:solidFill>
                            <a:schemeClr val="tx1"/>
                          </a:solidFill>
                        </a:rPr>
                        <a:t>Industrial and EBM</a:t>
                      </a:r>
                    </a:p>
                  </a:txBody>
                  <a:tcPr/>
                </a:tc>
                <a:tc>
                  <a:txBody>
                    <a:bodyPr/>
                    <a:lstStyle/>
                    <a:p>
                      <a:r>
                        <a:rPr lang="en-US" sz="700" dirty="0"/>
                        <a:t>N/A</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Intel Clear"/>
                          <a:ea typeface="+mn-ea"/>
                          <a:cs typeface="+mn-cs"/>
                        </a:rPr>
                        <a:t>N/A</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Intel Clear"/>
                          <a:ea typeface="+mn-ea"/>
                          <a:cs typeface="+mn-cs"/>
                        </a:rPr>
                        <a:t>365/7/24</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Intel Clear"/>
                          <a:ea typeface="+mn-ea"/>
                          <a:cs typeface="+mn-cs"/>
                        </a:rPr>
                        <a:t>105</a:t>
                      </a:r>
                      <a:r>
                        <a:rPr lang="en-US" sz="700" dirty="0"/>
                        <a:t>°C (Tj)</a:t>
                      </a:r>
                      <a:endParaRPr kumimoji="0" lang="en-US" sz="700" b="0" i="0" u="none" strike="noStrike" kern="1200" cap="none" spc="0" normalizeH="0" baseline="0" noProof="0" dirty="0">
                        <a:ln>
                          <a:noFill/>
                        </a:ln>
                        <a:solidFill>
                          <a:prstClr val="black"/>
                        </a:solidFill>
                        <a:effectLst/>
                        <a:uLnTx/>
                        <a:uFillTx/>
                        <a:latin typeface="Intel Clear"/>
                        <a:ea typeface="+mn-ea"/>
                        <a:cs typeface="+mn-cs"/>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Intel Clear"/>
                          <a:ea typeface="+mn-ea"/>
                          <a:cs typeface="+mn-cs"/>
                        </a:rPr>
                        <a:t>60</a:t>
                      </a:r>
                      <a:r>
                        <a:rPr lang="en-US" sz="700" dirty="0"/>
                        <a:t>°C (Max)</a:t>
                      </a:r>
                      <a:endParaRPr kumimoji="0" lang="en-US" sz="700" b="0" i="0" u="none" strike="noStrike" kern="1200" cap="none" spc="0" normalizeH="0" baseline="0" noProof="0" dirty="0">
                        <a:ln>
                          <a:noFill/>
                        </a:ln>
                        <a:solidFill>
                          <a:prstClr val="black"/>
                        </a:solidFill>
                        <a:effectLst/>
                        <a:uLnTx/>
                        <a:uFillTx/>
                        <a:latin typeface="Intel Clear"/>
                        <a:ea typeface="+mn-ea"/>
                        <a:cs typeface="+mn-cs"/>
                      </a:endParaRPr>
                    </a:p>
                  </a:txBody>
                  <a:tcPr/>
                </a:tc>
                <a:extLst>
                  <a:ext uri="{0D108BD9-81ED-4DB2-BD59-A6C34878D82A}">
                    <a16:rowId xmlns:a16="http://schemas.microsoft.com/office/drawing/2014/main" val="1396081252"/>
                  </a:ext>
                </a:extLst>
              </a:tr>
            </a:tbl>
          </a:graphicData>
        </a:graphic>
      </p:graphicFrame>
    </p:spTree>
    <p:extLst>
      <p:ext uri="{BB962C8B-B14F-4D97-AF65-F5344CB8AC3E}">
        <p14:creationId xmlns:p14="http://schemas.microsoft.com/office/powerpoint/2010/main" val="823973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E42ED0-125A-4BED-B975-1B25B5A47663}"/>
              </a:ext>
            </a:extLst>
          </p:cNvPr>
          <p:cNvSpPr>
            <a:spLocks noGrp="1"/>
          </p:cNvSpPr>
          <p:nvPr>
            <p:ph type="sldNum" sz="quarter" idx="12"/>
          </p:nvPr>
        </p:nvSpPr>
        <p:spPr/>
        <p:txBody>
          <a:bodyPr/>
          <a:lstStyle/>
          <a:p>
            <a:fld id="{EE2556C5-CE8C-6547-B838-EA80C61A4AF7}" type="slidenum">
              <a:rPr lang="en-US" smtClean="0"/>
              <a:pPr/>
              <a:t>15</a:t>
            </a:fld>
            <a:endParaRPr lang="en-US" dirty="0"/>
          </a:p>
        </p:txBody>
      </p:sp>
      <p:sp>
        <p:nvSpPr>
          <p:cNvPr id="3" name="Title 2">
            <a:extLst>
              <a:ext uri="{FF2B5EF4-FFF2-40B4-BE49-F238E27FC236}">
                <a16:creationId xmlns:a16="http://schemas.microsoft.com/office/drawing/2014/main" id="{D4DD82C2-DC62-4A3F-A315-2AE6B59E9F45}"/>
              </a:ext>
            </a:extLst>
          </p:cNvPr>
          <p:cNvSpPr>
            <a:spLocks noGrp="1"/>
          </p:cNvSpPr>
          <p:nvPr>
            <p:ph type="title"/>
          </p:nvPr>
        </p:nvSpPr>
        <p:spPr>
          <a:xfrm>
            <a:off x="218407" y="45269"/>
            <a:ext cx="8848201" cy="388675"/>
          </a:xfrm>
        </p:spPr>
        <p:txBody>
          <a:bodyPr/>
          <a:lstStyle/>
          <a:p>
            <a:r>
              <a:rPr lang="en-US" dirty="0"/>
              <a:t>Market Segment, Power Cycles &amp; Temp Conditions (Page 2 of 2)</a:t>
            </a:r>
          </a:p>
        </p:txBody>
      </p:sp>
      <p:graphicFrame>
        <p:nvGraphicFramePr>
          <p:cNvPr id="5" name="Table 5">
            <a:extLst>
              <a:ext uri="{FF2B5EF4-FFF2-40B4-BE49-F238E27FC236}">
                <a16:creationId xmlns:a16="http://schemas.microsoft.com/office/drawing/2014/main" id="{4E66A910-CC2C-4C63-B197-B16213A5C52F}"/>
              </a:ext>
            </a:extLst>
          </p:cNvPr>
          <p:cNvGraphicFramePr>
            <a:graphicFrameLocks noGrp="1"/>
          </p:cNvGraphicFramePr>
          <p:nvPr>
            <p:extLst>
              <p:ext uri="{D42A27DB-BD31-4B8C-83A1-F6EECF244321}">
                <p14:modId xmlns:p14="http://schemas.microsoft.com/office/powerpoint/2010/main" val="1999784641"/>
              </p:ext>
            </p:extLst>
          </p:nvPr>
        </p:nvGraphicFramePr>
        <p:xfrm>
          <a:off x="157748" y="433944"/>
          <a:ext cx="8848202" cy="3863340"/>
        </p:xfrm>
        <a:graphic>
          <a:graphicData uri="http://schemas.openxmlformats.org/drawingml/2006/table">
            <a:tbl>
              <a:tblPr firstRow="1" bandRow="1">
                <a:tableStyleId>{5C22544A-7EE6-4342-B048-85BDC9FD1C3A}</a:tableStyleId>
              </a:tblPr>
              <a:tblGrid>
                <a:gridCol w="926300">
                  <a:extLst>
                    <a:ext uri="{9D8B030D-6E8A-4147-A177-3AD203B41FA5}">
                      <a16:colId xmlns:a16="http://schemas.microsoft.com/office/drawing/2014/main" val="2427798588"/>
                    </a:ext>
                  </a:extLst>
                </a:gridCol>
                <a:gridCol w="2037725">
                  <a:extLst>
                    <a:ext uri="{9D8B030D-6E8A-4147-A177-3AD203B41FA5}">
                      <a16:colId xmlns:a16="http://schemas.microsoft.com/office/drawing/2014/main" val="2524759092"/>
                    </a:ext>
                  </a:extLst>
                </a:gridCol>
                <a:gridCol w="867807">
                  <a:extLst>
                    <a:ext uri="{9D8B030D-6E8A-4147-A177-3AD203B41FA5}">
                      <a16:colId xmlns:a16="http://schemas.microsoft.com/office/drawing/2014/main" val="3847301582"/>
                    </a:ext>
                  </a:extLst>
                </a:gridCol>
                <a:gridCol w="1055419">
                  <a:extLst>
                    <a:ext uri="{9D8B030D-6E8A-4147-A177-3AD203B41FA5}">
                      <a16:colId xmlns:a16="http://schemas.microsoft.com/office/drawing/2014/main" val="1051834608"/>
                    </a:ext>
                  </a:extLst>
                </a:gridCol>
                <a:gridCol w="1320317">
                  <a:extLst>
                    <a:ext uri="{9D8B030D-6E8A-4147-A177-3AD203B41FA5}">
                      <a16:colId xmlns:a16="http://schemas.microsoft.com/office/drawing/2014/main" val="1430459665"/>
                    </a:ext>
                  </a:extLst>
                </a:gridCol>
                <a:gridCol w="1320317">
                  <a:extLst>
                    <a:ext uri="{9D8B030D-6E8A-4147-A177-3AD203B41FA5}">
                      <a16:colId xmlns:a16="http://schemas.microsoft.com/office/drawing/2014/main" val="1868766097"/>
                    </a:ext>
                  </a:extLst>
                </a:gridCol>
                <a:gridCol w="1320317">
                  <a:extLst>
                    <a:ext uri="{9D8B030D-6E8A-4147-A177-3AD203B41FA5}">
                      <a16:colId xmlns:a16="http://schemas.microsoft.com/office/drawing/2014/main" val="179359557"/>
                    </a:ext>
                  </a:extLst>
                </a:gridCol>
              </a:tblGrid>
              <a:tr h="215350">
                <a:tc>
                  <a:txBody>
                    <a:bodyPr/>
                    <a:lstStyle/>
                    <a:p>
                      <a:r>
                        <a:rPr lang="en-US" sz="1050" b="1" dirty="0">
                          <a:solidFill>
                            <a:schemeClr val="tx1"/>
                          </a:solidFill>
                        </a:rPr>
                        <a:t>Customer</a:t>
                      </a:r>
                    </a:p>
                  </a:txBody>
                  <a:tcPr/>
                </a:tc>
                <a:tc>
                  <a:txBody>
                    <a:bodyPr/>
                    <a:lstStyle/>
                    <a:p>
                      <a:r>
                        <a:rPr lang="en-US" sz="1050" dirty="0">
                          <a:solidFill>
                            <a:schemeClr val="tx1"/>
                          </a:solidFill>
                        </a:rPr>
                        <a:t>Market Segment</a:t>
                      </a:r>
                    </a:p>
                  </a:txBody>
                  <a:tcPr/>
                </a:tc>
                <a:tc gridSpan="2">
                  <a:txBody>
                    <a:bodyPr/>
                    <a:lstStyle/>
                    <a:p>
                      <a:r>
                        <a:rPr lang="en-US" sz="1050" dirty="0">
                          <a:solidFill>
                            <a:schemeClr val="tx1"/>
                          </a:solidFill>
                        </a:rPr>
                        <a:t>Product Power Cycles</a:t>
                      </a:r>
                    </a:p>
                  </a:txBody>
                  <a:tcPr/>
                </a:tc>
                <a:tc hMerge="1">
                  <a:txBody>
                    <a:bodyPr/>
                    <a:lstStyle/>
                    <a:p>
                      <a:endParaRPr lang="en-US" sz="500" dirty="0">
                        <a:solidFill>
                          <a:schemeClr val="tx1"/>
                        </a:solidFill>
                      </a:endParaRPr>
                    </a:p>
                  </a:txBody>
                  <a:tcPr/>
                </a:tc>
                <a:tc gridSpan="3">
                  <a:txBody>
                    <a:bodyPr/>
                    <a:lstStyle/>
                    <a:p>
                      <a:r>
                        <a:rPr lang="en-US" sz="1050" dirty="0">
                          <a:solidFill>
                            <a:schemeClr val="tx1"/>
                          </a:solidFill>
                        </a:rPr>
                        <a:t>Product Temperature Conditions</a:t>
                      </a:r>
                    </a:p>
                  </a:txBody>
                  <a:tcPr/>
                </a:tc>
                <a:tc hMerge="1">
                  <a:txBody>
                    <a:bodyPr/>
                    <a:lstStyle/>
                    <a:p>
                      <a:endParaRPr lang="en-US" sz="500" dirty="0">
                        <a:solidFill>
                          <a:schemeClr val="tx1"/>
                        </a:solidFill>
                      </a:endParaRPr>
                    </a:p>
                  </a:txBody>
                  <a:tcPr/>
                </a:tc>
                <a:tc hMerge="1">
                  <a:txBody>
                    <a:bodyPr/>
                    <a:lstStyle/>
                    <a:p>
                      <a:endParaRPr lang="en-US" sz="500" dirty="0">
                        <a:solidFill>
                          <a:schemeClr val="tx1"/>
                        </a:solidFill>
                      </a:endParaRPr>
                    </a:p>
                  </a:txBody>
                  <a:tcPr/>
                </a:tc>
                <a:extLst>
                  <a:ext uri="{0D108BD9-81ED-4DB2-BD59-A6C34878D82A}">
                    <a16:rowId xmlns:a16="http://schemas.microsoft.com/office/drawing/2014/main" val="877362529"/>
                  </a:ext>
                </a:extLst>
              </a:tr>
              <a:tr h="215350">
                <a:tc>
                  <a:txBody>
                    <a:bodyPr/>
                    <a:lstStyle/>
                    <a:p>
                      <a:endParaRPr lang="en-US" sz="1050" b="1" dirty="0">
                        <a:solidFill>
                          <a:schemeClr val="tx1"/>
                        </a:solidFill>
                      </a:endParaRPr>
                    </a:p>
                  </a:txBody>
                  <a:tcPr/>
                </a:tc>
                <a:tc>
                  <a:txBody>
                    <a:bodyPr/>
                    <a:lstStyle/>
                    <a:p>
                      <a:r>
                        <a:rPr lang="en-US" sz="700" b="1" dirty="0">
                          <a:solidFill>
                            <a:schemeClr val="tx1"/>
                          </a:solidFill>
                        </a:rPr>
                        <a:t>Market segment for the product</a:t>
                      </a:r>
                    </a:p>
                  </a:txBody>
                  <a:tcPr/>
                </a:tc>
                <a:tc>
                  <a:txBody>
                    <a:bodyPr/>
                    <a:lstStyle/>
                    <a:p>
                      <a:r>
                        <a:rPr lang="en-US" sz="700" b="1" dirty="0">
                          <a:solidFill>
                            <a:schemeClr val="tx1"/>
                          </a:solidFill>
                        </a:rPr>
                        <a:t>Avg # of On to Off power cycles a day</a:t>
                      </a:r>
                    </a:p>
                  </a:txBody>
                  <a:tcPr/>
                </a:tc>
                <a:tc>
                  <a:txBody>
                    <a:bodyPr/>
                    <a:lstStyle/>
                    <a:p>
                      <a:r>
                        <a:rPr lang="en-US" sz="700" b="1" dirty="0">
                          <a:solidFill>
                            <a:schemeClr val="tx1"/>
                          </a:solidFill>
                        </a:rPr>
                        <a:t>Avg # of active to standby (active to idle) cycles a day</a:t>
                      </a:r>
                    </a:p>
                  </a:txBody>
                  <a:tcPr/>
                </a:tc>
                <a:tc>
                  <a:txBody>
                    <a:bodyPr/>
                    <a:lstStyle/>
                    <a:p>
                      <a:r>
                        <a:rPr lang="en-US" sz="700" b="1" dirty="0">
                          <a:solidFill>
                            <a:schemeClr val="tx1"/>
                          </a:solidFill>
                        </a:rPr>
                        <a:t>Avg Standby or idle temp of the Intel SOC in the system</a:t>
                      </a:r>
                    </a:p>
                  </a:txBody>
                  <a:tcPr/>
                </a:tc>
                <a:tc>
                  <a:txBody>
                    <a:bodyPr/>
                    <a:lstStyle/>
                    <a:p>
                      <a:r>
                        <a:rPr lang="en-US" sz="700" b="1" dirty="0">
                          <a:solidFill>
                            <a:schemeClr val="tx1"/>
                          </a:solidFill>
                        </a:rPr>
                        <a:t>Avg Active temp of the Intel SOC in the system</a:t>
                      </a:r>
                    </a:p>
                  </a:txBody>
                  <a:tcPr/>
                </a:tc>
                <a:tc>
                  <a:txBody>
                    <a:bodyPr/>
                    <a:lstStyle/>
                    <a:p>
                      <a:r>
                        <a:rPr lang="en-US" sz="700" b="1" dirty="0">
                          <a:solidFill>
                            <a:schemeClr val="tx1"/>
                          </a:solidFill>
                        </a:rPr>
                        <a:t>Avg ambient (RT) at location of where the system is used</a:t>
                      </a:r>
                    </a:p>
                  </a:txBody>
                  <a:tcPr/>
                </a:tc>
                <a:extLst>
                  <a:ext uri="{0D108BD9-81ED-4DB2-BD59-A6C34878D82A}">
                    <a16:rowId xmlns:a16="http://schemas.microsoft.com/office/drawing/2014/main" val="3071589016"/>
                  </a:ext>
                </a:extLst>
              </a:tr>
              <a:tr h="215350">
                <a:tc>
                  <a:txBody>
                    <a:bodyPr/>
                    <a:lstStyle/>
                    <a:p>
                      <a:r>
                        <a:rPr lang="en-US" sz="1050" b="1" dirty="0"/>
                        <a:t>MSC </a:t>
                      </a:r>
                      <a:r>
                        <a:rPr lang="en-US" sz="900" b="1" dirty="0"/>
                        <a:t>(Avnet)</a:t>
                      </a:r>
                      <a:endParaRPr lang="en-US" sz="1050" b="1" dirty="0"/>
                    </a:p>
                  </a:txBody>
                  <a:tcPr/>
                </a:tc>
                <a:tc>
                  <a:txBody>
                    <a:bodyPr/>
                    <a:lstStyle/>
                    <a:p>
                      <a:r>
                        <a:rPr lang="en-US" sz="700" dirty="0">
                          <a:solidFill>
                            <a:schemeClr val="tx1"/>
                          </a:solidFill>
                        </a:rPr>
                        <a:t>Industrial. We are making computer modules according to industries standards like COM-Express, SMARC, Q7. We sell these modules into all kind of markets. Some do run 24 by 7 at high loads. In HMI applications they run often in sleep mode and wake up as the user requests something. Environmental wise we offer industrial temp modules (-40 to 85 C) as the highest standard. For other applications we produce PC-client type modules.</a:t>
                      </a:r>
                    </a:p>
                  </a:txBody>
                  <a:tcPr/>
                </a:tc>
                <a:tc>
                  <a:txBody>
                    <a:bodyPr/>
                    <a:lstStyle/>
                    <a:p>
                      <a:r>
                        <a:rPr lang="en-US" sz="700" dirty="0"/>
                        <a:t>0-1 cycles/day</a:t>
                      </a:r>
                    </a:p>
                  </a:txBody>
                  <a:tcPr/>
                </a:tc>
                <a:tc>
                  <a:txBody>
                    <a:bodyPr/>
                    <a:lstStyle/>
                    <a:p>
                      <a:r>
                        <a:rPr lang="en-US" sz="700" dirty="0"/>
                        <a:t>0-20 cycles/day</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00" dirty="0"/>
                        <a:t>30 to 40°C</a:t>
                      </a:r>
                    </a:p>
                  </a:txBody>
                  <a:tcPr/>
                </a:tc>
                <a:tc>
                  <a:txBody>
                    <a:bodyPr/>
                    <a:lstStyle/>
                    <a:p>
                      <a:r>
                        <a:rPr lang="en-US" sz="700" dirty="0"/>
                        <a:t>50 to 60°C</a:t>
                      </a:r>
                    </a:p>
                  </a:txBody>
                  <a:tcPr/>
                </a:tc>
                <a:tc>
                  <a:txBody>
                    <a:bodyPr/>
                    <a:lstStyle/>
                    <a:p>
                      <a:r>
                        <a:rPr lang="en-US" sz="700" dirty="0"/>
                        <a:t>-20 to 50°C</a:t>
                      </a:r>
                    </a:p>
                  </a:txBody>
                  <a:tcPr/>
                </a:tc>
                <a:extLst>
                  <a:ext uri="{0D108BD9-81ED-4DB2-BD59-A6C34878D82A}">
                    <a16:rowId xmlns:a16="http://schemas.microsoft.com/office/drawing/2014/main" val="287494239"/>
                  </a:ext>
                </a:extLst>
              </a:tr>
              <a:tr h="215350">
                <a:tc>
                  <a:txBody>
                    <a:bodyPr/>
                    <a:lstStyle/>
                    <a:p>
                      <a:r>
                        <a:rPr lang="en-US" sz="1050" b="1" dirty="0"/>
                        <a:t>Omron</a:t>
                      </a:r>
                    </a:p>
                  </a:txBody>
                  <a:tcPr/>
                </a:tc>
                <a:tc>
                  <a:txBody>
                    <a:bodyPr/>
                    <a:lstStyle/>
                    <a:p>
                      <a:r>
                        <a:rPr lang="en-US" sz="700" dirty="0"/>
                        <a:t>Industrial</a:t>
                      </a:r>
                    </a:p>
                  </a:txBody>
                  <a:tcPr/>
                </a:tc>
                <a:tc>
                  <a:txBody>
                    <a:bodyPr/>
                    <a:lstStyle/>
                    <a:p>
                      <a:r>
                        <a:rPr lang="en-US" sz="700" dirty="0"/>
                        <a:t>3 cycles/day</a:t>
                      </a:r>
                    </a:p>
                  </a:txBody>
                  <a:tcPr/>
                </a:tc>
                <a:tc>
                  <a:txBody>
                    <a:bodyPr/>
                    <a:lstStyle/>
                    <a:p>
                      <a:r>
                        <a:rPr lang="en-US" sz="700" dirty="0"/>
                        <a:t>3 cycles/day</a:t>
                      </a:r>
                    </a:p>
                  </a:txBody>
                  <a:tcPr/>
                </a:tc>
                <a:tc>
                  <a:txBody>
                    <a:bodyPr/>
                    <a:lstStyle/>
                    <a:p>
                      <a:r>
                        <a:rPr lang="en-US" sz="700" dirty="0"/>
                        <a:t>75°C Max</a:t>
                      </a:r>
                    </a:p>
                  </a:txBody>
                  <a:tcPr/>
                </a:tc>
                <a:tc>
                  <a:txBody>
                    <a:bodyPr/>
                    <a:lstStyle/>
                    <a:p>
                      <a:r>
                        <a:rPr lang="en-US" sz="700" dirty="0"/>
                        <a:t>85°C (Board temp)</a:t>
                      </a:r>
                    </a:p>
                  </a:txBody>
                  <a:tcPr/>
                </a:tc>
                <a:tc>
                  <a:txBody>
                    <a:bodyPr/>
                    <a:lstStyle/>
                    <a:p>
                      <a:r>
                        <a:rPr lang="en-US" sz="700" dirty="0"/>
                        <a:t>55°C</a:t>
                      </a:r>
                    </a:p>
                  </a:txBody>
                  <a:tcPr/>
                </a:tc>
                <a:extLst>
                  <a:ext uri="{0D108BD9-81ED-4DB2-BD59-A6C34878D82A}">
                    <a16:rowId xmlns:a16="http://schemas.microsoft.com/office/drawing/2014/main" val="1687329233"/>
                  </a:ext>
                </a:extLst>
              </a:tr>
              <a:tr h="215350">
                <a:tc>
                  <a:txBody>
                    <a:bodyPr/>
                    <a:lstStyle/>
                    <a:p>
                      <a:r>
                        <a:rPr lang="en-US" sz="1050" b="1" dirty="0"/>
                        <a:t>TQ</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00" dirty="0">
                          <a:solidFill>
                            <a:schemeClr val="tx1"/>
                          </a:solidFill>
                        </a:rPr>
                        <a:t>EBM</a:t>
                      </a:r>
                    </a:p>
                  </a:txBody>
                  <a:tcPr/>
                </a:tc>
                <a:tc>
                  <a:txBody>
                    <a:bodyPr/>
                    <a:lstStyle/>
                    <a:p>
                      <a:r>
                        <a:rPr lang="en-US" sz="700" dirty="0"/>
                        <a:t>24/7 to 100/day is possible (depends on the customer)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mn-lt"/>
                          <a:ea typeface="+mn-ea"/>
                          <a:cs typeface="+mn-cs"/>
                        </a:rPr>
                        <a:t>Depends on customer usage and running SW</a:t>
                      </a:r>
                      <a:endParaRPr kumimoji="0" lang="en-US" sz="700" b="0" i="0" u="none" strike="noStrike" kern="1200" cap="none" spc="0" normalizeH="0" baseline="0" noProof="0" dirty="0">
                        <a:ln>
                          <a:noFill/>
                        </a:ln>
                        <a:solidFill>
                          <a:prstClr val="black"/>
                        </a:solidFill>
                        <a:effectLst/>
                        <a:uLnTx/>
                        <a:uFillTx/>
                        <a:latin typeface="Intel Clear"/>
                        <a:ea typeface="+mn-ea"/>
                        <a:cs typeface="+mn-cs"/>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mn-lt"/>
                          <a:ea typeface="+mn-ea"/>
                          <a:cs typeface="+mn-cs"/>
                        </a:rPr>
                        <a:t>We specify -40 to 100°C for SoC (depends on customer usage)</a:t>
                      </a:r>
                      <a:endParaRPr kumimoji="0" lang="en-US" sz="700" b="0" i="0" u="none" strike="noStrike" kern="1200" cap="none" spc="0" normalizeH="0" baseline="0" noProof="0" dirty="0">
                        <a:ln>
                          <a:noFill/>
                        </a:ln>
                        <a:solidFill>
                          <a:prstClr val="black"/>
                        </a:solidFill>
                        <a:effectLst/>
                        <a:uLnTx/>
                        <a:uFillTx/>
                        <a:latin typeface="Intel Clear"/>
                        <a:ea typeface="+mn-ea"/>
                        <a:cs typeface="+mn-cs"/>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mn-lt"/>
                          <a:ea typeface="+mn-ea"/>
                          <a:cs typeface="+mn-cs"/>
                        </a:rPr>
                        <a:t>We specify -40 to 100°C for SoC (depends on customer usage)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mn-lt"/>
                          <a:ea typeface="+mn-ea"/>
                          <a:cs typeface="+mn-cs"/>
                        </a:rPr>
                        <a:t>We specify -40 to 85°C for system (depends on customer usage)</a:t>
                      </a:r>
                      <a:endParaRPr kumimoji="0" lang="en-US" sz="700" b="0" i="0" u="none" strike="noStrike" kern="1200" cap="none" spc="0" normalizeH="0" baseline="0" noProof="0" dirty="0">
                        <a:ln>
                          <a:noFill/>
                        </a:ln>
                        <a:solidFill>
                          <a:prstClr val="black"/>
                        </a:solidFill>
                        <a:effectLst/>
                        <a:uLnTx/>
                        <a:uFillTx/>
                        <a:latin typeface="Intel Clear"/>
                        <a:ea typeface="+mn-ea"/>
                        <a:cs typeface="+mn-cs"/>
                      </a:endParaRPr>
                    </a:p>
                  </a:txBody>
                  <a:tcPr/>
                </a:tc>
                <a:extLst>
                  <a:ext uri="{0D108BD9-81ED-4DB2-BD59-A6C34878D82A}">
                    <a16:rowId xmlns:a16="http://schemas.microsoft.com/office/drawing/2014/main" val="3765114474"/>
                  </a:ext>
                </a:extLst>
              </a:tr>
              <a:tr h="215350">
                <a:tc>
                  <a:txBody>
                    <a:bodyPr/>
                    <a:lstStyle/>
                    <a:p>
                      <a:r>
                        <a:rPr lang="en-US" sz="1050" b="1" dirty="0"/>
                        <a:t>Weibu</a:t>
                      </a:r>
                    </a:p>
                  </a:txBody>
                  <a:tcPr/>
                </a:tc>
                <a:tc>
                  <a:txBody>
                    <a:bodyPr/>
                    <a:lstStyle/>
                    <a:p>
                      <a:r>
                        <a:rPr lang="en-US" sz="700" dirty="0"/>
                        <a:t>PC Client</a:t>
                      </a:r>
                    </a:p>
                  </a:txBody>
                  <a:tcPr/>
                </a:tc>
                <a:tc>
                  <a:txBody>
                    <a:bodyPr/>
                    <a:lstStyle/>
                    <a:p>
                      <a:r>
                        <a:rPr lang="en-US" sz="700" dirty="0"/>
                        <a:t>1 cycle/day</a:t>
                      </a:r>
                    </a:p>
                  </a:txBody>
                  <a:tcPr/>
                </a:tc>
                <a:tc>
                  <a:txBody>
                    <a:bodyPr/>
                    <a:lstStyle/>
                    <a:p>
                      <a:r>
                        <a:rPr lang="en-US" sz="700" dirty="0"/>
                        <a:t>5 cycle/day</a:t>
                      </a:r>
                    </a:p>
                  </a:txBody>
                  <a:tcPr/>
                </a:tc>
                <a:tc>
                  <a:txBody>
                    <a:bodyPr/>
                    <a:lstStyle/>
                    <a:p>
                      <a:r>
                        <a:rPr lang="en-US" sz="700" dirty="0"/>
                        <a:t>30°C</a:t>
                      </a:r>
                    </a:p>
                  </a:txBody>
                  <a:tcPr/>
                </a:tc>
                <a:tc>
                  <a:txBody>
                    <a:bodyPr/>
                    <a:lstStyle/>
                    <a:p>
                      <a:r>
                        <a:rPr lang="en-US" sz="700" dirty="0"/>
                        <a:t>45°C</a:t>
                      </a:r>
                    </a:p>
                  </a:txBody>
                  <a:tcPr/>
                </a:tc>
                <a:tc>
                  <a:txBody>
                    <a:bodyPr/>
                    <a:lstStyle/>
                    <a:p>
                      <a:r>
                        <a:rPr lang="en-US" sz="700" dirty="0"/>
                        <a:t>26°C</a:t>
                      </a:r>
                    </a:p>
                  </a:txBody>
                  <a:tcPr/>
                </a:tc>
                <a:extLst>
                  <a:ext uri="{0D108BD9-81ED-4DB2-BD59-A6C34878D82A}">
                    <a16:rowId xmlns:a16="http://schemas.microsoft.com/office/drawing/2014/main" val="196143693"/>
                  </a:ext>
                </a:extLst>
              </a:tr>
              <a:tr h="215350">
                <a:tc>
                  <a:txBody>
                    <a:bodyPr/>
                    <a:lstStyle/>
                    <a:p>
                      <a:r>
                        <a:rPr lang="en-US" sz="1050" b="1" dirty="0"/>
                        <a:t>Beckhoff</a:t>
                      </a:r>
                    </a:p>
                  </a:txBody>
                  <a:tcPr/>
                </a:tc>
                <a:tc>
                  <a:txBody>
                    <a:bodyPr/>
                    <a:lstStyle/>
                    <a:p>
                      <a:r>
                        <a:rPr lang="en-US" sz="700" dirty="0">
                          <a:solidFill>
                            <a:srgbClr val="FF0000"/>
                          </a:solidFill>
                        </a:rPr>
                        <a:t>TBD</a:t>
                      </a:r>
                    </a:p>
                  </a:txBody>
                  <a:tcPr/>
                </a:tc>
                <a:tc>
                  <a:txBody>
                    <a:bodyPr/>
                    <a:lstStyle/>
                    <a:p>
                      <a:endParaRPr lang="en-US" sz="7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700" dirty="0"/>
                    </a:p>
                  </a:txBody>
                  <a:tcPr/>
                </a:tc>
                <a:tc>
                  <a:txBody>
                    <a:bodyPr/>
                    <a:lstStyle/>
                    <a:p>
                      <a:endParaRPr lang="en-US" sz="700" dirty="0"/>
                    </a:p>
                  </a:txBody>
                  <a:tcPr/>
                </a:tc>
                <a:tc>
                  <a:txBody>
                    <a:bodyPr/>
                    <a:lstStyle/>
                    <a:p>
                      <a:endParaRPr lang="en-US" sz="700" dirty="0"/>
                    </a:p>
                  </a:txBody>
                  <a:tcPr/>
                </a:tc>
                <a:tc>
                  <a:txBody>
                    <a:bodyPr/>
                    <a:lstStyle/>
                    <a:p>
                      <a:endParaRPr lang="en-US" sz="700" dirty="0"/>
                    </a:p>
                  </a:txBody>
                  <a:tcPr/>
                </a:tc>
                <a:extLst>
                  <a:ext uri="{0D108BD9-81ED-4DB2-BD59-A6C34878D82A}">
                    <a16:rowId xmlns:a16="http://schemas.microsoft.com/office/drawing/2014/main" val="1106812584"/>
                  </a:ext>
                </a:extLst>
              </a:tr>
              <a:tr h="215350">
                <a:tc>
                  <a:txBody>
                    <a:bodyPr/>
                    <a:lstStyle/>
                    <a:p>
                      <a:r>
                        <a:rPr lang="en-US" sz="1050" b="1" dirty="0"/>
                        <a:t>Kontron</a:t>
                      </a:r>
                    </a:p>
                  </a:txBody>
                  <a:tcPr/>
                </a:tc>
                <a:tc>
                  <a:txBody>
                    <a:bodyPr/>
                    <a:lstStyle/>
                    <a:p>
                      <a:r>
                        <a:rPr lang="en-US" sz="700" dirty="0">
                          <a:solidFill>
                            <a:srgbClr val="FF0000"/>
                          </a:solidFill>
                        </a:rPr>
                        <a:t>TBD</a:t>
                      </a:r>
                      <a:endParaRPr lang="en-US" sz="700" dirty="0"/>
                    </a:p>
                  </a:txBody>
                  <a:tcPr/>
                </a:tc>
                <a:tc>
                  <a:txBody>
                    <a:bodyPr/>
                    <a:lstStyle/>
                    <a:p>
                      <a:endParaRPr lang="en-US" sz="700" dirty="0"/>
                    </a:p>
                  </a:txBody>
                  <a:tcPr/>
                </a:tc>
                <a:tc>
                  <a:txBody>
                    <a:bodyPr/>
                    <a:lstStyle/>
                    <a:p>
                      <a:endParaRPr lang="en-US" sz="700" dirty="0"/>
                    </a:p>
                  </a:txBody>
                  <a:tcPr/>
                </a:tc>
                <a:tc>
                  <a:txBody>
                    <a:bodyPr/>
                    <a:lstStyle/>
                    <a:p>
                      <a:endParaRPr lang="en-US" sz="700" dirty="0"/>
                    </a:p>
                  </a:txBody>
                  <a:tcPr/>
                </a:tc>
                <a:tc>
                  <a:txBody>
                    <a:bodyPr/>
                    <a:lstStyle/>
                    <a:p>
                      <a:endParaRPr lang="en-US" sz="700" dirty="0"/>
                    </a:p>
                  </a:txBody>
                  <a:tcPr/>
                </a:tc>
                <a:tc>
                  <a:txBody>
                    <a:bodyPr/>
                    <a:lstStyle/>
                    <a:p>
                      <a:endParaRPr lang="en-US" sz="700" dirty="0"/>
                    </a:p>
                  </a:txBody>
                  <a:tcPr/>
                </a:tc>
                <a:extLst>
                  <a:ext uri="{0D108BD9-81ED-4DB2-BD59-A6C34878D82A}">
                    <a16:rowId xmlns:a16="http://schemas.microsoft.com/office/drawing/2014/main" val="3913854202"/>
                  </a:ext>
                </a:extLst>
              </a:tr>
              <a:tr h="215350">
                <a:tc>
                  <a:txBody>
                    <a:bodyPr/>
                    <a:lstStyle/>
                    <a:p>
                      <a:r>
                        <a:rPr lang="en-US" sz="1050" b="1" dirty="0"/>
                        <a:t>Hitachi</a:t>
                      </a:r>
                    </a:p>
                  </a:txBody>
                  <a:tcPr/>
                </a:tc>
                <a:tc>
                  <a:txBody>
                    <a:bodyPr/>
                    <a:lstStyle/>
                    <a:p>
                      <a:r>
                        <a:rPr lang="en-US" sz="700" dirty="0"/>
                        <a:t>Industrial</a:t>
                      </a:r>
                    </a:p>
                  </a:txBody>
                  <a:tcPr/>
                </a:tc>
                <a:tc>
                  <a:txBody>
                    <a:bodyPr/>
                    <a:lstStyle/>
                    <a:p>
                      <a:r>
                        <a:rPr lang="en-US" sz="700" dirty="0"/>
                        <a:t>0 (Continuous Operation)</a:t>
                      </a:r>
                    </a:p>
                  </a:txBody>
                  <a:tcPr/>
                </a:tc>
                <a:tc>
                  <a:txBody>
                    <a:bodyPr/>
                    <a:lstStyle/>
                    <a:p>
                      <a:r>
                        <a:rPr lang="en-US" sz="700" dirty="0"/>
                        <a:t>0 (Continuous Operation)</a:t>
                      </a:r>
                    </a:p>
                  </a:txBody>
                  <a:tcPr/>
                </a:tc>
                <a:tc>
                  <a:txBody>
                    <a:bodyPr/>
                    <a:lstStyle/>
                    <a:p>
                      <a:r>
                        <a:rPr lang="en-US" sz="700" dirty="0"/>
                        <a:t>30°C</a:t>
                      </a:r>
                    </a:p>
                  </a:txBody>
                  <a:tcPr/>
                </a:tc>
                <a:tc>
                  <a:txBody>
                    <a:bodyPr/>
                    <a:lstStyle/>
                    <a:p>
                      <a:r>
                        <a:rPr lang="en-US" sz="700" dirty="0"/>
                        <a:t>50°C</a:t>
                      </a:r>
                    </a:p>
                  </a:txBody>
                  <a:tcPr/>
                </a:tc>
                <a:tc>
                  <a:txBody>
                    <a:bodyPr/>
                    <a:lstStyle/>
                    <a:p>
                      <a:r>
                        <a:rPr lang="en-US" sz="700" dirty="0"/>
                        <a:t>The system will be in an air conditioned area at an avg ambient temp from 5 to 35°C</a:t>
                      </a:r>
                    </a:p>
                  </a:txBody>
                  <a:tcPr/>
                </a:tc>
                <a:extLst>
                  <a:ext uri="{0D108BD9-81ED-4DB2-BD59-A6C34878D82A}">
                    <a16:rowId xmlns:a16="http://schemas.microsoft.com/office/drawing/2014/main" val="1647628098"/>
                  </a:ext>
                </a:extLst>
              </a:tr>
            </a:tbl>
          </a:graphicData>
        </a:graphic>
      </p:graphicFrame>
    </p:spTree>
    <p:extLst>
      <p:ext uri="{BB962C8B-B14F-4D97-AF65-F5344CB8AC3E}">
        <p14:creationId xmlns:p14="http://schemas.microsoft.com/office/powerpoint/2010/main" val="3098576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E42ED0-125A-4BED-B975-1B25B5A47663}"/>
              </a:ext>
            </a:extLst>
          </p:cNvPr>
          <p:cNvSpPr>
            <a:spLocks noGrp="1"/>
          </p:cNvSpPr>
          <p:nvPr>
            <p:ph type="sldNum" sz="quarter" idx="12"/>
          </p:nvPr>
        </p:nvSpPr>
        <p:spPr/>
        <p:txBody>
          <a:bodyPr/>
          <a:lstStyle/>
          <a:p>
            <a:fld id="{EE2556C5-CE8C-6547-B838-EA80C61A4AF7}" type="slidenum">
              <a:rPr lang="en-US" smtClean="0"/>
              <a:pPr/>
              <a:t>16</a:t>
            </a:fld>
            <a:endParaRPr lang="en-US" dirty="0"/>
          </a:p>
        </p:txBody>
      </p:sp>
      <p:sp>
        <p:nvSpPr>
          <p:cNvPr id="3" name="Title 2">
            <a:extLst>
              <a:ext uri="{FF2B5EF4-FFF2-40B4-BE49-F238E27FC236}">
                <a16:creationId xmlns:a16="http://schemas.microsoft.com/office/drawing/2014/main" id="{D4DD82C2-DC62-4A3F-A315-2AE6B59E9F45}"/>
              </a:ext>
            </a:extLst>
          </p:cNvPr>
          <p:cNvSpPr>
            <a:spLocks noGrp="1"/>
          </p:cNvSpPr>
          <p:nvPr>
            <p:ph type="title"/>
          </p:nvPr>
        </p:nvSpPr>
        <p:spPr>
          <a:xfrm>
            <a:off x="450427" y="-15688"/>
            <a:ext cx="8229600" cy="388675"/>
          </a:xfrm>
        </p:spPr>
        <p:txBody>
          <a:bodyPr/>
          <a:lstStyle/>
          <a:p>
            <a:r>
              <a:rPr lang="en-US" dirty="0"/>
              <a:t>Board Level Temperature Cycling (TC) Testing (Page 1 of 4)</a:t>
            </a:r>
          </a:p>
        </p:txBody>
      </p:sp>
      <p:graphicFrame>
        <p:nvGraphicFramePr>
          <p:cNvPr id="5" name="Table 5">
            <a:extLst>
              <a:ext uri="{FF2B5EF4-FFF2-40B4-BE49-F238E27FC236}">
                <a16:creationId xmlns:a16="http://schemas.microsoft.com/office/drawing/2014/main" id="{4E66A910-CC2C-4C63-B197-B16213A5C52F}"/>
              </a:ext>
            </a:extLst>
          </p:cNvPr>
          <p:cNvGraphicFramePr>
            <a:graphicFrameLocks noGrp="1"/>
          </p:cNvGraphicFramePr>
          <p:nvPr>
            <p:extLst>
              <p:ext uri="{D42A27DB-BD31-4B8C-83A1-F6EECF244321}">
                <p14:modId xmlns:p14="http://schemas.microsoft.com/office/powerpoint/2010/main" val="411323022"/>
              </p:ext>
            </p:extLst>
          </p:nvPr>
        </p:nvGraphicFramePr>
        <p:xfrm>
          <a:off x="7273" y="372987"/>
          <a:ext cx="9139240" cy="4467310"/>
        </p:xfrm>
        <a:graphic>
          <a:graphicData uri="http://schemas.openxmlformats.org/drawingml/2006/table">
            <a:tbl>
              <a:tblPr firstRow="1" bandRow="1">
                <a:tableStyleId>{5C22544A-7EE6-4342-B048-85BDC9FD1C3A}</a:tableStyleId>
              </a:tblPr>
              <a:tblGrid>
                <a:gridCol w="718478">
                  <a:extLst>
                    <a:ext uri="{9D8B030D-6E8A-4147-A177-3AD203B41FA5}">
                      <a16:colId xmlns:a16="http://schemas.microsoft.com/office/drawing/2014/main" val="2427798588"/>
                    </a:ext>
                  </a:extLst>
                </a:gridCol>
                <a:gridCol w="718478">
                  <a:extLst>
                    <a:ext uri="{9D8B030D-6E8A-4147-A177-3AD203B41FA5}">
                      <a16:colId xmlns:a16="http://schemas.microsoft.com/office/drawing/2014/main" val="193790245"/>
                    </a:ext>
                  </a:extLst>
                </a:gridCol>
                <a:gridCol w="589367">
                  <a:extLst>
                    <a:ext uri="{9D8B030D-6E8A-4147-A177-3AD203B41FA5}">
                      <a16:colId xmlns:a16="http://schemas.microsoft.com/office/drawing/2014/main" val="2524759092"/>
                    </a:ext>
                  </a:extLst>
                </a:gridCol>
                <a:gridCol w="694347">
                  <a:extLst>
                    <a:ext uri="{9D8B030D-6E8A-4147-A177-3AD203B41FA5}">
                      <a16:colId xmlns:a16="http://schemas.microsoft.com/office/drawing/2014/main" val="3847301582"/>
                    </a:ext>
                  </a:extLst>
                </a:gridCol>
                <a:gridCol w="641857">
                  <a:extLst>
                    <a:ext uri="{9D8B030D-6E8A-4147-A177-3AD203B41FA5}">
                      <a16:colId xmlns:a16="http://schemas.microsoft.com/office/drawing/2014/main" val="1051834608"/>
                    </a:ext>
                  </a:extLst>
                </a:gridCol>
                <a:gridCol w="641857">
                  <a:extLst>
                    <a:ext uri="{9D8B030D-6E8A-4147-A177-3AD203B41FA5}">
                      <a16:colId xmlns:a16="http://schemas.microsoft.com/office/drawing/2014/main" val="1430459665"/>
                    </a:ext>
                  </a:extLst>
                </a:gridCol>
                <a:gridCol w="641857">
                  <a:extLst>
                    <a:ext uri="{9D8B030D-6E8A-4147-A177-3AD203B41FA5}">
                      <a16:colId xmlns:a16="http://schemas.microsoft.com/office/drawing/2014/main" val="1868766097"/>
                    </a:ext>
                  </a:extLst>
                </a:gridCol>
                <a:gridCol w="641857">
                  <a:extLst>
                    <a:ext uri="{9D8B030D-6E8A-4147-A177-3AD203B41FA5}">
                      <a16:colId xmlns:a16="http://schemas.microsoft.com/office/drawing/2014/main" val="179359557"/>
                    </a:ext>
                  </a:extLst>
                </a:gridCol>
                <a:gridCol w="641857">
                  <a:extLst>
                    <a:ext uri="{9D8B030D-6E8A-4147-A177-3AD203B41FA5}">
                      <a16:colId xmlns:a16="http://schemas.microsoft.com/office/drawing/2014/main" val="2600276601"/>
                    </a:ext>
                  </a:extLst>
                </a:gridCol>
                <a:gridCol w="641857">
                  <a:extLst>
                    <a:ext uri="{9D8B030D-6E8A-4147-A177-3AD203B41FA5}">
                      <a16:colId xmlns:a16="http://schemas.microsoft.com/office/drawing/2014/main" val="2853401388"/>
                    </a:ext>
                  </a:extLst>
                </a:gridCol>
                <a:gridCol w="641857">
                  <a:extLst>
                    <a:ext uri="{9D8B030D-6E8A-4147-A177-3AD203B41FA5}">
                      <a16:colId xmlns:a16="http://schemas.microsoft.com/office/drawing/2014/main" val="1500934481"/>
                    </a:ext>
                  </a:extLst>
                </a:gridCol>
                <a:gridCol w="641857">
                  <a:extLst>
                    <a:ext uri="{9D8B030D-6E8A-4147-A177-3AD203B41FA5}">
                      <a16:colId xmlns:a16="http://schemas.microsoft.com/office/drawing/2014/main" val="2865116585"/>
                    </a:ext>
                  </a:extLst>
                </a:gridCol>
                <a:gridCol w="641857">
                  <a:extLst>
                    <a:ext uri="{9D8B030D-6E8A-4147-A177-3AD203B41FA5}">
                      <a16:colId xmlns:a16="http://schemas.microsoft.com/office/drawing/2014/main" val="207743069"/>
                    </a:ext>
                  </a:extLst>
                </a:gridCol>
                <a:gridCol w="641857">
                  <a:extLst>
                    <a:ext uri="{9D8B030D-6E8A-4147-A177-3AD203B41FA5}">
                      <a16:colId xmlns:a16="http://schemas.microsoft.com/office/drawing/2014/main" val="1832575208"/>
                    </a:ext>
                  </a:extLst>
                </a:gridCol>
              </a:tblGrid>
              <a:tr h="215350">
                <a:tc>
                  <a:txBody>
                    <a:bodyPr/>
                    <a:lstStyle/>
                    <a:p>
                      <a:r>
                        <a:rPr lang="en-US" sz="900" b="1" dirty="0">
                          <a:solidFill>
                            <a:schemeClr val="tx1"/>
                          </a:solidFill>
                        </a:rPr>
                        <a:t>Customer</a:t>
                      </a:r>
                    </a:p>
                  </a:txBody>
                  <a:tcPr/>
                </a:tc>
                <a:tc>
                  <a:txBody>
                    <a:bodyPr/>
                    <a:lstStyle/>
                    <a:p>
                      <a:r>
                        <a:rPr lang="en-US" sz="900" dirty="0">
                          <a:solidFill>
                            <a:schemeClr val="tx1"/>
                          </a:solidFill>
                        </a:rPr>
                        <a:t>Market Segment</a:t>
                      </a:r>
                    </a:p>
                  </a:txBody>
                  <a:tcPr/>
                </a:tc>
                <a:tc gridSpan="12">
                  <a:txBody>
                    <a:bodyPr/>
                    <a:lstStyle/>
                    <a:p>
                      <a:r>
                        <a:rPr lang="en-US" sz="900" dirty="0">
                          <a:solidFill>
                            <a:schemeClr val="tx1"/>
                          </a:solidFill>
                        </a:rPr>
                        <a:t>Board Level Temperature Cycling (TC) Testing</a:t>
                      </a:r>
                    </a:p>
                  </a:txBody>
                  <a:tcPr/>
                </a:tc>
                <a:tc hMerge="1">
                  <a:txBody>
                    <a:bodyPr/>
                    <a:lstStyle/>
                    <a:p>
                      <a:endParaRPr lang="en-US" sz="1050" dirty="0">
                        <a:solidFill>
                          <a:schemeClr val="tx1"/>
                        </a:solidFill>
                      </a:endParaRPr>
                    </a:p>
                  </a:txBody>
                  <a:tcPr/>
                </a:tc>
                <a:tc hMerge="1">
                  <a:txBody>
                    <a:bodyPr/>
                    <a:lstStyle/>
                    <a:p>
                      <a:endParaRPr lang="en-US" sz="500" dirty="0">
                        <a:solidFill>
                          <a:schemeClr val="tx1"/>
                        </a:solidFill>
                      </a:endParaRPr>
                    </a:p>
                  </a:txBody>
                  <a:tcPr/>
                </a:tc>
                <a:tc hMerge="1">
                  <a:txBody>
                    <a:bodyPr/>
                    <a:lstStyle/>
                    <a:p>
                      <a:endParaRPr lang="en-US" sz="1050" dirty="0">
                        <a:solidFill>
                          <a:schemeClr val="tx1"/>
                        </a:solidFill>
                      </a:endParaRPr>
                    </a:p>
                  </a:txBody>
                  <a:tcPr/>
                </a:tc>
                <a:tc hMerge="1">
                  <a:txBody>
                    <a:bodyPr/>
                    <a:lstStyle/>
                    <a:p>
                      <a:endParaRPr lang="en-US" sz="500" dirty="0">
                        <a:solidFill>
                          <a:schemeClr val="tx1"/>
                        </a:solidFill>
                      </a:endParaRPr>
                    </a:p>
                  </a:txBody>
                  <a:tcPr/>
                </a:tc>
                <a:tc hMerge="1">
                  <a:txBody>
                    <a:bodyPr/>
                    <a:lstStyle/>
                    <a:p>
                      <a:endParaRPr lang="en-US" sz="500" dirty="0">
                        <a:solidFill>
                          <a:schemeClr val="tx1"/>
                        </a:solidFill>
                      </a:endParaRPr>
                    </a:p>
                  </a:txBody>
                  <a:tcPr/>
                </a:tc>
                <a:tc hMerge="1">
                  <a:txBody>
                    <a:bodyPr/>
                    <a:lstStyle/>
                    <a:p>
                      <a:endParaRPr lang="en-US" sz="900" dirty="0">
                        <a:solidFill>
                          <a:schemeClr val="tx1"/>
                        </a:solidFill>
                      </a:endParaRPr>
                    </a:p>
                  </a:txBody>
                  <a:tcPr/>
                </a:tc>
                <a:tc hMerge="1">
                  <a:txBody>
                    <a:bodyPr/>
                    <a:lstStyle/>
                    <a:p>
                      <a:endParaRPr lang="en-US" sz="900" dirty="0">
                        <a:solidFill>
                          <a:schemeClr val="tx1"/>
                        </a:solidFill>
                      </a:endParaRPr>
                    </a:p>
                  </a:txBody>
                  <a:tcPr/>
                </a:tc>
                <a:tc hMerge="1">
                  <a:txBody>
                    <a:bodyPr/>
                    <a:lstStyle/>
                    <a:p>
                      <a:endParaRPr lang="en-US" sz="900" dirty="0">
                        <a:solidFill>
                          <a:schemeClr val="tx1"/>
                        </a:solidFill>
                      </a:endParaRPr>
                    </a:p>
                  </a:txBody>
                  <a:tcPr/>
                </a:tc>
                <a:tc hMerge="1">
                  <a:txBody>
                    <a:bodyPr/>
                    <a:lstStyle/>
                    <a:p>
                      <a:endParaRPr lang="en-US" sz="900" dirty="0">
                        <a:solidFill>
                          <a:schemeClr val="tx1"/>
                        </a:solidFill>
                      </a:endParaRPr>
                    </a:p>
                  </a:txBody>
                  <a:tcPr/>
                </a:tc>
                <a:tc hMerge="1">
                  <a:txBody>
                    <a:bodyPr/>
                    <a:lstStyle/>
                    <a:p>
                      <a:endParaRPr lang="en-US" sz="900" dirty="0">
                        <a:solidFill>
                          <a:schemeClr val="tx1"/>
                        </a:solidFill>
                      </a:endParaRPr>
                    </a:p>
                  </a:txBody>
                  <a:tcPr/>
                </a:tc>
                <a:tc hMerge="1">
                  <a:txBody>
                    <a:bodyPr/>
                    <a:lstStyle/>
                    <a:p>
                      <a:endParaRPr lang="en-US" sz="900" dirty="0">
                        <a:solidFill>
                          <a:schemeClr val="tx1"/>
                        </a:solidFill>
                      </a:endParaRPr>
                    </a:p>
                  </a:txBody>
                  <a:tcPr/>
                </a:tc>
                <a:extLst>
                  <a:ext uri="{0D108BD9-81ED-4DB2-BD59-A6C34878D82A}">
                    <a16:rowId xmlns:a16="http://schemas.microsoft.com/office/drawing/2014/main" val="877362529"/>
                  </a:ext>
                </a:extLst>
              </a:tr>
              <a:tr h="215350">
                <a:tc>
                  <a:txBody>
                    <a:bodyPr/>
                    <a:lstStyle/>
                    <a:p>
                      <a:endParaRPr lang="en-US" sz="800" b="1" dirty="0">
                        <a:solidFill>
                          <a:schemeClr val="tx1"/>
                        </a:solidFill>
                      </a:endParaRPr>
                    </a:p>
                  </a:txBody>
                  <a:tcPr/>
                </a:tc>
                <a:tc>
                  <a:txBody>
                    <a:bodyPr/>
                    <a:lstStyle/>
                    <a:p>
                      <a:r>
                        <a:rPr lang="en-US" sz="700" b="1" dirty="0">
                          <a:solidFill>
                            <a:schemeClr val="tx1"/>
                          </a:solidFill>
                        </a:rPr>
                        <a:t>Market segment for the product</a:t>
                      </a:r>
                    </a:p>
                  </a:txBody>
                  <a:tcPr/>
                </a:tc>
                <a:tc>
                  <a:txBody>
                    <a:bodyPr/>
                    <a:lstStyle/>
                    <a:p>
                      <a:r>
                        <a:rPr lang="en-US" sz="700" b="1" dirty="0">
                          <a:solidFill>
                            <a:schemeClr val="tx1"/>
                          </a:solidFill>
                        </a:rPr>
                        <a:t>We perform board level TC</a:t>
                      </a:r>
                    </a:p>
                  </a:txBody>
                  <a:tcPr/>
                </a:tc>
                <a:tc>
                  <a:txBody>
                    <a:bodyPr/>
                    <a:lstStyle/>
                    <a:p>
                      <a:r>
                        <a:rPr lang="en-US" sz="700" b="1" dirty="0">
                          <a:solidFill>
                            <a:schemeClr val="tx1"/>
                          </a:solidFill>
                        </a:rPr>
                        <a:t>Board or system level TC performed</a:t>
                      </a:r>
                    </a:p>
                  </a:txBody>
                  <a:tcPr/>
                </a:tc>
                <a:tc>
                  <a:txBody>
                    <a:bodyPr/>
                    <a:lstStyle/>
                    <a:p>
                      <a:r>
                        <a:rPr lang="en-US" sz="700" b="1" dirty="0">
                          <a:solidFill>
                            <a:schemeClr val="tx1"/>
                          </a:solidFill>
                        </a:rPr>
                        <a:t>Loading Param’s for board level TC</a:t>
                      </a:r>
                    </a:p>
                  </a:txBody>
                  <a:tcPr/>
                </a:tc>
                <a:tc>
                  <a:txBody>
                    <a:bodyPr/>
                    <a:lstStyle/>
                    <a:p>
                      <a:r>
                        <a:rPr lang="en-US" sz="700" b="1" dirty="0">
                          <a:solidFill>
                            <a:schemeClr val="tx1"/>
                          </a:solidFill>
                        </a:rPr>
                        <a:t>Board thickness for board level TC</a:t>
                      </a:r>
                    </a:p>
                  </a:txBody>
                  <a:tcPr/>
                </a:tc>
                <a:tc>
                  <a:txBody>
                    <a:bodyPr/>
                    <a:lstStyle/>
                    <a:p>
                      <a:r>
                        <a:rPr lang="en-US" sz="700" b="1" dirty="0">
                          <a:solidFill>
                            <a:schemeClr val="tx1"/>
                          </a:solidFill>
                        </a:rPr>
                        <a:t>Temp range for board level TC</a:t>
                      </a:r>
                    </a:p>
                  </a:txBody>
                  <a:tcPr/>
                </a:tc>
                <a:tc>
                  <a:txBody>
                    <a:bodyPr/>
                    <a:lstStyle/>
                    <a:p>
                      <a:r>
                        <a:rPr lang="en-US" sz="700" b="1" dirty="0">
                          <a:solidFill>
                            <a:schemeClr val="tx1"/>
                          </a:solidFill>
                        </a:rPr>
                        <a:t>Cycle length (incl dwell time) for board level TC</a:t>
                      </a:r>
                    </a:p>
                  </a:txBody>
                  <a:tcPr/>
                </a:tc>
                <a:tc>
                  <a:txBody>
                    <a:bodyPr/>
                    <a:lstStyle/>
                    <a:p>
                      <a:r>
                        <a:rPr lang="en-US" sz="700" b="1" dirty="0">
                          <a:solidFill>
                            <a:schemeClr val="tx1"/>
                          </a:solidFill>
                        </a:rPr>
                        <a:t>Temp ramp rate for board level TC</a:t>
                      </a:r>
                    </a:p>
                  </a:txBody>
                  <a:tcPr/>
                </a:tc>
                <a:tc>
                  <a:txBody>
                    <a:bodyPr/>
                    <a:lstStyle/>
                    <a:p>
                      <a:r>
                        <a:rPr lang="en-US" sz="700" b="1" dirty="0">
                          <a:solidFill>
                            <a:schemeClr val="tx1"/>
                          </a:solidFill>
                        </a:rPr>
                        <a:t>Adhesives used on Intel SOC for board level TC</a:t>
                      </a:r>
                    </a:p>
                  </a:txBody>
                  <a:tcPr/>
                </a:tc>
                <a:tc>
                  <a:txBody>
                    <a:bodyPr/>
                    <a:lstStyle/>
                    <a:p>
                      <a:r>
                        <a:rPr lang="en-US" sz="700" b="1" dirty="0">
                          <a:solidFill>
                            <a:schemeClr val="tx1"/>
                          </a:solidFill>
                        </a:rPr>
                        <a:t>How are board level TC results are monitored</a:t>
                      </a:r>
                    </a:p>
                  </a:txBody>
                  <a:tcPr/>
                </a:tc>
                <a:tc>
                  <a:txBody>
                    <a:bodyPr/>
                    <a:lstStyle/>
                    <a:p>
                      <a:r>
                        <a:rPr lang="en-US" sz="700" b="1" dirty="0">
                          <a:solidFill>
                            <a:schemeClr val="tx1"/>
                          </a:solidFill>
                        </a:rPr>
                        <a:t>Rqmt for qty of board level temp cycles</a:t>
                      </a:r>
                    </a:p>
                  </a:txBody>
                  <a:tcPr/>
                </a:tc>
                <a:tc>
                  <a:txBody>
                    <a:bodyPr/>
                    <a:lstStyle/>
                    <a:p>
                      <a:r>
                        <a:rPr lang="en-US" sz="700" b="1" dirty="0">
                          <a:solidFill>
                            <a:schemeClr val="tx1"/>
                          </a:solidFill>
                        </a:rPr>
                        <a:t>Success Criteria for board level TC (# of fails allowed from tested pop)</a:t>
                      </a:r>
                    </a:p>
                  </a:txBody>
                  <a:tcPr/>
                </a:tc>
                <a:tc>
                  <a:txBody>
                    <a:bodyPr/>
                    <a:lstStyle/>
                    <a:p>
                      <a:r>
                        <a:rPr lang="en-US" sz="700" b="1" dirty="0">
                          <a:solidFill>
                            <a:schemeClr val="tx1"/>
                          </a:solidFill>
                        </a:rPr>
                        <a:t>Passing Criteria for board level TC (how a failure is defined)</a:t>
                      </a:r>
                    </a:p>
                  </a:txBody>
                  <a:tcPr/>
                </a:tc>
                <a:extLst>
                  <a:ext uri="{0D108BD9-81ED-4DB2-BD59-A6C34878D82A}">
                    <a16:rowId xmlns:a16="http://schemas.microsoft.com/office/drawing/2014/main" val="3071589016"/>
                  </a:ext>
                </a:extLst>
              </a:tr>
              <a:tr h="215350">
                <a:tc>
                  <a:txBody>
                    <a:bodyPr/>
                    <a:lstStyle/>
                    <a:p>
                      <a:r>
                        <a:rPr lang="en-US" sz="800" b="1" dirty="0"/>
                        <a:t>Adlink</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00" dirty="0"/>
                        <a:t>PC Client, Industrial &amp; EBM</a:t>
                      </a:r>
                    </a:p>
                  </a:txBody>
                  <a:tcPr/>
                </a:tc>
                <a:tc>
                  <a:txBody>
                    <a:bodyPr/>
                    <a:lstStyle/>
                    <a:p>
                      <a:r>
                        <a:rPr lang="en-US" sz="700" b="0" dirty="0"/>
                        <a:t>Yes</a:t>
                      </a:r>
                    </a:p>
                  </a:txBody>
                  <a:tcPr/>
                </a:tc>
                <a:tc>
                  <a:txBody>
                    <a:bodyPr/>
                    <a:lstStyle/>
                    <a:p>
                      <a:r>
                        <a:rPr lang="en-US" sz="700" b="0" dirty="0"/>
                        <a:t>Board level &amp; system level</a:t>
                      </a:r>
                    </a:p>
                  </a:txBody>
                  <a:tcPr/>
                </a:tc>
                <a:tc>
                  <a:txBody>
                    <a:bodyPr/>
                    <a:lstStyle/>
                    <a:p>
                      <a:r>
                        <a:rPr lang="en-US" sz="700" b="0" dirty="0"/>
                        <a:t>based on board design requirement</a:t>
                      </a:r>
                    </a:p>
                  </a:txBody>
                  <a:tcPr/>
                </a:tc>
                <a:tc>
                  <a:txBody>
                    <a:bodyPr/>
                    <a:lstStyle/>
                    <a:p>
                      <a:r>
                        <a:rPr lang="en-US" sz="700" b="0" dirty="0"/>
                        <a:t>PC: 1.6mm</a:t>
                      </a:r>
                    </a:p>
                    <a:p>
                      <a:r>
                        <a:rPr lang="en-US" sz="700" b="0" dirty="0"/>
                        <a:t>EMB: 1.6 – 2.3mm</a:t>
                      </a:r>
                    </a:p>
                    <a:p>
                      <a:r>
                        <a:rPr lang="en-US" sz="700" b="0" dirty="0"/>
                        <a:t>Ind: 1.6 – 2.3mm</a:t>
                      </a:r>
                    </a:p>
                  </a:txBody>
                  <a:tcPr/>
                </a:tc>
                <a:tc>
                  <a:txBody>
                    <a:bodyPr/>
                    <a:lstStyle/>
                    <a:p>
                      <a:r>
                        <a:rPr lang="en-US" sz="700" b="0" dirty="0"/>
                        <a:t>-40°C to 80°C</a:t>
                      </a:r>
                    </a:p>
                  </a:txBody>
                  <a:tcPr/>
                </a:tc>
                <a:tc>
                  <a:txBody>
                    <a:bodyPr/>
                    <a:lstStyle/>
                    <a:p>
                      <a:r>
                        <a:rPr lang="en-US" sz="700" b="0" dirty="0"/>
                        <a:t>Dwell time: 15 min</a:t>
                      </a:r>
                    </a:p>
                  </a:txBody>
                  <a:tcPr/>
                </a:tc>
                <a:tc>
                  <a:txBody>
                    <a:bodyPr/>
                    <a:lstStyle/>
                    <a:p>
                      <a:r>
                        <a:rPr lang="en-US" sz="700" b="0" dirty="0"/>
                        <a:t>5℃/min</a:t>
                      </a:r>
                    </a:p>
                  </a:txBody>
                  <a:tcPr/>
                </a:tc>
                <a:tc>
                  <a:txBody>
                    <a:bodyPr/>
                    <a:lstStyle/>
                    <a:p>
                      <a:r>
                        <a:rPr lang="en-US" sz="700" b="0" dirty="0"/>
                        <a:t>No</a:t>
                      </a:r>
                    </a:p>
                  </a:txBody>
                  <a:tcPr/>
                </a:tc>
                <a:tc>
                  <a:txBody>
                    <a:bodyPr/>
                    <a:lstStyle/>
                    <a:p>
                      <a:r>
                        <a:rPr lang="en-US" sz="700" b="0" dirty="0"/>
                        <a:t>1. Send back to </a:t>
                      </a:r>
                      <a:r>
                        <a:rPr lang="en-US" sz="700" b="0" dirty="0" err="1"/>
                        <a:t>Funct</a:t>
                      </a:r>
                      <a:r>
                        <a:rPr lang="en-US" sz="700" b="0" dirty="0"/>
                        <a:t>. Test</a:t>
                      </a:r>
                    </a:p>
                    <a:p>
                      <a:r>
                        <a:rPr lang="en-US" sz="700" b="0" dirty="0"/>
                        <a:t>2. LAB: Cross-section or Dye &amp; Pry </a:t>
                      </a:r>
                    </a:p>
                  </a:txBody>
                  <a:tcPr/>
                </a:tc>
                <a:tc>
                  <a:txBody>
                    <a:bodyPr/>
                    <a:lstStyle/>
                    <a:p>
                      <a:r>
                        <a:rPr lang="en-US" sz="700" b="0" dirty="0"/>
                        <a:t>20 cycles</a:t>
                      </a:r>
                    </a:p>
                  </a:txBody>
                  <a:tcPr/>
                </a:tc>
                <a:tc>
                  <a:txBody>
                    <a:bodyPr/>
                    <a:lstStyle/>
                    <a:p>
                      <a:r>
                        <a:rPr lang="en-US" sz="700" b="0" dirty="0"/>
                        <a:t>0 failures out of 2 number of tested samples</a:t>
                      </a:r>
                    </a:p>
                  </a:txBody>
                  <a:tcPr/>
                </a:tc>
                <a:tc>
                  <a:txBody>
                    <a:bodyPr/>
                    <a:lstStyle/>
                    <a:p>
                      <a:r>
                        <a:rPr lang="en-US" sz="700" b="0" dirty="0"/>
                        <a:t>Pass functional test</a:t>
                      </a:r>
                    </a:p>
                  </a:txBody>
                  <a:tcPr/>
                </a:tc>
                <a:extLst>
                  <a:ext uri="{0D108BD9-81ED-4DB2-BD59-A6C34878D82A}">
                    <a16:rowId xmlns:a16="http://schemas.microsoft.com/office/drawing/2014/main" val="3484211985"/>
                  </a:ext>
                </a:extLst>
              </a:tr>
              <a:tr h="215350">
                <a:tc>
                  <a:txBody>
                    <a:bodyPr/>
                    <a:lstStyle/>
                    <a:p>
                      <a:r>
                        <a:rPr lang="en-US" sz="800" b="1" dirty="0"/>
                        <a:t>Advantech</a:t>
                      </a:r>
                    </a:p>
                  </a:txBody>
                  <a:tcPr/>
                </a:tc>
                <a:tc>
                  <a:txBody>
                    <a:bodyPr/>
                    <a:lstStyle/>
                    <a:p>
                      <a:r>
                        <a:rPr lang="en-US" sz="700" b="0" dirty="0"/>
                        <a:t>AIMB-218 plan go into digital signage, EBM, Industrial, kiosk, and Automation market</a:t>
                      </a:r>
                    </a:p>
                  </a:txBody>
                  <a:tcPr/>
                </a:tc>
                <a:tc>
                  <a:txBody>
                    <a:bodyPr/>
                    <a:lstStyle/>
                    <a:p>
                      <a:r>
                        <a:rPr lang="en-US" sz="700" b="0" dirty="0"/>
                        <a:t>Yes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00" b="0" dirty="0"/>
                        <a:t>Board &amp; system Level</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00" b="0" dirty="0"/>
                        <a:t>Loaded from thermal solution</a:t>
                      </a:r>
                    </a:p>
                  </a:txBody>
                  <a:tcPr/>
                </a:tc>
                <a:tc>
                  <a:txBody>
                    <a:bodyPr/>
                    <a:lstStyle/>
                    <a:p>
                      <a:r>
                        <a:rPr lang="en-US" sz="700" b="0" dirty="0"/>
                        <a:t>1.6mm (62 mils)</a:t>
                      </a:r>
                    </a:p>
                  </a:txBody>
                  <a:tcPr/>
                </a:tc>
                <a:tc>
                  <a:txBody>
                    <a:bodyPr/>
                    <a:lstStyle/>
                    <a:p>
                      <a:r>
                        <a:rPr lang="en-US" sz="700" b="0" dirty="0"/>
                        <a:t>-10°C to ~70°C</a:t>
                      </a:r>
                    </a:p>
                  </a:txBody>
                  <a:tcPr/>
                </a:tc>
                <a:tc>
                  <a:txBody>
                    <a:bodyPr/>
                    <a:lstStyle/>
                    <a:p>
                      <a:r>
                        <a:rPr lang="en-US" sz="700" b="0" dirty="0"/>
                        <a:t>400 min (6.6 </a:t>
                      </a:r>
                      <a:r>
                        <a:rPr lang="en-US" sz="700" b="0" dirty="0" err="1"/>
                        <a:t>hr</a:t>
                      </a:r>
                      <a:r>
                        <a:rPr lang="en-US" sz="700" b="0" dirty="0"/>
                        <a:t>) cycle length [includes 120 min dwell (2 </a:t>
                      </a:r>
                      <a:r>
                        <a:rPr lang="en-US" sz="700" b="0" dirty="0" err="1"/>
                        <a:t>hr</a:t>
                      </a:r>
                      <a:r>
                        <a:rPr lang="en-US" sz="700" b="0" dirty="0"/>
                        <a:t>)]</a:t>
                      </a:r>
                    </a:p>
                    <a:p>
                      <a:endParaRPr lang="en-US" sz="700" b="0" dirty="0"/>
                    </a:p>
                    <a:p>
                      <a:endParaRPr lang="en-US" sz="700" b="0" dirty="0"/>
                    </a:p>
                  </a:txBody>
                  <a:tcPr/>
                </a:tc>
                <a:tc>
                  <a:txBody>
                    <a:bodyPr/>
                    <a:lstStyle/>
                    <a:p>
                      <a:r>
                        <a:rPr lang="en-US" sz="700" b="0" dirty="0"/>
                        <a:t>10</a:t>
                      </a:r>
                      <a:r>
                        <a:rPr lang="en-US" sz="700" dirty="0"/>
                        <a:t>°</a:t>
                      </a:r>
                      <a:r>
                        <a:rPr lang="en-US" sz="700" b="0" dirty="0"/>
                        <a:t>C/min</a:t>
                      </a:r>
                    </a:p>
                  </a:txBody>
                  <a:tcPr/>
                </a:tc>
                <a:tc>
                  <a:txBody>
                    <a:bodyPr/>
                    <a:lstStyle/>
                    <a:p>
                      <a:r>
                        <a:rPr lang="en-US" sz="700" b="0" dirty="0"/>
                        <a:t>No</a:t>
                      </a:r>
                    </a:p>
                  </a:txBody>
                  <a:tcPr/>
                </a:tc>
                <a:tc>
                  <a:txBody>
                    <a:bodyPr/>
                    <a:lstStyle/>
                    <a:p>
                      <a:r>
                        <a:rPr lang="en-US" sz="700" b="0" dirty="0"/>
                        <a:t>In situ electrical monitoring</a:t>
                      </a:r>
                    </a:p>
                  </a:txBody>
                  <a:tcPr/>
                </a:tc>
                <a:tc>
                  <a:txBody>
                    <a:bodyPr/>
                    <a:lstStyle/>
                    <a:p>
                      <a:r>
                        <a:rPr lang="en-US" sz="700" b="0" dirty="0"/>
                        <a:t>10 cycles</a:t>
                      </a:r>
                    </a:p>
                  </a:txBody>
                  <a:tcPr/>
                </a:tc>
                <a:tc>
                  <a:txBody>
                    <a:bodyPr/>
                    <a:lstStyle/>
                    <a:p>
                      <a:r>
                        <a:rPr lang="en-US" sz="700" b="0" dirty="0"/>
                        <a:t>0 failures</a:t>
                      </a:r>
                    </a:p>
                  </a:txBody>
                  <a:tcPr/>
                </a:tc>
                <a:tc>
                  <a:txBody>
                    <a:bodyPr/>
                    <a:lstStyle/>
                    <a:p>
                      <a:r>
                        <a:rPr lang="en-US" sz="700" b="0" dirty="0"/>
                        <a:t>No error</a:t>
                      </a:r>
                    </a:p>
                  </a:txBody>
                  <a:tcPr/>
                </a:tc>
                <a:extLst>
                  <a:ext uri="{0D108BD9-81ED-4DB2-BD59-A6C34878D82A}">
                    <a16:rowId xmlns:a16="http://schemas.microsoft.com/office/drawing/2014/main" val="3112022175"/>
                  </a:ext>
                </a:extLst>
              </a:tr>
              <a:tr h="215350">
                <a:tc>
                  <a:txBody>
                    <a:bodyPr/>
                    <a:lstStyle/>
                    <a:p>
                      <a:r>
                        <a:rPr lang="en-US" sz="800" b="1" dirty="0"/>
                        <a:t>Aaeon</a:t>
                      </a:r>
                    </a:p>
                  </a:txBody>
                  <a:tcPr/>
                </a:tc>
                <a:tc>
                  <a:txBody>
                    <a:bodyPr/>
                    <a:lstStyle/>
                    <a:p>
                      <a:r>
                        <a:rPr lang="en-US" sz="700" b="0" dirty="0"/>
                        <a:t>EMB</a:t>
                      </a:r>
                    </a:p>
                  </a:txBody>
                  <a:tcPr/>
                </a:tc>
                <a:tc>
                  <a:txBody>
                    <a:bodyPr/>
                    <a:lstStyle/>
                    <a:p>
                      <a:r>
                        <a:rPr lang="en-US" sz="700" b="0" dirty="0"/>
                        <a:t>Yes</a:t>
                      </a:r>
                    </a:p>
                  </a:txBody>
                  <a:tcPr/>
                </a:tc>
                <a:tc>
                  <a:txBody>
                    <a:bodyPr/>
                    <a:lstStyle/>
                    <a:p>
                      <a:r>
                        <a:rPr lang="en-US" sz="700" b="0" dirty="0"/>
                        <a:t>Board &amp; system level</a:t>
                      </a:r>
                    </a:p>
                  </a:txBody>
                  <a:tcPr/>
                </a:tc>
                <a:tc>
                  <a:txBody>
                    <a:bodyPr/>
                    <a:lstStyle/>
                    <a:p>
                      <a:r>
                        <a:rPr lang="en-US" sz="700" b="0" dirty="0"/>
                        <a:t>Loaded from thermal solution</a:t>
                      </a:r>
                    </a:p>
                  </a:txBody>
                  <a:tcPr/>
                </a:tc>
                <a:tc>
                  <a:txBody>
                    <a:bodyPr/>
                    <a:lstStyle/>
                    <a:p>
                      <a:r>
                        <a:rPr lang="en-US" sz="700" b="0" dirty="0"/>
                        <a:t>1.6mm (62 mils) if it's 6-layer</a:t>
                      </a:r>
                    </a:p>
                  </a:txBody>
                  <a:tcPr/>
                </a:tc>
                <a:tc>
                  <a:txBody>
                    <a:bodyPr/>
                    <a:lstStyle/>
                    <a:p>
                      <a:r>
                        <a:rPr lang="en-US" sz="700" b="0" dirty="0"/>
                        <a:t>0°C to ~60° C</a:t>
                      </a:r>
                    </a:p>
                  </a:txBody>
                  <a:tcPr/>
                </a:tc>
                <a:tc>
                  <a:txBody>
                    <a:bodyPr/>
                    <a:lstStyle/>
                    <a:p>
                      <a:r>
                        <a:rPr lang="en-US" sz="700" b="0" dirty="0"/>
                        <a:t>10 </a:t>
                      </a:r>
                      <a:r>
                        <a:rPr lang="en-US" sz="700" b="0" dirty="0" err="1"/>
                        <a:t>hr</a:t>
                      </a:r>
                      <a:r>
                        <a:rPr lang="en-US" sz="700" b="0" dirty="0"/>
                        <a:t> cycle length (including a 4 </a:t>
                      </a:r>
                      <a:r>
                        <a:rPr lang="en-US" sz="700" b="0" dirty="0" err="1"/>
                        <a:t>hr</a:t>
                      </a:r>
                      <a:r>
                        <a:rPr lang="en-US" sz="700" b="0" dirty="0"/>
                        <a:t> dwell)</a:t>
                      </a:r>
                    </a:p>
                  </a:txBody>
                  <a:tcPr/>
                </a:tc>
                <a:tc>
                  <a:txBody>
                    <a:bodyPr/>
                    <a:lstStyle/>
                    <a:p>
                      <a:r>
                        <a:rPr lang="en-US" sz="700" b="0" dirty="0"/>
                        <a:t>2℃/min</a:t>
                      </a:r>
                    </a:p>
                  </a:txBody>
                  <a:tcPr/>
                </a:tc>
                <a:tc>
                  <a:txBody>
                    <a:bodyPr/>
                    <a:lstStyle/>
                    <a:p>
                      <a:r>
                        <a:rPr lang="en-US" sz="700" b="0" dirty="0"/>
                        <a:t>No</a:t>
                      </a:r>
                    </a:p>
                  </a:txBody>
                  <a:tcPr/>
                </a:tc>
                <a:tc>
                  <a:txBody>
                    <a:bodyPr/>
                    <a:lstStyle/>
                    <a:p>
                      <a:r>
                        <a:rPr lang="en-US" sz="700" b="0" dirty="0"/>
                        <a:t>In situ electrical monitoring</a:t>
                      </a:r>
                    </a:p>
                  </a:txBody>
                  <a:tcPr/>
                </a:tc>
                <a:tc>
                  <a:txBody>
                    <a:bodyPr/>
                    <a:lstStyle/>
                    <a:p>
                      <a:r>
                        <a:rPr lang="en-US" sz="700" b="0" dirty="0"/>
                        <a:t>3 cycles</a:t>
                      </a:r>
                    </a:p>
                  </a:txBody>
                  <a:tcPr/>
                </a:tc>
                <a:tc>
                  <a:txBody>
                    <a:bodyPr/>
                    <a:lstStyle/>
                    <a:p>
                      <a:r>
                        <a:rPr lang="en-US" sz="700" b="0" dirty="0"/>
                        <a:t>0 failures out of 1 number of tested samples</a:t>
                      </a:r>
                    </a:p>
                  </a:txBody>
                  <a:tcPr/>
                </a:tc>
                <a:tc>
                  <a:txBody>
                    <a:bodyPr/>
                    <a:lstStyle/>
                    <a:p>
                      <a:r>
                        <a:rPr lang="en-US" sz="700" b="0" dirty="0"/>
                        <a:t>No issues found during the temp variation operation test</a:t>
                      </a:r>
                    </a:p>
                  </a:txBody>
                  <a:tcPr/>
                </a:tc>
                <a:extLst>
                  <a:ext uri="{0D108BD9-81ED-4DB2-BD59-A6C34878D82A}">
                    <a16:rowId xmlns:a16="http://schemas.microsoft.com/office/drawing/2014/main" val="998006749"/>
                  </a:ext>
                </a:extLst>
              </a:tr>
              <a:tr h="215350">
                <a:tc>
                  <a:txBody>
                    <a:bodyPr/>
                    <a:lstStyle/>
                    <a:p>
                      <a:r>
                        <a:rPr lang="en-US" sz="800" b="1" dirty="0"/>
                        <a:t>Beckhoff</a:t>
                      </a:r>
                    </a:p>
                  </a:txBody>
                  <a:tcPr/>
                </a:tc>
                <a:tc>
                  <a:txBody>
                    <a:bodyPr/>
                    <a:lstStyle/>
                    <a:p>
                      <a:r>
                        <a:rPr lang="en-US" sz="700" dirty="0">
                          <a:solidFill>
                            <a:srgbClr val="FF0000"/>
                          </a:solidFill>
                        </a:rPr>
                        <a:t>TBD</a:t>
                      </a:r>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extLst>
                  <a:ext uri="{0D108BD9-81ED-4DB2-BD59-A6C34878D82A}">
                    <a16:rowId xmlns:a16="http://schemas.microsoft.com/office/drawing/2014/main" val="1183442294"/>
                  </a:ext>
                </a:extLst>
              </a:tr>
            </a:tbl>
          </a:graphicData>
        </a:graphic>
      </p:graphicFrame>
    </p:spTree>
    <p:extLst>
      <p:ext uri="{BB962C8B-B14F-4D97-AF65-F5344CB8AC3E}">
        <p14:creationId xmlns:p14="http://schemas.microsoft.com/office/powerpoint/2010/main" val="40762966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E42ED0-125A-4BED-B975-1B25B5A47663}"/>
              </a:ext>
            </a:extLst>
          </p:cNvPr>
          <p:cNvSpPr>
            <a:spLocks noGrp="1"/>
          </p:cNvSpPr>
          <p:nvPr>
            <p:ph type="sldNum" sz="quarter" idx="12"/>
          </p:nvPr>
        </p:nvSpPr>
        <p:spPr/>
        <p:txBody>
          <a:bodyPr/>
          <a:lstStyle/>
          <a:p>
            <a:fld id="{EE2556C5-CE8C-6547-B838-EA80C61A4AF7}" type="slidenum">
              <a:rPr lang="en-US" smtClean="0"/>
              <a:pPr/>
              <a:t>17</a:t>
            </a:fld>
            <a:endParaRPr lang="en-US" dirty="0"/>
          </a:p>
        </p:txBody>
      </p:sp>
      <p:sp>
        <p:nvSpPr>
          <p:cNvPr id="3" name="Title 2">
            <a:extLst>
              <a:ext uri="{FF2B5EF4-FFF2-40B4-BE49-F238E27FC236}">
                <a16:creationId xmlns:a16="http://schemas.microsoft.com/office/drawing/2014/main" id="{D4DD82C2-DC62-4A3F-A315-2AE6B59E9F45}"/>
              </a:ext>
            </a:extLst>
          </p:cNvPr>
          <p:cNvSpPr>
            <a:spLocks noGrp="1"/>
          </p:cNvSpPr>
          <p:nvPr>
            <p:ph type="title"/>
          </p:nvPr>
        </p:nvSpPr>
        <p:spPr>
          <a:xfrm>
            <a:off x="457200" y="45269"/>
            <a:ext cx="8229600" cy="388675"/>
          </a:xfrm>
        </p:spPr>
        <p:txBody>
          <a:bodyPr/>
          <a:lstStyle/>
          <a:p>
            <a:r>
              <a:rPr lang="en-US" dirty="0"/>
              <a:t>Board Level Temperature Cycling (TC) Testing (Page 2 of 4)</a:t>
            </a:r>
          </a:p>
        </p:txBody>
      </p:sp>
      <p:graphicFrame>
        <p:nvGraphicFramePr>
          <p:cNvPr id="5" name="Table 5">
            <a:extLst>
              <a:ext uri="{FF2B5EF4-FFF2-40B4-BE49-F238E27FC236}">
                <a16:creationId xmlns:a16="http://schemas.microsoft.com/office/drawing/2014/main" id="{4E66A910-CC2C-4C63-B197-B16213A5C52F}"/>
              </a:ext>
            </a:extLst>
          </p:cNvPr>
          <p:cNvGraphicFramePr>
            <a:graphicFrameLocks noGrp="1"/>
          </p:cNvGraphicFramePr>
          <p:nvPr>
            <p:extLst>
              <p:ext uri="{D42A27DB-BD31-4B8C-83A1-F6EECF244321}">
                <p14:modId xmlns:p14="http://schemas.microsoft.com/office/powerpoint/2010/main" val="133938153"/>
              </p:ext>
            </p:extLst>
          </p:nvPr>
        </p:nvGraphicFramePr>
        <p:xfrm>
          <a:off x="500" y="433944"/>
          <a:ext cx="9139240" cy="4452070"/>
        </p:xfrm>
        <a:graphic>
          <a:graphicData uri="http://schemas.openxmlformats.org/drawingml/2006/table">
            <a:tbl>
              <a:tblPr firstRow="1" bandRow="1">
                <a:tableStyleId>{5C22544A-7EE6-4342-B048-85BDC9FD1C3A}</a:tableStyleId>
              </a:tblPr>
              <a:tblGrid>
                <a:gridCol w="718478">
                  <a:extLst>
                    <a:ext uri="{9D8B030D-6E8A-4147-A177-3AD203B41FA5}">
                      <a16:colId xmlns:a16="http://schemas.microsoft.com/office/drawing/2014/main" val="2427798588"/>
                    </a:ext>
                  </a:extLst>
                </a:gridCol>
                <a:gridCol w="718478">
                  <a:extLst>
                    <a:ext uri="{9D8B030D-6E8A-4147-A177-3AD203B41FA5}">
                      <a16:colId xmlns:a16="http://schemas.microsoft.com/office/drawing/2014/main" val="193790245"/>
                    </a:ext>
                  </a:extLst>
                </a:gridCol>
                <a:gridCol w="589367">
                  <a:extLst>
                    <a:ext uri="{9D8B030D-6E8A-4147-A177-3AD203B41FA5}">
                      <a16:colId xmlns:a16="http://schemas.microsoft.com/office/drawing/2014/main" val="2524759092"/>
                    </a:ext>
                  </a:extLst>
                </a:gridCol>
                <a:gridCol w="694347">
                  <a:extLst>
                    <a:ext uri="{9D8B030D-6E8A-4147-A177-3AD203B41FA5}">
                      <a16:colId xmlns:a16="http://schemas.microsoft.com/office/drawing/2014/main" val="3847301582"/>
                    </a:ext>
                  </a:extLst>
                </a:gridCol>
                <a:gridCol w="641857">
                  <a:extLst>
                    <a:ext uri="{9D8B030D-6E8A-4147-A177-3AD203B41FA5}">
                      <a16:colId xmlns:a16="http://schemas.microsoft.com/office/drawing/2014/main" val="1051834608"/>
                    </a:ext>
                  </a:extLst>
                </a:gridCol>
                <a:gridCol w="641857">
                  <a:extLst>
                    <a:ext uri="{9D8B030D-6E8A-4147-A177-3AD203B41FA5}">
                      <a16:colId xmlns:a16="http://schemas.microsoft.com/office/drawing/2014/main" val="1430459665"/>
                    </a:ext>
                  </a:extLst>
                </a:gridCol>
                <a:gridCol w="641857">
                  <a:extLst>
                    <a:ext uri="{9D8B030D-6E8A-4147-A177-3AD203B41FA5}">
                      <a16:colId xmlns:a16="http://schemas.microsoft.com/office/drawing/2014/main" val="1868766097"/>
                    </a:ext>
                  </a:extLst>
                </a:gridCol>
                <a:gridCol w="641857">
                  <a:extLst>
                    <a:ext uri="{9D8B030D-6E8A-4147-A177-3AD203B41FA5}">
                      <a16:colId xmlns:a16="http://schemas.microsoft.com/office/drawing/2014/main" val="179359557"/>
                    </a:ext>
                  </a:extLst>
                </a:gridCol>
                <a:gridCol w="641857">
                  <a:extLst>
                    <a:ext uri="{9D8B030D-6E8A-4147-A177-3AD203B41FA5}">
                      <a16:colId xmlns:a16="http://schemas.microsoft.com/office/drawing/2014/main" val="2600276601"/>
                    </a:ext>
                  </a:extLst>
                </a:gridCol>
                <a:gridCol w="641857">
                  <a:extLst>
                    <a:ext uri="{9D8B030D-6E8A-4147-A177-3AD203B41FA5}">
                      <a16:colId xmlns:a16="http://schemas.microsoft.com/office/drawing/2014/main" val="2853401388"/>
                    </a:ext>
                  </a:extLst>
                </a:gridCol>
                <a:gridCol w="641857">
                  <a:extLst>
                    <a:ext uri="{9D8B030D-6E8A-4147-A177-3AD203B41FA5}">
                      <a16:colId xmlns:a16="http://schemas.microsoft.com/office/drawing/2014/main" val="1500934481"/>
                    </a:ext>
                  </a:extLst>
                </a:gridCol>
                <a:gridCol w="641857">
                  <a:extLst>
                    <a:ext uri="{9D8B030D-6E8A-4147-A177-3AD203B41FA5}">
                      <a16:colId xmlns:a16="http://schemas.microsoft.com/office/drawing/2014/main" val="2865116585"/>
                    </a:ext>
                  </a:extLst>
                </a:gridCol>
                <a:gridCol w="641857">
                  <a:extLst>
                    <a:ext uri="{9D8B030D-6E8A-4147-A177-3AD203B41FA5}">
                      <a16:colId xmlns:a16="http://schemas.microsoft.com/office/drawing/2014/main" val="207743069"/>
                    </a:ext>
                  </a:extLst>
                </a:gridCol>
                <a:gridCol w="641857">
                  <a:extLst>
                    <a:ext uri="{9D8B030D-6E8A-4147-A177-3AD203B41FA5}">
                      <a16:colId xmlns:a16="http://schemas.microsoft.com/office/drawing/2014/main" val="1832575208"/>
                    </a:ext>
                  </a:extLst>
                </a:gridCol>
              </a:tblGrid>
              <a:tr h="215350">
                <a:tc>
                  <a:txBody>
                    <a:bodyPr/>
                    <a:lstStyle/>
                    <a:p>
                      <a:r>
                        <a:rPr lang="en-US" sz="900" b="1" dirty="0">
                          <a:solidFill>
                            <a:schemeClr val="tx1"/>
                          </a:solidFill>
                        </a:rPr>
                        <a:t>Customer</a:t>
                      </a:r>
                    </a:p>
                  </a:txBody>
                  <a:tcPr/>
                </a:tc>
                <a:tc>
                  <a:txBody>
                    <a:bodyPr/>
                    <a:lstStyle/>
                    <a:p>
                      <a:r>
                        <a:rPr lang="en-US" sz="900" dirty="0">
                          <a:solidFill>
                            <a:schemeClr val="tx1"/>
                          </a:solidFill>
                        </a:rPr>
                        <a:t>Market Segment</a:t>
                      </a:r>
                    </a:p>
                  </a:txBody>
                  <a:tcPr/>
                </a:tc>
                <a:tc gridSpan="12">
                  <a:txBody>
                    <a:bodyPr/>
                    <a:lstStyle/>
                    <a:p>
                      <a:r>
                        <a:rPr lang="en-US" sz="900" dirty="0">
                          <a:solidFill>
                            <a:schemeClr val="tx1"/>
                          </a:solidFill>
                        </a:rPr>
                        <a:t>Board Level Temperature Cycling (TC) Testing</a:t>
                      </a:r>
                    </a:p>
                  </a:txBody>
                  <a:tcPr/>
                </a:tc>
                <a:tc hMerge="1">
                  <a:txBody>
                    <a:bodyPr/>
                    <a:lstStyle/>
                    <a:p>
                      <a:endParaRPr lang="en-US" sz="1050" dirty="0">
                        <a:solidFill>
                          <a:schemeClr val="tx1"/>
                        </a:solidFill>
                      </a:endParaRPr>
                    </a:p>
                  </a:txBody>
                  <a:tcPr/>
                </a:tc>
                <a:tc hMerge="1">
                  <a:txBody>
                    <a:bodyPr/>
                    <a:lstStyle/>
                    <a:p>
                      <a:endParaRPr lang="en-US" sz="500" dirty="0">
                        <a:solidFill>
                          <a:schemeClr val="tx1"/>
                        </a:solidFill>
                      </a:endParaRPr>
                    </a:p>
                  </a:txBody>
                  <a:tcPr/>
                </a:tc>
                <a:tc hMerge="1">
                  <a:txBody>
                    <a:bodyPr/>
                    <a:lstStyle/>
                    <a:p>
                      <a:endParaRPr lang="en-US" sz="1050" dirty="0">
                        <a:solidFill>
                          <a:schemeClr val="tx1"/>
                        </a:solidFill>
                      </a:endParaRPr>
                    </a:p>
                  </a:txBody>
                  <a:tcPr/>
                </a:tc>
                <a:tc hMerge="1">
                  <a:txBody>
                    <a:bodyPr/>
                    <a:lstStyle/>
                    <a:p>
                      <a:endParaRPr lang="en-US" sz="500" dirty="0">
                        <a:solidFill>
                          <a:schemeClr val="tx1"/>
                        </a:solidFill>
                      </a:endParaRPr>
                    </a:p>
                  </a:txBody>
                  <a:tcPr/>
                </a:tc>
                <a:tc hMerge="1">
                  <a:txBody>
                    <a:bodyPr/>
                    <a:lstStyle/>
                    <a:p>
                      <a:endParaRPr lang="en-US" sz="500" dirty="0">
                        <a:solidFill>
                          <a:schemeClr val="tx1"/>
                        </a:solidFill>
                      </a:endParaRPr>
                    </a:p>
                  </a:txBody>
                  <a:tcPr/>
                </a:tc>
                <a:tc hMerge="1">
                  <a:txBody>
                    <a:bodyPr/>
                    <a:lstStyle/>
                    <a:p>
                      <a:endParaRPr lang="en-US" sz="900" dirty="0">
                        <a:solidFill>
                          <a:schemeClr val="tx1"/>
                        </a:solidFill>
                      </a:endParaRPr>
                    </a:p>
                  </a:txBody>
                  <a:tcPr/>
                </a:tc>
                <a:tc hMerge="1">
                  <a:txBody>
                    <a:bodyPr/>
                    <a:lstStyle/>
                    <a:p>
                      <a:endParaRPr lang="en-US" sz="900" dirty="0">
                        <a:solidFill>
                          <a:schemeClr val="tx1"/>
                        </a:solidFill>
                      </a:endParaRPr>
                    </a:p>
                  </a:txBody>
                  <a:tcPr/>
                </a:tc>
                <a:tc hMerge="1">
                  <a:txBody>
                    <a:bodyPr/>
                    <a:lstStyle/>
                    <a:p>
                      <a:endParaRPr lang="en-US" sz="900" dirty="0">
                        <a:solidFill>
                          <a:schemeClr val="tx1"/>
                        </a:solidFill>
                      </a:endParaRPr>
                    </a:p>
                  </a:txBody>
                  <a:tcPr/>
                </a:tc>
                <a:tc hMerge="1">
                  <a:txBody>
                    <a:bodyPr/>
                    <a:lstStyle/>
                    <a:p>
                      <a:endParaRPr lang="en-US" sz="900" dirty="0">
                        <a:solidFill>
                          <a:schemeClr val="tx1"/>
                        </a:solidFill>
                      </a:endParaRPr>
                    </a:p>
                  </a:txBody>
                  <a:tcPr/>
                </a:tc>
                <a:tc hMerge="1">
                  <a:txBody>
                    <a:bodyPr/>
                    <a:lstStyle/>
                    <a:p>
                      <a:endParaRPr lang="en-US" sz="900" dirty="0">
                        <a:solidFill>
                          <a:schemeClr val="tx1"/>
                        </a:solidFill>
                      </a:endParaRPr>
                    </a:p>
                  </a:txBody>
                  <a:tcPr/>
                </a:tc>
                <a:tc hMerge="1">
                  <a:txBody>
                    <a:bodyPr/>
                    <a:lstStyle/>
                    <a:p>
                      <a:endParaRPr lang="en-US" sz="900" dirty="0">
                        <a:solidFill>
                          <a:schemeClr val="tx1"/>
                        </a:solidFill>
                      </a:endParaRPr>
                    </a:p>
                  </a:txBody>
                  <a:tcPr/>
                </a:tc>
                <a:extLst>
                  <a:ext uri="{0D108BD9-81ED-4DB2-BD59-A6C34878D82A}">
                    <a16:rowId xmlns:a16="http://schemas.microsoft.com/office/drawing/2014/main" val="877362529"/>
                  </a:ext>
                </a:extLst>
              </a:tr>
              <a:tr h="215350">
                <a:tc>
                  <a:txBody>
                    <a:bodyPr/>
                    <a:lstStyle/>
                    <a:p>
                      <a:endParaRPr lang="en-US" sz="800" b="1" dirty="0">
                        <a:solidFill>
                          <a:schemeClr val="tx1"/>
                        </a:solidFill>
                      </a:endParaRPr>
                    </a:p>
                  </a:txBody>
                  <a:tcPr/>
                </a:tc>
                <a:tc>
                  <a:txBody>
                    <a:bodyPr/>
                    <a:lstStyle/>
                    <a:p>
                      <a:r>
                        <a:rPr lang="en-US" sz="700" b="1" dirty="0">
                          <a:solidFill>
                            <a:schemeClr val="tx1"/>
                          </a:solidFill>
                        </a:rPr>
                        <a:t>Market segment for the product</a:t>
                      </a:r>
                    </a:p>
                  </a:txBody>
                  <a:tcPr/>
                </a:tc>
                <a:tc>
                  <a:txBody>
                    <a:bodyPr/>
                    <a:lstStyle/>
                    <a:p>
                      <a:r>
                        <a:rPr lang="en-US" sz="700" b="1" dirty="0">
                          <a:solidFill>
                            <a:schemeClr val="tx1"/>
                          </a:solidFill>
                        </a:rPr>
                        <a:t>We perform board level TC</a:t>
                      </a:r>
                    </a:p>
                  </a:txBody>
                  <a:tcPr/>
                </a:tc>
                <a:tc>
                  <a:txBody>
                    <a:bodyPr/>
                    <a:lstStyle/>
                    <a:p>
                      <a:r>
                        <a:rPr lang="en-US" sz="700" b="1" dirty="0">
                          <a:solidFill>
                            <a:schemeClr val="tx1"/>
                          </a:solidFill>
                        </a:rPr>
                        <a:t>Board or system level TC performed</a:t>
                      </a:r>
                    </a:p>
                  </a:txBody>
                  <a:tcPr/>
                </a:tc>
                <a:tc>
                  <a:txBody>
                    <a:bodyPr/>
                    <a:lstStyle/>
                    <a:p>
                      <a:r>
                        <a:rPr lang="en-US" sz="700" b="1" dirty="0">
                          <a:solidFill>
                            <a:schemeClr val="tx1"/>
                          </a:solidFill>
                        </a:rPr>
                        <a:t>Loading Param’s for board level TC</a:t>
                      </a:r>
                    </a:p>
                  </a:txBody>
                  <a:tcPr/>
                </a:tc>
                <a:tc>
                  <a:txBody>
                    <a:bodyPr/>
                    <a:lstStyle/>
                    <a:p>
                      <a:r>
                        <a:rPr lang="en-US" sz="700" b="1" dirty="0">
                          <a:solidFill>
                            <a:schemeClr val="tx1"/>
                          </a:solidFill>
                        </a:rPr>
                        <a:t>Board thickness for board level TC</a:t>
                      </a:r>
                    </a:p>
                  </a:txBody>
                  <a:tcPr/>
                </a:tc>
                <a:tc>
                  <a:txBody>
                    <a:bodyPr/>
                    <a:lstStyle/>
                    <a:p>
                      <a:r>
                        <a:rPr lang="en-US" sz="700" b="1" dirty="0">
                          <a:solidFill>
                            <a:schemeClr val="tx1"/>
                          </a:solidFill>
                        </a:rPr>
                        <a:t>Temp range for board level TC</a:t>
                      </a:r>
                    </a:p>
                  </a:txBody>
                  <a:tcPr/>
                </a:tc>
                <a:tc>
                  <a:txBody>
                    <a:bodyPr/>
                    <a:lstStyle/>
                    <a:p>
                      <a:r>
                        <a:rPr lang="en-US" sz="700" b="1" dirty="0">
                          <a:solidFill>
                            <a:schemeClr val="tx1"/>
                          </a:solidFill>
                        </a:rPr>
                        <a:t>Cycle length (incl dwell time) for board level TC</a:t>
                      </a:r>
                    </a:p>
                  </a:txBody>
                  <a:tcPr/>
                </a:tc>
                <a:tc>
                  <a:txBody>
                    <a:bodyPr/>
                    <a:lstStyle/>
                    <a:p>
                      <a:r>
                        <a:rPr lang="en-US" sz="700" b="1" dirty="0">
                          <a:solidFill>
                            <a:schemeClr val="tx1"/>
                          </a:solidFill>
                        </a:rPr>
                        <a:t>Temp ramp rate for board level TC</a:t>
                      </a:r>
                    </a:p>
                  </a:txBody>
                  <a:tcPr/>
                </a:tc>
                <a:tc>
                  <a:txBody>
                    <a:bodyPr/>
                    <a:lstStyle/>
                    <a:p>
                      <a:r>
                        <a:rPr lang="en-US" sz="700" b="1" dirty="0">
                          <a:solidFill>
                            <a:schemeClr val="tx1"/>
                          </a:solidFill>
                        </a:rPr>
                        <a:t>Adhesives used on Intel SOC for board level TC</a:t>
                      </a:r>
                    </a:p>
                  </a:txBody>
                  <a:tcPr/>
                </a:tc>
                <a:tc>
                  <a:txBody>
                    <a:bodyPr/>
                    <a:lstStyle/>
                    <a:p>
                      <a:r>
                        <a:rPr lang="en-US" sz="700" b="1" dirty="0">
                          <a:solidFill>
                            <a:schemeClr val="tx1"/>
                          </a:solidFill>
                        </a:rPr>
                        <a:t>How are board level TC results are monitored</a:t>
                      </a:r>
                    </a:p>
                  </a:txBody>
                  <a:tcPr/>
                </a:tc>
                <a:tc>
                  <a:txBody>
                    <a:bodyPr/>
                    <a:lstStyle/>
                    <a:p>
                      <a:r>
                        <a:rPr lang="en-US" sz="700" b="1" dirty="0">
                          <a:solidFill>
                            <a:schemeClr val="tx1"/>
                          </a:solidFill>
                        </a:rPr>
                        <a:t>Rqmt for qty of board level temp cycles</a:t>
                      </a:r>
                    </a:p>
                  </a:txBody>
                  <a:tcPr/>
                </a:tc>
                <a:tc>
                  <a:txBody>
                    <a:bodyPr/>
                    <a:lstStyle/>
                    <a:p>
                      <a:r>
                        <a:rPr lang="en-US" sz="700" b="1" dirty="0">
                          <a:solidFill>
                            <a:schemeClr val="tx1"/>
                          </a:solidFill>
                        </a:rPr>
                        <a:t>Success Criteria for board level TC (# of fails allowed from tested pop)</a:t>
                      </a:r>
                    </a:p>
                  </a:txBody>
                  <a:tcPr/>
                </a:tc>
                <a:tc>
                  <a:txBody>
                    <a:bodyPr/>
                    <a:lstStyle/>
                    <a:p>
                      <a:r>
                        <a:rPr lang="en-US" sz="700" b="1" dirty="0">
                          <a:solidFill>
                            <a:schemeClr val="tx1"/>
                          </a:solidFill>
                        </a:rPr>
                        <a:t>Passing Criteria for board level TC (how a failure is defined)</a:t>
                      </a:r>
                    </a:p>
                  </a:txBody>
                  <a:tcPr/>
                </a:tc>
                <a:extLst>
                  <a:ext uri="{0D108BD9-81ED-4DB2-BD59-A6C34878D82A}">
                    <a16:rowId xmlns:a16="http://schemas.microsoft.com/office/drawing/2014/main" val="3071589016"/>
                  </a:ext>
                </a:extLst>
              </a:tr>
              <a:tr h="21535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b="1" dirty="0"/>
                        <a:t>Congatec</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00" dirty="0"/>
                        <a:t>Plan to use in same seg’s as APL (PC Client, Embedded and Industrial. Not FuSA.)</a:t>
                      </a:r>
                    </a:p>
                  </a:txBody>
                  <a:tcPr/>
                </a:tc>
                <a:tc>
                  <a:txBody>
                    <a:bodyPr/>
                    <a:lstStyle/>
                    <a:p>
                      <a:r>
                        <a:rPr lang="en-US" sz="700" b="0" dirty="0"/>
                        <a:t>Yes, temp shock testing</a:t>
                      </a:r>
                    </a:p>
                  </a:txBody>
                  <a:tcPr/>
                </a:tc>
                <a:tc gridSpan="6">
                  <a:txBody>
                    <a:bodyPr/>
                    <a:lstStyle/>
                    <a:p>
                      <a:r>
                        <a:rPr lang="en-US" sz="700" b="0" dirty="0"/>
                        <a:t>Assume for Industrial passenger compartment a cycle value per year of 185, based on IPC-9701. Considering a maximum time in the field of 10 years, this would lead to 1850 temperature cycles for the lifetime of a single product.  These can be assumed for values of worst-case scenarios of industrial use case skews</a:t>
                      </a:r>
                    </a:p>
                    <a:p>
                      <a:endParaRPr lang="en-US" sz="700" b="0" dirty="0"/>
                    </a:p>
                  </a:txBody>
                  <a:tcPr/>
                </a:tc>
                <a:tc hMerge="1">
                  <a:txBody>
                    <a:bodyPr/>
                    <a:lstStyle/>
                    <a:p>
                      <a:endParaRPr lang="en-US" sz="700" b="0" dirty="0"/>
                    </a:p>
                  </a:txBody>
                  <a:tcPr/>
                </a:tc>
                <a:tc hMerge="1">
                  <a:txBody>
                    <a:bodyPr/>
                    <a:lstStyle/>
                    <a:p>
                      <a:endParaRPr lang="en-US" sz="700" b="0" dirty="0"/>
                    </a:p>
                  </a:txBody>
                  <a:tcPr/>
                </a:tc>
                <a:tc hMerge="1">
                  <a:txBody>
                    <a:bodyPr/>
                    <a:lstStyle/>
                    <a:p>
                      <a:endParaRPr lang="en-US" sz="700" b="0" dirty="0"/>
                    </a:p>
                  </a:txBody>
                  <a:tcPr/>
                </a:tc>
                <a:tc hMerge="1">
                  <a:txBody>
                    <a:bodyPr/>
                    <a:lstStyle/>
                    <a:p>
                      <a:endParaRPr lang="en-US" sz="700" b="0" dirty="0"/>
                    </a:p>
                  </a:txBody>
                  <a:tcPr/>
                </a:tc>
                <a:tc hMerge="1">
                  <a:txBody>
                    <a:bodyPr/>
                    <a:lstStyle/>
                    <a:p>
                      <a:endParaRPr lang="en-US" sz="700" b="0" dirty="0"/>
                    </a:p>
                  </a:txBody>
                  <a:tcPr/>
                </a:tc>
                <a:tc>
                  <a:txBody>
                    <a:bodyPr/>
                    <a:lstStyle/>
                    <a:p>
                      <a:r>
                        <a:rPr lang="en-US" sz="700" b="0" dirty="0"/>
                        <a:t>No</a:t>
                      </a:r>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extLst>
                  <a:ext uri="{0D108BD9-81ED-4DB2-BD59-A6C34878D82A}">
                    <a16:rowId xmlns:a16="http://schemas.microsoft.com/office/drawing/2014/main" val="547434323"/>
                  </a:ext>
                </a:extLst>
              </a:tr>
              <a:tr h="215350">
                <a:tc>
                  <a:txBody>
                    <a:bodyPr/>
                    <a:lstStyle/>
                    <a:p>
                      <a:r>
                        <a:rPr lang="en-US" sz="800" b="1" dirty="0"/>
                        <a:t>Hitachi</a:t>
                      </a:r>
                    </a:p>
                  </a:txBody>
                  <a:tcPr/>
                </a:tc>
                <a:tc>
                  <a:txBody>
                    <a:bodyPr/>
                    <a:lstStyle/>
                    <a:p>
                      <a:r>
                        <a:rPr lang="en-US" sz="700" dirty="0"/>
                        <a:t>Industrial</a:t>
                      </a:r>
                      <a:endParaRPr lang="en-US" sz="700" b="0" dirty="0"/>
                    </a:p>
                  </a:txBody>
                  <a:tcPr/>
                </a:tc>
                <a:tc>
                  <a:txBody>
                    <a:bodyPr/>
                    <a:lstStyle/>
                    <a:p>
                      <a:r>
                        <a:rPr lang="en-US" sz="700" b="0" dirty="0"/>
                        <a:t>Yes</a:t>
                      </a:r>
                    </a:p>
                  </a:txBody>
                  <a:tcPr/>
                </a:tc>
                <a:tc>
                  <a:txBody>
                    <a:bodyPr/>
                    <a:lstStyle/>
                    <a:p>
                      <a:r>
                        <a:rPr lang="en-US" sz="700" b="0" dirty="0"/>
                        <a:t>Board level</a:t>
                      </a:r>
                    </a:p>
                  </a:txBody>
                  <a:tcPr/>
                </a:tc>
                <a:tc>
                  <a:txBody>
                    <a:bodyPr/>
                    <a:lstStyle/>
                    <a:p>
                      <a:r>
                        <a:rPr lang="en-US" sz="700" b="0" dirty="0"/>
                        <a:t>Unloaded</a:t>
                      </a:r>
                    </a:p>
                  </a:txBody>
                  <a:tcPr/>
                </a:tc>
                <a:tc>
                  <a:txBody>
                    <a:bodyPr/>
                    <a:lstStyle/>
                    <a:p>
                      <a:r>
                        <a:rPr lang="en-US" sz="700" b="0" dirty="0"/>
                        <a:t>1.6mm (62 mils)</a:t>
                      </a:r>
                    </a:p>
                  </a:txBody>
                  <a:tcPr/>
                </a:tc>
                <a:tc>
                  <a:txBody>
                    <a:bodyPr/>
                    <a:lstStyle/>
                    <a:p>
                      <a:r>
                        <a:rPr lang="en-US" sz="700" b="0" dirty="0"/>
                        <a:t>-55°C to 125°C</a:t>
                      </a:r>
                    </a:p>
                  </a:txBody>
                  <a:tcPr/>
                </a:tc>
                <a:tc>
                  <a:txBody>
                    <a:bodyPr/>
                    <a:lstStyle/>
                    <a:p>
                      <a:r>
                        <a:rPr lang="en-US" sz="700" b="0" dirty="0"/>
                        <a:t>22 cycles/day</a:t>
                      </a:r>
                    </a:p>
                  </a:txBody>
                  <a:tcPr/>
                </a:tc>
                <a:tc>
                  <a:txBody>
                    <a:bodyPr/>
                    <a:lstStyle/>
                    <a:p>
                      <a:endParaRPr lang="en-US" sz="700" b="0" dirty="0"/>
                    </a:p>
                  </a:txBody>
                  <a:tcPr/>
                </a:tc>
                <a:tc>
                  <a:txBody>
                    <a:bodyPr/>
                    <a:lstStyle/>
                    <a:p>
                      <a:r>
                        <a:rPr lang="en-US" sz="700" b="0" dirty="0"/>
                        <a:t>No</a:t>
                      </a:r>
                    </a:p>
                  </a:txBody>
                  <a:tcPr/>
                </a:tc>
                <a:tc>
                  <a:txBody>
                    <a:bodyPr/>
                    <a:lstStyle/>
                    <a:p>
                      <a:r>
                        <a:rPr lang="en-US" sz="700" b="0" dirty="0"/>
                        <a:t>Cross section and offline electrical test</a:t>
                      </a:r>
                    </a:p>
                  </a:txBody>
                  <a:tcPr/>
                </a:tc>
                <a:tc>
                  <a:txBody>
                    <a:bodyPr/>
                    <a:lstStyle/>
                    <a:p>
                      <a:r>
                        <a:rPr lang="en-US" sz="700" b="0" dirty="0"/>
                        <a:t>545-1250 cycles</a:t>
                      </a:r>
                    </a:p>
                  </a:txBody>
                  <a:tcPr/>
                </a:tc>
                <a:tc>
                  <a:txBody>
                    <a:bodyPr/>
                    <a:lstStyle/>
                    <a:p>
                      <a:r>
                        <a:rPr lang="en-US" sz="700" b="0" dirty="0"/>
                        <a:t>0 failures out of tested samples</a:t>
                      </a:r>
                    </a:p>
                  </a:txBody>
                  <a:tcPr/>
                </a:tc>
                <a:tc>
                  <a:txBody>
                    <a:bodyPr/>
                    <a:lstStyle/>
                    <a:p>
                      <a:r>
                        <a:rPr lang="en-US" sz="700" b="0" dirty="0"/>
                        <a:t>No resistance spikes or Dye &amp; Pull Crack Percentage</a:t>
                      </a:r>
                    </a:p>
                  </a:txBody>
                  <a:tcPr/>
                </a:tc>
                <a:extLst>
                  <a:ext uri="{0D108BD9-81ED-4DB2-BD59-A6C34878D82A}">
                    <a16:rowId xmlns:a16="http://schemas.microsoft.com/office/drawing/2014/main" val="1854251891"/>
                  </a:ext>
                </a:extLst>
              </a:tr>
              <a:tr h="215350">
                <a:tc>
                  <a:txBody>
                    <a:bodyPr/>
                    <a:lstStyle/>
                    <a:p>
                      <a:r>
                        <a:rPr lang="en-US" sz="800" b="1" dirty="0"/>
                        <a:t>IEI x QNAP</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00" dirty="0">
                          <a:solidFill>
                            <a:schemeClr val="tx1"/>
                          </a:solidFill>
                        </a:rPr>
                        <a:t>Industrial &amp; EBM</a:t>
                      </a:r>
                    </a:p>
                  </a:txBody>
                  <a:tcPr/>
                </a:tc>
                <a:tc>
                  <a:txBody>
                    <a:bodyPr/>
                    <a:lstStyle/>
                    <a:p>
                      <a:r>
                        <a:rPr lang="en-US" sz="700" b="0" dirty="0"/>
                        <a:t>No</a:t>
                      </a:r>
                    </a:p>
                  </a:txBody>
                  <a:tcPr/>
                </a:tc>
                <a:tc>
                  <a:txBody>
                    <a:bodyPr/>
                    <a:lstStyle/>
                    <a:p>
                      <a:r>
                        <a:rPr lang="en-US" sz="700" b="0" dirty="0"/>
                        <a:t>Board &amp; System Level</a:t>
                      </a:r>
                    </a:p>
                  </a:txBody>
                  <a:tcPr/>
                </a:tc>
                <a:tc>
                  <a:txBody>
                    <a:bodyPr/>
                    <a:lstStyle/>
                    <a:p>
                      <a:r>
                        <a:rPr lang="en-US" sz="700" b="0" dirty="0"/>
                        <a:t>Loaded</a:t>
                      </a:r>
                    </a:p>
                  </a:txBody>
                  <a:tcPr/>
                </a:tc>
                <a:tc>
                  <a:txBody>
                    <a:bodyPr/>
                    <a:lstStyle/>
                    <a:p>
                      <a:r>
                        <a:rPr lang="en-US" sz="700" b="0" dirty="0"/>
                        <a:t>1.6mm (62 mils) +/- 10%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00" b="0" dirty="0"/>
                        <a:t>-40°C to 85°C (max)</a:t>
                      </a:r>
                    </a:p>
                  </a:txBody>
                  <a:tcPr/>
                </a:tc>
                <a:tc>
                  <a:txBody>
                    <a:bodyPr/>
                    <a:lstStyle/>
                    <a:p>
                      <a:r>
                        <a:rPr lang="en-US" sz="700" b="0" dirty="0"/>
                        <a:t>Burn-in 12 </a:t>
                      </a:r>
                      <a:r>
                        <a:rPr lang="en-US" sz="700" b="0" dirty="0" err="1"/>
                        <a:t>hrs</a:t>
                      </a:r>
                      <a:endParaRPr lang="en-US" sz="700" b="0" dirty="0"/>
                    </a:p>
                  </a:txBody>
                  <a:tcPr/>
                </a:tc>
                <a:tc>
                  <a:txBody>
                    <a:bodyPr/>
                    <a:lstStyle/>
                    <a:p>
                      <a:r>
                        <a:rPr lang="en-US" sz="700" b="0" dirty="0"/>
                        <a:t>1°C per min</a:t>
                      </a:r>
                    </a:p>
                  </a:txBody>
                  <a:tcPr/>
                </a:tc>
                <a:tc>
                  <a:txBody>
                    <a:bodyPr/>
                    <a:lstStyle/>
                    <a:p>
                      <a:r>
                        <a:rPr lang="en-US" sz="700" b="0" dirty="0"/>
                        <a:t>No</a:t>
                      </a:r>
                    </a:p>
                  </a:txBody>
                  <a:tcPr/>
                </a:tc>
                <a:tc>
                  <a:txBody>
                    <a:bodyPr/>
                    <a:lstStyle/>
                    <a:p>
                      <a:r>
                        <a:rPr lang="en-US" sz="700" b="0" dirty="0"/>
                        <a:t>Power on</a:t>
                      </a:r>
                    </a:p>
                  </a:txBody>
                  <a:tcPr/>
                </a:tc>
                <a:tc>
                  <a:txBody>
                    <a:bodyPr/>
                    <a:lstStyle/>
                    <a:p>
                      <a:r>
                        <a:rPr lang="en-US" sz="700" b="0" dirty="0"/>
                        <a:t>1000 cycles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00" b="0" dirty="0"/>
                        <a:t>0 failures out of tested samples</a:t>
                      </a:r>
                    </a:p>
                  </a:txBody>
                  <a:tcPr/>
                </a:tc>
                <a:tc>
                  <a:txBody>
                    <a:bodyPr/>
                    <a:lstStyle/>
                    <a:p>
                      <a:r>
                        <a:rPr lang="en-US" sz="700" b="0" dirty="0"/>
                        <a:t>Depends with INTEL TAT result, cycle 24 </a:t>
                      </a:r>
                      <a:r>
                        <a:rPr lang="en-US" sz="700" b="0" dirty="0" err="1"/>
                        <a:t>hrs</a:t>
                      </a:r>
                      <a:endParaRPr lang="en-US" sz="700" b="0" dirty="0"/>
                    </a:p>
                  </a:txBody>
                  <a:tcPr/>
                </a:tc>
                <a:extLst>
                  <a:ext uri="{0D108BD9-81ED-4DB2-BD59-A6C34878D82A}">
                    <a16:rowId xmlns:a16="http://schemas.microsoft.com/office/drawing/2014/main" val="4261906185"/>
                  </a:ext>
                </a:extLst>
              </a:tr>
              <a:tr h="215350">
                <a:tc>
                  <a:txBody>
                    <a:bodyPr/>
                    <a:lstStyle/>
                    <a:p>
                      <a:r>
                        <a:rPr lang="en-US" sz="800" b="1" dirty="0"/>
                        <a:t>Kontron</a:t>
                      </a:r>
                    </a:p>
                  </a:txBody>
                  <a:tcPr/>
                </a:tc>
                <a:tc>
                  <a:txBody>
                    <a:bodyPr/>
                    <a:lstStyle/>
                    <a:p>
                      <a:r>
                        <a:rPr lang="en-US" sz="700" dirty="0">
                          <a:solidFill>
                            <a:srgbClr val="FF0000"/>
                          </a:solidFill>
                        </a:rPr>
                        <a:t>TBD</a:t>
                      </a:r>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extLst>
                  <a:ext uri="{0D108BD9-81ED-4DB2-BD59-A6C34878D82A}">
                    <a16:rowId xmlns:a16="http://schemas.microsoft.com/office/drawing/2014/main" val="1470970839"/>
                  </a:ext>
                </a:extLst>
              </a:tr>
              <a:tr h="215350">
                <a:tc>
                  <a:txBody>
                    <a:bodyPr/>
                    <a:lstStyle/>
                    <a:p>
                      <a:r>
                        <a:rPr lang="en-US" sz="800" b="1" dirty="0"/>
                        <a:t>MSC </a:t>
                      </a:r>
                      <a:r>
                        <a:rPr lang="en-US" sz="600" b="1" dirty="0"/>
                        <a:t>(Avnet)</a:t>
                      </a:r>
                      <a:endParaRPr lang="en-US" sz="800" b="1" dirty="0"/>
                    </a:p>
                  </a:txBody>
                  <a:tcPr/>
                </a:tc>
                <a:tc>
                  <a:txBody>
                    <a:bodyPr/>
                    <a:lstStyle/>
                    <a:p>
                      <a:r>
                        <a:rPr lang="en-US" sz="700" b="0" dirty="0">
                          <a:solidFill>
                            <a:schemeClr val="tx1"/>
                          </a:solidFill>
                        </a:rPr>
                        <a:t>Industrial</a:t>
                      </a:r>
                    </a:p>
                  </a:txBody>
                  <a:tcPr/>
                </a:tc>
                <a:tc>
                  <a:txBody>
                    <a:bodyPr/>
                    <a:lstStyle/>
                    <a:p>
                      <a:r>
                        <a:rPr lang="en-US" sz="700" b="0" dirty="0"/>
                        <a:t>Yes</a:t>
                      </a:r>
                    </a:p>
                  </a:txBody>
                  <a:tcPr/>
                </a:tc>
                <a:tc>
                  <a:txBody>
                    <a:bodyPr/>
                    <a:lstStyle/>
                    <a:p>
                      <a:r>
                        <a:rPr lang="en-US" sz="700" b="0" dirty="0"/>
                        <a:t>Small board form factor</a:t>
                      </a:r>
                    </a:p>
                  </a:txBody>
                  <a:tcPr/>
                </a:tc>
                <a:tc>
                  <a:txBody>
                    <a:bodyPr/>
                    <a:lstStyle/>
                    <a:p>
                      <a:r>
                        <a:rPr lang="en-US" sz="700" b="0" dirty="0"/>
                        <a:t>Loaded (15 </a:t>
                      </a:r>
                      <a:r>
                        <a:rPr lang="en-US" sz="700" b="0" dirty="0" err="1"/>
                        <a:t>lbs</a:t>
                      </a:r>
                      <a:r>
                        <a:rPr lang="en-US" sz="700" b="0" dirty="0"/>
                        <a:t>), no backplate</a:t>
                      </a:r>
                    </a:p>
                  </a:txBody>
                  <a:tcPr/>
                </a:tc>
                <a:tc>
                  <a:txBody>
                    <a:bodyPr/>
                    <a:lstStyle/>
                    <a:p>
                      <a:r>
                        <a:rPr lang="en-US" sz="700" b="0" dirty="0"/>
                        <a:t>1.2mm (47 mils) and 2.0mm (70 mils)</a:t>
                      </a:r>
                    </a:p>
                  </a:txBody>
                  <a:tcPr/>
                </a:tc>
                <a:tc>
                  <a:txBody>
                    <a:bodyPr/>
                    <a:lstStyle/>
                    <a:p>
                      <a:r>
                        <a:rPr lang="en-US" sz="700" b="0" dirty="0"/>
                        <a:t>Not shared</a:t>
                      </a:r>
                    </a:p>
                  </a:txBody>
                  <a:tcPr/>
                </a:tc>
                <a:tc>
                  <a:txBody>
                    <a:bodyPr/>
                    <a:lstStyle/>
                    <a:p>
                      <a:r>
                        <a:rPr lang="en-US" sz="700" b="0" dirty="0"/>
                        <a:t>Not shared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00" b="0" dirty="0"/>
                        <a:t>1°C per min</a:t>
                      </a:r>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extLst>
                  <a:ext uri="{0D108BD9-81ED-4DB2-BD59-A6C34878D82A}">
                    <a16:rowId xmlns:a16="http://schemas.microsoft.com/office/drawing/2014/main" val="2167120418"/>
                  </a:ext>
                </a:extLst>
              </a:tr>
            </a:tbl>
          </a:graphicData>
        </a:graphic>
      </p:graphicFrame>
      <p:sp>
        <p:nvSpPr>
          <p:cNvPr id="6" name="TextBox 5">
            <a:extLst>
              <a:ext uri="{FF2B5EF4-FFF2-40B4-BE49-F238E27FC236}">
                <a16:creationId xmlns:a16="http://schemas.microsoft.com/office/drawing/2014/main" id="{3992C987-840B-4BEC-A7FD-0050ABD62F5D}"/>
              </a:ext>
            </a:extLst>
          </p:cNvPr>
          <p:cNvSpPr txBox="1"/>
          <p:nvPr/>
        </p:nvSpPr>
        <p:spPr>
          <a:xfrm>
            <a:off x="2930548" y="2564161"/>
            <a:ext cx="3039262" cy="167388"/>
          </a:xfrm>
          <a:prstGeom prst="rect">
            <a:avLst/>
          </a:prstGeom>
          <a:solidFill>
            <a:srgbClr val="FFFF00"/>
          </a:solidFill>
        </p:spPr>
        <p:txBody>
          <a:bodyPr vert="horz" wrap="square" lIns="0" tIns="0" rIns="0" bIns="0" rtlCol="0">
            <a:noAutofit/>
          </a:bodyPr>
          <a:lstStyle/>
          <a:p>
            <a:r>
              <a:rPr lang="en-US" sz="1100" dirty="0">
                <a:solidFill>
                  <a:schemeClr val="accent3"/>
                </a:solidFill>
              </a:rPr>
              <a:t>They appear to run an Accelerated SJR TC Test</a:t>
            </a:r>
          </a:p>
        </p:txBody>
      </p:sp>
      <p:sp>
        <p:nvSpPr>
          <p:cNvPr id="11" name="TextBox 10">
            <a:extLst>
              <a:ext uri="{FF2B5EF4-FFF2-40B4-BE49-F238E27FC236}">
                <a16:creationId xmlns:a16="http://schemas.microsoft.com/office/drawing/2014/main" id="{7014396A-63B0-4B18-B0C7-35FC64AD1E50}"/>
              </a:ext>
            </a:extLst>
          </p:cNvPr>
          <p:cNvSpPr txBox="1"/>
          <p:nvPr/>
        </p:nvSpPr>
        <p:spPr>
          <a:xfrm>
            <a:off x="2931520" y="3287330"/>
            <a:ext cx="3039262" cy="167388"/>
          </a:xfrm>
          <a:prstGeom prst="rect">
            <a:avLst/>
          </a:prstGeom>
          <a:solidFill>
            <a:srgbClr val="FFFF00"/>
          </a:solidFill>
        </p:spPr>
        <p:txBody>
          <a:bodyPr vert="horz" wrap="square" lIns="0" tIns="0" rIns="0" bIns="0" rtlCol="0">
            <a:noAutofit/>
          </a:bodyPr>
          <a:lstStyle/>
          <a:p>
            <a:r>
              <a:rPr lang="en-US" sz="1100" dirty="0">
                <a:solidFill>
                  <a:schemeClr val="accent3"/>
                </a:solidFill>
              </a:rPr>
              <a:t>They appear to run an Accelerated SJR TC Test</a:t>
            </a:r>
          </a:p>
        </p:txBody>
      </p:sp>
    </p:spTree>
    <p:extLst>
      <p:ext uri="{BB962C8B-B14F-4D97-AF65-F5344CB8AC3E}">
        <p14:creationId xmlns:p14="http://schemas.microsoft.com/office/powerpoint/2010/main" val="3465213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E42ED0-125A-4BED-B975-1B25B5A47663}"/>
              </a:ext>
            </a:extLst>
          </p:cNvPr>
          <p:cNvSpPr>
            <a:spLocks noGrp="1"/>
          </p:cNvSpPr>
          <p:nvPr>
            <p:ph type="sldNum" sz="quarter" idx="12"/>
          </p:nvPr>
        </p:nvSpPr>
        <p:spPr/>
        <p:txBody>
          <a:bodyPr/>
          <a:lstStyle/>
          <a:p>
            <a:fld id="{EE2556C5-CE8C-6547-B838-EA80C61A4AF7}" type="slidenum">
              <a:rPr lang="en-US" smtClean="0"/>
              <a:pPr/>
              <a:t>18</a:t>
            </a:fld>
            <a:endParaRPr lang="en-US" dirty="0"/>
          </a:p>
        </p:txBody>
      </p:sp>
      <p:sp>
        <p:nvSpPr>
          <p:cNvPr id="3" name="Title 2">
            <a:extLst>
              <a:ext uri="{FF2B5EF4-FFF2-40B4-BE49-F238E27FC236}">
                <a16:creationId xmlns:a16="http://schemas.microsoft.com/office/drawing/2014/main" id="{D4DD82C2-DC62-4A3F-A315-2AE6B59E9F45}"/>
              </a:ext>
            </a:extLst>
          </p:cNvPr>
          <p:cNvSpPr>
            <a:spLocks noGrp="1"/>
          </p:cNvSpPr>
          <p:nvPr>
            <p:ph type="title"/>
          </p:nvPr>
        </p:nvSpPr>
        <p:spPr>
          <a:xfrm>
            <a:off x="457200" y="-61051"/>
            <a:ext cx="8229600" cy="388675"/>
          </a:xfrm>
        </p:spPr>
        <p:txBody>
          <a:bodyPr/>
          <a:lstStyle/>
          <a:p>
            <a:r>
              <a:rPr lang="en-US" dirty="0"/>
              <a:t>Board Level Temperature Cycling (TC) Testing (Page 3 of 4)</a:t>
            </a:r>
          </a:p>
        </p:txBody>
      </p:sp>
      <p:graphicFrame>
        <p:nvGraphicFramePr>
          <p:cNvPr id="5" name="Table 5">
            <a:extLst>
              <a:ext uri="{FF2B5EF4-FFF2-40B4-BE49-F238E27FC236}">
                <a16:creationId xmlns:a16="http://schemas.microsoft.com/office/drawing/2014/main" id="{4E66A910-CC2C-4C63-B197-B16213A5C52F}"/>
              </a:ext>
            </a:extLst>
          </p:cNvPr>
          <p:cNvGraphicFramePr>
            <a:graphicFrameLocks noGrp="1"/>
          </p:cNvGraphicFramePr>
          <p:nvPr>
            <p:extLst>
              <p:ext uri="{D42A27DB-BD31-4B8C-83A1-F6EECF244321}">
                <p14:modId xmlns:p14="http://schemas.microsoft.com/office/powerpoint/2010/main" val="2271837729"/>
              </p:ext>
            </p:extLst>
          </p:nvPr>
        </p:nvGraphicFramePr>
        <p:xfrm>
          <a:off x="500" y="285096"/>
          <a:ext cx="9139240" cy="4983480"/>
        </p:xfrm>
        <a:graphic>
          <a:graphicData uri="http://schemas.openxmlformats.org/drawingml/2006/table">
            <a:tbl>
              <a:tblPr firstRow="1" bandRow="1">
                <a:tableStyleId>{5C22544A-7EE6-4342-B048-85BDC9FD1C3A}</a:tableStyleId>
              </a:tblPr>
              <a:tblGrid>
                <a:gridCol w="718478">
                  <a:extLst>
                    <a:ext uri="{9D8B030D-6E8A-4147-A177-3AD203B41FA5}">
                      <a16:colId xmlns:a16="http://schemas.microsoft.com/office/drawing/2014/main" val="2427798588"/>
                    </a:ext>
                  </a:extLst>
                </a:gridCol>
                <a:gridCol w="718478">
                  <a:extLst>
                    <a:ext uri="{9D8B030D-6E8A-4147-A177-3AD203B41FA5}">
                      <a16:colId xmlns:a16="http://schemas.microsoft.com/office/drawing/2014/main" val="193790245"/>
                    </a:ext>
                  </a:extLst>
                </a:gridCol>
                <a:gridCol w="589367">
                  <a:extLst>
                    <a:ext uri="{9D8B030D-6E8A-4147-A177-3AD203B41FA5}">
                      <a16:colId xmlns:a16="http://schemas.microsoft.com/office/drawing/2014/main" val="2524759092"/>
                    </a:ext>
                  </a:extLst>
                </a:gridCol>
                <a:gridCol w="694347">
                  <a:extLst>
                    <a:ext uri="{9D8B030D-6E8A-4147-A177-3AD203B41FA5}">
                      <a16:colId xmlns:a16="http://schemas.microsoft.com/office/drawing/2014/main" val="3847301582"/>
                    </a:ext>
                  </a:extLst>
                </a:gridCol>
                <a:gridCol w="641857">
                  <a:extLst>
                    <a:ext uri="{9D8B030D-6E8A-4147-A177-3AD203B41FA5}">
                      <a16:colId xmlns:a16="http://schemas.microsoft.com/office/drawing/2014/main" val="1051834608"/>
                    </a:ext>
                  </a:extLst>
                </a:gridCol>
                <a:gridCol w="475123">
                  <a:extLst>
                    <a:ext uri="{9D8B030D-6E8A-4147-A177-3AD203B41FA5}">
                      <a16:colId xmlns:a16="http://schemas.microsoft.com/office/drawing/2014/main" val="1430459665"/>
                    </a:ext>
                  </a:extLst>
                </a:gridCol>
                <a:gridCol w="808591">
                  <a:extLst>
                    <a:ext uri="{9D8B030D-6E8A-4147-A177-3AD203B41FA5}">
                      <a16:colId xmlns:a16="http://schemas.microsoft.com/office/drawing/2014/main" val="1868766097"/>
                    </a:ext>
                  </a:extLst>
                </a:gridCol>
                <a:gridCol w="738650">
                  <a:extLst>
                    <a:ext uri="{9D8B030D-6E8A-4147-A177-3AD203B41FA5}">
                      <a16:colId xmlns:a16="http://schemas.microsoft.com/office/drawing/2014/main" val="179359557"/>
                    </a:ext>
                  </a:extLst>
                </a:gridCol>
                <a:gridCol w="545064">
                  <a:extLst>
                    <a:ext uri="{9D8B030D-6E8A-4147-A177-3AD203B41FA5}">
                      <a16:colId xmlns:a16="http://schemas.microsoft.com/office/drawing/2014/main" val="2600276601"/>
                    </a:ext>
                  </a:extLst>
                </a:gridCol>
                <a:gridCol w="641857">
                  <a:extLst>
                    <a:ext uri="{9D8B030D-6E8A-4147-A177-3AD203B41FA5}">
                      <a16:colId xmlns:a16="http://schemas.microsoft.com/office/drawing/2014/main" val="2853401388"/>
                    </a:ext>
                  </a:extLst>
                </a:gridCol>
                <a:gridCol w="641857">
                  <a:extLst>
                    <a:ext uri="{9D8B030D-6E8A-4147-A177-3AD203B41FA5}">
                      <a16:colId xmlns:a16="http://schemas.microsoft.com/office/drawing/2014/main" val="1500934481"/>
                    </a:ext>
                  </a:extLst>
                </a:gridCol>
                <a:gridCol w="641857">
                  <a:extLst>
                    <a:ext uri="{9D8B030D-6E8A-4147-A177-3AD203B41FA5}">
                      <a16:colId xmlns:a16="http://schemas.microsoft.com/office/drawing/2014/main" val="2865116585"/>
                    </a:ext>
                  </a:extLst>
                </a:gridCol>
                <a:gridCol w="641857">
                  <a:extLst>
                    <a:ext uri="{9D8B030D-6E8A-4147-A177-3AD203B41FA5}">
                      <a16:colId xmlns:a16="http://schemas.microsoft.com/office/drawing/2014/main" val="207743069"/>
                    </a:ext>
                  </a:extLst>
                </a:gridCol>
                <a:gridCol w="641857">
                  <a:extLst>
                    <a:ext uri="{9D8B030D-6E8A-4147-A177-3AD203B41FA5}">
                      <a16:colId xmlns:a16="http://schemas.microsoft.com/office/drawing/2014/main" val="1832575208"/>
                    </a:ext>
                  </a:extLst>
                </a:gridCol>
              </a:tblGrid>
              <a:tr h="215350">
                <a:tc>
                  <a:txBody>
                    <a:bodyPr/>
                    <a:lstStyle/>
                    <a:p>
                      <a:r>
                        <a:rPr lang="en-US" sz="900" b="1" dirty="0">
                          <a:solidFill>
                            <a:schemeClr val="tx1"/>
                          </a:solidFill>
                        </a:rPr>
                        <a:t>Customer</a:t>
                      </a:r>
                    </a:p>
                  </a:txBody>
                  <a:tcPr/>
                </a:tc>
                <a:tc>
                  <a:txBody>
                    <a:bodyPr/>
                    <a:lstStyle/>
                    <a:p>
                      <a:r>
                        <a:rPr lang="en-US" sz="900" dirty="0">
                          <a:solidFill>
                            <a:schemeClr val="tx1"/>
                          </a:solidFill>
                        </a:rPr>
                        <a:t>Market Segment</a:t>
                      </a:r>
                    </a:p>
                  </a:txBody>
                  <a:tcPr/>
                </a:tc>
                <a:tc gridSpan="12">
                  <a:txBody>
                    <a:bodyPr/>
                    <a:lstStyle/>
                    <a:p>
                      <a:r>
                        <a:rPr lang="en-US" sz="900" dirty="0">
                          <a:solidFill>
                            <a:schemeClr val="tx1"/>
                          </a:solidFill>
                        </a:rPr>
                        <a:t>Board Level Temperature Cycling (TC) Testing</a:t>
                      </a:r>
                    </a:p>
                  </a:txBody>
                  <a:tcPr/>
                </a:tc>
                <a:tc hMerge="1">
                  <a:txBody>
                    <a:bodyPr/>
                    <a:lstStyle/>
                    <a:p>
                      <a:endParaRPr lang="en-US" sz="1050" dirty="0">
                        <a:solidFill>
                          <a:schemeClr val="tx1"/>
                        </a:solidFill>
                      </a:endParaRPr>
                    </a:p>
                  </a:txBody>
                  <a:tcPr/>
                </a:tc>
                <a:tc hMerge="1">
                  <a:txBody>
                    <a:bodyPr/>
                    <a:lstStyle/>
                    <a:p>
                      <a:endParaRPr lang="en-US" sz="500" dirty="0">
                        <a:solidFill>
                          <a:schemeClr val="tx1"/>
                        </a:solidFill>
                      </a:endParaRPr>
                    </a:p>
                  </a:txBody>
                  <a:tcPr/>
                </a:tc>
                <a:tc hMerge="1">
                  <a:txBody>
                    <a:bodyPr/>
                    <a:lstStyle/>
                    <a:p>
                      <a:endParaRPr lang="en-US" sz="1050" dirty="0">
                        <a:solidFill>
                          <a:schemeClr val="tx1"/>
                        </a:solidFill>
                      </a:endParaRPr>
                    </a:p>
                  </a:txBody>
                  <a:tcPr/>
                </a:tc>
                <a:tc hMerge="1">
                  <a:txBody>
                    <a:bodyPr/>
                    <a:lstStyle/>
                    <a:p>
                      <a:endParaRPr lang="en-US" sz="500" dirty="0">
                        <a:solidFill>
                          <a:schemeClr val="tx1"/>
                        </a:solidFill>
                      </a:endParaRPr>
                    </a:p>
                  </a:txBody>
                  <a:tcPr/>
                </a:tc>
                <a:tc hMerge="1">
                  <a:txBody>
                    <a:bodyPr/>
                    <a:lstStyle/>
                    <a:p>
                      <a:endParaRPr lang="en-US" sz="500" dirty="0">
                        <a:solidFill>
                          <a:schemeClr val="tx1"/>
                        </a:solidFill>
                      </a:endParaRPr>
                    </a:p>
                  </a:txBody>
                  <a:tcPr/>
                </a:tc>
                <a:tc hMerge="1">
                  <a:txBody>
                    <a:bodyPr/>
                    <a:lstStyle/>
                    <a:p>
                      <a:endParaRPr lang="en-US" sz="900" dirty="0">
                        <a:solidFill>
                          <a:schemeClr val="tx1"/>
                        </a:solidFill>
                      </a:endParaRPr>
                    </a:p>
                  </a:txBody>
                  <a:tcPr/>
                </a:tc>
                <a:tc hMerge="1">
                  <a:txBody>
                    <a:bodyPr/>
                    <a:lstStyle/>
                    <a:p>
                      <a:endParaRPr lang="en-US" sz="900" dirty="0">
                        <a:solidFill>
                          <a:schemeClr val="tx1"/>
                        </a:solidFill>
                      </a:endParaRPr>
                    </a:p>
                  </a:txBody>
                  <a:tcPr/>
                </a:tc>
                <a:tc hMerge="1">
                  <a:txBody>
                    <a:bodyPr/>
                    <a:lstStyle/>
                    <a:p>
                      <a:endParaRPr lang="en-US" sz="900" dirty="0">
                        <a:solidFill>
                          <a:schemeClr val="tx1"/>
                        </a:solidFill>
                      </a:endParaRPr>
                    </a:p>
                  </a:txBody>
                  <a:tcPr/>
                </a:tc>
                <a:tc hMerge="1">
                  <a:txBody>
                    <a:bodyPr/>
                    <a:lstStyle/>
                    <a:p>
                      <a:endParaRPr lang="en-US" sz="900" dirty="0">
                        <a:solidFill>
                          <a:schemeClr val="tx1"/>
                        </a:solidFill>
                      </a:endParaRPr>
                    </a:p>
                  </a:txBody>
                  <a:tcPr/>
                </a:tc>
                <a:tc hMerge="1">
                  <a:txBody>
                    <a:bodyPr/>
                    <a:lstStyle/>
                    <a:p>
                      <a:endParaRPr lang="en-US" sz="900" dirty="0">
                        <a:solidFill>
                          <a:schemeClr val="tx1"/>
                        </a:solidFill>
                      </a:endParaRPr>
                    </a:p>
                  </a:txBody>
                  <a:tcPr/>
                </a:tc>
                <a:tc hMerge="1">
                  <a:txBody>
                    <a:bodyPr/>
                    <a:lstStyle/>
                    <a:p>
                      <a:endParaRPr lang="en-US" sz="900" dirty="0">
                        <a:solidFill>
                          <a:schemeClr val="tx1"/>
                        </a:solidFill>
                      </a:endParaRPr>
                    </a:p>
                  </a:txBody>
                  <a:tcPr/>
                </a:tc>
                <a:extLst>
                  <a:ext uri="{0D108BD9-81ED-4DB2-BD59-A6C34878D82A}">
                    <a16:rowId xmlns:a16="http://schemas.microsoft.com/office/drawing/2014/main" val="877362529"/>
                  </a:ext>
                </a:extLst>
              </a:tr>
              <a:tr h="215350">
                <a:tc>
                  <a:txBody>
                    <a:bodyPr/>
                    <a:lstStyle/>
                    <a:p>
                      <a:endParaRPr lang="en-US" sz="800" b="1" dirty="0">
                        <a:solidFill>
                          <a:schemeClr val="tx1"/>
                        </a:solidFill>
                      </a:endParaRPr>
                    </a:p>
                  </a:txBody>
                  <a:tcPr/>
                </a:tc>
                <a:tc>
                  <a:txBody>
                    <a:bodyPr/>
                    <a:lstStyle/>
                    <a:p>
                      <a:r>
                        <a:rPr lang="en-US" sz="700" b="1" dirty="0">
                          <a:solidFill>
                            <a:schemeClr val="tx1"/>
                          </a:solidFill>
                        </a:rPr>
                        <a:t>Market segment for the product</a:t>
                      </a:r>
                    </a:p>
                  </a:txBody>
                  <a:tcPr/>
                </a:tc>
                <a:tc>
                  <a:txBody>
                    <a:bodyPr/>
                    <a:lstStyle/>
                    <a:p>
                      <a:r>
                        <a:rPr lang="en-US" sz="700" b="1" dirty="0">
                          <a:solidFill>
                            <a:schemeClr val="tx1"/>
                          </a:solidFill>
                        </a:rPr>
                        <a:t>We perform board level TC</a:t>
                      </a:r>
                    </a:p>
                  </a:txBody>
                  <a:tcPr/>
                </a:tc>
                <a:tc>
                  <a:txBody>
                    <a:bodyPr/>
                    <a:lstStyle/>
                    <a:p>
                      <a:r>
                        <a:rPr lang="en-US" sz="700" b="1" dirty="0">
                          <a:solidFill>
                            <a:schemeClr val="tx1"/>
                          </a:solidFill>
                        </a:rPr>
                        <a:t>Board or system level TC performed</a:t>
                      </a:r>
                    </a:p>
                  </a:txBody>
                  <a:tcPr/>
                </a:tc>
                <a:tc>
                  <a:txBody>
                    <a:bodyPr/>
                    <a:lstStyle/>
                    <a:p>
                      <a:r>
                        <a:rPr lang="en-US" sz="700" b="1" dirty="0">
                          <a:solidFill>
                            <a:schemeClr val="tx1"/>
                          </a:solidFill>
                        </a:rPr>
                        <a:t>Loading Param’s for board level TC</a:t>
                      </a:r>
                    </a:p>
                  </a:txBody>
                  <a:tcPr/>
                </a:tc>
                <a:tc>
                  <a:txBody>
                    <a:bodyPr/>
                    <a:lstStyle/>
                    <a:p>
                      <a:r>
                        <a:rPr lang="en-US" sz="700" b="1" dirty="0">
                          <a:solidFill>
                            <a:schemeClr val="tx1"/>
                          </a:solidFill>
                        </a:rPr>
                        <a:t>Board thickness for board level TC</a:t>
                      </a:r>
                    </a:p>
                  </a:txBody>
                  <a:tcPr/>
                </a:tc>
                <a:tc>
                  <a:txBody>
                    <a:bodyPr/>
                    <a:lstStyle/>
                    <a:p>
                      <a:r>
                        <a:rPr lang="en-US" sz="700" b="1" dirty="0">
                          <a:solidFill>
                            <a:schemeClr val="tx1"/>
                          </a:solidFill>
                        </a:rPr>
                        <a:t>Temp range for board level TC</a:t>
                      </a:r>
                    </a:p>
                  </a:txBody>
                  <a:tcPr/>
                </a:tc>
                <a:tc>
                  <a:txBody>
                    <a:bodyPr/>
                    <a:lstStyle/>
                    <a:p>
                      <a:r>
                        <a:rPr lang="en-US" sz="700" b="1" dirty="0">
                          <a:solidFill>
                            <a:schemeClr val="tx1"/>
                          </a:solidFill>
                        </a:rPr>
                        <a:t>Cycle length (incl dwell time) for board level TC</a:t>
                      </a:r>
                    </a:p>
                  </a:txBody>
                  <a:tcPr/>
                </a:tc>
                <a:tc>
                  <a:txBody>
                    <a:bodyPr/>
                    <a:lstStyle/>
                    <a:p>
                      <a:r>
                        <a:rPr lang="en-US" sz="700" b="1" dirty="0">
                          <a:solidFill>
                            <a:schemeClr val="tx1"/>
                          </a:solidFill>
                        </a:rPr>
                        <a:t>Temp ramp rate for board level TC</a:t>
                      </a:r>
                    </a:p>
                  </a:txBody>
                  <a:tcPr/>
                </a:tc>
                <a:tc>
                  <a:txBody>
                    <a:bodyPr/>
                    <a:lstStyle/>
                    <a:p>
                      <a:r>
                        <a:rPr lang="en-US" sz="700" b="1" dirty="0">
                          <a:solidFill>
                            <a:schemeClr val="tx1"/>
                          </a:solidFill>
                        </a:rPr>
                        <a:t>Adhesives used on Intel SOC for board level TC</a:t>
                      </a:r>
                    </a:p>
                  </a:txBody>
                  <a:tcPr/>
                </a:tc>
                <a:tc>
                  <a:txBody>
                    <a:bodyPr/>
                    <a:lstStyle/>
                    <a:p>
                      <a:r>
                        <a:rPr lang="en-US" sz="700" b="1" dirty="0">
                          <a:solidFill>
                            <a:schemeClr val="tx1"/>
                          </a:solidFill>
                        </a:rPr>
                        <a:t>How are board level TC results are monitored</a:t>
                      </a:r>
                    </a:p>
                  </a:txBody>
                  <a:tcPr/>
                </a:tc>
                <a:tc>
                  <a:txBody>
                    <a:bodyPr/>
                    <a:lstStyle/>
                    <a:p>
                      <a:r>
                        <a:rPr lang="en-US" sz="700" b="1" dirty="0">
                          <a:solidFill>
                            <a:schemeClr val="tx1"/>
                          </a:solidFill>
                        </a:rPr>
                        <a:t>Rqmt for qty of board level temp cycles</a:t>
                      </a:r>
                    </a:p>
                  </a:txBody>
                  <a:tcPr/>
                </a:tc>
                <a:tc>
                  <a:txBody>
                    <a:bodyPr/>
                    <a:lstStyle/>
                    <a:p>
                      <a:r>
                        <a:rPr lang="en-US" sz="700" b="1" dirty="0">
                          <a:solidFill>
                            <a:schemeClr val="tx1"/>
                          </a:solidFill>
                        </a:rPr>
                        <a:t>Success Criteria for board level TC (# of fails allowed from tested pop)</a:t>
                      </a:r>
                    </a:p>
                  </a:txBody>
                  <a:tcPr/>
                </a:tc>
                <a:tc>
                  <a:txBody>
                    <a:bodyPr/>
                    <a:lstStyle/>
                    <a:p>
                      <a:r>
                        <a:rPr lang="en-US" sz="700" b="1" dirty="0">
                          <a:solidFill>
                            <a:schemeClr val="tx1"/>
                          </a:solidFill>
                        </a:rPr>
                        <a:t>Passing Criteria for board level TC (how a failure is defined)</a:t>
                      </a:r>
                    </a:p>
                  </a:txBody>
                  <a:tcPr/>
                </a:tc>
                <a:extLst>
                  <a:ext uri="{0D108BD9-81ED-4DB2-BD59-A6C34878D82A}">
                    <a16:rowId xmlns:a16="http://schemas.microsoft.com/office/drawing/2014/main" val="3071589016"/>
                  </a:ext>
                </a:extLst>
              </a:tr>
              <a:tr h="215350">
                <a:tc>
                  <a:txBody>
                    <a:bodyPr/>
                    <a:lstStyle/>
                    <a:p>
                      <a:r>
                        <a:rPr lang="en-US" sz="800" b="1" dirty="0"/>
                        <a:t>Omron</a:t>
                      </a:r>
                    </a:p>
                  </a:txBody>
                  <a:tcPr/>
                </a:tc>
                <a:tc>
                  <a:txBody>
                    <a:bodyPr/>
                    <a:lstStyle/>
                    <a:p>
                      <a:r>
                        <a:rPr lang="en-US" sz="700" b="0" dirty="0"/>
                        <a:t>Industrial</a:t>
                      </a:r>
                    </a:p>
                  </a:txBody>
                  <a:tcPr/>
                </a:tc>
                <a:tc>
                  <a:txBody>
                    <a:bodyPr/>
                    <a:lstStyle/>
                    <a:p>
                      <a:r>
                        <a:rPr lang="en-US" sz="700" b="0" dirty="0"/>
                        <a:t>Yes</a:t>
                      </a:r>
                    </a:p>
                  </a:txBody>
                  <a:tcPr/>
                </a:tc>
                <a:tc>
                  <a:txBody>
                    <a:bodyPr/>
                    <a:lstStyle/>
                    <a:p>
                      <a:r>
                        <a:rPr lang="en-US" sz="700" b="0" dirty="0"/>
                        <a:t>Board level</a:t>
                      </a:r>
                    </a:p>
                  </a:txBody>
                  <a:tcPr/>
                </a:tc>
                <a:tc>
                  <a:txBody>
                    <a:bodyPr/>
                    <a:lstStyle/>
                    <a:p>
                      <a:endParaRPr lang="en-US" sz="700" b="0" dirty="0"/>
                    </a:p>
                  </a:txBody>
                  <a:tcPr/>
                </a:tc>
                <a:tc>
                  <a:txBody>
                    <a:bodyPr/>
                    <a:lstStyle/>
                    <a:p>
                      <a:r>
                        <a:rPr lang="en-US" sz="700" b="0" dirty="0"/>
                        <a:t>1.6mm (62 mils)</a:t>
                      </a:r>
                    </a:p>
                  </a:txBody>
                  <a:tcPr/>
                </a:tc>
                <a:tc>
                  <a:txBody>
                    <a:bodyPr/>
                    <a:lstStyle/>
                    <a:p>
                      <a:r>
                        <a:rPr lang="en-US" sz="700" b="0" dirty="0"/>
                        <a:t>-40°C to 100°C</a:t>
                      </a:r>
                    </a:p>
                  </a:txBody>
                  <a:tcPr/>
                </a:tc>
                <a:tc>
                  <a:txBody>
                    <a:bodyPr/>
                    <a:lstStyle/>
                    <a:p>
                      <a:r>
                        <a:rPr lang="nb-NO" sz="700" b="0" dirty="0"/>
                        <a:t>30 min: </a:t>
                      </a:r>
                    </a:p>
                    <a:p>
                      <a:r>
                        <a:rPr lang="nb-NO" sz="700" b="0" dirty="0"/>
                        <a:t>-40°C</a:t>
                      </a:r>
                    </a:p>
                    <a:p>
                      <a:r>
                        <a:rPr lang="nb-NO" sz="700" b="0" dirty="0"/>
                        <a:t>30 min: 100°C</a:t>
                      </a:r>
                    </a:p>
                    <a:p>
                      <a:endParaRPr lang="nb-NO" sz="700" b="0" dirty="0"/>
                    </a:p>
                  </a:txBody>
                  <a:tcPr/>
                </a:tc>
                <a:tc>
                  <a:txBody>
                    <a:bodyPr/>
                    <a:lstStyle/>
                    <a:p>
                      <a:r>
                        <a:rPr lang="en-US" sz="700" b="0" dirty="0"/>
                        <a:t>-40°C &lt;-&gt; 100°C: 3 minutes</a:t>
                      </a:r>
                    </a:p>
                  </a:txBody>
                  <a:tcPr/>
                </a:tc>
                <a:tc>
                  <a:txBody>
                    <a:bodyPr/>
                    <a:lstStyle/>
                    <a:p>
                      <a:r>
                        <a:rPr lang="en-US" sz="700" b="0" dirty="0"/>
                        <a:t>No</a:t>
                      </a:r>
                    </a:p>
                  </a:txBody>
                  <a:tcPr/>
                </a:tc>
                <a:tc>
                  <a:txBody>
                    <a:bodyPr/>
                    <a:lstStyle/>
                    <a:p>
                      <a:r>
                        <a:rPr lang="en-US" sz="700" b="0" dirty="0"/>
                        <a:t>Confirmation by mfg dept</a:t>
                      </a:r>
                    </a:p>
                  </a:txBody>
                  <a:tcPr/>
                </a:tc>
                <a:tc>
                  <a:txBody>
                    <a:bodyPr/>
                    <a:lstStyle/>
                    <a:p>
                      <a:r>
                        <a:rPr lang="en-US" sz="700" b="0" dirty="0"/>
                        <a:t>1000 cycles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00" b="0" dirty="0"/>
                        <a:t>Confirmation by mfg dept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00" b="0" dirty="0"/>
                        <a:t>Confirmation by mfg dept</a:t>
                      </a:r>
                    </a:p>
                  </a:txBody>
                  <a:tcPr/>
                </a:tc>
                <a:extLst>
                  <a:ext uri="{0D108BD9-81ED-4DB2-BD59-A6C34878D82A}">
                    <a16:rowId xmlns:a16="http://schemas.microsoft.com/office/drawing/2014/main" val="829540530"/>
                  </a:ext>
                </a:extLst>
              </a:tr>
              <a:tr h="215350">
                <a:tc>
                  <a:txBody>
                    <a:bodyPr/>
                    <a:lstStyle/>
                    <a:p>
                      <a:r>
                        <a:rPr lang="en-US" sz="800" b="1" dirty="0"/>
                        <a:t>SECO</a:t>
                      </a:r>
                    </a:p>
                  </a:txBody>
                  <a:tcPr/>
                </a:tc>
                <a:tc>
                  <a:txBody>
                    <a:bodyPr/>
                    <a:lstStyle/>
                    <a:p>
                      <a:r>
                        <a:rPr lang="en-US" sz="700" dirty="0"/>
                        <a:t>Ind, </a:t>
                      </a:r>
                      <a:r>
                        <a:rPr lang="en-US" sz="700" dirty="0" err="1"/>
                        <a:t>FuSA</a:t>
                      </a:r>
                      <a:r>
                        <a:rPr lang="en-US" sz="700" dirty="0"/>
                        <a:t> and EBM</a:t>
                      </a:r>
                      <a:endParaRPr lang="en-US" sz="700" b="0" dirty="0"/>
                    </a:p>
                  </a:txBody>
                  <a:tcPr/>
                </a:tc>
                <a:tc>
                  <a:txBody>
                    <a:bodyPr/>
                    <a:lstStyle/>
                    <a:p>
                      <a:r>
                        <a:rPr lang="en-US" sz="700" b="0" dirty="0"/>
                        <a:t>No</a:t>
                      </a:r>
                    </a:p>
                  </a:txBody>
                  <a:tcPr/>
                </a:tc>
                <a:tc>
                  <a:txBody>
                    <a:bodyPr/>
                    <a:lstStyle/>
                    <a:p>
                      <a:r>
                        <a:rPr lang="en-US" sz="700" b="0" dirty="0"/>
                        <a:t>Yes, HALT (Highly Accelerated Lifetime Test)</a:t>
                      </a:r>
                    </a:p>
                  </a:txBody>
                  <a:tcPr/>
                </a:tc>
                <a:tc>
                  <a:txBody>
                    <a:bodyPr/>
                    <a:lstStyle/>
                    <a:p>
                      <a:r>
                        <a:rPr lang="en-US" sz="700" b="0" dirty="0"/>
                        <a:t>Loaded</a:t>
                      </a:r>
                    </a:p>
                  </a:txBody>
                  <a:tcPr/>
                </a:tc>
                <a:tc>
                  <a:txBody>
                    <a:bodyPr/>
                    <a:lstStyle/>
                    <a:p>
                      <a:r>
                        <a:rPr lang="en-US" sz="700" b="0" dirty="0"/>
                        <a:t>1.6 to 2.0mm</a:t>
                      </a:r>
                    </a:p>
                  </a:txBody>
                  <a:tcPr/>
                </a:tc>
                <a:tc>
                  <a:txBody>
                    <a:bodyPr/>
                    <a:lstStyle/>
                    <a:p>
                      <a:r>
                        <a:rPr lang="en-US" sz="700" b="0" dirty="0"/>
                        <a:t>For validation, run up to the max temp, -40C to +85C</a:t>
                      </a:r>
                    </a:p>
                  </a:txBody>
                  <a:tcPr/>
                </a:tc>
                <a:tc>
                  <a:txBody>
                    <a:bodyPr/>
                    <a:lstStyle/>
                    <a:p>
                      <a:endParaRPr lang="en-US" sz="700" b="0" dirty="0"/>
                    </a:p>
                  </a:txBody>
                  <a:tcPr/>
                </a:tc>
                <a:tc>
                  <a:txBody>
                    <a:bodyPr/>
                    <a:lstStyle/>
                    <a:p>
                      <a:endParaRPr lang="en-US" sz="700" b="0" dirty="0"/>
                    </a:p>
                  </a:txBody>
                  <a:tcPr/>
                </a:tc>
                <a:tc>
                  <a:txBody>
                    <a:bodyPr/>
                    <a:lstStyle/>
                    <a:p>
                      <a:r>
                        <a:rPr lang="en-US" sz="700" b="0" dirty="0"/>
                        <a:t>No experience</a:t>
                      </a:r>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tc>
                  <a:txBody>
                    <a:bodyPr/>
                    <a:lstStyle/>
                    <a:p>
                      <a:endParaRPr lang="en-US" sz="700" b="0" dirty="0"/>
                    </a:p>
                  </a:txBody>
                  <a:tcPr/>
                </a:tc>
                <a:extLst>
                  <a:ext uri="{0D108BD9-81ED-4DB2-BD59-A6C34878D82A}">
                    <a16:rowId xmlns:a16="http://schemas.microsoft.com/office/drawing/2014/main" val="2417453178"/>
                  </a:ext>
                </a:extLst>
              </a:tr>
              <a:tr h="215350">
                <a:tc>
                  <a:txBody>
                    <a:bodyPr/>
                    <a:lstStyle/>
                    <a:p>
                      <a:r>
                        <a:rPr lang="en-US" sz="800" b="1" dirty="0"/>
                        <a:t>Siemens</a:t>
                      </a:r>
                    </a:p>
                  </a:txBody>
                  <a:tcPr/>
                </a:tc>
                <a:tc>
                  <a:txBody>
                    <a:bodyPr/>
                    <a:lstStyle/>
                    <a:p>
                      <a:r>
                        <a:rPr lang="en-US" sz="700" b="0" dirty="0">
                          <a:solidFill>
                            <a:schemeClr val="tx1"/>
                          </a:solidFill>
                        </a:rPr>
                        <a:t>Industrial and EBM</a:t>
                      </a:r>
                    </a:p>
                  </a:txBody>
                  <a:tcPr/>
                </a:tc>
                <a:tc>
                  <a:txBody>
                    <a:bodyPr/>
                    <a:lstStyle/>
                    <a:p>
                      <a:r>
                        <a:rPr lang="en-US" sz="700" b="0" dirty="0"/>
                        <a:t>Yes</a:t>
                      </a:r>
                    </a:p>
                  </a:txBody>
                  <a:tcPr/>
                </a:tc>
                <a:tc>
                  <a:txBody>
                    <a:bodyPr/>
                    <a:lstStyle/>
                    <a:p>
                      <a:r>
                        <a:rPr lang="en-US" sz="700" b="0" dirty="0"/>
                        <a:t>Board &amp; system level</a:t>
                      </a:r>
                    </a:p>
                  </a:txBody>
                  <a:tcPr/>
                </a:tc>
                <a:tc>
                  <a:txBody>
                    <a:bodyPr/>
                    <a:lstStyle/>
                    <a:p>
                      <a:r>
                        <a:rPr lang="en-US" sz="700" b="0" dirty="0"/>
                        <a:t>Loaded</a:t>
                      </a:r>
                    </a:p>
                  </a:txBody>
                  <a:tcPr/>
                </a:tc>
                <a:tc>
                  <a:txBody>
                    <a:bodyPr/>
                    <a:lstStyle/>
                    <a:p>
                      <a:r>
                        <a:rPr lang="en-US" sz="700" b="0" dirty="0"/>
                        <a:t>1.4mm (55 mils)</a:t>
                      </a:r>
                    </a:p>
                  </a:txBody>
                  <a:tcPr/>
                </a:tc>
                <a:tc>
                  <a:txBody>
                    <a:bodyPr/>
                    <a:lstStyle/>
                    <a:p>
                      <a:r>
                        <a:rPr lang="en-US" sz="700" b="0" dirty="0"/>
                        <a:t>&lt;500 connects:                      6000x 0°C-100°C air/air       1000x -40°C-125°C air/air    </a:t>
                      </a:r>
                    </a:p>
                    <a:p>
                      <a:endParaRPr lang="en-US" sz="700" b="0" dirty="0"/>
                    </a:p>
                    <a:p>
                      <a:r>
                        <a:rPr lang="en-US" sz="700" b="0" dirty="0"/>
                        <a:t>&gt;500 connects:                           500x -40°C-125°C air/air</a:t>
                      </a:r>
                    </a:p>
                    <a:p>
                      <a:endParaRPr lang="en-US" sz="700" b="0" dirty="0"/>
                    </a:p>
                    <a:p>
                      <a:endParaRPr lang="en-US" sz="700" b="0" dirty="0"/>
                    </a:p>
                  </a:txBody>
                  <a:tcPr/>
                </a:tc>
                <a:tc>
                  <a:txBody>
                    <a:bodyPr/>
                    <a:lstStyle/>
                    <a:p>
                      <a:r>
                        <a:rPr lang="en-US" sz="700" b="0" dirty="0"/>
                        <a:t>20min 5min 20min 5min</a:t>
                      </a:r>
                    </a:p>
                    <a:p>
                      <a:r>
                        <a:rPr lang="en-US" sz="700" b="0" dirty="0"/>
                        <a:t>(Total = 50 min)</a:t>
                      </a:r>
                    </a:p>
                  </a:txBody>
                  <a:tcPr/>
                </a:tc>
                <a:tc>
                  <a:txBody>
                    <a:bodyPr/>
                    <a:lstStyle/>
                    <a:p>
                      <a:r>
                        <a:rPr lang="sv-SE" sz="700" b="0" dirty="0"/>
                        <a:t>Sock Delta T in 5 min</a:t>
                      </a:r>
                      <a:endParaRPr lang="en-US" sz="700" b="0" dirty="0"/>
                    </a:p>
                  </a:txBody>
                  <a:tcPr/>
                </a:tc>
                <a:tc>
                  <a:txBody>
                    <a:bodyPr/>
                    <a:lstStyle/>
                    <a:p>
                      <a:r>
                        <a:rPr lang="en-US" sz="700" b="0" dirty="0"/>
                        <a:t>No</a:t>
                      </a:r>
                    </a:p>
                  </a:txBody>
                  <a:tcPr/>
                </a:tc>
                <a:tc>
                  <a:txBody>
                    <a:bodyPr/>
                    <a:lstStyle/>
                    <a:p>
                      <a:r>
                        <a:rPr lang="en-US" sz="700" b="0" dirty="0"/>
                        <a:t>Cross section and electrical test</a:t>
                      </a:r>
                    </a:p>
                  </a:txBody>
                  <a:tcPr/>
                </a:tc>
                <a:tc>
                  <a:txBody>
                    <a:bodyPr/>
                    <a:lstStyle/>
                    <a:p>
                      <a:r>
                        <a:rPr lang="en-US" sz="700" b="0" dirty="0"/>
                        <a:t>1000 cycles</a:t>
                      </a:r>
                    </a:p>
                  </a:txBody>
                  <a:tcPr/>
                </a:tc>
                <a:tc>
                  <a:txBody>
                    <a:bodyPr/>
                    <a:lstStyle/>
                    <a:p>
                      <a:r>
                        <a:rPr lang="en-US" sz="700" b="0" dirty="0"/>
                        <a:t>0 failures</a:t>
                      </a:r>
                    </a:p>
                  </a:txBody>
                  <a:tcPr/>
                </a:tc>
                <a:tc>
                  <a:txBody>
                    <a:bodyPr/>
                    <a:lstStyle/>
                    <a:p>
                      <a:r>
                        <a:rPr lang="en-US" sz="700" b="0" dirty="0"/>
                        <a:t>No cracks in area of 75% of contact area and no electrical failures</a:t>
                      </a:r>
                    </a:p>
                  </a:txBody>
                  <a:tcPr/>
                </a:tc>
                <a:extLst>
                  <a:ext uri="{0D108BD9-81ED-4DB2-BD59-A6C34878D82A}">
                    <a16:rowId xmlns:a16="http://schemas.microsoft.com/office/drawing/2014/main" val="4267317143"/>
                  </a:ext>
                </a:extLst>
              </a:tr>
              <a:tr h="215350">
                <a:tc>
                  <a:txBody>
                    <a:bodyPr/>
                    <a:lstStyle/>
                    <a:p>
                      <a:r>
                        <a:rPr lang="en-US" sz="800" b="1" dirty="0"/>
                        <a:t>TQ (Product 1)</a:t>
                      </a:r>
                    </a:p>
                  </a:txBody>
                  <a:tcPr/>
                </a:tc>
                <a:tc>
                  <a:txBody>
                    <a:bodyPr/>
                    <a:lstStyle/>
                    <a:p>
                      <a:r>
                        <a:rPr lang="en-US" sz="700" b="0" dirty="0"/>
                        <a:t>EBM (TQMxE40M)</a:t>
                      </a:r>
                    </a:p>
                  </a:txBody>
                  <a:tcPr/>
                </a:tc>
                <a:tc>
                  <a:txBody>
                    <a:bodyPr/>
                    <a:lstStyle/>
                    <a:p>
                      <a:r>
                        <a:rPr lang="en-US" sz="700" b="0" dirty="0"/>
                        <a:t>Yes, some thermal test (no HASS / HALT)</a:t>
                      </a:r>
                    </a:p>
                  </a:txBody>
                  <a:tcPr/>
                </a:tc>
                <a:tc>
                  <a:txBody>
                    <a:bodyPr/>
                    <a:lstStyle/>
                    <a:p>
                      <a:r>
                        <a:rPr lang="en-US" sz="700" b="0" dirty="0"/>
                        <a:t>Board level</a:t>
                      </a:r>
                    </a:p>
                  </a:txBody>
                  <a:tcPr/>
                </a:tc>
                <a:tc>
                  <a:txBody>
                    <a:bodyPr/>
                    <a:lstStyle/>
                    <a:p>
                      <a:r>
                        <a:rPr lang="en-US" sz="700" b="0" dirty="0"/>
                        <a:t>Loaded</a:t>
                      </a:r>
                    </a:p>
                  </a:txBody>
                  <a:tcPr/>
                </a:tc>
                <a:tc>
                  <a:txBody>
                    <a:bodyPr/>
                    <a:lstStyle/>
                    <a:p>
                      <a:r>
                        <a:rPr lang="en-US" sz="700" b="0" dirty="0"/>
                        <a:t>2.0mm (79 mils)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00" b="1" dirty="0"/>
                        <a:t> </a:t>
                      </a:r>
                      <a:r>
                        <a:rPr lang="en-US" sz="700" b="0" dirty="0"/>
                        <a:t>-40°C to 85°C</a:t>
                      </a:r>
                    </a:p>
                  </a:txBody>
                  <a:tcPr/>
                </a:tc>
                <a:tc>
                  <a:txBody>
                    <a:bodyPr/>
                    <a:lstStyle/>
                    <a:p>
                      <a:r>
                        <a:rPr lang="en-US" sz="700" b="0" dirty="0"/>
                        <a:t>8 </a:t>
                      </a:r>
                      <a:r>
                        <a:rPr lang="en-US" sz="700" b="0" dirty="0" err="1"/>
                        <a:t>hr</a:t>
                      </a:r>
                      <a:r>
                        <a:rPr lang="en-US" sz="700" b="0" dirty="0"/>
                        <a:t> cycle length (20 min dwell). Electrical test performed @ -40, -20, -5, 0, +5, +40, +60, +80, +85°C</a:t>
                      </a:r>
                    </a:p>
                  </a:txBody>
                  <a:tcPr/>
                </a:tc>
                <a:tc>
                  <a:txBody>
                    <a:bodyPr/>
                    <a:lstStyle/>
                    <a:p>
                      <a:r>
                        <a:rPr lang="en-US" sz="700" b="0" dirty="0"/>
                        <a:t>&lt;2°C /min</a:t>
                      </a:r>
                    </a:p>
                  </a:txBody>
                  <a:tcPr/>
                </a:tc>
                <a:tc>
                  <a:txBody>
                    <a:bodyPr/>
                    <a:lstStyle/>
                    <a:p>
                      <a:r>
                        <a:rPr lang="en-US" sz="700" b="0" dirty="0"/>
                        <a:t>No</a:t>
                      </a:r>
                    </a:p>
                  </a:txBody>
                  <a:tcPr/>
                </a:tc>
                <a:tc>
                  <a:txBody>
                    <a:bodyPr/>
                    <a:lstStyle/>
                    <a:p>
                      <a:r>
                        <a:rPr lang="en-US" sz="700" b="0" dirty="0"/>
                        <a:t>We do Functional Test</a:t>
                      </a:r>
                    </a:p>
                  </a:txBody>
                  <a:tcPr/>
                </a:tc>
                <a:tc>
                  <a:txBody>
                    <a:bodyPr/>
                    <a:lstStyle/>
                    <a:p>
                      <a:r>
                        <a:rPr lang="en-US" sz="700" b="0" dirty="0"/>
                        <a:t>Up to 5</a:t>
                      </a:r>
                    </a:p>
                  </a:txBody>
                  <a:tcPr/>
                </a:tc>
                <a:tc>
                  <a:txBody>
                    <a:bodyPr/>
                    <a:lstStyle/>
                    <a:p>
                      <a:r>
                        <a:rPr lang="en-US" sz="700" b="0" dirty="0"/>
                        <a:t>0 failures out of 5 number of tested samples</a:t>
                      </a:r>
                    </a:p>
                  </a:txBody>
                  <a:tcPr/>
                </a:tc>
                <a:tc>
                  <a:txBody>
                    <a:bodyPr/>
                    <a:lstStyle/>
                    <a:p>
                      <a:endParaRPr lang="en-US" sz="700" b="0" dirty="0"/>
                    </a:p>
                  </a:txBody>
                  <a:tcPr/>
                </a:tc>
                <a:extLst>
                  <a:ext uri="{0D108BD9-81ED-4DB2-BD59-A6C34878D82A}">
                    <a16:rowId xmlns:a16="http://schemas.microsoft.com/office/drawing/2014/main" val="196143693"/>
                  </a:ext>
                </a:extLst>
              </a:tr>
            </a:tbl>
          </a:graphicData>
        </a:graphic>
      </p:graphicFrame>
      <p:sp>
        <p:nvSpPr>
          <p:cNvPr id="11" name="TextBox 10">
            <a:extLst>
              <a:ext uri="{FF2B5EF4-FFF2-40B4-BE49-F238E27FC236}">
                <a16:creationId xmlns:a16="http://schemas.microsoft.com/office/drawing/2014/main" id="{4D4EB835-7EB1-437E-99E5-0D88EA4C48FE}"/>
              </a:ext>
            </a:extLst>
          </p:cNvPr>
          <p:cNvSpPr txBox="1"/>
          <p:nvPr/>
        </p:nvSpPr>
        <p:spPr>
          <a:xfrm>
            <a:off x="2930548" y="3669029"/>
            <a:ext cx="3039262" cy="167388"/>
          </a:xfrm>
          <a:prstGeom prst="rect">
            <a:avLst/>
          </a:prstGeom>
          <a:solidFill>
            <a:srgbClr val="FFFF00"/>
          </a:solidFill>
        </p:spPr>
        <p:txBody>
          <a:bodyPr vert="horz" wrap="square" lIns="0" tIns="0" rIns="0" bIns="0" rtlCol="0">
            <a:noAutofit/>
          </a:bodyPr>
          <a:lstStyle/>
          <a:p>
            <a:r>
              <a:rPr lang="en-US" sz="1100" dirty="0">
                <a:solidFill>
                  <a:schemeClr val="accent3"/>
                </a:solidFill>
              </a:rPr>
              <a:t>They appear to run an Accelerated SJR TC Test</a:t>
            </a:r>
          </a:p>
        </p:txBody>
      </p:sp>
      <p:sp>
        <p:nvSpPr>
          <p:cNvPr id="8" name="TextBox 7">
            <a:extLst>
              <a:ext uri="{FF2B5EF4-FFF2-40B4-BE49-F238E27FC236}">
                <a16:creationId xmlns:a16="http://schemas.microsoft.com/office/drawing/2014/main" id="{F581620D-ABDE-4FFB-AAF8-B8E17631400D}"/>
              </a:ext>
            </a:extLst>
          </p:cNvPr>
          <p:cNvSpPr txBox="1"/>
          <p:nvPr/>
        </p:nvSpPr>
        <p:spPr>
          <a:xfrm>
            <a:off x="2931519" y="2171146"/>
            <a:ext cx="3039262" cy="167388"/>
          </a:xfrm>
          <a:prstGeom prst="rect">
            <a:avLst/>
          </a:prstGeom>
          <a:solidFill>
            <a:srgbClr val="FFFF00"/>
          </a:solidFill>
        </p:spPr>
        <p:txBody>
          <a:bodyPr vert="horz" wrap="square" lIns="0" tIns="0" rIns="0" bIns="0" rtlCol="0">
            <a:noAutofit/>
          </a:bodyPr>
          <a:lstStyle/>
          <a:p>
            <a:r>
              <a:rPr lang="en-US" sz="1100" dirty="0">
                <a:solidFill>
                  <a:schemeClr val="accent3"/>
                </a:solidFill>
              </a:rPr>
              <a:t>They appear to run an Accelerated SJR TC Test</a:t>
            </a:r>
          </a:p>
        </p:txBody>
      </p:sp>
      <p:sp>
        <p:nvSpPr>
          <p:cNvPr id="13" name="TextBox 12">
            <a:extLst>
              <a:ext uri="{FF2B5EF4-FFF2-40B4-BE49-F238E27FC236}">
                <a16:creationId xmlns:a16="http://schemas.microsoft.com/office/drawing/2014/main" id="{0E53F2D8-90F5-41DD-981B-337AEB6F5559}"/>
              </a:ext>
            </a:extLst>
          </p:cNvPr>
          <p:cNvSpPr txBox="1"/>
          <p:nvPr/>
        </p:nvSpPr>
        <p:spPr>
          <a:xfrm>
            <a:off x="2355798" y="4671980"/>
            <a:ext cx="2214322" cy="152407"/>
          </a:xfrm>
          <a:prstGeom prst="rect">
            <a:avLst/>
          </a:prstGeom>
          <a:solidFill>
            <a:schemeClr val="tx1"/>
          </a:solidFill>
        </p:spPr>
        <p:txBody>
          <a:bodyPr vert="horz" wrap="square" lIns="0" tIns="0" rIns="0" bIns="0" rtlCol="0">
            <a:noAutofit/>
          </a:bodyPr>
          <a:lstStyle/>
          <a:p>
            <a:r>
              <a:rPr lang="en-US" sz="1100" dirty="0">
                <a:solidFill>
                  <a:srgbClr val="FFFF00"/>
                </a:solidFill>
              </a:rPr>
              <a:t>Need to clarify with the customer</a:t>
            </a:r>
          </a:p>
        </p:txBody>
      </p:sp>
    </p:spTree>
    <p:extLst>
      <p:ext uri="{BB962C8B-B14F-4D97-AF65-F5344CB8AC3E}">
        <p14:creationId xmlns:p14="http://schemas.microsoft.com/office/powerpoint/2010/main" val="2432399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E42ED0-125A-4BED-B975-1B25B5A47663}"/>
              </a:ext>
            </a:extLst>
          </p:cNvPr>
          <p:cNvSpPr>
            <a:spLocks noGrp="1"/>
          </p:cNvSpPr>
          <p:nvPr>
            <p:ph type="sldNum" sz="quarter" idx="12"/>
          </p:nvPr>
        </p:nvSpPr>
        <p:spPr/>
        <p:txBody>
          <a:bodyPr/>
          <a:lstStyle/>
          <a:p>
            <a:fld id="{EE2556C5-CE8C-6547-B838-EA80C61A4AF7}" type="slidenum">
              <a:rPr lang="en-US" smtClean="0"/>
              <a:pPr/>
              <a:t>19</a:t>
            </a:fld>
            <a:endParaRPr lang="en-US" dirty="0"/>
          </a:p>
        </p:txBody>
      </p:sp>
      <p:sp>
        <p:nvSpPr>
          <p:cNvPr id="3" name="Title 2">
            <a:extLst>
              <a:ext uri="{FF2B5EF4-FFF2-40B4-BE49-F238E27FC236}">
                <a16:creationId xmlns:a16="http://schemas.microsoft.com/office/drawing/2014/main" id="{D4DD82C2-DC62-4A3F-A315-2AE6B59E9F45}"/>
              </a:ext>
            </a:extLst>
          </p:cNvPr>
          <p:cNvSpPr>
            <a:spLocks noGrp="1"/>
          </p:cNvSpPr>
          <p:nvPr>
            <p:ph type="title"/>
          </p:nvPr>
        </p:nvSpPr>
        <p:spPr>
          <a:xfrm>
            <a:off x="457200" y="45269"/>
            <a:ext cx="8229600" cy="388675"/>
          </a:xfrm>
        </p:spPr>
        <p:txBody>
          <a:bodyPr/>
          <a:lstStyle/>
          <a:p>
            <a:r>
              <a:rPr lang="en-US" dirty="0"/>
              <a:t>Board Level Temperature Cycling (TC) Testing (Page 4 of 4)</a:t>
            </a:r>
          </a:p>
        </p:txBody>
      </p:sp>
      <p:graphicFrame>
        <p:nvGraphicFramePr>
          <p:cNvPr id="5" name="Table 5">
            <a:extLst>
              <a:ext uri="{FF2B5EF4-FFF2-40B4-BE49-F238E27FC236}">
                <a16:creationId xmlns:a16="http://schemas.microsoft.com/office/drawing/2014/main" id="{4E66A910-CC2C-4C63-B197-B16213A5C52F}"/>
              </a:ext>
            </a:extLst>
          </p:cNvPr>
          <p:cNvGraphicFramePr>
            <a:graphicFrameLocks noGrp="1"/>
          </p:cNvGraphicFramePr>
          <p:nvPr>
            <p:extLst>
              <p:ext uri="{D42A27DB-BD31-4B8C-83A1-F6EECF244321}">
                <p14:modId xmlns:p14="http://schemas.microsoft.com/office/powerpoint/2010/main" val="1039255019"/>
              </p:ext>
            </p:extLst>
          </p:nvPr>
        </p:nvGraphicFramePr>
        <p:xfrm>
          <a:off x="500" y="433944"/>
          <a:ext cx="9139240" cy="4358640"/>
        </p:xfrm>
        <a:graphic>
          <a:graphicData uri="http://schemas.openxmlformats.org/drawingml/2006/table">
            <a:tbl>
              <a:tblPr firstRow="1" bandRow="1">
                <a:tableStyleId>{5C22544A-7EE6-4342-B048-85BDC9FD1C3A}</a:tableStyleId>
              </a:tblPr>
              <a:tblGrid>
                <a:gridCol w="718478">
                  <a:extLst>
                    <a:ext uri="{9D8B030D-6E8A-4147-A177-3AD203B41FA5}">
                      <a16:colId xmlns:a16="http://schemas.microsoft.com/office/drawing/2014/main" val="2427798588"/>
                    </a:ext>
                  </a:extLst>
                </a:gridCol>
                <a:gridCol w="718478">
                  <a:extLst>
                    <a:ext uri="{9D8B030D-6E8A-4147-A177-3AD203B41FA5}">
                      <a16:colId xmlns:a16="http://schemas.microsoft.com/office/drawing/2014/main" val="193790245"/>
                    </a:ext>
                  </a:extLst>
                </a:gridCol>
                <a:gridCol w="589367">
                  <a:extLst>
                    <a:ext uri="{9D8B030D-6E8A-4147-A177-3AD203B41FA5}">
                      <a16:colId xmlns:a16="http://schemas.microsoft.com/office/drawing/2014/main" val="2524759092"/>
                    </a:ext>
                  </a:extLst>
                </a:gridCol>
                <a:gridCol w="694347">
                  <a:extLst>
                    <a:ext uri="{9D8B030D-6E8A-4147-A177-3AD203B41FA5}">
                      <a16:colId xmlns:a16="http://schemas.microsoft.com/office/drawing/2014/main" val="3847301582"/>
                    </a:ext>
                  </a:extLst>
                </a:gridCol>
                <a:gridCol w="641857">
                  <a:extLst>
                    <a:ext uri="{9D8B030D-6E8A-4147-A177-3AD203B41FA5}">
                      <a16:colId xmlns:a16="http://schemas.microsoft.com/office/drawing/2014/main" val="1051834608"/>
                    </a:ext>
                  </a:extLst>
                </a:gridCol>
                <a:gridCol w="475123">
                  <a:extLst>
                    <a:ext uri="{9D8B030D-6E8A-4147-A177-3AD203B41FA5}">
                      <a16:colId xmlns:a16="http://schemas.microsoft.com/office/drawing/2014/main" val="1430459665"/>
                    </a:ext>
                  </a:extLst>
                </a:gridCol>
                <a:gridCol w="808591">
                  <a:extLst>
                    <a:ext uri="{9D8B030D-6E8A-4147-A177-3AD203B41FA5}">
                      <a16:colId xmlns:a16="http://schemas.microsoft.com/office/drawing/2014/main" val="1868766097"/>
                    </a:ext>
                  </a:extLst>
                </a:gridCol>
                <a:gridCol w="641857">
                  <a:extLst>
                    <a:ext uri="{9D8B030D-6E8A-4147-A177-3AD203B41FA5}">
                      <a16:colId xmlns:a16="http://schemas.microsoft.com/office/drawing/2014/main" val="179359557"/>
                    </a:ext>
                  </a:extLst>
                </a:gridCol>
                <a:gridCol w="641857">
                  <a:extLst>
                    <a:ext uri="{9D8B030D-6E8A-4147-A177-3AD203B41FA5}">
                      <a16:colId xmlns:a16="http://schemas.microsoft.com/office/drawing/2014/main" val="2600276601"/>
                    </a:ext>
                  </a:extLst>
                </a:gridCol>
                <a:gridCol w="641857">
                  <a:extLst>
                    <a:ext uri="{9D8B030D-6E8A-4147-A177-3AD203B41FA5}">
                      <a16:colId xmlns:a16="http://schemas.microsoft.com/office/drawing/2014/main" val="2853401388"/>
                    </a:ext>
                  </a:extLst>
                </a:gridCol>
                <a:gridCol w="641857">
                  <a:extLst>
                    <a:ext uri="{9D8B030D-6E8A-4147-A177-3AD203B41FA5}">
                      <a16:colId xmlns:a16="http://schemas.microsoft.com/office/drawing/2014/main" val="1500934481"/>
                    </a:ext>
                  </a:extLst>
                </a:gridCol>
                <a:gridCol w="641857">
                  <a:extLst>
                    <a:ext uri="{9D8B030D-6E8A-4147-A177-3AD203B41FA5}">
                      <a16:colId xmlns:a16="http://schemas.microsoft.com/office/drawing/2014/main" val="2865116585"/>
                    </a:ext>
                  </a:extLst>
                </a:gridCol>
                <a:gridCol w="641857">
                  <a:extLst>
                    <a:ext uri="{9D8B030D-6E8A-4147-A177-3AD203B41FA5}">
                      <a16:colId xmlns:a16="http://schemas.microsoft.com/office/drawing/2014/main" val="207743069"/>
                    </a:ext>
                  </a:extLst>
                </a:gridCol>
                <a:gridCol w="641857">
                  <a:extLst>
                    <a:ext uri="{9D8B030D-6E8A-4147-A177-3AD203B41FA5}">
                      <a16:colId xmlns:a16="http://schemas.microsoft.com/office/drawing/2014/main" val="1832575208"/>
                    </a:ext>
                  </a:extLst>
                </a:gridCol>
              </a:tblGrid>
              <a:tr h="215350">
                <a:tc>
                  <a:txBody>
                    <a:bodyPr/>
                    <a:lstStyle/>
                    <a:p>
                      <a:r>
                        <a:rPr lang="en-US" sz="900" b="1" dirty="0">
                          <a:solidFill>
                            <a:schemeClr val="tx1"/>
                          </a:solidFill>
                        </a:rPr>
                        <a:t>Customer</a:t>
                      </a:r>
                    </a:p>
                  </a:txBody>
                  <a:tcPr/>
                </a:tc>
                <a:tc>
                  <a:txBody>
                    <a:bodyPr/>
                    <a:lstStyle/>
                    <a:p>
                      <a:r>
                        <a:rPr lang="en-US" sz="900" dirty="0">
                          <a:solidFill>
                            <a:schemeClr val="tx1"/>
                          </a:solidFill>
                        </a:rPr>
                        <a:t>Market Segment</a:t>
                      </a:r>
                    </a:p>
                  </a:txBody>
                  <a:tcPr/>
                </a:tc>
                <a:tc gridSpan="12">
                  <a:txBody>
                    <a:bodyPr/>
                    <a:lstStyle/>
                    <a:p>
                      <a:r>
                        <a:rPr lang="en-US" sz="900" dirty="0">
                          <a:solidFill>
                            <a:schemeClr val="tx1"/>
                          </a:solidFill>
                        </a:rPr>
                        <a:t>Board Level Temperature Cycling (TC) Testing</a:t>
                      </a:r>
                    </a:p>
                  </a:txBody>
                  <a:tcPr/>
                </a:tc>
                <a:tc hMerge="1">
                  <a:txBody>
                    <a:bodyPr/>
                    <a:lstStyle/>
                    <a:p>
                      <a:endParaRPr lang="en-US" sz="1050" dirty="0">
                        <a:solidFill>
                          <a:schemeClr val="tx1"/>
                        </a:solidFill>
                      </a:endParaRPr>
                    </a:p>
                  </a:txBody>
                  <a:tcPr/>
                </a:tc>
                <a:tc hMerge="1">
                  <a:txBody>
                    <a:bodyPr/>
                    <a:lstStyle/>
                    <a:p>
                      <a:endParaRPr lang="en-US" sz="500" dirty="0">
                        <a:solidFill>
                          <a:schemeClr val="tx1"/>
                        </a:solidFill>
                      </a:endParaRPr>
                    </a:p>
                  </a:txBody>
                  <a:tcPr/>
                </a:tc>
                <a:tc hMerge="1">
                  <a:txBody>
                    <a:bodyPr/>
                    <a:lstStyle/>
                    <a:p>
                      <a:endParaRPr lang="en-US" sz="1050" dirty="0">
                        <a:solidFill>
                          <a:schemeClr val="tx1"/>
                        </a:solidFill>
                      </a:endParaRPr>
                    </a:p>
                  </a:txBody>
                  <a:tcPr/>
                </a:tc>
                <a:tc hMerge="1">
                  <a:txBody>
                    <a:bodyPr/>
                    <a:lstStyle/>
                    <a:p>
                      <a:endParaRPr lang="en-US" sz="500" dirty="0">
                        <a:solidFill>
                          <a:schemeClr val="tx1"/>
                        </a:solidFill>
                      </a:endParaRPr>
                    </a:p>
                  </a:txBody>
                  <a:tcPr/>
                </a:tc>
                <a:tc hMerge="1">
                  <a:txBody>
                    <a:bodyPr/>
                    <a:lstStyle/>
                    <a:p>
                      <a:endParaRPr lang="en-US" sz="500" dirty="0">
                        <a:solidFill>
                          <a:schemeClr val="tx1"/>
                        </a:solidFill>
                      </a:endParaRPr>
                    </a:p>
                  </a:txBody>
                  <a:tcPr/>
                </a:tc>
                <a:tc hMerge="1">
                  <a:txBody>
                    <a:bodyPr/>
                    <a:lstStyle/>
                    <a:p>
                      <a:endParaRPr lang="en-US" sz="900" dirty="0">
                        <a:solidFill>
                          <a:schemeClr val="tx1"/>
                        </a:solidFill>
                      </a:endParaRPr>
                    </a:p>
                  </a:txBody>
                  <a:tcPr/>
                </a:tc>
                <a:tc hMerge="1">
                  <a:txBody>
                    <a:bodyPr/>
                    <a:lstStyle/>
                    <a:p>
                      <a:endParaRPr lang="en-US" sz="900" dirty="0">
                        <a:solidFill>
                          <a:schemeClr val="tx1"/>
                        </a:solidFill>
                      </a:endParaRPr>
                    </a:p>
                  </a:txBody>
                  <a:tcPr/>
                </a:tc>
                <a:tc hMerge="1">
                  <a:txBody>
                    <a:bodyPr/>
                    <a:lstStyle/>
                    <a:p>
                      <a:endParaRPr lang="en-US" sz="900" dirty="0">
                        <a:solidFill>
                          <a:schemeClr val="tx1"/>
                        </a:solidFill>
                      </a:endParaRPr>
                    </a:p>
                  </a:txBody>
                  <a:tcPr/>
                </a:tc>
                <a:tc hMerge="1">
                  <a:txBody>
                    <a:bodyPr/>
                    <a:lstStyle/>
                    <a:p>
                      <a:endParaRPr lang="en-US" sz="900" dirty="0">
                        <a:solidFill>
                          <a:schemeClr val="tx1"/>
                        </a:solidFill>
                      </a:endParaRPr>
                    </a:p>
                  </a:txBody>
                  <a:tcPr/>
                </a:tc>
                <a:tc hMerge="1">
                  <a:txBody>
                    <a:bodyPr/>
                    <a:lstStyle/>
                    <a:p>
                      <a:endParaRPr lang="en-US" sz="900" dirty="0">
                        <a:solidFill>
                          <a:schemeClr val="tx1"/>
                        </a:solidFill>
                      </a:endParaRPr>
                    </a:p>
                  </a:txBody>
                  <a:tcPr/>
                </a:tc>
                <a:tc hMerge="1">
                  <a:txBody>
                    <a:bodyPr/>
                    <a:lstStyle/>
                    <a:p>
                      <a:endParaRPr lang="en-US" sz="900" dirty="0">
                        <a:solidFill>
                          <a:schemeClr val="tx1"/>
                        </a:solidFill>
                      </a:endParaRPr>
                    </a:p>
                  </a:txBody>
                  <a:tcPr/>
                </a:tc>
                <a:extLst>
                  <a:ext uri="{0D108BD9-81ED-4DB2-BD59-A6C34878D82A}">
                    <a16:rowId xmlns:a16="http://schemas.microsoft.com/office/drawing/2014/main" val="877362529"/>
                  </a:ext>
                </a:extLst>
              </a:tr>
              <a:tr h="215350">
                <a:tc>
                  <a:txBody>
                    <a:bodyPr/>
                    <a:lstStyle/>
                    <a:p>
                      <a:endParaRPr lang="en-US" sz="800" b="1" dirty="0">
                        <a:solidFill>
                          <a:schemeClr val="tx1"/>
                        </a:solidFill>
                      </a:endParaRPr>
                    </a:p>
                  </a:txBody>
                  <a:tcPr/>
                </a:tc>
                <a:tc>
                  <a:txBody>
                    <a:bodyPr/>
                    <a:lstStyle/>
                    <a:p>
                      <a:r>
                        <a:rPr lang="en-US" sz="700" b="1" dirty="0">
                          <a:solidFill>
                            <a:schemeClr val="tx1"/>
                          </a:solidFill>
                        </a:rPr>
                        <a:t>Market segment for the product</a:t>
                      </a:r>
                    </a:p>
                  </a:txBody>
                  <a:tcPr/>
                </a:tc>
                <a:tc>
                  <a:txBody>
                    <a:bodyPr/>
                    <a:lstStyle/>
                    <a:p>
                      <a:r>
                        <a:rPr lang="en-US" sz="700" b="1" dirty="0">
                          <a:solidFill>
                            <a:schemeClr val="tx1"/>
                          </a:solidFill>
                        </a:rPr>
                        <a:t>We perform board level TC</a:t>
                      </a:r>
                    </a:p>
                  </a:txBody>
                  <a:tcPr/>
                </a:tc>
                <a:tc>
                  <a:txBody>
                    <a:bodyPr/>
                    <a:lstStyle/>
                    <a:p>
                      <a:r>
                        <a:rPr lang="en-US" sz="700" b="1" dirty="0">
                          <a:solidFill>
                            <a:schemeClr val="tx1"/>
                          </a:solidFill>
                        </a:rPr>
                        <a:t>Board or system level TC performed</a:t>
                      </a:r>
                    </a:p>
                  </a:txBody>
                  <a:tcPr/>
                </a:tc>
                <a:tc>
                  <a:txBody>
                    <a:bodyPr/>
                    <a:lstStyle/>
                    <a:p>
                      <a:r>
                        <a:rPr lang="en-US" sz="700" b="1" dirty="0">
                          <a:solidFill>
                            <a:schemeClr val="tx1"/>
                          </a:solidFill>
                        </a:rPr>
                        <a:t>Loading Param’s for board level TC</a:t>
                      </a:r>
                    </a:p>
                  </a:txBody>
                  <a:tcPr/>
                </a:tc>
                <a:tc>
                  <a:txBody>
                    <a:bodyPr/>
                    <a:lstStyle/>
                    <a:p>
                      <a:r>
                        <a:rPr lang="en-US" sz="700" b="1" dirty="0">
                          <a:solidFill>
                            <a:schemeClr val="tx1"/>
                          </a:solidFill>
                        </a:rPr>
                        <a:t>Board thickness for board level TC</a:t>
                      </a:r>
                    </a:p>
                  </a:txBody>
                  <a:tcPr/>
                </a:tc>
                <a:tc>
                  <a:txBody>
                    <a:bodyPr/>
                    <a:lstStyle/>
                    <a:p>
                      <a:r>
                        <a:rPr lang="en-US" sz="700" b="1" dirty="0">
                          <a:solidFill>
                            <a:schemeClr val="tx1"/>
                          </a:solidFill>
                        </a:rPr>
                        <a:t>Temp range for board level TC</a:t>
                      </a:r>
                    </a:p>
                  </a:txBody>
                  <a:tcPr/>
                </a:tc>
                <a:tc>
                  <a:txBody>
                    <a:bodyPr/>
                    <a:lstStyle/>
                    <a:p>
                      <a:r>
                        <a:rPr lang="en-US" sz="700" b="1" dirty="0">
                          <a:solidFill>
                            <a:schemeClr val="tx1"/>
                          </a:solidFill>
                        </a:rPr>
                        <a:t>Cycle length (incl dwell time) for board level TC</a:t>
                      </a:r>
                    </a:p>
                  </a:txBody>
                  <a:tcPr/>
                </a:tc>
                <a:tc>
                  <a:txBody>
                    <a:bodyPr/>
                    <a:lstStyle/>
                    <a:p>
                      <a:r>
                        <a:rPr lang="en-US" sz="700" b="1" dirty="0">
                          <a:solidFill>
                            <a:schemeClr val="tx1"/>
                          </a:solidFill>
                        </a:rPr>
                        <a:t>Temp ramp rate for board level TC</a:t>
                      </a:r>
                    </a:p>
                  </a:txBody>
                  <a:tcPr/>
                </a:tc>
                <a:tc>
                  <a:txBody>
                    <a:bodyPr/>
                    <a:lstStyle/>
                    <a:p>
                      <a:r>
                        <a:rPr lang="en-US" sz="700" b="1" dirty="0">
                          <a:solidFill>
                            <a:schemeClr val="tx1"/>
                          </a:solidFill>
                        </a:rPr>
                        <a:t>Adhesives used on Intel SOC for board level TC</a:t>
                      </a:r>
                    </a:p>
                  </a:txBody>
                  <a:tcPr/>
                </a:tc>
                <a:tc>
                  <a:txBody>
                    <a:bodyPr/>
                    <a:lstStyle/>
                    <a:p>
                      <a:r>
                        <a:rPr lang="en-US" sz="700" b="1" dirty="0">
                          <a:solidFill>
                            <a:schemeClr val="tx1"/>
                          </a:solidFill>
                        </a:rPr>
                        <a:t>How are board level TC results are monitored</a:t>
                      </a:r>
                    </a:p>
                  </a:txBody>
                  <a:tcPr/>
                </a:tc>
                <a:tc>
                  <a:txBody>
                    <a:bodyPr/>
                    <a:lstStyle/>
                    <a:p>
                      <a:r>
                        <a:rPr lang="en-US" sz="700" b="1" dirty="0">
                          <a:solidFill>
                            <a:schemeClr val="tx1"/>
                          </a:solidFill>
                        </a:rPr>
                        <a:t>Rqmt for qty of board level temp cycles</a:t>
                      </a:r>
                    </a:p>
                  </a:txBody>
                  <a:tcPr/>
                </a:tc>
                <a:tc>
                  <a:txBody>
                    <a:bodyPr/>
                    <a:lstStyle/>
                    <a:p>
                      <a:r>
                        <a:rPr lang="en-US" sz="700" b="1" dirty="0">
                          <a:solidFill>
                            <a:schemeClr val="tx1"/>
                          </a:solidFill>
                        </a:rPr>
                        <a:t>Success Criteria for board level TC (# of fails allowed from tested pop)</a:t>
                      </a:r>
                    </a:p>
                  </a:txBody>
                  <a:tcPr/>
                </a:tc>
                <a:tc>
                  <a:txBody>
                    <a:bodyPr/>
                    <a:lstStyle/>
                    <a:p>
                      <a:r>
                        <a:rPr lang="en-US" sz="700" b="1" dirty="0">
                          <a:solidFill>
                            <a:schemeClr val="tx1"/>
                          </a:solidFill>
                        </a:rPr>
                        <a:t>Passing Criteria for board level TC (how a failure is defined)</a:t>
                      </a:r>
                    </a:p>
                  </a:txBody>
                  <a:tcPr/>
                </a:tc>
                <a:extLst>
                  <a:ext uri="{0D108BD9-81ED-4DB2-BD59-A6C34878D82A}">
                    <a16:rowId xmlns:a16="http://schemas.microsoft.com/office/drawing/2014/main" val="3071589016"/>
                  </a:ext>
                </a:extLst>
              </a:tr>
              <a:tr h="215350">
                <a:tc>
                  <a:txBody>
                    <a:bodyPr/>
                    <a:lstStyle/>
                    <a:p>
                      <a:r>
                        <a:rPr lang="en-US" sz="800" b="1" dirty="0"/>
                        <a:t>TQ (Product 2)</a:t>
                      </a:r>
                    </a:p>
                  </a:txBody>
                  <a:tcPr/>
                </a:tc>
                <a:tc>
                  <a:txBody>
                    <a:bodyPr/>
                    <a:lstStyle/>
                    <a:p>
                      <a:r>
                        <a:rPr lang="en-US" sz="700" b="0" dirty="0"/>
                        <a:t>EBM (TQMxE40S)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00" b="0" dirty="0"/>
                        <a:t>Yes, some thermal test (no HASS / HALT)</a:t>
                      </a:r>
                    </a:p>
                  </a:txBody>
                  <a:tcPr/>
                </a:tc>
                <a:tc>
                  <a:txBody>
                    <a:bodyPr/>
                    <a:lstStyle/>
                    <a:p>
                      <a:r>
                        <a:rPr lang="en-US" sz="700" b="0" dirty="0"/>
                        <a:t>Board level</a:t>
                      </a:r>
                    </a:p>
                  </a:txBody>
                  <a:tcPr/>
                </a:tc>
                <a:tc>
                  <a:txBody>
                    <a:bodyPr/>
                    <a:lstStyle/>
                    <a:p>
                      <a:r>
                        <a:rPr lang="en-US" sz="700" b="0" dirty="0"/>
                        <a:t>Loaded</a:t>
                      </a:r>
                    </a:p>
                  </a:txBody>
                  <a:tcPr/>
                </a:tc>
                <a:tc>
                  <a:txBody>
                    <a:bodyPr/>
                    <a:lstStyle/>
                    <a:p>
                      <a:r>
                        <a:rPr lang="en-US" sz="700" b="0" dirty="0"/>
                        <a:t>1.2mm (47 mils)</a:t>
                      </a:r>
                    </a:p>
                  </a:txBody>
                  <a:tcPr/>
                </a:tc>
                <a:tc>
                  <a:txBody>
                    <a:bodyPr/>
                    <a:lstStyle/>
                    <a:p>
                      <a:r>
                        <a:rPr lang="en-US" sz="700" b="0" dirty="0"/>
                        <a:t>-40°C to 85°C</a:t>
                      </a:r>
                    </a:p>
                  </a:txBody>
                  <a:tcPr/>
                </a:tc>
                <a:tc>
                  <a:txBody>
                    <a:bodyPr/>
                    <a:lstStyle/>
                    <a:p>
                      <a:r>
                        <a:rPr lang="en-US" sz="700" b="0" dirty="0"/>
                        <a:t>8 </a:t>
                      </a:r>
                      <a:r>
                        <a:rPr lang="en-US" sz="700" b="0" dirty="0" err="1"/>
                        <a:t>hr</a:t>
                      </a:r>
                      <a:r>
                        <a:rPr lang="en-US" sz="700" b="0" dirty="0"/>
                        <a:t> cycle length (20 min dwell). Electrical test performed @ -40, -20, -5, 0, +5, +40, +60, +80, +85°C</a:t>
                      </a:r>
                    </a:p>
                  </a:txBody>
                  <a:tcPr/>
                </a:tc>
                <a:tc>
                  <a:txBody>
                    <a:bodyPr/>
                    <a:lstStyle/>
                    <a:p>
                      <a:r>
                        <a:rPr lang="en-US" sz="700" b="0" dirty="0"/>
                        <a:t>&lt;2°C/min</a:t>
                      </a:r>
                    </a:p>
                  </a:txBody>
                  <a:tcPr/>
                </a:tc>
                <a:tc>
                  <a:txBody>
                    <a:bodyPr/>
                    <a:lstStyle/>
                    <a:p>
                      <a:r>
                        <a:rPr lang="en-US" sz="700" b="0" dirty="0"/>
                        <a:t>No</a:t>
                      </a:r>
                    </a:p>
                  </a:txBody>
                  <a:tcPr/>
                </a:tc>
                <a:tc>
                  <a:txBody>
                    <a:bodyPr/>
                    <a:lstStyle/>
                    <a:p>
                      <a:r>
                        <a:rPr lang="en-US" sz="700" b="0" dirty="0"/>
                        <a:t>We do Functional Test</a:t>
                      </a:r>
                    </a:p>
                  </a:txBody>
                  <a:tcPr/>
                </a:tc>
                <a:tc>
                  <a:txBody>
                    <a:bodyPr/>
                    <a:lstStyle/>
                    <a:p>
                      <a:r>
                        <a:rPr lang="en-US" sz="700" b="0" dirty="0"/>
                        <a:t>Up to 6</a:t>
                      </a:r>
                    </a:p>
                  </a:txBody>
                  <a:tcPr/>
                </a:tc>
                <a:tc>
                  <a:txBody>
                    <a:bodyPr/>
                    <a:lstStyle/>
                    <a:p>
                      <a:r>
                        <a:rPr lang="en-US" sz="700" b="0" dirty="0"/>
                        <a:t>1 failure out of 5 number of tested samples</a:t>
                      </a:r>
                    </a:p>
                  </a:txBody>
                  <a:tcPr/>
                </a:tc>
                <a:tc>
                  <a:txBody>
                    <a:bodyPr/>
                    <a:lstStyle/>
                    <a:p>
                      <a:endParaRPr lang="en-US" sz="700" b="0" dirty="0"/>
                    </a:p>
                  </a:txBody>
                  <a:tcPr/>
                </a:tc>
                <a:extLst>
                  <a:ext uri="{0D108BD9-81ED-4DB2-BD59-A6C34878D82A}">
                    <a16:rowId xmlns:a16="http://schemas.microsoft.com/office/drawing/2014/main" val="2417453178"/>
                  </a:ext>
                </a:extLst>
              </a:tr>
              <a:tr h="215350">
                <a:tc>
                  <a:txBody>
                    <a:bodyPr/>
                    <a:lstStyle/>
                    <a:p>
                      <a:r>
                        <a:rPr lang="en-US" sz="800" b="1" dirty="0"/>
                        <a:t>TQ (Product 3)</a:t>
                      </a:r>
                    </a:p>
                  </a:txBody>
                  <a:tcPr/>
                </a:tc>
                <a:tc>
                  <a:txBody>
                    <a:bodyPr/>
                    <a:lstStyle/>
                    <a:p>
                      <a:r>
                        <a:rPr lang="en-US" sz="700" b="0" dirty="0"/>
                        <a:t>EBM (TQMxE40C)</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00" b="0" dirty="0"/>
                        <a:t>Yes, some thermal test (no HASS / HALT)</a:t>
                      </a:r>
                    </a:p>
                  </a:txBody>
                  <a:tcPr/>
                </a:tc>
                <a:tc>
                  <a:txBody>
                    <a:bodyPr/>
                    <a:lstStyle/>
                    <a:p>
                      <a:r>
                        <a:rPr lang="en-US" sz="700" b="0" dirty="0"/>
                        <a:t>Board level</a:t>
                      </a:r>
                    </a:p>
                  </a:txBody>
                  <a:tcPr/>
                </a:tc>
                <a:tc>
                  <a:txBody>
                    <a:bodyPr/>
                    <a:lstStyle/>
                    <a:p>
                      <a:r>
                        <a:rPr lang="en-US" sz="700" b="0" dirty="0"/>
                        <a:t>Loaded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00" b="0" dirty="0"/>
                        <a:t>2.0mm (79 mils)</a:t>
                      </a:r>
                    </a:p>
                  </a:txBody>
                  <a:tcPr/>
                </a:tc>
                <a:tc>
                  <a:txBody>
                    <a:bodyPr/>
                    <a:lstStyle/>
                    <a:p>
                      <a:r>
                        <a:rPr lang="en-US" sz="700" b="0" dirty="0"/>
                        <a:t>-40°C to 85°C</a:t>
                      </a:r>
                    </a:p>
                  </a:txBody>
                  <a:tcPr/>
                </a:tc>
                <a:tc>
                  <a:txBody>
                    <a:bodyPr/>
                    <a:lstStyle/>
                    <a:p>
                      <a:r>
                        <a:rPr lang="en-US" sz="700" b="0" dirty="0"/>
                        <a:t>8 </a:t>
                      </a:r>
                      <a:r>
                        <a:rPr lang="en-US" sz="700" b="0" dirty="0" err="1"/>
                        <a:t>hr</a:t>
                      </a:r>
                      <a:r>
                        <a:rPr lang="en-US" sz="700" b="0" dirty="0"/>
                        <a:t> cycle length (20 min dwell). Electrical test performed @ -40, -20, -5, 0, +5, +40, +60, +80, +85°C</a:t>
                      </a:r>
                    </a:p>
                  </a:txBody>
                  <a:tcPr/>
                </a:tc>
                <a:tc>
                  <a:txBody>
                    <a:bodyPr/>
                    <a:lstStyle/>
                    <a:p>
                      <a:r>
                        <a:rPr lang="en-US" sz="700" b="0" dirty="0"/>
                        <a:t>&lt;2°C/min</a:t>
                      </a:r>
                    </a:p>
                  </a:txBody>
                  <a:tcPr/>
                </a:tc>
                <a:tc>
                  <a:txBody>
                    <a:bodyPr/>
                    <a:lstStyle/>
                    <a:p>
                      <a:r>
                        <a:rPr lang="en-US" sz="700" b="0" dirty="0"/>
                        <a:t>No</a:t>
                      </a:r>
                    </a:p>
                  </a:txBody>
                  <a:tcPr/>
                </a:tc>
                <a:tc>
                  <a:txBody>
                    <a:bodyPr/>
                    <a:lstStyle/>
                    <a:p>
                      <a:r>
                        <a:rPr lang="en-US" sz="700" b="0" dirty="0"/>
                        <a:t>We do Functional Test</a:t>
                      </a:r>
                    </a:p>
                  </a:txBody>
                  <a:tcPr/>
                </a:tc>
                <a:tc>
                  <a:txBody>
                    <a:bodyPr/>
                    <a:lstStyle/>
                    <a:p>
                      <a:r>
                        <a:rPr lang="en-US" sz="700" b="0" dirty="0"/>
                        <a:t>Up to 7</a:t>
                      </a:r>
                    </a:p>
                  </a:txBody>
                  <a:tcPr/>
                </a:tc>
                <a:tc>
                  <a:txBody>
                    <a:bodyPr/>
                    <a:lstStyle/>
                    <a:p>
                      <a:r>
                        <a:rPr lang="en-US" sz="700" b="0" dirty="0"/>
                        <a:t>2 failures out of 5 number of tested samples</a:t>
                      </a:r>
                    </a:p>
                  </a:txBody>
                  <a:tcPr/>
                </a:tc>
                <a:tc>
                  <a:txBody>
                    <a:bodyPr/>
                    <a:lstStyle/>
                    <a:p>
                      <a:endParaRPr lang="en-US" sz="700" b="0" dirty="0"/>
                    </a:p>
                  </a:txBody>
                  <a:tcPr/>
                </a:tc>
                <a:extLst>
                  <a:ext uri="{0D108BD9-81ED-4DB2-BD59-A6C34878D82A}">
                    <a16:rowId xmlns:a16="http://schemas.microsoft.com/office/drawing/2014/main" val="4267317143"/>
                  </a:ext>
                </a:extLst>
              </a:tr>
              <a:tr h="215350">
                <a:tc>
                  <a:txBody>
                    <a:bodyPr/>
                    <a:lstStyle/>
                    <a:p>
                      <a:r>
                        <a:rPr lang="en-US" sz="800" b="1" dirty="0"/>
                        <a:t>Weibu</a:t>
                      </a:r>
                    </a:p>
                  </a:txBody>
                  <a:tcPr/>
                </a:tc>
                <a:tc>
                  <a:txBody>
                    <a:bodyPr/>
                    <a:lstStyle/>
                    <a:p>
                      <a:r>
                        <a:rPr lang="en-US" sz="700" b="0" dirty="0"/>
                        <a:t>PC Client</a:t>
                      </a:r>
                    </a:p>
                  </a:txBody>
                  <a:tcPr/>
                </a:tc>
                <a:tc>
                  <a:txBody>
                    <a:bodyPr/>
                    <a:lstStyle/>
                    <a:p>
                      <a:r>
                        <a:rPr lang="en-US" sz="700" b="0" dirty="0"/>
                        <a:t>No</a:t>
                      </a:r>
                    </a:p>
                  </a:txBody>
                  <a:tcPr/>
                </a:tc>
                <a:tc>
                  <a:txBody>
                    <a:bodyPr/>
                    <a:lstStyle/>
                    <a:p>
                      <a:r>
                        <a:rPr lang="en-US" sz="700" b="0" dirty="0"/>
                        <a:t>Board &amp; system level</a:t>
                      </a:r>
                    </a:p>
                  </a:txBody>
                  <a:tcPr/>
                </a:tc>
                <a:tc>
                  <a:txBody>
                    <a:bodyPr/>
                    <a:lstStyle/>
                    <a:p>
                      <a:r>
                        <a:rPr lang="en-US" sz="700" b="0" dirty="0"/>
                        <a:t>TAT or PTU tool</a:t>
                      </a:r>
                    </a:p>
                  </a:txBody>
                  <a:tcPr/>
                </a:tc>
                <a:tc>
                  <a:txBody>
                    <a:bodyPr/>
                    <a:lstStyle/>
                    <a:p>
                      <a:r>
                        <a:rPr lang="en-US" sz="700" b="0" dirty="0"/>
                        <a:t>1.6mm (62 mils)</a:t>
                      </a:r>
                    </a:p>
                  </a:txBody>
                  <a:tcPr/>
                </a:tc>
                <a:tc>
                  <a:txBody>
                    <a:bodyPr/>
                    <a:lstStyle/>
                    <a:p>
                      <a:r>
                        <a:rPr lang="en-US" sz="700" b="0" dirty="0"/>
                        <a:t>-10°C to +45°C</a:t>
                      </a:r>
                    </a:p>
                  </a:txBody>
                  <a:tcPr/>
                </a:tc>
                <a:tc>
                  <a:txBody>
                    <a:bodyPr/>
                    <a:lstStyle/>
                    <a:p>
                      <a:r>
                        <a:rPr lang="en-US" sz="700" b="0" dirty="0"/>
                        <a:t>12 </a:t>
                      </a:r>
                      <a:r>
                        <a:rPr lang="en-US" sz="700" b="0" dirty="0" err="1"/>
                        <a:t>hrs</a:t>
                      </a:r>
                      <a:endParaRPr lang="en-US" sz="700" b="0" dirty="0"/>
                    </a:p>
                  </a:txBody>
                  <a:tcPr/>
                </a:tc>
                <a:tc>
                  <a:txBody>
                    <a:bodyPr/>
                    <a:lstStyle/>
                    <a:p>
                      <a:r>
                        <a:rPr lang="en-US" sz="700" b="0" dirty="0"/>
                        <a:t>≤20°C per min</a:t>
                      </a:r>
                    </a:p>
                  </a:txBody>
                  <a:tcPr/>
                </a:tc>
                <a:tc>
                  <a:txBody>
                    <a:bodyPr/>
                    <a:lstStyle/>
                    <a:p>
                      <a:r>
                        <a:rPr lang="en-US" sz="700" b="0" dirty="0"/>
                        <a:t>Yes</a:t>
                      </a:r>
                    </a:p>
                  </a:txBody>
                  <a:tcPr/>
                </a:tc>
                <a:tc>
                  <a:txBody>
                    <a:bodyPr/>
                    <a:lstStyle/>
                    <a:p>
                      <a:r>
                        <a:rPr lang="en-US" sz="700" b="0" dirty="0"/>
                        <a:t>Electrical monitoring</a:t>
                      </a:r>
                    </a:p>
                  </a:txBody>
                  <a:tcPr/>
                </a:tc>
                <a:tc>
                  <a:txBody>
                    <a:bodyPr/>
                    <a:lstStyle/>
                    <a:p>
                      <a:r>
                        <a:rPr lang="en-US" sz="700" b="0" dirty="0"/>
                        <a:t>100 cycles</a:t>
                      </a:r>
                    </a:p>
                  </a:txBody>
                  <a:tcPr/>
                </a:tc>
                <a:tc>
                  <a:txBody>
                    <a:bodyPr/>
                    <a:lstStyle/>
                    <a:p>
                      <a:r>
                        <a:rPr lang="en-US" sz="700" b="0" dirty="0"/>
                        <a:t>0 failures out of 6 number of tested samples</a:t>
                      </a:r>
                    </a:p>
                  </a:txBody>
                  <a:tcPr/>
                </a:tc>
                <a:tc>
                  <a:txBody>
                    <a:bodyPr/>
                    <a:lstStyle/>
                    <a:p>
                      <a:endParaRPr lang="en-US" sz="700" b="0" dirty="0"/>
                    </a:p>
                  </a:txBody>
                  <a:tcPr/>
                </a:tc>
                <a:extLst>
                  <a:ext uri="{0D108BD9-81ED-4DB2-BD59-A6C34878D82A}">
                    <a16:rowId xmlns:a16="http://schemas.microsoft.com/office/drawing/2014/main" val="196143693"/>
                  </a:ext>
                </a:extLst>
              </a:tr>
            </a:tbl>
          </a:graphicData>
        </a:graphic>
      </p:graphicFrame>
      <p:sp>
        <p:nvSpPr>
          <p:cNvPr id="13" name="TextBox 12">
            <a:extLst>
              <a:ext uri="{FF2B5EF4-FFF2-40B4-BE49-F238E27FC236}">
                <a16:creationId xmlns:a16="http://schemas.microsoft.com/office/drawing/2014/main" id="{0E53F2D8-90F5-41DD-981B-337AEB6F5559}"/>
              </a:ext>
            </a:extLst>
          </p:cNvPr>
          <p:cNvSpPr txBox="1"/>
          <p:nvPr/>
        </p:nvSpPr>
        <p:spPr>
          <a:xfrm>
            <a:off x="2279037" y="2762214"/>
            <a:ext cx="2214322" cy="152407"/>
          </a:xfrm>
          <a:prstGeom prst="rect">
            <a:avLst/>
          </a:prstGeom>
          <a:solidFill>
            <a:schemeClr val="tx1"/>
          </a:solidFill>
        </p:spPr>
        <p:txBody>
          <a:bodyPr vert="horz" wrap="square" lIns="0" tIns="0" rIns="0" bIns="0" rtlCol="0">
            <a:noAutofit/>
          </a:bodyPr>
          <a:lstStyle/>
          <a:p>
            <a:r>
              <a:rPr lang="en-US" sz="1100" dirty="0">
                <a:solidFill>
                  <a:srgbClr val="FFFF00"/>
                </a:solidFill>
              </a:rPr>
              <a:t>Need to clarify with the customer</a:t>
            </a:r>
          </a:p>
        </p:txBody>
      </p:sp>
      <p:sp>
        <p:nvSpPr>
          <p:cNvPr id="9" name="TextBox 8">
            <a:extLst>
              <a:ext uri="{FF2B5EF4-FFF2-40B4-BE49-F238E27FC236}">
                <a16:creationId xmlns:a16="http://schemas.microsoft.com/office/drawing/2014/main" id="{D9D1BC76-6E0F-4A50-B6EC-F46022172156}"/>
              </a:ext>
            </a:extLst>
          </p:cNvPr>
          <p:cNvSpPr txBox="1"/>
          <p:nvPr/>
        </p:nvSpPr>
        <p:spPr>
          <a:xfrm>
            <a:off x="2279037" y="3954283"/>
            <a:ext cx="2214322" cy="152407"/>
          </a:xfrm>
          <a:prstGeom prst="rect">
            <a:avLst/>
          </a:prstGeom>
          <a:solidFill>
            <a:schemeClr val="tx1"/>
          </a:solidFill>
        </p:spPr>
        <p:txBody>
          <a:bodyPr vert="horz" wrap="square" lIns="0" tIns="0" rIns="0" bIns="0" rtlCol="0">
            <a:noAutofit/>
          </a:bodyPr>
          <a:lstStyle/>
          <a:p>
            <a:r>
              <a:rPr lang="en-US" sz="1100" dirty="0">
                <a:solidFill>
                  <a:srgbClr val="FFFF00"/>
                </a:solidFill>
              </a:rPr>
              <a:t>Need to clarify with the customer</a:t>
            </a:r>
          </a:p>
        </p:txBody>
      </p:sp>
      <p:sp>
        <p:nvSpPr>
          <p:cNvPr id="10" name="TextBox 9">
            <a:extLst>
              <a:ext uri="{FF2B5EF4-FFF2-40B4-BE49-F238E27FC236}">
                <a16:creationId xmlns:a16="http://schemas.microsoft.com/office/drawing/2014/main" id="{10CE4405-A5D4-4996-B1B8-CBB60CF8578A}"/>
              </a:ext>
            </a:extLst>
          </p:cNvPr>
          <p:cNvSpPr txBox="1"/>
          <p:nvPr/>
        </p:nvSpPr>
        <p:spPr>
          <a:xfrm>
            <a:off x="2271948" y="4579831"/>
            <a:ext cx="2214322" cy="152407"/>
          </a:xfrm>
          <a:prstGeom prst="rect">
            <a:avLst/>
          </a:prstGeom>
          <a:solidFill>
            <a:schemeClr val="tx1"/>
          </a:solidFill>
        </p:spPr>
        <p:txBody>
          <a:bodyPr vert="horz" wrap="square" lIns="0" tIns="0" rIns="0" bIns="0" rtlCol="0">
            <a:noAutofit/>
          </a:bodyPr>
          <a:lstStyle/>
          <a:p>
            <a:r>
              <a:rPr lang="en-US" sz="1100" dirty="0">
                <a:solidFill>
                  <a:srgbClr val="FFFF00"/>
                </a:solidFill>
              </a:rPr>
              <a:t>Need to clarify with the customer</a:t>
            </a:r>
          </a:p>
        </p:txBody>
      </p:sp>
    </p:spTree>
    <p:extLst>
      <p:ext uri="{BB962C8B-B14F-4D97-AF65-F5344CB8AC3E}">
        <p14:creationId xmlns:p14="http://schemas.microsoft.com/office/powerpoint/2010/main" val="3824496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E42ED0-125A-4BED-B975-1B25B5A47663}"/>
              </a:ext>
            </a:extLst>
          </p:cNvPr>
          <p:cNvSpPr>
            <a:spLocks noGrp="1"/>
          </p:cNvSpPr>
          <p:nvPr>
            <p:ph type="sldNum" sz="quarter" idx="12"/>
          </p:nvPr>
        </p:nvSpPr>
        <p:spPr/>
        <p:txBody>
          <a:bodyPr/>
          <a:lstStyle/>
          <a:p>
            <a:fld id="{EE2556C5-CE8C-6547-B838-EA80C61A4AF7}" type="slidenum">
              <a:rPr lang="en-US" smtClean="0"/>
              <a:pPr/>
              <a:t>20</a:t>
            </a:fld>
            <a:endParaRPr lang="en-US" dirty="0"/>
          </a:p>
        </p:txBody>
      </p:sp>
      <p:sp>
        <p:nvSpPr>
          <p:cNvPr id="3" name="Title 2">
            <a:extLst>
              <a:ext uri="{FF2B5EF4-FFF2-40B4-BE49-F238E27FC236}">
                <a16:creationId xmlns:a16="http://schemas.microsoft.com/office/drawing/2014/main" id="{D4DD82C2-DC62-4A3F-A315-2AE6B59E9F45}"/>
              </a:ext>
            </a:extLst>
          </p:cNvPr>
          <p:cNvSpPr>
            <a:spLocks noGrp="1"/>
          </p:cNvSpPr>
          <p:nvPr>
            <p:ph type="title"/>
          </p:nvPr>
        </p:nvSpPr>
        <p:spPr>
          <a:xfrm>
            <a:off x="457200" y="-1323"/>
            <a:ext cx="8229600" cy="388675"/>
          </a:xfrm>
        </p:spPr>
        <p:txBody>
          <a:bodyPr/>
          <a:lstStyle/>
          <a:p>
            <a:r>
              <a:rPr lang="en-US" dirty="0"/>
              <a:t>Adhesive Usage (Page 1 of 1)</a:t>
            </a:r>
          </a:p>
        </p:txBody>
      </p:sp>
      <p:graphicFrame>
        <p:nvGraphicFramePr>
          <p:cNvPr id="5" name="Table 5">
            <a:extLst>
              <a:ext uri="{FF2B5EF4-FFF2-40B4-BE49-F238E27FC236}">
                <a16:creationId xmlns:a16="http://schemas.microsoft.com/office/drawing/2014/main" id="{4E66A910-CC2C-4C63-B197-B16213A5C52F}"/>
              </a:ext>
            </a:extLst>
          </p:cNvPr>
          <p:cNvGraphicFramePr>
            <a:graphicFrameLocks noGrp="1"/>
          </p:cNvGraphicFramePr>
          <p:nvPr>
            <p:extLst>
              <p:ext uri="{D42A27DB-BD31-4B8C-83A1-F6EECF244321}">
                <p14:modId xmlns:p14="http://schemas.microsoft.com/office/powerpoint/2010/main" val="2594358129"/>
              </p:ext>
            </p:extLst>
          </p:nvPr>
        </p:nvGraphicFramePr>
        <p:xfrm>
          <a:off x="75715" y="387912"/>
          <a:ext cx="9486154" cy="4846320"/>
        </p:xfrm>
        <a:graphic>
          <a:graphicData uri="http://schemas.openxmlformats.org/drawingml/2006/table">
            <a:tbl>
              <a:tblPr firstRow="1" bandRow="1">
                <a:tableStyleId>{5C22544A-7EE6-4342-B048-85BDC9FD1C3A}</a:tableStyleId>
              </a:tblPr>
              <a:tblGrid>
                <a:gridCol w="848043">
                  <a:extLst>
                    <a:ext uri="{9D8B030D-6E8A-4147-A177-3AD203B41FA5}">
                      <a16:colId xmlns:a16="http://schemas.microsoft.com/office/drawing/2014/main" val="2427798588"/>
                    </a:ext>
                  </a:extLst>
                </a:gridCol>
                <a:gridCol w="670580">
                  <a:extLst>
                    <a:ext uri="{9D8B030D-6E8A-4147-A177-3AD203B41FA5}">
                      <a16:colId xmlns:a16="http://schemas.microsoft.com/office/drawing/2014/main" val="2524759092"/>
                    </a:ext>
                  </a:extLst>
                </a:gridCol>
                <a:gridCol w="1324708">
                  <a:extLst>
                    <a:ext uri="{9D8B030D-6E8A-4147-A177-3AD203B41FA5}">
                      <a16:colId xmlns:a16="http://schemas.microsoft.com/office/drawing/2014/main" val="777251246"/>
                    </a:ext>
                  </a:extLst>
                </a:gridCol>
                <a:gridCol w="2932572">
                  <a:extLst>
                    <a:ext uri="{9D8B030D-6E8A-4147-A177-3AD203B41FA5}">
                      <a16:colId xmlns:a16="http://schemas.microsoft.com/office/drawing/2014/main" val="1063217763"/>
                    </a:ext>
                  </a:extLst>
                </a:gridCol>
                <a:gridCol w="1827153">
                  <a:extLst>
                    <a:ext uri="{9D8B030D-6E8A-4147-A177-3AD203B41FA5}">
                      <a16:colId xmlns:a16="http://schemas.microsoft.com/office/drawing/2014/main" val="4151383736"/>
                    </a:ext>
                  </a:extLst>
                </a:gridCol>
                <a:gridCol w="941549">
                  <a:extLst>
                    <a:ext uri="{9D8B030D-6E8A-4147-A177-3AD203B41FA5}">
                      <a16:colId xmlns:a16="http://schemas.microsoft.com/office/drawing/2014/main" val="2856689584"/>
                    </a:ext>
                  </a:extLst>
                </a:gridCol>
                <a:gridCol w="941549">
                  <a:extLst>
                    <a:ext uri="{9D8B030D-6E8A-4147-A177-3AD203B41FA5}">
                      <a16:colId xmlns:a16="http://schemas.microsoft.com/office/drawing/2014/main" val="1772305050"/>
                    </a:ext>
                  </a:extLst>
                </a:gridCol>
              </a:tblGrid>
              <a:tr h="215350">
                <a:tc>
                  <a:txBody>
                    <a:bodyPr/>
                    <a:lstStyle/>
                    <a:p>
                      <a:endParaRPr lang="en-US" sz="1000" b="1" dirty="0">
                        <a:solidFill>
                          <a:schemeClr val="tx1"/>
                        </a:solidFill>
                      </a:endParaRPr>
                    </a:p>
                  </a:txBody>
                  <a:tcPr/>
                </a:tc>
                <a:tc>
                  <a:txBody>
                    <a:bodyPr/>
                    <a:lstStyle/>
                    <a:p>
                      <a:endParaRPr lang="en-US" sz="1000" dirty="0">
                        <a:solidFill>
                          <a:schemeClr val="tx1"/>
                        </a:solidFill>
                      </a:endParaRPr>
                    </a:p>
                  </a:txBody>
                  <a:tcPr/>
                </a:tc>
                <a:tc gridSpan="4">
                  <a:txBody>
                    <a:bodyPr/>
                    <a:lstStyle/>
                    <a:p>
                      <a:r>
                        <a:rPr lang="en-US" sz="1000" dirty="0">
                          <a:solidFill>
                            <a:schemeClr val="tx1"/>
                          </a:solidFill>
                        </a:rPr>
                        <a:t>Adhesive Information</a:t>
                      </a:r>
                    </a:p>
                  </a:txBody>
                  <a:tcPr/>
                </a:tc>
                <a:tc hMerge="1">
                  <a:txBody>
                    <a:bodyPr/>
                    <a:lstStyle/>
                    <a:p>
                      <a:endParaRPr lang="en-US" sz="1050" dirty="0">
                        <a:solidFill>
                          <a:schemeClr val="tx1"/>
                        </a:solidFill>
                      </a:endParaRPr>
                    </a:p>
                  </a:txBody>
                  <a:tcPr/>
                </a:tc>
                <a:tc hMerge="1">
                  <a:txBody>
                    <a:bodyPr/>
                    <a:lstStyle/>
                    <a:p>
                      <a:endParaRPr lang="en-US" sz="1050" dirty="0">
                        <a:solidFill>
                          <a:schemeClr val="tx1"/>
                        </a:solidFill>
                      </a:endParaRPr>
                    </a:p>
                  </a:txBody>
                  <a:tcPr/>
                </a:tc>
                <a:tc hMerge="1">
                  <a:txBody>
                    <a:bodyPr/>
                    <a:lstStyle/>
                    <a:p>
                      <a:endParaRPr lang="en-US" sz="1050" dirty="0">
                        <a:solidFill>
                          <a:schemeClr val="tx1"/>
                        </a:solidFill>
                      </a:endParaRPr>
                    </a:p>
                  </a:txBody>
                  <a:tcPr/>
                </a:tc>
                <a:tc>
                  <a:txBody>
                    <a:bodyPr/>
                    <a:lstStyle/>
                    <a:p>
                      <a:endParaRPr lang="en-US" sz="1000" dirty="0">
                        <a:solidFill>
                          <a:schemeClr val="tx1"/>
                        </a:solidFill>
                      </a:endParaRPr>
                    </a:p>
                  </a:txBody>
                  <a:tcPr/>
                </a:tc>
                <a:extLst>
                  <a:ext uri="{0D108BD9-81ED-4DB2-BD59-A6C34878D82A}">
                    <a16:rowId xmlns:a16="http://schemas.microsoft.com/office/drawing/2014/main" val="2596357955"/>
                  </a:ext>
                </a:extLst>
              </a:tr>
              <a:tr h="215350">
                <a:tc>
                  <a:txBody>
                    <a:bodyPr/>
                    <a:lstStyle/>
                    <a:p>
                      <a:endParaRPr lang="en-US" sz="1000" b="1" dirty="0">
                        <a:solidFill>
                          <a:schemeClr val="tx1"/>
                        </a:solidFill>
                      </a:endParaRPr>
                    </a:p>
                  </a:txBody>
                  <a:tcPr/>
                </a:tc>
                <a:tc>
                  <a:txBody>
                    <a:bodyPr/>
                    <a:lstStyle/>
                    <a:p>
                      <a:r>
                        <a:rPr lang="en-US" sz="800" b="1" dirty="0">
                          <a:solidFill>
                            <a:schemeClr val="tx1"/>
                          </a:solidFill>
                        </a:rPr>
                        <a:t>Customer Priority</a:t>
                      </a:r>
                    </a:p>
                  </a:txBody>
                  <a:tcPr/>
                </a:tc>
                <a:tc>
                  <a:txBody>
                    <a:bodyPr/>
                    <a:lstStyle/>
                    <a:p>
                      <a:r>
                        <a:rPr lang="en-US" sz="800" b="1" dirty="0">
                          <a:solidFill>
                            <a:schemeClr val="tx1"/>
                          </a:solidFill>
                        </a:rPr>
                        <a:t>Do you have experience using board level adhesives?</a:t>
                      </a:r>
                    </a:p>
                  </a:txBody>
                  <a:tcPr/>
                </a:tc>
                <a:tc>
                  <a:txBody>
                    <a:bodyPr/>
                    <a:lstStyle/>
                    <a:p>
                      <a:r>
                        <a:rPr lang="en-US" sz="800" b="1" dirty="0">
                          <a:solidFill>
                            <a:schemeClr val="tx1"/>
                          </a:solidFill>
                        </a:rPr>
                        <a:t>If using board level adhesives on the Intel SOC or another BGA, what kind of adhesive application do you use?</a:t>
                      </a:r>
                    </a:p>
                  </a:txBody>
                  <a:tcPr/>
                </a:tc>
                <a:tc>
                  <a:txBody>
                    <a:bodyPr/>
                    <a:lstStyle/>
                    <a:p>
                      <a:r>
                        <a:rPr lang="en-US" sz="800" b="1" dirty="0">
                          <a:solidFill>
                            <a:schemeClr val="tx1"/>
                          </a:solidFill>
                        </a:rPr>
                        <a:t>What adhesive manufacturer and model# do you use?</a:t>
                      </a:r>
                    </a:p>
                  </a:txBody>
                  <a:tcPr/>
                </a:tc>
                <a:tc>
                  <a:txBody>
                    <a:bodyPr/>
                    <a:lstStyle/>
                    <a:p>
                      <a:r>
                        <a:rPr lang="en-US" sz="800" b="1" dirty="0">
                          <a:solidFill>
                            <a:schemeClr val="tx1"/>
                          </a:solidFill>
                        </a:rPr>
                        <a:t>UV or Thermal Cure Adhesive?</a:t>
                      </a:r>
                    </a:p>
                  </a:txBody>
                  <a:tcPr/>
                </a:tc>
                <a:tc>
                  <a:txBody>
                    <a:bodyPr/>
                    <a:lstStyle/>
                    <a:p>
                      <a:r>
                        <a:rPr lang="en-US" sz="800" b="1" dirty="0">
                          <a:solidFill>
                            <a:schemeClr val="tx1"/>
                          </a:solidFill>
                        </a:rPr>
                        <a:t>EHL KOZ Violation?</a:t>
                      </a:r>
                    </a:p>
                  </a:txBody>
                  <a:tcPr/>
                </a:tc>
                <a:extLst>
                  <a:ext uri="{0D108BD9-81ED-4DB2-BD59-A6C34878D82A}">
                    <a16:rowId xmlns:a16="http://schemas.microsoft.com/office/drawing/2014/main" val="3071589016"/>
                  </a:ext>
                </a:extLst>
              </a:tr>
              <a:tr h="215350">
                <a:tc>
                  <a:txBody>
                    <a:bodyPr/>
                    <a:lstStyle/>
                    <a:p>
                      <a:r>
                        <a:rPr lang="en-US" sz="1000" b="1" dirty="0"/>
                        <a:t>Adlink</a:t>
                      </a:r>
                    </a:p>
                  </a:txBody>
                  <a:tcPr/>
                </a:tc>
                <a:tc>
                  <a:txBody>
                    <a:bodyPr/>
                    <a:lstStyle/>
                    <a:p>
                      <a:r>
                        <a:rPr lang="en-US" sz="800" dirty="0"/>
                        <a:t>Phase 1</a:t>
                      </a:r>
                    </a:p>
                  </a:txBody>
                  <a:tcPr/>
                </a:tc>
                <a:tc>
                  <a:txBody>
                    <a:bodyPr/>
                    <a:lstStyle/>
                    <a:p>
                      <a:r>
                        <a:rPr lang="en-US" sz="800" dirty="0"/>
                        <a:t>YES</a:t>
                      </a:r>
                    </a:p>
                  </a:txBody>
                  <a:tcPr/>
                </a:tc>
                <a:tc>
                  <a:txBody>
                    <a:bodyPr/>
                    <a:lstStyle/>
                    <a:p>
                      <a:r>
                        <a:rPr lang="en-US" sz="800" dirty="0"/>
                        <a:t>Corner Glue but not for Intel SoC due to warpage. </a:t>
                      </a:r>
                    </a:p>
                  </a:txBody>
                  <a:tcPr/>
                </a:tc>
                <a:tc>
                  <a:txBody>
                    <a:bodyPr/>
                    <a:lstStyle/>
                    <a:p>
                      <a:r>
                        <a:rPr lang="en-US" sz="800" dirty="0"/>
                        <a:t>Mfgr: Panasonic   Model: ADE480D</a:t>
                      </a:r>
                    </a:p>
                  </a:txBody>
                  <a:tcPr/>
                </a:tc>
                <a:tc>
                  <a:txBody>
                    <a:bodyPr/>
                    <a:lstStyle/>
                    <a:p>
                      <a:r>
                        <a:rPr lang="en-US" sz="800" dirty="0"/>
                        <a:t>Thermal Cure</a:t>
                      </a:r>
                    </a:p>
                  </a:txBody>
                  <a:tcPr/>
                </a:tc>
                <a:tc>
                  <a:txBody>
                    <a:bodyPr/>
                    <a:lstStyle/>
                    <a:p>
                      <a:r>
                        <a:rPr lang="en-US" sz="800" dirty="0">
                          <a:solidFill>
                            <a:srgbClr val="FF0000"/>
                          </a:solidFill>
                        </a:rPr>
                        <a:t>YES</a:t>
                      </a:r>
                    </a:p>
                  </a:txBody>
                  <a:tcPr/>
                </a:tc>
                <a:extLst>
                  <a:ext uri="{0D108BD9-81ED-4DB2-BD59-A6C34878D82A}">
                    <a16:rowId xmlns:a16="http://schemas.microsoft.com/office/drawing/2014/main" val="3484211985"/>
                  </a:ext>
                </a:extLst>
              </a:tr>
              <a:tr h="215350">
                <a:tc>
                  <a:txBody>
                    <a:bodyPr/>
                    <a:lstStyle/>
                    <a:p>
                      <a:r>
                        <a:rPr lang="en-US" sz="1000" b="1" dirty="0"/>
                        <a:t>Advantech</a:t>
                      </a:r>
                    </a:p>
                  </a:txBody>
                  <a:tcPr/>
                </a:tc>
                <a:tc>
                  <a:txBody>
                    <a:bodyPr/>
                    <a:lstStyle/>
                    <a:p>
                      <a:r>
                        <a:rPr lang="en-US" sz="800" dirty="0"/>
                        <a:t>Phase 1</a:t>
                      </a:r>
                    </a:p>
                  </a:txBody>
                  <a:tcPr/>
                </a:tc>
                <a:tc>
                  <a:txBody>
                    <a:bodyPr/>
                    <a:lstStyle/>
                    <a:p>
                      <a:r>
                        <a:rPr lang="en-US" sz="800" dirty="0">
                          <a:solidFill>
                            <a:schemeClr val="tx1"/>
                          </a:solidFill>
                        </a:rPr>
                        <a:t>Yes</a:t>
                      </a:r>
                    </a:p>
                  </a:txBody>
                  <a:tcPr/>
                </a:tc>
                <a:tc>
                  <a:txBody>
                    <a:bodyPr/>
                    <a:lstStyle/>
                    <a:p>
                      <a:r>
                        <a:rPr lang="en-US" sz="800" dirty="0"/>
                        <a:t>Corner Glue, 1/3 of the length. Only apply if requested by customer or RD.</a:t>
                      </a:r>
                    </a:p>
                  </a:txBody>
                  <a:tcPr/>
                </a:tc>
                <a:tc>
                  <a:txBody>
                    <a:bodyPr/>
                    <a:lstStyle/>
                    <a:p>
                      <a:r>
                        <a:rPr lang="en-US" sz="800" dirty="0"/>
                        <a:t>AB Glue</a:t>
                      </a:r>
                    </a:p>
                  </a:txBody>
                  <a:tcPr/>
                </a:tc>
                <a:tc>
                  <a:txBody>
                    <a:bodyPr/>
                    <a:lstStyle/>
                    <a:p>
                      <a:endParaRPr lang="en-US" sz="800"/>
                    </a:p>
                  </a:txBody>
                  <a:tcPr/>
                </a:tc>
                <a:tc>
                  <a:txBody>
                    <a:bodyPr/>
                    <a:lstStyle/>
                    <a:p>
                      <a:r>
                        <a:rPr lang="en-US" sz="800" dirty="0">
                          <a:solidFill>
                            <a:srgbClr val="FF0000"/>
                          </a:solidFill>
                        </a:rPr>
                        <a:t>YES</a:t>
                      </a:r>
                    </a:p>
                  </a:txBody>
                  <a:tcPr/>
                </a:tc>
                <a:extLst>
                  <a:ext uri="{0D108BD9-81ED-4DB2-BD59-A6C34878D82A}">
                    <a16:rowId xmlns:a16="http://schemas.microsoft.com/office/drawing/2014/main" val="3112022175"/>
                  </a:ext>
                </a:extLst>
              </a:tr>
              <a:tr h="215350">
                <a:tc>
                  <a:txBody>
                    <a:bodyPr/>
                    <a:lstStyle/>
                    <a:p>
                      <a:r>
                        <a:rPr lang="en-US" sz="1000" b="1" dirty="0"/>
                        <a:t>Aaeon</a:t>
                      </a:r>
                    </a:p>
                  </a:txBody>
                  <a:tcPr/>
                </a:tc>
                <a:tc>
                  <a:txBody>
                    <a:bodyPr/>
                    <a:lstStyle/>
                    <a:p>
                      <a:r>
                        <a:rPr lang="en-US" sz="800" dirty="0"/>
                        <a:t>Phase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t>YES</a:t>
                      </a:r>
                      <a:endParaRPr lang="en-US" sz="800" dirty="0">
                        <a:solidFill>
                          <a:schemeClr val="accent3"/>
                        </a:solidFill>
                      </a:endParaRPr>
                    </a:p>
                  </a:txBody>
                  <a:tcPr/>
                </a:tc>
                <a:tc>
                  <a:txBody>
                    <a:bodyPr/>
                    <a:lstStyle/>
                    <a:p>
                      <a:r>
                        <a:rPr lang="en-US" sz="800" dirty="0"/>
                        <a:t>AAEON has adhesive equip. ready. If </a:t>
                      </a:r>
                      <a:r>
                        <a:rPr lang="en-US" sz="800" dirty="0" err="1"/>
                        <a:t>cust</a:t>
                      </a:r>
                      <a:r>
                        <a:rPr lang="en-US" sz="800" dirty="0"/>
                        <a:t>. requests, we can try to study and do it.</a:t>
                      </a:r>
                    </a:p>
                  </a:txBody>
                  <a:tcPr/>
                </a:tc>
                <a:tc>
                  <a:txBody>
                    <a:bodyPr/>
                    <a:lstStyle/>
                    <a:p>
                      <a:r>
                        <a:rPr lang="en-US" sz="800" dirty="0"/>
                        <a:t>AAEON has adhesive equip. ready. If </a:t>
                      </a:r>
                      <a:r>
                        <a:rPr lang="en-US" sz="800" dirty="0" err="1"/>
                        <a:t>cust</a:t>
                      </a:r>
                      <a:r>
                        <a:rPr lang="en-US" sz="800" dirty="0"/>
                        <a:t>. requests we can study and do it. AB Glue</a:t>
                      </a:r>
                    </a:p>
                  </a:txBody>
                  <a:tcPr/>
                </a:tc>
                <a:tc>
                  <a:txBody>
                    <a:bodyPr/>
                    <a:lstStyle/>
                    <a:p>
                      <a:endParaRPr lang="en-US" sz="800" dirty="0"/>
                    </a:p>
                  </a:txBody>
                  <a:tcPr/>
                </a:tc>
                <a:tc>
                  <a:txBody>
                    <a:bodyPr/>
                    <a:lstStyle/>
                    <a:p>
                      <a:r>
                        <a:rPr lang="en-US" sz="800" dirty="0">
                          <a:solidFill>
                            <a:srgbClr val="FF0000"/>
                          </a:solidFill>
                        </a:rPr>
                        <a:t>YES</a:t>
                      </a:r>
                    </a:p>
                  </a:txBody>
                  <a:tcPr/>
                </a:tc>
                <a:extLst>
                  <a:ext uri="{0D108BD9-81ED-4DB2-BD59-A6C34878D82A}">
                    <a16:rowId xmlns:a16="http://schemas.microsoft.com/office/drawing/2014/main" val="1143501206"/>
                  </a:ext>
                </a:extLst>
              </a:tr>
              <a:tr h="215350">
                <a:tc>
                  <a:txBody>
                    <a:bodyPr/>
                    <a:lstStyle/>
                    <a:p>
                      <a:r>
                        <a:rPr lang="en-US" sz="1000" b="1" dirty="0"/>
                        <a:t>Beckhoff</a:t>
                      </a:r>
                    </a:p>
                  </a:txBody>
                  <a:tcPr/>
                </a:tc>
                <a:tc>
                  <a:txBody>
                    <a:bodyPr/>
                    <a:lstStyle/>
                    <a:p>
                      <a:r>
                        <a:rPr lang="en-US" sz="800" dirty="0">
                          <a:solidFill>
                            <a:schemeClr val="tx1"/>
                          </a:solidFill>
                        </a:rPr>
                        <a:t>TEP</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00" dirty="0">
                          <a:solidFill>
                            <a:schemeClr val="tx1"/>
                          </a:solidFill>
                        </a:rPr>
                        <a:t>TBD</a:t>
                      </a:r>
                      <a:endParaRPr lang="en-US" sz="800" dirty="0">
                        <a:solidFill>
                          <a:schemeClr val="tx1"/>
                        </a:solidFill>
                      </a:endParaRPr>
                    </a:p>
                  </a:txBody>
                  <a:tcPr/>
                </a:tc>
                <a:tc>
                  <a:txBody>
                    <a:bodyPr/>
                    <a:lstStyle/>
                    <a:p>
                      <a:endParaRPr lang="en-US" sz="800" dirty="0"/>
                    </a:p>
                  </a:txBody>
                  <a:tcPr/>
                </a:tc>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966057149"/>
                  </a:ext>
                </a:extLst>
              </a:tr>
              <a:tr h="21535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00" b="1" dirty="0"/>
                        <a:t>Congatec</a:t>
                      </a:r>
                    </a:p>
                  </a:txBody>
                  <a:tcPr/>
                </a:tc>
                <a:tc>
                  <a:txBody>
                    <a:bodyPr/>
                    <a:lstStyle/>
                    <a:p>
                      <a:r>
                        <a:rPr lang="en-US" sz="800" dirty="0"/>
                        <a:t>TEP</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rgbClr val="FF0000"/>
                          </a:solidFill>
                        </a:rPr>
                        <a:t>NO</a:t>
                      </a:r>
                    </a:p>
                  </a:txBody>
                  <a:tcPr/>
                </a:tc>
                <a:tc>
                  <a:txBody>
                    <a:bodyPr/>
                    <a:lstStyle/>
                    <a:p>
                      <a:endParaRPr lang="en-US" sz="800" dirty="0"/>
                    </a:p>
                  </a:txBody>
                  <a:tcPr/>
                </a:tc>
                <a:tc>
                  <a:txBody>
                    <a:bodyPr/>
                    <a:lstStyle/>
                    <a:p>
                      <a:endParaRPr lang="en-US" sz="800" dirty="0"/>
                    </a:p>
                  </a:txBody>
                  <a:tcPr/>
                </a:tc>
                <a:tc>
                  <a:txBody>
                    <a:bodyPr/>
                    <a:lstStyle/>
                    <a:p>
                      <a:endParaRPr lang="en-US" sz="800" dirty="0"/>
                    </a:p>
                  </a:txBody>
                  <a:tcPr/>
                </a:tc>
                <a:tc>
                  <a:txBody>
                    <a:bodyPr/>
                    <a:lstStyle/>
                    <a:p>
                      <a:r>
                        <a:rPr lang="en-US" sz="800" dirty="0">
                          <a:solidFill>
                            <a:srgbClr val="FF0000"/>
                          </a:solidFill>
                        </a:rPr>
                        <a:t>YES</a:t>
                      </a:r>
                    </a:p>
                  </a:txBody>
                  <a:tcPr/>
                </a:tc>
                <a:extLst>
                  <a:ext uri="{0D108BD9-81ED-4DB2-BD59-A6C34878D82A}">
                    <a16:rowId xmlns:a16="http://schemas.microsoft.com/office/drawing/2014/main" val="2587462267"/>
                  </a:ext>
                </a:extLst>
              </a:tr>
              <a:tr h="215350">
                <a:tc>
                  <a:txBody>
                    <a:bodyPr/>
                    <a:lstStyle/>
                    <a:p>
                      <a:r>
                        <a:rPr lang="en-US" sz="1000" b="1" dirty="0"/>
                        <a:t>Hitachi</a:t>
                      </a:r>
                    </a:p>
                  </a:txBody>
                  <a:tcPr/>
                </a:tc>
                <a:tc>
                  <a:txBody>
                    <a:bodyPr/>
                    <a:lstStyle/>
                    <a:p>
                      <a:r>
                        <a:rPr lang="en-US" sz="800" dirty="0"/>
                        <a:t>Phase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rgbClr val="FF0000"/>
                          </a:solidFill>
                        </a:rPr>
                        <a:t>NO</a:t>
                      </a:r>
                    </a:p>
                  </a:txBody>
                  <a:tcPr/>
                </a:tc>
                <a:tc>
                  <a:txBody>
                    <a:bodyPr/>
                    <a:lstStyle/>
                    <a:p>
                      <a:endParaRPr lang="en-US" sz="800" dirty="0"/>
                    </a:p>
                  </a:txBody>
                  <a:tcPr/>
                </a:tc>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854251891"/>
                  </a:ext>
                </a:extLst>
              </a:tr>
              <a:tr h="215350">
                <a:tc>
                  <a:txBody>
                    <a:bodyPr/>
                    <a:lstStyle/>
                    <a:p>
                      <a:r>
                        <a:rPr lang="en-US" sz="1000" b="1" dirty="0"/>
                        <a:t>IEI x QNAP</a:t>
                      </a:r>
                    </a:p>
                  </a:txBody>
                  <a:tcPr/>
                </a:tc>
                <a:tc>
                  <a:txBody>
                    <a:bodyPr/>
                    <a:lstStyle/>
                    <a:p>
                      <a:r>
                        <a:rPr lang="en-US" sz="800" dirty="0"/>
                        <a:t>TEP</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Yes – AB Glue</a:t>
                      </a:r>
                    </a:p>
                  </a:txBody>
                  <a:tcPr/>
                </a:tc>
                <a:tc>
                  <a:txBody>
                    <a:bodyPr/>
                    <a:lstStyle/>
                    <a:p>
                      <a:r>
                        <a:rPr lang="en-US" sz="800" dirty="0"/>
                        <a:t>IEI has adhesive equip. ready. If </a:t>
                      </a:r>
                      <a:r>
                        <a:rPr lang="en-US" sz="800" dirty="0" err="1"/>
                        <a:t>cust</a:t>
                      </a:r>
                      <a:r>
                        <a:rPr lang="en-US" sz="800" dirty="0"/>
                        <a:t>. requests, we can try to study and do it.</a:t>
                      </a:r>
                    </a:p>
                  </a:txBody>
                  <a:tcPr/>
                </a:tc>
                <a:tc>
                  <a:txBody>
                    <a:bodyPr/>
                    <a:lstStyle/>
                    <a:p>
                      <a:r>
                        <a:rPr lang="en-US" sz="800" dirty="0"/>
                        <a:t>AB Glue</a:t>
                      </a:r>
                    </a:p>
                  </a:txBody>
                  <a:tcPr/>
                </a:tc>
                <a:tc>
                  <a:txBody>
                    <a:bodyPr/>
                    <a:lstStyle/>
                    <a:p>
                      <a:endParaRPr lang="en-US" sz="800" dirty="0"/>
                    </a:p>
                  </a:txBody>
                  <a:tcPr/>
                </a:tc>
                <a:tc>
                  <a:txBody>
                    <a:bodyPr/>
                    <a:lstStyle/>
                    <a:p>
                      <a:r>
                        <a:rPr lang="en-US" sz="800" dirty="0"/>
                        <a:t>NO</a:t>
                      </a:r>
                    </a:p>
                  </a:txBody>
                  <a:tcPr/>
                </a:tc>
                <a:extLst>
                  <a:ext uri="{0D108BD9-81ED-4DB2-BD59-A6C34878D82A}">
                    <a16:rowId xmlns:a16="http://schemas.microsoft.com/office/drawing/2014/main" val="2382496616"/>
                  </a:ext>
                </a:extLst>
              </a:tr>
              <a:tr h="215350">
                <a:tc>
                  <a:txBody>
                    <a:bodyPr/>
                    <a:lstStyle/>
                    <a:p>
                      <a:r>
                        <a:rPr lang="en-US" sz="1000" b="1" dirty="0"/>
                        <a:t>Kontron</a:t>
                      </a:r>
                    </a:p>
                  </a:txBody>
                  <a:tcPr/>
                </a:tc>
                <a:tc>
                  <a:txBody>
                    <a:bodyPr/>
                    <a:lstStyle/>
                    <a:p>
                      <a:r>
                        <a:rPr lang="en-US" sz="800" dirty="0">
                          <a:solidFill>
                            <a:schemeClr val="tx1"/>
                          </a:solidFill>
                        </a:rPr>
                        <a:t>Phase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700" dirty="0">
                          <a:solidFill>
                            <a:schemeClr val="tx1"/>
                          </a:solidFill>
                        </a:rPr>
                        <a:t>TBD</a:t>
                      </a:r>
                      <a:endParaRPr lang="en-US" sz="800" dirty="0">
                        <a:solidFill>
                          <a:schemeClr val="tx1"/>
                        </a:solidFill>
                      </a:endParaRPr>
                    </a:p>
                  </a:txBody>
                  <a:tcPr/>
                </a:tc>
                <a:tc>
                  <a:txBody>
                    <a:bodyPr/>
                    <a:lstStyle/>
                    <a:p>
                      <a:endParaRPr lang="en-US" sz="800" dirty="0"/>
                    </a:p>
                  </a:txBody>
                  <a:tcPr/>
                </a:tc>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358907969"/>
                  </a:ext>
                </a:extLst>
              </a:tr>
              <a:tr h="215350">
                <a:tc>
                  <a:txBody>
                    <a:bodyPr/>
                    <a:lstStyle/>
                    <a:p>
                      <a:r>
                        <a:rPr lang="en-US" sz="1000" b="1" dirty="0"/>
                        <a:t>MSC </a:t>
                      </a:r>
                      <a:r>
                        <a:rPr lang="en-US" sz="700" b="1" dirty="0"/>
                        <a:t>(Avnet)</a:t>
                      </a:r>
                      <a:endParaRPr lang="en-US" sz="1000" b="1" dirty="0"/>
                    </a:p>
                  </a:txBody>
                  <a:tcPr/>
                </a:tc>
                <a:tc>
                  <a:txBody>
                    <a:bodyPr/>
                    <a:lstStyle/>
                    <a:p>
                      <a:r>
                        <a:rPr lang="en-US" sz="800" dirty="0"/>
                        <a:t>Phase 1</a:t>
                      </a:r>
                    </a:p>
                  </a:txBody>
                  <a:tcPr/>
                </a:tc>
                <a:tc>
                  <a:txBody>
                    <a:bodyPr/>
                    <a:lstStyle/>
                    <a:p>
                      <a:r>
                        <a:rPr lang="en-US" sz="800" dirty="0"/>
                        <a:t>YES</a:t>
                      </a:r>
                    </a:p>
                  </a:txBody>
                  <a:tcPr/>
                </a:tc>
                <a:tc>
                  <a:txBody>
                    <a:bodyPr/>
                    <a:lstStyle/>
                    <a:p>
                      <a:r>
                        <a:rPr lang="en-US" sz="800" dirty="0"/>
                        <a:t>Sometimes dispenses glue for passives (e.g. big inductors or caps) on PCB bottom (to prevent drop), but not on BGAs. Have experience with underfill because requested by the customer.</a:t>
                      </a:r>
                    </a:p>
                  </a:txBody>
                  <a:tcPr/>
                </a:tc>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3651064111"/>
                  </a:ext>
                </a:extLst>
              </a:tr>
              <a:tr h="215350">
                <a:tc>
                  <a:txBody>
                    <a:bodyPr/>
                    <a:lstStyle/>
                    <a:p>
                      <a:r>
                        <a:rPr lang="en-US" sz="1000" b="1" dirty="0"/>
                        <a:t>Omron</a:t>
                      </a:r>
                    </a:p>
                  </a:txBody>
                  <a:tcPr/>
                </a:tc>
                <a:tc>
                  <a:txBody>
                    <a:bodyPr/>
                    <a:lstStyle/>
                    <a:p>
                      <a:r>
                        <a:rPr lang="en-US" sz="800" dirty="0"/>
                        <a:t>Phase 1</a:t>
                      </a:r>
                    </a:p>
                  </a:txBody>
                  <a:tcPr/>
                </a:tc>
                <a:tc>
                  <a:txBody>
                    <a:bodyPr/>
                    <a:lstStyle/>
                    <a:p>
                      <a:r>
                        <a:rPr lang="en-US" sz="800" dirty="0">
                          <a:solidFill>
                            <a:srgbClr val="FF0000"/>
                          </a:solidFill>
                        </a:rPr>
                        <a:t>NO</a:t>
                      </a:r>
                    </a:p>
                  </a:txBody>
                  <a:tcPr/>
                </a:tc>
                <a:tc>
                  <a:txBody>
                    <a:bodyPr/>
                    <a:lstStyle/>
                    <a:p>
                      <a:endParaRPr lang="en-US" sz="800"/>
                    </a:p>
                  </a:txBody>
                  <a:tcPr/>
                </a:tc>
                <a:tc>
                  <a:txBody>
                    <a:bodyPr/>
                    <a:lstStyle/>
                    <a:p>
                      <a:endParaRPr lang="en-US" sz="800" dirty="0"/>
                    </a:p>
                  </a:txBody>
                  <a:tcPr/>
                </a:tc>
                <a:tc>
                  <a:txBody>
                    <a:bodyPr/>
                    <a:lstStyle/>
                    <a:p>
                      <a:endParaRPr lang="en-US" sz="800"/>
                    </a:p>
                  </a:txBody>
                  <a:tcPr/>
                </a:tc>
                <a:tc>
                  <a:txBody>
                    <a:bodyPr/>
                    <a:lstStyle/>
                    <a:p>
                      <a:endParaRPr lang="en-US" sz="800" dirty="0"/>
                    </a:p>
                  </a:txBody>
                  <a:tcPr/>
                </a:tc>
                <a:extLst>
                  <a:ext uri="{0D108BD9-81ED-4DB2-BD59-A6C34878D82A}">
                    <a16:rowId xmlns:a16="http://schemas.microsoft.com/office/drawing/2014/main" val="1687329233"/>
                  </a:ext>
                </a:extLst>
              </a:tr>
              <a:tr h="215350">
                <a:tc>
                  <a:txBody>
                    <a:bodyPr/>
                    <a:lstStyle/>
                    <a:p>
                      <a:r>
                        <a:rPr lang="en-US" sz="1000" b="1" dirty="0"/>
                        <a:t>SECO</a:t>
                      </a:r>
                    </a:p>
                  </a:txBody>
                  <a:tcPr/>
                </a:tc>
                <a:tc>
                  <a:txBody>
                    <a:bodyPr/>
                    <a:lstStyle/>
                    <a:p>
                      <a:r>
                        <a:rPr lang="en-US" sz="800" dirty="0"/>
                        <a:t>TEP</a:t>
                      </a:r>
                    </a:p>
                  </a:txBody>
                  <a:tcPr/>
                </a:tc>
                <a:tc>
                  <a:txBody>
                    <a:bodyPr/>
                    <a:lstStyle/>
                    <a:p>
                      <a:r>
                        <a:rPr lang="en-US" sz="800" dirty="0">
                          <a:solidFill>
                            <a:srgbClr val="FF0000"/>
                          </a:solidFill>
                        </a:rPr>
                        <a:t>NO</a:t>
                      </a:r>
                    </a:p>
                  </a:txBody>
                  <a:tcPr/>
                </a:tc>
                <a:tc>
                  <a:txBody>
                    <a:bodyPr/>
                    <a:lstStyle/>
                    <a:p>
                      <a:endParaRPr lang="en-US" sz="800" dirty="0"/>
                    </a:p>
                  </a:txBody>
                  <a:tcPr/>
                </a:tc>
                <a:tc>
                  <a:txBody>
                    <a:bodyPr/>
                    <a:lstStyle/>
                    <a:p>
                      <a:endParaRPr lang="en-US" sz="800" dirty="0"/>
                    </a:p>
                  </a:txBody>
                  <a:tcPr/>
                </a:tc>
                <a:tc>
                  <a:txBody>
                    <a:bodyPr/>
                    <a:lstStyle/>
                    <a:p>
                      <a:endParaRPr lang="en-US" sz="800" dirty="0"/>
                    </a:p>
                  </a:txBody>
                  <a:tcPr/>
                </a:tc>
                <a:tc>
                  <a:txBody>
                    <a:bodyPr/>
                    <a:lstStyle/>
                    <a:p>
                      <a:r>
                        <a:rPr lang="en-US" sz="800" dirty="0">
                          <a:solidFill>
                            <a:srgbClr val="FF0000"/>
                          </a:solidFill>
                        </a:rPr>
                        <a:t>YES</a:t>
                      </a:r>
                    </a:p>
                  </a:txBody>
                  <a:tcPr/>
                </a:tc>
                <a:extLst>
                  <a:ext uri="{0D108BD9-81ED-4DB2-BD59-A6C34878D82A}">
                    <a16:rowId xmlns:a16="http://schemas.microsoft.com/office/drawing/2014/main" val="3837743373"/>
                  </a:ext>
                </a:extLst>
              </a:tr>
              <a:tr h="215350">
                <a:tc>
                  <a:txBody>
                    <a:bodyPr/>
                    <a:lstStyle/>
                    <a:p>
                      <a:r>
                        <a:rPr lang="en-US" sz="1000" b="1" dirty="0"/>
                        <a:t>Siemens</a:t>
                      </a:r>
                    </a:p>
                  </a:txBody>
                  <a:tcPr/>
                </a:tc>
                <a:tc>
                  <a:txBody>
                    <a:bodyPr/>
                    <a:lstStyle/>
                    <a:p>
                      <a:r>
                        <a:rPr lang="en-US" sz="800" dirty="0"/>
                        <a:t>TEP</a:t>
                      </a:r>
                    </a:p>
                  </a:txBody>
                  <a:tcPr/>
                </a:tc>
                <a:tc>
                  <a:txBody>
                    <a:bodyPr/>
                    <a:lstStyle/>
                    <a:p>
                      <a:r>
                        <a:rPr lang="en-US" sz="800" dirty="0">
                          <a:solidFill>
                            <a:srgbClr val="FF0000"/>
                          </a:solidFill>
                        </a:rPr>
                        <a:t>NO</a:t>
                      </a:r>
                    </a:p>
                  </a:txBody>
                  <a:tcPr/>
                </a:tc>
                <a:tc>
                  <a:txBody>
                    <a:bodyPr/>
                    <a:lstStyle/>
                    <a:p>
                      <a:endParaRPr lang="en-US" sz="800" dirty="0"/>
                    </a:p>
                  </a:txBody>
                  <a:tcPr/>
                </a:tc>
                <a:tc>
                  <a:txBody>
                    <a:bodyPr/>
                    <a:lstStyle/>
                    <a:p>
                      <a:endParaRPr lang="en-US" sz="800" dirty="0"/>
                    </a:p>
                  </a:txBody>
                  <a:tcPr/>
                </a:tc>
                <a:tc>
                  <a:txBody>
                    <a:bodyPr/>
                    <a:lstStyle/>
                    <a:p>
                      <a:endParaRPr lang="en-US" sz="800" dirty="0"/>
                    </a:p>
                  </a:txBody>
                  <a:tcPr/>
                </a:tc>
                <a:tc>
                  <a:txBody>
                    <a:bodyPr/>
                    <a:lstStyle/>
                    <a:p>
                      <a:r>
                        <a:rPr lang="en-US" sz="800" dirty="0">
                          <a:solidFill>
                            <a:srgbClr val="FF0000"/>
                          </a:solidFill>
                        </a:rPr>
                        <a:t>YES</a:t>
                      </a:r>
                    </a:p>
                  </a:txBody>
                  <a:tcPr/>
                </a:tc>
                <a:extLst>
                  <a:ext uri="{0D108BD9-81ED-4DB2-BD59-A6C34878D82A}">
                    <a16:rowId xmlns:a16="http://schemas.microsoft.com/office/drawing/2014/main" val="2721362048"/>
                  </a:ext>
                </a:extLst>
              </a:tr>
              <a:tr h="215350">
                <a:tc>
                  <a:txBody>
                    <a:bodyPr/>
                    <a:lstStyle/>
                    <a:p>
                      <a:r>
                        <a:rPr lang="en-US" sz="1000" b="1" dirty="0"/>
                        <a:t>TQ</a:t>
                      </a:r>
                    </a:p>
                  </a:txBody>
                  <a:tcPr/>
                </a:tc>
                <a:tc>
                  <a:txBody>
                    <a:bodyPr/>
                    <a:lstStyle/>
                    <a:p>
                      <a:r>
                        <a:rPr lang="en-US" sz="800" dirty="0"/>
                        <a:t>N/A</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rgbClr val="FF0000"/>
                          </a:solidFill>
                        </a:rPr>
                        <a:t>NO</a:t>
                      </a:r>
                    </a:p>
                  </a:txBody>
                  <a:tcPr/>
                </a:tc>
                <a:tc>
                  <a:txBody>
                    <a:bodyPr/>
                    <a:lstStyle/>
                    <a:p>
                      <a:endParaRPr lang="en-US" sz="800" dirty="0"/>
                    </a:p>
                  </a:txBody>
                  <a:tcPr/>
                </a:tc>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2566694815"/>
                  </a:ext>
                </a:extLst>
              </a:tr>
              <a:tr h="215350">
                <a:tc>
                  <a:txBody>
                    <a:bodyPr/>
                    <a:lstStyle/>
                    <a:p>
                      <a:r>
                        <a:rPr lang="en-US" sz="1000" b="1" dirty="0"/>
                        <a:t>Weibu</a:t>
                      </a:r>
                    </a:p>
                  </a:txBody>
                  <a:tcPr/>
                </a:tc>
                <a:tc>
                  <a:txBody>
                    <a:bodyPr/>
                    <a:lstStyle/>
                    <a:p>
                      <a:r>
                        <a:rPr lang="en-US" sz="800" dirty="0"/>
                        <a:t>Phase 1</a:t>
                      </a:r>
                    </a:p>
                  </a:txBody>
                  <a:tcPr/>
                </a:tc>
                <a:tc>
                  <a:txBody>
                    <a:bodyPr/>
                    <a:lstStyle/>
                    <a:p>
                      <a:r>
                        <a:rPr lang="en-US" sz="800" dirty="0"/>
                        <a:t>YES</a:t>
                      </a:r>
                    </a:p>
                  </a:txBody>
                  <a:tcPr/>
                </a:tc>
                <a:tc>
                  <a:txBody>
                    <a:bodyPr/>
                    <a:lstStyle/>
                    <a:p>
                      <a:r>
                        <a:rPr lang="en-US" sz="800" dirty="0"/>
                        <a:t>Short / Long Package Edge Glue</a:t>
                      </a:r>
                    </a:p>
                  </a:txBody>
                  <a:tcPr/>
                </a:tc>
                <a:tc>
                  <a:txBody>
                    <a:bodyPr/>
                    <a:lstStyle/>
                    <a:p>
                      <a:r>
                        <a:rPr lang="en-US" sz="800" dirty="0"/>
                        <a:t>Mfgr: Setllom     Model: 606</a:t>
                      </a:r>
                    </a:p>
                  </a:txBody>
                  <a:tcPr/>
                </a:tc>
                <a:tc>
                  <a:txBody>
                    <a:bodyPr/>
                    <a:lstStyle/>
                    <a:p>
                      <a:r>
                        <a:rPr lang="en-US" sz="800" dirty="0"/>
                        <a:t>Thermal Cure</a:t>
                      </a:r>
                    </a:p>
                  </a:txBody>
                  <a:tcPr/>
                </a:tc>
                <a:tc>
                  <a:txBody>
                    <a:bodyPr/>
                    <a:lstStyle/>
                    <a:p>
                      <a:endParaRPr lang="en-US" sz="800" dirty="0"/>
                    </a:p>
                  </a:txBody>
                  <a:tcPr/>
                </a:tc>
                <a:extLst>
                  <a:ext uri="{0D108BD9-81ED-4DB2-BD59-A6C34878D82A}">
                    <a16:rowId xmlns:a16="http://schemas.microsoft.com/office/drawing/2014/main" val="196143693"/>
                  </a:ext>
                </a:extLst>
              </a:tr>
            </a:tbl>
          </a:graphicData>
        </a:graphic>
      </p:graphicFrame>
    </p:spTree>
    <p:extLst>
      <p:ext uri="{BB962C8B-B14F-4D97-AF65-F5344CB8AC3E}">
        <p14:creationId xmlns:p14="http://schemas.microsoft.com/office/powerpoint/2010/main" val="27295234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6AB9A49-44FD-4013-8CC3-2AA9B2034A7F}"/>
              </a:ext>
            </a:extLst>
          </p:cNvPr>
          <p:cNvSpPr>
            <a:spLocks noGrp="1"/>
          </p:cNvSpPr>
          <p:nvPr>
            <p:ph type="sldNum" sz="quarter" idx="12"/>
          </p:nvPr>
        </p:nvSpPr>
        <p:spPr/>
        <p:txBody>
          <a:bodyPr/>
          <a:lstStyle/>
          <a:p>
            <a:fld id="{EE2556C5-CE8C-6547-B838-EA80C61A4AF7}" type="slidenum">
              <a:rPr lang="en-US" smtClean="0"/>
              <a:pPr/>
              <a:t>21</a:t>
            </a:fld>
            <a:endParaRPr lang="en-US" dirty="0"/>
          </a:p>
        </p:txBody>
      </p:sp>
      <p:sp>
        <p:nvSpPr>
          <p:cNvPr id="3" name="Title 2">
            <a:extLst>
              <a:ext uri="{FF2B5EF4-FFF2-40B4-BE49-F238E27FC236}">
                <a16:creationId xmlns:a16="http://schemas.microsoft.com/office/drawing/2014/main" id="{41EEA2AF-AAE1-4614-8092-652F1EEE5213}"/>
              </a:ext>
            </a:extLst>
          </p:cNvPr>
          <p:cNvSpPr>
            <a:spLocks noGrp="1"/>
          </p:cNvSpPr>
          <p:nvPr>
            <p:ph type="title"/>
          </p:nvPr>
        </p:nvSpPr>
        <p:spPr>
          <a:xfrm>
            <a:off x="3591666" y="1961541"/>
            <a:ext cx="1691534" cy="868680"/>
          </a:xfrm>
        </p:spPr>
        <p:txBody>
          <a:bodyPr/>
          <a:lstStyle/>
          <a:p>
            <a:r>
              <a:rPr lang="en-US" sz="3600" dirty="0"/>
              <a:t>Backup</a:t>
            </a:r>
          </a:p>
        </p:txBody>
      </p:sp>
    </p:spTree>
    <p:extLst>
      <p:ext uri="{BB962C8B-B14F-4D97-AF65-F5344CB8AC3E}">
        <p14:creationId xmlns:p14="http://schemas.microsoft.com/office/powerpoint/2010/main" val="2129142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AF59A3-EE77-4F21-A43B-E7A3C4AA04AD}"/>
              </a:ext>
            </a:extLst>
          </p:cNvPr>
          <p:cNvSpPr>
            <a:spLocks noGrp="1"/>
          </p:cNvSpPr>
          <p:nvPr>
            <p:ph type="sldNum" sz="quarter" idx="12"/>
          </p:nvPr>
        </p:nvSpPr>
        <p:spPr/>
        <p:txBody>
          <a:bodyPr/>
          <a:lstStyle/>
          <a:p>
            <a:fld id="{EE2556C5-CE8C-6547-B838-EA80C61A4AF7}" type="slidenum">
              <a:rPr lang="en-US" smtClean="0"/>
              <a:pPr/>
              <a:t>22</a:t>
            </a:fld>
            <a:endParaRPr lang="en-US" dirty="0"/>
          </a:p>
        </p:txBody>
      </p:sp>
      <p:sp>
        <p:nvSpPr>
          <p:cNvPr id="3" name="Title 2">
            <a:extLst>
              <a:ext uri="{FF2B5EF4-FFF2-40B4-BE49-F238E27FC236}">
                <a16:creationId xmlns:a16="http://schemas.microsoft.com/office/drawing/2014/main" id="{52D5320E-507B-4848-9FCB-0F92F86AEFBD}"/>
              </a:ext>
            </a:extLst>
          </p:cNvPr>
          <p:cNvSpPr>
            <a:spLocks noGrp="1"/>
          </p:cNvSpPr>
          <p:nvPr>
            <p:ph type="title"/>
          </p:nvPr>
        </p:nvSpPr>
        <p:spPr>
          <a:xfrm>
            <a:off x="3099801" y="1695008"/>
            <a:ext cx="3324295" cy="430826"/>
          </a:xfrm>
        </p:spPr>
        <p:txBody>
          <a:bodyPr/>
          <a:lstStyle/>
          <a:p>
            <a:r>
              <a:rPr lang="en-US" dirty="0"/>
              <a:t>Blank Survey Info</a:t>
            </a:r>
          </a:p>
        </p:txBody>
      </p:sp>
      <p:graphicFrame>
        <p:nvGraphicFramePr>
          <p:cNvPr id="5" name="Object 4">
            <a:extLst>
              <a:ext uri="{FF2B5EF4-FFF2-40B4-BE49-F238E27FC236}">
                <a16:creationId xmlns:a16="http://schemas.microsoft.com/office/drawing/2014/main" id="{5B47A35D-3ECB-4FE6-92D7-709489CEF9CA}"/>
              </a:ext>
            </a:extLst>
          </p:cNvPr>
          <p:cNvGraphicFramePr>
            <a:graphicFrameLocks noChangeAspect="1"/>
          </p:cNvGraphicFramePr>
          <p:nvPr>
            <p:extLst>
              <p:ext uri="{D42A27DB-BD31-4B8C-83A1-F6EECF244321}">
                <p14:modId xmlns:p14="http://schemas.microsoft.com/office/powerpoint/2010/main" val="390027114"/>
              </p:ext>
            </p:extLst>
          </p:nvPr>
        </p:nvGraphicFramePr>
        <p:xfrm>
          <a:off x="3427543" y="2469357"/>
          <a:ext cx="1674459" cy="1450617"/>
        </p:xfrm>
        <a:graphic>
          <a:graphicData uri="http://schemas.openxmlformats.org/presentationml/2006/ole">
            <mc:AlternateContent xmlns:mc="http://schemas.openxmlformats.org/markup-compatibility/2006">
              <mc:Choice xmlns:v="urn:schemas-microsoft-com:vml" Requires="v">
                <p:oleObj spid="_x0000_s1152" name="Worksheet" showAsIcon="1" r:id="rId3" imgW="914541" imgH="792480" progId="Excel.Sheet.12">
                  <p:embed/>
                </p:oleObj>
              </mc:Choice>
              <mc:Fallback>
                <p:oleObj name="Worksheet" showAsIcon="1" r:id="rId3" imgW="914541" imgH="792480" progId="Excel.Sheet.12">
                  <p:embed/>
                  <p:pic>
                    <p:nvPicPr>
                      <p:cNvPr id="0" name=""/>
                      <p:cNvPicPr/>
                      <p:nvPr/>
                    </p:nvPicPr>
                    <p:blipFill>
                      <a:blip r:embed="rId4"/>
                      <a:stretch>
                        <a:fillRect/>
                      </a:stretch>
                    </p:blipFill>
                    <p:spPr>
                      <a:xfrm>
                        <a:off x="3427543" y="2469357"/>
                        <a:ext cx="1674459" cy="1450617"/>
                      </a:xfrm>
                      <a:prstGeom prst="rect">
                        <a:avLst/>
                      </a:prstGeom>
                    </p:spPr>
                  </p:pic>
                </p:oleObj>
              </mc:Fallback>
            </mc:AlternateContent>
          </a:graphicData>
        </a:graphic>
      </p:graphicFrame>
    </p:spTree>
    <p:extLst>
      <p:ext uri="{BB962C8B-B14F-4D97-AF65-F5344CB8AC3E}">
        <p14:creationId xmlns:p14="http://schemas.microsoft.com/office/powerpoint/2010/main" val="9459434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23</a:t>
            </a:fld>
            <a:endParaRPr lang="en-US" dirty="0"/>
          </a:p>
        </p:txBody>
      </p:sp>
      <p:sp>
        <p:nvSpPr>
          <p:cNvPr id="3" name="Content Placeholder 2"/>
          <p:cNvSpPr>
            <a:spLocks noGrp="1"/>
          </p:cNvSpPr>
          <p:nvPr>
            <p:ph sz="quarter" idx="13"/>
          </p:nvPr>
        </p:nvSpPr>
        <p:spPr>
          <a:xfrm>
            <a:off x="340466" y="717002"/>
            <a:ext cx="8228012" cy="3498975"/>
          </a:xfrm>
        </p:spPr>
        <p:txBody>
          <a:bodyPr/>
          <a:lstStyle/>
          <a:p>
            <a:pPr marL="285750" indent="-285750">
              <a:buFont typeface="Arial" panose="020B0604020202020204" pitchFamily="34" charset="0"/>
              <a:buChar char="•"/>
            </a:pPr>
            <a:r>
              <a:rPr lang="en-US" sz="1100" dirty="0"/>
              <a:t>What is temperature cycling? How does it compare to power cycle?</a:t>
            </a:r>
          </a:p>
          <a:p>
            <a:pPr marL="511175" lvl="1" indent="-285750">
              <a:buFont typeface="Arial" panose="020B0604020202020204" pitchFamily="34" charset="0"/>
              <a:buChar char="•"/>
            </a:pPr>
            <a:r>
              <a:rPr lang="en-US" sz="1100" dirty="0"/>
              <a:t>In a power cycle test, the package is mounted on a board and is heated internally in a cyclic manner to generate thermal stresses. In temperature cycle, the package is mounted on a board which is placed in a chamber, and the temperature of the chamber is cycled to generate thermal stresses. In a temperature cycle test, the packages are in the “off” state as they are not functional. Intel does temperature cycling instead of power cycling because the setup is easier and it is easier to control the conditions. In power cycling the temperature distribution is not uniform and it is difficult to know the temperatures during power cycle at different locations.</a:t>
            </a:r>
          </a:p>
          <a:p>
            <a:pPr marL="285750" indent="-285750">
              <a:buFont typeface="Arial" panose="020B0604020202020204" pitchFamily="34" charset="0"/>
              <a:buChar char="•"/>
            </a:pPr>
            <a:r>
              <a:rPr lang="en-US" sz="1100" dirty="0"/>
              <a:t>What is the TCX profile?</a:t>
            </a:r>
          </a:p>
          <a:p>
            <a:pPr marL="511175" lvl="1" indent="-285750">
              <a:buFont typeface="Arial" panose="020B0604020202020204" pitchFamily="34" charset="0"/>
              <a:buChar char="•"/>
            </a:pPr>
            <a:r>
              <a:rPr lang="en-US" sz="1100" dirty="0"/>
              <a:t>TCX is a thermal cycling profile ranging from -40 to 85 C over a 60 minute cycle. There are other profiles (TCN, TCT, TCB) that cover different temperature ranges and may be used for different applications. Customers should be familiar with TCX (based on guidance from IOTG). </a:t>
            </a:r>
          </a:p>
          <a:p>
            <a:pPr marL="285750" indent="-285750">
              <a:buFont typeface="Arial" panose="020B0604020202020204" pitchFamily="34" charset="0"/>
              <a:buChar char="•"/>
            </a:pPr>
            <a:r>
              <a:rPr lang="en-US" sz="1100" dirty="0"/>
              <a:t>How many years does the 1000 TCX capability represent?</a:t>
            </a:r>
          </a:p>
          <a:p>
            <a:pPr marL="511175" lvl="1" indent="-285750">
              <a:buFont typeface="Arial" panose="020B0604020202020204" pitchFamily="34" charset="0"/>
              <a:buChar char="•"/>
            </a:pPr>
            <a:r>
              <a:rPr lang="en-US" sz="1100" dirty="0"/>
              <a:t>The 1000 cycles TCX is an industry standard for client-mobile products, and for those products, represents 5 years lifespan. However, desktop, industrial, and EBM products have very different use conditions, so this may not represent 5 years in any of these market segments. Intel recommends that customers evaluate their own reliability requirement based on use conditions and product configuration to determine if 1000 cycles TCX is sufficient for their expected lifespan.</a:t>
            </a:r>
          </a:p>
          <a:p>
            <a:pPr marL="285750" indent="-285750">
              <a:buFont typeface="Arial" panose="020B0604020202020204" pitchFamily="34" charset="0"/>
              <a:buChar char="•"/>
            </a:pPr>
            <a:endParaRPr lang="en-US" sz="1100" dirty="0"/>
          </a:p>
          <a:p>
            <a:pPr marL="285750" indent="-285750">
              <a:buFont typeface="Arial" panose="020B0604020202020204" pitchFamily="34" charset="0"/>
              <a:buChar char="•"/>
            </a:pPr>
            <a:endParaRPr lang="en-US" sz="1400" dirty="0"/>
          </a:p>
        </p:txBody>
      </p:sp>
      <p:sp>
        <p:nvSpPr>
          <p:cNvPr id="4" name="Title 3"/>
          <p:cNvSpPr>
            <a:spLocks noGrp="1"/>
          </p:cNvSpPr>
          <p:nvPr>
            <p:ph type="title"/>
          </p:nvPr>
        </p:nvSpPr>
        <p:spPr>
          <a:xfrm>
            <a:off x="455613" y="112423"/>
            <a:ext cx="8229600" cy="490405"/>
          </a:xfrm>
        </p:spPr>
        <p:txBody>
          <a:bodyPr/>
          <a:lstStyle/>
          <a:p>
            <a:r>
              <a:rPr lang="en-US" dirty="0"/>
              <a:t>Enabled Temp Cycle Primer</a:t>
            </a:r>
          </a:p>
        </p:txBody>
      </p:sp>
    </p:spTree>
    <p:extLst>
      <p:ext uri="{BB962C8B-B14F-4D97-AF65-F5344CB8AC3E}">
        <p14:creationId xmlns:p14="http://schemas.microsoft.com/office/powerpoint/2010/main" val="2259344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E2556C5-CE8C-6547-B838-EA80C61A4AF7}" type="slidenum">
              <a:rPr kumimoji="0" lang="en-US" sz="800" b="0" i="0" u="none" strike="noStrike" kern="1200" cap="none" spc="0" normalizeH="0" baseline="0" noProof="0" smtClean="0">
                <a:ln>
                  <a:noFill/>
                </a:ln>
                <a:solidFill>
                  <a:prstClr val="white"/>
                </a:solidFill>
                <a:effectLst/>
                <a:uLnTx/>
                <a:uFillTx/>
                <a:latin typeface="Intel Clear"/>
                <a:ea typeface="+mn-ea"/>
                <a:cs typeface="Intel Clear"/>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dirty="0">
              <a:ln>
                <a:noFill/>
              </a:ln>
              <a:solidFill>
                <a:prstClr val="white"/>
              </a:solidFill>
              <a:effectLst/>
              <a:uLnTx/>
              <a:uFillTx/>
              <a:latin typeface="Intel Clear"/>
              <a:ea typeface="+mn-ea"/>
              <a:cs typeface="Intel Clear"/>
            </a:endParaRPr>
          </a:p>
        </p:txBody>
      </p:sp>
      <p:sp>
        <p:nvSpPr>
          <p:cNvPr id="3" name="Content Placeholder 2"/>
          <p:cNvSpPr>
            <a:spLocks noGrp="1"/>
          </p:cNvSpPr>
          <p:nvPr>
            <p:ph sz="quarter" idx="13"/>
          </p:nvPr>
        </p:nvSpPr>
        <p:spPr>
          <a:xfrm>
            <a:off x="462380" y="520582"/>
            <a:ext cx="5085815" cy="246221"/>
          </a:xfrm>
        </p:spPr>
        <p:txBody>
          <a:bodyPr wrap="square">
            <a:spAutoFit/>
          </a:bodyPr>
          <a:lstStyle/>
          <a:p>
            <a:r>
              <a:rPr lang="en-US" dirty="0"/>
              <a:t>TCX (Temperature Cycling – X) Profile Specifications:</a:t>
            </a:r>
          </a:p>
        </p:txBody>
      </p:sp>
      <p:sp>
        <p:nvSpPr>
          <p:cNvPr id="4" name="Title 3"/>
          <p:cNvSpPr>
            <a:spLocks noGrp="1"/>
          </p:cNvSpPr>
          <p:nvPr>
            <p:ph type="title"/>
          </p:nvPr>
        </p:nvSpPr>
        <p:spPr>
          <a:xfrm>
            <a:off x="455613" y="112423"/>
            <a:ext cx="8229600" cy="490405"/>
          </a:xfrm>
        </p:spPr>
        <p:txBody>
          <a:bodyPr/>
          <a:lstStyle/>
          <a:p>
            <a:r>
              <a:rPr lang="en-US" dirty="0"/>
              <a:t>Enabled (or) Non-enabled Temperature Cycle Primer</a:t>
            </a:r>
          </a:p>
        </p:txBody>
      </p:sp>
      <p:graphicFrame>
        <p:nvGraphicFramePr>
          <p:cNvPr id="5" name="Table 55">
            <a:extLst>
              <a:ext uri="{FF2B5EF4-FFF2-40B4-BE49-F238E27FC236}">
                <a16:creationId xmlns:a16="http://schemas.microsoft.com/office/drawing/2014/main" id="{5D48BC89-3992-4983-9E79-BD1B5C7F8966}"/>
              </a:ext>
            </a:extLst>
          </p:cNvPr>
          <p:cNvGraphicFramePr>
            <a:graphicFrameLocks noGrp="1"/>
          </p:cNvGraphicFramePr>
          <p:nvPr/>
        </p:nvGraphicFramePr>
        <p:xfrm>
          <a:off x="411326" y="1009824"/>
          <a:ext cx="8162187" cy="528825"/>
        </p:xfrm>
        <a:graphic>
          <a:graphicData uri="http://schemas.openxmlformats.org/drawingml/2006/table">
            <a:tbl>
              <a:tblPr firstRow="1" bandRow="1">
                <a:tableStyleId>{F5AB1C69-6EDB-4FF4-983F-18BD219EF322}</a:tableStyleId>
              </a:tblPr>
              <a:tblGrid>
                <a:gridCol w="1176655">
                  <a:extLst>
                    <a:ext uri="{9D8B030D-6E8A-4147-A177-3AD203B41FA5}">
                      <a16:colId xmlns:a16="http://schemas.microsoft.com/office/drawing/2014/main" val="720858693"/>
                    </a:ext>
                  </a:extLst>
                </a:gridCol>
                <a:gridCol w="1427480">
                  <a:extLst>
                    <a:ext uri="{9D8B030D-6E8A-4147-A177-3AD203B41FA5}">
                      <a16:colId xmlns:a16="http://schemas.microsoft.com/office/drawing/2014/main" val="1912563630"/>
                    </a:ext>
                  </a:extLst>
                </a:gridCol>
                <a:gridCol w="1454468">
                  <a:extLst>
                    <a:ext uri="{9D8B030D-6E8A-4147-A177-3AD203B41FA5}">
                      <a16:colId xmlns:a16="http://schemas.microsoft.com/office/drawing/2014/main" val="1833950145"/>
                    </a:ext>
                  </a:extLst>
                </a:gridCol>
                <a:gridCol w="1571943">
                  <a:extLst>
                    <a:ext uri="{9D8B030D-6E8A-4147-A177-3AD203B41FA5}">
                      <a16:colId xmlns:a16="http://schemas.microsoft.com/office/drawing/2014/main" val="2713050193"/>
                    </a:ext>
                  </a:extLst>
                </a:gridCol>
                <a:gridCol w="1351280">
                  <a:extLst>
                    <a:ext uri="{9D8B030D-6E8A-4147-A177-3AD203B41FA5}">
                      <a16:colId xmlns:a16="http://schemas.microsoft.com/office/drawing/2014/main" val="1203307506"/>
                    </a:ext>
                  </a:extLst>
                </a:gridCol>
                <a:gridCol w="1180361">
                  <a:extLst>
                    <a:ext uri="{9D8B030D-6E8A-4147-A177-3AD203B41FA5}">
                      <a16:colId xmlns:a16="http://schemas.microsoft.com/office/drawing/2014/main" val="19739458"/>
                    </a:ext>
                  </a:extLst>
                </a:gridCol>
              </a:tblGrid>
              <a:tr h="234422">
                <a:tc>
                  <a:txBody>
                    <a:bodyPr/>
                    <a:lstStyle/>
                    <a:p>
                      <a:r>
                        <a:rPr lang="en-US" sz="1100" dirty="0"/>
                        <a:t>Test Condition</a:t>
                      </a:r>
                      <a:endParaRPr lang="en-MY" sz="1100" dirty="0"/>
                    </a:p>
                  </a:txBody>
                  <a:tcPr/>
                </a:tc>
                <a:tc>
                  <a:txBody>
                    <a:bodyPr/>
                    <a:lstStyle/>
                    <a:p>
                      <a:r>
                        <a:rPr lang="en-US" sz="1100" dirty="0"/>
                        <a:t>Nominal Minimum</a:t>
                      </a:r>
                      <a:endParaRPr lang="en-MY" sz="1100" dirty="0"/>
                    </a:p>
                  </a:txBody>
                  <a:tcPr/>
                </a:tc>
                <a:tc>
                  <a:txBody>
                    <a:bodyPr/>
                    <a:lstStyle/>
                    <a:p>
                      <a:r>
                        <a:rPr lang="en-US" sz="1100" dirty="0"/>
                        <a:t>Nominal Maximum</a:t>
                      </a:r>
                      <a:endParaRPr lang="en-MY" sz="1100" dirty="0"/>
                    </a:p>
                  </a:txBody>
                  <a:tcPr/>
                </a:tc>
                <a:tc>
                  <a:txBody>
                    <a:bodyPr/>
                    <a:lstStyle/>
                    <a:p>
                      <a:r>
                        <a:rPr lang="en-MY" sz="1100" dirty="0"/>
                        <a:t>Ramp Rate</a:t>
                      </a:r>
                    </a:p>
                  </a:txBody>
                  <a:tcPr/>
                </a:tc>
                <a:tc>
                  <a:txBody>
                    <a:bodyPr/>
                    <a:lstStyle/>
                    <a:p>
                      <a:r>
                        <a:rPr lang="en-US" sz="1100" dirty="0"/>
                        <a:t>Dwell Time</a:t>
                      </a:r>
                    </a:p>
                  </a:txBody>
                  <a:tcPr/>
                </a:tc>
                <a:tc>
                  <a:txBody>
                    <a:bodyPr/>
                    <a:lstStyle/>
                    <a:p>
                      <a:r>
                        <a:rPr lang="en-MY" sz="1100" dirty="0"/>
                        <a:t>Cycle time</a:t>
                      </a:r>
                    </a:p>
                  </a:txBody>
                  <a:tcPr/>
                </a:tc>
                <a:extLst>
                  <a:ext uri="{0D108BD9-81ED-4DB2-BD59-A6C34878D82A}">
                    <a16:rowId xmlns:a16="http://schemas.microsoft.com/office/drawing/2014/main" val="4111469314"/>
                  </a:ext>
                </a:extLst>
              </a:tr>
              <a:tr h="269745">
                <a:tc>
                  <a:txBody>
                    <a:bodyPr/>
                    <a:lstStyle/>
                    <a:p>
                      <a:r>
                        <a:rPr lang="en-US" sz="1100" dirty="0"/>
                        <a:t>X</a:t>
                      </a:r>
                      <a:endParaRPr lang="en-MY" sz="1100" dirty="0"/>
                    </a:p>
                  </a:txBody>
                  <a:tcPr/>
                </a:tc>
                <a:tc>
                  <a:txBody>
                    <a:bodyPr/>
                    <a:lstStyle/>
                    <a:p>
                      <a:r>
                        <a:rPr lang="en-US" sz="1100" dirty="0"/>
                        <a:t>-40°C (+0°C, -10°C)</a:t>
                      </a:r>
                      <a:endParaRPr lang="en-MY" sz="1100" dirty="0"/>
                    </a:p>
                  </a:txBody>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100" dirty="0"/>
                        <a:t>+85°C (+10°C, -0°C)</a:t>
                      </a:r>
                      <a:endParaRPr lang="en-MY" sz="1100" dirty="0"/>
                    </a:p>
                  </a:txBody>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MY" sz="1100" dirty="0"/>
                        <a:t>10-</a:t>
                      </a:r>
                      <a:r>
                        <a:rPr lang="en-US" sz="1100" dirty="0"/>
                        <a:t>15°C/min (typical)</a:t>
                      </a:r>
                      <a:endParaRPr lang="en-MY" sz="1100" dirty="0"/>
                    </a:p>
                  </a:txBody>
                  <a:tcPr/>
                </a:tc>
                <a:tc>
                  <a:txBody>
                    <a:bodyPr/>
                    <a:lstStyle/>
                    <a:p>
                      <a:r>
                        <a:rPr lang="en-US" sz="1100" dirty="0"/>
                        <a:t>Minimum 15 min</a:t>
                      </a:r>
                      <a:endParaRPr lang="en-MY" sz="11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a:t>60 min (total)</a:t>
                      </a:r>
                      <a:endParaRPr lang="en-MY" sz="1100" dirty="0"/>
                    </a:p>
                  </a:txBody>
                  <a:tcPr/>
                </a:tc>
                <a:extLst>
                  <a:ext uri="{0D108BD9-81ED-4DB2-BD59-A6C34878D82A}">
                    <a16:rowId xmlns:a16="http://schemas.microsoft.com/office/drawing/2014/main" val="3232656668"/>
                  </a:ext>
                </a:extLst>
              </a:tr>
            </a:tbl>
          </a:graphicData>
        </a:graphic>
      </p:graphicFrame>
      <p:pic>
        <p:nvPicPr>
          <p:cNvPr id="6" name="Picture 5">
            <a:extLst>
              <a:ext uri="{FF2B5EF4-FFF2-40B4-BE49-F238E27FC236}">
                <a16:creationId xmlns:a16="http://schemas.microsoft.com/office/drawing/2014/main" id="{88D17DF5-0FCA-4C3E-B995-8A0D6CA1ECB0}"/>
              </a:ext>
            </a:extLst>
          </p:cNvPr>
          <p:cNvPicPr>
            <a:picLocks noChangeAspect="1"/>
          </p:cNvPicPr>
          <p:nvPr/>
        </p:nvPicPr>
        <p:blipFill>
          <a:blip r:embed="rId3"/>
          <a:stretch>
            <a:fillRect/>
          </a:stretch>
        </p:blipFill>
        <p:spPr>
          <a:xfrm>
            <a:off x="1349650" y="1935989"/>
            <a:ext cx="4777678" cy="2593879"/>
          </a:xfrm>
          <a:prstGeom prst="rect">
            <a:avLst/>
          </a:prstGeom>
        </p:spPr>
      </p:pic>
      <p:sp>
        <p:nvSpPr>
          <p:cNvPr id="7" name="TextBox 6">
            <a:extLst>
              <a:ext uri="{FF2B5EF4-FFF2-40B4-BE49-F238E27FC236}">
                <a16:creationId xmlns:a16="http://schemas.microsoft.com/office/drawing/2014/main" id="{0E5834D3-1DDF-49FE-B57D-E18FD9521B55}"/>
              </a:ext>
            </a:extLst>
          </p:cNvPr>
          <p:cNvSpPr txBox="1"/>
          <p:nvPr/>
        </p:nvSpPr>
        <p:spPr>
          <a:xfrm>
            <a:off x="869132" y="2327100"/>
            <a:ext cx="527931" cy="193805"/>
          </a:xfrm>
          <a:prstGeom prst="rect">
            <a:avLst/>
          </a:prstGeom>
          <a:solidFill>
            <a:schemeClr val="bg2">
              <a:lumMod val="20000"/>
              <a:lumOff val="80000"/>
            </a:schemeClr>
          </a:solidFill>
        </p:spPr>
        <p:txBody>
          <a:bodyPr vert="horz"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3C71"/>
                </a:solidFill>
                <a:effectLst/>
                <a:uLnTx/>
                <a:uFillTx/>
                <a:latin typeface="Intel Clear"/>
                <a:ea typeface="+mn-ea"/>
                <a:cs typeface="+mn-cs"/>
              </a:rPr>
              <a:t>+85°C</a:t>
            </a:r>
            <a:endParaRPr kumimoji="0" lang="en-MY" sz="1100" b="0" i="0" u="none" strike="noStrike" kern="1200" cap="none" spc="0" normalizeH="0" baseline="0" noProof="0" dirty="0">
              <a:ln>
                <a:noFill/>
              </a:ln>
              <a:solidFill>
                <a:srgbClr val="003C71"/>
              </a:solidFill>
              <a:effectLst/>
              <a:uLnTx/>
              <a:uFillTx/>
              <a:latin typeface="Intel Clear"/>
              <a:ea typeface="+mn-ea"/>
              <a:cs typeface="+mn-cs"/>
            </a:endParaRPr>
          </a:p>
        </p:txBody>
      </p:sp>
      <p:sp>
        <p:nvSpPr>
          <p:cNvPr id="8" name="TextBox 7">
            <a:extLst>
              <a:ext uri="{FF2B5EF4-FFF2-40B4-BE49-F238E27FC236}">
                <a16:creationId xmlns:a16="http://schemas.microsoft.com/office/drawing/2014/main" id="{0D76C801-75C7-4579-A4A6-C3B865C7042D}"/>
              </a:ext>
            </a:extLst>
          </p:cNvPr>
          <p:cNvSpPr txBox="1"/>
          <p:nvPr/>
        </p:nvSpPr>
        <p:spPr>
          <a:xfrm>
            <a:off x="862357" y="3947753"/>
            <a:ext cx="527931" cy="193805"/>
          </a:xfrm>
          <a:prstGeom prst="rect">
            <a:avLst/>
          </a:prstGeom>
          <a:solidFill>
            <a:schemeClr val="bg2">
              <a:lumMod val="20000"/>
              <a:lumOff val="80000"/>
            </a:schemeClr>
          </a:solidFill>
        </p:spPr>
        <p:txBody>
          <a:bodyPr vert="horz"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3C71"/>
                </a:solidFill>
                <a:effectLst/>
                <a:uLnTx/>
                <a:uFillTx/>
                <a:latin typeface="Intel Clear"/>
                <a:ea typeface="+mn-ea"/>
                <a:cs typeface="+mn-cs"/>
              </a:rPr>
              <a:t>-40°C</a:t>
            </a:r>
            <a:endParaRPr kumimoji="0" lang="en-MY" sz="1100" b="0" i="0" u="none" strike="noStrike" kern="1200" cap="none" spc="0" normalizeH="0" baseline="0" noProof="0" dirty="0">
              <a:ln>
                <a:noFill/>
              </a:ln>
              <a:solidFill>
                <a:srgbClr val="003C71"/>
              </a:solidFill>
              <a:effectLst/>
              <a:uLnTx/>
              <a:uFillTx/>
              <a:latin typeface="Intel Clear"/>
              <a:ea typeface="+mn-ea"/>
              <a:cs typeface="+mn-cs"/>
            </a:endParaRPr>
          </a:p>
        </p:txBody>
      </p:sp>
      <p:sp>
        <p:nvSpPr>
          <p:cNvPr id="9" name="TextBox 8">
            <a:extLst>
              <a:ext uri="{FF2B5EF4-FFF2-40B4-BE49-F238E27FC236}">
                <a16:creationId xmlns:a16="http://schemas.microsoft.com/office/drawing/2014/main" id="{75112F30-659D-4CD1-A397-E7E917453DED}"/>
              </a:ext>
            </a:extLst>
          </p:cNvPr>
          <p:cNvSpPr txBox="1"/>
          <p:nvPr/>
        </p:nvSpPr>
        <p:spPr>
          <a:xfrm>
            <a:off x="869132" y="3401752"/>
            <a:ext cx="527931" cy="193805"/>
          </a:xfrm>
          <a:prstGeom prst="rect">
            <a:avLst/>
          </a:prstGeom>
          <a:solidFill>
            <a:schemeClr val="bg2">
              <a:lumMod val="20000"/>
              <a:lumOff val="80000"/>
            </a:schemeClr>
          </a:solidFill>
        </p:spPr>
        <p:txBody>
          <a:bodyPr vert="horz"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3C71"/>
                </a:solidFill>
                <a:effectLst/>
                <a:uLnTx/>
                <a:uFillTx/>
                <a:latin typeface="Intel Clear"/>
                <a:ea typeface="+mn-ea"/>
                <a:cs typeface="+mn-cs"/>
              </a:rPr>
              <a:t>0°C</a:t>
            </a:r>
            <a:endParaRPr kumimoji="0" lang="en-MY" sz="1100" b="0" i="0" u="none" strike="noStrike" kern="1200" cap="none" spc="0" normalizeH="0" baseline="0" noProof="0" dirty="0">
              <a:ln>
                <a:noFill/>
              </a:ln>
              <a:solidFill>
                <a:srgbClr val="003C71"/>
              </a:solidFill>
              <a:effectLst/>
              <a:uLnTx/>
              <a:uFillTx/>
              <a:latin typeface="Intel Clear"/>
              <a:ea typeface="+mn-ea"/>
              <a:cs typeface="+mn-cs"/>
            </a:endParaRPr>
          </a:p>
        </p:txBody>
      </p:sp>
      <p:cxnSp>
        <p:nvCxnSpPr>
          <p:cNvPr id="10" name="Straight Arrow Connector 9">
            <a:extLst>
              <a:ext uri="{FF2B5EF4-FFF2-40B4-BE49-F238E27FC236}">
                <a16:creationId xmlns:a16="http://schemas.microsoft.com/office/drawing/2014/main" id="{11E2BCA9-2E6F-4121-B46D-4AE30600FEB5}"/>
              </a:ext>
            </a:extLst>
          </p:cNvPr>
          <p:cNvCxnSpPr>
            <a:cxnSpLocks/>
          </p:cNvCxnSpPr>
          <p:nvPr/>
        </p:nvCxnSpPr>
        <p:spPr>
          <a:xfrm>
            <a:off x="2073964" y="4229939"/>
            <a:ext cx="802164" cy="0"/>
          </a:xfrm>
          <a:prstGeom prst="straightConnector1">
            <a:avLst/>
          </a:prstGeom>
          <a:ln>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076B33F0-8001-46FC-ABD9-6F6402AC545C}"/>
              </a:ext>
            </a:extLst>
          </p:cNvPr>
          <p:cNvCxnSpPr>
            <a:cxnSpLocks/>
          </p:cNvCxnSpPr>
          <p:nvPr/>
        </p:nvCxnSpPr>
        <p:spPr>
          <a:xfrm>
            <a:off x="3454485" y="2255512"/>
            <a:ext cx="802164" cy="0"/>
          </a:xfrm>
          <a:prstGeom prst="straightConnector1">
            <a:avLst/>
          </a:prstGeom>
          <a:ln>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49A90A74-21C9-41EA-A55F-1A808E01112B}"/>
              </a:ext>
            </a:extLst>
          </p:cNvPr>
          <p:cNvSpPr txBox="1"/>
          <p:nvPr/>
        </p:nvSpPr>
        <p:spPr>
          <a:xfrm>
            <a:off x="3315224" y="3841554"/>
            <a:ext cx="1105224" cy="191683"/>
          </a:xfrm>
          <a:prstGeom prst="rect">
            <a:avLst/>
          </a:prstGeom>
          <a:solidFill>
            <a:schemeClr val="bg2">
              <a:lumMod val="20000"/>
              <a:lumOff val="80000"/>
            </a:schemeClr>
          </a:solidFill>
        </p:spPr>
        <p:txBody>
          <a:bodyPr vert="horz"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3C71"/>
                </a:solidFill>
                <a:effectLst/>
                <a:uLnTx/>
                <a:uFillTx/>
                <a:latin typeface="Intel Clear"/>
                <a:ea typeface="+mn-ea"/>
                <a:cs typeface="+mn-cs"/>
              </a:rPr>
              <a:t>Time (minutes)</a:t>
            </a:r>
            <a:endParaRPr kumimoji="0" lang="en-MY" sz="1100" b="0" i="0" u="none" strike="noStrike" kern="1200" cap="none" spc="0" normalizeH="0" baseline="0" noProof="0" dirty="0">
              <a:ln>
                <a:noFill/>
              </a:ln>
              <a:solidFill>
                <a:srgbClr val="003C71"/>
              </a:solidFill>
              <a:effectLst/>
              <a:uLnTx/>
              <a:uFillTx/>
              <a:latin typeface="Intel Clear"/>
              <a:ea typeface="+mn-ea"/>
              <a:cs typeface="+mn-cs"/>
            </a:endParaRPr>
          </a:p>
        </p:txBody>
      </p:sp>
      <p:sp>
        <p:nvSpPr>
          <p:cNvPr id="15" name="TextBox 14">
            <a:extLst>
              <a:ext uri="{FF2B5EF4-FFF2-40B4-BE49-F238E27FC236}">
                <a16:creationId xmlns:a16="http://schemas.microsoft.com/office/drawing/2014/main" id="{F1D72F26-0229-45D1-A363-A29786949E22}"/>
              </a:ext>
            </a:extLst>
          </p:cNvPr>
          <p:cNvSpPr txBox="1"/>
          <p:nvPr/>
        </p:nvSpPr>
        <p:spPr>
          <a:xfrm>
            <a:off x="3491331" y="1971000"/>
            <a:ext cx="670414" cy="191687"/>
          </a:xfrm>
          <a:prstGeom prst="rect">
            <a:avLst/>
          </a:prstGeom>
          <a:solidFill>
            <a:schemeClr val="bg1"/>
          </a:solidFill>
          <a:ln>
            <a:solidFill>
              <a:schemeClr val="bg1"/>
            </a:solidFill>
          </a:ln>
        </p:spPr>
        <p:txBody>
          <a:bodyPr vert="horz"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MY" sz="1100" b="0" i="0" u="none" strike="noStrike" kern="1200" cap="none" spc="0" normalizeH="0" baseline="0" noProof="0" dirty="0">
              <a:ln>
                <a:noFill/>
              </a:ln>
              <a:solidFill>
                <a:srgbClr val="003C71"/>
              </a:solidFill>
              <a:effectLst/>
              <a:uLnTx/>
              <a:uFillTx/>
              <a:latin typeface="Intel Clear"/>
              <a:ea typeface="+mn-ea"/>
              <a:cs typeface="+mn-cs"/>
            </a:endParaRPr>
          </a:p>
        </p:txBody>
      </p:sp>
      <p:sp>
        <p:nvSpPr>
          <p:cNvPr id="16" name="TextBox 15">
            <a:extLst>
              <a:ext uri="{FF2B5EF4-FFF2-40B4-BE49-F238E27FC236}">
                <a16:creationId xmlns:a16="http://schemas.microsoft.com/office/drawing/2014/main" id="{F7F23B08-9385-43AB-9CF1-F310E0A15845}"/>
              </a:ext>
            </a:extLst>
          </p:cNvPr>
          <p:cNvSpPr txBox="1"/>
          <p:nvPr/>
        </p:nvSpPr>
        <p:spPr>
          <a:xfrm>
            <a:off x="3124418" y="1862141"/>
            <a:ext cx="1611704" cy="108860"/>
          </a:xfrm>
          <a:prstGeom prst="rect">
            <a:avLst/>
          </a:prstGeom>
          <a:noFill/>
        </p:spPr>
        <p:txBody>
          <a:bodyPr vert="horz"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3C71"/>
                </a:solidFill>
                <a:effectLst/>
                <a:uLnTx/>
                <a:uFillTx/>
                <a:latin typeface="Intel Clear"/>
                <a:ea typeface="+mn-ea"/>
                <a:cs typeface="+mn-cs"/>
              </a:rPr>
              <a:t>Dwell Time [Maximum/Hot] (17 min)</a:t>
            </a:r>
            <a:endParaRPr kumimoji="0" lang="en-MY" sz="1100" b="0" i="0" u="none" strike="noStrike" kern="1200" cap="none" spc="0" normalizeH="0" baseline="0" noProof="0" dirty="0">
              <a:ln>
                <a:noFill/>
              </a:ln>
              <a:solidFill>
                <a:srgbClr val="003C71"/>
              </a:solidFill>
              <a:effectLst/>
              <a:uLnTx/>
              <a:uFillTx/>
              <a:latin typeface="Intel Clear"/>
              <a:ea typeface="+mn-ea"/>
              <a:cs typeface="+mn-cs"/>
            </a:endParaRPr>
          </a:p>
        </p:txBody>
      </p:sp>
      <p:sp>
        <p:nvSpPr>
          <p:cNvPr id="17" name="TextBox 16">
            <a:extLst>
              <a:ext uri="{FF2B5EF4-FFF2-40B4-BE49-F238E27FC236}">
                <a16:creationId xmlns:a16="http://schemas.microsoft.com/office/drawing/2014/main" id="{BB7EEAF0-0844-4498-952F-B7014254DF7D}"/>
              </a:ext>
            </a:extLst>
          </p:cNvPr>
          <p:cNvSpPr txBox="1"/>
          <p:nvPr/>
        </p:nvSpPr>
        <p:spPr>
          <a:xfrm>
            <a:off x="1586286" y="4285121"/>
            <a:ext cx="1784099" cy="402849"/>
          </a:xfrm>
          <a:prstGeom prst="rect">
            <a:avLst/>
          </a:prstGeom>
          <a:noFill/>
        </p:spPr>
        <p:txBody>
          <a:bodyPr vert="horz"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3C71"/>
                </a:solidFill>
                <a:effectLst/>
                <a:uLnTx/>
                <a:uFillTx/>
                <a:latin typeface="Intel Clear"/>
                <a:ea typeface="+mn-ea"/>
                <a:cs typeface="+mn-cs"/>
              </a:rPr>
              <a:t>Dwell Time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3C71"/>
                </a:solidFill>
                <a:effectLst/>
                <a:uLnTx/>
                <a:uFillTx/>
                <a:latin typeface="Intel Clear"/>
                <a:ea typeface="+mn-ea"/>
                <a:cs typeface="+mn-cs"/>
              </a:rPr>
              <a:t>[Minimum/Cold] (17 min)</a:t>
            </a:r>
            <a:endParaRPr kumimoji="0" lang="en-MY" sz="1100" b="0" i="0" u="none" strike="noStrike" kern="1200" cap="none" spc="0" normalizeH="0" baseline="0" noProof="0" dirty="0">
              <a:ln>
                <a:noFill/>
              </a:ln>
              <a:solidFill>
                <a:srgbClr val="003C71"/>
              </a:solidFill>
              <a:effectLst/>
              <a:uLnTx/>
              <a:uFillTx/>
              <a:latin typeface="Intel Clear"/>
              <a:ea typeface="+mn-ea"/>
              <a:cs typeface="+mn-cs"/>
            </a:endParaRPr>
          </a:p>
        </p:txBody>
      </p:sp>
      <p:sp>
        <p:nvSpPr>
          <p:cNvPr id="19" name="TextBox 18">
            <a:extLst>
              <a:ext uri="{FF2B5EF4-FFF2-40B4-BE49-F238E27FC236}">
                <a16:creationId xmlns:a16="http://schemas.microsoft.com/office/drawing/2014/main" id="{9C9DBBA6-F561-4464-A5BE-B4B1BCFE4CD2}"/>
              </a:ext>
            </a:extLst>
          </p:cNvPr>
          <p:cNvSpPr txBox="1"/>
          <p:nvPr/>
        </p:nvSpPr>
        <p:spPr>
          <a:xfrm>
            <a:off x="3485337" y="4367391"/>
            <a:ext cx="670414" cy="191687"/>
          </a:xfrm>
          <a:prstGeom prst="rect">
            <a:avLst/>
          </a:prstGeom>
          <a:solidFill>
            <a:schemeClr val="bg1"/>
          </a:solidFill>
          <a:ln>
            <a:solidFill>
              <a:schemeClr val="bg1"/>
            </a:solidFill>
          </a:ln>
        </p:spPr>
        <p:txBody>
          <a:bodyPr vert="horz"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MY" sz="1100" b="0" i="0" u="none" strike="noStrike" kern="1200" cap="none" spc="0" normalizeH="0" baseline="0" noProof="0" dirty="0">
              <a:ln>
                <a:noFill/>
              </a:ln>
              <a:solidFill>
                <a:srgbClr val="003C71"/>
              </a:solidFill>
              <a:effectLst/>
              <a:uLnTx/>
              <a:uFillTx/>
              <a:latin typeface="Intel Clear"/>
              <a:ea typeface="+mn-ea"/>
              <a:cs typeface="+mn-cs"/>
            </a:endParaRPr>
          </a:p>
        </p:txBody>
      </p:sp>
      <p:cxnSp>
        <p:nvCxnSpPr>
          <p:cNvPr id="21" name="Straight Arrow Connector 20">
            <a:extLst>
              <a:ext uri="{FF2B5EF4-FFF2-40B4-BE49-F238E27FC236}">
                <a16:creationId xmlns:a16="http://schemas.microsoft.com/office/drawing/2014/main" id="{A94860A4-9361-4A09-8BC1-2A5F7B485996}"/>
              </a:ext>
            </a:extLst>
          </p:cNvPr>
          <p:cNvCxnSpPr>
            <a:cxnSpLocks/>
          </p:cNvCxnSpPr>
          <p:nvPr/>
        </p:nvCxnSpPr>
        <p:spPr>
          <a:xfrm>
            <a:off x="2876607" y="4118176"/>
            <a:ext cx="2756266" cy="0"/>
          </a:xfrm>
          <a:prstGeom prst="straightConnector1">
            <a:avLst/>
          </a:prstGeom>
          <a:ln>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BD90544E-587E-45DD-9D10-B66F3F422735}"/>
              </a:ext>
            </a:extLst>
          </p:cNvPr>
          <p:cNvSpPr txBox="1"/>
          <p:nvPr/>
        </p:nvSpPr>
        <p:spPr>
          <a:xfrm rot="17520172">
            <a:off x="2137513" y="2981804"/>
            <a:ext cx="1578992" cy="227134"/>
          </a:xfrm>
          <a:prstGeom prst="rect">
            <a:avLst/>
          </a:prstGeom>
          <a:noFill/>
        </p:spPr>
        <p:txBody>
          <a:bodyPr vert="horz"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3C71"/>
                </a:solidFill>
                <a:effectLst/>
                <a:uLnTx/>
                <a:uFillTx/>
                <a:latin typeface="Intel Clear"/>
                <a:ea typeface="+mn-ea"/>
                <a:cs typeface="+mn-cs"/>
              </a:rPr>
              <a:t>Ramp Rate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3C71"/>
                </a:solidFill>
                <a:effectLst/>
                <a:uLnTx/>
                <a:uFillTx/>
                <a:latin typeface="Intel Clear"/>
                <a:ea typeface="+mn-ea"/>
                <a:cs typeface="+mn-cs"/>
              </a:rPr>
              <a:t>(10°C/min)</a:t>
            </a:r>
            <a:endParaRPr kumimoji="0" lang="en-MY" sz="1100" b="0" i="0" u="none" strike="noStrike" kern="1200" cap="none" spc="0" normalizeH="0" baseline="0" noProof="0" dirty="0">
              <a:ln>
                <a:noFill/>
              </a:ln>
              <a:solidFill>
                <a:srgbClr val="003C71"/>
              </a:solidFill>
              <a:effectLst/>
              <a:uLnTx/>
              <a:uFillTx/>
              <a:latin typeface="Intel Clear"/>
              <a:ea typeface="+mn-ea"/>
              <a:cs typeface="+mn-cs"/>
            </a:endParaRPr>
          </a:p>
        </p:txBody>
      </p:sp>
      <p:sp>
        <p:nvSpPr>
          <p:cNvPr id="24" name="TextBox 23">
            <a:extLst>
              <a:ext uri="{FF2B5EF4-FFF2-40B4-BE49-F238E27FC236}">
                <a16:creationId xmlns:a16="http://schemas.microsoft.com/office/drawing/2014/main" id="{5671AA2C-7C26-49DC-A17E-4AF1E17AC3CE}"/>
              </a:ext>
            </a:extLst>
          </p:cNvPr>
          <p:cNvSpPr txBox="1"/>
          <p:nvPr/>
        </p:nvSpPr>
        <p:spPr>
          <a:xfrm>
            <a:off x="3563694" y="4158814"/>
            <a:ext cx="1413002" cy="131201"/>
          </a:xfrm>
          <a:prstGeom prst="rect">
            <a:avLst/>
          </a:prstGeom>
          <a:noFill/>
        </p:spPr>
        <p:txBody>
          <a:bodyPr vert="horz" wrap="square" lIns="0" tIns="0" rIns="0" bIns="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3C71"/>
                </a:solidFill>
                <a:effectLst/>
                <a:uLnTx/>
                <a:uFillTx/>
                <a:latin typeface="Intel Clear"/>
                <a:ea typeface="+mn-ea"/>
                <a:cs typeface="+mn-cs"/>
              </a:rPr>
              <a:t>Cycle Time (60 min)</a:t>
            </a:r>
            <a:endParaRPr kumimoji="0" lang="en-MY" sz="1100" b="0" i="0" u="none" strike="noStrike" kern="1200" cap="none" spc="0" normalizeH="0" baseline="0" noProof="0" dirty="0">
              <a:ln>
                <a:noFill/>
              </a:ln>
              <a:solidFill>
                <a:srgbClr val="003C71"/>
              </a:solidFill>
              <a:effectLst/>
              <a:uLnTx/>
              <a:uFillTx/>
              <a:latin typeface="Intel Clear"/>
              <a:ea typeface="+mn-ea"/>
              <a:cs typeface="+mn-cs"/>
            </a:endParaRPr>
          </a:p>
        </p:txBody>
      </p:sp>
      <p:sp>
        <p:nvSpPr>
          <p:cNvPr id="27" name="Rectangle 26">
            <a:extLst>
              <a:ext uri="{FF2B5EF4-FFF2-40B4-BE49-F238E27FC236}">
                <a16:creationId xmlns:a16="http://schemas.microsoft.com/office/drawing/2014/main" id="{0091E499-67CB-4A44-805A-DC4EBE2E7A3B}"/>
              </a:ext>
            </a:extLst>
          </p:cNvPr>
          <p:cNvSpPr/>
          <p:nvPr/>
        </p:nvSpPr>
        <p:spPr>
          <a:xfrm>
            <a:off x="239160" y="1781670"/>
            <a:ext cx="2456122"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Intel Clear"/>
                <a:ea typeface="+mn-ea"/>
                <a:cs typeface="+mn-cs"/>
              </a:rPr>
              <a:t>Example TC-X Profile:</a:t>
            </a:r>
          </a:p>
        </p:txBody>
      </p:sp>
      <p:sp>
        <p:nvSpPr>
          <p:cNvPr id="11" name="TextBox 10">
            <a:extLst>
              <a:ext uri="{FF2B5EF4-FFF2-40B4-BE49-F238E27FC236}">
                <a16:creationId xmlns:a16="http://schemas.microsoft.com/office/drawing/2014/main" id="{EBB22EEF-B321-4994-A886-DBBE453FED73}"/>
              </a:ext>
            </a:extLst>
          </p:cNvPr>
          <p:cNvSpPr txBox="1"/>
          <p:nvPr/>
        </p:nvSpPr>
        <p:spPr>
          <a:xfrm>
            <a:off x="6390653" y="2002996"/>
            <a:ext cx="2671285" cy="2226943"/>
          </a:xfrm>
          <a:prstGeom prst="rect">
            <a:avLst/>
          </a:prstGeom>
          <a:noFill/>
        </p:spPr>
        <p:txBody>
          <a:bodyPr vert="horz"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dirty="0">
                <a:ln>
                  <a:noFill/>
                </a:ln>
                <a:solidFill>
                  <a:srgbClr val="003C71"/>
                </a:solidFill>
                <a:effectLst/>
                <a:uLnTx/>
                <a:uFillTx/>
                <a:latin typeface="Intel Clear"/>
                <a:ea typeface="+mn-ea"/>
                <a:cs typeface="+mn-cs"/>
              </a:rPr>
              <a:t>Note</a:t>
            </a:r>
            <a:r>
              <a:rPr kumimoji="0" lang="en-US" sz="1100" b="0" i="0" u="none" strike="noStrike" kern="1200" cap="none" spc="0" normalizeH="0" baseline="0" noProof="0" dirty="0">
                <a:ln>
                  <a:noFill/>
                </a:ln>
                <a:solidFill>
                  <a:srgbClr val="003C71"/>
                </a:solidFill>
                <a:effectLst/>
                <a:uLnTx/>
                <a:uFillTx/>
                <a:latin typeface="Intel Clear"/>
                <a:ea typeface="+mn-ea"/>
                <a:cs typeface="+mn-cs"/>
              </a:rPr>
              <a: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3C71"/>
                </a:solidFill>
                <a:effectLst/>
                <a:uLnTx/>
                <a:uFillTx/>
                <a:latin typeface="Intel Clear"/>
                <a:ea typeface="+mn-ea"/>
                <a:cs typeface="+mn-cs"/>
              </a:rPr>
              <a:t>Enabled Temperature Cycle means the DUT is subjected to a constant load simulating the presence of a heatsink or thermal solution during the course of the testing.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3C71"/>
                </a:solidFill>
                <a:effectLst/>
                <a:uLnTx/>
                <a:uFillTx/>
                <a:latin typeface="Intel Clear"/>
                <a:ea typeface="+mn-ea"/>
                <a:cs typeface="+mn-cs"/>
              </a:rPr>
              <a:t>Non-enabled Temperature Cycle means the DUT is NOT subjected to a constant load simulating the presence of a heatsink or thermal solution during the course of the testing.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3C71"/>
                </a:solidFill>
                <a:effectLst/>
                <a:uLnTx/>
                <a:uFillTx/>
                <a:latin typeface="Intel Clear"/>
                <a:ea typeface="+mn-ea"/>
                <a:cs typeface="+mn-cs"/>
              </a:rPr>
              <a:t>This example plot is just one implementation of the table parameters (above)</a:t>
            </a:r>
          </a:p>
        </p:txBody>
      </p:sp>
      <p:sp>
        <p:nvSpPr>
          <p:cNvPr id="22" name="TextBox 21">
            <a:extLst>
              <a:ext uri="{FF2B5EF4-FFF2-40B4-BE49-F238E27FC236}">
                <a16:creationId xmlns:a16="http://schemas.microsoft.com/office/drawing/2014/main" id="{3E4CC8F7-5BE3-497B-AB04-F33C9929273B}"/>
              </a:ext>
            </a:extLst>
          </p:cNvPr>
          <p:cNvSpPr txBox="1"/>
          <p:nvPr/>
        </p:nvSpPr>
        <p:spPr>
          <a:xfrm>
            <a:off x="63348" y="4520833"/>
            <a:ext cx="1126545" cy="267326"/>
          </a:xfrm>
          <a:prstGeom prst="rect">
            <a:avLst/>
          </a:prstGeom>
          <a:noFill/>
        </p:spPr>
        <p:txBody>
          <a:bodyPr vert="horz"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3C71"/>
                </a:solidFill>
                <a:effectLst/>
                <a:uLnTx/>
                <a:uFillTx/>
                <a:latin typeface="Intel Clear"/>
                <a:ea typeface="+mn-ea"/>
                <a:cs typeface="+mn-cs"/>
              </a:rPr>
              <a:t>Min = Minutes</a:t>
            </a:r>
            <a:endParaRPr kumimoji="0" lang="en-US" sz="1000" b="0" i="0" u="none" strike="noStrike" kern="1200" cap="none" spc="0" normalizeH="0" baseline="0" noProof="0" dirty="0">
              <a:ln>
                <a:noFill/>
              </a:ln>
              <a:solidFill>
                <a:srgbClr val="003C71"/>
              </a:solidFill>
              <a:effectLst/>
              <a:uLnTx/>
              <a:uFillTx/>
              <a:latin typeface="Intel Clear"/>
              <a:ea typeface="+mn-ea"/>
              <a:cs typeface="+mn-cs"/>
            </a:endParaRPr>
          </a:p>
        </p:txBody>
      </p:sp>
    </p:spTree>
    <p:extLst>
      <p:ext uri="{BB962C8B-B14F-4D97-AF65-F5344CB8AC3E}">
        <p14:creationId xmlns:p14="http://schemas.microsoft.com/office/powerpoint/2010/main" val="382583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Int_PPT Template_ClearPro_16x9">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vert="horz" wrap="square" lIns="0" tIns="0" rIns="0" bIns="0" rtlCol="0">
        <a:noAutofit/>
      </a:bodyPr>
      <a:lstStyle>
        <a:defPPr>
          <a:defRPr sz="1100" dirty="0" smtClean="0">
            <a:solidFill>
              <a:srgbClr val="003C71"/>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A06151-3692-47B4-BD5C-B8A6FC42B110}">
  <ds:schemaRefs>
    <ds:schemaRef ds:uri="http://schemas.microsoft.com/sharepoint/v3/contenttype/forms"/>
  </ds:schemaRefs>
</ds:datastoreItem>
</file>

<file path=customXml/itemProps2.xml><?xml version="1.0" encoding="utf-8"?>
<ds:datastoreItem xmlns:ds="http://schemas.openxmlformats.org/officeDocument/2006/customXml" ds:itemID="{AE99ECB8-45FC-4100-8BF9-2ED702075700}">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10688E27-C5DA-49EB-855B-3E2678E76710}"/>
</file>

<file path=docProps/app.xml><?xml version="1.0" encoding="utf-8"?>
<Properties xmlns="http://schemas.openxmlformats.org/officeDocument/2006/extended-properties" xmlns:vt="http://schemas.openxmlformats.org/officeDocument/2006/docPropsVTypes">
  <Template/>
  <TotalTime>0</TotalTime>
  <Words>4775</Words>
  <Application>Microsoft Office PowerPoint</Application>
  <PresentationFormat>On-screen Show (16:9)</PresentationFormat>
  <Paragraphs>787</Paragraphs>
  <Slides>24</Slides>
  <Notes>11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2" baseType="lpstr">
      <vt:lpstr>Courier New</vt:lpstr>
      <vt:lpstr>Wingdings</vt:lpstr>
      <vt:lpstr>Intel Clear Pro</vt:lpstr>
      <vt:lpstr>Intel Clear</vt:lpstr>
      <vt:lpstr>Intel Clear Light</vt:lpstr>
      <vt:lpstr>Arial</vt:lpstr>
      <vt:lpstr>Int_PPT Template_ClearPro_16x9</vt:lpstr>
      <vt:lpstr>Worksheet</vt:lpstr>
      <vt:lpstr>PowerPoint Presentation</vt:lpstr>
      <vt:lpstr>PowerPoint Presentation</vt:lpstr>
      <vt:lpstr>PowerPoint Presentation</vt:lpstr>
      <vt:lpstr>EHL Adhesives Guidance</vt:lpstr>
      <vt:lpstr>Assumptions/Definitions </vt:lpstr>
      <vt:lpstr>PowerPoint Presentation</vt:lpstr>
      <vt:lpstr>PowerPoint Presentation</vt:lpstr>
      <vt:lpstr>PowerPoint Presentation</vt:lpstr>
      <vt:lpstr>EHL Customer List</vt:lpstr>
      <vt:lpstr>Content:</vt:lpstr>
      <vt:lpstr>Customer Survey IOTG Sales Volume</vt:lpstr>
      <vt:lpstr>Survey Summary Information (Page 1 of 2)</vt:lpstr>
      <vt:lpstr>Survey Summary Information (Page 2 of 2)</vt:lpstr>
      <vt:lpstr>Market Segment, Power Cycles &amp; Temp Conditions (Page 1 of 2)</vt:lpstr>
      <vt:lpstr>Market Segment, Power Cycles &amp; Temp Conditions (Page 2 of 2)</vt:lpstr>
      <vt:lpstr>Board Level Temperature Cycling (TC) Testing (Page 1 of 4)</vt:lpstr>
      <vt:lpstr>Board Level Temperature Cycling (TC) Testing (Page 2 of 4)</vt:lpstr>
      <vt:lpstr>Board Level Temperature Cycling (TC) Testing (Page 3 of 4)</vt:lpstr>
      <vt:lpstr>Board Level Temperature Cycling (TC) Testing (Page 4 of 4)</vt:lpstr>
      <vt:lpstr>Adhesive Usage (Page 1 of 1)</vt:lpstr>
      <vt:lpstr>Backup</vt:lpstr>
      <vt:lpstr>Blank Survey Info</vt:lpstr>
      <vt:lpstr>Enabled Temp Cycle Primer</vt:lpstr>
      <vt:lpstr>Enabled (or) Non-enabled Temperature Cycle Primer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CTPClassification=CTP_NT</cp:keywords>
  <cp:lastModifiedBy/>
  <cp:revision>1</cp:revision>
  <dcterms:created xsi:type="dcterms:W3CDTF">2015-05-06T16:36:39Z</dcterms:created>
  <dcterms:modified xsi:type="dcterms:W3CDTF">2020-06-26T02:46:00Z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0x010100C25921F9D4874B40A69C72F5C132575A</vt:lpwstr>
  </property>
  <property fmtid="{D5CDD505-2E9C-101B-9397-08002B2CF9AE}" pid="3" name="TitusGUID">
    <vt:lpwstr>e497d9da-85c9-48bc-8dd8-ea2a547fc46a</vt:lpwstr>
  </property>
  <property fmtid="{D5CDD505-2E9C-101B-9397-08002B2CF9AE}" pid="4" name="CTP_TimeStamp">
    <vt:lpwstr>2020-05-01 01:29:33Z</vt:lpwstr>
  </property>
  <property fmtid="{D5CDD505-2E9C-101B-9397-08002B2CF9AE}" pid="5" name="CTP_BU">
    <vt:lpwstr>NA</vt:lpwstr>
  </property>
  <property fmtid="{D5CDD505-2E9C-101B-9397-08002B2CF9AE}" pid="6" name="CTP_IDSID">
    <vt:lpwstr>NA</vt:lpwstr>
  </property>
  <property fmtid="{D5CDD505-2E9C-101B-9397-08002B2CF9AE}" pid="7" name="CTP_WWID">
    <vt:lpwstr>NA</vt:lpwstr>
  </property>
  <property fmtid="{D5CDD505-2E9C-101B-9397-08002B2CF9AE}" pid="8" name="CTPClassification">
    <vt:lpwstr>CTP_NT</vt:lpwstr>
  </property>
</Properties>
</file>