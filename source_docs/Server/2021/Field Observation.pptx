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56" r:id="rId5"/>
    <p:sldId id="3953" r:id="rId6"/>
    <p:sldId id="3954" r:id="rId7"/>
    <p:sldId id="3955" r:id="rId8"/>
    <p:sldId id="264" r:id="rId9"/>
    <p:sldId id="278" r:id="rId10"/>
    <p:sldId id="1983" r:id="rId11"/>
    <p:sldId id="688" r:id="rId12"/>
    <p:sldId id="3956" r:id="rId13"/>
    <p:sldId id="3957" r:id="rId14"/>
    <p:sldId id="267" r:id="rId15"/>
    <p:sldId id="3962" r:id="rId16"/>
    <p:sldId id="263" r:id="rId17"/>
    <p:sldId id="3960" r:id="rId18"/>
    <p:sldId id="268" r:id="rId19"/>
    <p:sldId id="3961" r:id="rId20"/>
    <p:sldId id="3939" r:id="rId21"/>
    <p:sldId id="3951" r:id="rId22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7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26FA30"/>
    <a:srgbClr val="FFFFFF"/>
    <a:srgbClr val="66FF33"/>
    <a:srgbClr val="FF6600"/>
    <a:srgbClr val="FFCC00"/>
    <a:srgbClr val="00FFCC"/>
    <a:srgbClr val="00C7FD"/>
    <a:srgbClr val="0068B5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60517F-1E22-4D36-9686-0668C12FC0D6}" v="85" dt="2021-04-07T14:46:35.72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2308" autoAdjust="0"/>
  </p:normalViewPr>
  <p:slideViewPr>
    <p:cSldViewPr snapToGrid="0" snapToObjects="1">
      <p:cViewPr varScale="1">
        <p:scale>
          <a:sx n="51" d="100"/>
          <a:sy n="51" d="100"/>
        </p:scale>
        <p:origin x="1336" y="36"/>
      </p:cViewPr>
      <p:guideLst>
        <p:guide orient="horz" pos="4032"/>
        <p:guide pos="7392"/>
      </p:guideLst>
    </p:cSldViewPr>
  </p:slideViewPr>
  <p:outlineViewPr>
    <p:cViewPr>
      <p:scale>
        <a:sx n="33" d="100"/>
        <a:sy n="33" d="100"/>
      </p:scale>
      <p:origin x="0" y="-1694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24360"/>
    </p:cViewPr>
  </p:sorterViewPr>
  <p:notesViewPr>
    <p:cSldViewPr snapToGrid="0" snapToObjects="1">
      <p:cViewPr varScale="1">
        <p:scale>
          <a:sx n="59" d="100"/>
          <a:sy n="59" d="100"/>
        </p:scale>
        <p:origin x="1603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A553E8-0470-1349-956C-3CB1869458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67CBD2-00E1-E94C-B4F0-37C39C209D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0B726A-C477-6444-83BF-F1538D69AD12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C31E5-3BC8-F849-AC60-6FCBD80D55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1290B-DD02-C147-B1CC-37C02F331D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CDB93-7126-8142-8B95-E87AEC483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2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Shape 105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56" name="Shape 105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1pPr>
    <a:lvl2pPr indent="1143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2pPr>
    <a:lvl3pPr indent="2286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3pPr>
    <a:lvl4pPr indent="3429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4pPr>
    <a:lvl5pPr indent="4572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5pPr>
    <a:lvl6pPr indent="5715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6pPr>
    <a:lvl7pPr indent="6858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7pPr>
    <a:lvl8pPr indent="8001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8pPr>
    <a:lvl9pPr indent="9144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dn.cnetcontent.com/a1/49/a149014d-d35a-444f-8752-2dc0898e107f.pdf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3C71"/>
                </a:solidFill>
              </a:rPr>
              <a:t>EGS – FPO marking  is removed due to limited space.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3118F7-65AF-4564-8457-0B598B85028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819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https://www.youtube.com/watch?v=a7spFUjNTek</a:t>
            </a:r>
          </a:p>
          <a:p>
            <a:r>
              <a:rPr lang="en-MY" dirty="0"/>
              <a:t>https://www.youtube.com/watch?v=alXFJ-p_nNw</a:t>
            </a:r>
          </a:p>
        </p:txBody>
      </p:sp>
    </p:spTree>
    <p:extLst>
      <p:ext uri="{BB962C8B-B14F-4D97-AF65-F5344CB8AC3E}">
        <p14:creationId xmlns:p14="http://schemas.microsoft.com/office/powerpoint/2010/main" val="32476429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749428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2286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MY" sz="1100" dirty="0">
                <a:solidFill>
                  <a:schemeClr val="tx2"/>
                </a:solidFill>
                <a:hlinkClick r:id="rId3"/>
              </a:rPr>
              <a:t>https://cdn.cnetcontent.com/a1/49/a149014d-d35a-444f-8752-2dc0898e107f.pdf</a:t>
            </a:r>
            <a:r>
              <a:rPr lang="en-MY" sz="1100" dirty="0">
                <a:solidFill>
                  <a:schemeClr val="tx2"/>
                </a:solidFill>
              </a:rPr>
              <a:t> 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693338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https://support.huawei.com/enterprise/en/doc/EDOC1000171910/bdd76eef/installing-a-processor</a:t>
            </a:r>
          </a:p>
          <a:p>
            <a:r>
              <a:rPr lang="en-MY" dirty="0"/>
              <a:t>https://support.huawei.com/enterprise/en/doc/EDOC1000183891/a4cc5fae/installing-a-processor</a:t>
            </a:r>
          </a:p>
        </p:txBody>
      </p:sp>
    </p:spTree>
    <p:extLst>
      <p:ext uri="{BB962C8B-B14F-4D97-AF65-F5344CB8AC3E}">
        <p14:creationId xmlns:p14="http://schemas.microsoft.com/office/powerpoint/2010/main" val="476625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https://support.huawei.com/enterprise/en/doc/EDOC1000078548/89014b24/installing-a-cpu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607444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lue A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0" name="Square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1" name="Rectangle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2" name="Square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/>
              <a:t>75 </a:t>
            </a:r>
            <a:r>
              <a:rPr lang="en-US" err="1"/>
              <a:t>pt</a:t>
            </a:r>
            <a:r>
              <a:rPr lang="en-US"/>
              <a:t> Intel Clear Light</a:t>
            </a:r>
            <a:endParaRPr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5379059-B28C-483A-9CD1-B3EB81874A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16pt Intel Clear Bold Intro: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EFC1083-9176-4B55-B8AB-9F31A213ED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18pt Intel Clear Subhead, Date, Etc.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98DF977-78B3-4C00-9E43-1223CD667932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8F73C8D-05B1-4270-85FA-B1FD37A25A06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C6580CA-6E37-4F04-8FAD-D6491FEE8CE6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C614C49-972F-498A-9654-844CECF9AF64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22EBBE0-933B-4A65-BAAC-DC5972E3F9A4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79684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Blue B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E706504-BEDA-1441-8BC1-243269FBBC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16pt Intel Clear Bold Intro:</a:t>
            </a:r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/>
              <a:t>75 </a:t>
            </a:r>
            <a:r>
              <a:rPr lang="en-US" err="1"/>
              <a:t>pt</a:t>
            </a:r>
            <a:r>
              <a:rPr lang="en-US"/>
              <a:t> Intel Clear Light</a:t>
            </a:r>
            <a:endParaRPr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71E0DDC0-B435-4D0B-837E-0E27121099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5F1BD0FC-D3B7-4D2E-989A-64ED187DAF99}"/>
              </a:ext>
            </a:extLst>
          </p:cNvPr>
          <p:cNvSpPr/>
          <p:nvPr userDrawn="1"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3D2DE0DF-793A-4E90-BB4C-004CD646F4EF}"/>
              </a:ext>
            </a:extLst>
          </p:cNvPr>
          <p:cNvSpPr/>
          <p:nvPr userDrawn="1"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C39C59F8-1EBA-44B6-940C-E67247F76722}"/>
              </a:ext>
            </a:extLst>
          </p:cNvPr>
          <p:cNvSpPr/>
          <p:nvPr userDrawn="1"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251DAF-788D-46D0-84B3-34DFEE6262F3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50DF4B-855E-41F4-9B0B-9B0BA01FB4FE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5E76890-19E8-4E79-B88A-5E246700E0DB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094D935-4B06-467E-ACD3-E78CD1B86EE3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E1BDA4-68F2-4FA3-BD91-CBC85BF15A79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500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"/>
          <p:cNvSpPr/>
          <p:nvPr/>
        </p:nvSpPr>
        <p:spPr>
          <a:xfrm>
            <a:off x="1466513" y="-28456"/>
            <a:ext cx="3430768" cy="5421617"/>
          </a:xfrm>
          <a:prstGeom prst="rect">
            <a:avLst/>
          </a:prstGeom>
          <a:solidFill>
            <a:srgbClr val="E7E7E7">
              <a:alpha val="39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2" name="Title Text">
            <a:extLst>
              <a:ext uri="{FF2B5EF4-FFF2-40B4-BE49-F238E27FC236}">
                <a16:creationId xmlns:a16="http://schemas.microsoft.com/office/drawing/2014/main" id="{82EC668F-6093-6548-B182-47568630A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rgbClr val="525252"/>
                </a:solidFill>
              </a:defRPr>
            </a:lvl1pPr>
          </a:lstStyle>
          <a:p>
            <a:r>
              <a:rPr lang="en-US"/>
              <a:t>75 </a:t>
            </a:r>
            <a:r>
              <a:rPr lang="en-US" err="1"/>
              <a:t>pt</a:t>
            </a:r>
            <a:r>
              <a:rPr lang="en-US"/>
              <a:t> Intel Clear</a:t>
            </a:r>
            <a:endParaRPr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87CC838-4D6E-4C99-A3F1-81F2913C62B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chemeClr val="accent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16pt Intel Clear Bold Intro: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0C3E650-A810-40D9-81A8-D3E73C9326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99F366F8-DC49-4E0B-B131-1FB92CC518E3}"/>
              </a:ext>
            </a:extLst>
          </p:cNvPr>
          <p:cNvSpPr/>
          <p:nvPr userDrawn="1"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rgbClr val="2872C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10443275-64C7-4249-92B8-990C3BB41279}"/>
              </a:ext>
            </a:extLst>
          </p:cNvPr>
          <p:cNvSpPr/>
          <p:nvPr userDrawn="1"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85908D9A-1608-44B4-A0A3-FC9E665728CA}"/>
              </a:ext>
            </a:extLst>
          </p:cNvPr>
          <p:cNvSpPr/>
          <p:nvPr userDrawn="1"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rgbClr val="2872C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952F383-4862-4271-B541-5612120030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6513" y="5992753"/>
            <a:ext cx="1031758" cy="38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375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55479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673454"/>
            <a:ext cx="11010900" cy="4574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325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139953"/>
            <a:ext cx="11010900" cy="4108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980C114-FE9A-4B63-B509-F59F1A2C55A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37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6991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1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2139951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4EEAA39-7062-4DCE-91B8-83056F818F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191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673402"/>
            <a:ext cx="5288525" cy="45848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673402"/>
            <a:ext cx="5288525" cy="45848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3236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25" name="Body Level One…">
            <a:extLst>
              <a:ext uri="{FF2B5EF4-FFF2-40B4-BE49-F238E27FC236}">
                <a16:creationId xmlns:a16="http://schemas.microsoft.com/office/drawing/2014/main" id="{6903F994-74B2-4D40-AA5F-7F3D24A00171}"/>
              </a:ext>
            </a:extLst>
          </p:cNvPr>
          <p:cNvSpPr txBox="1">
            <a:spLocks noGrp="1"/>
          </p:cNvSpPr>
          <p:nvPr>
            <p:ph idx="27" hasCustomPrompt="1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26" name="Body Level One…">
            <a:extLst>
              <a:ext uri="{FF2B5EF4-FFF2-40B4-BE49-F238E27FC236}">
                <a16:creationId xmlns:a16="http://schemas.microsoft.com/office/drawing/2014/main" id="{BF74888E-798E-B543-94EF-279F3EA6E46B}"/>
              </a:ext>
            </a:extLst>
          </p:cNvPr>
          <p:cNvSpPr txBox="1">
            <a:spLocks noGrp="1"/>
          </p:cNvSpPr>
          <p:nvPr>
            <p:ph idx="28" hasCustomPrompt="1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09331" y="571500"/>
            <a:ext cx="4668837" cy="238125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CA48836-DAA2-4E4F-A22A-2F5682E12CE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09331" y="3537061"/>
            <a:ext cx="4668837" cy="238125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0D3278-E8A7-4B14-A5ED-BE235CEC6F80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3FD6E6-528D-49D5-BBAB-B26572C15F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0512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15046" y="0"/>
            <a:ext cx="5129422" cy="6416167"/>
          </a:xfrm>
        </p:spPr>
        <p:txBody>
          <a:bodyPr/>
          <a:lstStyle/>
          <a:p>
            <a:endParaRPr lang="en-US"/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B7FB3F6-9C71-45A0-8236-12671533CA2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1C73349-1E00-4922-970C-187F97CE06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787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Full 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D9210-5064-4050-9368-9292054D5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286" y="0"/>
            <a:ext cx="11744325" cy="6401797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11" name="Title Text">
            <a:extLst>
              <a:ext uri="{FF2B5EF4-FFF2-40B4-BE49-F238E27FC236}">
                <a16:creationId xmlns:a16="http://schemas.microsoft.com/office/drawing/2014/main" id="{14AFAB66-6BED-5D47-B26F-D9C8808F3A1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Full page Image, Delete Title if Necessary</a:t>
            </a:r>
          </a:p>
        </p:txBody>
      </p:sp>
    </p:spTree>
    <p:extLst>
      <p:ext uri="{BB962C8B-B14F-4D97-AF65-F5344CB8AC3E}">
        <p14:creationId xmlns:p14="http://schemas.microsoft.com/office/powerpoint/2010/main" val="498565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2529"/>
            <a:ext cx="11010900" cy="3727184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accent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E196E31-7238-4049-821C-D94FDEAEDC5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61818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516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hart Exam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7759918-59AA-4DFC-90DA-60CD5B2BD6B8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Square">
            <a:extLst>
              <a:ext uri="{FF2B5EF4-FFF2-40B4-BE49-F238E27FC236}">
                <a16:creationId xmlns:a16="http://schemas.microsoft.com/office/drawing/2014/main" id="{D4662ED0-432E-6C48-8B26-9A21EDA54E68}"/>
              </a:ext>
            </a:extLst>
          </p:cNvPr>
          <p:cNvSpPr/>
          <p:nvPr userDrawn="1"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DF4199-9905-E94D-9EEB-E7016E48C0FC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9816"/>
            <a:ext cx="11010900" cy="3719897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B9FFF72B-62D2-4E22-9A98-EF3F6229F4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BD06FF7-C66A-4B8C-9693-1423A8337983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5269BB-7AC7-41A6-BC05-71FDAD0FDBA2}"/>
              </a:ext>
            </a:extLst>
          </p:cNvPr>
          <p:cNvSpPr/>
          <p:nvPr userDrawn="1"/>
        </p:nvSpPr>
        <p:spPr>
          <a:xfrm>
            <a:off x="483010" y="6562504"/>
            <a:ext cx="176683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Department or Event Name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22ECF1F-2453-406E-AC0D-F6E6614ECF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76099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C53A36-6661-45AA-8054-02BA7512E621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5997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56CA39C9-EAE4-4511-9CE8-BB4D4B47FC0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rgbClr val="525252"/>
                </a:solidFill>
              </a:defRPr>
            </a:lvl1pPr>
          </a:lstStyle>
          <a:p>
            <a:r>
              <a:rPr lang="en-US"/>
              <a:t>Section Break Text Goes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B923F7B-306D-4D7E-9DB3-5B163B8D53F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3975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06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8B5B8CD-DD94-44E8-9F69-C9075C2E0A93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2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4D76E8-466A-4C06-9261-BDE1AA914749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88B335-02FC-4504-AF46-DF56B2EC52E4}"/>
              </a:ext>
            </a:extLst>
          </p:cNvPr>
          <p:cNvSpPr/>
          <p:nvPr userDrawn="1"/>
        </p:nvSpPr>
        <p:spPr>
          <a:xfrm>
            <a:off x="483010" y="6562504"/>
            <a:ext cx="176683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Department or Event Name</a:t>
            </a:r>
          </a:p>
        </p:txBody>
      </p:sp>
      <p:sp>
        <p:nvSpPr>
          <p:cNvPr id="16" name="Title Text">
            <a:extLst>
              <a:ext uri="{FF2B5EF4-FFF2-40B4-BE49-F238E27FC236}">
                <a16:creationId xmlns:a16="http://schemas.microsoft.com/office/drawing/2014/main" id="{38003A1C-51D1-4427-BFE8-8448E4C61D6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Break Text Goes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30F9DFC-5AE2-4BB1-822C-8EAEAE2CA5F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48942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2519BB-51CE-4A9C-AFEF-514971F5D779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111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Light Blue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07A2BC2-9250-4B6C-8674-1CD30F0A349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22C60C-8CBC-40B8-ABEA-44BF775A3581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A864FA-3818-4931-B452-798F1E7F5A67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FC8DFF-85CB-4435-B144-6A1DC4093482}"/>
              </a:ext>
            </a:extLst>
          </p:cNvPr>
          <p:cNvSpPr/>
          <p:nvPr userDrawn="1"/>
        </p:nvSpPr>
        <p:spPr>
          <a:xfrm>
            <a:off x="483010" y="6562504"/>
            <a:ext cx="176683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Department or Event Name</a:t>
            </a: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5844F860-03F8-4657-A6E6-4E8919DD4FF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Break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ACC9CB-1B2F-42BF-8D9F-62EC595FEA6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6442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913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4C58A6BF-BF0D-4749-B07B-7C0A27747D42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7" name="Square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8" name="Square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9" name="Square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700" name="Rectangle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70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5846515-4871-AA4D-B71A-1561CC2E370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D8740F-FED9-4D14-9DF3-3BA84ADF820C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EF55E0-947C-4281-8A2A-E59398C246AB}"/>
              </a:ext>
            </a:extLst>
          </p:cNvPr>
          <p:cNvSpPr/>
          <p:nvPr userDrawn="1"/>
        </p:nvSpPr>
        <p:spPr>
          <a:xfrm>
            <a:off x="483010" y="6562504"/>
            <a:ext cx="176683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Department or Event Name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F192548-45E5-4F50-A32B-E61F6CFA996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8703551-AC59-4BD9-8B3C-616B6DFB3DB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940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3B808FDC-D2A2-42EB-B356-E69E4A048F8E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2" name="Rectangle">
            <a:extLst>
              <a:ext uri="{FF2B5EF4-FFF2-40B4-BE49-F238E27FC236}">
                <a16:creationId xmlns:a16="http://schemas.microsoft.com/office/drawing/2014/main" id="{8A1BD37C-2C85-4873-ABDD-4B358A87ED4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0" name="Square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1" name="Square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F6CB4B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2" name="Square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67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90FD0E6-78D1-5F44-A938-3A961F43FACD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5002A24-73D0-4602-A8A1-5D9281BAF93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1659E3-0873-4033-A7E2-31DB4A07B08A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60C086-3964-411C-85AF-F720D5E83519}"/>
              </a:ext>
            </a:extLst>
          </p:cNvPr>
          <p:cNvSpPr/>
          <p:nvPr userDrawn="1"/>
        </p:nvSpPr>
        <p:spPr>
          <a:xfrm>
            <a:off x="483010" y="6562504"/>
            <a:ext cx="176683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Department or Event Name</a:t>
            </a:r>
          </a:p>
        </p:txBody>
      </p:sp>
      <p:sp>
        <p:nvSpPr>
          <p:cNvPr id="25" name="Title Text">
            <a:extLst>
              <a:ext uri="{FF2B5EF4-FFF2-40B4-BE49-F238E27FC236}">
                <a16:creationId xmlns:a16="http://schemas.microsoft.com/office/drawing/2014/main" id="{1F252960-CAAB-483D-8A6A-5882E4B6282A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AFA146E-21CD-4BD6-A89D-E6C5A68508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6316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Light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quare">
            <a:extLst>
              <a:ext uri="{FF2B5EF4-FFF2-40B4-BE49-F238E27FC236}">
                <a16:creationId xmlns:a16="http://schemas.microsoft.com/office/drawing/2014/main" id="{FE9A3852-307B-4677-A2E2-D7DC495E366A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1" name="Rectangle">
            <a:extLst>
              <a:ext uri="{FF2B5EF4-FFF2-40B4-BE49-F238E27FC236}">
                <a16:creationId xmlns:a16="http://schemas.microsoft.com/office/drawing/2014/main" id="{1E9FE6C1-27FB-467A-8BF9-B80A0C35FED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1" name="Square">
            <a:extLst>
              <a:ext uri="{FF2B5EF4-FFF2-40B4-BE49-F238E27FC236}">
                <a16:creationId xmlns:a16="http://schemas.microsoft.com/office/drawing/2014/main" id="{C93C8C2E-66DD-E64F-BD60-42EBDC0E958E}"/>
              </a:ext>
            </a:extLst>
          </p:cNvPr>
          <p:cNvSpPr/>
          <p:nvPr userDrawn="1"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004A86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85A14FBD-B953-BA4F-8F83-DE73E3C37290}"/>
              </a:ext>
            </a:extLst>
          </p:cNvPr>
          <p:cNvSpPr/>
          <p:nvPr userDrawn="1"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7" name="Square">
            <a:extLst>
              <a:ext uri="{FF2B5EF4-FFF2-40B4-BE49-F238E27FC236}">
                <a16:creationId xmlns:a16="http://schemas.microsoft.com/office/drawing/2014/main" id="{59044771-2E3B-C941-8593-8E508F542287}"/>
              </a:ext>
            </a:extLst>
          </p:cNvPr>
          <p:cNvSpPr/>
          <p:nvPr userDrawn="1"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1E74A4-2107-4448-BA31-9630404A452B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ABA887-D95E-434F-B1E9-73FC7AE8C2A8}"/>
              </a:ext>
            </a:extLst>
          </p:cNvPr>
          <p:cNvSpPr/>
          <p:nvPr userDrawn="1"/>
        </p:nvSpPr>
        <p:spPr>
          <a:xfrm>
            <a:off x="483010" y="6562504"/>
            <a:ext cx="176683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Department or Event Name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E5861BF-901F-47D4-91BC-0B353503F23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BA33390-07D4-4E2C-BDA6-AE147B9075A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8009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Gra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quare">
            <a:extLst>
              <a:ext uri="{FF2B5EF4-FFF2-40B4-BE49-F238E27FC236}">
                <a16:creationId xmlns:a16="http://schemas.microsoft.com/office/drawing/2014/main" id="{55D0C779-F23A-40CE-B4C7-842A10085F59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1EFAB719-B3C2-4520-AFF9-4A06F169DB2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511" name="Rectangle"/>
          <p:cNvSpPr/>
          <p:nvPr/>
        </p:nvSpPr>
        <p:spPr>
          <a:xfrm>
            <a:off x="5815052" y="401865"/>
            <a:ext cx="5927511" cy="60034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97FC80-1304-44AF-BD9E-CFB8D3B37C9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1B60A262-0CE7-4C6B-B734-0B0EA0F1A4A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B80F0DD-816B-4E0B-8C85-8413DB8C70E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8484E-3DC4-4DF6-819B-FDDDA6F166CB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4966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itle Text">
            <a:extLst>
              <a:ext uri="{FF2B5EF4-FFF2-40B4-BE49-F238E27FC236}">
                <a16:creationId xmlns:a16="http://schemas.microsoft.com/office/drawing/2014/main" id="{72D74CEB-BA0A-43F1-82CE-384185B612C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0F55EEA-3D90-42F4-B8D0-30E0374D2A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CCC3F4-FFF1-4AD9-8605-41A61B8926C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Square">
            <a:extLst>
              <a:ext uri="{FF2B5EF4-FFF2-40B4-BE49-F238E27FC236}">
                <a16:creationId xmlns:a16="http://schemas.microsoft.com/office/drawing/2014/main" id="{C4A06178-9ACC-4082-8329-4A9A59924508}"/>
              </a:ext>
            </a:extLst>
          </p:cNvPr>
          <p:cNvSpPr/>
          <p:nvPr userDrawn="1"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922DFF-5663-40DE-9B54-4149EDB7740E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E5997704-33EA-4D7D-8B55-E46DD22168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C3544D4-6B59-4B11-BC0E-2FD48F693641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2FEA03-1122-4C36-ACD1-DA42FB8A03DC}"/>
              </a:ext>
            </a:extLst>
          </p:cNvPr>
          <p:cNvSpPr/>
          <p:nvPr userDrawn="1"/>
        </p:nvSpPr>
        <p:spPr>
          <a:xfrm>
            <a:off x="483010" y="6562504"/>
            <a:ext cx="176683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Department or Event Name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3D4EB9-5CAF-4B81-91EA-AD490D0B13E4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2139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Light Blue 2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6A03358B-3D25-4A6D-85E6-54F235A943A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BE803-6659-42A1-A094-94B9EF7ABC2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0D4B91-0BAF-46EC-9A7C-9D57C3224A9C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30B67E-5DCD-4732-882C-64DE9CC86419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18" name="Image" descr="Image">
            <a:extLst>
              <a:ext uri="{FF2B5EF4-FFF2-40B4-BE49-F238E27FC236}">
                <a16:creationId xmlns:a16="http://schemas.microsoft.com/office/drawing/2014/main" id="{2F70C4FC-7A21-4AFA-8998-5EAB2E19CB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D716FF7-59F9-414F-85CD-8E23360D2B4C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4273EB-E90B-42F7-8CE9-6A1713A08CA3}"/>
              </a:ext>
            </a:extLst>
          </p:cNvPr>
          <p:cNvSpPr/>
          <p:nvPr userDrawn="1"/>
        </p:nvSpPr>
        <p:spPr>
          <a:xfrm>
            <a:off x="483010" y="6562504"/>
            <a:ext cx="176683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Department or Event Name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8FFA5B-1C6A-486A-A0FE-02206FCDC54A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75472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5">
            <a:extLst>
              <a:ext uri="{FF2B5EF4-FFF2-40B4-BE49-F238E27FC236}">
                <a16:creationId xmlns:a16="http://schemas.microsoft.com/office/drawing/2014/main" id="{F0529FEA-BEC4-644C-94EE-601D5BED26F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680995965"/>
              </p:ext>
            </p:extLst>
          </p:nvPr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itle Text">
            <a:extLst>
              <a:ext uri="{FF2B5EF4-FFF2-40B4-BE49-F238E27FC236}">
                <a16:creationId xmlns:a16="http://schemas.microsoft.com/office/drawing/2014/main" id="{0EA1A176-5931-41CA-86D5-15FC4398AA4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7652EB-8B2D-46CC-B147-89A4C26A2D8F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A480A-B7B4-498C-9868-A91E2651D429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11187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 userDrawn="1"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A778AB-F6EC-4101-87E6-DECF7944E661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E1F1A6-2FDF-4676-B713-F9746DD3A821}"/>
              </a:ext>
            </a:extLst>
          </p:cNvPr>
          <p:cNvSpPr/>
          <p:nvPr userDrawn="1"/>
        </p:nvSpPr>
        <p:spPr>
          <a:xfrm>
            <a:off x="483010" y="6562504"/>
            <a:ext cx="176683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Department or Event Name</a:t>
            </a: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E400EEBB-F912-40CA-A759-DEFE1516497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</p:spTree>
    <p:extLst>
      <p:ext uri="{BB962C8B-B14F-4D97-AF65-F5344CB8AC3E}">
        <p14:creationId xmlns:p14="http://schemas.microsoft.com/office/powerpoint/2010/main" val="4037652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 Light Blue">
    <p:bg>
      <p:bgPr>
        <a:solidFill>
          <a:srgbClr val="00C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 userDrawn="1"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E60B70-5DF3-4398-B558-301661292DFC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2CF38D-B95A-4CD5-8F7D-86EA9C709AD4}"/>
              </a:ext>
            </a:extLst>
          </p:cNvPr>
          <p:cNvSpPr/>
          <p:nvPr userDrawn="1"/>
        </p:nvSpPr>
        <p:spPr>
          <a:xfrm>
            <a:off x="483010" y="6562504"/>
            <a:ext cx="176683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Department or Event Name</a:t>
            </a: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93B25211-1805-4C17-8545-7E02A678639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</p:spTree>
    <p:extLst>
      <p:ext uri="{BB962C8B-B14F-4D97-AF65-F5344CB8AC3E}">
        <p14:creationId xmlns:p14="http://schemas.microsoft.com/office/powerpoint/2010/main" val="3163764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DA94F2D-B7BD-4CE9-A606-F00802F313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9949" y="2409775"/>
            <a:ext cx="4080108" cy="15213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12354-342E-49CE-8E3C-E078BBE1ADF7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21D8AD-9194-4DBA-8221-7F294421810B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0831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07484" y="220134"/>
            <a:ext cx="10972800" cy="575733"/>
          </a:xfrm>
        </p:spPr>
        <p:txBody>
          <a:bodyPr/>
          <a:lstStyle>
            <a:lvl1pPr>
              <a:defRPr sz="3200" b="1" i="0" baseline="0">
                <a:solidFill>
                  <a:srgbClr val="003C71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607484" y="880534"/>
            <a:ext cx="10970683" cy="5291668"/>
          </a:xfrm>
        </p:spPr>
        <p:txBody>
          <a:bodyPr/>
          <a:lstStyle>
            <a:lvl1pPr>
              <a:spcBef>
                <a:spcPts val="800"/>
              </a:spcBef>
              <a:defRPr baseline="0">
                <a:solidFill>
                  <a:srgbClr val="0071C5"/>
                </a:solidFill>
              </a:defRPr>
            </a:lvl1pPr>
            <a:lvl2pPr>
              <a:spcBef>
                <a:spcPts val="400"/>
              </a:spcBef>
              <a:defRPr sz="2133"/>
            </a:lvl2pPr>
            <a:lvl3pPr>
              <a:spcBef>
                <a:spcPts val="400"/>
              </a:spcBef>
              <a:defRPr sz="1867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467"/>
            </a:lvl5pPr>
          </a:lstStyle>
          <a:p>
            <a:pPr lvl="0"/>
            <a:r>
              <a:rPr lang="en-US" dirty="0"/>
              <a:t>Intro sentence or paragraph has no bullet and is Intel Blue</a:t>
            </a:r>
          </a:p>
          <a:p>
            <a:pPr lvl="1"/>
            <a:r>
              <a:rPr lang="en-US" dirty="0"/>
              <a:t>Intel Clear bullet one</a:t>
            </a:r>
          </a:p>
          <a:p>
            <a:pPr lvl="2"/>
            <a:r>
              <a:rPr lang="en-US" dirty="0"/>
              <a:t>Intel Clear sub-bullet</a:t>
            </a:r>
          </a:p>
          <a:p>
            <a:pPr lvl="3"/>
            <a:r>
              <a:rPr lang="en-US" dirty="0"/>
              <a:t>Intel Clear fourth level</a:t>
            </a:r>
          </a:p>
          <a:p>
            <a:pPr lvl="4"/>
            <a:r>
              <a:rPr lang="en-US" dirty="0"/>
              <a:t>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17807027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0437283" y="10954"/>
            <a:ext cx="5998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1210902" y="20480"/>
            <a:ext cx="750381" cy="246221"/>
          </a:xfrm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  <a:lvl2pPr marL="344488" indent="0">
              <a:buNone/>
              <a:defRPr sz="1000">
                <a:solidFill>
                  <a:schemeClr val="bg1"/>
                </a:solidFill>
              </a:defRPr>
            </a:lvl2pPr>
            <a:lvl3pPr marL="688975" indent="0">
              <a:buNone/>
              <a:defRPr sz="1000">
                <a:solidFill>
                  <a:schemeClr val="bg1"/>
                </a:solidFill>
              </a:defRPr>
            </a:lvl3pPr>
            <a:lvl4pPr marL="1143000" indent="0">
              <a:buNone/>
              <a:defRPr sz="1000">
                <a:solidFill>
                  <a:schemeClr val="bg1"/>
                </a:solidFill>
              </a:defRPr>
            </a:lvl4pPr>
            <a:lvl5pPr marL="1497012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9099457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0437283" y="10954"/>
            <a:ext cx="5998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1210902" y="20480"/>
            <a:ext cx="750381" cy="246221"/>
          </a:xfrm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  <a:lvl2pPr marL="344488" indent="0">
              <a:buNone/>
              <a:defRPr sz="1000">
                <a:solidFill>
                  <a:schemeClr val="bg1"/>
                </a:solidFill>
              </a:defRPr>
            </a:lvl2pPr>
            <a:lvl3pPr marL="688975" indent="0">
              <a:buNone/>
              <a:defRPr sz="1000">
                <a:solidFill>
                  <a:schemeClr val="bg1"/>
                </a:solidFill>
              </a:defRPr>
            </a:lvl3pPr>
            <a:lvl4pPr marL="1143000" indent="0">
              <a:buNone/>
              <a:defRPr sz="1000">
                <a:solidFill>
                  <a:schemeClr val="bg1"/>
                </a:solidFill>
              </a:defRPr>
            </a:lvl4pPr>
            <a:lvl5pPr marL="1497012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9652818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0437283" y="10954"/>
            <a:ext cx="5998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1210902" y="20480"/>
            <a:ext cx="750381" cy="246221"/>
          </a:xfrm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  <a:lvl2pPr marL="344488" indent="0">
              <a:buNone/>
              <a:defRPr sz="1000">
                <a:solidFill>
                  <a:schemeClr val="bg1"/>
                </a:solidFill>
              </a:defRPr>
            </a:lvl2pPr>
            <a:lvl3pPr marL="688975" indent="0">
              <a:buNone/>
              <a:defRPr sz="1000">
                <a:solidFill>
                  <a:schemeClr val="bg1"/>
                </a:solidFill>
              </a:defRPr>
            </a:lvl3pPr>
            <a:lvl4pPr marL="1143000" indent="0">
              <a:buNone/>
              <a:defRPr sz="1000">
                <a:solidFill>
                  <a:schemeClr val="bg1"/>
                </a:solidFill>
              </a:defRPr>
            </a:lvl4pPr>
            <a:lvl5pPr marL="1497012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1023756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0437283" y="10954"/>
            <a:ext cx="5998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1210902" y="20480"/>
            <a:ext cx="750381" cy="246221"/>
          </a:xfrm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  <a:lvl2pPr marL="344488" indent="0">
              <a:buNone/>
              <a:defRPr sz="1000">
                <a:solidFill>
                  <a:schemeClr val="bg1"/>
                </a:solidFill>
              </a:defRPr>
            </a:lvl2pPr>
            <a:lvl3pPr marL="688975" indent="0">
              <a:buNone/>
              <a:defRPr sz="1000">
                <a:solidFill>
                  <a:schemeClr val="bg1"/>
                </a:solidFill>
              </a:defRPr>
            </a:lvl3pPr>
            <a:lvl4pPr marL="1143000" indent="0">
              <a:buNone/>
              <a:defRPr sz="1000">
                <a:solidFill>
                  <a:schemeClr val="bg1"/>
                </a:solidFill>
              </a:defRPr>
            </a:lvl4pPr>
            <a:lvl5pPr marL="1497012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1713649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0437283" y="10954"/>
            <a:ext cx="5998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1210902" y="20480"/>
            <a:ext cx="750381" cy="246221"/>
          </a:xfrm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  <a:lvl2pPr marL="344488" indent="0">
              <a:buNone/>
              <a:defRPr sz="1000">
                <a:solidFill>
                  <a:schemeClr val="bg1"/>
                </a:solidFill>
              </a:defRPr>
            </a:lvl2pPr>
            <a:lvl3pPr marL="688975" indent="0">
              <a:buNone/>
              <a:defRPr sz="1000">
                <a:solidFill>
                  <a:schemeClr val="bg1"/>
                </a:solidFill>
              </a:defRPr>
            </a:lvl3pPr>
            <a:lvl4pPr marL="1143000" indent="0">
              <a:buNone/>
              <a:defRPr sz="1000">
                <a:solidFill>
                  <a:schemeClr val="bg1"/>
                </a:solidFill>
              </a:defRPr>
            </a:lvl4pPr>
            <a:lvl5pPr marL="1497012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94344162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0437283" y="10954"/>
            <a:ext cx="5998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1210902" y="20480"/>
            <a:ext cx="750381" cy="246221"/>
          </a:xfrm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  <a:lvl2pPr marL="344488" indent="0">
              <a:buNone/>
              <a:defRPr sz="1000">
                <a:solidFill>
                  <a:schemeClr val="bg1"/>
                </a:solidFill>
              </a:defRPr>
            </a:lvl2pPr>
            <a:lvl3pPr marL="688975" indent="0">
              <a:buNone/>
              <a:defRPr sz="1000">
                <a:solidFill>
                  <a:schemeClr val="bg1"/>
                </a:solidFill>
              </a:defRPr>
            </a:lvl3pPr>
            <a:lvl4pPr marL="1143000" indent="0">
              <a:buNone/>
              <a:defRPr sz="1000">
                <a:solidFill>
                  <a:schemeClr val="bg1"/>
                </a:solidFill>
              </a:defRPr>
            </a:lvl4pPr>
            <a:lvl5pPr marL="1497012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7752322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432516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63136" y="6432516"/>
            <a:ext cx="2844800" cy="365125"/>
          </a:xfrm>
          <a:prstGeom prst="rect">
            <a:avLst/>
          </a:prstGeo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4798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07484" y="316386"/>
            <a:ext cx="10972800" cy="575733"/>
          </a:xfrm>
        </p:spPr>
        <p:txBody>
          <a:bodyPr/>
          <a:lstStyle>
            <a:lvl1pPr>
              <a:defRPr sz="3200" b="1" i="0" baseline="0">
                <a:solidFill>
                  <a:srgbClr val="003C71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607484" y="1097280"/>
            <a:ext cx="10970683" cy="5171174"/>
          </a:xfrm>
        </p:spPr>
        <p:txBody>
          <a:bodyPr/>
          <a:lstStyle>
            <a:lvl1pPr>
              <a:spcBef>
                <a:spcPts val="800"/>
              </a:spcBef>
              <a:defRPr baseline="0">
                <a:solidFill>
                  <a:srgbClr val="0071C5"/>
                </a:solidFill>
              </a:defRPr>
            </a:lvl1pPr>
            <a:lvl2pPr>
              <a:spcBef>
                <a:spcPts val="400"/>
              </a:spcBef>
              <a:defRPr sz="2133"/>
            </a:lvl2pPr>
            <a:lvl3pPr>
              <a:spcBef>
                <a:spcPts val="400"/>
              </a:spcBef>
              <a:defRPr sz="1867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467"/>
            </a:lvl5pPr>
          </a:lstStyle>
          <a:p>
            <a:pPr lvl="0"/>
            <a:r>
              <a:rPr lang="en-US" dirty="0"/>
              <a:t>Intro sentence or paragraph has no bullet and is Intel Blue</a:t>
            </a:r>
          </a:p>
          <a:p>
            <a:pPr lvl="1"/>
            <a:r>
              <a:rPr lang="en-US" dirty="0"/>
              <a:t>Intel Clear bullet one</a:t>
            </a:r>
          </a:p>
          <a:p>
            <a:pPr lvl="2"/>
            <a:r>
              <a:rPr lang="en-US" dirty="0"/>
              <a:t>Intel Clear sub-bullet</a:t>
            </a:r>
          </a:p>
          <a:p>
            <a:pPr lvl="3"/>
            <a:r>
              <a:rPr lang="en-US" dirty="0"/>
              <a:t>Intel Clear fourth level</a:t>
            </a:r>
          </a:p>
          <a:p>
            <a:pPr lvl="4"/>
            <a:r>
              <a:rPr lang="en-US" dirty="0"/>
              <a:t>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237417226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07484" y="316386"/>
            <a:ext cx="10972800" cy="575733"/>
          </a:xfrm>
        </p:spPr>
        <p:txBody>
          <a:bodyPr/>
          <a:lstStyle>
            <a:lvl1pPr>
              <a:defRPr sz="3200" b="1" i="0" baseline="0">
                <a:solidFill>
                  <a:srgbClr val="003C71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</p:spTree>
    <p:extLst>
      <p:ext uri="{BB962C8B-B14F-4D97-AF65-F5344CB8AC3E}">
        <p14:creationId xmlns:p14="http://schemas.microsoft.com/office/powerpoint/2010/main" val="273618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C80E488-8534-4743-924A-62CA17A7A192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27ABEE-91E1-420E-AD52-066ECB7CBDFC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592915" y="1524000"/>
            <a:ext cx="10972801" cy="472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r>
              <a:rPr lang="en-US"/>
              <a:t>Body copy Intel clear light 28 point</a:t>
            </a:r>
          </a:p>
          <a:p>
            <a:pPr lvl="1"/>
            <a:r>
              <a:rPr lang="en-US"/>
              <a:t>Sub Bullet one 24 point</a:t>
            </a:r>
          </a:p>
          <a:p>
            <a:pPr lvl="2"/>
            <a:r>
              <a:rPr lang="en-US"/>
              <a:t>Sub Bullet two 20 point</a:t>
            </a:r>
          </a:p>
          <a:p>
            <a:pPr lvl="3"/>
            <a:r>
              <a:rPr lang="en-US"/>
              <a:t>Sub Bullet three 18 point</a:t>
            </a:r>
          </a:p>
          <a:p>
            <a:pPr lvl="4"/>
            <a:r>
              <a:rPr lang="en-US"/>
              <a:t>Sub Bullet four 16 point</a:t>
            </a:r>
            <a:br>
              <a:rPr lang="en-US"/>
            </a:br>
            <a:endParaRPr lang="en-US"/>
          </a:p>
          <a:p>
            <a:pPr lvl="2"/>
            <a:endParaRPr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592916" y="571500"/>
            <a:ext cx="10972801" cy="883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/>
          <a:p>
            <a:r>
              <a:rPr lang="en-US"/>
              <a:t>40pt Intel Clear Light Text Goes Here</a:t>
            </a: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33D527-2918-4752-A9A7-0BDBA010BB39}"/>
              </a:ext>
            </a:extLst>
          </p:cNvPr>
          <p:cNvSpPr/>
          <p:nvPr userDrawn="1"/>
        </p:nvSpPr>
        <p:spPr>
          <a:xfrm>
            <a:off x="5428991" y="6562504"/>
            <a:ext cx="1334020" cy="245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 b="1">
                <a:solidFill>
                  <a:schemeClr val="bg2"/>
                </a:solidFill>
              </a:rPr>
              <a:t>Intel Confidential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CACDBB0-BD96-446C-8F63-C56E4AA10FBD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520E06-BF98-49FF-91DB-15EBE855DD9E}"/>
              </a:ext>
            </a:extLst>
          </p:cNvPr>
          <p:cNvSpPr txBox="1"/>
          <p:nvPr userDrawn="1"/>
        </p:nvSpPr>
        <p:spPr>
          <a:xfrm>
            <a:off x="11785787" y="6550298"/>
            <a:ext cx="350326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200" b="0" i="0" u="none" strike="noStrike" cap="none" spc="0" normalizeH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200" b="0" i="0" u="none" strike="noStrike" cap="none" spc="0" normalizeH="0" baseline="0" err="1">
              <a:ln>
                <a:noFill/>
              </a:ln>
              <a:solidFill>
                <a:schemeClr val="bg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23D9F5-D4BB-415A-8BA0-735BB92BA83A}"/>
              </a:ext>
            </a:extLst>
          </p:cNvPr>
          <p:cNvSpPr/>
          <p:nvPr userDrawn="1"/>
        </p:nvSpPr>
        <p:spPr>
          <a:xfrm>
            <a:off x="483010" y="6511109"/>
            <a:ext cx="2459328" cy="2592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1200" b="1">
                <a:solidFill>
                  <a:schemeClr val="tx1"/>
                </a:solidFill>
                <a:latin typeface="+mj-lt"/>
              </a:rPr>
              <a:t>CQR | </a:t>
            </a:r>
            <a:r>
              <a:rPr lang="en-US" sz="1100" b="1">
                <a:solidFill>
                  <a:schemeClr val="tx1"/>
                </a:solidFill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</a:rPr>
              <a:t>Customer Quality &amp; Reliability</a:t>
            </a:r>
            <a:endParaRPr lang="en-US" sz="1200" b="1">
              <a:solidFill>
                <a:schemeClr val="tx1"/>
              </a:solidFill>
              <a:latin typeface="Intel Clear Light" panose="020B0404020203020204" pitchFamily="34" charset="0"/>
              <a:ea typeface="Intel Clear Light" panose="020B0404020203020204" pitchFamily="34" charset="0"/>
              <a:cs typeface="Intel Clear Light" panose="020B0404020203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67" r:id="rId2"/>
    <p:sldLayoutId id="2147483766" r:id="rId3"/>
    <p:sldLayoutId id="2147483756" r:id="rId4"/>
    <p:sldLayoutId id="2147483759" r:id="rId5"/>
    <p:sldLayoutId id="2147483755" r:id="rId6"/>
    <p:sldLayoutId id="2147483722" r:id="rId7"/>
    <p:sldLayoutId id="2147483778" r:id="rId8"/>
    <p:sldLayoutId id="2147483724" r:id="rId9"/>
    <p:sldLayoutId id="2147483751" r:id="rId10"/>
    <p:sldLayoutId id="2147483730" r:id="rId11"/>
    <p:sldLayoutId id="2147483754" r:id="rId12"/>
    <p:sldLayoutId id="2147483761" r:id="rId13"/>
    <p:sldLayoutId id="2147483749" r:id="rId14"/>
    <p:sldLayoutId id="2147483746" r:id="rId15"/>
    <p:sldLayoutId id="2147483747" r:id="rId16"/>
    <p:sldLayoutId id="2147483769" r:id="rId17"/>
    <p:sldLayoutId id="2147483768" r:id="rId18"/>
    <p:sldLayoutId id="2147483723" r:id="rId19"/>
    <p:sldLayoutId id="2147483770" r:id="rId20"/>
    <p:sldLayoutId id="2147483771" r:id="rId21"/>
    <p:sldLayoutId id="2147483772" r:id="rId22"/>
    <p:sldLayoutId id="2147483745" r:id="rId23"/>
    <p:sldLayoutId id="2147483780" r:id="rId24"/>
    <p:sldLayoutId id="2147483744" r:id="rId25"/>
    <p:sldLayoutId id="2147483750" r:id="rId26"/>
    <p:sldLayoutId id="2147483784" r:id="rId27"/>
    <p:sldLayoutId id="2147483785" r:id="rId28"/>
    <p:sldLayoutId id="2147483786" r:id="rId29"/>
    <p:sldLayoutId id="2147483787" r:id="rId30"/>
    <p:sldLayoutId id="2147483788" r:id="rId31"/>
    <p:sldLayoutId id="2147483789" r:id="rId32"/>
    <p:sldLayoutId id="2147483790" r:id="rId33"/>
    <p:sldLayoutId id="2147483791" r:id="rId34"/>
    <p:sldLayoutId id="2147483792" r:id="rId35"/>
    <p:sldLayoutId id="2147483793" r:id="rId3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2pPr>
      <a:lvl3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3pPr>
      <a:lvl4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4pPr>
      <a:lvl5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5pPr>
      <a:lvl6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9pPr>
    </p:titleStyle>
    <p:bodyStyle>
      <a:lvl1pPr marL="228600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Wingdings" pitchFamily="2" charset="2"/>
        <a:buChar char="§"/>
        <a:tabLst/>
        <a:defRPr sz="2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431800" marR="0" indent="-2032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4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2pPr>
      <a:lvl3pPr marL="686594" marR="0" indent="-197644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3pPr>
      <a:lvl4pPr marL="919957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4pPr>
      <a:lvl5pPr marL="1148557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5pPr>
      <a:lvl6pPr marL="0" marR="0" indent="5715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6858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8001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9144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9pPr>
    </p:bodyStyle>
    <p:otherStyle>
      <a:lvl1pPr marL="0" marR="0" indent="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1pPr>
      <a:lvl2pPr marL="0" marR="0" indent="2286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2pPr>
      <a:lvl3pPr marL="0" marR="0" indent="4572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3pPr>
      <a:lvl4pPr marL="0" marR="0" indent="6858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4pPr>
      <a:lvl5pPr marL="0" marR="0" indent="9144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5pPr>
      <a:lvl6pPr marL="0" marR="0" indent="11430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6pPr>
      <a:lvl7pPr marL="0" marR="0" indent="13716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7pPr>
      <a:lvl8pPr marL="0" marR="0" indent="16002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8pPr>
      <a:lvl9pPr marL="0" marR="0" indent="18288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9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microsoft.com/office/2007/relationships/hdphoto" Target="../media/hdphoto2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5.xml"/><Relationship Id="rId6" Type="http://schemas.microsoft.com/office/2007/relationships/hdphoto" Target="../media/hdphoto4.wdp"/><Relationship Id="rId5" Type="http://schemas.openxmlformats.org/officeDocument/2006/relationships/image" Target="../media/image15.png"/><Relationship Id="rId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" Target="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7" Type="http://schemas.openxmlformats.org/officeDocument/2006/relationships/slide" Target="slide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openxmlformats.org/officeDocument/2006/relationships/image" Target="../media/image27.jpeg"/><Relationship Id="rId7" Type="http://schemas.openxmlformats.org/officeDocument/2006/relationships/hyperlink" Target="https://www.youtube.com/watch?v=wIx2GSRjII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hyperlink" Target="https://www.dell.com/support/kbdoc/en-sg/000063913/dell-emc-poweredge-t440-how-to-remove-and-install-a-system-board-qrl-video" TargetMode="External"/><Relationship Id="rId9" Type="http://schemas.openxmlformats.org/officeDocument/2006/relationships/hyperlink" Target="https://www.dell.com/support/manuals/en-sg/poweredge-r7525/r7525_ism_pub/installing-the-heat-sink?guid=guid-47f03687-0b45-4beb-b001-2f0752eaba2e&amp;lang=en-us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jpeg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3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4.xml"/><Relationship Id="rId5" Type="http://schemas.openxmlformats.org/officeDocument/2006/relationships/slide" Target="slide4.xml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EEC7DE-E617-492E-A4A8-88B42C9C5C8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155C456-D6A3-497D-8683-992CE3DF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Field Observation</a:t>
            </a:r>
            <a:endParaRPr lang="en-MY" sz="4400" dirty="0">
              <a:solidFill>
                <a:srgbClr val="FFFF00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3D8E3BE-2074-4563-BF9C-82B5D103B4B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245620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E4D63-D3B7-4031-97E3-BDEF08547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 Form Factor and Packaging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E59C6-A274-43EC-B177-435ACF0A66F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354238"/>
            <a:ext cx="11010900" cy="4894163"/>
          </a:xfrm>
        </p:spPr>
        <p:txBody>
          <a:bodyPr lIns="0" tIns="0" rIns="0" bIns="0" anchor="t">
            <a:normAutofit lnSpcReduction="10000"/>
          </a:bodyPr>
          <a:lstStyle/>
          <a:p>
            <a:r>
              <a:rPr lang="en-US" sz="2000" dirty="0">
                <a:latin typeface="Intel Clear Light"/>
              </a:rPr>
              <a:t>Need early package FF roadmap/changes update - customer capital cost impact </a:t>
            </a:r>
            <a:endParaRPr lang="en-US" sz="2000" dirty="0"/>
          </a:p>
          <a:p>
            <a:pPr lvl="1"/>
            <a:r>
              <a:rPr lang="en-US" sz="2000" dirty="0">
                <a:latin typeface="Intel Clear Light"/>
              </a:rPr>
              <a:t>FF changed significantly in short period, from Purely (2017 PRQ) </a:t>
            </a:r>
            <a:r>
              <a:rPr lang="en-US" sz="2000" dirty="0">
                <a:latin typeface="Intel Clear Light"/>
                <a:sym typeface="Wingdings" panose="05000000000000000000" pitchFamily="2" charset="2"/>
              </a:rPr>
              <a:t> </a:t>
            </a:r>
            <a:r>
              <a:rPr lang="en-US" sz="2000" dirty="0">
                <a:solidFill>
                  <a:schemeClr val="tx1"/>
                </a:solidFill>
                <a:latin typeface="Intel Clear Light"/>
              </a:rPr>
              <a:t>Eagle Stream (PRQ EO 2021) </a:t>
            </a:r>
            <a:r>
              <a:rPr lang="en-US" sz="2000" dirty="0">
                <a:solidFill>
                  <a:schemeClr val="tx1"/>
                </a:solidFill>
                <a:latin typeface="Intel Clear Light"/>
                <a:sym typeface="Wingdings" panose="05000000000000000000" pitchFamily="2" charset="2"/>
              </a:rPr>
              <a:t> </a:t>
            </a:r>
            <a:r>
              <a:rPr lang="en-US" sz="2000" dirty="0">
                <a:solidFill>
                  <a:schemeClr val="tx1"/>
                </a:solidFill>
                <a:latin typeface="Intel Clear Light"/>
              </a:rPr>
              <a:t>Birch Stream-AP (PRQ EO 2022)</a:t>
            </a:r>
          </a:p>
          <a:p>
            <a:r>
              <a:rPr lang="en-US" sz="2000" dirty="0">
                <a:solidFill>
                  <a:srgbClr val="FF0000"/>
                </a:solidFill>
                <a:latin typeface="Intel Clear Light"/>
              </a:rPr>
              <a:t>Au pad corrosion – multiple triggers, multiple products, multiple customers, multiple MRBs for ~ 10 years and fixes still WIP</a:t>
            </a:r>
          </a:p>
          <a:p>
            <a:pPr lvl="1"/>
            <a:r>
              <a:rPr lang="en-US" sz="2000" dirty="0">
                <a:latin typeface="Intel Clear Light"/>
              </a:rPr>
              <a:t>XEON SP unit selling price between from USD 200 (Bronze) – 10K (Platinum). The product deserved seal pack to stop “external” air pollutants interacting with pad condition/crevice that coherent in the package technology/assembly process. </a:t>
            </a:r>
          </a:p>
          <a:p>
            <a:r>
              <a:rPr lang="en-US" sz="2000" dirty="0">
                <a:latin typeface="Intel Clear Light"/>
              </a:rPr>
              <a:t>Provide pack/shipping options : e.g.  Ship with Thermoform Tray (TFT), JEDEC tray or Tape &amp; Reel (PCH), or CPU w/carrier pre-attached</a:t>
            </a:r>
          </a:p>
          <a:p>
            <a:pPr lvl="1"/>
            <a:r>
              <a:rPr lang="en-US" sz="2000" dirty="0">
                <a:latin typeface="Intel Clear Light"/>
              </a:rPr>
              <a:t>Some customers had been manually transferred PCH from T&amp;R to trays and TFT to hard trays for their </a:t>
            </a:r>
            <a:r>
              <a:rPr lang="en-US" sz="2000" dirty="0" err="1">
                <a:latin typeface="Intel Clear Light"/>
              </a:rPr>
              <a:t>mfg</a:t>
            </a:r>
            <a:r>
              <a:rPr lang="en-US" sz="2000" dirty="0">
                <a:latin typeface="Intel Clear Light"/>
              </a:rPr>
              <a:t> process. </a:t>
            </a:r>
          </a:p>
          <a:p>
            <a:r>
              <a:rPr lang="en-US" sz="2000" dirty="0">
                <a:solidFill>
                  <a:srgbClr val="FF0000"/>
                </a:solidFill>
                <a:latin typeface="Intel Clear Light"/>
              </a:rPr>
              <a:t>Fix marking KIZ, content, FOV, location, optimum font size and ensure documentation in CRD – customer unit traceability and inventory </a:t>
            </a:r>
            <a:r>
              <a:rPr lang="en-US" sz="2000" dirty="0" err="1">
                <a:solidFill>
                  <a:srgbClr val="FF0000"/>
                </a:solidFill>
                <a:latin typeface="Intel Clear Light"/>
              </a:rPr>
              <a:t>mgmt</a:t>
            </a:r>
            <a:r>
              <a:rPr lang="en-US" sz="2000" dirty="0">
                <a:solidFill>
                  <a:srgbClr val="FF0000"/>
                </a:solidFill>
                <a:latin typeface="Intel Clear Light"/>
              </a:rPr>
              <a:t>/control</a:t>
            </a:r>
          </a:p>
        </p:txBody>
      </p:sp>
      <p:sp>
        <p:nvSpPr>
          <p:cNvPr id="4" name="Action Button: Go Forward or Next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1274140F-C8F6-4BEC-A53B-6A441C0218C3}"/>
              </a:ext>
            </a:extLst>
          </p:cNvPr>
          <p:cNvSpPr/>
          <p:nvPr/>
        </p:nvSpPr>
        <p:spPr>
          <a:xfrm>
            <a:off x="7285712" y="5884762"/>
            <a:ext cx="520861" cy="241092"/>
          </a:xfrm>
          <a:prstGeom prst="actionButtonForwardNex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9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95802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E4D63-D3B7-4031-97E3-BDEF08547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PCBA / Rework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E59C6-A274-43EC-B177-435ACF0A66F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ln>
            <a:noFill/>
          </a:ln>
        </p:spPr>
        <p:txBody>
          <a:bodyPr lIns="0" tIns="0" rIns="0" bIns="0" anchor="t">
            <a:normAutofit fontScale="92500" lnSpcReduction="10000"/>
          </a:bodyPr>
          <a:lstStyle/>
          <a:p>
            <a:r>
              <a:rPr lang="en-US" sz="2200" dirty="0">
                <a:solidFill>
                  <a:srgbClr val="FF0000"/>
                </a:solidFill>
                <a:latin typeface="Intel Clear Light"/>
              </a:rPr>
              <a:t>Customer expects 1 SMT recipe to assemble socket for all suppliers and SPC controls. </a:t>
            </a:r>
            <a:endParaRPr lang="en-US" sz="2200" dirty="0">
              <a:solidFill>
                <a:srgbClr val="FF0000"/>
              </a:solidFill>
            </a:endParaRPr>
          </a:p>
          <a:p>
            <a:pPr lvl="1"/>
            <a:r>
              <a:rPr lang="en-US" sz="2200" dirty="0">
                <a:latin typeface="Intel Clear Light"/>
              </a:rPr>
              <a:t>Need socket supplier transparency for SMT, equivalent output CTF and shipping tray (e.g. quality control/SPC, # socket/tray, orientation &amp; </a:t>
            </a:r>
            <a:r>
              <a:rPr lang="en-US" sz="2200" dirty="0" err="1">
                <a:latin typeface="Intel Clear Light"/>
              </a:rPr>
              <a:t>etc</a:t>
            </a:r>
            <a:r>
              <a:rPr lang="en-US" sz="2200" dirty="0">
                <a:latin typeface="Intel Clear Light"/>
              </a:rPr>
              <a:t>)</a:t>
            </a:r>
          </a:p>
          <a:p>
            <a:pPr lvl="2"/>
            <a:r>
              <a:rPr lang="en-US" sz="2200" dirty="0">
                <a:latin typeface="Intel Clear Light"/>
              </a:rPr>
              <a:t>Socket tray CTF pilot in socket P4 and P5. Continue to keep proliferate. </a:t>
            </a:r>
          </a:p>
          <a:p>
            <a:pPr lvl="1"/>
            <a:r>
              <a:rPr lang="en-US" sz="2200" dirty="0">
                <a:latin typeface="Intel Clear Light"/>
              </a:rPr>
              <a:t>Recent supplier excursion : FIT skt-P4 T0 DP, LOTES skt-P0 sys int failure, FIT skt-P4 Bolster out of spec, FIT skt-V0 lever height and load plate angle issue </a:t>
            </a:r>
          </a:p>
          <a:p>
            <a:pPr lvl="2"/>
            <a:r>
              <a:rPr lang="en-US" sz="2200" dirty="0">
                <a:latin typeface="Intel Clear Light"/>
              </a:rPr>
              <a:t>some data showed process drifted, beyond LCL/UCL established during DG1.0</a:t>
            </a:r>
          </a:p>
          <a:p>
            <a:r>
              <a:rPr lang="en-US" sz="2200" dirty="0">
                <a:latin typeface="Intel Clear Light"/>
              </a:rPr>
              <a:t>RT and HT warpage requirement/control concerns for socket and PCB</a:t>
            </a:r>
            <a:endParaRPr lang="en-US" sz="2200" dirty="0"/>
          </a:p>
          <a:p>
            <a:pPr lvl="1"/>
            <a:r>
              <a:rPr lang="en-US" sz="2200" dirty="0">
                <a:latin typeface="Intel Clear Light"/>
              </a:rPr>
              <a:t>Rumors of competitor product (SP5) to be launched with Low Temperature Solder (LTS) and another competitor with Thermal Chip Bonding for PCB assembly</a:t>
            </a:r>
          </a:p>
          <a:p>
            <a:pPr lvl="1"/>
            <a:r>
              <a:rPr lang="en-US" sz="2200" dirty="0">
                <a:latin typeface="Intel Clear Light"/>
              </a:rPr>
              <a:t>Also, there are customers looking forward for feasibility of LTS and/or Thermal Chip Bonding in Intel Server products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074133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12D2F-FE63-4CFC-AB3C-4C793D08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LM, Socket cover, PnP tool, FTT</a:t>
            </a:r>
            <a:endParaRPr lang="en-MY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13494-9A17-490F-92D7-913D4DEB9DBD}"/>
              </a:ext>
            </a:extLst>
          </p:cNvPr>
          <p:cNvSpPr>
            <a:spLocks noGrp="1"/>
          </p:cNvSpPr>
          <p:nvPr>
            <p:ph sz="quarter" idx="28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Customer expects – automation friendly, easy to install, easy to uninstall (</a:t>
            </a:r>
            <a:r>
              <a:rPr lang="zh-TW" altLang="en-US" sz="2200" dirty="0"/>
              <a:t>易装，易拆</a:t>
            </a:r>
            <a:r>
              <a:rPr lang="en-US" altLang="zh-TW" sz="2200" dirty="0"/>
              <a:t>)</a:t>
            </a:r>
          </a:p>
          <a:p>
            <a:r>
              <a:rPr lang="en-US" sz="2200" dirty="0"/>
              <a:t>FTT – POR for Purely but Non- POR for skt-P4/</a:t>
            </a:r>
            <a:r>
              <a:rPr lang="en-US" sz="2200" dirty="0" err="1"/>
              <a:t>skt</a:t>
            </a:r>
            <a:r>
              <a:rPr lang="en-US" sz="2200" dirty="0"/>
              <a:t>-E and broken PEEK nuts issue</a:t>
            </a:r>
          </a:p>
          <a:p>
            <a:pPr lvl="1"/>
            <a:r>
              <a:rPr lang="en-US" sz="2200" dirty="0"/>
              <a:t>Strong demand from varies customers due to their dual POR process (automated test fixture for 2S and manual test for 4S/8S, test fixture cost approx. USD40K). </a:t>
            </a:r>
          </a:p>
          <a:p>
            <a:pPr lvl="1"/>
            <a:r>
              <a:rPr lang="en-US" sz="2200" dirty="0"/>
              <a:t>Broken PEEK nuts due to torque driver hitting PEEK nuts and/or torque with an angle</a:t>
            </a:r>
          </a:p>
          <a:p>
            <a:pPr lvl="1"/>
            <a:r>
              <a:rPr lang="en-US" sz="2200" dirty="0"/>
              <a:t>FTT/system assembly tool is being developed (non-POR support) to address customer concerns – need to include as POR for future platform for automation</a:t>
            </a:r>
          </a:p>
          <a:p>
            <a:r>
              <a:rPr lang="en-US" sz="2200" dirty="0"/>
              <a:t>Socket cover  – customer expects automation friendly and easy to install/ uninstall. </a:t>
            </a:r>
          </a:p>
          <a:p>
            <a:r>
              <a:rPr lang="en-US" sz="2200" dirty="0"/>
              <a:t>Other CPU PnP / PHLM / ILM / carrier concept</a:t>
            </a:r>
            <a:endParaRPr lang="en-MY" sz="2200" dirty="0"/>
          </a:p>
        </p:txBody>
      </p:sp>
      <p:sp>
        <p:nvSpPr>
          <p:cNvPr id="4" name="Action Button: Go Forward or Next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225FD9E-4757-4AD3-ACC0-D84321F392F8}"/>
              </a:ext>
            </a:extLst>
          </p:cNvPr>
          <p:cNvSpPr/>
          <p:nvPr/>
        </p:nvSpPr>
        <p:spPr>
          <a:xfrm>
            <a:off x="10885403" y="4358098"/>
            <a:ext cx="520861" cy="241092"/>
          </a:xfrm>
          <a:prstGeom prst="actionButtonForwardNex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9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Action Button: Go Forward or Next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1BDAB097-1E15-4FBE-9044-DD4BC167EF8B}"/>
              </a:ext>
            </a:extLst>
          </p:cNvPr>
          <p:cNvSpPr/>
          <p:nvPr/>
        </p:nvSpPr>
        <p:spPr>
          <a:xfrm>
            <a:off x="11099769" y="4835579"/>
            <a:ext cx="520861" cy="241092"/>
          </a:xfrm>
          <a:prstGeom prst="actionButtonForwardNex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9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Action Button: Go Forward or Next 6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175BE633-ECAC-4558-90F1-DEF2F081E093}"/>
              </a:ext>
            </a:extLst>
          </p:cNvPr>
          <p:cNvSpPr/>
          <p:nvPr/>
        </p:nvSpPr>
        <p:spPr>
          <a:xfrm>
            <a:off x="6567448" y="5326181"/>
            <a:ext cx="520861" cy="241092"/>
          </a:xfrm>
          <a:prstGeom prst="actionButtonForwardNex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9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89464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227A7-7B53-4874-9507-9E86913D7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Up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868229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04E7373-61FD-470F-9CFE-DE6578FEE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Purley</a:t>
            </a:r>
            <a:r>
              <a:rPr lang="en-US" dirty="0"/>
              <a:t> Processor (Cascade Lake)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8837" y="1528557"/>
            <a:ext cx="3598536" cy="4682537"/>
          </a:xfrm>
          <a:prstGeom prst="rect">
            <a:avLst/>
          </a:prstGeom>
        </p:spPr>
      </p:pic>
      <p:cxnSp>
        <p:nvCxnSpPr>
          <p:cNvPr id="10" name="Straight Arrow Connector 9"/>
          <p:cNvCxnSpPr>
            <a:cxnSpLocks/>
          </p:cNvCxnSpPr>
          <p:nvPr/>
        </p:nvCxnSpPr>
        <p:spPr>
          <a:xfrm flipH="1" flipV="1">
            <a:off x="1778752" y="4364514"/>
            <a:ext cx="430977" cy="704263"/>
          </a:xfrm>
          <a:prstGeom prst="straightConnector1">
            <a:avLst/>
          </a:prstGeom>
          <a:ln w="28575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59375" y="5176125"/>
            <a:ext cx="3037888" cy="7019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467" dirty="0">
                <a:solidFill>
                  <a:srgbClr val="FF0000"/>
                </a:solidFill>
              </a:rPr>
              <a:t>2DID Matrix (PPIN + SSPEC)</a:t>
            </a:r>
          </a:p>
          <a:p>
            <a:pPr>
              <a:spcBef>
                <a:spcPts val="0"/>
              </a:spcBef>
            </a:pPr>
            <a:r>
              <a:rPr lang="en-US" sz="1467" dirty="0">
                <a:solidFill>
                  <a:srgbClr val="FF0000"/>
                </a:solidFill>
              </a:rPr>
              <a:t>Dimensions: 2.4mm x5.2mm – alternate traceability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74B3F6-10F5-437E-AD04-DE30167CF7B4}"/>
              </a:ext>
            </a:extLst>
          </p:cNvPr>
          <p:cNvSpPr txBox="1"/>
          <p:nvPr/>
        </p:nvSpPr>
        <p:spPr>
          <a:xfrm>
            <a:off x="606044" y="985531"/>
            <a:ext cx="3447165" cy="45469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67" dirty="0">
                <a:solidFill>
                  <a:srgbClr val="003C71"/>
                </a:solidFill>
              </a:rPr>
              <a:t>Example of Marking on Package Top Side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2DB966-D539-4A49-9D5B-E91DF8673D29}"/>
              </a:ext>
            </a:extLst>
          </p:cNvPr>
          <p:cNvSpPr txBox="1"/>
          <p:nvPr/>
        </p:nvSpPr>
        <p:spPr>
          <a:xfrm>
            <a:off x="4601999" y="1009140"/>
            <a:ext cx="3561065" cy="51616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67" dirty="0">
                <a:solidFill>
                  <a:srgbClr val="003C71"/>
                </a:solidFill>
              </a:rPr>
              <a:t>Example of Marking on Package Bottom Side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5082136-C0B9-44A5-BEFC-06B0ED1DAA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4486260" y="1508592"/>
            <a:ext cx="3561064" cy="4769283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B18B65BB-D199-41D6-AC3A-74725565AFC3}"/>
              </a:ext>
            </a:extLst>
          </p:cNvPr>
          <p:cNvSpPr/>
          <p:nvPr/>
        </p:nvSpPr>
        <p:spPr>
          <a:xfrm>
            <a:off x="5312313" y="2795513"/>
            <a:ext cx="1940380" cy="2107513"/>
          </a:xfrm>
          <a:prstGeom prst="ellipse">
            <a:avLst/>
          </a:prstGeom>
          <a:noFill/>
          <a:ln w="57150">
            <a:solidFill>
              <a:srgbClr val="66F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0F4DF88-CAC1-4AD6-97C9-60703685F7B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8333800" y="764421"/>
            <a:ext cx="2958051" cy="3139440"/>
          </a:xfrm>
          <a:prstGeom prst="ellipse">
            <a:avLst/>
          </a:prstGeom>
          <a:ln w="63500" cap="rnd">
            <a:solidFill>
              <a:srgbClr val="66FF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AB25A32-3AA2-434D-8E76-DC98515907EB}"/>
              </a:ext>
            </a:extLst>
          </p:cNvPr>
          <p:cNvSpPr txBox="1"/>
          <p:nvPr/>
        </p:nvSpPr>
        <p:spPr>
          <a:xfrm>
            <a:off x="9239695" y="251071"/>
            <a:ext cx="1318137" cy="276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/>
              <a:t>SN (00042)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9CD7533-5EC3-48F8-9E98-E79A595E2815}"/>
              </a:ext>
            </a:extLst>
          </p:cNvPr>
          <p:cNvCxnSpPr>
            <a:cxnSpLocks/>
          </p:cNvCxnSpPr>
          <p:nvPr/>
        </p:nvCxnSpPr>
        <p:spPr>
          <a:xfrm flipH="1">
            <a:off x="9166607" y="528006"/>
            <a:ext cx="290204" cy="832163"/>
          </a:xfrm>
          <a:prstGeom prst="straightConnector1">
            <a:avLst/>
          </a:prstGeom>
          <a:ln w="28575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8F1B37A8-200F-4A06-A5B8-5B8AB6F3C87A}"/>
              </a:ext>
            </a:extLst>
          </p:cNvPr>
          <p:cNvSpPr/>
          <p:nvPr/>
        </p:nvSpPr>
        <p:spPr>
          <a:xfrm>
            <a:off x="8393103" y="3986930"/>
            <a:ext cx="2668064" cy="16459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97331B-F1D8-4E9F-8729-06D1EFE805CA}"/>
              </a:ext>
            </a:extLst>
          </p:cNvPr>
          <p:cNvSpPr txBox="1"/>
          <p:nvPr/>
        </p:nvSpPr>
        <p:spPr>
          <a:xfrm>
            <a:off x="10073103" y="4093778"/>
            <a:ext cx="1332417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400" dirty="0"/>
              <a:t>FPO (L928F212)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257C5AE-9B11-44A1-93B2-66D4368E2E7E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10557834" y="3093929"/>
            <a:ext cx="181478" cy="999849"/>
          </a:xfrm>
          <a:prstGeom prst="straightConnector1">
            <a:avLst/>
          </a:prstGeom>
          <a:ln w="28575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0407B59-10BD-45D4-ACB8-75C50261AA08}"/>
              </a:ext>
            </a:extLst>
          </p:cNvPr>
          <p:cNvCxnSpPr>
            <a:cxnSpLocks/>
          </p:cNvCxnSpPr>
          <p:nvPr/>
        </p:nvCxnSpPr>
        <p:spPr>
          <a:xfrm flipV="1">
            <a:off x="8532910" y="2431633"/>
            <a:ext cx="320563" cy="1171668"/>
          </a:xfrm>
          <a:prstGeom prst="straightConnector1">
            <a:avLst/>
          </a:prstGeom>
          <a:ln w="28575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90A5A30-0B46-4F84-BAE6-BB996079FA9E}"/>
              </a:ext>
            </a:extLst>
          </p:cNvPr>
          <p:cNvSpPr txBox="1"/>
          <p:nvPr/>
        </p:nvSpPr>
        <p:spPr>
          <a:xfrm>
            <a:off x="8131074" y="3693590"/>
            <a:ext cx="1455848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400" dirty="0"/>
              <a:t>2DID Matrix</a:t>
            </a:r>
          </a:p>
          <a:p>
            <a:pPr>
              <a:spcBef>
                <a:spcPts val="0"/>
              </a:spcBef>
            </a:pPr>
            <a:r>
              <a:rPr lang="en-US" sz="1400" dirty="0"/>
              <a:t>FPO + SN</a:t>
            </a:r>
          </a:p>
          <a:p>
            <a:pPr>
              <a:spcBef>
                <a:spcPts val="0"/>
              </a:spcBef>
            </a:pPr>
            <a:r>
              <a:rPr lang="en-US" sz="1400" dirty="0"/>
              <a:t>(L928F21200042)</a:t>
            </a:r>
          </a:p>
          <a:p>
            <a:pPr>
              <a:spcBef>
                <a:spcPts val="0"/>
              </a:spcBef>
            </a:pPr>
            <a:endParaRPr lang="en-US"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BE8320D-5D60-4FB4-8303-019807D918DD}"/>
              </a:ext>
            </a:extLst>
          </p:cNvPr>
          <p:cNvSpPr txBox="1"/>
          <p:nvPr/>
        </p:nvSpPr>
        <p:spPr>
          <a:xfrm>
            <a:off x="8103798" y="4537703"/>
            <a:ext cx="1353013" cy="117836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67" dirty="0">
                <a:solidFill>
                  <a:srgbClr val="003C71"/>
                </a:solidFill>
              </a:rPr>
              <a:t>(Traceability purpose  -- content is different to top side 2DIDs)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6CE5DF7-ABB5-44B6-B126-AD419726EC04}"/>
              </a:ext>
            </a:extLst>
          </p:cNvPr>
          <p:cNvCxnSpPr>
            <a:cxnSpLocks/>
          </p:cNvCxnSpPr>
          <p:nvPr/>
        </p:nvCxnSpPr>
        <p:spPr>
          <a:xfrm flipV="1">
            <a:off x="7241996" y="2905760"/>
            <a:ext cx="1066753" cy="577749"/>
          </a:xfrm>
          <a:prstGeom prst="straightConnector1">
            <a:avLst/>
          </a:prstGeom>
          <a:ln w="76200">
            <a:solidFill>
              <a:srgbClr val="66FF3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6C9B5CE-5D92-41EA-B659-A82D72C1F3EC}"/>
              </a:ext>
            </a:extLst>
          </p:cNvPr>
          <p:cNvSpPr txBox="1"/>
          <p:nvPr/>
        </p:nvSpPr>
        <p:spPr>
          <a:xfrm>
            <a:off x="-26217" y="5897162"/>
            <a:ext cx="649179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Pin 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5687E6-D77F-4A58-9EC1-0FFEA6AC4EF0}"/>
              </a:ext>
            </a:extLst>
          </p:cNvPr>
          <p:cNvSpPr txBox="1"/>
          <p:nvPr/>
        </p:nvSpPr>
        <p:spPr>
          <a:xfrm>
            <a:off x="3883370" y="1025588"/>
            <a:ext cx="649179" cy="276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/>
              <a:t>Pin 1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8DB5BA5-D329-4D0F-888E-FDE1F41D1387}"/>
              </a:ext>
            </a:extLst>
          </p:cNvPr>
          <p:cNvCxnSpPr>
            <a:cxnSpLocks/>
          </p:cNvCxnSpPr>
          <p:nvPr/>
        </p:nvCxnSpPr>
        <p:spPr>
          <a:xfrm flipV="1">
            <a:off x="2663217" y="1691839"/>
            <a:ext cx="1027228" cy="632261"/>
          </a:xfrm>
          <a:prstGeom prst="straightConnector1">
            <a:avLst/>
          </a:prstGeom>
          <a:ln w="28575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BFAD059-C8E5-4BA2-999C-766D701BB74C}"/>
              </a:ext>
            </a:extLst>
          </p:cNvPr>
          <p:cNvSpPr txBox="1"/>
          <p:nvPr/>
        </p:nvSpPr>
        <p:spPr>
          <a:xfrm>
            <a:off x="1533455" y="2392955"/>
            <a:ext cx="1898189" cy="53159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67" dirty="0">
                <a:solidFill>
                  <a:srgbClr val="FF0000"/>
                </a:solidFill>
              </a:rPr>
              <a:t>Standard 2DID Matrix for traceability  (random numbers)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2218F65-C660-4B58-83DE-6B4B3385B1DB}"/>
              </a:ext>
            </a:extLst>
          </p:cNvPr>
          <p:cNvSpPr/>
          <p:nvPr/>
        </p:nvSpPr>
        <p:spPr>
          <a:xfrm>
            <a:off x="8532910" y="1836257"/>
            <a:ext cx="633697" cy="595375"/>
          </a:xfrm>
          <a:prstGeom prst="ellipse">
            <a:avLst/>
          </a:prstGeom>
          <a:noFill/>
          <a:ln w="381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44803D6-743A-4631-B97C-B16CC62E9924}"/>
              </a:ext>
            </a:extLst>
          </p:cNvPr>
          <p:cNvSpPr/>
          <p:nvPr/>
        </p:nvSpPr>
        <p:spPr>
          <a:xfrm>
            <a:off x="7988005" y="3586994"/>
            <a:ext cx="1580521" cy="940791"/>
          </a:xfrm>
          <a:prstGeom prst="ellipse">
            <a:avLst/>
          </a:prstGeom>
          <a:noFill/>
          <a:ln w="381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DC5278-533C-42D2-8C18-FEA98EBB2BC9}"/>
              </a:ext>
            </a:extLst>
          </p:cNvPr>
          <p:cNvSpPr/>
          <p:nvPr/>
        </p:nvSpPr>
        <p:spPr>
          <a:xfrm>
            <a:off x="9469404" y="5839910"/>
            <a:ext cx="2358338" cy="2862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MY" sz="1400" dirty="0">
                <a:solidFill>
                  <a:srgbClr val="FF0000"/>
                </a:solidFill>
              </a:rPr>
              <a:t>FPO = Finish Processing Order</a:t>
            </a:r>
          </a:p>
        </p:txBody>
      </p:sp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3D9A91C9-ACB4-4AB2-8FF8-F9D9C605FA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223818"/>
              </p:ext>
            </p:extLst>
          </p:nvPr>
        </p:nvGraphicFramePr>
        <p:xfrm>
          <a:off x="9456811" y="4405806"/>
          <a:ext cx="2668064" cy="13985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7793">
                  <a:extLst>
                    <a:ext uri="{9D8B030D-6E8A-4147-A177-3AD203B41FA5}">
                      <a16:colId xmlns:a16="http://schemas.microsoft.com/office/drawing/2014/main" val="2824609615"/>
                    </a:ext>
                  </a:extLst>
                </a:gridCol>
                <a:gridCol w="1670271">
                  <a:extLst>
                    <a:ext uri="{9D8B030D-6E8A-4147-A177-3AD203B41FA5}">
                      <a16:colId xmlns:a16="http://schemas.microsoft.com/office/drawing/2014/main" val="2634522188"/>
                    </a:ext>
                  </a:extLst>
                </a:gridCol>
              </a:tblGrid>
              <a:tr h="362189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L (1</a:t>
                      </a:r>
                      <a:r>
                        <a:rPr lang="en-US" sz="1400" baseline="30000" dirty="0"/>
                        <a:t>st</a:t>
                      </a:r>
                      <a:r>
                        <a:rPr lang="en-US" sz="1400" dirty="0"/>
                        <a:t> col)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Factory Code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227435"/>
                  </a:ext>
                </a:extLst>
              </a:tr>
              <a:tr h="252871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9 (2</a:t>
                      </a:r>
                      <a:r>
                        <a:rPr lang="en-US" sz="1400" baseline="30000" dirty="0"/>
                        <a:t>nd</a:t>
                      </a:r>
                      <a:r>
                        <a:rPr lang="en-US" sz="1400" dirty="0"/>
                        <a:t> col)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2019 - Year of manufactured date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576612"/>
                  </a:ext>
                </a:extLst>
              </a:tr>
              <a:tr h="252871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28 (3</a:t>
                      </a:r>
                      <a:r>
                        <a:rPr lang="en-US" sz="1400" baseline="30000" dirty="0"/>
                        <a:t>rd</a:t>
                      </a:r>
                      <a:r>
                        <a:rPr lang="en-US" sz="1400" dirty="0"/>
                        <a:t> – 4</a:t>
                      </a:r>
                      <a:r>
                        <a:rPr lang="en-US" sz="1400" baseline="30000" dirty="0"/>
                        <a:t>th</a:t>
                      </a:r>
                      <a:r>
                        <a:rPr lang="en-US" sz="1400" dirty="0"/>
                        <a:t> col)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Intel </a:t>
                      </a:r>
                      <a:r>
                        <a:rPr lang="en-US" sz="1400" dirty="0" err="1"/>
                        <a:t>ww</a:t>
                      </a:r>
                      <a:r>
                        <a:rPr lang="en-US" sz="1400" dirty="0"/>
                        <a:t> of manufactured date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406858"/>
                  </a:ext>
                </a:extLst>
              </a:tr>
            </a:tbl>
          </a:graphicData>
        </a:graphic>
      </p:graphicFrame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35AB9B4-D725-45D5-90A3-ED3033D0B94A}"/>
              </a:ext>
            </a:extLst>
          </p:cNvPr>
          <p:cNvCxnSpPr>
            <a:cxnSpLocks/>
            <a:stCxn id="50" idx="2"/>
          </p:cNvCxnSpPr>
          <p:nvPr/>
        </p:nvCxnSpPr>
        <p:spPr>
          <a:xfrm>
            <a:off x="4207960" y="1302523"/>
            <a:ext cx="394039" cy="499452"/>
          </a:xfrm>
          <a:prstGeom prst="straightConnector1">
            <a:avLst/>
          </a:prstGeom>
          <a:ln w="28575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6214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390387-C95C-45EE-A3CE-D7AA92CA9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Whitley/Cedar Island Processor (Ice Lake &amp; Cooper Lake)</a:t>
            </a:r>
            <a:endParaRPr lang="en-MY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D4F1080-6601-42FC-BB30-0947F2DA19C7}"/>
              </a:ext>
            </a:extLst>
          </p:cNvPr>
          <p:cNvGraphicFramePr>
            <a:graphicFrameLocks noGrp="1"/>
          </p:cNvGraphicFramePr>
          <p:nvPr/>
        </p:nvGraphicFramePr>
        <p:xfrm>
          <a:off x="3808730" y="1691640"/>
          <a:ext cx="4272037" cy="34747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827842">
                  <a:extLst>
                    <a:ext uri="{9D8B030D-6E8A-4147-A177-3AD203B41FA5}">
                      <a16:colId xmlns:a16="http://schemas.microsoft.com/office/drawing/2014/main" val="2232752110"/>
                    </a:ext>
                  </a:extLst>
                </a:gridCol>
                <a:gridCol w="2444195">
                  <a:extLst>
                    <a:ext uri="{9D8B030D-6E8A-4147-A177-3AD203B41FA5}">
                      <a16:colId xmlns:a16="http://schemas.microsoft.com/office/drawing/2014/main" val="253089536"/>
                    </a:ext>
                  </a:extLst>
                </a:gridCol>
              </a:tblGrid>
              <a:tr h="219390">
                <a:tc gridSpan="2">
                  <a:txBody>
                    <a:bodyPr/>
                    <a:lstStyle/>
                    <a:p>
                      <a:pPr marL="0" marR="0" lvl="0" indent="0" algn="l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Top side Marking</a:t>
                      </a:r>
                      <a:endParaRPr lang="en-MY" sz="140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MY" sz="140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8839705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Line 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Marking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069565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GRP1LINE1 (on IHS)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Intel Swirl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8901601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GRP1LINE2 (on IHS)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INTEL CONFIDENTIAL {Intel Brand and Brand Modifier}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4033527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GRP1LINE3 (on IHS)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N/A {SKU level/Naming}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0122051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GRP1LINE4 (on IHS)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SPEC SPEED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263304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GRP1LINE5 (on IHS)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FPO  </a:t>
                      </a:r>
                      <a:r>
                        <a:rPr lang="en-MY" sz="1400" dirty="0" err="1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eX</a:t>
                      </a:r>
                      <a:endParaRPr lang="en-MY" sz="140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9830434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GRP1LINE6 (on IHS)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2D Mark {PPIN+SPEC}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7116829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GRP1LINE8 (on IHS)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Pin1 Mark on Lid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920720"/>
                  </a:ext>
                </a:extLst>
              </a:tr>
              <a:tr h="491371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2D Mark/ VID </a:t>
                      </a:r>
                    </a:p>
                    <a:p>
                      <a:pPr algn="l"/>
                      <a:r>
                        <a:rPr lang="en-US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(on substrate)</a:t>
                      </a:r>
                      <a:endParaRPr lang="en-MY" sz="140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Random number  (normally used for FACR)</a:t>
                      </a:r>
                      <a:endParaRPr lang="en-MY" sz="140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4592125"/>
                  </a:ext>
                </a:extLst>
              </a:tr>
            </a:tbl>
          </a:graphicData>
        </a:graphic>
      </p:graphicFrame>
      <p:pic>
        <p:nvPicPr>
          <p:cNvPr id="30" name="Picture 29">
            <a:extLst>
              <a:ext uri="{FF2B5EF4-FFF2-40B4-BE49-F238E27FC236}">
                <a16:creationId xmlns:a16="http://schemas.microsoft.com/office/drawing/2014/main" id="{53950D3D-7681-4ECA-8B6B-B19586B13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824" y="1707247"/>
            <a:ext cx="2984442" cy="4063537"/>
          </a:xfrm>
          <a:prstGeom prst="rect">
            <a:avLst/>
          </a:prstGeom>
        </p:spPr>
      </p:pic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F0E98E95-B3A0-46AE-B7BA-7331A8DA60A1}"/>
              </a:ext>
            </a:extLst>
          </p:cNvPr>
          <p:cNvGraphicFramePr>
            <a:graphicFrameLocks noGrp="1"/>
          </p:cNvGraphicFramePr>
          <p:nvPr/>
        </p:nvGraphicFramePr>
        <p:xfrm>
          <a:off x="3805655" y="5231504"/>
          <a:ext cx="4272037" cy="6096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827842">
                  <a:extLst>
                    <a:ext uri="{9D8B030D-6E8A-4147-A177-3AD203B41FA5}">
                      <a16:colId xmlns:a16="http://schemas.microsoft.com/office/drawing/2014/main" val="2879440638"/>
                    </a:ext>
                  </a:extLst>
                </a:gridCol>
                <a:gridCol w="2444195">
                  <a:extLst>
                    <a:ext uri="{9D8B030D-6E8A-4147-A177-3AD203B41FA5}">
                      <a16:colId xmlns:a16="http://schemas.microsoft.com/office/drawing/2014/main" val="519738633"/>
                    </a:ext>
                  </a:extLst>
                </a:gridCol>
              </a:tblGrid>
              <a:tr h="219390">
                <a:tc gridSpan="2"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Bottom side Marking</a:t>
                      </a:r>
                      <a:endParaRPr lang="en-MY" sz="140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MY" sz="140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8147753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2DID (2D Matrix</a:t>
                      </a:r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FPO+ SN (Random number)</a:t>
                      </a:r>
                      <a:endParaRPr lang="en-MY" sz="140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666325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B6064404-FD66-448C-A38A-240C83E17829}"/>
              </a:ext>
            </a:extLst>
          </p:cNvPr>
          <p:cNvSpPr txBox="1"/>
          <p:nvPr/>
        </p:nvSpPr>
        <p:spPr>
          <a:xfrm>
            <a:off x="433888" y="1161544"/>
            <a:ext cx="3447165" cy="45469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67" dirty="0">
                <a:solidFill>
                  <a:srgbClr val="003C71"/>
                </a:solidFill>
              </a:rPr>
              <a:t>Example of Marking on Package Top Side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23D5509-60EB-4FF0-8F8F-2BB47D0B07A2}"/>
              </a:ext>
            </a:extLst>
          </p:cNvPr>
          <p:cNvSpPr/>
          <p:nvPr/>
        </p:nvSpPr>
        <p:spPr>
          <a:xfrm>
            <a:off x="6112934" y="3777343"/>
            <a:ext cx="270933" cy="217441"/>
          </a:xfrm>
          <a:prstGeom prst="ellipse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382061B-1650-4BA7-9891-99225766D9D2}"/>
              </a:ext>
            </a:extLst>
          </p:cNvPr>
          <p:cNvSpPr txBox="1"/>
          <p:nvPr/>
        </p:nvSpPr>
        <p:spPr>
          <a:xfrm>
            <a:off x="8531000" y="1228028"/>
            <a:ext cx="3447165" cy="45469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67" dirty="0">
                <a:solidFill>
                  <a:srgbClr val="003C71"/>
                </a:solidFill>
              </a:rPr>
              <a:t>Example of Marking on Package Bottom Side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019A0B-5528-4E48-869D-D0342B1F7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804743" y="2344732"/>
            <a:ext cx="4192808" cy="305961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867616C-3E15-40D6-A0A4-92773F82350B}"/>
              </a:ext>
            </a:extLst>
          </p:cNvPr>
          <p:cNvGrpSpPr/>
          <p:nvPr/>
        </p:nvGrpSpPr>
        <p:grpSpPr>
          <a:xfrm>
            <a:off x="8531000" y="2563479"/>
            <a:ext cx="2748144" cy="3810656"/>
            <a:chOff x="8531000" y="2563479"/>
            <a:chExt cx="2748144" cy="3810656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E2C1085-E390-4F2B-A7A8-277150A51C1F}"/>
                </a:ext>
              </a:extLst>
            </p:cNvPr>
            <p:cNvCxnSpPr/>
            <p:nvPr/>
          </p:nvCxnSpPr>
          <p:spPr>
            <a:xfrm rot="10800000" flipH="1">
              <a:off x="10797353" y="5934643"/>
              <a:ext cx="381965" cy="300942"/>
            </a:xfrm>
            <a:prstGeom prst="straightConnector1">
              <a:avLst/>
            </a:prstGeom>
            <a:noFill/>
            <a:ln w="25400" cap="flat">
              <a:solidFill>
                <a:srgbClr val="FF0000"/>
              </a:solidFill>
              <a:prstDash val="solid"/>
              <a:miter lim="400000"/>
              <a:tailEnd type="stealth" w="lg" len="lg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4B40218-64CD-42C2-BDEF-47D2BE758C51}"/>
                </a:ext>
              </a:extLst>
            </p:cNvPr>
            <p:cNvCxnSpPr>
              <a:cxnSpLocks/>
            </p:cNvCxnSpPr>
            <p:nvPr/>
          </p:nvCxnSpPr>
          <p:spPr>
            <a:xfrm>
              <a:off x="9188463" y="2992586"/>
              <a:ext cx="214649" cy="394643"/>
            </a:xfrm>
            <a:prstGeom prst="straightConnector1">
              <a:avLst/>
            </a:prstGeom>
            <a:noFill/>
            <a:ln w="25400" cap="flat">
              <a:solidFill>
                <a:srgbClr val="FF0000"/>
              </a:solidFill>
              <a:prstDash val="solid"/>
              <a:miter lim="400000"/>
              <a:tailEnd type="stealth" w="lg" len="lg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0871DBA-DDCB-40A8-B15A-0083831402D7}"/>
                </a:ext>
              </a:extLst>
            </p:cNvPr>
            <p:cNvSpPr txBox="1"/>
            <p:nvPr/>
          </p:nvSpPr>
          <p:spPr>
            <a:xfrm>
              <a:off x="8531000" y="4261325"/>
              <a:ext cx="755077" cy="307777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C0C0C0"/>
                  </a:highlight>
                  <a:uFillTx/>
                  <a:latin typeface="+mn-lt"/>
                  <a:ea typeface="+mn-ea"/>
                  <a:cs typeface="+mn-cs"/>
                  <a:sym typeface="Helvetica Neue"/>
                </a:rPr>
                <a:t>2DID</a:t>
              </a:r>
              <a:endParaRPr kumimoji="0" lang="en-MY" sz="2000" b="0" i="0" u="none" strike="noStrike" cap="none" spc="0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C0C0C0"/>
                </a:highlight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A701D459-D48C-48EA-91EE-5790214146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08538" y="3816337"/>
              <a:ext cx="494574" cy="431717"/>
            </a:xfrm>
            <a:prstGeom prst="straightConnector1">
              <a:avLst/>
            </a:prstGeom>
            <a:noFill/>
            <a:ln w="25400" cap="flat">
              <a:solidFill>
                <a:srgbClr val="FF0000"/>
              </a:solidFill>
              <a:prstDash val="solid"/>
              <a:miter lim="400000"/>
              <a:tailEnd type="stealth" w="lg" len="lg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26D40C7A-BBB1-4CDC-A3A7-350FED05CE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85789" y="3995397"/>
              <a:ext cx="411565" cy="387259"/>
            </a:xfrm>
            <a:prstGeom prst="straightConnector1">
              <a:avLst/>
            </a:prstGeom>
            <a:noFill/>
            <a:ln w="25400" cap="flat">
              <a:solidFill>
                <a:srgbClr val="FF0000"/>
              </a:solidFill>
              <a:prstDash val="solid"/>
              <a:miter lim="400000"/>
              <a:tailEnd type="stealth" w="lg" len="lg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53A49EE-D369-47AF-B141-F2913B512077}"/>
                </a:ext>
              </a:extLst>
            </p:cNvPr>
            <p:cNvSpPr txBox="1"/>
            <p:nvPr/>
          </p:nvSpPr>
          <p:spPr>
            <a:xfrm>
              <a:off x="9657858" y="6066358"/>
              <a:ext cx="121642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Pin 1 Mark</a:t>
              </a:r>
              <a:endParaRPr kumimoji="0" lang="en-MY" sz="2000" b="0" i="0" u="none" strike="noStrike" cap="none" spc="0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FCBDE36-BE4C-4DDD-BAB9-6D34210F498D}"/>
                </a:ext>
              </a:extLst>
            </p:cNvPr>
            <p:cNvSpPr txBox="1"/>
            <p:nvPr/>
          </p:nvSpPr>
          <p:spPr>
            <a:xfrm>
              <a:off x="8531000" y="2563479"/>
              <a:ext cx="1744224" cy="615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C0C0C0"/>
                  </a:highlight>
                  <a:uFillTx/>
                  <a:latin typeface="+mn-lt"/>
                  <a:ea typeface="+mn-ea"/>
                  <a:cs typeface="+mn-cs"/>
                  <a:sym typeface="Helvetica Neue"/>
                </a:rPr>
                <a:t>Serial Number </a:t>
              </a:r>
            </a:p>
            <a:p>
              <a:pPr marL="0" marR="0" indent="0" algn="l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C0C0C0"/>
                  </a:highlight>
                  <a:uFillTx/>
                  <a:latin typeface="+mn-lt"/>
                  <a:ea typeface="+mn-ea"/>
                  <a:cs typeface="+mn-cs"/>
                  <a:sym typeface="Helvetica Neue"/>
                </a:rPr>
                <a:t>(SN)</a:t>
              </a:r>
              <a:endParaRPr kumimoji="0" lang="en-MY" sz="2000" b="0" i="0" u="none" strike="noStrike" cap="none" spc="0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C0C0C0"/>
                </a:highlight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4AE82D8-F192-4FAB-8EAA-A87B498A6DFC}"/>
                </a:ext>
              </a:extLst>
            </p:cNvPr>
            <p:cNvSpPr txBox="1"/>
            <p:nvPr/>
          </p:nvSpPr>
          <p:spPr>
            <a:xfrm>
              <a:off x="10524067" y="4310103"/>
              <a:ext cx="755077" cy="307777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C0C0C0"/>
                  </a:highlight>
                  <a:uFillTx/>
                  <a:latin typeface="+mn-lt"/>
                  <a:ea typeface="+mn-ea"/>
                  <a:cs typeface="+mn-cs"/>
                  <a:sym typeface="Helvetica Neue"/>
                </a:rPr>
                <a:t>FPO</a:t>
              </a:r>
              <a:endParaRPr kumimoji="0" lang="en-MY" sz="2000" b="0" i="0" u="none" strike="noStrike" cap="none" spc="0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C0C0C0"/>
                </a:highlight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A17BB4DD-E6F9-4D98-A325-B61FF99B8F3F}"/>
              </a:ext>
            </a:extLst>
          </p:cNvPr>
          <p:cNvSpPr/>
          <p:nvPr/>
        </p:nvSpPr>
        <p:spPr>
          <a:xfrm>
            <a:off x="3623375" y="5279455"/>
            <a:ext cx="4593525" cy="940791"/>
          </a:xfrm>
          <a:prstGeom prst="ellipse">
            <a:avLst/>
          </a:prstGeom>
          <a:noFill/>
          <a:ln w="381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37171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41DEA1C-1B07-411C-959A-0F3F0A6E9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104966"/>
              </p:ext>
            </p:extLst>
          </p:nvPr>
        </p:nvGraphicFramePr>
        <p:xfrm>
          <a:off x="3805016" y="1649197"/>
          <a:ext cx="4272037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827842">
                  <a:extLst>
                    <a:ext uri="{9D8B030D-6E8A-4147-A177-3AD203B41FA5}">
                      <a16:colId xmlns:a16="http://schemas.microsoft.com/office/drawing/2014/main" val="2152805026"/>
                    </a:ext>
                  </a:extLst>
                </a:gridCol>
                <a:gridCol w="2444195">
                  <a:extLst>
                    <a:ext uri="{9D8B030D-6E8A-4147-A177-3AD203B41FA5}">
                      <a16:colId xmlns:a16="http://schemas.microsoft.com/office/drawing/2014/main" val="2789103158"/>
                    </a:ext>
                  </a:extLst>
                </a:gridCol>
              </a:tblGrid>
              <a:tr h="219390">
                <a:tc gridSpan="2">
                  <a:txBody>
                    <a:bodyPr/>
                    <a:lstStyle/>
                    <a:p>
                      <a:pPr marL="0" marR="0" lvl="0" indent="0" algn="l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Top side Marking</a:t>
                      </a:r>
                      <a:endParaRPr lang="en-MY" sz="1400" dirty="0">
                        <a:solidFill>
                          <a:schemeClr val="bg1"/>
                        </a:solidFill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lnL w="12700" cap="flat">
                      <a:noFill/>
                      <a:prstDash val="solid"/>
                      <a:miter lim="400000"/>
                    </a:lnL>
                    <a:lnR w="12700" cap="flat">
                      <a:noFill/>
                      <a:prstDash val="solid"/>
                      <a:miter lim="400000"/>
                    </a:lnR>
                    <a:lnT w="12700" cap="flat">
                      <a:noFill/>
                      <a:prstDash val="solid"/>
                      <a:miter lim="400000"/>
                    </a:lnT>
                    <a:lnB w="12700" cap="flat">
                      <a:noFill/>
                      <a:prstDash val="solid"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MY" sz="140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1143100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Line </a:t>
                      </a:r>
                    </a:p>
                  </a:txBody>
                  <a:tcPr anchor="ctr">
                    <a:lnL w="12700" cap="flat">
                      <a:noFill/>
                      <a:prstDash val="solid"/>
                      <a:miter lim="400000"/>
                    </a:lnL>
                    <a:lnR w="12700" cap="flat">
                      <a:noFill/>
                      <a:prstDash val="solid"/>
                      <a:miter lim="400000"/>
                    </a:lnR>
                    <a:lnT w="12700" cap="flat">
                      <a:noFill/>
                      <a:prstDash val="solid"/>
                      <a:miter lim="400000"/>
                    </a:lnT>
                    <a:lnB w="12700" cap="flat">
                      <a:noFill/>
                      <a:prstDash val="solid"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Marking</a:t>
                      </a:r>
                    </a:p>
                  </a:txBody>
                  <a:tcPr anchor="ctr">
                    <a:lnL w="12700" cap="flat">
                      <a:noFill/>
                      <a:prstDash val="solid"/>
                      <a:miter lim="400000"/>
                    </a:lnL>
                    <a:lnR w="12700" cap="flat">
                      <a:noFill/>
                      <a:prstDash val="solid"/>
                      <a:miter lim="400000"/>
                    </a:lnR>
                    <a:lnT w="12700" cap="flat">
                      <a:noFill/>
                      <a:prstDash val="solid"/>
                      <a:miter lim="400000"/>
                    </a:lnT>
                    <a:lnB w="12700" cap="flat">
                      <a:noFill/>
                      <a:prstDash val="solid"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786641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GRP1LINE1 (on IHS)</a:t>
                      </a:r>
                    </a:p>
                  </a:txBody>
                  <a:tcPr anchor="ctr">
                    <a:lnL w="12700" cap="flat">
                      <a:noFill/>
                      <a:prstDash val="solid"/>
                      <a:miter lim="400000"/>
                    </a:lnL>
                    <a:lnR w="12700" cap="flat">
                      <a:noFill/>
                      <a:prstDash val="solid"/>
                      <a:miter lim="400000"/>
                    </a:lnR>
                    <a:lnT w="12700" cap="flat">
                      <a:noFill/>
                      <a:prstDash val="solid"/>
                      <a:miter lim="400000"/>
                    </a:lnT>
                    <a:lnB w="12700" cap="flat">
                      <a:noFill/>
                      <a:prstDash val="solid"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Intel Swirl</a:t>
                      </a:r>
                    </a:p>
                  </a:txBody>
                  <a:tcPr anchor="ctr">
                    <a:lnL w="12700" cap="flat">
                      <a:noFill/>
                      <a:prstDash val="solid"/>
                      <a:miter lim="400000"/>
                    </a:lnL>
                    <a:lnR w="12700" cap="flat">
                      <a:noFill/>
                      <a:prstDash val="solid"/>
                      <a:miter lim="400000"/>
                    </a:lnR>
                    <a:lnT w="12700" cap="flat">
                      <a:noFill/>
                      <a:prstDash val="solid"/>
                      <a:miter lim="400000"/>
                    </a:lnT>
                    <a:lnB w="12700" cap="flat">
                      <a:noFill/>
                      <a:prstDash val="solid"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747778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GRP1LINE2 (on IHS)</a:t>
                      </a:r>
                    </a:p>
                  </a:txBody>
                  <a:tcPr anchor="ctr">
                    <a:lnL w="12700" cap="flat">
                      <a:noFill/>
                      <a:prstDash val="solid"/>
                      <a:miter lim="400000"/>
                    </a:lnL>
                    <a:lnR w="12700" cap="flat">
                      <a:noFill/>
                      <a:prstDash val="solid"/>
                      <a:miter lim="400000"/>
                    </a:lnR>
                    <a:lnT w="12700" cap="flat">
                      <a:noFill/>
                      <a:prstDash val="solid"/>
                      <a:miter lim="400000"/>
                    </a:lnT>
                    <a:lnB w="12700" cap="flat">
                      <a:noFill/>
                      <a:prstDash val="solid"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INTEL CONFIDENTIAL {Intel Brand and Brand Modifier}</a:t>
                      </a:r>
                    </a:p>
                  </a:txBody>
                  <a:tcPr anchor="ctr">
                    <a:lnL w="12700" cap="flat">
                      <a:noFill/>
                      <a:prstDash val="solid"/>
                      <a:miter lim="400000"/>
                    </a:lnL>
                    <a:lnR w="12700" cap="flat">
                      <a:noFill/>
                      <a:prstDash val="solid"/>
                      <a:miter lim="400000"/>
                    </a:lnR>
                    <a:lnT w="12700" cap="flat">
                      <a:noFill/>
                      <a:prstDash val="solid"/>
                      <a:miter lim="400000"/>
                    </a:lnT>
                    <a:lnB w="12700" cap="flat">
                      <a:noFill/>
                      <a:prstDash val="solid"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201879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GRP1LINE3 (on IHS)</a:t>
                      </a:r>
                    </a:p>
                  </a:txBody>
                  <a:tcPr anchor="ctr">
                    <a:lnL w="12700" cap="flat">
                      <a:noFill/>
                      <a:prstDash val="solid"/>
                      <a:miter lim="400000"/>
                    </a:lnL>
                    <a:lnR w="12700" cap="flat">
                      <a:noFill/>
                      <a:prstDash val="solid"/>
                      <a:miter lim="400000"/>
                    </a:lnR>
                    <a:lnT w="12700" cap="flat">
                      <a:noFill/>
                      <a:prstDash val="solid"/>
                      <a:miter lim="400000"/>
                    </a:lnT>
                    <a:lnB w="12700" cap="flat">
                      <a:noFill/>
                      <a:prstDash val="solid"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N/A {SKU level/Naming}</a:t>
                      </a:r>
                    </a:p>
                  </a:txBody>
                  <a:tcPr anchor="ctr">
                    <a:lnL w="12700" cap="flat">
                      <a:noFill/>
                      <a:prstDash val="solid"/>
                      <a:miter lim="400000"/>
                    </a:lnL>
                    <a:lnR w="12700" cap="flat">
                      <a:noFill/>
                      <a:prstDash val="solid"/>
                      <a:miter lim="400000"/>
                    </a:lnR>
                    <a:lnT w="12700" cap="flat">
                      <a:noFill/>
                      <a:prstDash val="solid"/>
                      <a:miter lim="400000"/>
                    </a:lnT>
                    <a:lnB w="12700" cap="flat">
                      <a:noFill/>
                      <a:prstDash val="solid"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299006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GRP1LINE4 (on IHS)</a:t>
                      </a:r>
                    </a:p>
                  </a:txBody>
                  <a:tcPr anchor="ctr">
                    <a:lnL w="12700" cap="flat">
                      <a:noFill/>
                      <a:prstDash val="solid"/>
                      <a:miter lim="400000"/>
                    </a:lnL>
                    <a:lnR w="12700" cap="flat">
                      <a:noFill/>
                      <a:prstDash val="solid"/>
                      <a:miter lim="400000"/>
                    </a:lnR>
                    <a:lnT w="12700" cap="flat">
                      <a:noFill/>
                      <a:prstDash val="solid"/>
                      <a:miter lim="400000"/>
                    </a:lnT>
                    <a:lnB w="12700" cap="flat">
                      <a:noFill/>
                      <a:prstDash val="solid"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QDF4 {SPEC}</a:t>
                      </a:r>
                    </a:p>
                  </a:txBody>
                  <a:tcPr anchor="ctr">
                    <a:lnL w="12700" cap="flat">
                      <a:noFill/>
                      <a:prstDash val="solid"/>
                      <a:miter lim="400000"/>
                    </a:lnL>
                    <a:lnR w="12700" cap="flat">
                      <a:noFill/>
                      <a:prstDash val="solid"/>
                      <a:miter lim="400000"/>
                    </a:lnR>
                    <a:lnT w="12700" cap="flat">
                      <a:noFill/>
                      <a:prstDash val="solid"/>
                      <a:miter lim="400000"/>
                    </a:lnT>
                    <a:lnB w="12700" cap="flat">
                      <a:noFill/>
                      <a:prstDash val="solid"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774299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GRP1LINE5 (on IHS)</a:t>
                      </a:r>
                    </a:p>
                  </a:txBody>
                  <a:tcPr anchor="ctr">
                    <a:lnL w="12700" cap="flat">
                      <a:noFill/>
                      <a:prstDash val="solid"/>
                      <a:miter lim="400000"/>
                    </a:lnL>
                    <a:lnR w="12700" cap="flat">
                      <a:noFill/>
                      <a:prstDash val="solid"/>
                      <a:miter lim="400000"/>
                    </a:lnR>
                    <a:lnT w="12700" cap="flat">
                      <a:noFill/>
                      <a:prstDash val="solid"/>
                      <a:miter lim="400000"/>
                    </a:lnT>
                    <a:lnB w="12700" cap="flat">
                      <a:noFill/>
                      <a:prstDash val="solid"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{FPO} {</a:t>
                      </a:r>
                      <a:r>
                        <a:rPr lang="en-MY" sz="1400" dirty="0" err="1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eX</a:t>
                      </a:r>
                      <a:r>
                        <a:rPr lang="en-MY" sz="1400" dirty="0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}</a:t>
                      </a:r>
                    </a:p>
                  </a:txBody>
                  <a:tcPr anchor="ctr">
                    <a:lnL w="12700" cap="flat">
                      <a:noFill/>
                      <a:prstDash val="solid"/>
                      <a:miter lim="400000"/>
                    </a:lnL>
                    <a:lnR w="12700" cap="flat">
                      <a:noFill/>
                      <a:prstDash val="solid"/>
                      <a:miter lim="400000"/>
                    </a:lnR>
                    <a:lnT w="12700" cap="flat">
                      <a:noFill/>
                      <a:prstDash val="solid"/>
                      <a:miter lim="400000"/>
                    </a:lnT>
                    <a:lnB w="12700" cap="flat">
                      <a:noFill/>
                      <a:prstDash val="solid"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4694339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GRP1LINE6 (on IHS)</a:t>
                      </a:r>
                    </a:p>
                  </a:txBody>
                  <a:tcPr anchor="ctr">
                    <a:lnL w="12700" cap="flat">
                      <a:noFill/>
                      <a:prstDash val="solid"/>
                      <a:miter lim="400000"/>
                    </a:lnL>
                    <a:lnR w="12700" cap="flat">
                      <a:noFill/>
                      <a:prstDash val="solid"/>
                      <a:miter lim="400000"/>
                    </a:lnR>
                    <a:lnT w="12700" cap="flat">
                      <a:noFill/>
                      <a:prstDash val="solid"/>
                      <a:miter lim="400000"/>
                    </a:lnT>
                    <a:lnB w="12700" cap="flat">
                      <a:noFill/>
                      <a:prstDash val="solid"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2D Mark {PPIN+SPEC}</a:t>
                      </a:r>
                    </a:p>
                  </a:txBody>
                  <a:tcPr anchor="ctr">
                    <a:lnL w="12700" cap="flat">
                      <a:noFill/>
                      <a:prstDash val="solid"/>
                      <a:miter lim="400000"/>
                    </a:lnL>
                    <a:lnR w="12700" cap="flat">
                      <a:noFill/>
                      <a:prstDash val="solid"/>
                      <a:miter lim="400000"/>
                    </a:lnR>
                    <a:lnT w="12700" cap="flat">
                      <a:noFill/>
                      <a:prstDash val="solid"/>
                      <a:miter lim="400000"/>
                    </a:lnT>
                    <a:lnB w="12700" cap="flat">
                      <a:noFill/>
                      <a:prstDash val="solid"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309734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GRP1LINE7 (on IHS)</a:t>
                      </a:r>
                    </a:p>
                  </a:txBody>
                  <a:tcPr anchor="ctr">
                    <a:lnL w="12700" cap="flat">
                      <a:noFill/>
                      <a:prstDash val="solid"/>
                      <a:miter lim="400000"/>
                    </a:lnL>
                    <a:lnR w="12700" cap="flat">
                      <a:noFill/>
                      <a:prstDash val="solid"/>
                      <a:miter lim="400000"/>
                    </a:lnR>
                    <a:lnT w="12700" cap="flat">
                      <a:noFill/>
                      <a:prstDash val="solid"/>
                      <a:miter lim="400000"/>
                    </a:lnT>
                    <a:lnB w="12700" cap="flat">
                      <a:noFill/>
                      <a:prstDash val="solid"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Package Carrier Mark (PCM)</a:t>
                      </a:r>
                    </a:p>
                  </a:txBody>
                  <a:tcPr anchor="ctr">
                    <a:lnL w="12700" cap="flat">
                      <a:noFill/>
                      <a:prstDash val="solid"/>
                      <a:miter lim="400000"/>
                    </a:lnL>
                    <a:lnR w="12700" cap="flat">
                      <a:noFill/>
                      <a:prstDash val="solid"/>
                      <a:miter lim="400000"/>
                    </a:lnR>
                    <a:lnT w="12700" cap="flat">
                      <a:noFill/>
                      <a:prstDash val="solid"/>
                      <a:miter lim="400000"/>
                    </a:lnT>
                    <a:lnB w="12700" cap="flat">
                      <a:noFill/>
                      <a:prstDash val="solid"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639894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GRP1LINE8 (on IHS)</a:t>
                      </a:r>
                    </a:p>
                  </a:txBody>
                  <a:tcPr anchor="ctr">
                    <a:lnL w="12700" cap="flat">
                      <a:noFill/>
                      <a:prstDash val="solid"/>
                      <a:miter lim="400000"/>
                    </a:lnL>
                    <a:lnR w="12700" cap="flat">
                      <a:noFill/>
                      <a:prstDash val="solid"/>
                      <a:miter lim="400000"/>
                    </a:lnR>
                    <a:lnT w="12700" cap="flat">
                      <a:noFill/>
                      <a:prstDash val="solid"/>
                      <a:miter lim="400000"/>
                    </a:lnT>
                    <a:lnB w="12700" cap="flat">
                      <a:noFill/>
                      <a:prstDash val="solid"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Pin1 Mark on Lid</a:t>
                      </a:r>
                    </a:p>
                  </a:txBody>
                  <a:tcPr anchor="ctr">
                    <a:lnL w="12700" cap="flat">
                      <a:noFill/>
                      <a:prstDash val="solid"/>
                      <a:miter lim="400000"/>
                    </a:lnL>
                    <a:lnR w="12700" cap="flat">
                      <a:noFill/>
                      <a:prstDash val="solid"/>
                      <a:miter lim="400000"/>
                    </a:lnR>
                    <a:lnT w="12700" cap="flat">
                      <a:noFill/>
                      <a:prstDash val="solid"/>
                      <a:miter lim="400000"/>
                    </a:lnT>
                    <a:lnB w="12700" cap="flat">
                      <a:noFill/>
                      <a:prstDash val="solid"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57708"/>
                  </a:ext>
                </a:extLst>
              </a:tr>
              <a:tr h="491371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2D Mark/ VID 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(on substrate)</a:t>
                      </a:r>
                      <a:endParaRPr lang="en-MY" sz="1400" dirty="0">
                        <a:solidFill>
                          <a:schemeClr val="bg1"/>
                        </a:solidFill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lnL w="12700" cap="flat">
                      <a:noFill/>
                      <a:prstDash val="solid"/>
                      <a:miter lim="400000"/>
                    </a:lnL>
                    <a:lnR w="12700" cap="flat">
                      <a:noFill/>
                      <a:prstDash val="solid"/>
                      <a:miter lim="400000"/>
                    </a:lnR>
                    <a:lnT w="12700" cap="flat">
                      <a:noFill/>
                      <a:prstDash val="solid"/>
                      <a:miter lim="400000"/>
                    </a:lnT>
                    <a:lnB w="12700" cap="flat">
                      <a:noFill/>
                      <a:prstDash val="solid"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Random number  (normally used for FACR)</a:t>
                      </a:r>
                      <a:endParaRPr lang="en-MY" sz="1400" dirty="0">
                        <a:solidFill>
                          <a:schemeClr val="bg1"/>
                        </a:solidFill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lnL w="12700" cap="flat">
                      <a:noFill/>
                      <a:prstDash val="solid"/>
                      <a:miter lim="400000"/>
                    </a:lnL>
                    <a:lnR w="12700" cap="flat">
                      <a:noFill/>
                      <a:prstDash val="solid"/>
                      <a:miter lim="400000"/>
                    </a:lnR>
                    <a:lnT w="12700" cap="flat">
                      <a:noFill/>
                      <a:prstDash val="solid"/>
                      <a:miter lim="400000"/>
                    </a:lnT>
                    <a:lnB w="12700" cap="flat">
                      <a:noFill/>
                      <a:prstDash val="solid"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720130"/>
                  </a:ext>
                </a:extLst>
              </a:tr>
            </a:tbl>
          </a:graphicData>
        </a:graphic>
      </p:graphicFrame>
      <p:sp>
        <p:nvSpPr>
          <p:cNvPr id="18" name="Rectangle 1">
            <a:extLst>
              <a:ext uri="{FF2B5EF4-FFF2-40B4-BE49-F238E27FC236}">
                <a16:creationId xmlns:a16="http://schemas.microsoft.com/office/drawing/2014/main" id="{8488B94F-EDF0-4B1F-BDE0-5D02555E3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8538" y="25606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364D45B5-9907-48CA-BCB2-44B317802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484" y="316386"/>
            <a:ext cx="11453336" cy="575733"/>
          </a:xfrm>
        </p:spPr>
        <p:txBody>
          <a:bodyPr/>
          <a:lstStyle/>
          <a:p>
            <a:r>
              <a:rPr lang="en-US" dirty="0"/>
              <a:t>Sapphire Rapids Processor Marking and Identification</a:t>
            </a:r>
            <a:endParaRPr lang="en-MY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985D721-702A-49FE-A6D5-DD2DAA8AE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393597" y="1839970"/>
            <a:ext cx="4564616" cy="344643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E2B6269-7908-4583-A657-A05E5BBBF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7649358" y="1887280"/>
            <a:ext cx="4696919" cy="3479199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AEC1A65-5D5B-4302-8705-05B3570E635D}"/>
              </a:ext>
            </a:extLst>
          </p:cNvPr>
          <p:cNvCxnSpPr/>
          <p:nvPr/>
        </p:nvCxnSpPr>
        <p:spPr>
          <a:xfrm flipH="1">
            <a:off x="8439868" y="1007866"/>
            <a:ext cx="381965" cy="300942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C422F9C-7C94-4FB9-8A4B-2A0C860D33CF}"/>
              </a:ext>
            </a:extLst>
          </p:cNvPr>
          <p:cNvSpPr txBox="1"/>
          <p:nvPr/>
        </p:nvSpPr>
        <p:spPr>
          <a:xfrm>
            <a:off x="8821833" y="796973"/>
            <a:ext cx="1216424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Pin 1 Mark</a:t>
            </a:r>
            <a:endParaRPr kumimoji="0" lang="en-MY" sz="2000" b="0" i="0" u="none" strike="noStrike" cap="none" spc="0" normalizeH="0" baseline="0" dirty="0" err="1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0D216D7-045C-43DC-BC77-93C226D20DCC}"/>
              </a:ext>
            </a:extLst>
          </p:cNvPr>
          <p:cNvCxnSpPr>
            <a:cxnSpLocks/>
          </p:cNvCxnSpPr>
          <p:nvPr/>
        </p:nvCxnSpPr>
        <p:spPr>
          <a:xfrm flipH="1" flipV="1">
            <a:off x="10478875" y="4012071"/>
            <a:ext cx="374674" cy="2136938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C9D5E1E1-2D5C-40A0-816A-6F5D5ED4A328}"/>
              </a:ext>
            </a:extLst>
          </p:cNvPr>
          <p:cNvSpPr txBox="1"/>
          <p:nvPr/>
        </p:nvSpPr>
        <p:spPr>
          <a:xfrm>
            <a:off x="9594647" y="6167329"/>
            <a:ext cx="2012553" cy="307777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2DID (Must Keep)</a:t>
            </a:r>
            <a:endParaRPr kumimoji="0" lang="en-MY" sz="2000" b="0" i="0" u="none" strike="noStrike" cap="none" spc="0" normalizeH="0" baseline="0" dirty="0" err="1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7EFEBC6-E005-4970-9150-9208E9B5C8EA}"/>
              </a:ext>
            </a:extLst>
          </p:cNvPr>
          <p:cNvSpPr/>
          <p:nvPr/>
        </p:nvSpPr>
        <p:spPr>
          <a:xfrm>
            <a:off x="10038257" y="3429000"/>
            <a:ext cx="749348" cy="583071"/>
          </a:xfrm>
          <a:prstGeom prst="ellipse">
            <a:avLst/>
          </a:prstGeom>
          <a:noFill/>
          <a:ln w="190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001B373-B0B1-4215-96BC-FCB07672FEB2}"/>
              </a:ext>
            </a:extLst>
          </p:cNvPr>
          <p:cNvGrpSpPr/>
          <p:nvPr/>
        </p:nvGrpSpPr>
        <p:grpSpPr>
          <a:xfrm>
            <a:off x="941487" y="4170627"/>
            <a:ext cx="3456941" cy="2087054"/>
            <a:chOff x="941487" y="4170627"/>
            <a:chExt cx="3456941" cy="2087054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EDAF49E-CEF7-4058-9A91-C196593A5813}"/>
                </a:ext>
              </a:extLst>
            </p:cNvPr>
            <p:cNvCxnSpPr/>
            <p:nvPr/>
          </p:nvCxnSpPr>
          <p:spPr>
            <a:xfrm flipH="1">
              <a:off x="941487" y="5101882"/>
              <a:ext cx="381965" cy="300942"/>
            </a:xfrm>
            <a:prstGeom prst="straightConnector1">
              <a:avLst/>
            </a:prstGeom>
            <a:noFill/>
            <a:ln w="25400" cap="flat">
              <a:solidFill>
                <a:srgbClr val="FF0000"/>
              </a:solidFill>
              <a:prstDash val="solid"/>
              <a:miter lim="400000"/>
              <a:tailEnd type="stealth" w="lg" len="lg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633E6EC-CB25-44E2-97A4-2187D57DD655}"/>
                </a:ext>
              </a:extLst>
            </p:cNvPr>
            <p:cNvSpPr txBox="1"/>
            <p:nvPr/>
          </p:nvSpPr>
          <p:spPr>
            <a:xfrm>
              <a:off x="956046" y="4811578"/>
              <a:ext cx="121642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Pin 1 Mark</a:t>
              </a:r>
              <a:endParaRPr kumimoji="0" lang="en-MY" sz="2000" b="0" i="0" u="none" strike="noStrike" cap="none" spc="0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26DA93A-5B46-4EF8-866C-5C11F46A0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0181" y="5824804"/>
              <a:ext cx="458914" cy="317090"/>
            </a:xfrm>
            <a:prstGeom prst="straightConnector1">
              <a:avLst/>
            </a:prstGeom>
            <a:noFill/>
            <a:ln w="25400" cap="flat">
              <a:solidFill>
                <a:srgbClr val="FF0000"/>
              </a:solidFill>
              <a:prstDash val="solid"/>
              <a:miter lim="400000"/>
              <a:tailEnd type="stealth" w="lg" len="lg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159721A-B81D-4C87-874D-893BD1F06F53}"/>
                </a:ext>
              </a:extLst>
            </p:cNvPr>
            <p:cNvSpPr txBox="1"/>
            <p:nvPr/>
          </p:nvSpPr>
          <p:spPr>
            <a:xfrm>
              <a:off x="3445527" y="5949904"/>
              <a:ext cx="952901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solidFill>
                    <a:srgbClr val="FF0000"/>
                  </a:solidFill>
                </a:rPr>
                <a:t>VID</a:t>
              </a:r>
              <a:endParaRPr kumimoji="0" lang="en-MY" sz="2000" b="0" i="0" u="none" strike="noStrike" cap="none" spc="0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0D4ECA2C-8700-49D2-9052-447666DBB3E7}"/>
                </a:ext>
              </a:extLst>
            </p:cNvPr>
            <p:cNvSpPr/>
            <p:nvPr/>
          </p:nvSpPr>
          <p:spPr>
            <a:xfrm>
              <a:off x="2321505" y="5275775"/>
              <a:ext cx="749348" cy="583071"/>
            </a:xfrm>
            <a:prstGeom prst="ellipse">
              <a:avLst/>
            </a:prstGeom>
            <a:noFill/>
            <a:ln w="19050" cap="flat">
              <a:solidFill>
                <a:srgbClr val="FF0000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MY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D8FAF55-0987-40E6-88BA-19FB58550490}"/>
                </a:ext>
              </a:extLst>
            </p:cNvPr>
            <p:cNvSpPr txBox="1"/>
            <p:nvPr/>
          </p:nvSpPr>
          <p:spPr>
            <a:xfrm>
              <a:off x="2902478" y="4974363"/>
              <a:ext cx="952901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PCM</a:t>
              </a:r>
              <a:endParaRPr kumimoji="0" lang="en-MY" sz="2000" b="0" i="0" u="none" strike="noStrike" cap="none" spc="0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77995362-E498-4925-B9C3-5E10E57DB9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1505" y="4170627"/>
              <a:ext cx="665535" cy="807773"/>
            </a:xfrm>
            <a:prstGeom prst="straightConnector1">
              <a:avLst/>
            </a:prstGeom>
            <a:noFill/>
            <a:ln w="25400" cap="flat">
              <a:solidFill>
                <a:srgbClr val="FF0000"/>
              </a:solidFill>
              <a:prstDash val="solid"/>
              <a:miter lim="400000"/>
              <a:tailEnd type="stealth" w="lg" len="lg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685B13AF-A8B8-46A2-9426-D93E77DC078F}"/>
                </a:ext>
              </a:extLst>
            </p:cNvPr>
            <p:cNvSpPr txBox="1"/>
            <p:nvPr/>
          </p:nvSpPr>
          <p:spPr>
            <a:xfrm>
              <a:off x="2900591" y="4974348"/>
              <a:ext cx="952901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PCM</a:t>
              </a:r>
              <a:endParaRPr kumimoji="0" lang="en-MY" sz="2000" b="0" i="0" u="none" strike="noStrike" cap="none" spc="0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3518FAB-EF8A-4FC6-8827-50FE2E31DF79}"/>
              </a:ext>
            </a:extLst>
          </p:cNvPr>
          <p:cNvGrpSpPr/>
          <p:nvPr/>
        </p:nvGrpSpPr>
        <p:grpSpPr>
          <a:xfrm>
            <a:off x="803154" y="2346725"/>
            <a:ext cx="2191943" cy="2645653"/>
            <a:chOff x="803154" y="2346725"/>
            <a:chExt cx="2191943" cy="2645653"/>
          </a:xfrm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A6D0F908-BE30-4EC9-B8B7-B4544224B1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03154" y="2346725"/>
              <a:ext cx="2110137" cy="2222104"/>
            </a:xfrm>
            <a:prstGeom prst="rect">
              <a:avLst/>
            </a:prstGeom>
            <a:ln w="38100">
              <a:solidFill>
                <a:srgbClr val="FF6600"/>
              </a:solidFill>
              <a:prstDash val="lgDashDot"/>
            </a:ln>
          </p:spPr>
        </p:pic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B6A45D7-6B34-45EF-A375-B52368ED90E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60773" y="4582807"/>
              <a:ext cx="334324" cy="409571"/>
            </a:xfrm>
            <a:prstGeom prst="straightConnector1">
              <a:avLst/>
            </a:prstGeom>
            <a:noFill/>
            <a:ln w="38100" cap="flat">
              <a:solidFill>
                <a:srgbClr val="FF0000"/>
              </a:solidFill>
              <a:prstDash val="solid"/>
              <a:miter lim="400000"/>
              <a:tailEnd type="stealth" w="lg" len="lg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14ADE9D-1F72-46E5-B9C4-BADB9E1937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8792" y="3714368"/>
            <a:ext cx="312433" cy="14287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E3245DA-664F-47E7-9818-7506BA67B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103630"/>
              </p:ext>
            </p:extLst>
          </p:nvPr>
        </p:nvGraphicFramePr>
        <p:xfrm>
          <a:off x="3805655" y="3744667"/>
          <a:ext cx="4272037" cy="6096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827842">
                  <a:extLst>
                    <a:ext uri="{9D8B030D-6E8A-4147-A177-3AD203B41FA5}">
                      <a16:colId xmlns:a16="http://schemas.microsoft.com/office/drawing/2014/main" val="2879440638"/>
                    </a:ext>
                  </a:extLst>
                </a:gridCol>
                <a:gridCol w="2444195">
                  <a:extLst>
                    <a:ext uri="{9D8B030D-6E8A-4147-A177-3AD203B41FA5}">
                      <a16:colId xmlns:a16="http://schemas.microsoft.com/office/drawing/2014/main" val="519738633"/>
                    </a:ext>
                  </a:extLst>
                </a:gridCol>
              </a:tblGrid>
              <a:tr h="219390">
                <a:tc gridSpan="2"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Bottom side Marking</a:t>
                      </a:r>
                      <a:endParaRPr lang="en-MY" sz="140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MY" sz="140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8147753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2DID (2D Matrix</a:t>
                      </a:r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FPO+ Random number</a:t>
                      </a:r>
                      <a:endParaRPr lang="en-MY" sz="140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666325"/>
                  </a:ext>
                </a:extLst>
              </a:tr>
            </a:tbl>
          </a:graphicData>
        </a:graphic>
      </p:graphicFrame>
      <p:sp>
        <p:nvSpPr>
          <p:cNvPr id="28" name="Oval 27">
            <a:extLst>
              <a:ext uri="{FF2B5EF4-FFF2-40B4-BE49-F238E27FC236}">
                <a16:creationId xmlns:a16="http://schemas.microsoft.com/office/drawing/2014/main" id="{995CB4B2-348F-43C5-8CA1-75211D4A340A}"/>
              </a:ext>
            </a:extLst>
          </p:cNvPr>
          <p:cNvSpPr/>
          <p:nvPr/>
        </p:nvSpPr>
        <p:spPr>
          <a:xfrm>
            <a:off x="9276257" y="3523525"/>
            <a:ext cx="749348" cy="583071"/>
          </a:xfrm>
          <a:prstGeom prst="ellipse">
            <a:avLst/>
          </a:prstGeom>
          <a:noFill/>
          <a:ln w="190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CF6B36A-AE26-49A1-8484-3BDC974F9BB9}"/>
              </a:ext>
            </a:extLst>
          </p:cNvPr>
          <p:cNvCxnSpPr>
            <a:cxnSpLocks/>
          </p:cNvCxnSpPr>
          <p:nvPr/>
        </p:nvCxnSpPr>
        <p:spPr>
          <a:xfrm flipV="1">
            <a:off x="8077053" y="4087137"/>
            <a:ext cx="1517594" cy="1014745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E5FE09A-2C5E-4EA3-9CE6-2AF016B7D571}"/>
              </a:ext>
            </a:extLst>
          </p:cNvPr>
          <p:cNvSpPr txBox="1"/>
          <p:nvPr/>
        </p:nvSpPr>
        <p:spPr>
          <a:xfrm>
            <a:off x="7161839" y="4978400"/>
            <a:ext cx="2506784" cy="1231106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SN – no good meaning to keep once the FPO human readable marking  is removed.  </a:t>
            </a:r>
            <a:endParaRPr kumimoji="0" lang="en-MY" sz="2000" b="0" i="0" u="none" strike="noStrike" cap="none" spc="0" normalizeH="0" baseline="0" dirty="0" err="1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837627F-64B2-4187-A790-562589048F16}"/>
              </a:ext>
            </a:extLst>
          </p:cNvPr>
          <p:cNvSpPr/>
          <p:nvPr/>
        </p:nvSpPr>
        <p:spPr>
          <a:xfrm>
            <a:off x="3574110" y="3694308"/>
            <a:ext cx="4593525" cy="940791"/>
          </a:xfrm>
          <a:prstGeom prst="ellipse">
            <a:avLst/>
          </a:prstGeom>
          <a:noFill/>
          <a:ln w="381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CFD81B0-8527-4F09-B7BF-CDFBDD2528DA}"/>
              </a:ext>
            </a:extLst>
          </p:cNvPr>
          <p:cNvSpPr txBox="1"/>
          <p:nvPr/>
        </p:nvSpPr>
        <p:spPr>
          <a:xfrm>
            <a:off x="3973092" y="1120543"/>
            <a:ext cx="4013506" cy="2462213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342900" marR="0" indent="-34290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t>Many customers had implemented bottom 2DID as traceability and inventory control (FPO c</a:t>
            </a:r>
            <a:r>
              <a:rPr lang="en-US" sz="2000" dirty="0">
                <a:solidFill>
                  <a:schemeClr val="tx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ontained </a:t>
            </a:r>
            <a:r>
              <a:rPr lang="en-US" sz="2000" dirty="0" err="1">
                <a:solidFill>
                  <a:schemeClr val="tx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Datecode</a:t>
            </a:r>
            <a:r>
              <a:rPr lang="en-US" sz="2000" dirty="0">
                <a:solidFill>
                  <a:schemeClr val="tx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 information)</a:t>
            </a:r>
          </a:p>
          <a:p>
            <a:pPr marL="342900" marR="0" indent="-34290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t>Need to ensure to 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t>keep for future package designs and document in CRD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F1F1F65-FF92-4E08-B4B0-48EDBDA15A78}"/>
              </a:ext>
            </a:extLst>
          </p:cNvPr>
          <p:cNvCxnSpPr>
            <a:cxnSpLocks/>
          </p:cNvCxnSpPr>
          <p:nvPr/>
        </p:nvCxnSpPr>
        <p:spPr>
          <a:xfrm>
            <a:off x="7618235" y="2670635"/>
            <a:ext cx="2371384" cy="852890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Action Button: Go Back or Previous 47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3BFB2141-3861-409C-A93D-9224FE54E616}"/>
              </a:ext>
            </a:extLst>
          </p:cNvPr>
          <p:cNvSpPr/>
          <p:nvPr/>
        </p:nvSpPr>
        <p:spPr>
          <a:xfrm>
            <a:off x="11204585" y="96627"/>
            <a:ext cx="555585" cy="462988"/>
          </a:xfrm>
          <a:prstGeom prst="actionButtonBackPrevious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aphicFrame>
        <p:nvGraphicFramePr>
          <p:cNvPr id="51" name="Table 7">
            <a:extLst>
              <a:ext uri="{FF2B5EF4-FFF2-40B4-BE49-F238E27FC236}">
                <a16:creationId xmlns:a16="http://schemas.microsoft.com/office/drawing/2014/main" id="{6A249896-D46E-4E71-BBC1-E18688130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875077"/>
              </p:ext>
            </p:extLst>
          </p:nvPr>
        </p:nvGraphicFramePr>
        <p:xfrm>
          <a:off x="3990681" y="4755923"/>
          <a:ext cx="2668064" cy="13985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7793">
                  <a:extLst>
                    <a:ext uri="{9D8B030D-6E8A-4147-A177-3AD203B41FA5}">
                      <a16:colId xmlns:a16="http://schemas.microsoft.com/office/drawing/2014/main" val="2824609615"/>
                    </a:ext>
                  </a:extLst>
                </a:gridCol>
                <a:gridCol w="1670271">
                  <a:extLst>
                    <a:ext uri="{9D8B030D-6E8A-4147-A177-3AD203B41FA5}">
                      <a16:colId xmlns:a16="http://schemas.microsoft.com/office/drawing/2014/main" val="2634522188"/>
                    </a:ext>
                  </a:extLst>
                </a:gridCol>
              </a:tblGrid>
              <a:tr h="362189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L (1</a:t>
                      </a:r>
                      <a:r>
                        <a:rPr lang="en-US" sz="1400" baseline="30000" dirty="0"/>
                        <a:t>st</a:t>
                      </a:r>
                      <a:r>
                        <a:rPr lang="en-US" sz="1400" dirty="0"/>
                        <a:t> col)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Factory Code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227435"/>
                  </a:ext>
                </a:extLst>
              </a:tr>
              <a:tr h="252871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9 (2</a:t>
                      </a:r>
                      <a:r>
                        <a:rPr lang="en-US" sz="1400" baseline="30000" dirty="0"/>
                        <a:t>nd</a:t>
                      </a:r>
                      <a:r>
                        <a:rPr lang="en-US" sz="1400" dirty="0"/>
                        <a:t> col)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2019 - Year of manufactured date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576612"/>
                  </a:ext>
                </a:extLst>
              </a:tr>
              <a:tr h="252871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28 (3</a:t>
                      </a:r>
                      <a:r>
                        <a:rPr lang="en-US" sz="1400" baseline="30000" dirty="0"/>
                        <a:t>rd</a:t>
                      </a:r>
                      <a:r>
                        <a:rPr lang="en-US" sz="1400" dirty="0"/>
                        <a:t> – 4</a:t>
                      </a:r>
                      <a:r>
                        <a:rPr lang="en-US" sz="1400" baseline="30000" dirty="0"/>
                        <a:t>th</a:t>
                      </a:r>
                      <a:r>
                        <a:rPr lang="en-US" sz="1400" dirty="0"/>
                        <a:t> col)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Intel </a:t>
                      </a:r>
                      <a:r>
                        <a:rPr lang="en-US" sz="1400" dirty="0" err="1"/>
                        <a:t>ww</a:t>
                      </a:r>
                      <a:r>
                        <a:rPr lang="en-US" sz="1400" dirty="0"/>
                        <a:t> of manufactured date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406858"/>
                  </a:ext>
                </a:extLst>
              </a:tr>
            </a:tbl>
          </a:graphicData>
        </a:graphic>
      </p:graphicFrame>
      <p:sp>
        <p:nvSpPr>
          <p:cNvPr id="52" name="Rectangle 51">
            <a:extLst>
              <a:ext uri="{FF2B5EF4-FFF2-40B4-BE49-F238E27FC236}">
                <a16:creationId xmlns:a16="http://schemas.microsoft.com/office/drawing/2014/main" id="{BAB89FC2-B791-4027-AC0A-B8A14F0149B4}"/>
              </a:ext>
            </a:extLst>
          </p:cNvPr>
          <p:cNvSpPr/>
          <p:nvPr/>
        </p:nvSpPr>
        <p:spPr>
          <a:xfrm>
            <a:off x="3993249" y="6167329"/>
            <a:ext cx="2358338" cy="2862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MY" sz="1400" dirty="0">
                <a:solidFill>
                  <a:srgbClr val="FF0000"/>
                </a:solidFill>
              </a:rPr>
              <a:t>FPO = Finish Processing Order</a:t>
            </a:r>
          </a:p>
        </p:txBody>
      </p:sp>
    </p:spTree>
    <p:extLst>
      <p:ext uri="{BB962C8B-B14F-4D97-AF65-F5344CB8AC3E}">
        <p14:creationId xmlns:p14="http://schemas.microsoft.com/office/powerpoint/2010/main" val="174695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86AA8-7B65-40A1-A38A-0A0D1EB88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70" y="571500"/>
            <a:ext cx="5956752" cy="952499"/>
          </a:xfrm>
        </p:spPr>
        <p:txBody>
          <a:bodyPr/>
          <a:lstStyle/>
          <a:p>
            <a:r>
              <a:rPr lang="en-US" dirty="0"/>
              <a:t>FTT / Sys </a:t>
            </a:r>
            <a:r>
              <a:rPr lang="en-US" dirty="0" err="1"/>
              <a:t>Assm</a:t>
            </a:r>
            <a:r>
              <a:rPr lang="en-US" dirty="0"/>
              <a:t> Tool </a:t>
            </a:r>
            <a:br>
              <a:rPr lang="en-US" dirty="0"/>
            </a:br>
            <a:r>
              <a:rPr lang="en-US" sz="3600" dirty="0"/>
              <a:t>(Manual)</a:t>
            </a:r>
            <a:endParaRPr lang="en-MY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B39B496-23F6-4E30-B61D-F4636006F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370" y="1674474"/>
            <a:ext cx="5001854" cy="2736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12EA73-0215-4206-80EC-61D262B04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464" y="359674"/>
            <a:ext cx="4653023" cy="27918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5E2CD0-2D67-4AAF-BDD1-CD878B838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087" y="3429000"/>
            <a:ext cx="4758400" cy="3069326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7B7B124-7E86-4DBA-94D9-31DE11FDE808}"/>
              </a:ext>
            </a:extLst>
          </p:cNvPr>
          <p:cNvCxnSpPr>
            <a:cxnSpLocks/>
          </p:cNvCxnSpPr>
          <p:nvPr/>
        </p:nvCxnSpPr>
        <p:spPr>
          <a:xfrm>
            <a:off x="5382228" y="4943528"/>
            <a:ext cx="1801041" cy="1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1BDE241-B2B1-4318-9CA7-A34614A3DA84}"/>
              </a:ext>
            </a:extLst>
          </p:cNvPr>
          <p:cNvSpPr txBox="1"/>
          <p:nvPr/>
        </p:nvSpPr>
        <p:spPr>
          <a:xfrm>
            <a:off x="451412" y="4561146"/>
            <a:ext cx="5428527" cy="18466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457200" marR="0" indent="-4572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1-push to lock anti-tilt wires at 1-time</a:t>
            </a:r>
          </a:p>
          <a:p>
            <a:pPr marL="457200" indent="-457200" defTabSz="2438338">
              <a:lnSpc>
                <a:spcPct val="100000"/>
              </a:lnSpc>
              <a:spcBef>
                <a:spcPts val="0"/>
              </a:spcBef>
              <a:buFontTx/>
              <a:buAutoNum type="arabicParenR"/>
            </a:pPr>
            <a:r>
              <a:rPr lang="en-US" dirty="0">
                <a:solidFill>
                  <a:schemeClr val="tx2"/>
                </a:solidFill>
              </a:rPr>
              <a:t>Guide torque driver bit, prevent bit hitting PEEK nuts and/or nuts tightening with angle.   </a:t>
            </a:r>
          </a:p>
          <a:p>
            <a:pPr marL="457200" marR="0" indent="-4572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</a:pPr>
            <a:r>
              <a:rPr lang="en-US" dirty="0">
                <a:solidFill>
                  <a:schemeClr val="tx2"/>
                </a:solidFill>
              </a:rPr>
              <a:t>Need nuts sequencing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3381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13676-C53D-4A37-AE4E-1AF68591E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FTT / Sys </a:t>
            </a:r>
            <a:r>
              <a:rPr lang="en-US" dirty="0" err="1"/>
              <a:t>Assm</a:t>
            </a:r>
            <a:r>
              <a:rPr lang="en-US" dirty="0"/>
              <a:t> Tool </a:t>
            </a:r>
            <a:br>
              <a:rPr lang="en-US" dirty="0"/>
            </a:br>
            <a:r>
              <a:rPr lang="en-US" sz="3600" dirty="0"/>
              <a:t>(Auto)</a:t>
            </a:r>
            <a:endParaRPr lang="en-MY" dirty="0"/>
          </a:p>
        </p:txBody>
      </p:sp>
      <p:sp>
        <p:nvSpPr>
          <p:cNvPr id="3" name="Action Button: Go Back or Previous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3022FC1-71A4-40F6-9E09-EC6220314914}"/>
              </a:ext>
            </a:extLst>
          </p:cNvPr>
          <p:cNvSpPr/>
          <p:nvPr/>
        </p:nvSpPr>
        <p:spPr>
          <a:xfrm>
            <a:off x="11065045" y="128180"/>
            <a:ext cx="555585" cy="462988"/>
          </a:xfrm>
          <a:prstGeom prst="actionButtonBackPrevious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C0129C-A2C8-4BD4-B760-C2775E40E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000" y="1047749"/>
            <a:ext cx="5060837" cy="51832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83F77B-7003-4B42-AA28-7597D894EAC6}"/>
              </a:ext>
            </a:extLst>
          </p:cNvPr>
          <p:cNvSpPr txBox="1"/>
          <p:nvPr/>
        </p:nvSpPr>
        <p:spPr>
          <a:xfrm>
            <a:off x="403587" y="2690336"/>
            <a:ext cx="5428527" cy="18466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457200" marR="0" indent="-4572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1-push to lock anti-tilt wires at 1-time</a:t>
            </a:r>
          </a:p>
          <a:p>
            <a:pPr marL="457200" marR="0" indent="-4572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</a:pPr>
            <a:r>
              <a:rPr lang="en-US" dirty="0">
                <a:solidFill>
                  <a:schemeClr val="tx2"/>
                </a:solidFill>
              </a:rPr>
              <a:t>Guide </a:t>
            </a: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torque driver bit, prevent bit hitting PEEK nuts and/or nuts tightening with angle.   </a:t>
            </a:r>
          </a:p>
          <a:p>
            <a:pPr marL="457200" marR="0" indent="-4572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4 nuts tighten at single torque. </a:t>
            </a:r>
          </a:p>
        </p:txBody>
      </p:sp>
    </p:spTree>
    <p:extLst>
      <p:ext uri="{BB962C8B-B14F-4D97-AF65-F5344CB8AC3E}">
        <p14:creationId xmlns:p14="http://schemas.microsoft.com/office/powerpoint/2010/main" val="1516883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0DE58-3D52-44E9-AA59-E1FAC5EFE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Dust Cover, easy to install, easy to uninstall (</a:t>
            </a:r>
            <a:r>
              <a:rPr lang="zh-CN" altLang="en-US" dirty="0"/>
              <a:t>易装，易拆 </a:t>
            </a:r>
            <a:r>
              <a:rPr lang="en-MY" altLang="zh-CN" dirty="0"/>
              <a:t>– no ergo spec concerns</a:t>
            </a:r>
            <a:r>
              <a:rPr lang="zh-CN" altLang="en-US" dirty="0"/>
              <a:t>）</a:t>
            </a:r>
            <a:endParaRPr lang="en-MY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CF1541E-748C-40E2-A552-A32C34ADA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4487" y="2565508"/>
            <a:ext cx="3177513" cy="278032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A52BBFD-62C9-4957-A30B-0241F7156C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7098" y="2470318"/>
            <a:ext cx="5433353" cy="34248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60B099-8F6A-4E6C-AC04-F0CEFDB1B0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370" y="1728427"/>
            <a:ext cx="2769968" cy="3801178"/>
          </a:xfrm>
          <a:prstGeom prst="rect">
            <a:avLst/>
          </a:prstGeom>
          <a:solidFill>
            <a:srgbClr val="000000">
              <a:shade val="95000"/>
            </a:srgbClr>
          </a:solidFill>
          <a:ln w="76200" cap="sq">
            <a:solidFill>
              <a:srgbClr val="26FA3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735FF6-DACB-4107-87C3-67CFF7819A07}"/>
              </a:ext>
            </a:extLst>
          </p:cNvPr>
          <p:cNvSpPr txBox="1"/>
          <p:nvPr/>
        </p:nvSpPr>
        <p:spPr>
          <a:xfrm>
            <a:off x="428729" y="5646037"/>
            <a:ext cx="2912609" cy="1169551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R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t>DELL socket cover</a:t>
            </a:r>
          </a:p>
          <a:p>
            <a:pPr marR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t>(Available on eBay) </a:t>
            </a:r>
          </a:p>
          <a:p>
            <a:pPr marR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t>- </a:t>
            </a:r>
            <a:r>
              <a:rPr lang="en-US" sz="1800" dirty="0">
                <a:solidFill>
                  <a:schemeClr val="tx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 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t>works together with retention clips on bolster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09B05A-20AD-4F0D-BAD5-CF3F6C8F13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6403077" y="2138111"/>
            <a:ext cx="3776774" cy="2769968"/>
          </a:xfrm>
          <a:prstGeom prst="rect">
            <a:avLst/>
          </a:prstGeom>
          <a:solidFill>
            <a:srgbClr val="000000">
              <a:shade val="95000"/>
            </a:srgbClr>
          </a:solidFill>
          <a:ln w="76200" cap="sq">
            <a:solidFill>
              <a:srgbClr val="26FA3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195F7F5C-4917-49DE-BF2D-471F1CD9F5A9}"/>
              </a:ext>
            </a:extLst>
          </p:cNvPr>
          <p:cNvSpPr/>
          <p:nvPr/>
        </p:nvSpPr>
        <p:spPr>
          <a:xfrm>
            <a:off x="3854460" y="2118167"/>
            <a:ext cx="762722" cy="1251177"/>
          </a:xfrm>
          <a:prstGeom prst="ellipse">
            <a:avLst/>
          </a:prstGeom>
          <a:noFill/>
          <a:ln w="571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17F74C6-BC75-42BE-95BD-C3A32A2F1269}"/>
              </a:ext>
            </a:extLst>
          </p:cNvPr>
          <p:cNvSpPr/>
          <p:nvPr/>
        </p:nvSpPr>
        <p:spPr>
          <a:xfrm>
            <a:off x="2397890" y="1578226"/>
            <a:ext cx="1236562" cy="1049227"/>
          </a:xfrm>
          <a:prstGeom prst="ellipse">
            <a:avLst/>
          </a:prstGeom>
          <a:noFill/>
          <a:ln w="571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8453C9-1C8A-42E9-B080-7AA211646E67}"/>
              </a:ext>
            </a:extLst>
          </p:cNvPr>
          <p:cNvSpPr txBox="1"/>
          <p:nvPr/>
        </p:nvSpPr>
        <p:spPr>
          <a:xfrm>
            <a:off x="8129659" y="5646037"/>
            <a:ext cx="3611146" cy="646331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R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t>HPE socket cover</a:t>
            </a:r>
          </a:p>
          <a:p>
            <a:pPr algn="ctr" defTabSz="2438338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tx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(FOXCONN had similar concept)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3DBF1E7-63F6-4036-A04E-9EBB150CB607}"/>
              </a:ext>
            </a:extLst>
          </p:cNvPr>
          <p:cNvSpPr/>
          <p:nvPr/>
        </p:nvSpPr>
        <p:spPr>
          <a:xfrm>
            <a:off x="4103267" y="5014025"/>
            <a:ext cx="908571" cy="663615"/>
          </a:xfrm>
          <a:prstGeom prst="ellipse">
            <a:avLst/>
          </a:prstGeom>
          <a:noFill/>
          <a:ln w="571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Action Button: Go Back or Previous 12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36C87561-4283-4B9B-B03E-8CA3DD9EEF4D}"/>
              </a:ext>
            </a:extLst>
          </p:cNvPr>
          <p:cNvSpPr/>
          <p:nvPr/>
        </p:nvSpPr>
        <p:spPr>
          <a:xfrm>
            <a:off x="11026601" y="1126601"/>
            <a:ext cx="555585" cy="462988"/>
          </a:xfrm>
          <a:prstGeom prst="actionButtonBackPrevious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7D7114-CDA0-4C74-A006-0EC4E5BFB0DC}"/>
              </a:ext>
            </a:extLst>
          </p:cNvPr>
          <p:cNvSpPr txBox="1"/>
          <p:nvPr/>
        </p:nvSpPr>
        <p:spPr>
          <a:xfrm>
            <a:off x="5130304" y="1620945"/>
            <a:ext cx="1483061" cy="738664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R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t>Retention clips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BCD4505-4E27-4378-B15A-882EFE7BBD95}"/>
              </a:ext>
            </a:extLst>
          </p:cNvPr>
          <p:cNvCxnSpPr>
            <a:cxnSpLocks/>
            <a:stCxn id="14" idx="1"/>
            <a:endCxn id="21" idx="7"/>
          </p:cNvCxnSpPr>
          <p:nvPr/>
        </p:nvCxnSpPr>
        <p:spPr>
          <a:xfrm flipH="1">
            <a:off x="4505484" y="1990277"/>
            <a:ext cx="624820" cy="311121"/>
          </a:xfrm>
          <a:prstGeom prst="straightConnector1">
            <a:avLst/>
          </a:prstGeom>
          <a:noFill/>
          <a:ln w="57150" cap="flat">
            <a:solidFill>
              <a:srgbClr val="FF0000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D5AB4AF-F702-473C-B3C4-1224C431CFE0}"/>
              </a:ext>
            </a:extLst>
          </p:cNvPr>
          <p:cNvSpPr txBox="1"/>
          <p:nvPr/>
        </p:nvSpPr>
        <p:spPr>
          <a:xfrm>
            <a:off x="4831621" y="5969202"/>
            <a:ext cx="2402555" cy="738664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R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t>protection for metal debris ?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D178CBF-E6C0-4EA9-871D-B4FE07811DC6}"/>
              </a:ext>
            </a:extLst>
          </p:cNvPr>
          <p:cNvCxnSpPr>
            <a:cxnSpLocks/>
          </p:cNvCxnSpPr>
          <p:nvPr/>
        </p:nvCxnSpPr>
        <p:spPr>
          <a:xfrm flipH="1" flipV="1">
            <a:off x="4557553" y="5646038"/>
            <a:ext cx="260341" cy="601246"/>
          </a:xfrm>
          <a:prstGeom prst="straightConnector1">
            <a:avLst/>
          </a:prstGeom>
          <a:noFill/>
          <a:ln w="57150" cap="flat">
            <a:solidFill>
              <a:srgbClr val="FF0000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853450B-C1B4-4072-A22E-3D7FE241BC4E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5871835" y="2359609"/>
            <a:ext cx="503626" cy="3169996"/>
          </a:xfrm>
          <a:prstGeom prst="straightConnector1">
            <a:avLst/>
          </a:prstGeom>
          <a:noFill/>
          <a:ln w="57150" cap="flat">
            <a:solidFill>
              <a:srgbClr val="FF0000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8B30427-FDB2-4122-8C4C-E11D830467BB}"/>
              </a:ext>
            </a:extLst>
          </p:cNvPr>
          <p:cNvCxnSpPr>
            <a:cxnSpLocks/>
          </p:cNvCxnSpPr>
          <p:nvPr/>
        </p:nvCxnSpPr>
        <p:spPr>
          <a:xfrm flipH="1" flipV="1">
            <a:off x="2714996" y="2565508"/>
            <a:ext cx="423442" cy="3910416"/>
          </a:xfrm>
          <a:prstGeom prst="straightConnector1">
            <a:avLst/>
          </a:prstGeom>
          <a:noFill/>
          <a:ln w="57150" cap="flat">
            <a:solidFill>
              <a:srgbClr val="FF0000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99903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AFA0E98-E9C3-4DB9-B3FD-709E1E1A4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690" y="693420"/>
            <a:ext cx="3512820" cy="559308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020867A-F549-416C-8BD3-D0FB25E0484D}"/>
              </a:ext>
            </a:extLst>
          </p:cNvPr>
          <p:cNvSpPr/>
          <p:nvPr/>
        </p:nvSpPr>
        <p:spPr>
          <a:xfrm>
            <a:off x="571370" y="5192773"/>
            <a:ext cx="5629014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MY" dirty="0"/>
              <a:t>https://cdn.cnetcontent.com/a1/49/a149014d-d35a-444f-8752-2dc0898e107f.pdf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4CCCCC6-1C7E-43DA-A9AF-AABF74FFA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05" y="1882140"/>
            <a:ext cx="8274485" cy="30937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34A45F7-E6C4-45C5-B7FE-AF4CDBA54C64}"/>
              </a:ext>
            </a:extLst>
          </p:cNvPr>
          <p:cNvSpPr txBox="1"/>
          <p:nvPr/>
        </p:nvSpPr>
        <p:spPr>
          <a:xfrm>
            <a:off x="6526060" y="4094010"/>
            <a:ext cx="1900433" cy="1846659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R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t>Retention clips act as Anti tilt, lock/unlock PHM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36B17C2-4E99-4B79-98AA-FE20D8980D28}"/>
              </a:ext>
            </a:extLst>
          </p:cNvPr>
          <p:cNvCxnSpPr>
            <a:cxnSpLocks/>
          </p:cNvCxnSpPr>
          <p:nvPr/>
        </p:nvCxnSpPr>
        <p:spPr>
          <a:xfrm>
            <a:off x="8330356" y="4484965"/>
            <a:ext cx="609098" cy="849036"/>
          </a:xfrm>
          <a:prstGeom prst="straightConnector1">
            <a:avLst/>
          </a:prstGeom>
          <a:noFill/>
          <a:ln w="57150" cap="flat">
            <a:solidFill>
              <a:srgbClr val="FF0000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7CCA5CD-6ADA-420C-AD4C-DA163293C7E5}"/>
              </a:ext>
            </a:extLst>
          </p:cNvPr>
          <p:cNvCxnSpPr>
            <a:cxnSpLocks/>
          </p:cNvCxnSpPr>
          <p:nvPr/>
        </p:nvCxnSpPr>
        <p:spPr>
          <a:xfrm>
            <a:off x="8441690" y="4484965"/>
            <a:ext cx="3140496" cy="117959"/>
          </a:xfrm>
          <a:prstGeom prst="straightConnector1">
            <a:avLst/>
          </a:prstGeom>
          <a:noFill/>
          <a:ln w="57150" cap="flat">
            <a:solidFill>
              <a:srgbClr val="FF0000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Title 24">
            <a:extLst>
              <a:ext uri="{FF2B5EF4-FFF2-40B4-BE49-F238E27FC236}">
                <a16:creationId xmlns:a16="http://schemas.microsoft.com/office/drawing/2014/main" id="{81961C55-9FC5-4671-9C18-5693E0642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70985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ACCBF-6158-48CF-A12A-FD62057C1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757" y="287934"/>
            <a:ext cx="11010816" cy="952499"/>
          </a:xfrm>
        </p:spPr>
        <p:txBody>
          <a:bodyPr/>
          <a:lstStyle/>
          <a:p>
            <a:r>
              <a:rPr lang="en-US" dirty="0"/>
              <a:t>Example (Dell):</a:t>
            </a:r>
            <a:br>
              <a:rPr lang="en-US" dirty="0"/>
            </a:br>
            <a:r>
              <a:rPr lang="en-US" dirty="0"/>
              <a:t>Power Edge T440, R740XD2 (</a:t>
            </a:r>
            <a:r>
              <a:rPr lang="en-US" dirty="0" err="1"/>
              <a:t>Purley</a:t>
            </a:r>
            <a:r>
              <a:rPr lang="en-US" dirty="0"/>
              <a:t>) </a:t>
            </a:r>
            <a:br>
              <a:rPr lang="en-US" dirty="0"/>
            </a:br>
            <a:r>
              <a:rPr lang="en-US" dirty="0"/>
              <a:t>&amp; R7525 (EPYC SP3)</a:t>
            </a: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F25EB3-83E5-4CEF-95F2-2967C804F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65" y="2078388"/>
            <a:ext cx="7822532" cy="35102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4E05AA-8521-4293-AD7A-4A96020C6202}"/>
              </a:ext>
            </a:extLst>
          </p:cNvPr>
          <p:cNvSpPr txBox="1"/>
          <p:nvPr/>
        </p:nvSpPr>
        <p:spPr>
          <a:xfrm>
            <a:off x="291566" y="5661171"/>
            <a:ext cx="6305178" cy="15388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lang="en-MY" sz="2000" dirty="0">
                <a:solidFill>
                  <a:schemeClr val="tx2"/>
                </a:solidFill>
                <a:hlinkClick r:id="rId4"/>
              </a:rPr>
              <a:t>https://www.youtube.com/watch?v=a7spFUjNTek</a:t>
            </a:r>
          </a:p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lang="en-MY" sz="2000" dirty="0">
                <a:solidFill>
                  <a:schemeClr val="tx2"/>
                </a:solidFill>
                <a:hlinkClick r:id="rId4"/>
              </a:rPr>
              <a:t>https://www.dell.com/support/kbdoc/en-sg/000063913/dell-emc-poweredge-t440-how-to-remove-and-install-a-system-board-qrl-video</a:t>
            </a:r>
            <a:r>
              <a:rPr lang="en-MY" sz="2000" dirty="0">
                <a:solidFill>
                  <a:schemeClr val="tx2"/>
                </a:solidFill>
              </a:rPr>
              <a:t> </a:t>
            </a:r>
          </a:p>
          <a:p>
            <a:pPr defTabSz="2438338">
              <a:lnSpc>
                <a:spcPct val="100000"/>
              </a:lnSpc>
              <a:spcBef>
                <a:spcPts val="0"/>
              </a:spcBef>
            </a:pPr>
            <a:endParaRPr kumimoji="0" lang="en-MY" sz="20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78140E-41B7-4239-BE3F-B1CE7F5F49CB}"/>
              </a:ext>
            </a:extLst>
          </p:cNvPr>
          <p:cNvSpPr txBox="1"/>
          <p:nvPr/>
        </p:nvSpPr>
        <p:spPr>
          <a:xfrm>
            <a:off x="6934200" y="5595169"/>
            <a:ext cx="3831772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endParaRPr lang="en-MY" sz="2000" dirty="0">
              <a:solidFill>
                <a:schemeClr val="tx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84ADD6-EC75-4631-BE6B-4818369CB9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787" y="2325681"/>
            <a:ext cx="2814645" cy="3015691"/>
          </a:xfrm>
          <a:prstGeom prst="rect">
            <a:avLst/>
          </a:prstGeom>
          <a:ln w="38100">
            <a:solidFill>
              <a:srgbClr val="26FA30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1C44384-67A7-467C-8043-1BC814B575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7154" y="163286"/>
            <a:ext cx="1790703" cy="225417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FDA6236-748D-4E75-8138-EB3029311DFF}"/>
              </a:ext>
            </a:extLst>
          </p:cNvPr>
          <p:cNvSpPr/>
          <p:nvPr/>
        </p:nvSpPr>
        <p:spPr>
          <a:xfrm>
            <a:off x="9780812" y="1076946"/>
            <a:ext cx="98516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lang="en-MY" dirty="0">
                <a:solidFill>
                  <a:schemeClr val="tx2"/>
                </a:solidFill>
              </a:rPr>
              <a:t>EPYC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67B465-7C09-4E8A-9D6D-4E1B2C95E653}"/>
              </a:ext>
            </a:extLst>
          </p:cNvPr>
          <p:cNvSpPr/>
          <p:nvPr/>
        </p:nvSpPr>
        <p:spPr>
          <a:xfrm>
            <a:off x="8700518" y="2352386"/>
            <a:ext cx="2747009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MY" sz="1800" dirty="0">
                <a:solidFill>
                  <a:schemeClr val="accent1"/>
                </a:solidFill>
                <a:hlinkClick r:id="rId7"/>
              </a:rPr>
              <a:t>https://www.youtube.com/watch?v=wIx2GSRjIIE</a:t>
            </a:r>
            <a:r>
              <a:rPr lang="en-MY" sz="1800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96E4C4-BB22-42B6-A260-76E967EDB473}"/>
              </a:ext>
            </a:extLst>
          </p:cNvPr>
          <p:cNvSpPr txBox="1"/>
          <p:nvPr/>
        </p:nvSpPr>
        <p:spPr>
          <a:xfrm>
            <a:off x="6317199" y="5155315"/>
            <a:ext cx="4540034" cy="1477328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lang="en-MY" dirty="0">
                <a:solidFill>
                  <a:srgbClr val="FF0000"/>
                </a:solidFill>
              </a:rPr>
              <a:t>No label on heatsink for nuts sequence for Purley, probably due to the bolster design only required to tighten 2 nuts 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895AA9-E4E3-4084-8093-7EDB6AEFF1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5938" y="3025589"/>
            <a:ext cx="2923644" cy="10296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0F4A988-E8C3-4FC6-971E-8A0361438981}"/>
              </a:ext>
            </a:extLst>
          </p:cNvPr>
          <p:cNvSpPr txBox="1"/>
          <p:nvPr/>
        </p:nvSpPr>
        <p:spPr>
          <a:xfrm>
            <a:off x="8303290" y="4146748"/>
            <a:ext cx="2947023" cy="738664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lang="en-MY" dirty="0">
                <a:solidFill>
                  <a:srgbClr val="FF0000"/>
                </a:solidFill>
              </a:rPr>
              <a:t>Partially nuts tightened and diagonal sequence. </a:t>
            </a:r>
          </a:p>
        </p:txBody>
      </p:sp>
      <p:sp>
        <p:nvSpPr>
          <p:cNvPr id="11" name="Arrow: Pentagon 10">
            <a:hlinkClick r:id="rId9"/>
            <a:extLst>
              <a:ext uri="{FF2B5EF4-FFF2-40B4-BE49-F238E27FC236}">
                <a16:creationId xmlns:a16="http://schemas.microsoft.com/office/drawing/2014/main" id="{4D254D84-867F-4B11-9626-2914297B847C}"/>
              </a:ext>
            </a:extLst>
          </p:cNvPr>
          <p:cNvSpPr/>
          <p:nvPr/>
        </p:nvSpPr>
        <p:spPr>
          <a:xfrm>
            <a:off x="11279582" y="4358592"/>
            <a:ext cx="318154" cy="369881"/>
          </a:xfrm>
          <a:prstGeom prst="homePlate">
            <a:avLst/>
          </a:prstGeom>
          <a:solidFill>
            <a:schemeClr val="bg1"/>
          </a:solidFill>
          <a:ln w="5715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274398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6DD20-D995-4F28-BE35-67B44E97D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Huawei XH321 V5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Purley</a:t>
            </a:r>
            <a:r>
              <a:rPr lang="en-US" dirty="0"/>
              <a:t>)</a:t>
            </a:r>
            <a:endParaRPr lang="en-MY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DDD4A4-4099-4B56-8076-87E47D611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151" y="1200707"/>
            <a:ext cx="4743497" cy="25259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A111E0-3754-4AA7-908E-F47EBE602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230" y="859411"/>
            <a:ext cx="3962400" cy="39090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B100AE-46D1-4325-8672-4B8726775CF8}"/>
              </a:ext>
            </a:extLst>
          </p:cNvPr>
          <p:cNvSpPr txBox="1"/>
          <p:nvPr/>
        </p:nvSpPr>
        <p:spPr>
          <a:xfrm>
            <a:off x="7880254" y="4869391"/>
            <a:ext cx="3962400" cy="738664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Customer claimed their PHLM is giving 30% </a:t>
            </a:r>
            <a:r>
              <a:rPr lang="en-US" dirty="0">
                <a:solidFill>
                  <a:schemeClr val="tx2"/>
                </a:solidFill>
              </a:rPr>
              <a:t>in cost </a:t>
            </a: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saving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19499E-03BB-4121-BA6D-270B29519E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315" y="3912343"/>
            <a:ext cx="7397915" cy="245923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473A056-0508-47D6-9B5F-245E2F8E1CED}"/>
              </a:ext>
            </a:extLst>
          </p:cNvPr>
          <p:cNvCxnSpPr>
            <a:cxnSpLocks/>
          </p:cNvCxnSpPr>
          <p:nvPr/>
        </p:nvCxnSpPr>
        <p:spPr>
          <a:xfrm>
            <a:off x="2314937" y="3229337"/>
            <a:ext cx="945193" cy="1181610"/>
          </a:xfrm>
          <a:prstGeom prst="straightConnector1">
            <a:avLst/>
          </a:prstGeom>
          <a:noFill/>
          <a:ln w="57150" cap="flat">
            <a:solidFill>
              <a:srgbClr val="FF0000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332880B-9657-4372-B72A-7147DE05AE1C}"/>
              </a:ext>
            </a:extLst>
          </p:cNvPr>
          <p:cNvSpPr txBox="1"/>
          <p:nvPr/>
        </p:nvSpPr>
        <p:spPr>
          <a:xfrm>
            <a:off x="38291" y="1738095"/>
            <a:ext cx="2602860" cy="22159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342900" marR="0" indent="-3429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>
                <a:solidFill>
                  <a:schemeClr val="tx2"/>
                </a:solidFill>
              </a:rPr>
              <a:t>Phillips screw driver to tighten all 4 + 2 screws</a:t>
            </a:r>
          </a:p>
          <a:p>
            <a:pPr marL="342900" marR="0" indent="-3429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Will similar concept </a:t>
            </a:r>
            <a:r>
              <a:rPr lang="en-US" dirty="0">
                <a:solidFill>
                  <a:schemeClr val="tx2"/>
                </a:solidFill>
              </a:rPr>
              <a:t>works in Whitley/EGS ? 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BCDE88B-A2B6-4A3D-AABF-4627C87A9E46}"/>
              </a:ext>
            </a:extLst>
          </p:cNvPr>
          <p:cNvSpPr/>
          <p:nvPr/>
        </p:nvSpPr>
        <p:spPr>
          <a:xfrm>
            <a:off x="4403502" y="5289772"/>
            <a:ext cx="470631" cy="551405"/>
          </a:xfrm>
          <a:prstGeom prst="ellipse">
            <a:avLst/>
          </a:prstGeom>
          <a:noFill/>
          <a:ln w="57150" cap="flat">
            <a:solidFill>
              <a:srgbClr val="FFFF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BDD1707-F36E-4F23-83CF-15F4397AF9EB}"/>
              </a:ext>
            </a:extLst>
          </p:cNvPr>
          <p:cNvSpPr/>
          <p:nvPr/>
        </p:nvSpPr>
        <p:spPr>
          <a:xfrm>
            <a:off x="3158647" y="4598880"/>
            <a:ext cx="470631" cy="551405"/>
          </a:xfrm>
          <a:prstGeom prst="ellipse">
            <a:avLst/>
          </a:prstGeom>
          <a:noFill/>
          <a:ln w="57150" cap="flat">
            <a:solidFill>
              <a:srgbClr val="FFFF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658D43-A88B-4679-8AAE-235CDE8ED67A}"/>
              </a:ext>
            </a:extLst>
          </p:cNvPr>
          <p:cNvSpPr txBox="1"/>
          <p:nvPr/>
        </p:nvSpPr>
        <p:spPr>
          <a:xfrm>
            <a:off x="2936623" y="4243803"/>
            <a:ext cx="17515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</a:t>
            </a:r>
            <a:endParaRPr kumimoji="0" lang="en-MY" sz="4000" b="1" i="0" u="none" strike="noStrike" cap="none" spc="0" normalizeH="0" baseline="0" dirty="0" err="1">
              <a:ln>
                <a:noFill/>
              </a:ln>
              <a:solidFill>
                <a:srgbClr val="FFFF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2F49FC-8D7B-4E5D-938B-594E60D9E4C6}"/>
              </a:ext>
            </a:extLst>
          </p:cNvPr>
          <p:cNvSpPr txBox="1"/>
          <p:nvPr/>
        </p:nvSpPr>
        <p:spPr>
          <a:xfrm>
            <a:off x="3629278" y="5150285"/>
            <a:ext cx="726165" cy="615553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2</a:t>
            </a:r>
            <a:endParaRPr kumimoji="0" lang="en-MY" sz="4000" b="1" i="0" u="none" strike="noStrike" cap="none" spc="0" normalizeH="0" baseline="0" dirty="0" err="1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41AC7BE-E60C-48E1-B391-1437704525EB}"/>
              </a:ext>
            </a:extLst>
          </p:cNvPr>
          <p:cNvSpPr/>
          <p:nvPr/>
        </p:nvSpPr>
        <p:spPr>
          <a:xfrm>
            <a:off x="3476878" y="4243802"/>
            <a:ext cx="945192" cy="1668483"/>
          </a:xfrm>
          <a:prstGeom prst="ellipse">
            <a:avLst/>
          </a:prstGeom>
          <a:noFill/>
          <a:ln w="571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29545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9513D-84C9-48DD-BC6F-048A8C778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HPE/</a:t>
            </a:r>
            <a:r>
              <a:rPr lang="en-US" dirty="0" err="1"/>
              <a:t>Inventec</a:t>
            </a:r>
            <a:r>
              <a:rPr lang="en-US" dirty="0"/>
              <a:t> CPU PnP Tool (Purely)</a:t>
            </a:r>
            <a:endParaRPr lang="en-MY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48AAA8-B3DA-480B-AA69-B2D703C8C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9599" y="1978997"/>
            <a:ext cx="3462307" cy="25759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027698-E093-41AC-9ED4-2285ABE938D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820" y="1765972"/>
            <a:ext cx="3645583" cy="30019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596502-FC79-41A7-88A8-A34C7E914C2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238237" y="2099674"/>
            <a:ext cx="3885513" cy="2800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49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E1760-755B-445F-95B1-00A55CF6B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ILM Concept, carrier for CPU handling</a:t>
            </a:r>
            <a:endParaRPr lang="en-MY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6CC4CA-8231-44BA-9F54-2CCDE498E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" y="3637280"/>
            <a:ext cx="3276600" cy="25760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5D51EE-6E27-41AE-B379-1B8178EE3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370" y="1747520"/>
            <a:ext cx="9083040" cy="18897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EDDD27-D4DE-43C1-A943-3E12C10412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9818" y="3772351"/>
            <a:ext cx="3407582" cy="24409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F4516A-051B-4FEA-990E-089CAC7336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6778" y="3692103"/>
            <a:ext cx="3276600" cy="252118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70CC1A9-40A3-4F21-A836-CC359D9742BE}"/>
              </a:ext>
            </a:extLst>
          </p:cNvPr>
          <p:cNvSpPr txBox="1"/>
          <p:nvPr/>
        </p:nvSpPr>
        <p:spPr>
          <a:xfrm>
            <a:off x="3715183" y="5838263"/>
            <a:ext cx="2402555" cy="615553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R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t>Gripping from both short edges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1E234E-FE65-4D6A-BD0D-E83689638F2E}"/>
              </a:ext>
            </a:extLst>
          </p:cNvPr>
          <p:cNvSpPr txBox="1"/>
          <p:nvPr/>
        </p:nvSpPr>
        <p:spPr>
          <a:xfrm>
            <a:off x="533119" y="5838263"/>
            <a:ext cx="2402555" cy="615553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R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t>Carrier installation at the short edges</a:t>
            </a:r>
          </a:p>
        </p:txBody>
      </p:sp>
    </p:spTree>
    <p:extLst>
      <p:ext uri="{BB962C8B-B14F-4D97-AF65-F5344CB8AC3E}">
        <p14:creationId xmlns:p14="http://schemas.microsoft.com/office/powerpoint/2010/main" val="3101704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30F2FC-401D-43F3-ABB3-B948B1D75C7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15859" y="1431650"/>
            <a:ext cx="4280491" cy="31283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373D2C-0BE2-4F74-9472-4AAA3268AC8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744" y="714701"/>
            <a:ext cx="5201231" cy="38452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6914B6-CF1A-4F7B-9006-0EBFBD1B2AD7}"/>
              </a:ext>
            </a:extLst>
          </p:cNvPr>
          <p:cNvSpPr txBox="1"/>
          <p:nvPr/>
        </p:nvSpPr>
        <p:spPr>
          <a:xfrm>
            <a:off x="1264362" y="4943497"/>
            <a:ext cx="5336853" cy="1107996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Suspected carrier damaged during </a:t>
            </a:r>
            <a:r>
              <a:rPr lang="en-US" dirty="0">
                <a:solidFill>
                  <a:schemeClr val="tx2"/>
                </a:solidFill>
              </a:rPr>
              <a:t>assembly resulting bend contacts during automation (different boundary condition)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898354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7200" y="593267"/>
            <a:ext cx="4629380" cy="35761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36765" y="387130"/>
            <a:ext cx="3707336" cy="2328408"/>
          </a:xfrm>
          <a:prstGeom prst="rect">
            <a:avLst/>
          </a:prstGeom>
        </p:spPr>
      </p:pic>
      <p:sp>
        <p:nvSpPr>
          <p:cNvPr id="8" name="Right Brace 7"/>
          <p:cNvSpPr/>
          <p:nvPr/>
        </p:nvSpPr>
        <p:spPr>
          <a:xfrm>
            <a:off x="5599481" y="489047"/>
            <a:ext cx="203200" cy="3784600"/>
          </a:xfrm>
          <a:prstGeom prst="rightBrace">
            <a:avLst>
              <a:gd name="adj1" fmla="val 8333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18783" y="2819758"/>
            <a:ext cx="3543300" cy="21904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351393-B4AD-4319-A0D4-237447FF8508}"/>
              </a:ext>
            </a:extLst>
          </p:cNvPr>
          <p:cNvSpPr txBox="1"/>
          <p:nvPr/>
        </p:nvSpPr>
        <p:spPr>
          <a:xfrm>
            <a:off x="657200" y="4768132"/>
            <a:ext cx="4942281" cy="738664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Observed debris at package edges/corners</a:t>
            </a:r>
          </a:p>
        </p:txBody>
      </p:sp>
      <p:sp>
        <p:nvSpPr>
          <p:cNvPr id="11" name="Action Button: Go Back or Previous 10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314D914B-5FB0-4D73-BE36-620CE088F0FC}"/>
              </a:ext>
            </a:extLst>
          </p:cNvPr>
          <p:cNvSpPr/>
          <p:nvPr/>
        </p:nvSpPr>
        <p:spPr>
          <a:xfrm>
            <a:off x="11045823" y="182327"/>
            <a:ext cx="555585" cy="462988"/>
          </a:xfrm>
          <a:prstGeom prst="actionButtonBackPrevious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681171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21_BasicWhite">
  <a:themeElements>
    <a:clrScheme name="Intel2020">
      <a:dk1>
        <a:srgbClr val="000000"/>
      </a:dk1>
      <a:lt1>
        <a:srgbClr val="FFFFFF"/>
      </a:lt1>
      <a:dk2>
        <a:srgbClr val="004A86"/>
      </a:dk2>
      <a:lt2>
        <a:srgbClr val="525252"/>
      </a:lt2>
      <a:accent1>
        <a:srgbClr val="0068B5"/>
      </a:accent1>
      <a:accent2>
        <a:srgbClr val="00C7FD"/>
      </a:accent2>
      <a:accent3>
        <a:srgbClr val="F6CB4B"/>
      </a:accent3>
      <a:accent4>
        <a:srgbClr val="D96930"/>
      </a:accent4>
      <a:accent5>
        <a:srgbClr val="8F5DA2"/>
      </a:accent5>
      <a:accent6>
        <a:srgbClr val="8BAE46"/>
      </a:accent6>
      <a:hlink>
        <a:srgbClr val="0068B5"/>
      </a:hlink>
      <a:folHlink>
        <a:srgbClr val="0068B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none" lIns="0" tIns="0" rIns="0" bIns="0" numCol="1" spcCol="38100" rtlCol="0" anchor="t" anchorCtr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b="0" i="0" u="none" strike="noStrike" cap="none" spc="0" normalizeH="0" baseline="0" dirty="0" err="1" smtClean="0">
            <a:ln>
              <a:noFill/>
            </a:ln>
            <a:solidFill>
              <a:schemeClr val="tx2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a3e817-7ff1-4682-9cdc-9e68f1944ac6">
      <Terms xmlns="http://schemas.microsoft.com/office/infopath/2007/PartnerControls"/>
    </lcf76f155ced4ddcb4097134ff3c332f>
    <TaxCatchAll xmlns="a7bc6c04-a6f3-4b85-abcc-278c78dc556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5921F9D4874B40A69C72F5C132575A" ma:contentTypeVersion="18" ma:contentTypeDescription="Create a new document." ma:contentTypeScope="" ma:versionID="f81e1b74fd94b9f916141b297ac694c0">
  <xsd:schema xmlns:xsd="http://www.w3.org/2001/XMLSchema" xmlns:xs="http://www.w3.org/2001/XMLSchema" xmlns:p="http://schemas.microsoft.com/office/2006/metadata/properties" xmlns:ns2="b0a3e817-7ff1-4682-9cdc-9e68f1944ac6" xmlns:ns3="5e37b643-6edd-4e99-882c-9f9c6c52fc16" xmlns:ns4="a7bc6c04-a6f3-4b85-abcc-278c78dc556b" targetNamespace="http://schemas.microsoft.com/office/2006/metadata/properties" ma:root="true" ma:fieldsID="1cd7c1c097ec62e7a9d31b3de7be00f6" ns2:_="" ns3:_="" ns4:_="">
    <xsd:import namespace="b0a3e817-7ff1-4682-9cdc-9e68f1944ac6"/>
    <xsd:import namespace="5e37b643-6edd-4e99-882c-9f9c6c52fc16"/>
    <xsd:import namespace="a7bc6c04-a6f3-4b85-abcc-278c78dc55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a3e817-7ff1-4682-9cdc-9e68f1944a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37b643-6edd-4e99-882c-9f9c6c52fc1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c6c04-a6f3-4b85-abcc-278c78dc556b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42eb0fb-64ce-47fa-b4a9-0e6c067efc72}" ma:internalName="TaxCatchAll" ma:showField="CatchAllData" ma:web="5e37b643-6edd-4e99-882c-9f9c6c52fc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24B8A99-8161-4D52-8DFD-478F5C1B3170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b0a3e817-7ff1-4682-9cdc-9e68f1944ac6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39DA9B0-3E16-43F7-96C7-D7AFE82BCC81}"/>
</file>

<file path=customXml/itemProps3.xml><?xml version="1.0" encoding="utf-8"?>
<ds:datastoreItem xmlns:ds="http://schemas.openxmlformats.org/officeDocument/2006/customXml" ds:itemID="{201C66F3-FBD8-4B0F-98D9-445FE3649D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18951</TotalTime>
  <Words>1439</Words>
  <Application>Microsoft Office PowerPoint</Application>
  <PresentationFormat>Widescreen</PresentationFormat>
  <Paragraphs>167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Helvetica Neue</vt:lpstr>
      <vt:lpstr>Helvetica Neue Medium</vt:lpstr>
      <vt:lpstr>Arial</vt:lpstr>
      <vt:lpstr>Calibri</vt:lpstr>
      <vt:lpstr>Calibri Light</vt:lpstr>
      <vt:lpstr>Helvetica</vt:lpstr>
      <vt:lpstr>Intel Clear</vt:lpstr>
      <vt:lpstr>Intel Clear Light</vt:lpstr>
      <vt:lpstr>Wingdings</vt:lpstr>
      <vt:lpstr>21_BasicWhite</vt:lpstr>
      <vt:lpstr>Field Observation</vt:lpstr>
      <vt:lpstr>Package Form Factor and Packaging</vt:lpstr>
      <vt:lpstr>Socket PCBA / Rework</vt:lpstr>
      <vt:lpstr>LM, Socket cover, PnP tool, FTT</vt:lpstr>
      <vt:lpstr>Back Up</vt:lpstr>
      <vt:lpstr>Purley Processor (Cascade Lake)</vt:lpstr>
      <vt:lpstr>Whitley/Cedar Island Processor (Ice Lake &amp; Cooper Lake)</vt:lpstr>
      <vt:lpstr>Sapphire Rapids Processor Marking and Identification</vt:lpstr>
      <vt:lpstr>FTT / Sys Assm Tool  (Manual)</vt:lpstr>
      <vt:lpstr>FTT / Sys Assm Tool  (Auto)</vt:lpstr>
      <vt:lpstr>Dust Cover, easy to install, easy to uninstall (易装，易拆 – no ergo spec concerns）</vt:lpstr>
      <vt:lpstr>PowerPoint Presentation</vt:lpstr>
      <vt:lpstr>Example (Dell): Power Edge T440, R740XD2 (Purley)  &amp; R7525 (EPYC SP3)</vt:lpstr>
      <vt:lpstr>Example: Huawei XH321 V5 (Purley)</vt:lpstr>
      <vt:lpstr>HPE/Inventec CPU PnP Tool (Purely)</vt:lpstr>
      <vt:lpstr>ILM Concept, carrier for CPU handling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Killeen, Kristine</dc:creator>
  <cp:keywords>CTPClassification=CTP_NT</cp:keywords>
  <cp:lastModifiedBy>Mak, Tzee Sing</cp:lastModifiedBy>
  <cp:revision>188</cp:revision>
  <dcterms:modified xsi:type="dcterms:W3CDTF">2021-04-07T14:50:12Z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77294acb-f791-4422-865e-0b7527e37b89</vt:lpwstr>
  </property>
  <property fmtid="{D5CDD505-2E9C-101B-9397-08002B2CF9AE}" pid="3" name="CTP_TimeStamp">
    <vt:lpwstr>2020-08-21 21:49:33Z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0x010100C25921F9D4874B40A69C72F5C132575A</vt:lpwstr>
  </property>
</Properties>
</file>