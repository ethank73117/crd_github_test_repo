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73" r:id="rId21"/>
    <p:sldId id="274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1">
          <p15:clr>
            <a:srgbClr val="A4A3A4"/>
          </p15:clr>
        </p15:guide>
        <p15:guide id="2" orient="horz" pos="3004">
          <p15:clr>
            <a:srgbClr val="A4A3A4"/>
          </p15:clr>
        </p15:guide>
        <p15:guide id="3" orient="horz" pos="422">
          <p15:clr>
            <a:srgbClr val="A4A3A4"/>
          </p15:clr>
        </p15:guide>
        <p15:guide id="4" orient="horz" pos="824">
          <p15:clr>
            <a:srgbClr val="A4A3A4"/>
          </p15:clr>
        </p15:guide>
        <p15:guide id="5" orient="horz" pos="2916">
          <p15:clr>
            <a:srgbClr val="A4A3A4"/>
          </p15:clr>
        </p15:guide>
        <p15:guide id="6" orient="horz" pos="1643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  <p15:guide id="9" pos="2909">
          <p15:clr>
            <a:srgbClr val="A4A3A4"/>
          </p15:clr>
        </p15:guide>
        <p15:guide id="10" pos="2811">
          <p15:clr>
            <a:srgbClr val="A4A3A4"/>
          </p15:clr>
        </p15:guide>
        <p15:guide id="11" pos="2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0789" autoAdjust="0"/>
  </p:normalViewPr>
  <p:slideViewPr>
    <p:cSldViewPr snapToGrid="0">
      <p:cViewPr varScale="1">
        <p:scale>
          <a:sx n="96" d="100"/>
          <a:sy n="96" d="100"/>
        </p:scale>
        <p:origin x="90" y="312"/>
      </p:cViewPr>
      <p:guideLst>
        <p:guide orient="horz" pos="1581"/>
        <p:guide orient="horz" pos="3004"/>
        <p:guide orient="horz" pos="422"/>
        <p:guide orient="horz" pos="824"/>
        <p:guide orient="horz" pos="2916"/>
        <p:guide orient="horz" pos="1643"/>
        <p:guide pos="5470"/>
        <p:guide pos="287"/>
        <p:guide pos="2909"/>
        <p:guide pos="2811"/>
        <p:guide pos="28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8BDCD-B97E-4414-ACE3-3B791EBB26C6}" type="datetimeFigureOut">
              <a:rPr lang="en-US" smtClean="0"/>
              <a:t>1/11/2019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2EBF3-77B4-4EE1-A274-EDB8C354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0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42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7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25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24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27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01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22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47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06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82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Details</a:t>
            </a:r>
            <a:r>
              <a:rPr lang="en-US" baseline="0" dirty="0" smtClean="0"/>
              <a:t> of Rework from 2016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94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Details of</a:t>
            </a:r>
            <a:r>
              <a:rPr lang="en-US" baseline="0" dirty="0" smtClean="0"/>
              <a:t> Rework from 2018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82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2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2EBF3-77B4-4EE1-A274-EDB8C3542FA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67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Radial Gradi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 smtClean="0"/>
              <a:t>Intel Clear pro Title</a:t>
            </a:r>
            <a:br>
              <a:rPr lang="en-US" dirty="0" smtClean="0"/>
            </a:br>
            <a:r>
              <a:rPr lang="en-US" dirty="0" smtClean="0"/>
              <a:t>with radial gradient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Intel Clear Subhead, Date, Etc.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 smtClean="0"/>
              <a:t>28pt Intel Clear Headline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130175"/>
            <a:ext cx="8228012" cy="3498975"/>
          </a:xfrm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Intro sentence or paragraph has no bullet and is Intel Blue</a:t>
            </a:r>
          </a:p>
          <a:p>
            <a:pPr lvl="1"/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sub-bullet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Insert photo here. Drag picture to placeholder or click icon to add.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>
              <a:defRPr sz="2400" b="0" i="0" baseline="0">
                <a:latin typeface="Intel Clear"/>
                <a:cs typeface="Intel Clear"/>
              </a:defRPr>
            </a:lvl1pPr>
          </a:lstStyle>
          <a:p>
            <a:r>
              <a:rPr lang="en-US" dirty="0" smtClean="0"/>
              <a:t>Intel Clear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sz="1400" dirty="0" smtClean="0"/>
            </a:lvl3pPr>
            <a:lvl4pPr>
              <a:defRPr lang="en-US" sz="1200" dirty="0" smtClean="0"/>
            </a:lvl4pPr>
            <a:lvl5pPr>
              <a:defRPr lang="en-US" sz="1100" dirty="0"/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smtClean="0"/>
              <a:t>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third level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08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eynote Encoder 1\Desktop\Pictur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bg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 smtClean="0"/>
              <a:t>28pt Intel Clear Headline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130175"/>
            <a:ext cx="8228012" cy="3498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Intel Clear body text</a:t>
            </a:r>
          </a:p>
          <a:p>
            <a:pPr lvl="1"/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sub-bullet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 descr="\\.psf\Home\Desktop\Int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smtClean="0">
                <a:solidFill>
                  <a:schemeClr val="bg1"/>
                </a:solidFill>
              </a:rPr>
              <a:t>Intel Confidential  |  Internal Use Only – Do Not Distribute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 smtClean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 smtClean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010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Bullete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bg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 smtClean="0"/>
              <a:t>28pt Intel Clear Headline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130175"/>
            <a:ext cx="8228012" cy="3498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Intel Clear body text</a:t>
            </a:r>
          </a:p>
          <a:p>
            <a:pPr lvl="1"/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sub-bullet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 descr="\\.psf\Home\Desktop\Int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smtClean="0">
                <a:solidFill>
                  <a:schemeClr val="bg1"/>
                </a:solidFill>
              </a:rPr>
              <a:t>Intel Confidential  |  Internal Use Only – Do Not Distribute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 smtClean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 smtClean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7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rgbClr val="003C7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 smtClean="0"/>
              <a:t>Intel Clear Pro</a:t>
            </a:r>
            <a:br>
              <a:rPr lang="en-US" dirty="0" smtClean="0"/>
            </a:br>
            <a:r>
              <a:rPr lang="en-US" dirty="0" smtClean="0"/>
              <a:t>white section break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16pt Intel Clear Subhead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 smtClean="0"/>
              <a:t>Intel Clear Pro</a:t>
            </a:r>
            <a:br>
              <a:rPr lang="en-US" dirty="0" smtClean="0"/>
            </a:br>
            <a:r>
              <a:rPr lang="en-US" dirty="0" smtClean="0"/>
              <a:t>blue section break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16pt Intel Clear Subhead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915989" y="4768454"/>
            <a:ext cx="75247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6DDCA-F0DF-474A-B50F-3AA7DE3DA665}" type="datetime1">
              <a:rPr lang="en-US" smtClean="0"/>
              <a:t>1/11/2019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1B834-8D6B-43A4-B359-26F0172CC6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xfrm>
            <a:off x="1749425" y="4768453"/>
            <a:ext cx="5761038" cy="37504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297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Intel Clear Headline</a:t>
            </a:r>
            <a:br>
              <a:rPr lang="en-US" dirty="0" smtClean="0"/>
            </a:br>
            <a:r>
              <a:rPr lang="en-US" dirty="0" smtClean="0"/>
              <a:t>2 lines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130175"/>
            <a:ext cx="8228012" cy="3498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Intel Clear body text</a:t>
            </a:r>
          </a:p>
          <a:p>
            <a:pPr lvl="1"/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sub-bullet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smtClean="0">
                <a:solidFill>
                  <a:schemeClr val="bg1"/>
                </a:solidFill>
              </a:rPr>
              <a:t>Intel Confidential  |  Internal Use Only – Do Not Distribute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 smtClean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 smtClean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0" r:id="rId2"/>
    <p:sldLayoutId id="2147483679" r:id="rId3"/>
    <p:sldLayoutId id="2147483677" r:id="rId4"/>
    <p:sldLayoutId id="2147483678" r:id="rId5"/>
    <p:sldLayoutId id="2147483672" r:id="rId6"/>
    <p:sldLayoutId id="2147483651" r:id="rId7"/>
    <p:sldLayoutId id="2147483676" r:id="rId8"/>
    <p:sldLayoutId id="2147483680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400" b="0" i="0" kern="1200" spc="0" baseline="0">
          <a:solidFill>
            <a:srgbClr val="003C71"/>
          </a:solidFill>
          <a:latin typeface="Intel Clear"/>
          <a:ea typeface="Intel Clear"/>
          <a:cs typeface="Intel Clear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6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4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Server ODM Equipment Survey REport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Ww30 2018</a:t>
            </a:r>
          </a:p>
          <a:p>
            <a:r>
              <a:rPr lang="en-US" smtClean="0"/>
              <a:t>Customer Q&amp;R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7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	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40000"/>
              </a:spcBef>
            </a:pPr>
            <a:r>
              <a:rPr lang="en-US" sz="2000" b="1" dirty="0">
                <a:solidFill>
                  <a:srgbClr val="000000"/>
                </a:solidFill>
              </a:rPr>
              <a:t>Share Findings from CME Server Industry Data </a:t>
            </a:r>
            <a:r>
              <a:rPr lang="en-US" sz="2000" b="1" dirty="0" smtClean="0">
                <a:solidFill>
                  <a:srgbClr val="000000"/>
                </a:solidFill>
              </a:rPr>
              <a:t>Collection for Whitley </a:t>
            </a:r>
            <a:r>
              <a:rPr lang="en-US" sz="2000" b="1" dirty="0">
                <a:solidFill>
                  <a:srgbClr val="000000"/>
                </a:solidFill>
              </a:rPr>
              <a:t>Platform Survey </a:t>
            </a:r>
          </a:p>
          <a:p>
            <a:pPr lvl="2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>
                <a:solidFill>
                  <a:srgbClr val="000000"/>
                </a:solidFill>
              </a:rPr>
              <a:t>Summarize data collected from the Mobile Customers manufacturers (Quanta, </a:t>
            </a:r>
            <a:r>
              <a:rPr lang="en-US" dirty="0" err="1">
                <a:solidFill>
                  <a:srgbClr val="000000"/>
                </a:solidFill>
              </a:rPr>
              <a:t>Wistron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Zhongshan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Inventec</a:t>
            </a:r>
            <a:r>
              <a:rPr lang="en-US" dirty="0">
                <a:solidFill>
                  <a:srgbClr val="000000"/>
                </a:solidFill>
              </a:rPr>
              <a:t>, Foxconn and others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</a:p>
          <a:p>
            <a:pPr lvl="2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Green highlighted boxes are updated information from 2018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43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600">
                <a:solidFill>
                  <a:schemeClr val="bg1"/>
                </a:solidFill>
              </a:rPr>
              <a:pPr/>
              <a:t>3</a:t>
            </a:fld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1879997"/>
            <a:ext cx="6178154" cy="66675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Screen Printing</a:t>
            </a:r>
          </a:p>
        </p:txBody>
      </p:sp>
    </p:spTree>
    <p:extLst>
      <p:ext uri="{BB962C8B-B14F-4D97-AF65-F5344CB8AC3E}">
        <p14:creationId xmlns:p14="http://schemas.microsoft.com/office/powerpoint/2010/main" val="59133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905516"/>
              </p:ext>
            </p:extLst>
          </p:nvPr>
        </p:nvGraphicFramePr>
        <p:xfrm>
          <a:off x="1314450" y="514350"/>
          <a:ext cx="5712515" cy="2298426"/>
        </p:xfrm>
        <a:graphic>
          <a:graphicData uri="http://schemas.openxmlformats.org/drawingml/2006/table">
            <a:tbl>
              <a:tblPr/>
              <a:tblGrid>
                <a:gridCol w="219229"/>
                <a:gridCol w="1115252"/>
                <a:gridCol w="2189017"/>
                <a:gridCol w="2189017"/>
              </a:tblGrid>
              <a:tr h="390448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What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is the stencil thickness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</a:t>
                      </a: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Stencil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Thickness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3635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T5.1D19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 mil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108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T5D19/T6D17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10543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T4.7D23/T5D19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T5D21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10543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10543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T5D19/T4D22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T5D19/T4D22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10543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10543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T5D21/T6D22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10543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00150" y="57150"/>
            <a:ext cx="244810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Stencil Thickness </a:t>
            </a:r>
          </a:p>
        </p:txBody>
      </p:sp>
    </p:spTree>
    <p:extLst>
      <p:ext uri="{BB962C8B-B14F-4D97-AF65-F5344CB8AC3E}">
        <p14:creationId xmlns:p14="http://schemas.microsoft.com/office/powerpoint/2010/main" val="307235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102015"/>
              </p:ext>
            </p:extLst>
          </p:nvPr>
        </p:nvGraphicFramePr>
        <p:xfrm>
          <a:off x="1336525" y="2395331"/>
          <a:ext cx="6048250" cy="2154276"/>
        </p:xfrm>
        <a:graphic>
          <a:graphicData uri="http://schemas.openxmlformats.org/drawingml/2006/table">
            <a:tbl>
              <a:tblPr/>
              <a:tblGrid>
                <a:gridCol w="315014"/>
                <a:gridCol w="1197050"/>
                <a:gridCol w="1260052"/>
                <a:gridCol w="1386057"/>
                <a:gridCol w="1008041"/>
                <a:gridCol w="882036"/>
              </a:tblGrid>
              <a:tr h="260706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Solder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Paste 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used </a:t>
                      </a:r>
                      <a:r>
                        <a:rPr lang="en-US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8682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Brand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Alloy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Powder Type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581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0581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0344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Zhongshan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Henkel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GC10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SAC305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Type 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0344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Zhongshan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Indium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8.9HF1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SAC305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Type 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0581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Alpha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OM338-PT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0581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0581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0581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0581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40581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00150" y="0"/>
            <a:ext cx="183896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Solder Paste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107937"/>
              </p:ext>
            </p:extLst>
          </p:nvPr>
        </p:nvGraphicFramePr>
        <p:xfrm>
          <a:off x="1336525" y="415495"/>
          <a:ext cx="6048250" cy="1846319"/>
        </p:xfrm>
        <a:graphic>
          <a:graphicData uri="http://schemas.openxmlformats.org/drawingml/2006/table">
            <a:tbl>
              <a:tblPr/>
              <a:tblGrid>
                <a:gridCol w="315014"/>
                <a:gridCol w="1197050"/>
                <a:gridCol w="1260052"/>
                <a:gridCol w="1386057"/>
                <a:gridCol w="1008041"/>
                <a:gridCol w="882036"/>
              </a:tblGrid>
              <a:tr h="291839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Paste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44797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Brand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Alloy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Powder Type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37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37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Alpha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OM338-PT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37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WTO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WTO-LF2000T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37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37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Alpha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OM338-PT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37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Alpha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CVP390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37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15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688524"/>
              </p:ext>
            </p:extLst>
          </p:nvPr>
        </p:nvGraphicFramePr>
        <p:xfrm>
          <a:off x="775252" y="571501"/>
          <a:ext cx="7470115" cy="3531243"/>
        </p:xfrm>
        <a:graphic>
          <a:graphicData uri="http://schemas.openxmlformats.org/drawingml/2006/table">
            <a:tbl>
              <a:tblPr/>
              <a:tblGrid>
                <a:gridCol w="186999"/>
                <a:gridCol w="934995"/>
                <a:gridCol w="789823"/>
                <a:gridCol w="1852766"/>
                <a:gridCol w="1852766"/>
                <a:gridCol w="1852766"/>
              </a:tblGrid>
              <a:tr h="461305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Screen Print Machine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Please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new Screen Print Machine used,</a:t>
                      </a:r>
                      <a:r>
                        <a:rPr lang="en-US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if different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t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785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5335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Momentum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Horizon 03ix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Infinity API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Infinity API;</a:t>
                      </a:r>
                      <a:r>
                        <a:rPr lang="en-US" sz="12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NeoHorizon; Horizon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265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Horizon 03i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Horizon 03ix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Infinity API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Infinity API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25335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25335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25335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03ix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57300" y="57150"/>
            <a:ext cx="3429000" cy="4154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100" b="1" dirty="0"/>
              <a:t>Screen Print Machine</a:t>
            </a:r>
          </a:p>
        </p:txBody>
      </p:sp>
    </p:spTree>
    <p:extLst>
      <p:ext uri="{BB962C8B-B14F-4D97-AF65-F5344CB8AC3E}">
        <p14:creationId xmlns:p14="http://schemas.microsoft.com/office/powerpoint/2010/main" val="215068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029475"/>
              </p:ext>
            </p:extLst>
          </p:nvPr>
        </p:nvGraphicFramePr>
        <p:xfrm>
          <a:off x="1038555" y="2631300"/>
          <a:ext cx="6404484" cy="1861184"/>
        </p:xfrm>
        <a:graphic>
          <a:graphicData uri="http://schemas.openxmlformats.org/drawingml/2006/table">
            <a:tbl>
              <a:tblPr/>
              <a:tblGrid>
                <a:gridCol w="218858"/>
                <a:gridCol w="924387"/>
                <a:gridCol w="924387"/>
                <a:gridCol w="2168426"/>
                <a:gridCol w="2168426"/>
              </a:tblGrid>
              <a:tr h="31120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Pressure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Print Speed</a:t>
                      </a:r>
                      <a:endParaRPr lang="en-US" sz="16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Separation speed</a:t>
                      </a:r>
                      <a:endParaRPr lang="en-US" sz="16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7472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14kg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40mm/s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20mm/s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5627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7-10kg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30-50mm/s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67813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11kg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67813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67813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13kg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67813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67813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67813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57300" y="57150"/>
            <a:ext cx="3429000" cy="4154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100" b="1" dirty="0"/>
              <a:t>Printing 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810873"/>
              </p:ext>
            </p:extLst>
          </p:nvPr>
        </p:nvGraphicFramePr>
        <p:xfrm>
          <a:off x="1038555" y="766518"/>
          <a:ext cx="6147436" cy="1718262"/>
        </p:xfrm>
        <a:graphic>
          <a:graphicData uri="http://schemas.openxmlformats.org/drawingml/2006/table">
            <a:tbl>
              <a:tblPr/>
              <a:tblGrid>
                <a:gridCol w="210074"/>
                <a:gridCol w="887286"/>
                <a:gridCol w="887286"/>
                <a:gridCol w="2081395"/>
                <a:gridCol w="2081395"/>
              </a:tblGrid>
              <a:tr h="287042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Pressure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Print Speed</a:t>
                      </a:r>
                      <a:endParaRPr lang="en-US" sz="16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Separation speed</a:t>
                      </a:r>
                      <a:endParaRPr lang="en-US" sz="16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1361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16kg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167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6kg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782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782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12kg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782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8kg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782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782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14.8kg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782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10kg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2mm/s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62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600">
                <a:solidFill>
                  <a:schemeClr val="bg1"/>
                </a:solidFill>
              </a:rPr>
              <a:pPr/>
              <a:t>8</a:t>
            </a:fld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1879997"/>
            <a:ext cx="6178154" cy="66675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SPI</a:t>
            </a:r>
          </a:p>
        </p:txBody>
      </p:sp>
    </p:spTree>
    <p:extLst>
      <p:ext uri="{BB962C8B-B14F-4D97-AF65-F5344CB8AC3E}">
        <p14:creationId xmlns:p14="http://schemas.microsoft.com/office/powerpoint/2010/main" val="390333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00150" y="57150"/>
            <a:ext cx="6178153" cy="342900"/>
          </a:xfrm>
        </p:spPr>
        <p:txBody>
          <a:bodyPr/>
          <a:lstStyle/>
          <a:p>
            <a:r>
              <a:rPr lang="en-US" dirty="0" smtClean="0"/>
              <a:t>SPI Machine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397621"/>
              </p:ext>
            </p:extLst>
          </p:nvPr>
        </p:nvGraphicFramePr>
        <p:xfrm>
          <a:off x="854766" y="571499"/>
          <a:ext cx="7623312" cy="3592996"/>
        </p:xfrm>
        <a:graphic>
          <a:graphicData uri="http://schemas.openxmlformats.org/drawingml/2006/table">
            <a:tbl>
              <a:tblPr/>
              <a:tblGrid>
                <a:gridCol w="190834"/>
                <a:gridCol w="954169"/>
                <a:gridCol w="806020"/>
                <a:gridCol w="2079641"/>
                <a:gridCol w="1701885"/>
                <a:gridCol w="1890763"/>
              </a:tblGrid>
              <a:tr h="59685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AOI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Machine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list the new AOI Machine used,</a:t>
                      </a:r>
                      <a:r>
                        <a:rPr lang="en-US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if </a:t>
                      </a:r>
                      <a:r>
                        <a:rPr lang="en-US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different</a:t>
                      </a: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t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1082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 (Control)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 (Control)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9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Cyberoptics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Cyberoptics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79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Ultra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SE300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Cyber Optics</a:t>
                      </a:r>
                      <a:b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SE500</a:t>
                      </a:r>
                      <a:b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TR7007 (L)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79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SYMBION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8030 XL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79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Orbotech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VT9200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79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7000LL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7700SIII/7700SII/7500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8951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8951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79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Cyberoptics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SE500X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41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600">
                <a:solidFill>
                  <a:schemeClr val="bg1"/>
                </a:solidFill>
              </a:rPr>
              <a:pPr/>
              <a:t>10</a:t>
            </a:fld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1879997"/>
            <a:ext cx="6178154" cy="66675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Placement</a:t>
            </a:r>
          </a:p>
        </p:txBody>
      </p:sp>
    </p:spTree>
    <p:extLst>
      <p:ext uri="{BB962C8B-B14F-4D97-AF65-F5344CB8AC3E}">
        <p14:creationId xmlns:p14="http://schemas.microsoft.com/office/powerpoint/2010/main" val="278953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092736"/>
              </p:ext>
            </p:extLst>
          </p:nvPr>
        </p:nvGraphicFramePr>
        <p:xfrm>
          <a:off x="884583" y="800100"/>
          <a:ext cx="7007089" cy="3445546"/>
        </p:xfrm>
        <a:graphic>
          <a:graphicData uri="http://schemas.openxmlformats.org/drawingml/2006/table">
            <a:tbl>
              <a:tblPr/>
              <a:tblGrid>
                <a:gridCol w="367686"/>
                <a:gridCol w="1013599"/>
                <a:gridCol w="1023993"/>
                <a:gridCol w="1533937"/>
                <a:gridCol w="1533937"/>
                <a:gridCol w="1533937"/>
              </a:tblGrid>
              <a:tr h="62782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BGA Placement Machine </a:t>
                      </a:r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list the BGA Placement Machine used,</a:t>
                      </a:r>
                      <a:r>
                        <a:rPr lang="en-US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if </a:t>
                      </a:r>
                      <a:r>
                        <a:rPr lang="en-US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different</a:t>
                      </a: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</a:t>
                      </a:r>
                      <a:endParaRPr lang="en-US" sz="1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927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1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DT401-F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Fuji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AIMX-III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18548"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DT401-F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Panasonic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DT401; CM602-F0; NPM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18548"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Universal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GSM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Genesis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CM602/BM231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18548"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Universal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Genesis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18548"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NXT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NXT II (1190)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0927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NXT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09274"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SIMENS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53318"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NPN-W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371601" y="171450"/>
            <a:ext cx="330891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BGA Placement Machine </a:t>
            </a:r>
          </a:p>
        </p:txBody>
      </p:sp>
    </p:spTree>
    <p:extLst>
      <p:ext uri="{BB962C8B-B14F-4D97-AF65-F5344CB8AC3E}">
        <p14:creationId xmlns:p14="http://schemas.microsoft.com/office/powerpoint/2010/main" val="44047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600">
                <a:solidFill>
                  <a:schemeClr val="bg1"/>
                </a:solidFill>
              </a:rPr>
              <a:pPr/>
              <a:t>12</a:t>
            </a:fld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1879997"/>
            <a:ext cx="6178154" cy="66675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Reflow</a:t>
            </a:r>
          </a:p>
        </p:txBody>
      </p:sp>
    </p:spTree>
    <p:extLst>
      <p:ext uri="{BB962C8B-B14F-4D97-AF65-F5344CB8AC3E}">
        <p14:creationId xmlns:p14="http://schemas.microsoft.com/office/powerpoint/2010/main" val="38712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944447"/>
              </p:ext>
            </p:extLst>
          </p:nvPr>
        </p:nvGraphicFramePr>
        <p:xfrm>
          <a:off x="298175" y="886492"/>
          <a:ext cx="8112728" cy="3329307"/>
        </p:xfrm>
        <a:graphic>
          <a:graphicData uri="http://schemas.openxmlformats.org/drawingml/2006/table">
            <a:tbl>
              <a:tblPr/>
              <a:tblGrid>
                <a:gridCol w="249472"/>
                <a:gridCol w="1228172"/>
                <a:gridCol w="1343312"/>
                <a:gridCol w="998168"/>
                <a:gridCol w="560394"/>
                <a:gridCol w="659287"/>
                <a:gridCol w="840590"/>
                <a:gridCol w="799385"/>
                <a:gridCol w="634563"/>
                <a:gridCol w="799385"/>
              </a:tblGrid>
              <a:tr h="547964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Q1: Reflow Machine's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Q2: N2 reflow?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Q3: O2 ppm level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Q1: Reflow Machine's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Q2: N2 reflow?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Q3: O2 ppm level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218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760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TAMURA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TNR50-6910PH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4000ppm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Rehm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VXP-9455E690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2500ppm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5214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TAMURA(FURUKAWA)</a:t>
                      </a:r>
                      <a:endParaRPr lang="zh-TW" alt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TNC51-6212EM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&lt;500ppm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Rehm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VXP-944,</a:t>
                      </a:r>
                      <a:r>
                        <a:rPr lang="en-US" sz="1200" b="0" i="0" u="none" strike="noStrike" baseline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VXP945 (N)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&lt;500ppm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41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Vitronix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XPM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1240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&lt;350ppm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Vitronix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XPM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1240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&lt;1000ppm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0218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83014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Heller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1902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&lt;3000ppm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Rehm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RS-35319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&lt;1000ppm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384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BTU </a:t>
                      </a:r>
                      <a:r>
                        <a:rPr lang="en-US" sz="12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Pyramax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150N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&lt;200ppm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0218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ERSA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320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760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Heller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2043 MK5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&lt;3000ppm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0218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371601" y="171450"/>
            <a:ext cx="501932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Reflow Machine, N2 and O2 ppm Level</a:t>
            </a:r>
          </a:p>
        </p:txBody>
      </p:sp>
    </p:spTree>
    <p:extLst>
      <p:ext uri="{BB962C8B-B14F-4D97-AF65-F5344CB8AC3E}">
        <p14:creationId xmlns:p14="http://schemas.microsoft.com/office/powerpoint/2010/main" val="151853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72202"/>
              </p:ext>
            </p:extLst>
          </p:nvPr>
        </p:nvGraphicFramePr>
        <p:xfrm>
          <a:off x="197069" y="800100"/>
          <a:ext cx="8589121" cy="3205370"/>
        </p:xfrm>
        <a:graphic>
          <a:graphicData uri="http://schemas.openxmlformats.org/drawingml/2006/table">
            <a:tbl>
              <a:tblPr/>
              <a:tblGrid>
                <a:gridCol w="258591"/>
                <a:gridCol w="1527609"/>
                <a:gridCol w="693718"/>
                <a:gridCol w="1365059"/>
                <a:gridCol w="1186036"/>
                <a:gridCol w="1186036"/>
                <a:gridCol w="1186036"/>
                <a:gridCol w="1186036"/>
              </a:tblGrid>
              <a:tr h="3234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With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Pallet / Carrier?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With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Pallet / Carrier?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76384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/ 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specific / generic pallet?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What material used for Pallet fabrication?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/ 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specific / generic pallet?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What material used for Pallet fabrication?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21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84257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Yes when PCB width&gt;250mm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Customized pallet by product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Aluminum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2127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Synthetic</a:t>
                      </a:r>
                      <a:r>
                        <a:rPr lang="en-US" sz="12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stone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21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84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SMT carrier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 Alloy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SMT carrier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 Alloy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84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 SMT carrier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8425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 alloy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21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371601" y="171450"/>
            <a:ext cx="348204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Reflow Pallet and Material</a:t>
            </a:r>
          </a:p>
        </p:txBody>
      </p:sp>
    </p:spTree>
    <p:extLst>
      <p:ext uri="{BB962C8B-B14F-4D97-AF65-F5344CB8AC3E}">
        <p14:creationId xmlns:p14="http://schemas.microsoft.com/office/powerpoint/2010/main" val="287434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040423"/>
              </p:ext>
            </p:extLst>
          </p:nvPr>
        </p:nvGraphicFramePr>
        <p:xfrm>
          <a:off x="685799" y="571502"/>
          <a:ext cx="7677808" cy="3291840"/>
        </p:xfrm>
        <a:graphic>
          <a:graphicData uri="http://schemas.openxmlformats.org/drawingml/2006/table">
            <a:tbl>
              <a:tblPr/>
              <a:tblGrid>
                <a:gridCol w="552276"/>
                <a:gridCol w="2475592"/>
                <a:gridCol w="2324970"/>
                <a:gridCol w="2324970"/>
              </a:tblGrid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Belt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Speed (cm/minute)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Updated Belt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Speed (cm/minute)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 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 – 95cm/min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85-95 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 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 cm/min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 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 – 73 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 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81 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 cm/min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606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314450" y="114300"/>
            <a:ext cx="161614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Belt Speed </a:t>
            </a:r>
          </a:p>
        </p:txBody>
      </p:sp>
    </p:spTree>
    <p:extLst>
      <p:ext uri="{BB962C8B-B14F-4D97-AF65-F5344CB8AC3E}">
        <p14:creationId xmlns:p14="http://schemas.microsoft.com/office/powerpoint/2010/main" val="245157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758700"/>
              </p:ext>
            </p:extLst>
          </p:nvPr>
        </p:nvGraphicFramePr>
        <p:xfrm>
          <a:off x="1232452" y="514348"/>
          <a:ext cx="6192079" cy="1861101"/>
        </p:xfrm>
        <a:graphic>
          <a:graphicData uri="http://schemas.openxmlformats.org/drawingml/2006/table">
            <a:tbl>
              <a:tblPr/>
              <a:tblGrid>
                <a:gridCol w="259251"/>
                <a:gridCol w="1276307"/>
                <a:gridCol w="1555498"/>
                <a:gridCol w="737864"/>
                <a:gridCol w="1017056"/>
                <a:gridCol w="697979"/>
                <a:gridCol w="648124"/>
              </a:tblGrid>
              <a:tr h="372221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Peak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temperature (°C)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Soak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Falling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61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237.4 – 247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 – 82s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 – 88s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-2.17C/s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1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236 - 246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 – 83s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 – 90s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-0.82 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1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235 - 248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– 116s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 – 93s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2.23C/s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-1.56C/s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1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238 - 246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– 99s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 – 86s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1.57C/s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-0.86C/s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1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235 - 249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 – 96s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 – 96s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1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236 – 254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75-81s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85-92S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 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-1.76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1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237 - 249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63-90s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89s – 92s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-1.6 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1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240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- 242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81 – 95s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 – 100s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 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-2.2 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314451" y="57150"/>
            <a:ext cx="346280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Reflow Profile 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765718"/>
              </p:ext>
            </p:extLst>
          </p:nvPr>
        </p:nvGraphicFramePr>
        <p:xfrm>
          <a:off x="1242392" y="2609243"/>
          <a:ext cx="6192078" cy="2112049"/>
        </p:xfrm>
        <a:graphic>
          <a:graphicData uri="http://schemas.openxmlformats.org/drawingml/2006/table">
            <a:tbl>
              <a:tblPr/>
              <a:tblGrid>
                <a:gridCol w="259251"/>
                <a:gridCol w="1276307"/>
                <a:gridCol w="1555498"/>
                <a:gridCol w="737864"/>
                <a:gridCol w="1017056"/>
                <a:gridCol w="697979"/>
                <a:gridCol w="648123"/>
              </a:tblGrid>
              <a:tr h="347981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Peak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temperature (°C)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Soak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Falling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60064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236-248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62-76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70-95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2.1C/s，-2.2C/s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236-248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60064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235 - 245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30--120s (60 –90s)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30--100s (70 – 90s)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2C/s</a:t>
                      </a:r>
                      <a:endParaRPr 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 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 </a:t>
                      </a:r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- 242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</a:t>
                      </a:r>
                      <a:r>
                        <a:rPr lang="en-US" sz="105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– 110s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 – 116s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2.26C/s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-1.47C/s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 </a:t>
                      </a:r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- 250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 – 90s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 – 120s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3C/s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50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CFB6B40E-BE22-4756-B087-067A66BDE6A9}" type="datetime1">
              <a:rPr lang="en-US" sz="600">
                <a:solidFill>
                  <a:srgbClr val="FFFFFF"/>
                </a:solidFill>
              </a:rPr>
              <a:t>1/11/2019</a:t>
            </a:fld>
            <a:endParaRPr lang="en-US" sz="60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600">
                <a:solidFill>
                  <a:schemeClr val="bg1"/>
                </a:solidFill>
              </a:rPr>
              <a:pPr/>
              <a:t>17</a:t>
            </a:fld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1879997"/>
            <a:ext cx="6178154" cy="66675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Rework</a:t>
            </a:r>
          </a:p>
        </p:txBody>
      </p:sp>
    </p:spTree>
    <p:extLst>
      <p:ext uri="{BB962C8B-B14F-4D97-AF65-F5344CB8AC3E}">
        <p14:creationId xmlns:p14="http://schemas.microsoft.com/office/powerpoint/2010/main" val="29784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257301" y="53608"/>
          <a:ext cx="5943602" cy="4933206"/>
        </p:xfrm>
        <a:graphic>
          <a:graphicData uri="http://schemas.openxmlformats.org/drawingml/2006/table">
            <a:tbl>
              <a:tblPr/>
              <a:tblGrid>
                <a:gridCol w="2120362"/>
                <a:gridCol w="764648"/>
                <a:gridCol w="764648"/>
                <a:gridCol w="764648"/>
                <a:gridCol w="764648"/>
                <a:gridCol w="764648"/>
              </a:tblGrid>
              <a:tr h="979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Attributes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Quanta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Wistron</a:t>
                      </a:r>
                      <a:r>
                        <a:rPr lang="en-US" sz="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6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Zhongshan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Foxconn Wuhan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Inventec</a:t>
                      </a:r>
                      <a:r>
                        <a:rPr lang="en-US" sz="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TAO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Celestica 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Rework Equipment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Rework Brand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</a:t>
                      </a:r>
                      <a:r>
                        <a:rPr lang="en-US" sz="5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VJE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VJElectronix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Onyx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Rework 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SRT</a:t>
                      </a:r>
                      <a:r>
                        <a:rPr lang="en-US" sz="5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1800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SRT1800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Summit 1800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SRT 1800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Nozzle Size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918mm *663mm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68mm X 93mm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88x65 64x43.5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Confidential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62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 of Nozzle Design for BGA (Conventional or Center Air flow)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Center air flow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Center Air flow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conventional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Conventional</a:t>
                      </a:r>
                      <a:r>
                        <a:rPr lang="en-US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Center</a:t>
                      </a:r>
                      <a:r>
                        <a:rPr lang="en-US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airflow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PnP Process (Manually or Auto)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Using Nitrogen (Yes or No)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4068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Automatic or manual contact solder removal. (Scavenging)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mamual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Manual contact solder removal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scavenging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Rework Profile Attribute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 (time above 220 C in sec)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98~134 / 148~180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85s~124s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60~120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100-120s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 – 125s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 Peak Temperature (deg C)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ngLiU" panose="02020509000000000000" pitchFamily="49" charset="-120"/>
                          <a:ea typeface="MingLiU" panose="02020509000000000000" pitchFamily="49" charset="-120"/>
                        </a:rPr>
                        <a:t>℃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/ 243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ngLiU" panose="02020509000000000000" pitchFamily="49" charset="-120"/>
                          <a:ea typeface="MingLiU" panose="02020509000000000000" pitchFamily="49" charset="-120"/>
                        </a:rPr>
                        <a:t>℃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236°C~243°C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240+-5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247.2C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Soak time (s)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82~93 / 93~109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66s~78s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105-110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 – 73s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Rising Ramp Rate below 205°C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0.4~0.5 / 0.4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0.3°C/s~0.4°C/s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&lt;3c/s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0.4C/s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0.4C/s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Critical Rising Ramp Rate between 205°C and 215°C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0.35~0.5 / 0.35~0.4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0.2°C/s~0.3°C/s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&lt;3c/s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0.57C/s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0.3C/s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Falling Ramp Rate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1.0~1.1 / 0.5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0.5°C/s~0.9°C/s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&lt;3c/s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-1.64C/s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-0.56 C/s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Board Support 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Board support pins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 Pallet of fixture for handling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Sliding suppot with pins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Printing Paste / Flux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Print Paste with mini stencil?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4068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 you apply flux to PCB or CPU?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Apply flux to PCB for site dressing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Desoldering</a:t>
                      </a:r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only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Print Paste to PCB or CPU?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PCB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CPU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101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Mini-stencil dimension on "x" and "y".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85mm*60mm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For half SKT:38.5*52.5mm; For 2 halves SKT:78.5*54.5mm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55mmx40mm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Mini-stencil thickness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5mil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5mil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5mil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5mil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Mini-stencil aperture shape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19mil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19mil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12mil round (CPU)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19mil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Paste Brand and 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 PF606-P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SHENMAO PF606-P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维特偶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WTO-LF2000T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</a:t>
                      </a:r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PF606-P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Alpha OM338</a:t>
                      </a:r>
                      <a:r>
                        <a:rPr lang="en-US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PT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Flux Brand and 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SHENMAO SMF-2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RM938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</a:t>
                      </a:r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SMF-2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Iron Information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4068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Type and Alloy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 FP606-R,Sn96.5Ag3Cu0.5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SHENMAO PF606-R(SAC305)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QUICK </a:t>
                      </a:r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203H (sac305)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SAC305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SAC</a:t>
                      </a:r>
                      <a:r>
                        <a:rPr lang="en-US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305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Iron Temperature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</a:t>
                      </a: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ngLiU" panose="02020509000000000000" pitchFamily="49" charset="-120"/>
                          <a:ea typeface="MingLiU" panose="02020509000000000000" pitchFamily="49" charset="-120"/>
                        </a:rPr>
                        <a:t>℃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385±10℃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400+-10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400C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Iron Tip Shape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Knife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Blade Type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Blade</a:t>
                      </a:r>
                      <a:r>
                        <a:rPr lang="en-US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type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Iron Tip Condition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High-frequency Welding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Clean and Tined (Yes/No)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Contaminated with Burnt Flux (Yes/No)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Flux Information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Flux Type/Make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Paste Flux (SHENMAO SMF-2)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RM938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</a:t>
                      </a:r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SMF-2, NO-CLEAN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How is the Flux Applied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ESD Brush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BRUSH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Amount of Flux Applied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Uniformity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Thin</a:t>
                      </a:r>
                      <a:r>
                        <a:rPr lang="en-US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layer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4068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Frequency the Flux is Applied between De-Soldering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Once (before de-soldering)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Once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Wick Information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Wick Type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Gootwick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CP-3015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Chemtronics</a:t>
                      </a:r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Cu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Wick Thickness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0.3mm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91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Wick Width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2.5mm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49049" y="1797805"/>
            <a:ext cx="692943" cy="5445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图片 6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49049" y="1743942"/>
            <a:ext cx="464344" cy="30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2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459852"/>
              </p:ext>
            </p:extLst>
          </p:nvPr>
        </p:nvGraphicFramePr>
        <p:xfrm>
          <a:off x="139455" y="40021"/>
          <a:ext cx="8915834" cy="51261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8476"/>
                <a:gridCol w="1823427"/>
                <a:gridCol w="1215514"/>
                <a:gridCol w="1589964"/>
                <a:gridCol w="1958453"/>
              </a:tblGrid>
              <a:tr h="6699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u="none" strike="noStrike" dirty="0">
                          <a:effectLst/>
                        </a:rPr>
                        <a:t>Attributes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smtClean="0">
                          <a:effectLst/>
                        </a:rPr>
                        <a:t>Foxconn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Inventec</a:t>
                      </a:r>
                      <a:endParaRPr lang="en-US" sz="6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Quanta</a:t>
                      </a:r>
                      <a:endParaRPr lang="en-US" sz="6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Wistron</a:t>
                      </a:r>
                      <a:endParaRPr lang="en-US" sz="6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Rework Equipment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endParaRPr lang="en-US" sz="6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endParaRPr lang="en-US" sz="6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Rework Brand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VJElectronix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ZEVAC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VJE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VJE</a:t>
                      </a:r>
                    </a:p>
                  </a:txBody>
                  <a:tcPr marL="9525" marR="9525" marT="9525" marB="0" anchor="b"/>
                </a:tc>
              </a:tr>
              <a:tr h="7339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Rework Model ID/#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Summit 1800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Onyx 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SRT 1800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SRT1800, SRT LX</a:t>
                      </a:r>
                    </a:p>
                  </a:txBody>
                  <a:tcPr marL="9525" marR="9525" marT="9525" marB="0" anchor="b"/>
                </a:tc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600" u="none" strike="noStrike">
                          <a:effectLst/>
                        </a:rPr>
                        <a:t>Nozzle Size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For DIMM: 138*10mm；</a:t>
                      </a:r>
                      <a:br>
                        <a:rPr lang="en-US" sz="600" u="none" strike="noStrike">
                          <a:effectLst/>
                        </a:rPr>
                      </a:br>
                      <a:r>
                        <a:rPr lang="en-US" sz="600" u="none" strike="noStrike">
                          <a:effectLst/>
                        </a:rPr>
                        <a:t>For CPU socket:65*40mm( a half);65*85mm(a set)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Confidential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68mm *45mm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68mm X 93mm; Customized by component</a:t>
                      </a:r>
                    </a:p>
                  </a:txBody>
                  <a:tcPr marL="9525" marR="9525" marT="9525" marB="0" anchor="b"/>
                </a:tc>
              </a:tr>
              <a:tr h="13399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Type of Nozzle Design for BGA (Conventional or Center Air flow)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conventional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Conventional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Center air flow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Center Air flow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PnP Process (Manually or Auto)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auto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</a:t>
                      </a:r>
                    </a:p>
                  </a:txBody>
                  <a:tcPr marL="9525" marR="9525" marT="9525" marB="0" anchor="b"/>
                </a:tc>
              </a:tr>
              <a:tr h="0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Using Nitrogen (Yes or No)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dirty="0">
                          <a:effectLst/>
                        </a:rPr>
                        <a:t>no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</a:tr>
              <a:tr h="13399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Automatic or manual contact solder removal. (Scavenging)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Manual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 scavenging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mamual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 but only being used in special case. Normally, Manual solder removal.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Rework Profile Attribute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TAL (time above 220 C in sec)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60~120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60-120s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60~120sec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30--120s (60 –90s)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Max Peak Temperature (deg C)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240+-5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230~250℃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235°C~245°C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Soak time (s)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110s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60-180s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≤100sec,maximum≤120sec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30--100s (70 – 90s)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Rising Ramp Rate below 205°C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&lt;3c/s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deg C/s Max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0.35~2.5℃/sec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&lt;2°C/s</a:t>
                      </a:r>
                    </a:p>
                  </a:txBody>
                  <a:tcPr marL="9525" marR="9525" marT="9525" marB="0" anchor="b"/>
                </a:tc>
              </a:tr>
              <a:tr h="13399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Critical Rising Ramp Rate between 205°C and 215°C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&lt;3c/s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deg C/s Max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0.35~0.75℃/sec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&lt;2°C/s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Falling Ramp Rate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&lt;3c/s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deg C/s Max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0.5~2.0℃/sec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&lt;2°C/s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Board Support  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Board support pins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yes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Custom Pallet of fixture for handling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yes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Sliding suppot with pins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yes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Printing Paste / Flux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Print Paste with mini stencil?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yes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Do you apply flux to PCB or CPU?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yes,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Apply flux to PCB for site dressing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Print Paste to PCB or CPU?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PCB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BGA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</a:p>
                  </a:txBody>
                  <a:tcPr marL="9525" marR="9525" marT="9525" marB="0" anchor="b"/>
                </a:tc>
              </a:tr>
              <a:tr h="133993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Mini-stencil dimension on "x" and "y".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DIMM socket:13.1*8mm;</a:t>
                      </a:r>
                      <a:br>
                        <a:rPr lang="en-US" sz="600" u="none" strike="noStrike">
                          <a:effectLst/>
                        </a:rPr>
                      </a:br>
                      <a:r>
                        <a:rPr lang="en-US" sz="600" u="none" strike="noStrike">
                          <a:effectLst/>
                        </a:rPr>
                        <a:t>CPU socket:8*5.9mm&amp;5.8*4.1mm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65mm*50mm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half SKT:38.5*52.5mm; For 2 halves SKT:78.5*54.5mm; ; Customized by component</a:t>
                      </a:r>
                    </a:p>
                  </a:txBody>
                  <a:tcPr marL="9525" marR="9525" marT="9525" marB="0" anchor="b"/>
                </a:tc>
              </a:tr>
              <a:tr h="13399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Mini-stencil thickness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CPU socket:0.13mm;</a:t>
                      </a:r>
                      <a:br>
                        <a:rPr lang="en-US" sz="600" u="none" strike="noStrike">
                          <a:effectLst/>
                        </a:rPr>
                      </a:br>
                      <a:r>
                        <a:rPr lang="en-US" sz="600" u="none" strike="noStrike">
                          <a:effectLst/>
                        </a:rPr>
                        <a:t>DIMM socket:0.18mm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5mil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5mil</a:t>
                      </a:r>
                    </a:p>
                  </a:txBody>
                  <a:tcPr marL="9525" marR="9525" marT="9525" marB="0" anchor="b"/>
                </a:tc>
              </a:tr>
              <a:tr h="15253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Mini-stencil aperture shape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For DIMM socket: Resauall.</a:t>
                      </a:r>
                      <a:br>
                        <a:rPr lang="en-US" sz="600" u="none" strike="noStrike">
                          <a:effectLst/>
                        </a:rPr>
                      </a:br>
                      <a:r>
                        <a:rPr lang="en-US" sz="600" u="none" strike="noStrike">
                          <a:effectLst/>
                        </a:rPr>
                        <a:t>For CPU socket:Round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according to BGA size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19mil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19mil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Solder Paste Brand and Model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ALPHA, OM338PT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Shenmao PF606-P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SHENMAO PF606-P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SHENMAO PF606-P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Flux Brand and Model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ALPHA390DH4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Shenmao SMF-2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SHENMAO SMF-2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Solder Iron Information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Solder Type and Alloy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QUICK 203H (sac305)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SAC305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SHENMAO FP606-F4,Sn96.5Ag3Cu0.5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SHENMAO PF606-R(SAC305)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Solder Iron Temperature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400+-10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410℃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385±10℃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Solder Iron Tip Shape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Blade type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Knife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Blade Type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Solder Iron Tip Condition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High-frequency Welding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Clean and Tined (Yes/No)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Contaminated with Burnt Flux (Yes/No)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Flux Information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Flux Type/Make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ALPHA390DH4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Shenmao SMF-2, NO-CLEAN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Paste Flux (SHENMAO SMF-2)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How is the Flux Applied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ESD Brush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The Amount of Flux Applied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Uniformity</a:t>
                      </a:r>
                    </a:p>
                  </a:txBody>
                  <a:tcPr marL="9525" marR="9525" marT="9525" marB="0" anchor="b"/>
                </a:tc>
              </a:tr>
              <a:tr h="133993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The Frequency the Flux is Applied between De-Soldering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Once (before de-soldering)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Solder Wick Information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Solder Wick Type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CP-3015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Chemtronics Cu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Gootwick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9525" marR="9525" marT="9525" marB="0" anchor="b"/>
                </a:tc>
              </a:tr>
              <a:tr h="6699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Solder Wick Thickness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0.29MM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0.3mm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9525" marR="9525" marT="9525" marB="0" anchor="b"/>
                </a:tc>
              </a:tr>
              <a:tr h="155978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600" u="none" strike="noStrike">
                          <a:effectLst/>
                        </a:rPr>
                        <a:t>Solder Wick Width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>
                          <a:effectLst/>
                        </a:rPr>
                        <a:t>3.0MM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3mm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6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067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AXI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42985"/>
              </p:ext>
            </p:extLst>
          </p:nvPr>
        </p:nvGraphicFramePr>
        <p:xfrm>
          <a:off x="942843" y="1629998"/>
          <a:ext cx="7373469" cy="1508760"/>
        </p:xfrm>
        <a:graphic>
          <a:graphicData uri="http://schemas.openxmlformats.org/drawingml/2006/table">
            <a:tbl>
              <a:tblPr/>
              <a:tblGrid>
                <a:gridCol w="279461"/>
                <a:gridCol w="1204599"/>
                <a:gridCol w="686787"/>
                <a:gridCol w="898634"/>
                <a:gridCol w="989580"/>
                <a:gridCol w="949579"/>
                <a:gridCol w="1072055"/>
                <a:gridCol w="1292774"/>
              </a:tblGrid>
              <a:tr h="2743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X-ray Capability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X-ray Machine</a:t>
                      </a:r>
                      <a:r>
                        <a:rPr lang="en-US" sz="900" b="1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Brand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X-ray Machine Model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Electrical Test Machine</a:t>
                      </a:r>
                      <a:r>
                        <a:rPr lang="en-US" sz="900" b="1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Brand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Eletectrical</a:t>
                      </a:r>
                      <a:r>
                        <a:rPr lang="en-US" sz="900" b="1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Test Machine Model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X-y-z</a:t>
                      </a:r>
                      <a:r>
                        <a:rPr lang="en-US" sz="900" b="1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alignment measurement (OCMM)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V810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ViTrox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S2EX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5DX, 2D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Keysight (Aglient);</a:t>
                      </a:r>
                      <a:r>
                        <a:rPr lang="en-US" sz="9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TRI; Phoenix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5300; TR7600; xlaminar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Agilient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3070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AM800CAC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XD7500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Keyence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VHX-600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Foxconn/VMS883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YXLON/Unicomp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Y. Cheetah/AX9100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TRI/Keysight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460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728408"/>
              </p:ext>
            </p:extLst>
          </p:nvPr>
        </p:nvGraphicFramePr>
        <p:xfrm>
          <a:off x="455613" y="744470"/>
          <a:ext cx="7023361" cy="4131627"/>
        </p:xfrm>
        <a:graphic>
          <a:graphicData uri="http://schemas.openxmlformats.org/drawingml/2006/table">
            <a:tbl>
              <a:tblPr/>
              <a:tblGrid>
                <a:gridCol w="2027291"/>
                <a:gridCol w="838404"/>
                <a:gridCol w="776556"/>
                <a:gridCol w="666601"/>
                <a:gridCol w="714706"/>
                <a:gridCol w="666601"/>
                <a:gridCol w="666601"/>
                <a:gridCol w="666601"/>
              </a:tblGrid>
              <a:tr h="135731">
                <a:tc>
                  <a:txBody>
                    <a:bodyPr/>
                    <a:lstStyle/>
                    <a:p>
                      <a:pPr algn="ctr" fontAlgn="b"/>
                      <a:endParaRPr lang="en-US" sz="800" b="1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endParaRPr lang="en-US" sz="800" b="1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smtClean="0">
                          <a:effectLst/>
                          <a:latin typeface="Neo Sans Intel Light"/>
                        </a:rPr>
                        <a:t>Inventec</a:t>
                      </a:r>
                      <a:endParaRPr lang="en-US" sz="800" b="1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smtClean="0">
                          <a:effectLst/>
                          <a:latin typeface="Neo Sans Intel Light"/>
                        </a:rPr>
                        <a:t>Quanta</a:t>
                      </a:r>
                      <a:endParaRPr lang="en-US" sz="800" b="1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1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effectLst/>
                          <a:latin typeface="Neo Sans Intel Light"/>
                        </a:rPr>
                        <a:t>PROCESS PARAMETER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effectLst/>
                          <a:latin typeface="Neo Sans Intel Light"/>
                        </a:rPr>
                        <a:t>WAVE SETTINGS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vl="0" algn="ctr" fontAlgn="b"/>
                      <a:r>
                        <a:rPr lang="en-US" sz="800" b="1" i="0" u="none" strike="noStrike">
                          <a:effectLst/>
                          <a:latin typeface="Neo Sans Intel Light"/>
                        </a:rPr>
                        <a:t>CUSTOMER REFERENCE - SET POINTS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 fontAlgn="b"/>
                      <a:endParaRPr lang="en-US" sz="800" b="1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ctr" fontAlgn="b"/>
                      <a:endParaRPr lang="en-US" sz="800" b="1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 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Equipment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Electra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ERSA POWEFLOW N2 XL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 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Nitrogen (Y/N)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 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FF"/>
                          </a:solidFill>
                          <a:effectLst/>
                          <a:latin typeface="Neo Sans Intel Light"/>
                        </a:rPr>
                        <a:t>If Yes -Oxygen ppm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＜2500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CARRIER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effectLst/>
                          <a:latin typeface="Neo Sans Intel Light"/>
                        </a:rPr>
                        <a:t>Wave Pallet Flow </a:t>
                      </a:r>
                      <a:r>
                        <a:rPr lang="en-US" sz="800" b="0" i="0" u="none" strike="noStrike" dirty="0" smtClean="0">
                          <a:effectLst/>
                          <a:latin typeface="Neo Sans Intel Light"/>
                        </a:rPr>
                        <a:t>Used (Y/N)</a:t>
                      </a:r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FLUXER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Nozzle Fluxer (Set)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0.28mm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effectLst/>
                          <a:latin typeface="Neo Sans Intel Light"/>
                        </a:rPr>
                        <a:t>TRANSPORT</a:t>
                      </a:r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Belt Speed (cm/min)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0.9m/min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65CM/MIN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382">
                <a:tc gridSpan="6"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28191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HEATERS</a:t>
                      </a: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Upper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385°C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240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Upper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375°C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Upper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365°C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bottom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400°C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220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bottom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390°C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bottom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380°C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bottom 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335°C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240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effectLst/>
                          <a:latin typeface="Neo Sans Intel Light"/>
                        </a:rPr>
                        <a:t> </a:t>
                      </a: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800" b="0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800" b="0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Neo Sans Intel Ligh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Neo Sans Intel Ligh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Neo Sans Intel Ligh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28191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SOLDER POT</a:t>
                      </a: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Chip Wave (RPM)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765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1850</a:t>
                      </a:r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Smart Wave (Turbulent - RPM)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2000</a:t>
                      </a:r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Solder Wave (RPM)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910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Solder Temperature (Degree °C)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270°C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275</a:t>
                      </a:r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Lead Clearance (MM/10)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9.0mm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Back Plate ADJ (MM)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Rail Width (mm)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506mm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510mm</a:t>
                      </a:r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31">
                <a:tc gridSpan="6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3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2819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WAVE DWELL TIME (SEC)</a:t>
                      </a: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Main Wave</a:t>
                      </a:r>
                    </a:p>
                  </a:txBody>
                  <a:tcPr marL="7541" marR="7541" marT="75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Left</a:t>
                      </a:r>
                    </a:p>
                  </a:txBody>
                  <a:tcPr marL="7541" marR="7541" marT="75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2.4Sec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3</a:t>
                      </a:r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Right</a:t>
                      </a:r>
                    </a:p>
                  </a:txBody>
                  <a:tcPr marL="7541" marR="7541" marT="75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4Sec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8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Neo Sans Intel Light"/>
                          <a:ea typeface="+mn-ea"/>
                          <a:cs typeface="+mn-cs"/>
                        </a:rPr>
                        <a:t>4</a:t>
                      </a:r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US" sz="800" b="0" i="0" u="none" strike="noStrike" kern="1200">
                        <a:solidFill>
                          <a:schemeClr val="tx1"/>
                        </a:solidFill>
                        <a:effectLst/>
                        <a:latin typeface="Neo Sans Intel Ligh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 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 </a:t>
                      </a:r>
                    </a:p>
                  </a:txBody>
                  <a:tcPr marL="7541" marR="7541" marT="75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 </a:t>
                      </a:r>
                    </a:p>
                  </a:txBody>
                  <a:tcPr marL="7541" marR="7541" marT="754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 </a:t>
                      </a:r>
                    </a:p>
                  </a:txBody>
                  <a:tcPr marL="7541" marR="7541" marT="75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effectLst/>
                          <a:latin typeface="Neo Sans Intel Light"/>
                        </a:rPr>
                        <a:t> </a:t>
                      </a:r>
                    </a:p>
                  </a:txBody>
                  <a:tcPr marL="7541" marR="7541" marT="75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effectLst/>
                        <a:latin typeface="Neo Sans Intel Light"/>
                      </a:endParaRPr>
                    </a:p>
                  </a:txBody>
                  <a:tcPr marL="7541" marR="7541" marT="75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Wave solder Parameters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6383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Custom 2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B7D108"/>
      </a:accent1>
      <a:accent2>
        <a:srgbClr val="0071C5"/>
      </a:accent2>
      <a:accent3>
        <a:srgbClr val="009CDA"/>
      </a:accent3>
      <a:accent4>
        <a:srgbClr val="F8D44C"/>
      </a:accent4>
      <a:accent5>
        <a:srgbClr val="FFA400"/>
      </a:accent5>
      <a:accent6>
        <a:srgbClr val="FF4E00"/>
      </a:accent6>
      <a:hlink>
        <a:srgbClr val="C3D600"/>
      </a:hlink>
      <a:folHlink>
        <a:srgbClr val="0071C5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>
          <a:defRPr sz="1100" dirty="0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589A4F7B-7A57-43B9-96F9-213972CB4D62}" vid="{41C7F333-3919-4471-B1C1-AF01DBBD2E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7" ma:contentTypeDescription="Create a new document." ma:contentTypeScope="" ma:versionID="fef3ffe62929f1eeb6dfc793b0bec489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9bda764ba488f0029c49e465dcc59d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49210096-E831-4613-BCE5-D9D14C2ED349}"/>
</file>

<file path=customXml/itemProps2.xml><?xml version="1.0" encoding="utf-8"?>
<ds:datastoreItem xmlns:ds="http://schemas.openxmlformats.org/officeDocument/2006/customXml" ds:itemID="{E2F325BC-941A-44F1-9B9F-F3F776E2F7BA}"/>
</file>

<file path=customXml/itemProps3.xml><?xml version="1.0" encoding="utf-8"?>
<ds:datastoreItem xmlns:ds="http://schemas.openxmlformats.org/officeDocument/2006/customXml" ds:itemID="{432F67B6-2892-41A1-A0BE-FF359C301571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2235</Words>
  <Application>Microsoft Office PowerPoint</Application>
  <PresentationFormat>On-screen Show (16:9)</PresentationFormat>
  <Paragraphs>1206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MingLiU</vt:lpstr>
      <vt:lpstr>Arial</vt:lpstr>
      <vt:lpstr>Calibri</vt:lpstr>
      <vt:lpstr>Courier New</vt:lpstr>
      <vt:lpstr>Intel Clear</vt:lpstr>
      <vt:lpstr>Intel Clear Light</vt:lpstr>
      <vt:lpstr>Intel Clear Pro</vt:lpstr>
      <vt:lpstr>Neo Sans Intel Light</vt:lpstr>
      <vt:lpstr>Verdana</vt:lpstr>
      <vt:lpstr>Wingdings</vt:lpstr>
      <vt:lpstr>Default Theme</vt:lpstr>
      <vt:lpstr>Server ODM Equipment Survey REport</vt:lpstr>
      <vt:lpstr>Objective </vt:lpstr>
      <vt:lpstr>Screen Printing</vt:lpstr>
      <vt:lpstr>PowerPoint Presentation</vt:lpstr>
      <vt:lpstr>PowerPoint Presentation</vt:lpstr>
      <vt:lpstr>PowerPoint Presentation</vt:lpstr>
      <vt:lpstr>PowerPoint Presentation</vt:lpstr>
      <vt:lpstr>SPI</vt:lpstr>
      <vt:lpstr>SPI Machine</vt:lpstr>
      <vt:lpstr>Placement</vt:lpstr>
      <vt:lpstr>PowerPoint Presentation</vt:lpstr>
      <vt:lpstr>Reflow</vt:lpstr>
      <vt:lpstr>PowerPoint Presentation</vt:lpstr>
      <vt:lpstr>PowerPoint Presentation</vt:lpstr>
      <vt:lpstr>PowerPoint Presentation</vt:lpstr>
      <vt:lpstr>PowerPoint Presentation</vt:lpstr>
      <vt:lpstr>Rework</vt:lpstr>
      <vt:lpstr>PowerPoint Presentation</vt:lpstr>
      <vt:lpstr>PowerPoint Presentation</vt:lpstr>
      <vt:lpstr>AXI</vt:lpstr>
      <vt:lpstr>Wave solder Parameters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2018-05-21T23:52:24Z</dcterms:created>
  <dcterms:modified xsi:type="dcterms:W3CDTF">2019-01-11T21:56:39Z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8f3b2c79-f997-4e44-9edf-7155c4abbde0</vt:lpwstr>
  </property>
  <property fmtid="{D5CDD505-2E9C-101B-9397-08002B2CF9AE}" pid="3" name="CTP_TimeStamp">
    <vt:lpwstr>2019-01-11 21:56:39Z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</Properties>
</file>