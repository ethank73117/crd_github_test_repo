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9" r:id="rId2"/>
    <p:sldId id="261" r:id="rId3"/>
    <p:sldId id="269" r:id="rId4"/>
    <p:sldId id="270" r:id="rId5"/>
    <p:sldId id="271" r:id="rId6"/>
    <p:sldId id="272" r:id="rId7"/>
    <p:sldId id="292" r:id="rId8"/>
    <p:sldId id="293" r:id="rId9"/>
    <p:sldId id="294" r:id="rId10"/>
    <p:sldId id="274" r:id="rId11"/>
    <p:sldId id="275" r:id="rId12"/>
    <p:sldId id="277" r:id="rId13"/>
    <p:sldId id="278" r:id="rId14"/>
    <p:sldId id="279" r:id="rId15"/>
    <p:sldId id="280" r:id="rId16"/>
    <p:sldId id="282" r:id="rId17"/>
    <p:sldId id="283" r:id="rId18"/>
    <p:sldId id="29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1" autoAdjust="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07185-9FD8-40D7-866C-EA52F4AE1B2F}" type="datetimeFigureOut">
              <a:rPr lang="en-US" smtClean="0"/>
              <a:t>12/11/2017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B5B860-0185-49D0-AE43-85F1D2C2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8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11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31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B5B860-0185-49D0-AE43-85F1D2C20D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1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7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163" y="538163"/>
            <a:ext cx="1298575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90550" y="4005263"/>
            <a:ext cx="2368550" cy="2424112"/>
          </a:xfrm>
          <a:prstGeom prst="octagon">
            <a:avLst>
              <a:gd name="adj" fmla="val 29287"/>
            </a:avLst>
          </a:prstGeom>
          <a:solidFill>
            <a:srgbClr val="FF0000">
              <a:alpha val="89803"/>
            </a:srgbClr>
          </a:solidFill>
          <a:ln w="254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anchor="ctr">
            <a:spAutoFit/>
          </a:bodyPr>
          <a:lstStyle/>
          <a:p>
            <a:pPr eaLnBrk="1" hangingPunct="1"/>
            <a:endParaRPr lang="en-US" sz="14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3600" dirty="0">
                <a:solidFill>
                  <a:schemeClr val="bg1"/>
                </a:solidFill>
                <a:latin typeface="Arial" charset="0"/>
              </a:rPr>
              <a:t>STOP</a:t>
            </a:r>
          </a:p>
          <a:p>
            <a:pPr eaLnBrk="1" hangingPunct="1"/>
            <a:endParaRPr lang="en-US" sz="1200" dirty="0">
              <a:solidFill>
                <a:schemeClr val="bg1"/>
              </a:solidFill>
              <a:latin typeface="Arial" charset="0"/>
            </a:endParaRP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Customer Information </a:t>
            </a:r>
          </a:p>
          <a:p>
            <a:pPr eaLnBrk="1" hangingPunct="1"/>
            <a:r>
              <a:rPr lang="en-US" sz="1200" u="sng" dirty="0">
                <a:solidFill>
                  <a:schemeClr val="bg1"/>
                </a:solidFill>
                <a:latin typeface="Arial" charset="0"/>
              </a:rPr>
              <a:t>Under </a:t>
            </a:r>
            <a:r>
              <a:rPr lang="en-US" sz="1200" b="1" u="sng" dirty="0">
                <a:solidFill>
                  <a:schemeClr val="bg1"/>
                </a:solidFill>
                <a:latin typeface="Arial" charset="0"/>
              </a:rPr>
              <a:t>NDA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Intel Internal Use</a:t>
            </a:r>
          </a:p>
          <a:p>
            <a:pPr eaLnBrk="1" hangingPunct="1"/>
            <a:r>
              <a:rPr lang="en-US" sz="1200" dirty="0">
                <a:solidFill>
                  <a:schemeClr val="bg1"/>
                </a:solidFill>
                <a:latin typeface="Arial" charset="0"/>
              </a:rPr>
              <a:t>Only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20938" y="3651250"/>
            <a:ext cx="6265862" cy="457200"/>
          </a:xfrm>
        </p:spPr>
        <p:txBody>
          <a:bodyPr anchor="b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06650" y="4478338"/>
            <a:ext cx="6280150" cy="457200"/>
          </a:xfrm>
        </p:spPr>
        <p:txBody>
          <a:bodyPr wrap="none">
            <a:spAutoFit/>
          </a:bodyPr>
          <a:lstStyle>
            <a:lvl1pPr algn="r">
              <a:defRPr sz="3000">
                <a:solidFill>
                  <a:srgbClr val="0860A8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84791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6DDCA-F0DF-474A-B50F-3AA7DE3DA665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1B834-8D6B-43A4-B359-26F0172CC6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090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9617E-6A3A-4D83-BF40-332574B14D5E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D6763-BC50-44E5-9DBE-C7A65684356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6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1600"/>
            <a:ext cx="40417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371600"/>
            <a:ext cx="4043362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7FDB2-AA17-44C3-83FA-76BDE2D89F39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6E6DCE-B720-403C-87F1-09E529B416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834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ED8B08-2C36-4086-9E9C-E5E2E6CF56D8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AD820-A819-425B-8E97-67125C85A9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51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16198-2A67-431F-BD5A-08A86C62F155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A5A58-08C7-4F99-AFE2-9F0A58578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5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96116-74F2-4AE3-92EE-5750A64D6000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9AF4E6-0A42-41FC-9642-27C1443E85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809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62812-064B-40C3-9D51-C952CB6F8B34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DF728-A66D-44A5-A1CE-54676FF5B5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596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7A754F-28D9-4799-B2BF-7EB1E4BE40C4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63C3-19C0-4F2C-B682-45D0A79B4F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741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FFBC3-7A25-4EE8-8B45-CC8A53E35C12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BC3B9-46E7-4CB0-A2B0-71B9EAC77D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9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4163" y="273050"/>
            <a:ext cx="2058987" cy="54419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3050"/>
            <a:ext cx="6026150" cy="54419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DC4907-5252-4FAE-830D-8594C737216F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E9BD9-62AA-4464-862A-BA385D06D05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43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white">
          <a:xfrm>
            <a:off x="3175" y="6029325"/>
            <a:ext cx="9140825" cy="828675"/>
          </a:xfrm>
          <a:prstGeom prst="rect">
            <a:avLst/>
          </a:prstGeom>
          <a:solidFill>
            <a:srgbClr val="0860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273050"/>
            <a:ext cx="8237537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371600"/>
            <a:ext cx="823753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5988" y="6357938"/>
            <a:ext cx="752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B76571B8-5143-486A-8855-15D72FB93020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8" y="6357938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chemeClr val="bg1"/>
                </a:solidFill>
                <a:cs typeface="Arial" pitchFamily="34" charset="0"/>
              </a:defRPr>
            </a:lvl1pPr>
          </a:lstStyle>
          <a:p>
            <a:pPr>
              <a:defRPr/>
            </a:pPr>
            <a:fld id="{F0025F06-8835-4059-B522-FA96843AA8B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8" descr="Intel_white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6169025"/>
            <a:ext cx="811213" cy="54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7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49425" y="6357938"/>
            <a:ext cx="576103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>
              <a:defRPr sz="800" b="1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4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6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46063" indent="-244475" algn="l" rtl="0" eaLnBrk="0" fontAlgn="base" hangingPunct="0">
        <a:spcBef>
          <a:spcPct val="40000"/>
        </a:spcBef>
        <a:spcAft>
          <a:spcPct val="0"/>
        </a:spcAft>
        <a:buSzPct val="125000"/>
        <a:buFont typeface="Times" pitchFamily="18" charset="0"/>
        <a:buChar char="•"/>
        <a:defRPr>
          <a:solidFill>
            <a:schemeClr val="tx1"/>
          </a:solidFill>
          <a:latin typeface="+mn-lt"/>
        </a:defRPr>
      </a:lvl2pPr>
      <a:lvl3pPr marL="571500" indent="-3238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3pPr>
      <a:lvl4pPr marL="725488" indent="-1524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chemeClr val="tx1"/>
          </a:solidFill>
          <a:latin typeface="+mn-lt"/>
        </a:defRPr>
      </a:lvl4pPr>
      <a:lvl5pPr marL="1136650" indent="-409575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5pPr>
      <a:lvl6pPr marL="15938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6pPr>
      <a:lvl7pPr marL="20510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7pPr>
      <a:lvl8pPr marL="25082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8pPr>
      <a:lvl9pPr marL="2965450" indent="-409575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1763713"/>
            <a:ext cx="7315200" cy="19700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/>
              <a:t>Server Customer Summary Report</a:t>
            </a:r>
            <a:br>
              <a:rPr lang="en-US" sz="3200" dirty="0" smtClean="0"/>
            </a:br>
            <a:r>
              <a:rPr lang="en-US" sz="3200" dirty="0" smtClean="0"/>
              <a:t>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0" y="4478338"/>
            <a:ext cx="5829300" cy="984250"/>
          </a:xfrm>
        </p:spPr>
        <p:txBody>
          <a:bodyPr wrap="square">
            <a:normAutofit/>
          </a:bodyPr>
          <a:lstStyle/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Prepared by: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sz="1600" dirty="0" smtClean="0"/>
              <a:t>SA Moy</a:t>
            </a:r>
          </a:p>
        </p:txBody>
      </p:sp>
    </p:spTree>
    <p:extLst>
      <p:ext uri="{BB962C8B-B14F-4D97-AF65-F5344CB8AC3E}">
        <p14:creationId xmlns:p14="http://schemas.microsoft.com/office/powerpoint/2010/main" val="878545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2B56F8D4-110B-4797-AEE8-DC37C29C3284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2D8B441-F742-4634-AB10-E80DE781C58B}" type="slidenum">
              <a:rPr lang="en-US" sz="800" smtClean="0">
                <a:solidFill>
                  <a:schemeClr val="bg1"/>
                </a:solidFill>
              </a:rPr>
              <a:pPr/>
              <a:t>2</a:t>
            </a:fld>
            <a:endParaRPr lang="en-US" sz="800" dirty="0" smtClean="0">
              <a:solidFill>
                <a:schemeClr val="bg1"/>
              </a:solidFill>
            </a:endParaRPr>
          </a:p>
        </p:txBody>
      </p:sp>
      <p:sp>
        <p:nvSpPr>
          <p:cNvPr id="4100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33388"/>
            <a:ext cx="8237538" cy="612775"/>
          </a:xfrm>
        </p:spPr>
        <p:txBody>
          <a:bodyPr/>
          <a:lstStyle/>
          <a:p>
            <a:pPr eaLnBrk="1" hangingPunct="1"/>
            <a:r>
              <a:rPr lang="en-US" dirty="0" smtClean="0"/>
              <a:t>Objectives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2600" y="1239838"/>
            <a:ext cx="8294688" cy="4090987"/>
          </a:xfrm>
        </p:spPr>
        <p:txBody>
          <a:bodyPr/>
          <a:lstStyle/>
          <a:p>
            <a:pPr marL="0" indent="0" eaLnBrk="1" hangingPunct="1">
              <a:spcBef>
                <a:spcPct val="40000"/>
              </a:spcBef>
              <a:buFont typeface="Wingdings" pitchFamily="2" charset="2"/>
              <a:buNone/>
            </a:pPr>
            <a:r>
              <a:rPr lang="en-US" sz="2000" b="1" dirty="0" smtClean="0">
                <a:solidFill>
                  <a:srgbClr val="000000"/>
                </a:solidFill>
              </a:rPr>
              <a:t>Share Findings from CME Server Industry Data Collection </a:t>
            </a:r>
            <a:r>
              <a:rPr lang="en-US" sz="2000" b="1" dirty="0" err="1" smtClean="0">
                <a:solidFill>
                  <a:srgbClr val="000000"/>
                </a:solidFill>
              </a:rPr>
              <a:t>Purley</a:t>
            </a:r>
            <a:r>
              <a:rPr lang="en-US" sz="2000" b="1" dirty="0" smtClean="0">
                <a:solidFill>
                  <a:srgbClr val="000000"/>
                </a:solidFill>
              </a:rPr>
              <a:t>/Groveport (SKX, KNL) Platform Survey </a:t>
            </a: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r>
              <a:rPr lang="en-US" dirty="0" smtClean="0">
                <a:solidFill>
                  <a:srgbClr val="000000"/>
                </a:solidFill>
              </a:rPr>
              <a:t>Summarize data collected from the Mobile Customers manufacturers (Quanta, </a:t>
            </a:r>
            <a:r>
              <a:rPr lang="en-US" dirty="0" err="1" smtClean="0">
                <a:solidFill>
                  <a:srgbClr val="000000"/>
                </a:solidFill>
              </a:rPr>
              <a:t>Wistron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Zhongshan</a:t>
            </a:r>
            <a:r>
              <a:rPr lang="en-US" dirty="0" smtClean="0">
                <a:solidFill>
                  <a:srgbClr val="000000"/>
                </a:solidFill>
              </a:rPr>
              <a:t>, </a:t>
            </a:r>
            <a:r>
              <a:rPr lang="en-US" dirty="0" err="1" smtClean="0">
                <a:solidFill>
                  <a:srgbClr val="000000"/>
                </a:solidFill>
              </a:rPr>
              <a:t>Inventec</a:t>
            </a:r>
            <a:r>
              <a:rPr lang="en-US" dirty="0" smtClean="0">
                <a:solidFill>
                  <a:srgbClr val="000000"/>
                </a:solidFill>
              </a:rPr>
              <a:t>, Foxconn and others)</a:t>
            </a:r>
          </a:p>
          <a:p>
            <a:pPr marL="247650" lvl="2" indent="0" eaLnBrk="1" hangingPunct="1">
              <a:spcBef>
                <a:spcPct val="40000"/>
              </a:spcBef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lvl="2" eaLnBrk="1" hangingPunct="1">
              <a:spcBef>
                <a:spcPct val="40000"/>
              </a:spcBef>
              <a:buFont typeface="Wingdings" pitchFamily="2" charset="2"/>
              <a:buChar char="q"/>
            </a:pPr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82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5EACC1EA-18B2-4295-BDCD-1B9243AB8126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3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Screen Printing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2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1DF90A-E264-4A04-ADF7-BD534A66F7EC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444456"/>
              </p:ext>
            </p:extLst>
          </p:nvPr>
        </p:nvGraphicFramePr>
        <p:xfrm>
          <a:off x="228600" y="685800"/>
          <a:ext cx="6123545" cy="1813560"/>
        </p:xfrm>
        <a:graphic>
          <a:graphicData uri="http://schemas.openxmlformats.org/drawingml/2006/table">
            <a:tbl>
              <a:tblPr/>
              <a:tblGrid>
                <a:gridCol w="381000"/>
                <a:gridCol w="1938216"/>
                <a:gridCol w="3804329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is the stencil thickness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9425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T5.1D19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T5D19/T6D17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T4.7D23/T5D19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T5D19/T4D22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T5D21/T6D22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T5D19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" y="76200"/>
            <a:ext cx="3802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Stencil Thickness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0911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8F0014-B195-4FD0-91DD-9BB5FEA133B3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672302"/>
              </p:ext>
            </p:extLst>
          </p:nvPr>
        </p:nvGraphicFramePr>
        <p:xfrm>
          <a:off x="152400" y="533400"/>
          <a:ext cx="7381102" cy="2076508"/>
        </p:xfrm>
        <a:graphic>
          <a:graphicData uri="http://schemas.openxmlformats.org/drawingml/2006/table">
            <a:tbl>
              <a:tblPr/>
              <a:tblGrid>
                <a:gridCol w="384433"/>
                <a:gridCol w="1460844"/>
                <a:gridCol w="1537729"/>
                <a:gridCol w="1691502"/>
                <a:gridCol w="1230183"/>
                <a:gridCol w="1076411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Solder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Paste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Brand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Alloy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Powder Type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OM338-PT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WTO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WTO-LF2000T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OM338-PT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Alpha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CVP390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3049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Shenmao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PF606-P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SAC305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Type 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6200" y="0"/>
            <a:ext cx="2844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Solder Paste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655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B58BA4-3D7C-4C97-A201-C1B5BFF8C9C1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921968"/>
              </p:ext>
            </p:extLst>
          </p:nvPr>
        </p:nvGraphicFramePr>
        <p:xfrm>
          <a:off x="228600" y="762000"/>
          <a:ext cx="6525119" cy="2028287"/>
        </p:xfrm>
        <a:graphic>
          <a:graphicData uri="http://schemas.openxmlformats.org/drawingml/2006/table">
            <a:tbl>
              <a:tblPr/>
              <a:tblGrid>
                <a:gridCol w="324123"/>
                <a:gridCol w="1620618"/>
                <a:gridCol w="1368994"/>
                <a:gridCol w="3211384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Screen Print 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Momentum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Infinity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API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Horizon 03ix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Infinity API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03ix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762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Screen </a:t>
            </a:r>
            <a:r>
              <a:rPr lang="en-US" sz="2800" b="1" dirty="0"/>
              <a:t>Print </a:t>
            </a:r>
            <a:r>
              <a:rPr lang="en-US" sz="2800" b="1" dirty="0" smtClean="0"/>
              <a:t>Machine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4282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9572FB-263C-4714-9F61-73C264C854DD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70638"/>
              </p:ext>
            </p:extLst>
          </p:nvPr>
        </p:nvGraphicFramePr>
        <p:xfrm>
          <a:off x="228600" y="762000"/>
          <a:ext cx="7304419" cy="2028287"/>
        </p:xfrm>
        <a:graphic>
          <a:graphicData uri="http://schemas.openxmlformats.org/drawingml/2006/table">
            <a:tbl>
              <a:tblPr/>
              <a:tblGrid>
                <a:gridCol w="249611"/>
                <a:gridCol w="1054279"/>
                <a:gridCol w="1054279"/>
                <a:gridCol w="2473125"/>
                <a:gridCol w="2473125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Pressure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Print Speed</a:t>
                      </a:r>
                      <a:endParaRPr lang="en-US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Separation speed</a:t>
                      </a:r>
                      <a:endParaRPr lang="en-US" dirty="0"/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14.8kg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10kg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2mm/s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762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 smtClean="0"/>
              <a:t>Printing Parameters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5125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4AEFF219-1833-47EA-A668-C6BF704E12A2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8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SPI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48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200" y="76200"/>
            <a:ext cx="8237537" cy="457200"/>
          </a:xfrm>
        </p:spPr>
        <p:txBody>
          <a:bodyPr/>
          <a:lstStyle/>
          <a:p>
            <a:r>
              <a:rPr lang="en-US" dirty="0" smtClean="0"/>
              <a:t>SPI Machine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0595C7-E549-4410-A9EE-C1888C1093A9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225625"/>
              </p:ext>
            </p:extLst>
          </p:nvPr>
        </p:nvGraphicFramePr>
        <p:xfrm>
          <a:off x="228600" y="762000"/>
          <a:ext cx="6525119" cy="2028287"/>
        </p:xfrm>
        <a:graphic>
          <a:graphicData uri="http://schemas.openxmlformats.org/drawingml/2006/table">
            <a:tbl>
              <a:tblPr/>
              <a:tblGrid>
                <a:gridCol w="324123"/>
                <a:gridCol w="1620618"/>
                <a:gridCol w="1368994"/>
                <a:gridCol w="3211384"/>
              </a:tblGrid>
              <a:tr h="33914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AOI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Machine used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26099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 (Control)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Cyberoptics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Ultra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SE300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SYMBION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P36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Orbotech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VT9200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7000LL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702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Cyberoptics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SE500X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849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E054CDF-9929-426C-A0AC-C724E907F353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10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Placement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59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B89175-863D-417C-BAE5-77462A0D1DD0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292084"/>
              </p:ext>
            </p:extLst>
          </p:nvPr>
        </p:nvGraphicFramePr>
        <p:xfrm>
          <a:off x="304800" y="1066800"/>
          <a:ext cx="5650088" cy="2179320"/>
        </p:xfrm>
        <a:graphic>
          <a:graphicData uri="http://schemas.openxmlformats.org/drawingml/2006/table">
            <a:tbl>
              <a:tblPr/>
              <a:tblGrid>
                <a:gridCol w="527378"/>
                <a:gridCol w="1453822"/>
                <a:gridCol w="1468732"/>
                <a:gridCol w="2200156"/>
              </a:tblGrid>
              <a:tr h="49491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Please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list the BGA Placement Machine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used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Vendor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DT401-F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DT401-F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GSM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Genesis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Universal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Genesis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Fuji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NXT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971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SIMENS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1368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Panasonic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NPN-W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04800" y="228600"/>
            <a:ext cx="51828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BGA Placement Machine </a:t>
            </a:r>
          </a:p>
        </p:txBody>
      </p:sp>
    </p:spTree>
    <p:extLst>
      <p:ext uri="{BB962C8B-B14F-4D97-AF65-F5344CB8AC3E}">
        <p14:creationId xmlns:p14="http://schemas.microsoft.com/office/powerpoint/2010/main" val="21639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B4E3239B-9751-4CA9-B609-D543A19F6411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12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Reflow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28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3D10D6-D1C0-437C-A17E-9945856E65B7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785696"/>
              </p:ext>
            </p:extLst>
          </p:nvPr>
        </p:nvGraphicFramePr>
        <p:xfrm>
          <a:off x="205741" y="1143000"/>
          <a:ext cx="6806735" cy="2194560"/>
        </p:xfrm>
        <a:graphic>
          <a:graphicData uri="http://schemas.openxmlformats.org/drawingml/2006/table">
            <a:tbl>
              <a:tblPr/>
              <a:tblGrid>
                <a:gridCol w="295821"/>
                <a:gridCol w="1456352"/>
                <a:gridCol w="1592884"/>
                <a:gridCol w="1937676"/>
                <a:gridCol w="781604"/>
                <a:gridCol w="742398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Q1: Reflow Machine's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Q2: N2 reflow?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Q3: O2 ppm level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Model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TNR50-6910PH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4000ppm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TW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TAMURA(FURUKAWA)</a:t>
                      </a:r>
                      <a:endParaRPr lang="zh-TW" alt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TNC51-6212EM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&lt;500ppm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Vitronix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XPM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1240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&lt;350ppm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Heller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1902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BTU </a:t>
                      </a:r>
                      <a:r>
                        <a:rPr lang="en-US" sz="1200" b="0" i="0" u="none" strike="noStrike" dirty="0" err="1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Pyramax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150N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&lt;200ppm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ERSA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320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No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Heller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2043 MK5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Yes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&lt;3000ppm</a:t>
                      </a:r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206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79303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Machine, N2 and O2 ppm Level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14681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5602851-B653-4E63-A8E6-D2A17102E0AE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528638"/>
              </p:ext>
            </p:extLst>
          </p:nvPr>
        </p:nvGraphicFramePr>
        <p:xfrm>
          <a:off x="381000" y="1066800"/>
          <a:ext cx="6667292" cy="2136681"/>
        </p:xfrm>
        <a:graphic>
          <a:graphicData uri="http://schemas.openxmlformats.org/drawingml/2006/table">
            <a:tbl>
              <a:tblPr/>
              <a:tblGrid>
                <a:gridCol w="342693"/>
                <a:gridCol w="2024448"/>
                <a:gridCol w="919342"/>
                <a:gridCol w="1809029"/>
                <a:gridCol w="1571780"/>
              </a:tblGrid>
              <a:tr h="307881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With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Pallet / Carrier?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05254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/ 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specific / generic pallet?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What material used for Pallet fabrication?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SMT carrier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Alloy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 SMT carrier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758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 alloy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62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Generic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Aluminum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04800" y="228600"/>
            <a:ext cx="54970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Pallet and Material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158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965CF8-71D2-4002-8C9C-FA01423D030E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861536"/>
              </p:ext>
            </p:extLst>
          </p:nvPr>
        </p:nvGraphicFramePr>
        <p:xfrm>
          <a:off x="304800" y="762000"/>
          <a:ext cx="7543800" cy="2346960"/>
        </p:xfrm>
        <a:graphic>
          <a:graphicData uri="http://schemas.openxmlformats.org/drawingml/2006/table">
            <a:tbl>
              <a:tblPr/>
              <a:tblGrid>
                <a:gridCol w="778327"/>
                <a:gridCol w="3488873"/>
                <a:gridCol w="3276600"/>
              </a:tblGrid>
              <a:tr h="1885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Belt 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Speed (cm/minute)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12570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 – 95cm/min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 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 – 73 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 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85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 cm/min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92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152400"/>
            <a:ext cx="24673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Belt Speed </a:t>
            </a:r>
          </a:p>
        </p:txBody>
      </p:sp>
    </p:spTree>
    <p:extLst>
      <p:ext uri="{BB962C8B-B14F-4D97-AF65-F5344CB8AC3E}">
        <p14:creationId xmlns:p14="http://schemas.microsoft.com/office/powerpoint/2010/main" val="223031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60017D-2BF3-4949-AA49-9A9DABAC7851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439156"/>
              </p:ext>
            </p:extLst>
          </p:nvPr>
        </p:nvGraphicFramePr>
        <p:xfrm>
          <a:off x="304800" y="685800"/>
          <a:ext cx="7315200" cy="1828800"/>
        </p:xfrm>
        <a:graphic>
          <a:graphicData uri="http://schemas.openxmlformats.org/drawingml/2006/table">
            <a:tbl>
              <a:tblPr/>
              <a:tblGrid>
                <a:gridCol w="306273"/>
                <a:gridCol w="1507804"/>
                <a:gridCol w="1837635"/>
                <a:gridCol w="871699"/>
                <a:gridCol w="1201530"/>
                <a:gridCol w="824579"/>
                <a:gridCol w="765680"/>
              </a:tblGrid>
              <a:tr h="22183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Customer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Peak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temperature (°C)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Soak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Time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Rising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Max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Falling Slope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Quanta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237.4 – 247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 – 82s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 – 88s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-2.17C/s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Wistron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Zhongshan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236 - 246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 – 83s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 – 90s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0.85C/s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-0.82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Tianjin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235 - 248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87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116s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 – 93s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2.23C/s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-1.56C/s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Foxconn Wuhan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238 - 246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71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– 99s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 – 86s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1.57C/s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-0.86C/s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946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Inventec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TAO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235 - 249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 – 96s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 – 96s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-0.9C/s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Celestica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236 – 254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75-81s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85-92S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-1.76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Huawei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237 - 249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63-90s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89s – 92s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-1.6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643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Compal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240</a:t>
                      </a:r>
                      <a:r>
                        <a:rPr lang="en-US" sz="12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- 242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81 – 95s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 – 100s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-2.2 C/s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76200"/>
            <a:ext cx="54841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Reflow Profile Parameters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7242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CFB6B40E-BE22-4756-B087-067A66BDE6A9}" type="datetime1">
              <a:rPr lang="en-US" sz="800" smtClean="0">
                <a:solidFill>
                  <a:srgbClr val="FFFFFF"/>
                </a:solidFill>
              </a:rPr>
              <a:t>12/11/2017</a:t>
            </a:fld>
            <a:endParaRPr lang="en-US" sz="800" smtClean="0">
              <a:solidFill>
                <a:srgbClr val="FFFFFF"/>
              </a:solidFill>
            </a:endParaRP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FC10E682-E551-44EA-81A8-EC85D3A291B3}" type="slidenum">
              <a:rPr lang="en-US" sz="800" smtClean="0">
                <a:solidFill>
                  <a:schemeClr val="bg1"/>
                </a:solidFill>
              </a:rPr>
              <a:pPr/>
              <a:t>17</a:t>
            </a:fld>
            <a:endParaRPr lang="en-US" sz="800" smtClean="0">
              <a:solidFill>
                <a:schemeClr val="bg1"/>
              </a:solidFill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xfrm>
            <a:off x="482600" y="2506663"/>
            <a:ext cx="8237538" cy="889000"/>
          </a:xfrm>
        </p:spPr>
        <p:txBody>
          <a:bodyPr/>
          <a:lstStyle/>
          <a:p>
            <a:pPr algn="ctr" eaLnBrk="1" hangingPunct="1"/>
            <a:r>
              <a:rPr lang="en-US" dirty="0" smtClean="0"/>
              <a:t>Rework</a:t>
            </a:r>
          </a:p>
        </p:txBody>
      </p:sp>
      <p:sp>
        <p:nvSpPr>
          <p:cNvPr id="7173" name="Footer Placeholder 5"/>
          <p:cNvSpPr>
            <a:spLocks noGrp="1"/>
          </p:cNvSpPr>
          <p:nvPr>
            <p:ph type="ftr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US" sz="800" smtClean="0">
                <a:solidFill>
                  <a:srgbClr val="FFFFFF"/>
                </a:solidFill>
              </a:rPr>
              <a:t>CME – Customer Manufacturing Enabling / Intel Confidential / Collected Under NDA                                     Mobile 2015 Platform Customer Feedback Package (CFP) Summary</a:t>
            </a:r>
            <a:endParaRPr lang="en-US" sz="800" dirty="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25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3D10D6-D1C0-437C-A17E-9945856E65B7}" type="datetime1">
              <a:rPr lang="en-US" smtClean="0"/>
              <a:t>12/11/2017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81B834-8D6B-43A4-B359-26F0172CC69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CME – Customer Manufacturing Enabling / Intel Confidential / Collected Under NDA                                     Mobile 2015 Platform Customer Feedback Package (CFP) Summary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213932"/>
              </p:ext>
            </p:extLst>
          </p:nvPr>
        </p:nvGraphicFramePr>
        <p:xfrm>
          <a:off x="152400" y="71477"/>
          <a:ext cx="7924799" cy="6577617"/>
        </p:xfrm>
        <a:graphic>
          <a:graphicData uri="http://schemas.openxmlformats.org/drawingml/2006/table">
            <a:tbl>
              <a:tblPr/>
              <a:tblGrid>
                <a:gridCol w="2827149"/>
                <a:gridCol w="1019530"/>
                <a:gridCol w="1019530"/>
                <a:gridCol w="1019530"/>
                <a:gridCol w="1019530"/>
                <a:gridCol w="1019530"/>
              </a:tblGrid>
              <a:tr h="130551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Attributes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Quanta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Wistron</a:t>
                      </a:r>
                      <a:r>
                        <a:rPr 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800" b="1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Zhongshan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Foxconn Wuhan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Inventec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TAO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Celestica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Equipment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16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Brand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VJE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VJElectronix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Onyx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VJE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SRT</a:t>
                      </a:r>
                      <a:r>
                        <a:rPr lang="en-US" sz="7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1800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SRT1800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Summit 1800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SRT 1800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Nozzle Size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918mm *663mm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68mm X 93mm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88x65 64x43.5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Confidential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49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 of Nozzle Design for BGA (Conventional or Center Air flow)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Center air flow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Center Air flow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conventional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Conventional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Center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airflow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PnP Process (Manually or Auto)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Using Nitrogen (Yes or 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09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Automatic or manual contact solder removal. (Scavenging)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mamual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Manual contact solder removal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scavenging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Manual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Rework Profile Attribute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TAL (time above 220 C in sec)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98~134 / 148~180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85s~124s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60~120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100-120s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 – 125s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 Peak Temperature (deg C)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245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/ 243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236°C~243°C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240+-5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247.2C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Soak time (s)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82~93 / 93~109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66s~78s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105-110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– 73s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Rising Ramp Rate below 205°C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0.4~0.5 / 0.4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0.3°C/s~0.4°C/s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Critical Rising Ramp Rate between 205°C and 215°C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0.35~0.5 / 0.35~0.4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0.2°C/s~0.3°C/s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Falling Ramp Rate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1.0~1.1 / 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0.5°C/s~0.9°C/s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&lt;3c/s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-1.64C/s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-0.56 C/s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Board Support 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Board support pins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Custom Pallet of fixture for handling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Sliding suppot with pins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Printing Paste / Flux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16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 Paste with mini stencil?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090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you apply flux to PCB or CPU?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Apply flux to PCB for site dressing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Desoldering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only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Print Paste to PCB or CPU?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135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dimension on "x" and "y".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85mm*60mm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For half SKT:38.5*52.5mm; For 2 halves SKT:78.5*54.5mm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55mmx40mm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thickness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5mil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Mini-stencil aperture shape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12mil round (CPU)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19mil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Paste Brand and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 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PF606-P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维特偶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WTO-LF2000T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PF606-P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Alpha OM338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045"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Brand and Model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SMF-2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RM938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SMF-2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209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Type and Alloy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 FP606-R,Sn96.5Ag3Cu0.5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SHENMAO PF606-R(SAC305)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QUICK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203H (sac305)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SAC305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SAC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Temperature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410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MingLiU" panose="02020509000000000000" pitchFamily="49" charset="-120"/>
                          <a:ea typeface="MingLiU" panose="02020509000000000000" pitchFamily="49" charset="-120"/>
                        </a:rPr>
                        <a:t>℃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385±10℃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400+-10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Tip Shape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Knife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Blade Type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Blade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type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Iron Tip Condition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High-frequency Welding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Clean and Tined (Yes/No)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Contaminated with Burnt Flux (Yes/No)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23209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Flux Type/Make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Paste Flux (SHENMAO SMF-2)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RM938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Shenmao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SMF-2, NO-CLEAN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How is the Flux Applied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ESD Brush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BRUSH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Amount of Flux Applied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Uniformity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Thin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layer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2090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Frequency the Flux is Applied between De-Soldering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Once (before de-soldering)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Once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Information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Type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Gootwick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CP-3015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Chemtronics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Cu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Thickness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0.3mm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0551">
                <a:tc>
                  <a:txBody>
                    <a:bodyPr/>
                    <a:lstStyle/>
                    <a:p>
                      <a:pPr algn="l" fontAlgn="t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Solder Wick Width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7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3.0MM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2.5mm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08065" y="2397074"/>
            <a:ext cx="923924" cy="7260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" name="图片 6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08065" y="2325256"/>
            <a:ext cx="619125" cy="40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0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l_template_1_111605_WHITE">
  <a:themeElements>
    <a:clrScheme name="intel_template_1_111605_WHITE 2">
      <a:dk1>
        <a:srgbClr val="0860A8"/>
      </a:dk1>
      <a:lt1>
        <a:srgbClr val="FFFFFF"/>
      </a:lt1>
      <a:dk2>
        <a:srgbClr val="F5E647"/>
      </a:dk2>
      <a:lt2>
        <a:srgbClr val="FF5C47"/>
      </a:lt2>
      <a:accent1>
        <a:srgbClr val="A6CAE1"/>
      </a:accent1>
      <a:accent2>
        <a:srgbClr val="567EB9"/>
      </a:accent2>
      <a:accent3>
        <a:srgbClr val="FFFFFF"/>
      </a:accent3>
      <a:accent4>
        <a:srgbClr val="06518F"/>
      </a:accent4>
      <a:accent5>
        <a:srgbClr val="D0E1EE"/>
      </a:accent5>
      <a:accent6>
        <a:srgbClr val="4D72A7"/>
      </a:accent6>
      <a:hlink>
        <a:srgbClr val="0C2E86"/>
      </a:hlink>
      <a:folHlink>
        <a:srgbClr val="AA014C"/>
      </a:folHlink>
    </a:clrScheme>
    <a:fontScheme name="intel_template_1_111605_WHI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intel_template_1_111605_WHIT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el_template_1_111605_WHIT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6949CD57-FD56-4C4C-B3A9-CBBE7089B217}"/>
</file>

<file path=customXml/itemProps2.xml><?xml version="1.0" encoding="utf-8"?>
<ds:datastoreItem xmlns:ds="http://schemas.openxmlformats.org/officeDocument/2006/customXml" ds:itemID="{05AE30D3-FE8A-46F2-A0F0-18831C8F8F12}"/>
</file>

<file path=customXml/itemProps3.xml><?xml version="1.0" encoding="utf-8"?>
<ds:datastoreItem xmlns:ds="http://schemas.openxmlformats.org/officeDocument/2006/customXml" ds:itemID="{1A4BD466-3535-4684-B77A-F31429231065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3195</TotalTime>
  <Words>1501</Words>
  <Application>Microsoft Office PowerPoint</Application>
  <PresentationFormat>On-screen Show (4:3)</PresentationFormat>
  <Paragraphs>688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MingLiU</vt:lpstr>
      <vt:lpstr>Arial</vt:lpstr>
      <vt:lpstr>Calibri</vt:lpstr>
      <vt:lpstr>Times</vt:lpstr>
      <vt:lpstr>Verdana</vt:lpstr>
      <vt:lpstr>Wingdings</vt:lpstr>
      <vt:lpstr>intel_template_1_111605_WHITE</vt:lpstr>
      <vt:lpstr>Server Customer Summary Report  </vt:lpstr>
      <vt:lpstr>Objectives</vt:lpstr>
      <vt:lpstr>Screen Printing</vt:lpstr>
      <vt:lpstr>PowerPoint Presentation</vt:lpstr>
      <vt:lpstr>PowerPoint Presentation</vt:lpstr>
      <vt:lpstr>PowerPoint Presentation</vt:lpstr>
      <vt:lpstr>PowerPoint Presentation</vt:lpstr>
      <vt:lpstr>SPI</vt:lpstr>
      <vt:lpstr>SPI Machine</vt:lpstr>
      <vt:lpstr>Placement</vt:lpstr>
      <vt:lpstr>PowerPoint Presentation</vt:lpstr>
      <vt:lpstr>Reflow</vt:lpstr>
      <vt:lpstr>PowerPoint Presentation</vt:lpstr>
      <vt:lpstr>PowerPoint Presentation</vt:lpstr>
      <vt:lpstr>PowerPoint Presentation</vt:lpstr>
      <vt:lpstr>PowerPoint Presentation</vt:lpstr>
      <vt:lpstr>Rework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smoy</dc:creator>
  <cp:keywords>CTPClassification=CTP_IC:VisualMarkings=</cp:keywords>
  <cp:lastModifiedBy>Dewitt, Jesse</cp:lastModifiedBy>
  <cp:revision>117</cp:revision>
  <dcterms:created xsi:type="dcterms:W3CDTF">2011-10-18T02:30:40Z</dcterms:created>
  <dcterms:modified xsi:type="dcterms:W3CDTF">2017-12-11T22:27:10Z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a1ee9f3d-b701-4202-983d-a4ac3126e77e</vt:lpwstr>
  </property>
  <property fmtid="{D5CDD505-2E9C-101B-9397-08002B2CF9AE}" pid="3" name="CTP_BU">
    <vt:lpwstr>TECHNOLOGY MANUFACTURING GROUP</vt:lpwstr>
  </property>
  <property fmtid="{D5CDD505-2E9C-101B-9397-08002B2CF9AE}" pid="4" name="CTP_TimeStamp">
    <vt:lpwstr>2017-12-11 22:26:47Z</vt:lpwstr>
  </property>
  <property fmtid="{D5CDD505-2E9C-101B-9397-08002B2CF9AE}" pid="5" name="CTPClassification">
    <vt:lpwstr>CTP_IC</vt:lpwstr>
  </property>
  <property fmtid="{D5CDD505-2E9C-101B-9397-08002B2CF9AE}" pid="6" name="ContentTypeId">
    <vt:lpwstr>0x010100C25921F9D4874B40A69C72F5C132575A</vt:lpwstr>
  </property>
</Properties>
</file>