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4660"/>
  </p:normalViewPr>
  <p:slideViewPr>
    <p:cSldViewPr snapToGrid="0">
      <p:cViewPr>
        <p:scale>
          <a:sx n="100" d="100"/>
          <a:sy n="100" d="100"/>
        </p:scale>
        <p:origin x="140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3DB5-1142-4C06-8EBE-6491FBC04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53A8D-6D62-47AC-AE02-896897B56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59039-C64F-4FDB-8A52-280CF88F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C2195-C307-46C0-AE27-8A026D9D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6228B-AFD2-4872-B5DC-4A39A66C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7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4C55-8782-463D-A229-4F8DE8C6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E9360-FE17-4784-9D2B-36ACC52A6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03FD3-84FF-4191-9DED-55E3A3C5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3B3B6-417A-4201-B1A4-8D505A325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FB519-77EA-4FA7-BACC-59EC57D31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3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D31B-A9BB-4373-B321-4B18BD59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AE867-C07A-4C57-B945-53A842A56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C0DC5-C28F-4985-AE2F-9823DED5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FDEDA-541C-476D-9224-B3057895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AABD3-2E8B-4FB1-8E7B-4984FAD5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6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C345-B56F-4AD0-919D-C4AAF38F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47C1-EFE7-4D87-B486-44DE72ECC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9C214-6D0D-41BC-8BD1-7E53E6723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CBF63-5849-4731-8294-85D6B55C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69F93-158C-4AA6-88DE-A207EFD2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F0510-0EF9-46EC-A03C-6C5A3A5B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29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A53A-4E28-4A4F-897F-05737F15E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13F02-6E0F-4956-ABBF-245D414DD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1720-61A3-459E-933D-92C1E6365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6359F0-2D87-44F6-ADEC-0F05EE80C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B77EC-280E-4C52-8122-C79471AC34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5FDDBA-D510-4442-B028-B63CEE62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F902D-690F-46D3-8A26-01D7EAEE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E30DFD-84CF-41EF-A251-01D51A1B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2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2B82-DE93-415D-9F9E-0B661564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B60BE-4518-42FF-8E81-B5052792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659BC0-6108-4055-B0D4-D32419D5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A4342-8841-4B3E-970E-8009B43F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5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B80DA-F22A-4B91-9661-B84B814B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53C62-7EE2-41B3-ADEC-D5DE0632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E5F0B-0A39-4D09-AE37-70CC99F5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6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7EFE-97D4-4759-8488-6400E31A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508AD-42B9-4853-83CE-CB63BDE7E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C4E9F-82E8-420B-BB77-A94496AE5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28CF4-A471-4FCC-AC39-2139FF16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3E3A0-F9D9-489B-AB68-FF3FF0D7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524A3-F7B2-4FFA-BDB5-D442FB02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5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5787-0A03-4F74-B189-E7E87020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2CAB1-CF3C-4B92-A785-A63ADC1DF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ABCA2-2651-4F96-A824-AD96074EF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D3148-928D-462B-959A-83061E1C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11D83-8607-44F0-B57E-8C79537B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9E199-F7DF-4631-8E19-DB2583A8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5D75-B747-4295-9E42-44C231898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89483-2341-4D83-8F2D-A313EF956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FD096-10F7-4D79-8D4E-E3B3A763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3582F-E8B0-419C-9C52-B5BAB3BDC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A716D-F0A9-41A4-817E-80D10C987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2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4CE22-F5CD-4FA4-B389-A3EAB1449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D70AC-2102-467B-914D-1184C5582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BF363-B6A8-4035-A986-BD16E272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FF321-4006-4C50-92F4-D5947401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5682A-44C9-4A3B-BC60-4552905C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0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15D94D-9BEE-4465-B9C5-F263A0D0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AA46E-5B85-4427-9515-31873E8A2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380A5-B40B-4F90-913C-F277B3869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22257-57BD-4FC2-8F08-835542920B61}" type="datetimeFigureOut">
              <a:rPr lang="en-US" smtClean="0"/>
              <a:t>12/8/2021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DA68-8455-482F-A358-C1BF75F36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5D28-CC6F-4038-9479-8FF443392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CFF4F-3379-4F01-9874-49103A961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7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58EB4-4043-4A79-B560-55E8F504D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21" y="0"/>
            <a:ext cx="10515600" cy="1325563"/>
          </a:xfrm>
        </p:spPr>
        <p:txBody>
          <a:bodyPr/>
          <a:lstStyle/>
          <a:p>
            <a:r>
              <a:rPr lang="en-MY" dirty="0"/>
              <a:t>Top Server &amp; Cloud MSS%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67E320-63C6-4778-8CE3-BDE4AA40E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020561"/>
              </p:ext>
            </p:extLst>
          </p:nvPr>
        </p:nvGraphicFramePr>
        <p:xfrm>
          <a:off x="171450" y="1568906"/>
          <a:ext cx="5676903" cy="36234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410896621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050271724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3735388916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3065628501"/>
                    </a:ext>
                  </a:extLst>
                </a:gridCol>
                <a:gridCol w="942975">
                  <a:extLst>
                    <a:ext uri="{9D8B030D-6E8A-4147-A177-3AD203B41FA5}">
                      <a16:colId xmlns:a16="http://schemas.microsoft.com/office/drawing/2014/main" val="4219287946"/>
                    </a:ext>
                  </a:extLst>
                </a:gridCol>
                <a:gridCol w="962028">
                  <a:extLst>
                    <a:ext uri="{9D8B030D-6E8A-4147-A177-3AD203B41FA5}">
                      <a16:colId xmlns:a16="http://schemas.microsoft.com/office/drawing/2014/main" val="2525329090"/>
                    </a:ext>
                  </a:extLst>
                </a:gridCol>
              </a:tblGrid>
              <a:tr h="287053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Company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2020Q2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2020Q3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 dirty="0">
                          <a:effectLst/>
                        </a:rPr>
                        <a:t>2020Q4</a:t>
                      </a:r>
                      <a:endParaRPr lang="en-MY" sz="1400" b="1" i="0" u="none" strike="noStrike" dirty="0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2021Q1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2021Q2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3404545487"/>
                  </a:ext>
                </a:extLst>
              </a:tr>
              <a:tr h="428251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T1. HPE/H3C </a:t>
                      </a:r>
                      <a:r>
                        <a:rPr lang="en-MY" sz="1100" u="none" strike="noStrike">
                          <a:effectLst/>
                        </a:rPr>
                        <a:t>(a)</a:t>
                      </a:r>
                      <a:endParaRPr lang="en-MY" sz="1400" b="1" i="0" u="none" strike="noStrike">
                        <a:solidFill>
                          <a:srgbClr val="2279BC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14.80%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15.90%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15.80%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15.80%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15.70%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3081374180"/>
                  </a:ext>
                </a:extLst>
              </a:tr>
              <a:tr h="623511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T1. Dell Technologies</a:t>
                      </a:r>
                      <a:endParaRPr lang="en-MY" sz="1400" b="1" i="0" u="none" strike="noStrike">
                        <a:solidFill>
                          <a:srgbClr val="36AEC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13.80%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16.60%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15.30%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16.90%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15.60%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3431635093"/>
                  </a:ext>
                </a:extLst>
              </a:tr>
              <a:tr h="851847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3. Inspur/Inspur Power Systems </a:t>
                      </a:r>
                      <a:r>
                        <a:rPr lang="en-MY" sz="1100" u="none" strike="noStrike">
                          <a:effectLst/>
                        </a:rPr>
                        <a:t>(b)</a:t>
                      </a:r>
                      <a:endParaRPr lang="en-MY" sz="1400" b="1" i="0" u="none" strike="noStrike">
                        <a:solidFill>
                          <a:srgbClr val="ACCB3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 dirty="0">
                          <a:effectLst/>
                        </a:rPr>
                        <a:t>10.50%</a:t>
                      </a:r>
                      <a:endParaRPr lang="en-MY" sz="1400" b="0" i="0" u="none" strike="noStrike" dirty="0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 dirty="0">
                          <a:effectLst/>
                        </a:rPr>
                        <a:t>9.30%</a:t>
                      </a:r>
                      <a:endParaRPr lang="en-MY" sz="1400" b="0" i="0" u="none" strike="noStrike" dirty="0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8.50%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7.20%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9.40%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2049874740"/>
                  </a:ext>
                </a:extLst>
              </a:tr>
              <a:tr h="287053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4. Lenovo</a:t>
                      </a:r>
                      <a:endParaRPr lang="en-MY" sz="1400" b="1" i="0" u="none" strike="noStrike">
                        <a:solidFill>
                          <a:srgbClr val="FFCD07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6.10%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5.80%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5.60%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6.80%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7.00%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2037558566"/>
                  </a:ext>
                </a:extLst>
              </a:tr>
              <a:tr h="212355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5. IBM</a:t>
                      </a:r>
                      <a:endParaRPr lang="en-MY" sz="1400" b="1" i="0" u="none" strike="noStrike">
                        <a:solidFill>
                          <a:srgbClr val="9E3D9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6.00%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3.30%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7.20%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5.30%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5.00%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3673707968"/>
                  </a:ext>
                </a:extLst>
              </a:tr>
              <a:tr h="287053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ODM Direct</a:t>
                      </a:r>
                      <a:endParaRPr lang="en-MY" sz="1400" b="1" i="0" u="none" strike="noStrike">
                        <a:solidFill>
                          <a:srgbClr val="54A4E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28.50%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27.80%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25.20%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26.20%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26.70%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525191864"/>
                  </a:ext>
                </a:extLst>
              </a:tr>
              <a:tr h="417933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Rest of Market</a:t>
                      </a:r>
                      <a:endParaRPr lang="en-MY" sz="1400" b="1" i="0" u="none" strike="noStrike">
                        <a:solidFill>
                          <a:srgbClr val="9FDAE5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20.40%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21.30%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22.40%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21.70%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20.80%</a:t>
                      </a:r>
                      <a:endParaRPr lang="en-MY" sz="1400" b="0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3424052043"/>
                  </a:ext>
                </a:extLst>
              </a:tr>
              <a:tr h="212355">
                <a:tc>
                  <a:txBody>
                    <a:bodyPr/>
                    <a:lstStyle/>
                    <a:p>
                      <a:pPr algn="l" fontAlgn="ctr"/>
                      <a:r>
                        <a:rPr lang="en-MY" sz="1400" u="none" strike="noStrike">
                          <a:effectLst/>
                        </a:rPr>
                        <a:t>Total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100%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100%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100%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>
                          <a:effectLst/>
                        </a:rPr>
                        <a:t>100%</a:t>
                      </a:r>
                      <a:endParaRPr lang="en-MY" sz="1400" b="1" i="0" u="none" strike="noStrike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MY" sz="1400" u="none" strike="noStrike" dirty="0">
                          <a:effectLst/>
                        </a:rPr>
                        <a:t>100%</a:t>
                      </a:r>
                      <a:endParaRPr lang="en-MY" sz="1400" b="1" i="0" u="none" strike="noStrike" dirty="0">
                        <a:solidFill>
                          <a:srgbClr val="01010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034" marR="7034" marT="7034" marB="0" anchor="ctr"/>
                </a:tc>
                <a:extLst>
                  <a:ext uri="{0D108BD9-81ED-4DB2-BD59-A6C34878D82A}">
                    <a16:rowId xmlns:a16="http://schemas.microsoft.com/office/drawing/2014/main" val="33055323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4CFD38-FA6C-4B74-B461-66FDB8E7632B}"/>
              </a:ext>
            </a:extLst>
          </p:cNvPr>
          <p:cNvSpPr txBox="1"/>
          <p:nvPr/>
        </p:nvSpPr>
        <p:spPr>
          <a:xfrm>
            <a:off x="809921" y="5961886"/>
            <a:ext cx="381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https://www.idc.com/promo/servers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62CC44-1BD8-412C-8A51-193844183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32812"/>
            <a:ext cx="5525304" cy="3495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934629-A103-4449-90EA-AC0F101EFCE2}"/>
              </a:ext>
            </a:extLst>
          </p:cNvPr>
          <p:cNvSpPr txBox="1"/>
          <p:nvPr/>
        </p:nvSpPr>
        <p:spPr>
          <a:xfrm>
            <a:off x="6096000" y="5823387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https://www.statista.com/chart/18819/worldwide-market-share-of-leading-cloud-infrastructure-service-providers/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1C4BC-09AA-4D2A-BC7C-649526EAC1E9}"/>
              </a:ext>
            </a:extLst>
          </p:cNvPr>
          <p:cNvSpPr txBox="1"/>
          <p:nvPr/>
        </p:nvSpPr>
        <p:spPr>
          <a:xfrm>
            <a:off x="214059" y="5223222"/>
            <a:ext cx="552530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400" dirty="0"/>
              <a:t>Other customers: Supermicro, ODM Direct (Quanta, Foxconn, </a:t>
            </a:r>
            <a:r>
              <a:rPr lang="en-MY" sz="1400" dirty="0" err="1"/>
              <a:t>Inventec</a:t>
            </a:r>
            <a:r>
              <a:rPr lang="en-MY" sz="1400" dirty="0"/>
              <a:t>, Wistron/Wiwynn, </a:t>
            </a:r>
            <a:r>
              <a:rPr lang="en-MY" sz="1400" dirty="0" err="1"/>
              <a:t>MiTAC</a:t>
            </a:r>
            <a:r>
              <a:rPr lang="en-MY" sz="1400" dirty="0"/>
              <a:t>, Gigabyte, ASRock), other OEMs (Oracle, Cisco, Huawei, etc)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49292-8AAB-4A27-B714-5AF08BC0AEF4}"/>
              </a:ext>
            </a:extLst>
          </p:cNvPr>
          <p:cNvSpPr txBox="1"/>
          <p:nvPr/>
        </p:nvSpPr>
        <p:spPr>
          <a:xfrm>
            <a:off x="6296025" y="5223222"/>
            <a:ext cx="5124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Top CSP Customers: Google, Amazon, MSFT, FB, Tencent, Alibaba, Baidu, Twitter, </a:t>
            </a:r>
            <a:r>
              <a:rPr lang="en-US" sz="1400" dirty="0" err="1"/>
              <a:t>Bytedance</a:t>
            </a:r>
            <a:r>
              <a:rPr lang="en-US" sz="1400" dirty="0"/>
              <a:t>, JD, Oracle</a:t>
            </a:r>
          </a:p>
        </p:txBody>
      </p:sp>
    </p:spTree>
    <p:extLst>
      <p:ext uri="{BB962C8B-B14F-4D97-AF65-F5344CB8AC3E}">
        <p14:creationId xmlns:p14="http://schemas.microsoft.com/office/powerpoint/2010/main" val="1060904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7DB2F2-B72A-409C-87AD-773D0F760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241930"/>
              </p:ext>
            </p:extLst>
          </p:nvPr>
        </p:nvGraphicFramePr>
        <p:xfrm>
          <a:off x="76200" y="289560"/>
          <a:ext cx="11058525" cy="6568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3425">
                  <a:extLst>
                    <a:ext uri="{9D8B030D-6E8A-4147-A177-3AD203B41FA5}">
                      <a16:colId xmlns:a16="http://schemas.microsoft.com/office/drawing/2014/main" val="1717272648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834325395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63038881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344945462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73364287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21759316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381467983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80895531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98055864"/>
                    </a:ext>
                  </a:extLst>
                </a:gridCol>
              </a:tblGrid>
              <a:tr h="3409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ODM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Site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SMT or SI or Both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Segment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Support Tier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OEM1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OEM2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OEM3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Additional OEMs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297752"/>
                  </a:ext>
                </a:extLst>
              </a:tr>
              <a:tr h="16265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highlight>
                            <a:srgbClr val="00FFFF"/>
                          </a:highlight>
                        </a:rPr>
                        <a:t>Quanta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Shanghai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Amazon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Facebook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Google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Intel, Ali, Tencent, QCT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432589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Tennessee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Facebook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911438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Taiwan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Facebook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Google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923772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Germany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Facebook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75087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Compal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Kunshan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Dell (66%)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Lenovo (22%)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Intel (12%)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785527"/>
                  </a:ext>
                </a:extLst>
              </a:tr>
              <a:tr h="16265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highlight>
                            <a:srgbClr val="00FFFF"/>
                          </a:highlight>
                        </a:rPr>
                        <a:t>Inventec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Shanghai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L10: Tencent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L10: Alibaba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L10: JD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L10: </a:t>
                      </a:r>
                      <a:r>
                        <a:rPr lang="en-US" sz="1100" u="none" strike="noStrike" dirty="0" err="1">
                          <a:effectLst/>
                        </a:rPr>
                        <a:t>Bytedance</a:t>
                      </a:r>
                      <a:r>
                        <a:rPr lang="en-US" sz="1100" u="none" strike="noStrike" dirty="0">
                          <a:effectLst/>
                        </a:rPr>
                        <a:t>, HPE</a:t>
                      </a:r>
                    </a:p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L6: Dell, Lenovo, Baidu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711229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Taiwan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Microsoft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Facebook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Google, AWS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547962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Mexico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00FFFF"/>
                          </a:highlight>
                        </a:rPr>
                        <a:t>HPE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848602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LCFC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Hefei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Lenovo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22458"/>
                  </a:ext>
                </a:extLst>
              </a:tr>
              <a:tr h="16265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Lenovo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Mexico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Lenovo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Microsoft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IBM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26448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Shenzhen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Lenovo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Alibaba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Tencent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812506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Brazil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Lenovo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481618"/>
                  </a:ext>
                </a:extLst>
              </a:tr>
              <a:tr h="16265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highlight>
                            <a:srgbClr val="00FFFF"/>
                          </a:highlight>
                        </a:rPr>
                        <a:t>Wistron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Zhongshan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Lenovo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Acer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78407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Hsinchu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?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Focusing on AI (Nvidia)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091890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Czech Republic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Facebook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Microsoft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Fujitsu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249180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Pegatron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Taipei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SMT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Fujitsu - Pu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352799"/>
                  </a:ext>
                </a:extLst>
              </a:tr>
              <a:tr h="16265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highlight>
                            <a:srgbClr val="00FFFF"/>
                          </a:highlight>
                        </a:rPr>
                        <a:t>Foxconn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Shenzhen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Cisco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AWS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NetApp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Oracle, Dell/EMC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8650305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Nanning (reactive)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00FFFF"/>
                          </a:highlight>
                        </a:rPr>
                        <a:t>Oracle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more?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295957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Wuhan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Lenovo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Intel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924742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Tianjin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Dell (EPDI factory) L6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Amazon (EODVI factory) L6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CABG factory :  Alibaba (1/3)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CABG: Tencent (30%)/</a:t>
                      </a:r>
                      <a:r>
                        <a:rPr lang="en-US" sz="1100" u="none" strike="noStrike" dirty="0" err="1">
                          <a:effectLst/>
                        </a:rPr>
                        <a:t>Byt</a:t>
                      </a:r>
                      <a:r>
                        <a:rPr lang="en-US" sz="1100" u="none" strike="noStrike" dirty="0">
                          <a:effectLst/>
                        </a:rPr>
                        <a:t> (15%)/HPE (L6)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844142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Czech Republic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highlight>
                            <a:srgbClr val="00FFFF"/>
                          </a:highlight>
                        </a:rPr>
                        <a:t>HPE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513977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Hungary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Microsoft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Cloud Network Technology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960084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Mexico, Guad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Cisco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6787199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Mexico, Juarez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390850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Huaqin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Shenzhen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Huawei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PowerLeader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Sugon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Hikvision, H3C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983414"/>
                  </a:ext>
                </a:extLst>
              </a:tr>
              <a:tr h="162654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Inspur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Shenzhen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Tencent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Alibaba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994070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Jinan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L10: Tencent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L10: Alibaba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L10: JD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L10: </a:t>
                      </a:r>
                      <a:r>
                        <a:rPr lang="en-US" sz="1100" u="none" strike="noStrike" dirty="0" err="1">
                          <a:effectLst/>
                        </a:rPr>
                        <a:t>Bytedance</a:t>
                      </a:r>
                      <a:r>
                        <a:rPr lang="en-US" sz="1100" u="none" strike="noStrike" dirty="0">
                          <a:effectLst/>
                        </a:rPr>
                        <a:t>, Baidu - L6: Lenovo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866009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Suzhou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SMT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Tencent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Alibaba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JD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Bytedance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177036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Guiyang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Low end projects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Alibaba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681885"/>
                  </a:ext>
                </a:extLst>
              </a:tr>
              <a:tr h="2969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Hungary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new - ramp delayed due to Covid19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433058"/>
                  </a:ext>
                </a:extLst>
              </a:tr>
              <a:tr h="16265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Wiwynn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Taiwan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FB,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951646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Twitter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289051"/>
                  </a:ext>
                </a:extLst>
              </a:tr>
              <a:tr h="162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Mexico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Facebook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Microsoft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Twitter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535210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Accept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Brazil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Positivo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964786"/>
                  </a:ext>
                </a:extLst>
              </a:tr>
              <a:tr h="162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Dell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Brazil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Dell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9557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C33A90-4CDC-475D-AD23-6BB49AC7C345}"/>
              </a:ext>
            </a:extLst>
          </p:cNvPr>
          <p:cNvSpPr txBox="1"/>
          <p:nvPr/>
        </p:nvSpPr>
        <p:spPr>
          <a:xfrm>
            <a:off x="11210925" y="3990975"/>
            <a:ext cx="9810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</a:rPr>
              <a:t>Blue = MV Planned with these Customers for </a:t>
            </a:r>
            <a:r>
              <a:rPr lang="en-US" sz="1200" dirty="0" err="1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</a:rPr>
              <a:t>Skt</a:t>
            </a:r>
            <a:r>
              <a:rPr lang="en-US" sz="1200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</a:rPr>
              <a:t> BR</a:t>
            </a:r>
            <a:r>
              <a:rPr lang="en-US" sz="1200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962A54-C10C-483C-892E-74509A5A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41" y="-151434"/>
            <a:ext cx="10515600" cy="624689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OEM-ODM Pairing &amp; Approximate Site Volume</a:t>
            </a:r>
          </a:p>
        </p:txBody>
      </p:sp>
    </p:spTree>
    <p:extLst>
      <p:ext uri="{BB962C8B-B14F-4D97-AF65-F5344CB8AC3E}">
        <p14:creationId xmlns:p14="http://schemas.microsoft.com/office/powerpoint/2010/main" val="350399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30F498-A7B5-4406-8DB3-F154ED097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501341"/>
              </p:ext>
            </p:extLst>
          </p:nvPr>
        </p:nvGraphicFramePr>
        <p:xfrm>
          <a:off x="104774" y="542925"/>
          <a:ext cx="10220326" cy="56242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8228">
                  <a:extLst>
                    <a:ext uri="{9D8B030D-6E8A-4147-A177-3AD203B41FA5}">
                      <a16:colId xmlns:a16="http://schemas.microsoft.com/office/drawing/2014/main" val="2445166372"/>
                    </a:ext>
                  </a:extLst>
                </a:gridCol>
                <a:gridCol w="1046660">
                  <a:extLst>
                    <a:ext uri="{9D8B030D-6E8A-4147-A177-3AD203B41FA5}">
                      <a16:colId xmlns:a16="http://schemas.microsoft.com/office/drawing/2014/main" val="3416104069"/>
                    </a:ext>
                  </a:extLst>
                </a:gridCol>
                <a:gridCol w="769603">
                  <a:extLst>
                    <a:ext uri="{9D8B030D-6E8A-4147-A177-3AD203B41FA5}">
                      <a16:colId xmlns:a16="http://schemas.microsoft.com/office/drawing/2014/main" val="3307880155"/>
                    </a:ext>
                  </a:extLst>
                </a:gridCol>
                <a:gridCol w="800387">
                  <a:extLst>
                    <a:ext uri="{9D8B030D-6E8A-4147-A177-3AD203B41FA5}">
                      <a16:colId xmlns:a16="http://schemas.microsoft.com/office/drawing/2014/main" val="1881823123"/>
                    </a:ext>
                  </a:extLst>
                </a:gridCol>
                <a:gridCol w="718296">
                  <a:extLst>
                    <a:ext uri="{9D8B030D-6E8A-4147-A177-3AD203B41FA5}">
                      <a16:colId xmlns:a16="http://schemas.microsoft.com/office/drawing/2014/main" val="260305525"/>
                    </a:ext>
                  </a:extLst>
                </a:gridCol>
                <a:gridCol w="1333978">
                  <a:extLst>
                    <a:ext uri="{9D8B030D-6E8A-4147-A177-3AD203B41FA5}">
                      <a16:colId xmlns:a16="http://schemas.microsoft.com/office/drawing/2014/main" val="689360460"/>
                    </a:ext>
                  </a:extLst>
                </a:gridCol>
                <a:gridCol w="1539206">
                  <a:extLst>
                    <a:ext uri="{9D8B030D-6E8A-4147-A177-3AD203B41FA5}">
                      <a16:colId xmlns:a16="http://schemas.microsoft.com/office/drawing/2014/main" val="3460431236"/>
                    </a:ext>
                  </a:extLst>
                </a:gridCol>
                <a:gridCol w="1200580">
                  <a:extLst>
                    <a:ext uri="{9D8B030D-6E8A-4147-A177-3AD203B41FA5}">
                      <a16:colId xmlns:a16="http://schemas.microsoft.com/office/drawing/2014/main" val="4223212360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4233528374"/>
                    </a:ext>
                  </a:extLst>
                </a:gridCol>
              </a:tblGrid>
              <a:tr h="3935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ODM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Site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SMT or SI or Both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Segment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Support Tier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OEM1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OEM2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OEM3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dirty="0">
                          <a:effectLst/>
                        </a:rPr>
                        <a:t>Additional OEMs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02310"/>
                  </a:ext>
                </a:extLst>
              </a:tr>
              <a:tr h="18036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Flextronics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Brazil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HPE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Cisco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Google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08399"/>
                  </a:ext>
                </a:extLst>
              </a:tr>
              <a:tr h="1803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Hungary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Lenovo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2967177"/>
                  </a:ext>
                </a:extLst>
              </a:tr>
              <a:tr h="1803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Mexico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Cisco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358130"/>
                  </a:ext>
                </a:extLst>
              </a:tr>
              <a:tr h="18036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Hyve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UK - Telford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6488465"/>
                  </a:ext>
                </a:extLst>
              </a:tr>
              <a:tr h="1803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US - Fremont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586993"/>
                  </a:ext>
                </a:extLst>
              </a:tr>
              <a:tr h="1803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Wuxi (PRC)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Amazon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059413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Jabil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SC, USA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Amazon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344417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Ingrasys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Elsalto, MX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Amazon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Microsoft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076154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Nypro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Ireland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Amazon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745442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ZT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New Jersey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1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Amazon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Microsoft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569726"/>
                  </a:ext>
                </a:extLst>
              </a:tr>
              <a:tr h="360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Cloud Network Tech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Houston, TX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Oracle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988757"/>
                  </a:ext>
                </a:extLst>
              </a:tr>
              <a:tr h="3607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Nanning </a:t>
                      </a:r>
                      <a:r>
                        <a:rPr lang="en-US" sz="1100" u="none" strike="noStrike" dirty="0" err="1">
                          <a:effectLst/>
                        </a:rPr>
                        <a:t>Fugui</a:t>
                      </a:r>
                      <a:r>
                        <a:rPr lang="en-US" sz="1100" u="none" strike="noStrike" dirty="0">
                          <a:effectLst/>
                        </a:rPr>
                        <a:t> Precision </a:t>
                      </a:r>
                      <a:r>
                        <a:rPr lang="en-US" sz="1100" u="none" strike="noStrike" dirty="0" err="1">
                          <a:effectLst/>
                        </a:rPr>
                        <a:t>Indst</a:t>
                      </a:r>
                      <a:r>
                        <a:rPr lang="en-US" sz="1100" u="none" strike="noStrike" dirty="0">
                          <a:effectLst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Nanning China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Oracle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92732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NSG Tech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San Jose, CA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Oracle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060403"/>
                  </a:ext>
                </a:extLst>
              </a:tr>
              <a:tr h="18036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Supermicro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San Jose, CA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SVR/CSP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Supermicro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544165"/>
                  </a:ext>
                </a:extLst>
              </a:tr>
              <a:tr h="1803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Netherlands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Supermicro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801311"/>
                  </a:ext>
                </a:extLst>
              </a:tr>
              <a:tr h="1803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Taiwan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Supermicro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3970275"/>
                  </a:ext>
                </a:extLst>
              </a:tr>
              <a:tr h="360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Cowin</a:t>
                      </a:r>
                      <a:r>
                        <a:rPr lang="en-US" sz="1100" u="none" strike="noStrike" dirty="0">
                          <a:effectLst/>
                        </a:rPr>
                        <a:t> Worldwide Corp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Hong Kong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Microsoft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9602758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Siemens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Germany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SVR/IOTG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Broad Market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097504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Congatec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Germany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SVR/IOTG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Broad Market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570380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Kontron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Germany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SVR/IOTG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Broad Market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744835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Bechoff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Germany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SVR/IOTG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Broad Market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973801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Tyan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Twitter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337020"/>
                  </a:ext>
                </a:extLst>
              </a:tr>
              <a:tr h="1803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H3C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Hangzhou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SVR/CSP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Baidu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Alibaba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Tencent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H3C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94573"/>
                  </a:ext>
                </a:extLst>
              </a:tr>
              <a:tr h="5411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Mitac</a:t>
                      </a:r>
                      <a:r>
                        <a:rPr lang="en-US" sz="1100" u="none" strike="noStrike" dirty="0">
                          <a:effectLst/>
                        </a:rPr>
                        <a:t> (Monitoring only)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PCSD - Intel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402335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C70F552A-812F-490D-8CEE-2E3AA587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41" y="-151434"/>
            <a:ext cx="10515600" cy="624689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OEM-ODM Pairing &amp; Approximate Site Volume</a:t>
            </a:r>
          </a:p>
        </p:txBody>
      </p:sp>
    </p:spTree>
    <p:extLst>
      <p:ext uri="{BB962C8B-B14F-4D97-AF65-F5344CB8AC3E}">
        <p14:creationId xmlns:p14="http://schemas.microsoft.com/office/powerpoint/2010/main" val="2093752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A7EAE5B1-E38D-4791-AA6E-DA981DB43621}"/>
</file>

<file path=customXml/itemProps2.xml><?xml version="1.0" encoding="utf-8"?>
<ds:datastoreItem xmlns:ds="http://schemas.openxmlformats.org/officeDocument/2006/customXml" ds:itemID="{CF3F594C-68FF-4916-830D-C1E157D055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9CE2FE-F6BF-48D9-AFD9-F83D6DC58A9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996</Words>
  <Application>Microsoft Office PowerPoint</Application>
  <PresentationFormat>Widescreen</PresentationFormat>
  <Paragraphs>584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Intel Clear</vt:lpstr>
      <vt:lpstr>Office Theme</vt:lpstr>
      <vt:lpstr>Top Server &amp; Cloud MSS%</vt:lpstr>
      <vt:lpstr>OEM-ODM Pairing &amp; Approximate Site Volume</vt:lpstr>
      <vt:lpstr>OEM-ODM Pairing &amp; Approximate Site Volume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Burkholder, Dan S</dc:creator>
  <cp:lastModifiedBy>Dewitt, Jesse</cp:lastModifiedBy>
  <cp:revision>18</cp:revision>
  <dcterms:created xsi:type="dcterms:W3CDTF">2020-11-03T20:22:00Z</dcterms:created>
  <dcterms:modified xsi:type="dcterms:W3CDTF">2021-12-08T19:49:22Z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