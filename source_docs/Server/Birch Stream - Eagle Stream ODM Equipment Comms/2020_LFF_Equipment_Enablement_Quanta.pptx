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7"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66" d="100"/>
          <a:sy n="66" d="100"/>
        </p:scale>
        <p:origin x="1157" y="4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11/30/2020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a top down view, side by side comparison</a:t>
            </a:r>
          </a:p>
        </p:txBody>
      </p:sp>
    </p:spTree>
    <p:extLst>
      <p:ext uri="{BB962C8B-B14F-4D97-AF65-F5344CB8AC3E}">
        <p14:creationId xmlns:p14="http://schemas.microsoft.com/office/powerpoint/2010/main" val="3822572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2.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0">
            <a:extLst>
              <a:ext uri="{96DAC541-7B7A-43D3-8B79-37D633B846F1}">
                <asvg:svgBlip xmlns:asvg="http://schemas.microsoft.com/office/drawing/2016/SVG/main" r:embed="rId31"/>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27.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2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slide" Target="slide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Quanta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 6098744</a:t>
            </a:r>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3636834311"/>
              </p:ext>
            </p:extLst>
          </p:nvPr>
        </p:nvGraphicFramePr>
        <p:xfrm>
          <a:off x="630725" y="884193"/>
          <a:ext cx="10595573" cy="3898664"/>
        </p:xfrm>
        <a:graphic>
          <a:graphicData uri="http://schemas.openxmlformats.org/drawingml/2006/table">
            <a:tbl>
              <a:tblPr firstRow="1" bandRow="1">
                <a:tableStyleId>{5C22544A-7EE6-4342-B048-85BDC9FD1C3A}</a:tableStyleId>
              </a:tblPr>
              <a:tblGrid>
                <a:gridCol w="2769356">
                  <a:extLst>
                    <a:ext uri="{9D8B030D-6E8A-4147-A177-3AD203B41FA5}">
                      <a16:colId xmlns:a16="http://schemas.microsoft.com/office/drawing/2014/main" val="3230779745"/>
                    </a:ext>
                  </a:extLst>
                </a:gridCol>
                <a:gridCol w="2726677">
                  <a:extLst>
                    <a:ext uri="{9D8B030D-6E8A-4147-A177-3AD203B41FA5}">
                      <a16:colId xmlns:a16="http://schemas.microsoft.com/office/drawing/2014/main" val="695314244"/>
                    </a:ext>
                  </a:extLst>
                </a:gridCol>
                <a:gridCol w="2271073">
                  <a:extLst>
                    <a:ext uri="{9D8B030D-6E8A-4147-A177-3AD203B41FA5}">
                      <a16:colId xmlns:a16="http://schemas.microsoft.com/office/drawing/2014/main" val="3001795913"/>
                    </a:ext>
                  </a:extLst>
                </a:gridCol>
                <a:gridCol w="2828467">
                  <a:extLst>
                    <a:ext uri="{9D8B030D-6E8A-4147-A177-3AD203B41FA5}">
                      <a16:colId xmlns:a16="http://schemas.microsoft.com/office/drawing/2014/main" val="472116317"/>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gridSpan="2">
                  <a:txBody>
                    <a:bodyPr/>
                    <a:lstStyle/>
                    <a:p>
                      <a:pPr algn="ctr"/>
                      <a:r>
                        <a:rPr lang="en-US" sz="2000" dirty="0"/>
                        <a:t>Upcoming Server </a:t>
                      </a:r>
                      <a:r>
                        <a:rPr lang="en-US" sz="2000" dirty="0">
                          <a:solidFill>
                            <a:schemeClr val="bg1"/>
                          </a:solidFill>
                        </a:rPr>
                        <a:t>Sockets</a:t>
                      </a:r>
                    </a:p>
                  </a:txBody>
                  <a:tcPr>
                    <a:solidFill>
                      <a:schemeClr val="tx2"/>
                    </a:solidFill>
                  </a:tcPr>
                </a:tc>
                <a:tc hMerge="1">
                  <a:txBody>
                    <a:bodyPr/>
                    <a:lstStyle/>
                    <a:p>
                      <a:endParaRPr lang="en-US" dirty="0"/>
                    </a:p>
                  </a:txBody>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tc>
                  <a:txBody>
                    <a:bodyPr/>
                    <a:lstStyle/>
                    <a:p>
                      <a:pPr algn="ctr"/>
                      <a:r>
                        <a:rPr lang="en-US" sz="2000" dirty="0">
                          <a:solidFill>
                            <a:schemeClr val="tx1"/>
                          </a:solidFill>
                        </a:rPr>
                        <a:t>Socket </a:t>
                      </a:r>
                      <a:r>
                        <a:rPr lang="en-US" sz="2000" i="0" dirty="0">
                          <a:solidFill>
                            <a:schemeClr val="tx1"/>
                          </a:solidFill>
                        </a:rPr>
                        <a:t>BR</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tc>
                  <a:txBody>
                    <a:bodyPr/>
                    <a:lstStyle/>
                    <a:p>
                      <a:pPr algn="ctr"/>
                      <a:r>
                        <a:rPr lang="en-US" sz="2000" dirty="0">
                          <a:solidFill>
                            <a:schemeClr val="tx1"/>
                          </a:solidFill>
                        </a:rPr>
                        <a:t>109 x 75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tc>
                  <a:txBody>
                    <a:bodyPr/>
                    <a:lstStyle/>
                    <a:p>
                      <a:pPr algn="ctr"/>
                      <a:r>
                        <a:rPr lang="en-US" sz="2000" dirty="0">
                          <a:solidFill>
                            <a:schemeClr val="tx1"/>
                          </a:solidFill>
                        </a:rPr>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tc>
                  <a:txBody>
                    <a:bodyPr/>
                    <a:lstStyle/>
                    <a:p>
                      <a:pPr algn="ctr"/>
                      <a:r>
                        <a:rPr lang="en-US" sz="2000" dirty="0">
                          <a:solidFill>
                            <a:schemeClr val="tx1"/>
                          </a:solidFill>
                        </a:rPr>
                        <a:t>39</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tc>
                  <a:txBody>
                    <a:bodyPr/>
                    <a:lstStyle/>
                    <a:p>
                      <a:pPr algn="ctr"/>
                      <a:r>
                        <a:rPr lang="en-US" sz="2000" dirty="0">
                          <a:solidFill>
                            <a:schemeClr val="tx1"/>
                          </a:solidFill>
                        </a:rPr>
                        <a:t>7529</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tc>
                  <a:txBody>
                    <a:bodyPr/>
                    <a:lstStyle/>
                    <a:p>
                      <a:pPr algn="ctr"/>
                      <a:r>
                        <a:rPr lang="en-US" sz="2000" strike="noStrike" dirty="0">
                          <a:solidFill>
                            <a:schemeClr val="tx1"/>
                          </a:solidFill>
                        </a:rPr>
                        <a:t>Q2’22</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pic>
        <p:nvPicPr>
          <p:cNvPr id="11" name="Picture 10" descr="A picture containing building, clock&#10;&#10;Description automatically generated">
            <a:hlinkClick r:id="rId3" action="ppaction://hlinksldjump"/>
            <a:extLst>
              <a:ext uri="{FF2B5EF4-FFF2-40B4-BE49-F238E27FC236}">
                <a16:creationId xmlns:a16="http://schemas.microsoft.com/office/drawing/2014/main" id="{6B20A9B6-5E1B-431E-81E6-3841C25C5DD2}"/>
              </a:ext>
            </a:extLst>
          </p:cNvPr>
          <p:cNvPicPr>
            <a:picLocks noChangeAspect="1"/>
          </p:cNvPicPr>
          <p:nvPr/>
        </p:nvPicPr>
        <p:blipFill>
          <a:blip r:embed="rId4"/>
          <a:stretch>
            <a:fillRect/>
          </a:stretch>
        </p:blipFill>
        <p:spPr>
          <a:xfrm>
            <a:off x="8407787" y="1413192"/>
            <a:ext cx="315433" cy="315433"/>
          </a:xfrm>
          <a:prstGeom prst="rect">
            <a:avLst/>
          </a:prstGeom>
          <a:solidFill>
            <a:schemeClr val="bg2"/>
          </a:solidFill>
        </p:spPr>
      </p:pic>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2716238857"/>
              </p:ext>
            </p:extLst>
          </p:nvPr>
        </p:nvGraphicFramePr>
        <p:xfrm>
          <a:off x="174519" y="530337"/>
          <a:ext cx="11575023" cy="2381514"/>
        </p:xfrm>
        <a:graphic>
          <a:graphicData uri="http://schemas.openxmlformats.org/drawingml/2006/table">
            <a:tbl>
              <a:tblPr firstRow="1" firstCol="1" bandRow="1">
                <a:tableStyleId>{5C22544A-7EE6-4342-B048-85BDC9FD1C3A}</a:tableStyleId>
              </a:tblPr>
              <a:tblGrid>
                <a:gridCol w="1163616">
                  <a:extLst>
                    <a:ext uri="{9D8B030D-6E8A-4147-A177-3AD203B41FA5}">
                      <a16:colId xmlns:a16="http://schemas.microsoft.com/office/drawing/2014/main" val="20000"/>
                    </a:ext>
                  </a:extLst>
                </a:gridCol>
                <a:gridCol w="872029">
                  <a:extLst>
                    <a:ext uri="{9D8B030D-6E8A-4147-A177-3AD203B41FA5}">
                      <a16:colId xmlns:a16="http://schemas.microsoft.com/office/drawing/2014/main" val="20001"/>
                    </a:ext>
                  </a:extLst>
                </a:gridCol>
                <a:gridCol w="1045083">
                  <a:extLst>
                    <a:ext uri="{9D8B030D-6E8A-4147-A177-3AD203B41FA5}">
                      <a16:colId xmlns:a16="http://schemas.microsoft.com/office/drawing/2014/main" val="20002"/>
                    </a:ext>
                  </a:extLst>
                </a:gridCol>
                <a:gridCol w="1347537">
                  <a:extLst>
                    <a:ext uri="{9D8B030D-6E8A-4147-A177-3AD203B41FA5}">
                      <a16:colId xmlns:a16="http://schemas.microsoft.com/office/drawing/2014/main" val="20003"/>
                    </a:ext>
                  </a:extLst>
                </a:gridCol>
                <a:gridCol w="1275347">
                  <a:extLst>
                    <a:ext uri="{9D8B030D-6E8A-4147-A177-3AD203B41FA5}">
                      <a16:colId xmlns:a16="http://schemas.microsoft.com/office/drawing/2014/main" val="20007"/>
                    </a:ext>
                  </a:extLst>
                </a:gridCol>
                <a:gridCol w="1106906">
                  <a:extLst>
                    <a:ext uri="{9D8B030D-6E8A-4147-A177-3AD203B41FA5}">
                      <a16:colId xmlns:a16="http://schemas.microsoft.com/office/drawing/2014/main" val="20008"/>
                    </a:ext>
                  </a:extLst>
                </a:gridCol>
                <a:gridCol w="1469311">
                  <a:extLst>
                    <a:ext uri="{9D8B030D-6E8A-4147-A177-3AD203B41FA5}">
                      <a16:colId xmlns:a16="http://schemas.microsoft.com/office/drawing/2014/main" val="210591066"/>
                    </a:ext>
                  </a:extLst>
                </a:gridCol>
                <a:gridCol w="1490457">
                  <a:extLst>
                    <a:ext uri="{9D8B030D-6E8A-4147-A177-3AD203B41FA5}">
                      <a16:colId xmlns:a16="http://schemas.microsoft.com/office/drawing/2014/main" val="732629900"/>
                    </a:ext>
                  </a:extLst>
                </a:gridCol>
                <a:gridCol w="1804737">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89742">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row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Quanta</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row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Fuji</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AIMEX-III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120 x 120 mm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326478">
                <a:tc vMerge="1">
                  <a:txBody>
                    <a:bodyPr/>
                    <a:lstStyle/>
                    <a:p>
                      <a:pPr marL="0" marR="0" algn="ctr">
                        <a:spcBef>
                          <a:spcPts val="0"/>
                        </a:spcBef>
                        <a:spcAft>
                          <a:spcPts val="0"/>
                        </a:spcAft>
                      </a:pPr>
                      <a:endParaRPr lang="en-US" sz="11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vMerge="1">
                  <a:txBody>
                    <a:bodyPr/>
                    <a:lstStyle/>
                    <a:p>
                      <a:pPr marL="0" marR="0">
                        <a:spcBef>
                          <a:spcPts val="0"/>
                        </a:spcBef>
                        <a:spcAft>
                          <a:spcPts val="0"/>
                        </a:spcAft>
                      </a:pPr>
                      <a:endParaRPr lang="en-US" sz="10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NXT 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7745156"/>
                  </a:ext>
                </a:extLst>
              </a:tr>
              <a:tr h="326478">
                <a:tc v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v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0960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NXT III</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102 x 102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86154514"/>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235926720"/>
              </p:ext>
            </p:extLst>
          </p:nvPr>
        </p:nvGraphicFramePr>
        <p:xfrm>
          <a:off x="143735" y="3037855"/>
          <a:ext cx="11225144" cy="2002874"/>
        </p:xfrm>
        <a:graphic>
          <a:graphicData uri="http://schemas.openxmlformats.org/drawingml/2006/table">
            <a:tbl>
              <a:tblPr firstRow="1" firstCol="1" bandRow="1">
                <a:tableStyleId>{5C22544A-7EE6-4342-B048-85BDC9FD1C3A}</a:tableStyleId>
              </a:tblPr>
              <a:tblGrid>
                <a:gridCol w="1117715">
                  <a:extLst>
                    <a:ext uri="{9D8B030D-6E8A-4147-A177-3AD203B41FA5}">
                      <a16:colId xmlns:a16="http://schemas.microsoft.com/office/drawing/2014/main" val="20000"/>
                    </a:ext>
                  </a:extLst>
                </a:gridCol>
                <a:gridCol w="1352652">
                  <a:extLst>
                    <a:ext uri="{9D8B030D-6E8A-4147-A177-3AD203B41FA5}">
                      <a16:colId xmlns:a16="http://schemas.microsoft.com/office/drawing/2014/main" val="20001"/>
                    </a:ext>
                  </a:extLst>
                </a:gridCol>
                <a:gridCol w="1024454">
                  <a:extLst>
                    <a:ext uri="{9D8B030D-6E8A-4147-A177-3AD203B41FA5}">
                      <a16:colId xmlns:a16="http://schemas.microsoft.com/office/drawing/2014/main" val="20002"/>
                    </a:ext>
                  </a:extLst>
                </a:gridCol>
                <a:gridCol w="1726801">
                  <a:extLst>
                    <a:ext uri="{9D8B030D-6E8A-4147-A177-3AD203B41FA5}">
                      <a16:colId xmlns:a16="http://schemas.microsoft.com/office/drawing/2014/main" val="20003"/>
                    </a:ext>
                  </a:extLst>
                </a:gridCol>
                <a:gridCol w="1203886">
                  <a:extLst>
                    <a:ext uri="{9D8B030D-6E8A-4147-A177-3AD203B41FA5}">
                      <a16:colId xmlns:a16="http://schemas.microsoft.com/office/drawing/2014/main" val="20007"/>
                    </a:ext>
                  </a:extLst>
                </a:gridCol>
                <a:gridCol w="1275347">
                  <a:extLst>
                    <a:ext uri="{9D8B030D-6E8A-4147-A177-3AD203B41FA5}">
                      <a16:colId xmlns:a16="http://schemas.microsoft.com/office/drawing/2014/main" val="20008"/>
                    </a:ext>
                  </a:extLst>
                </a:gridCol>
                <a:gridCol w="1588169">
                  <a:extLst>
                    <a:ext uri="{9D8B030D-6E8A-4147-A177-3AD203B41FA5}">
                      <a16:colId xmlns:a16="http://schemas.microsoft.com/office/drawing/2014/main" val="2338990182"/>
                    </a:ext>
                  </a:extLst>
                </a:gridCol>
                <a:gridCol w="1936120">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endParaRPr lang="en-US"/>
                    </a:p>
                  </a:txBody>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rPr>
                        <a:t>Socket BR</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(109 x 75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Quanta</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VJE</a:t>
                      </a:r>
                    </a:p>
                  </a:txBody>
                  <a:tcPr marL="51727" marR="5172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SRT-1800</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80 x 80 mm (with prism upgrade)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3" name="TextBox 2">
            <a:extLst>
              <a:ext uri="{FF2B5EF4-FFF2-40B4-BE49-F238E27FC236}">
                <a16:creationId xmlns:a16="http://schemas.microsoft.com/office/drawing/2014/main" id="{98C402DD-7EFB-47D2-ADFF-392D88B199FD}"/>
              </a:ext>
            </a:extLst>
          </p:cNvPr>
          <p:cNvSpPr txBox="1"/>
          <p:nvPr/>
        </p:nvSpPr>
        <p:spPr>
          <a:xfrm>
            <a:off x="722376" y="5059011"/>
            <a:ext cx="7123176" cy="21544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sz="1400" b="0" i="0" u="none" strike="noStrike" cap="none" spc="0" normalizeH="0" baseline="0" dirty="0">
                <a:ln>
                  <a:noFill/>
                </a:ln>
                <a:solidFill>
                  <a:schemeClr val="tx1"/>
                </a:solidFill>
                <a:effectLst/>
                <a:uFillTx/>
                <a:latin typeface="+mn-lt"/>
                <a:ea typeface="+mn-ea"/>
                <a:cs typeface="+mn-cs"/>
                <a:sym typeface="Helvetica Neue"/>
              </a:rPr>
              <a:t>*SRT-1800 may have some technical challenges</a:t>
            </a:r>
          </a:p>
        </p:txBody>
      </p:sp>
      <p:sp>
        <p:nvSpPr>
          <p:cNvPr id="2" name="Rectangle: Rounded Corners 1">
            <a:extLst>
              <a:ext uri="{FF2B5EF4-FFF2-40B4-BE49-F238E27FC236}">
                <a16:creationId xmlns:a16="http://schemas.microsoft.com/office/drawing/2014/main" id="{E4E54366-289A-4C6A-A73E-90B6899B67BD}"/>
              </a:ext>
            </a:extLst>
          </p:cNvPr>
          <p:cNvSpPr/>
          <p:nvPr/>
        </p:nvSpPr>
        <p:spPr>
          <a:xfrm>
            <a:off x="8059667" y="236212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Quanta</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816437"/>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Quanta</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and Socket BR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E/Socket BR</a:t>
            </a: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a:p>
            <a:r>
              <a:rPr lang="en-US" sz="3200" dirty="0">
                <a:solidFill>
                  <a:schemeClr val="tx1"/>
                </a:solidFill>
              </a:rPr>
              <a:t>Intel would like to collaborate and provide an opportunity for early assessment/readiness checks with Socket BR. </a:t>
            </a:r>
          </a:p>
          <a:p>
            <a:pPr marL="483394" lvl="2" indent="-228600">
              <a:buFont typeface="Wingdings" pitchFamily="2" charset="2"/>
              <a:buChar char="§"/>
            </a:pPr>
            <a:r>
              <a:rPr lang="en-US" sz="2400" dirty="0">
                <a:solidFill>
                  <a:schemeClr val="tx1"/>
                </a:solidFill>
              </a:rPr>
              <a:t>Intel will share needed collaterals (sockets/PCBs) when available </a:t>
            </a: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Picture 147">
            <a:extLst>
              <a:ext uri="{FF2B5EF4-FFF2-40B4-BE49-F238E27FC236}">
                <a16:creationId xmlns:a16="http://schemas.microsoft.com/office/drawing/2014/main" id="{4A92F452-BA42-4A57-B708-BA0C6BAD0954}"/>
              </a:ext>
            </a:extLst>
          </p:cNvPr>
          <p:cNvPicPr>
            <a:picLocks noChangeAspect="1"/>
          </p:cNvPicPr>
          <p:nvPr/>
        </p:nvPicPr>
        <p:blipFill>
          <a:blip r:embed="rId3"/>
          <a:stretch>
            <a:fillRect/>
          </a:stretch>
        </p:blipFill>
        <p:spPr>
          <a:xfrm>
            <a:off x="2770200" y="1725095"/>
            <a:ext cx="2812263" cy="3112751"/>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436726"/>
            <a:ext cx="10972800" cy="510925"/>
          </a:xfrm>
        </p:spPr>
        <p:txBody>
          <a:bodyPr wrap="square" anchor="ctr">
            <a:normAutofit/>
          </a:bodyPr>
          <a:lstStyle/>
          <a:p>
            <a:pPr>
              <a:lnSpc>
                <a:spcPct val="90000"/>
              </a:lnSpc>
            </a:pPr>
            <a:r>
              <a:rPr lang="en-US" sz="3000" b="0" dirty="0"/>
              <a:t>Socket-E v Socket-BR</a:t>
            </a:r>
          </a:p>
        </p:txBody>
      </p:sp>
      <p:pic>
        <p:nvPicPr>
          <p:cNvPr id="13" name="Picture 12" descr="A close up of a sign&#10;&#10;Description automatically generated">
            <a:hlinkClick r:id="rId4" action="ppaction://hlinksldjump"/>
            <a:extLst>
              <a:ext uri="{FF2B5EF4-FFF2-40B4-BE49-F238E27FC236}">
                <a16:creationId xmlns:a16="http://schemas.microsoft.com/office/drawing/2014/main" id="{32AE53B2-0EA1-4227-BE03-357B4E56CBBB}"/>
              </a:ext>
            </a:extLst>
          </p:cNvPr>
          <p:cNvPicPr>
            <a:picLocks noChangeAspect="1"/>
          </p:cNvPicPr>
          <p:nvPr/>
        </p:nvPicPr>
        <p:blipFill>
          <a:blip r:embed="rId5"/>
          <a:stretch>
            <a:fillRect/>
          </a:stretch>
        </p:blipFill>
        <p:spPr>
          <a:xfrm>
            <a:off x="11505385" y="5593421"/>
            <a:ext cx="641065" cy="641065"/>
          </a:xfrm>
          <a:prstGeom prst="rect">
            <a:avLst/>
          </a:prstGeom>
        </p:spPr>
      </p:pic>
      <p:grpSp>
        <p:nvGrpSpPr>
          <p:cNvPr id="108" name="Group 107">
            <a:extLst>
              <a:ext uri="{FF2B5EF4-FFF2-40B4-BE49-F238E27FC236}">
                <a16:creationId xmlns:a16="http://schemas.microsoft.com/office/drawing/2014/main" id="{B0F3F712-6973-4968-AD39-1F6DDB89692E}"/>
              </a:ext>
            </a:extLst>
          </p:cNvPr>
          <p:cNvGrpSpPr/>
          <p:nvPr/>
        </p:nvGrpSpPr>
        <p:grpSpPr>
          <a:xfrm>
            <a:off x="400378" y="1357757"/>
            <a:ext cx="2602336" cy="3733341"/>
            <a:chOff x="4633242" y="1262844"/>
            <a:chExt cx="3126573" cy="4454174"/>
          </a:xfrm>
        </p:grpSpPr>
        <p:sp>
          <p:nvSpPr>
            <p:cNvPr id="109" name="Rectangle 108">
              <a:extLst>
                <a:ext uri="{FF2B5EF4-FFF2-40B4-BE49-F238E27FC236}">
                  <a16:creationId xmlns:a16="http://schemas.microsoft.com/office/drawing/2014/main" id="{E087D129-6915-4F3C-A99B-718721929EBD}"/>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10" name="Picture 109">
              <a:extLst>
                <a:ext uri="{FF2B5EF4-FFF2-40B4-BE49-F238E27FC236}">
                  <a16:creationId xmlns:a16="http://schemas.microsoft.com/office/drawing/2014/main" id="{6B570E5E-6220-4878-BCC5-BBD2EC7CD9BA}"/>
                </a:ext>
              </a:extLst>
            </p:cNvPr>
            <p:cNvPicPr>
              <a:picLocks noChangeAspect="1"/>
            </p:cNvPicPr>
            <p:nvPr/>
          </p:nvPicPr>
          <p:blipFill>
            <a:blip r:embed="rId6">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111" name="Straight Arrow Connector 110">
              <a:extLst>
                <a:ext uri="{FF2B5EF4-FFF2-40B4-BE49-F238E27FC236}">
                  <a16:creationId xmlns:a16="http://schemas.microsoft.com/office/drawing/2014/main" id="{21097BA8-E516-46A4-93DE-89620FBCC83F}"/>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2" name="Straight Arrow Connector 111">
              <a:extLst>
                <a:ext uri="{FF2B5EF4-FFF2-40B4-BE49-F238E27FC236}">
                  <a16:creationId xmlns:a16="http://schemas.microsoft.com/office/drawing/2014/main" id="{BB4D6571-9017-4F48-877E-809EABE8F473}"/>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13" name="Straight Connector 112">
              <a:extLst>
                <a:ext uri="{FF2B5EF4-FFF2-40B4-BE49-F238E27FC236}">
                  <a16:creationId xmlns:a16="http://schemas.microsoft.com/office/drawing/2014/main" id="{FB5ED8F0-D85A-45A6-9694-FCB0BA7AB12D}"/>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4" name="Straight Connector 113">
              <a:extLst>
                <a:ext uri="{FF2B5EF4-FFF2-40B4-BE49-F238E27FC236}">
                  <a16:creationId xmlns:a16="http://schemas.microsoft.com/office/drawing/2014/main" id="{972D4CA5-36CB-4666-99B8-536F2A0EC7D5}"/>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5" name="Straight Connector 114">
              <a:extLst>
                <a:ext uri="{FF2B5EF4-FFF2-40B4-BE49-F238E27FC236}">
                  <a16:creationId xmlns:a16="http://schemas.microsoft.com/office/drawing/2014/main" id="{D78B354C-9968-4BA6-A60C-56EF5E041A36}"/>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6" name="Straight Connector 115">
              <a:extLst>
                <a:ext uri="{FF2B5EF4-FFF2-40B4-BE49-F238E27FC236}">
                  <a16:creationId xmlns:a16="http://schemas.microsoft.com/office/drawing/2014/main" id="{837249C1-D5B0-453A-A519-FAD8F5EA067E}"/>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7" name="Straight Connector 116">
              <a:extLst>
                <a:ext uri="{FF2B5EF4-FFF2-40B4-BE49-F238E27FC236}">
                  <a16:creationId xmlns:a16="http://schemas.microsoft.com/office/drawing/2014/main" id="{D5AEBA1B-8B06-497C-B67D-127C90B6C7FC}"/>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8" name="Straight Connector 117">
              <a:extLst>
                <a:ext uri="{FF2B5EF4-FFF2-40B4-BE49-F238E27FC236}">
                  <a16:creationId xmlns:a16="http://schemas.microsoft.com/office/drawing/2014/main" id="{6EA73415-33F6-4639-9CCF-8F7DF25BFCAD}"/>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19" name="Straight Arrow Connector 118">
              <a:extLst>
                <a:ext uri="{FF2B5EF4-FFF2-40B4-BE49-F238E27FC236}">
                  <a16:creationId xmlns:a16="http://schemas.microsoft.com/office/drawing/2014/main" id="{0F6071C1-5023-4D4E-9A98-2E2BF35AD406}"/>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20" name="Straight Connector 119">
              <a:extLst>
                <a:ext uri="{FF2B5EF4-FFF2-40B4-BE49-F238E27FC236}">
                  <a16:creationId xmlns:a16="http://schemas.microsoft.com/office/drawing/2014/main" id="{8A58B87C-9391-42FD-9209-98EE8884E1F9}"/>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1" name="Straight Connector 120">
              <a:extLst>
                <a:ext uri="{FF2B5EF4-FFF2-40B4-BE49-F238E27FC236}">
                  <a16:creationId xmlns:a16="http://schemas.microsoft.com/office/drawing/2014/main" id="{F5229FA5-6825-4386-AE42-83C23C16AD42}"/>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22" name="Straight Arrow Connector 121">
              <a:extLst>
                <a:ext uri="{FF2B5EF4-FFF2-40B4-BE49-F238E27FC236}">
                  <a16:creationId xmlns:a16="http://schemas.microsoft.com/office/drawing/2014/main" id="{75B99B2C-3779-47F3-AE41-396FA3E184AD}"/>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23" name="Rectangle 122">
              <a:extLst>
                <a:ext uri="{FF2B5EF4-FFF2-40B4-BE49-F238E27FC236}">
                  <a16:creationId xmlns:a16="http://schemas.microsoft.com/office/drawing/2014/main" id="{18619815-848D-451A-8A0A-CBC6B0ED24ED}"/>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124" name="Rectangle 123">
              <a:extLst>
                <a:ext uri="{FF2B5EF4-FFF2-40B4-BE49-F238E27FC236}">
                  <a16:creationId xmlns:a16="http://schemas.microsoft.com/office/drawing/2014/main" id="{149794EB-A1DB-48DC-A268-58110A2A73F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125" name="Rectangle 124">
              <a:extLst>
                <a:ext uri="{FF2B5EF4-FFF2-40B4-BE49-F238E27FC236}">
                  <a16:creationId xmlns:a16="http://schemas.microsoft.com/office/drawing/2014/main" id="{F28A2D08-5EC3-425E-9F52-B6DE1DEACF4B}"/>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126" name="Rectangle 125">
              <a:extLst>
                <a:ext uri="{FF2B5EF4-FFF2-40B4-BE49-F238E27FC236}">
                  <a16:creationId xmlns:a16="http://schemas.microsoft.com/office/drawing/2014/main" id="{3E14607C-C115-496C-9789-6F898C4F1C1F}"/>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pic>
        <p:nvPicPr>
          <p:cNvPr id="145" name="Picture 144">
            <a:extLst>
              <a:ext uri="{FF2B5EF4-FFF2-40B4-BE49-F238E27FC236}">
                <a16:creationId xmlns:a16="http://schemas.microsoft.com/office/drawing/2014/main" id="{AF12C78C-6AFC-4C03-A2C4-68E6823B1F23}"/>
              </a:ext>
            </a:extLst>
          </p:cNvPr>
          <p:cNvPicPr>
            <a:picLocks noChangeAspect="1"/>
          </p:cNvPicPr>
          <p:nvPr/>
        </p:nvPicPr>
        <p:blipFill>
          <a:blip r:embed="rId7"/>
          <a:stretch>
            <a:fillRect/>
          </a:stretch>
        </p:blipFill>
        <p:spPr>
          <a:xfrm>
            <a:off x="8900440" y="1765423"/>
            <a:ext cx="2831736" cy="2961263"/>
          </a:xfrm>
          <a:prstGeom prst="rect">
            <a:avLst/>
          </a:prstGeom>
        </p:spPr>
      </p:pic>
      <p:grpSp>
        <p:nvGrpSpPr>
          <p:cNvPr id="127" name="Group 126">
            <a:extLst>
              <a:ext uri="{FF2B5EF4-FFF2-40B4-BE49-F238E27FC236}">
                <a16:creationId xmlns:a16="http://schemas.microsoft.com/office/drawing/2014/main" id="{4490DC7A-BEE0-4E41-9D13-D7F7523523FC}"/>
              </a:ext>
            </a:extLst>
          </p:cNvPr>
          <p:cNvGrpSpPr/>
          <p:nvPr/>
        </p:nvGrpSpPr>
        <p:grpSpPr>
          <a:xfrm>
            <a:off x="6016563" y="1418424"/>
            <a:ext cx="3000507" cy="3623565"/>
            <a:chOff x="8518409" y="1343964"/>
            <a:chExt cx="3553750" cy="4723346"/>
          </a:xfrm>
        </p:grpSpPr>
        <p:pic>
          <p:nvPicPr>
            <p:cNvPr id="128" name="Picture 127">
              <a:extLst>
                <a:ext uri="{FF2B5EF4-FFF2-40B4-BE49-F238E27FC236}">
                  <a16:creationId xmlns:a16="http://schemas.microsoft.com/office/drawing/2014/main" id="{624B002E-F258-46DC-8D93-E60C7849C6DB}"/>
                </a:ext>
              </a:extLst>
            </p:cNvPr>
            <p:cNvPicPr>
              <a:picLocks noChangeAspect="1"/>
            </p:cNvPicPr>
            <p:nvPr/>
          </p:nvPicPr>
          <p:blipFill>
            <a:blip r:embed="rId8">
              <a:clrChange>
                <a:clrFrom>
                  <a:srgbClr val="E8EAED"/>
                </a:clrFrom>
                <a:clrTo>
                  <a:srgbClr val="E8EAED">
                    <a:alpha val="0"/>
                  </a:srgbClr>
                </a:clrTo>
              </a:clrChange>
            </a:blip>
            <a:stretch>
              <a:fillRect/>
            </a:stretch>
          </p:blipFill>
          <p:spPr>
            <a:xfrm rot="10800000">
              <a:off x="8518409" y="1343964"/>
              <a:ext cx="3082163" cy="4245629"/>
            </a:xfrm>
            <a:prstGeom prst="rect">
              <a:avLst/>
            </a:prstGeom>
          </p:spPr>
        </p:pic>
        <p:cxnSp>
          <p:nvCxnSpPr>
            <p:cNvPr id="129" name="Straight Arrow Connector 128">
              <a:extLst>
                <a:ext uri="{FF2B5EF4-FFF2-40B4-BE49-F238E27FC236}">
                  <a16:creationId xmlns:a16="http://schemas.microsoft.com/office/drawing/2014/main" id="{63E82B32-D6E9-4B64-B7BD-C8D2305FF882}"/>
                </a:ext>
              </a:extLst>
            </p:cNvPr>
            <p:cNvCxnSpPr/>
            <p:nvPr/>
          </p:nvCxnSpPr>
          <p:spPr>
            <a:xfrm>
              <a:off x="11661466" y="1893197"/>
              <a:ext cx="0" cy="310896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0" name="Straight Arrow Connector 129">
              <a:extLst>
                <a:ext uri="{FF2B5EF4-FFF2-40B4-BE49-F238E27FC236}">
                  <a16:creationId xmlns:a16="http://schemas.microsoft.com/office/drawing/2014/main" id="{DFE1D8FF-5FA2-4123-9624-A592D83B0B9B}"/>
                </a:ext>
              </a:extLst>
            </p:cNvPr>
            <p:cNvCxnSpPr>
              <a:cxnSpLocks/>
            </p:cNvCxnSpPr>
            <p:nvPr/>
          </p:nvCxnSpPr>
          <p:spPr>
            <a:xfrm>
              <a:off x="8951873" y="5690638"/>
              <a:ext cx="219456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1" name="Straight Connector 130">
              <a:extLst>
                <a:ext uri="{FF2B5EF4-FFF2-40B4-BE49-F238E27FC236}">
                  <a16:creationId xmlns:a16="http://schemas.microsoft.com/office/drawing/2014/main" id="{060FBCE2-32CE-46EA-8F01-85C8662016B1}"/>
                </a:ext>
              </a:extLst>
            </p:cNvPr>
            <p:cNvCxnSpPr>
              <a:cxnSpLocks/>
            </p:cNvCxnSpPr>
            <p:nvPr/>
          </p:nvCxnSpPr>
          <p:spPr>
            <a:xfrm>
              <a:off x="11141741" y="1871934"/>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2" name="Straight Connector 131">
              <a:extLst>
                <a:ext uri="{FF2B5EF4-FFF2-40B4-BE49-F238E27FC236}">
                  <a16:creationId xmlns:a16="http://schemas.microsoft.com/office/drawing/2014/main" id="{366E7491-DC48-47E9-AEA6-A7A1A4F52D32}"/>
                </a:ext>
              </a:extLst>
            </p:cNvPr>
            <p:cNvCxnSpPr>
              <a:cxnSpLocks/>
            </p:cNvCxnSpPr>
            <p:nvPr/>
          </p:nvCxnSpPr>
          <p:spPr>
            <a:xfrm>
              <a:off x="11152372" y="5055002"/>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3" name="Straight Connector 132">
              <a:extLst>
                <a:ext uri="{FF2B5EF4-FFF2-40B4-BE49-F238E27FC236}">
                  <a16:creationId xmlns:a16="http://schemas.microsoft.com/office/drawing/2014/main" id="{CC82C513-4750-4891-91CC-FC4C18D0E315}"/>
                </a:ext>
              </a:extLst>
            </p:cNvPr>
            <p:cNvCxnSpPr>
              <a:cxnSpLocks/>
            </p:cNvCxnSpPr>
            <p:nvPr/>
          </p:nvCxnSpPr>
          <p:spPr>
            <a:xfrm>
              <a:off x="8954886" y="503214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4" name="Straight Connector 133">
              <a:extLst>
                <a:ext uri="{FF2B5EF4-FFF2-40B4-BE49-F238E27FC236}">
                  <a16:creationId xmlns:a16="http://schemas.microsoft.com/office/drawing/2014/main" id="{4A46A363-70D4-4F35-86FE-DC26CE25A9DF}"/>
                </a:ext>
              </a:extLst>
            </p:cNvPr>
            <p:cNvCxnSpPr>
              <a:cxnSpLocks/>
            </p:cNvCxnSpPr>
            <p:nvPr/>
          </p:nvCxnSpPr>
          <p:spPr>
            <a:xfrm>
              <a:off x="11143986" y="5016902"/>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5" name="Straight Connector 134">
              <a:extLst>
                <a:ext uri="{FF2B5EF4-FFF2-40B4-BE49-F238E27FC236}">
                  <a16:creationId xmlns:a16="http://schemas.microsoft.com/office/drawing/2014/main" id="{D99646E8-0E6C-4A4F-86D6-59A3E46AF86C}"/>
                </a:ext>
              </a:extLst>
            </p:cNvPr>
            <p:cNvCxnSpPr>
              <a:cxnSpLocks/>
            </p:cNvCxnSpPr>
            <p:nvPr/>
          </p:nvCxnSpPr>
          <p:spPr>
            <a:xfrm>
              <a:off x="11511931" y="1398917"/>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6" name="Straight Connector 135">
              <a:extLst>
                <a:ext uri="{FF2B5EF4-FFF2-40B4-BE49-F238E27FC236}">
                  <a16:creationId xmlns:a16="http://schemas.microsoft.com/office/drawing/2014/main" id="{682FA873-3A3B-4F1C-A82A-1120D68355A5}"/>
                </a:ext>
              </a:extLst>
            </p:cNvPr>
            <p:cNvCxnSpPr>
              <a:cxnSpLocks/>
            </p:cNvCxnSpPr>
            <p:nvPr/>
          </p:nvCxnSpPr>
          <p:spPr>
            <a:xfrm>
              <a:off x="11533190" y="5533565"/>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7" name="Straight Arrow Connector 136">
              <a:extLst>
                <a:ext uri="{FF2B5EF4-FFF2-40B4-BE49-F238E27FC236}">
                  <a16:creationId xmlns:a16="http://schemas.microsoft.com/office/drawing/2014/main" id="{EDE16E73-667C-485F-9960-5BB7A944D075}"/>
                </a:ext>
              </a:extLst>
            </p:cNvPr>
            <p:cNvCxnSpPr/>
            <p:nvPr/>
          </p:nvCxnSpPr>
          <p:spPr>
            <a:xfrm>
              <a:off x="11943083" y="1405267"/>
              <a:ext cx="0" cy="411480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138" name="Straight Connector 137">
              <a:extLst>
                <a:ext uri="{FF2B5EF4-FFF2-40B4-BE49-F238E27FC236}">
                  <a16:creationId xmlns:a16="http://schemas.microsoft.com/office/drawing/2014/main" id="{2A9A844E-E94E-49B8-8BAC-E192E0AA1F32}"/>
                </a:ext>
              </a:extLst>
            </p:cNvPr>
            <p:cNvCxnSpPr>
              <a:cxnSpLocks/>
            </p:cNvCxnSpPr>
            <p:nvPr/>
          </p:nvCxnSpPr>
          <p:spPr>
            <a:xfrm>
              <a:off x="8565821" y="5514274"/>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39" name="Straight Connector 138">
              <a:extLst>
                <a:ext uri="{FF2B5EF4-FFF2-40B4-BE49-F238E27FC236}">
                  <a16:creationId xmlns:a16="http://schemas.microsoft.com/office/drawing/2014/main" id="{286B1AF3-A4C3-421E-99D6-84D328D26F6F}"/>
                </a:ext>
              </a:extLst>
            </p:cNvPr>
            <p:cNvCxnSpPr>
              <a:cxnSpLocks/>
            </p:cNvCxnSpPr>
            <p:nvPr/>
          </p:nvCxnSpPr>
          <p:spPr>
            <a:xfrm>
              <a:off x="11530179" y="549966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140" name="Straight Arrow Connector 139">
              <a:extLst>
                <a:ext uri="{FF2B5EF4-FFF2-40B4-BE49-F238E27FC236}">
                  <a16:creationId xmlns:a16="http://schemas.microsoft.com/office/drawing/2014/main" id="{1A6EA218-CE04-4A3B-89A6-78BE515D60A6}"/>
                </a:ext>
              </a:extLst>
            </p:cNvPr>
            <p:cNvCxnSpPr>
              <a:cxnSpLocks/>
            </p:cNvCxnSpPr>
            <p:nvPr/>
          </p:nvCxnSpPr>
          <p:spPr>
            <a:xfrm>
              <a:off x="8590901" y="5949870"/>
              <a:ext cx="292608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141" name="Rectangle 140">
              <a:extLst>
                <a:ext uri="{FF2B5EF4-FFF2-40B4-BE49-F238E27FC236}">
                  <a16:creationId xmlns:a16="http://schemas.microsoft.com/office/drawing/2014/main" id="{856EAFDB-40CA-430C-B466-C6A1D3E26838}"/>
                </a:ext>
              </a:extLst>
            </p:cNvPr>
            <p:cNvSpPr/>
            <p:nvPr/>
          </p:nvSpPr>
          <p:spPr>
            <a:xfrm>
              <a:off x="9777630" y="5616904"/>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75 mm</a:t>
              </a:r>
              <a:endParaRPr lang="en-US" sz="1000" b="1" dirty="0">
                <a:solidFill>
                  <a:schemeClr val="accent6">
                    <a:lumMod val="60000"/>
                    <a:lumOff val="40000"/>
                  </a:schemeClr>
                </a:solidFill>
              </a:endParaRPr>
            </a:p>
          </p:txBody>
        </p:sp>
        <p:sp>
          <p:nvSpPr>
            <p:cNvPr id="142" name="Rectangle 141">
              <a:extLst>
                <a:ext uri="{FF2B5EF4-FFF2-40B4-BE49-F238E27FC236}">
                  <a16:creationId xmlns:a16="http://schemas.microsoft.com/office/drawing/2014/main" id="{00542824-FA5A-4938-9EC0-14AB75075331}"/>
                </a:ext>
              </a:extLst>
            </p:cNvPr>
            <p:cNvSpPr/>
            <p:nvPr/>
          </p:nvSpPr>
          <p:spPr>
            <a:xfrm>
              <a:off x="9606279" y="5879641"/>
              <a:ext cx="921698" cy="187669"/>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102 mm</a:t>
              </a:r>
              <a:endParaRPr lang="en-US" sz="1000" b="1" dirty="0">
                <a:solidFill>
                  <a:schemeClr val="accent6">
                    <a:lumMod val="60000"/>
                    <a:lumOff val="40000"/>
                  </a:schemeClr>
                </a:solidFill>
              </a:endParaRPr>
            </a:p>
          </p:txBody>
        </p:sp>
        <p:sp>
          <p:nvSpPr>
            <p:cNvPr id="143" name="Rectangle 142">
              <a:extLst>
                <a:ext uri="{FF2B5EF4-FFF2-40B4-BE49-F238E27FC236}">
                  <a16:creationId xmlns:a16="http://schemas.microsoft.com/office/drawing/2014/main" id="{A10D4BC9-76DF-4593-AC16-0288BBA53495}"/>
                </a:ext>
              </a:extLst>
            </p:cNvPr>
            <p:cNvSpPr/>
            <p:nvPr/>
          </p:nvSpPr>
          <p:spPr>
            <a:xfrm rot="16200000">
              <a:off x="11123638" y="3393407"/>
              <a:ext cx="1037461" cy="15145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112 mm</a:t>
              </a:r>
              <a:endParaRPr lang="en-US" sz="1000" b="1" dirty="0">
                <a:solidFill>
                  <a:schemeClr val="accent6">
                    <a:lumMod val="60000"/>
                    <a:lumOff val="40000"/>
                  </a:schemeClr>
                </a:solidFill>
              </a:endParaRPr>
            </a:p>
          </p:txBody>
        </p:sp>
        <p:sp>
          <p:nvSpPr>
            <p:cNvPr id="144" name="Rectangle 143">
              <a:extLst>
                <a:ext uri="{FF2B5EF4-FFF2-40B4-BE49-F238E27FC236}">
                  <a16:creationId xmlns:a16="http://schemas.microsoft.com/office/drawing/2014/main" id="{8479DD8F-B083-47EF-B50F-5CFEA766C982}"/>
                </a:ext>
              </a:extLst>
            </p:cNvPr>
            <p:cNvSpPr/>
            <p:nvPr/>
          </p:nvSpPr>
          <p:spPr>
            <a:xfrm rot="16200000">
              <a:off x="11430127" y="3466152"/>
              <a:ext cx="1037466" cy="24659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142 mm</a:t>
              </a:r>
              <a:endParaRPr lang="en-US" sz="1000" b="1" dirty="0">
                <a:solidFill>
                  <a:schemeClr val="accent6">
                    <a:lumMod val="60000"/>
                    <a:lumOff val="40000"/>
                  </a:schemeClr>
                </a:solidFill>
              </a:endParaRPr>
            </a:p>
          </p:txBody>
        </p:sp>
      </p:grpSp>
      <p:sp>
        <p:nvSpPr>
          <p:cNvPr id="146" name="TextBox 145">
            <a:extLst>
              <a:ext uri="{FF2B5EF4-FFF2-40B4-BE49-F238E27FC236}">
                <a16:creationId xmlns:a16="http://schemas.microsoft.com/office/drawing/2014/main" id="{57E56DAC-49D9-47DF-AB5F-16C9F1454E91}"/>
              </a:ext>
            </a:extLst>
          </p:cNvPr>
          <p:cNvSpPr txBox="1"/>
          <p:nvPr/>
        </p:nvSpPr>
        <p:spPr>
          <a:xfrm>
            <a:off x="322700" y="5113594"/>
            <a:ext cx="5191123"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marL="0" marR="0" indent="0" algn="l" defTabSz="2438338" rtl="0" fontAlgn="auto" latinLnBrk="0" hangingPunct="0">
              <a:lnSpc>
                <a:spcPct val="100000"/>
              </a:lnSpc>
              <a:spcBef>
                <a:spcPts val="0"/>
              </a:spcBef>
              <a:spcAft>
                <a:spcPts val="0"/>
              </a:spcAft>
              <a:buClrTx/>
              <a:buSzTx/>
              <a:buFontTx/>
              <a:buNone/>
              <a:tabLst/>
            </a:pPr>
            <a:r>
              <a:rPr kumimoji="0" lang="en-US" b="0" i="0" u="none" strike="noStrike" cap="none" spc="0" normalizeH="0" baseline="0" dirty="0">
                <a:ln>
                  <a:noFill/>
                </a:ln>
                <a:solidFill>
                  <a:schemeClr val="tx2"/>
                </a:solidFill>
                <a:effectLst/>
                <a:uFillTx/>
                <a:latin typeface="+mn-lt"/>
                <a:ea typeface="+mn-ea"/>
                <a:cs typeface="+mn-cs"/>
                <a:sym typeface="Helvetica Neue"/>
              </a:rPr>
              <a:t>Top-Down view with socket X,Y dimensions and Iso View of Socket E</a:t>
            </a:r>
          </a:p>
        </p:txBody>
      </p:sp>
      <p:sp>
        <p:nvSpPr>
          <p:cNvPr id="147" name="TextBox 146">
            <a:extLst>
              <a:ext uri="{FF2B5EF4-FFF2-40B4-BE49-F238E27FC236}">
                <a16:creationId xmlns:a16="http://schemas.microsoft.com/office/drawing/2014/main" id="{1D5CEA98-D395-4B93-9A16-151DFF907E01}"/>
              </a:ext>
            </a:extLst>
          </p:cNvPr>
          <p:cNvSpPr txBox="1"/>
          <p:nvPr/>
        </p:nvSpPr>
        <p:spPr>
          <a:xfrm>
            <a:off x="6077770" y="5067815"/>
            <a:ext cx="5400688" cy="738664"/>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0" tIns="0" rIns="0" bIns="0" numCol="1" spcCol="38100" rtlCol="0" anchor="t" anchorCtr="0">
            <a:spAutoFit/>
          </a:bodyPr>
          <a:lstStyle/>
          <a:p>
            <a:pPr defTabSz="2438338">
              <a:lnSpc>
                <a:spcPct val="100000"/>
              </a:lnSpc>
              <a:spcBef>
                <a:spcPts val="0"/>
              </a:spcBef>
            </a:pPr>
            <a:r>
              <a:rPr lang="en-US" dirty="0">
                <a:solidFill>
                  <a:schemeClr val="tx2"/>
                </a:solidFill>
              </a:rPr>
              <a:t>Top-Down view with socket X,Y dimensions and Iso View of Socket BR</a:t>
            </a:r>
          </a:p>
        </p:txBody>
      </p:sp>
    </p:spTree>
    <p:extLst>
      <p:ext uri="{BB962C8B-B14F-4D97-AF65-F5344CB8AC3E}">
        <p14:creationId xmlns:p14="http://schemas.microsoft.com/office/powerpoint/2010/main" val="1146697734"/>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01C66F3-FBD8-4B0F-98D9-445FE3649D01}">
  <ds:schemaRefs>
    <ds:schemaRef ds:uri="http://schemas.microsoft.com/sharepoint/v3/contenttype/forms"/>
  </ds:schemaRefs>
</ds:datastoreItem>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A8C37368-B530-452F-87B9-90C929F5F327}"/>
</file>

<file path=docProps/app.xml><?xml version="1.0" encoding="utf-8"?>
<Properties xmlns="http://schemas.openxmlformats.org/officeDocument/2006/extended-properties" xmlns:vt="http://schemas.openxmlformats.org/officeDocument/2006/docPropsVTypes">
  <Template/>
  <TotalTime>36722</TotalTime>
  <Words>919</Words>
  <Application>Microsoft Office PowerPoint</Application>
  <PresentationFormat>Widescreen</PresentationFormat>
  <Paragraphs>126</Paragraphs>
  <Slides>9</Slides>
  <Notes>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Quanta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Socket-E v Socket-BR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243</cp:revision>
  <dcterms:modified xsi:type="dcterms:W3CDTF">2020-11-30T17:33:44Z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