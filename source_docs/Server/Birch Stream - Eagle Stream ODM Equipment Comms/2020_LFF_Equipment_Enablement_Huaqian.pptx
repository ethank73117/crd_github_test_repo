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8"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2460" autoAdjust="0"/>
  </p:normalViewPr>
  <p:slideViewPr>
    <p:cSldViewPr snapToGrid="0" snapToObjects="1">
      <p:cViewPr varScale="1">
        <p:scale>
          <a:sx n="66" d="100"/>
          <a:sy n="66" d="100"/>
        </p:scale>
        <p:origin x="1157" y="48"/>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11/30/2020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pPr marL="0" marR="0" lvl="0" indent="0" defTabSz="228600" eaLnBrk="1" fontAlgn="auto" latinLnBrk="0" hangingPunct="1">
              <a:lnSpc>
                <a:spcPct val="117999"/>
              </a:lnSpc>
              <a:spcBef>
                <a:spcPts val="0"/>
              </a:spcBef>
              <a:spcAft>
                <a:spcPts val="0"/>
              </a:spcAft>
              <a:buClrTx/>
              <a:buSzTx/>
              <a:buFontTx/>
              <a:buNone/>
              <a:tabLst/>
              <a:defRPr/>
            </a:pPr>
            <a:r>
              <a:rPr lang="en-US" i="1" dirty="0"/>
              <a:t>If ODM does not have the equipment currently for Socket E/BR</a:t>
            </a:r>
          </a:p>
          <a:p>
            <a:pPr marL="0" marR="0" lvl="0" indent="0" defTabSz="228600" eaLnBrk="1" fontAlgn="auto" latinLnBrk="0" hangingPunct="1">
              <a:lnSpc>
                <a:spcPct val="117999"/>
              </a:lnSpc>
              <a:spcBef>
                <a:spcPts val="0"/>
              </a:spcBef>
              <a:spcAft>
                <a:spcPts val="0"/>
              </a:spcAft>
              <a:buClrTx/>
              <a:buSzTx/>
              <a:buFontTx/>
              <a:buNone/>
              <a:tabLst/>
              <a:defRPr/>
            </a:pPr>
            <a:r>
              <a:rPr lang="en-US" sz="1100" dirty="0">
                <a:solidFill>
                  <a:schemeClr val="tx1"/>
                </a:solidFill>
              </a:rPr>
              <a:t>Any help needed with choosing the correct equipment/tools?</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33" b="0" i="0">
                <a:solidFill>
                  <a:srgbClr val="003B70"/>
                </a:solidFill>
                <a:latin typeface="Intel Clear"/>
                <a:cs typeface="Intel Clear"/>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403471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9.png"/><Relationship Id="rId1" Type="http://schemas.openxmlformats.org/officeDocument/2006/relationships/slideLayout" Target="../slideLayouts/slideLayout29.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a:t>
            </a:r>
            <a:r>
              <a:rPr lang="en-US" sz="3200" dirty="0" err="1"/>
              <a:t>Huaqian</a:t>
            </a:r>
            <a:r>
              <a:rPr lang="en-US" sz="3200" dirty="0"/>
              <a:t>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2989906</a:t>
            </a:r>
          </a:p>
          <a:p>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1873595736"/>
              </p:ext>
            </p:extLst>
          </p:nvPr>
        </p:nvGraphicFramePr>
        <p:xfrm>
          <a:off x="630724" y="884193"/>
          <a:ext cx="10719991" cy="3894097"/>
        </p:xfrm>
        <a:graphic>
          <a:graphicData uri="http://schemas.openxmlformats.org/drawingml/2006/table">
            <a:tbl>
              <a:tblPr firstRow="1" bandRow="1">
                <a:tableStyleId>{5C22544A-7EE6-4342-B048-85BDC9FD1C3A}</a:tableStyleId>
              </a:tblPr>
              <a:tblGrid>
                <a:gridCol w="3822205">
                  <a:extLst>
                    <a:ext uri="{9D8B030D-6E8A-4147-A177-3AD203B41FA5}">
                      <a16:colId xmlns:a16="http://schemas.microsoft.com/office/drawing/2014/main" val="3230779745"/>
                    </a:ext>
                  </a:extLst>
                </a:gridCol>
                <a:gridCol w="3542991">
                  <a:extLst>
                    <a:ext uri="{9D8B030D-6E8A-4147-A177-3AD203B41FA5}">
                      <a16:colId xmlns:a16="http://schemas.microsoft.com/office/drawing/2014/main" val="695314244"/>
                    </a:ext>
                  </a:extLst>
                </a:gridCol>
                <a:gridCol w="3354795">
                  <a:extLst>
                    <a:ext uri="{9D8B030D-6E8A-4147-A177-3AD203B41FA5}">
                      <a16:colId xmlns:a16="http://schemas.microsoft.com/office/drawing/2014/main" val="3001795913"/>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a:txBody>
                    <a:bodyPr/>
                    <a:lstStyle/>
                    <a:p>
                      <a:pPr algn="ctr"/>
                      <a:r>
                        <a:rPr lang="en-US" sz="2000" dirty="0"/>
                        <a:t>Upcoming Server Socket</a:t>
                      </a:r>
                      <a:endParaRPr lang="en-US" sz="2000" dirty="0">
                        <a:solidFill>
                          <a:srgbClr val="FF0000"/>
                        </a:solidFill>
                      </a:endParaRPr>
                    </a:p>
                  </a:txBody>
                  <a:tcPr>
                    <a:solidFill>
                      <a:schemeClr val="tx2"/>
                    </a:solidFill>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3029554843"/>
              </p:ext>
            </p:extLst>
          </p:nvPr>
        </p:nvGraphicFramePr>
        <p:xfrm>
          <a:off x="208475" y="852586"/>
          <a:ext cx="11575023" cy="1728558"/>
        </p:xfrm>
        <a:graphic>
          <a:graphicData uri="http://schemas.openxmlformats.org/drawingml/2006/table">
            <a:tbl>
              <a:tblPr firstRow="1" firstCol="1" bandRow="1">
                <a:tableStyleId>{5C22544A-7EE6-4342-B048-85BDC9FD1C3A}</a:tableStyleId>
              </a:tblPr>
              <a:tblGrid>
                <a:gridCol w="1163616">
                  <a:extLst>
                    <a:ext uri="{9D8B030D-6E8A-4147-A177-3AD203B41FA5}">
                      <a16:colId xmlns:a16="http://schemas.microsoft.com/office/drawing/2014/main" val="20000"/>
                    </a:ext>
                  </a:extLst>
                </a:gridCol>
                <a:gridCol w="872029">
                  <a:extLst>
                    <a:ext uri="{9D8B030D-6E8A-4147-A177-3AD203B41FA5}">
                      <a16:colId xmlns:a16="http://schemas.microsoft.com/office/drawing/2014/main" val="20001"/>
                    </a:ext>
                  </a:extLst>
                </a:gridCol>
                <a:gridCol w="1045083">
                  <a:extLst>
                    <a:ext uri="{9D8B030D-6E8A-4147-A177-3AD203B41FA5}">
                      <a16:colId xmlns:a16="http://schemas.microsoft.com/office/drawing/2014/main" val="20002"/>
                    </a:ext>
                  </a:extLst>
                </a:gridCol>
                <a:gridCol w="1347537">
                  <a:extLst>
                    <a:ext uri="{9D8B030D-6E8A-4147-A177-3AD203B41FA5}">
                      <a16:colId xmlns:a16="http://schemas.microsoft.com/office/drawing/2014/main" val="20003"/>
                    </a:ext>
                  </a:extLst>
                </a:gridCol>
                <a:gridCol w="1275347">
                  <a:extLst>
                    <a:ext uri="{9D8B030D-6E8A-4147-A177-3AD203B41FA5}">
                      <a16:colId xmlns:a16="http://schemas.microsoft.com/office/drawing/2014/main" val="20007"/>
                    </a:ext>
                  </a:extLst>
                </a:gridCol>
                <a:gridCol w="1106906">
                  <a:extLst>
                    <a:ext uri="{9D8B030D-6E8A-4147-A177-3AD203B41FA5}">
                      <a16:colId xmlns:a16="http://schemas.microsoft.com/office/drawing/2014/main" val="20008"/>
                    </a:ext>
                  </a:extLst>
                </a:gridCol>
                <a:gridCol w="1469311">
                  <a:extLst>
                    <a:ext uri="{9D8B030D-6E8A-4147-A177-3AD203B41FA5}">
                      <a16:colId xmlns:a16="http://schemas.microsoft.com/office/drawing/2014/main" val="210591066"/>
                    </a:ext>
                  </a:extLst>
                </a:gridCol>
                <a:gridCol w="1490457">
                  <a:extLst>
                    <a:ext uri="{9D8B030D-6E8A-4147-A177-3AD203B41FA5}">
                      <a16:colId xmlns:a16="http://schemas.microsoft.com/office/drawing/2014/main" val="732629900"/>
                    </a:ext>
                  </a:extLst>
                </a:gridCol>
                <a:gridCol w="1804737">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a:txBody>
                    <a:bodyPr/>
                    <a:lstStyle/>
                    <a:p>
                      <a:pPr marL="0" marR="0" algn="ctr">
                        <a:spcBef>
                          <a:spcPts val="0"/>
                        </a:spcBef>
                        <a:spcAft>
                          <a:spcPts val="0"/>
                        </a:spcAft>
                      </a:pPr>
                      <a:r>
                        <a:rPr lang="en-US" sz="1400" dirty="0" err="1">
                          <a:effectLst/>
                          <a:latin typeface="Intel Clear" panose="020B0604020203020204" pitchFamily="34" charset="0"/>
                          <a:ea typeface="Intel Clear" panose="020B0604020203020204" pitchFamily="34" charset="0"/>
                          <a:cs typeface="Intel Clear" panose="020B0604020203020204" pitchFamily="34" charset="0"/>
                        </a:rPr>
                        <a:t>Huaqian</a:t>
                      </a: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2888474599"/>
              </p:ext>
            </p:extLst>
          </p:nvPr>
        </p:nvGraphicFramePr>
        <p:xfrm>
          <a:off x="143735" y="3037855"/>
          <a:ext cx="11225144" cy="2002874"/>
        </p:xfrm>
        <a:graphic>
          <a:graphicData uri="http://schemas.openxmlformats.org/drawingml/2006/table">
            <a:tbl>
              <a:tblPr firstRow="1" firstCol="1" bandRow="1">
                <a:tableStyleId>{5C22544A-7EE6-4342-B048-85BDC9FD1C3A}</a:tableStyleId>
              </a:tblPr>
              <a:tblGrid>
                <a:gridCol w="1117715">
                  <a:extLst>
                    <a:ext uri="{9D8B030D-6E8A-4147-A177-3AD203B41FA5}">
                      <a16:colId xmlns:a16="http://schemas.microsoft.com/office/drawing/2014/main" val="20000"/>
                    </a:ext>
                  </a:extLst>
                </a:gridCol>
                <a:gridCol w="1352652">
                  <a:extLst>
                    <a:ext uri="{9D8B030D-6E8A-4147-A177-3AD203B41FA5}">
                      <a16:colId xmlns:a16="http://schemas.microsoft.com/office/drawing/2014/main" val="20001"/>
                    </a:ext>
                  </a:extLst>
                </a:gridCol>
                <a:gridCol w="1024454">
                  <a:extLst>
                    <a:ext uri="{9D8B030D-6E8A-4147-A177-3AD203B41FA5}">
                      <a16:colId xmlns:a16="http://schemas.microsoft.com/office/drawing/2014/main" val="20002"/>
                    </a:ext>
                  </a:extLst>
                </a:gridCol>
                <a:gridCol w="1726801">
                  <a:extLst>
                    <a:ext uri="{9D8B030D-6E8A-4147-A177-3AD203B41FA5}">
                      <a16:colId xmlns:a16="http://schemas.microsoft.com/office/drawing/2014/main" val="20003"/>
                    </a:ext>
                  </a:extLst>
                </a:gridCol>
                <a:gridCol w="1203886">
                  <a:extLst>
                    <a:ext uri="{9D8B030D-6E8A-4147-A177-3AD203B41FA5}">
                      <a16:colId xmlns:a16="http://schemas.microsoft.com/office/drawing/2014/main" val="20007"/>
                    </a:ext>
                  </a:extLst>
                </a:gridCol>
                <a:gridCol w="1275347">
                  <a:extLst>
                    <a:ext uri="{9D8B030D-6E8A-4147-A177-3AD203B41FA5}">
                      <a16:colId xmlns:a16="http://schemas.microsoft.com/office/drawing/2014/main" val="20008"/>
                    </a:ext>
                  </a:extLst>
                </a:gridCol>
                <a:gridCol w="1588169">
                  <a:extLst>
                    <a:ext uri="{9D8B030D-6E8A-4147-A177-3AD203B41FA5}">
                      <a16:colId xmlns:a16="http://schemas.microsoft.com/office/drawing/2014/main" val="2338990182"/>
                    </a:ext>
                  </a:extLst>
                </a:gridCol>
                <a:gridCol w="1936120">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err="1">
                          <a:effectLst/>
                          <a:latin typeface="Intel Clear" panose="020B0604020203020204" pitchFamily="34" charset="0"/>
                          <a:ea typeface="Intel Clear" panose="020B0604020203020204" pitchFamily="34" charset="0"/>
                          <a:cs typeface="Intel Clear" panose="020B0604020203020204" pitchFamily="34" charset="0"/>
                        </a:rPr>
                        <a:t>Huaqian</a:t>
                      </a: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3" name="TextBox 2">
            <a:extLst>
              <a:ext uri="{FF2B5EF4-FFF2-40B4-BE49-F238E27FC236}">
                <a16:creationId xmlns:a16="http://schemas.microsoft.com/office/drawing/2014/main" id="{98C402DD-7EFB-47D2-ADFF-392D88B199FD}"/>
              </a:ext>
            </a:extLst>
          </p:cNvPr>
          <p:cNvSpPr txBox="1"/>
          <p:nvPr/>
        </p:nvSpPr>
        <p:spPr>
          <a:xfrm>
            <a:off x="722376" y="5059011"/>
            <a:ext cx="712317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*SRT-1800 may have some technical challenges</a:t>
            </a:r>
          </a:p>
        </p:txBody>
      </p:sp>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a:t>
            </a:r>
            <a:r>
              <a:rPr lang="en-US" sz="1200" dirty="0" err="1">
                <a:solidFill>
                  <a:srgbClr val="FFFFFF"/>
                </a:solidFill>
                <a:latin typeface="Helvetica Neue Medium"/>
                <a:ea typeface="Helvetica Neue Medium"/>
                <a:cs typeface="Helvetica Neue Medium"/>
                <a:sym typeface="Helvetica Neue Medium"/>
              </a:rPr>
              <a:t>Huaqian</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81643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a:t>
            </a:r>
            <a:r>
              <a:rPr lang="en-US" sz="1200" dirty="0" err="1">
                <a:solidFill>
                  <a:srgbClr val="FFFFFF"/>
                </a:solidFill>
                <a:latin typeface="Helvetica Neue Medium"/>
                <a:ea typeface="Helvetica Neue Medium"/>
                <a:cs typeface="Helvetica Neue Medium"/>
                <a:sym typeface="Helvetica Neue Medium"/>
              </a:rPr>
              <a:t>Huaqian</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8022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and Socket BR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a:t>
            </a:r>
            <a:r>
              <a:rPr lang="en-US" sz="3200">
                <a:solidFill>
                  <a:schemeClr val="tx1"/>
                </a:solidFill>
              </a:rPr>
              <a:t>Socket E</a:t>
            </a:r>
            <a:endParaRPr lang="en-US" sz="3200" dirty="0">
              <a:solidFill>
                <a:srgbClr val="FF0000"/>
              </a:solidFill>
            </a:endParaRP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B6D5916E-7967-4050-B461-95A7F9E7580B}"/>
              </a:ext>
            </a:extLst>
          </p:cNvPr>
          <p:cNvPicPr>
            <a:picLocks noChangeAspect="1"/>
          </p:cNvPicPr>
          <p:nvPr/>
        </p:nvPicPr>
        <p:blipFill>
          <a:blip r:embed="rId2"/>
          <a:stretch>
            <a:fillRect/>
          </a:stretch>
        </p:blipFill>
        <p:spPr>
          <a:xfrm>
            <a:off x="1176153" y="604990"/>
            <a:ext cx="5245145" cy="5805585"/>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240139"/>
            <a:ext cx="10972800" cy="574663"/>
          </a:xfrm>
        </p:spPr>
        <p:txBody>
          <a:bodyPr wrap="square" anchor="ctr">
            <a:normAutofit/>
          </a:bodyPr>
          <a:lstStyle/>
          <a:p>
            <a:r>
              <a:rPr lang="en-US" sz="2800" b="0" dirty="0"/>
              <a:t>Socket E Top-Down and Iso View</a:t>
            </a:r>
          </a:p>
        </p:txBody>
      </p:sp>
      <p:pic>
        <p:nvPicPr>
          <p:cNvPr id="12" name="Picture 11" descr="A close up of a sign&#10;&#10;Description automatically generated">
            <a:hlinkClick r:id="rId3" action="ppaction://hlinksldjump"/>
            <a:extLst>
              <a:ext uri="{FF2B5EF4-FFF2-40B4-BE49-F238E27FC236}">
                <a16:creationId xmlns:a16="http://schemas.microsoft.com/office/drawing/2014/main" id="{8669E1C4-1582-4249-9F52-EF4E21D3E366}"/>
              </a:ext>
            </a:extLst>
          </p:cNvPr>
          <p:cNvPicPr>
            <a:picLocks noChangeAspect="1"/>
          </p:cNvPicPr>
          <p:nvPr/>
        </p:nvPicPr>
        <p:blipFill>
          <a:blip r:embed="rId4"/>
          <a:stretch>
            <a:fillRect/>
          </a:stretch>
        </p:blipFill>
        <p:spPr>
          <a:xfrm>
            <a:off x="11505385" y="5593421"/>
            <a:ext cx="641065" cy="641065"/>
          </a:xfrm>
          <a:prstGeom prst="rect">
            <a:avLst/>
          </a:prstGeom>
        </p:spPr>
      </p:pic>
      <p:grpSp>
        <p:nvGrpSpPr>
          <p:cNvPr id="19" name="Group 18">
            <a:extLst>
              <a:ext uri="{FF2B5EF4-FFF2-40B4-BE49-F238E27FC236}">
                <a16:creationId xmlns:a16="http://schemas.microsoft.com/office/drawing/2014/main" id="{4D617472-316E-465B-9270-F880524F45A7}"/>
              </a:ext>
            </a:extLst>
          </p:cNvPr>
          <p:cNvGrpSpPr/>
          <p:nvPr/>
        </p:nvGrpSpPr>
        <p:grpSpPr>
          <a:xfrm>
            <a:off x="6837407" y="318003"/>
            <a:ext cx="4016370" cy="5710136"/>
            <a:chOff x="4633242" y="1262844"/>
            <a:chExt cx="3126573" cy="4454174"/>
          </a:xfrm>
        </p:grpSpPr>
        <p:sp>
          <p:nvSpPr>
            <p:cNvPr id="20" name="Rectangle 19">
              <a:extLst>
                <a:ext uri="{FF2B5EF4-FFF2-40B4-BE49-F238E27FC236}">
                  <a16:creationId xmlns:a16="http://schemas.microsoft.com/office/drawing/2014/main" id="{316C70C1-324D-4F6A-9139-8C0F885027D4}"/>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0DD762D-7A82-4D51-B9CA-18D210279606}"/>
                </a:ext>
              </a:extLst>
            </p:cNvPr>
            <p:cNvPicPr>
              <a:picLocks noChangeAspect="1"/>
            </p:cNvPicPr>
            <p:nvPr/>
          </p:nvPicPr>
          <p:blipFill>
            <a:blip r:embed="rId5">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22" name="Straight Arrow Connector 21">
              <a:extLst>
                <a:ext uri="{FF2B5EF4-FFF2-40B4-BE49-F238E27FC236}">
                  <a16:creationId xmlns:a16="http://schemas.microsoft.com/office/drawing/2014/main" id="{E99605EE-423A-4684-A9BD-F4D5601BA415}"/>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83F624-6842-4E54-9971-EA535F34DA8C}"/>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18A15A-42F4-4563-89AE-A122B2297AD7}"/>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6E88AF4-AFCD-4EE5-A00B-313BA1A472D7}"/>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FCBC47-9C2A-4CE8-9B3C-AE11E0C1879A}"/>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15E0F3-8287-446F-87C5-2EF08B342E3C}"/>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ACB0DF-8296-4851-93E2-872FFFF263A6}"/>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7FEE55-CD81-4085-9D4E-8EDF376944C2}"/>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9BDC8D-5D30-4B0F-B02B-48C2EDFF829C}"/>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2873AB3-837D-4E17-A1CC-1634B918EEEE}"/>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9A7669C-EE95-4E10-9188-F2787AF960C8}"/>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F7A1D5C-7AE0-4914-B371-C47253A6FC01}"/>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7D61B0B-5CCE-4204-9ABE-6BB71997612C}"/>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35" name="Rectangle 34">
              <a:extLst>
                <a:ext uri="{FF2B5EF4-FFF2-40B4-BE49-F238E27FC236}">
                  <a16:creationId xmlns:a16="http://schemas.microsoft.com/office/drawing/2014/main" id="{7597EA8F-3A36-4E36-B505-333137410D6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36" name="Rectangle 35">
              <a:extLst>
                <a:ext uri="{FF2B5EF4-FFF2-40B4-BE49-F238E27FC236}">
                  <a16:creationId xmlns:a16="http://schemas.microsoft.com/office/drawing/2014/main" id="{B0A3AC55-2DB3-4168-9D6F-A45811B91628}"/>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37" name="Rectangle 36">
              <a:extLst>
                <a:ext uri="{FF2B5EF4-FFF2-40B4-BE49-F238E27FC236}">
                  <a16:creationId xmlns:a16="http://schemas.microsoft.com/office/drawing/2014/main" id="{3483AD66-A3EE-4332-8716-6451C5125796}"/>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spTree>
    <p:extLst>
      <p:ext uri="{BB962C8B-B14F-4D97-AF65-F5344CB8AC3E}">
        <p14:creationId xmlns:p14="http://schemas.microsoft.com/office/powerpoint/2010/main" val="3318785622"/>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AEB626C7-9FC7-4D5F-99F6-440FD6123263}"/>
</file>

<file path=customXml/itemProps3.xml><?xml version="1.0" encoding="utf-8"?>
<ds:datastoreItem xmlns:ds="http://schemas.openxmlformats.org/officeDocument/2006/customXml" ds:itemID="{201C66F3-FBD8-4B0F-98D9-445FE3649D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36714</TotalTime>
  <Words>805</Words>
  <Application>Microsoft Office PowerPoint</Application>
  <PresentationFormat>Widescreen</PresentationFormat>
  <Paragraphs>102</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Huaqian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 E Top-Down and Iso 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243</cp:revision>
  <dcterms:modified xsi:type="dcterms:W3CDTF">2020-11-30T17:41:24Z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