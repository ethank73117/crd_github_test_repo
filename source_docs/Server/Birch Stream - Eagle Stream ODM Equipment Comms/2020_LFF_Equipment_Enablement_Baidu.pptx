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344"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2275" autoAdjust="0"/>
  </p:normalViewPr>
  <p:slideViewPr>
    <p:cSldViewPr snapToGrid="0" snapToObjects="1">
      <p:cViewPr varScale="1">
        <p:scale>
          <a:sx n="104" d="100"/>
          <a:sy n="104" d="100"/>
        </p:scale>
        <p:origin x="1416" y="96"/>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r>
              <a:rPr lang="en-US" dirty="0"/>
              <a:t>Do you have plans for reaching out to ODMs to verify their equipment capabilities?</a:t>
            </a:r>
          </a:p>
          <a:p>
            <a:pPr lvl="1"/>
            <a:r>
              <a:rPr lang="en-US" sz="2200" b="1" dirty="0">
                <a:solidFill>
                  <a:schemeClr val="bg2"/>
                </a:solidFill>
              </a:rPr>
              <a:t>Who are the main ODMs you work with for SMT/PCBA and what is the percentage of your volume they support?</a:t>
            </a:r>
          </a:p>
          <a:p>
            <a:r>
              <a:rPr lang="en-US" dirty="0"/>
              <a:t>Intel is planning to reach out to ODMs to verify they are capable of handling socket E </a:t>
            </a:r>
          </a:p>
          <a:p>
            <a:r>
              <a:rPr lang="en-US" sz="2400" dirty="0">
                <a:solidFill>
                  <a:schemeClr val="bg2"/>
                </a:solidFill>
              </a:rPr>
              <a:t>	Are there any ODMs that you would like Intel to work with for equipment enabling?</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Baidu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1456472602"/>
              </p:ext>
            </p:extLst>
          </p:nvPr>
        </p:nvGraphicFramePr>
        <p:xfrm>
          <a:off x="353211" y="884193"/>
          <a:ext cx="11150600" cy="3894097"/>
        </p:xfrm>
        <a:graphic>
          <a:graphicData uri="http://schemas.openxmlformats.org/drawingml/2006/table">
            <a:tbl>
              <a:tblPr firstRow="1" bandRow="1">
                <a:tableStyleId>{5C22544A-7EE6-4342-B048-85BDC9FD1C3A}</a:tableStyleId>
              </a:tblPr>
              <a:tblGrid>
                <a:gridCol w="3975738">
                  <a:extLst>
                    <a:ext uri="{9D8B030D-6E8A-4147-A177-3AD203B41FA5}">
                      <a16:colId xmlns:a16="http://schemas.microsoft.com/office/drawing/2014/main" val="3230779745"/>
                    </a:ext>
                  </a:extLst>
                </a:gridCol>
                <a:gridCol w="3914468">
                  <a:extLst>
                    <a:ext uri="{9D8B030D-6E8A-4147-A177-3AD203B41FA5}">
                      <a16:colId xmlns:a16="http://schemas.microsoft.com/office/drawing/2014/main" val="695314244"/>
                    </a:ext>
                  </a:extLst>
                </a:gridCol>
                <a:gridCol w="3260394">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64754554"/>
              </p:ext>
            </p:extLst>
          </p:nvPr>
        </p:nvGraphicFramePr>
        <p:xfrm>
          <a:off x="208475" y="834173"/>
          <a:ext cx="11469174" cy="1728558"/>
        </p:xfrm>
        <a:graphic>
          <a:graphicData uri="http://schemas.openxmlformats.org/drawingml/2006/table">
            <a:tbl>
              <a:tblPr firstRow="1" firstCol="1" bandRow="1">
                <a:tableStyleId>{5C22544A-7EE6-4342-B048-85BDC9FD1C3A}</a:tableStyleId>
              </a:tblPr>
              <a:tblGrid>
                <a:gridCol w="1274892">
                  <a:extLst>
                    <a:ext uri="{9D8B030D-6E8A-4147-A177-3AD203B41FA5}">
                      <a16:colId xmlns:a16="http://schemas.microsoft.com/office/drawing/2014/main" val="20000"/>
                    </a:ext>
                  </a:extLst>
                </a:gridCol>
                <a:gridCol w="955420">
                  <a:extLst>
                    <a:ext uri="{9D8B030D-6E8A-4147-A177-3AD203B41FA5}">
                      <a16:colId xmlns:a16="http://schemas.microsoft.com/office/drawing/2014/main" val="20001"/>
                    </a:ext>
                  </a:extLst>
                </a:gridCol>
                <a:gridCol w="1145023">
                  <a:extLst>
                    <a:ext uri="{9D8B030D-6E8A-4147-A177-3AD203B41FA5}">
                      <a16:colId xmlns:a16="http://schemas.microsoft.com/office/drawing/2014/main" val="20002"/>
                    </a:ext>
                  </a:extLst>
                </a:gridCol>
                <a:gridCol w="1333630">
                  <a:extLst>
                    <a:ext uri="{9D8B030D-6E8A-4147-A177-3AD203B41FA5}">
                      <a16:colId xmlns:a16="http://schemas.microsoft.com/office/drawing/2014/main" val="20003"/>
                    </a:ext>
                  </a:extLst>
                </a:gridCol>
                <a:gridCol w="1540078">
                  <a:extLst>
                    <a:ext uri="{9D8B030D-6E8A-4147-A177-3AD203B41FA5}">
                      <a16:colId xmlns:a16="http://schemas.microsoft.com/office/drawing/2014/main" val="20007"/>
                    </a:ext>
                  </a:extLst>
                </a:gridCol>
                <a:gridCol w="1609820">
                  <a:extLst>
                    <a:ext uri="{9D8B030D-6E8A-4147-A177-3AD203B41FA5}">
                      <a16:colId xmlns:a16="http://schemas.microsoft.com/office/drawing/2014/main" val="210591066"/>
                    </a:ext>
                  </a:extLst>
                </a:gridCol>
                <a:gridCol w="1632988">
                  <a:extLst>
                    <a:ext uri="{9D8B030D-6E8A-4147-A177-3AD203B41FA5}">
                      <a16:colId xmlns:a16="http://schemas.microsoft.com/office/drawing/2014/main" val="732629900"/>
                    </a:ext>
                  </a:extLst>
                </a:gridCol>
                <a:gridCol w="1977323">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NXT II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415568332"/>
              </p:ext>
            </p:extLst>
          </p:nvPr>
        </p:nvGraphicFramePr>
        <p:xfrm>
          <a:off x="146875" y="2951335"/>
          <a:ext cx="11530775" cy="2002874"/>
        </p:xfrm>
        <a:graphic>
          <a:graphicData uri="http://schemas.openxmlformats.org/drawingml/2006/table">
            <a:tbl>
              <a:tblPr firstRow="1" firstCol="1" bandRow="1">
                <a:tableStyleId>{5C22544A-7EE6-4342-B048-85BDC9FD1C3A}</a:tableStyleId>
              </a:tblPr>
              <a:tblGrid>
                <a:gridCol w="1295315">
                  <a:extLst>
                    <a:ext uri="{9D8B030D-6E8A-4147-A177-3AD203B41FA5}">
                      <a16:colId xmlns:a16="http://schemas.microsoft.com/office/drawing/2014/main" val="20000"/>
                    </a:ext>
                  </a:extLst>
                </a:gridCol>
                <a:gridCol w="1567582">
                  <a:extLst>
                    <a:ext uri="{9D8B030D-6E8A-4147-A177-3AD203B41FA5}">
                      <a16:colId xmlns:a16="http://schemas.microsoft.com/office/drawing/2014/main" val="20001"/>
                    </a:ext>
                  </a:extLst>
                </a:gridCol>
                <a:gridCol w="1187235">
                  <a:extLst>
                    <a:ext uri="{9D8B030D-6E8A-4147-A177-3AD203B41FA5}">
                      <a16:colId xmlns:a16="http://schemas.microsoft.com/office/drawing/2014/main" val="20002"/>
                    </a:ext>
                  </a:extLst>
                </a:gridCol>
                <a:gridCol w="1543393">
                  <a:extLst>
                    <a:ext uri="{9D8B030D-6E8A-4147-A177-3AD203B41FA5}">
                      <a16:colId xmlns:a16="http://schemas.microsoft.com/office/drawing/2014/main" val="20003"/>
                    </a:ext>
                  </a:extLst>
                </a:gridCol>
                <a:gridCol w="1852967">
                  <a:extLst>
                    <a:ext uri="{9D8B030D-6E8A-4147-A177-3AD203B41FA5}">
                      <a16:colId xmlns:a16="http://schemas.microsoft.com/office/drawing/2014/main" val="20007"/>
                    </a:ext>
                  </a:extLst>
                </a:gridCol>
                <a:gridCol w="1840522">
                  <a:extLst>
                    <a:ext uri="{9D8B030D-6E8A-4147-A177-3AD203B41FA5}">
                      <a16:colId xmlns:a16="http://schemas.microsoft.com/office/drawing/2014/main" val="2338990182"/>
                    </a:ext>
                  </a:extLst>
                </a:gridCol>
                <a:gridCol w="2243761">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Baidu/ODM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a:t>
            </a:r>
            <a:r>
              <a:rPr lang="en-US" sz="1600">
                <a:solidFill>
                  <a:srgbClr val="FFFFFF"/>
                </a:solidFill>
                <a:latin typeface="Helvetica Neue Medium"/>
                <a:ea typeface="Helvetica Neue Medium"/>
                <a:cs typeface="Helvetica Neue Medium"/>
                <a:sym typeface="Helvetica Neue Medium"/>
              </a:rPr>
              <a:t>E for </a:t>
            </a:r>
            <a:r>
              <a:rPr lang="en-US" sz="1600" dirty="0">
                <a:solidFill>
                  <a:srgbClr val="FFFFFF"/>
                </a:solidFill>
                <a:latin typeface="Helvetica Neue Medium"/>
                <a:ea typeface="Helvetica Neue Medium"/>
                <a:cs typeface="Helvetica Neue Medium"/>
                <a:sym typeface="Helvetica Neue Medium"/>
              </a:rPr>
              <a:t>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
        <p:nvSpPr>
          <p:cNvPr id="10" name="Rectangle: Rounded Corners 9">
            <a:extLst>
              <a:ext uri="{FF2B5EF4-FFF2-40B4-BE49-F238E27FC236}">
                <a16:creationId xmlns:a16="http://schemas.microsoft.com/office/drawing/2014/main" id="{659EFB44-C77E-4FAC-A8C8-0226058A2C0C}"/>
              </a:ext>
            </a:extLst>
          </p:cNvPr>
          <p:cNvSpPr/>
          <p:nvPr/>
        </p:nvSpPr>
        <p:spPr>
          <a:xfrm>
            <a:off x="8406377" y="469927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Baidu/ODM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05589238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957F77E-5170-4964-A185-3FC8F0E9EFF6}"/>
</file>

<file path=docProps/app.xml><?xml version="1.0" encoding="utf-8"?>
<Properties xmlns="http://schemas.openxmlformats.org/officeDocument/2006/extended-properties" xmlns:vt="http://schemas.openxmlformats.org/officeDocument/2006/docPropsVTypes">
  <Template/>
  <TotalTime>37699</TotalTime>
  <Words>834</Words>
  <Application>Microsoft Office PowerPoint</Application>
  <PresentationFormat>Widescreen</PresentationFormat>
  <Paragraphs>96</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Baidu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248</cp:revision>
  <dcterms:modified xsi:type="dcterms:W3CDTF">2020-12-02T01:18:55Z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