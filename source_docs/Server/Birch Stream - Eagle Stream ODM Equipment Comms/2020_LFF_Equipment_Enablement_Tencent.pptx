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83730" autoAdjust="0"/>
  </p:normalViewPr>
  <p:slideViewPr>
    <p:cSldViewPr snapToGrid="0" snapToObjects="1">
      <p:cViewPr varScale="1">
        <p:scale>
          <a:sx n="59" d="100"/>
          <a:sy n="59" d="100"/>
        </p:scale>
        <p:origin x="1434" y="72"/>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12/1/2020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r>
              <a:rPr lang="en-US" dirty="0"/>
              <a:t>Do you have plans for reaching out to ODMs to verify their equipment capabilities?</a:t>
            </a:r>
          </a:p>
          <a:p>
            <a:pPr lvl="1"/>
            <a:r>
              <a:rPr lang="en-US" sz="2200" b="1" dirty="0">
                <a:solidFill>
                  <a:schemeClr val="bg2"/>
                </a:solidFill>
              </a:rPr>
              <a:t>Who are the main ODMs you work with for SMT/PCBA and what is the percentage of your volume they support?</a:t>
            </a:r>
          </a:p>
          <a:p>
            <a:r>
              <a:rPr lang="en-US" dirty="0"/>
              <a:t>Intel is planning to reach out to ODMs to verify they are capable of handling socket E and Socket BR</a:t>
            </a:r>
          </a:p>
          <a:p>
            <a:pPr lvl="1"/>
            <a:r>
              <a:rPr lang="en-US" sz="2400" dirty="0">
                <a:solidFill>
                  <a:schemeClr val="bg2"/>
                </a:solidFill>
              </a:rPr>
              <a:t>Are there any ODMs that you would like Intel to work with for equipment enabling?</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Tencent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NNNNNNNN</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2852786431"/>
              </p:ext>
            </p:extLst>
          </p:nvPr>
        </p:nvGraphicFramePr>
        <p:xfrm>
          <a:off x="630725" y="884193"/>
          <a:ext cx="10333012" cy="4153717"/>
        </p:xfrm>
        <a:graphic>
          <a:graphicData uri="http://schemas.openxmlformats.org/drawingml/2006/table">
            <a:tbl>
              <a:tblPr firstRow="1" bandRow="1">
                <a:tableStyleId>{5C22544A-7EE6-4342-B048-85BDC9FD1C3A}</a:tableStyleId>
              </a:tblPr>
              <a:tblGrid>
                <a:gridCol w="3684228">
                  <a:extLst>
                    <a:ext uri="{9D8B030D-6E8A-4147-A177-3AD203B41FA5}">
                      <a16:colId xmlns:a16="http://schemas.microsoft.com/office/drawing/2014/main" val="3230779745"/>
                    </a:ext>
                  </a:extLst>
                </a:gridCol>
                <a:gridCol w="3627450">
                  <a:extLst>
                    <a:ext uri="{9D8B030D-6E8A-4147-A177-3AD203B41FA5}">
                      <a16:colId xmlns:a16="http://schemas.microsoft.com/office/drawing/2014/main" val="695314244"/>
                    </a:ext>
                  </a:extLst>
                </a:gridCol>
                <a:gridCol w="3021334">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916739450"/>
              </p:ext>
            </p:extLst>
          </p:nvPr>
        </p:nvGraphicFramePr>
        <p:xfrm>
          <a:off x="174519" y="530337"/>
          <a:ext cx="11265641" cy="2381514"/>
        </p:xfrm>
        <a:graphic>
          <a:graphicData uri="http://schemas.openxmlformats.org/drawingml/2006/table">
            <a:tbl>
              <a:tblPr firstRow="1" firstCol="1" bandRow="1">
                <a:tableStyleId>{5C22544A-7EE6-4342-B048-85BDC9FD1C3A}</a:tableStyleId>
              </a:tblPr>
              <a:tblGrid>
                <a:gridCol w="1252267">
                  <a:extLst>
                    <a:ext uri="{9D8B030D-6E8A-4147-A177-3AD203B41FA5}">
                      <a16:colId xmlns:a16="http://schemas.microsoft.com/office/drawing/2014/main" val="20000"/>
                    </a:ext>
                  </a:extLst>
                </a:gridCol>
                <a:gridCol w="938465">
                  <a:extLst>
                    <a:ext uri="{9D8B030D-6E8A-4147-A177-3AD203B41FA5}">
                      <a16:colId xmlns:a16="http://schemas.microsoft.com/office/drawing/2014/main" val="20001"/>
                    </a:ext>
                  </a:extLst>
                </a:gridCol>
                <a:gridCol w="1124704">
                  <a:extLst>
                    <a:ext uri="{9D8B030D-6E8A-4147-A177-3AD203B41FA5}">
                      <a16:colId xmlns:a16="http://schemas.microsoft.com/office/drawing/2014/main" val="20002"/>
                    </a:ext>
                  </a:extLst>
                </a:gridCol>
                <a:gridCol w="1450200">
                  <a:extLst>
                    <a:ext uri="{9D8B030D-6E8A-4147-A177-3AD203B41FA5}">
                      <a16:colId xmlns:a16="http://schemas.microsoft.com/office/drawing/2014/main" val="20003"/>
                    </a:ext>
                  </a:extLst>
                </a:gridCol>
                <a:gridCol w="1623205">
                  <a:extLst>
                    <a:ext uri="{9D8B030D-6E8A-4147-A177-3AD203B41FA5}">
                      <a16:colId xmlns:a16="http://schemas.microsoft.com/office/drawing/2014/main" val="20007"/>
                    </a:ext>
                  </a:extLst>
                </a:gridCol>
                <a:gridCol w="1330558">
                  <a:extLst>
                    <a:ext uri="{9D8B030D-6E8A-4147-A177-3AD203B41FA5}">
                      <a16:colId xmlns:a16="http://schemas.microsoft.com/office/drawing/2014/main" val="210591066"/>
                    </a:ext>
                  </a:extLst>
                </a:gridCol>
                <a:gridCol w="1604009">
                  <a:extLst>
                    <a:ext uri="{9D8B030D-6E8A-4147-A177-3AD203B41FA5}">
                      <a16:colId xmlns:a16="http://schemas.microsoft.com/office/drawing/2014/main" val="732629900"/>
                    </a:ext>
                  </a:extLst>
                </a:gridCol>
                <a:gridCol w="1942233">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row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Fuji</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AIMEX-III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NXT 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r h="326478">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NXT 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102 x 102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6154514"/>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532964977"/>
              </p:ext>
            </p:extLst>
          </p:nvPr>
        </p:nvGraphicFramePr>
        <p:xfrm>
          <a:off x="143735" y="3037855"/>
          <a:ext cx="11325890" cy="2002874"/>
        </p:xfrm>
        <a:graphic>
          <a:graphicData uri="http://schemas.openxmlformats.org/drawingml/2006/table">
            <a:tbl>
              <a:tblPr firstRow="1" firstCol="1" bandRow="1">
                <a:tableStyleId>{5C22544A-7EE6-4342-B048-85BDC9FD1C3A}</a:tableStyleId>
              </a:tblPr>
              <a:tblGrid>
                <a:gridCol w="1272299">
                  <a:extLst>
                    <a:ext uri="{9D8B030D-6E8A-4147-A177-3AD203B41FA5}">
                      <a16:colId xmlns:a16="http://schemas.microsoft.com/office/drawing/2014/main" val="20000"/>
                    </a:ext>
                  </a:extLst>
                </a:gridCol>
                <a:gridCol w="1539729">
                  <a:extLst>
                    <a:ext uri="{9D8B030D-6E8A-4147-A177-3AD203B41FA5}">
                      <a16:colId xmlns:a16="http://schemas.microsoft.com/office/drawing/2014/main" val="20001"/>
                    </a:ext>
                  </a:extLst>
                </a:gridCol>
                <a:gridCol w="1166140">
                  <a:extLst>
                    <a:ext uri="{9D8B030D-6E8A-4147-A177-3AD203B41FA5}">
                      <a16:colId xmlns:a16="http://schemas.microsoft.com/office/drawing/2014/main" val="20002"/>
                    </a:ext>
                  </a:extLst>
                </a:gridCol>
                <a:gridCol w="1750577">
                  <a:extLst>
                    <a:ext uri="{9D8B030D-6E8A-4147-A177-3AD203B41FA5}">
                      <a16:colId xmlns:a16="http://schemas.microsoft.com/office/drawing/2014/main" val="20003"/>
                    </a:ext>
                  </a:extLst>
                </a:gridCol>
                <a:gridCol w="1849120">
                  <a:extLst>
                    <a:ext uri="{9D8B030D-6E8A-4147-A177-3AD203B41FA5}">
                      <a16:colId xmlns:a16="http://schemas.microsoft.com/office/drawing/2014/main" val="20007"/>
                    </a:ext>
                  </a:extLst>
                </a:gridCol>
                <a:gridCol w="1544133">
                  <a:extLst>
                    <a:ext uri="{9D8B030D-6E8A-4147-A177-3AD203B41FA5}">
                      <a16:colId xmlns:a16="http://schemas.microsoft.com/office/drawing/2014/main" val="2338990182"/>
                    </a:ext>
                  </a:extLst>
                </a:gridCol>
                <a:gridCol w="2203892">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ODM 1</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SRT-1800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80 x 80 mm (with prism upgrade)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98C402DD-7EFB-47D2-ADFF-392D88B199FD}"/>
              </a:ext>
            </a:extLst>
          </p:cNvPr>
          <p:cNvSpPr txBox="1"/>
          <p:nvPr/>
        </p:nvSpPr>
        <p:spPr>
          <a:xfrm>
            <a:off x="722376" y="5059011"/>
            <a:ext cx="712317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*SRT-1800 may have some technical challenges</a:t>
            </a:r>
          </a:p>
        </p:txBody>
      </p:sp>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Tencent</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Tencent</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a:t>
            </a:r>
            <a:endParaRPr lang="en-US" sz="3200" dirty="0">
              <a:solidFill>
                <a:srgbClr val="FF0000"/>
              </a:solidFill>
            </a:endParaRPr>
          </a:p>
          <a:p>
            <a:pPr lvl="1"/>
            <a:r>
              <a:rPr lang="en-US" sz="2800" dirty="0">
                <a:solidFill>
                  <a:schemeClr val="tx1"/>
                </a:solidFill>
              </a:rPr>
              <a:t>Intel can share collaterals to perform the assessments (sockets/PCBs)</a:t>
            </a: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c4463d611c42fa325f5ca3c445a3aa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a72e8be0cb631526d533f4f6f1b05f42"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Props1.xml><?xml version="1.0" encoding="utf-8"?>
<ds:datastoreItem xmlns:ds="http://schemas.openxmlformats.org/officeDocument/2006/customXml" ds:itemID="{440C75D0-B020-4376-9DC2-4291068FD33B}"/>
</file>

<file path=customXml/itemProps2.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3.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37668</TotalTime>
  <Words>859</Words>
  <Application>Microsoft Office PowerPoint</Application>
  <PresentationFormat>Widescreen</PresentationFormat>
  <Paragraphs>104</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Tencent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245</cp:revision>
  <dcterms:modified xsi:type="dcterms:W3CDTF">2020-12-02T01:18:11Z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