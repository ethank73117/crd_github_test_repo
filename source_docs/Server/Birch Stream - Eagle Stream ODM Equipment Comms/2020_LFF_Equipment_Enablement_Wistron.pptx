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handoutMasterIdLst>
    <p:handoutMasterId r:id="rId15"/>
  </p:handoutMasterIdLst>
  <p:sldIdLst>
    <p:sldId id="263" r:id="rId5"/>
    <p:sldId id="336" r:id="rId6"/>
    <p:sldId id="338" r:id="rId7"/>
    <p:sldId id="274" r:id="rId8"/>
    <p:sldId id="286" r:id="rId9"/>
    <p:sldId id="343" r:id="rId10"/>
    <p:sldId id="275" r:id="rId11"/>
    <p:sldId id="276" r:id="rId12"/>
    <p:sldId id="278" r:id="rId13"/>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witt, Jesse" initials="DJ" lastIdx="2" clrIdx="0">
    <p:extLst>
      <p:ext uri="{19B8F6BF-5375-455C-9EA6-DF929625EA0E}">
        <p15:presenceInfo xmlns:p15="http://schemas.microsoft.com/office/powerpoint/2012/main" userId="S::jesse.dewitt@intel.com::1fbf07d7-057c-4b54-9be6-a530430e39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7FD"/>
    <a:srgbClr val="2872C5"/>
    <a:srgbClr val="525252"/>
    <a:srgbClr val="FFFFFF"/>
    <a:srgbClr val="0068B5"/>
    <a:srgbClr val="004A86"/>
    <a:srgbClr val="FC64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92460" autoAdjust="0"/>
  </p:normalViewPr>
  <p:slideViewPr>
    <p:cSldViewPr snapToGrid="0" snapToObjects="1">
      <p:cViewPr varScale="1">
        <p:scale>
          <a:sx n="66" d="100"/>
          <a:sy n="66" d="100"/>
        </p:scale>
        <p:origin x="1157" y="48"/>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360"/>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11/30/2020</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53654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 platform, 12 socket server</a:t>
            </a:r>
          </a:p>
          <a:p>
            <a:r>
              <a:rPr lang="en-US" dirty="0"/>
              <a:t>Limited</a:t>
            </a:r>
          </a:p>
        </p:txBody>
      </p:sp>
    </p:spTree>
    <p:extLst>
      <p:ext uri="{BB962C8B-B14F-4D97-AF65-F5344CB8AC3E}">
        <p14:creationId xmlns:p14="http://schemas.microsoft.com/office/powerpoint/2010/main" val="2022914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recommends to use Summit LXI for Socket E due to rework challenge </a:t>
            </a:r>
          </a:p>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would like to understand what financial impacts might be incurred if additional updates are required for handling future products</a:t>
            </a:r>
          </a:p>
        </p:txBody>
      </p:sp>
    </p:spTree>
    <p:extLst>
      <p:ext uri="{BB962C8B-B14F-4D97-AF65-F5344CB8AC3E}">
        <p14:creationId xmlns:p14="http://schemas.microsoft.com/office/powerpoint/2010/main" val="3553377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i="0" dirty="0"/>
              <a:t>Speak to MV proposal if customer would like to perform with Intel</a:t>
            </a: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a:p>
            <a:pPr marL="0" marR="0" lvl="0" indent="0" defTabSz="228600" eaLnBrk="1" fontAlgn="auto" latinLnBrk="0" hangingPunct="1">
              <a:lnSpc>
                <a:spcPct val="117999"/>
              </a:lnSpc>
              <a:spcBef>
                <a:spcPts val="0"/>
              </a:spcBef>
              <a:spcAft>
                <a:spcPts val="0"/>
              </a:spcAft>
              <a:buClrTx/>
              <a:buSzTx/>
              <a:buFontTx/>
              <a:buNone/>
              <a:tabLst/>
              <a:defRPr/>
            </a:pPr>
            <a:r>
              <a:rPr lang="en-US" i="1" dirty="0"/>
              <a:t>If ODM does not have the equipment currently for Socket E/BR</a:t>
            </a:r>
          </a:p>
          <a:p>
            <a:pPr marL="0" marR="0" lvl="0" indent="0" defTabSz="228600" eaLnBrk="1" fontAlgn="auto" latinLnBrk="0" hangingPunct="1">
              <a:lnSpc>
                <a:spcPct val="117999"/>
              </a:lnSpc>
              <a:spcBef>
                <a:spcPts val="0"/>
              </a:spcBef>
              <a:spcAft>
                <a:spcPts val="0"/>
              </a:spcAft>
              <a:buClrTx/>
              <a:buSzTx/>
              <a:buFontTx/>
              <a:buNone/>
              <a:tabLst/>
              <a:defRPr/>
            </a:pPr>
            <a:r>
              <a:rPr lang="en-US" sz="1100" dirty="0">
                <a:solidFill>
                  <a:schemeClr val="tx1"/>
                </a:solidFill>
              </a:rPr>
              <a:t>Any help needed with choosing the correct equipment/tools?</a:t>
            </a:r>
          </a:p>
          <a:p>
            <a:pPr marL="0" marR="0" lvl="0" indent="0" defTabSz="228600" eaLnBrk="1" fontAlgn="auto" latinLnBrk="0" hangingPunct="1">
              <a:lnSpc>
                <a:spcPct val="117999"/>
              </a:lnSpc>
              <a:spcBef>
                <a:spcPts val="0"/>
              </a:spcBef>
              <a:spcAft>
                <a:spcPts val="0"/>
              </a:spcAft>
              <a:buClrTx/>
              <a:buSzTx/>
              <a:buFontTx/>
              <a:buNone/>
              <a:tabLst/>
              <a:defRPr/>
            </a:pPr>
            <a:endParaRPr lang="en-US" sz="1100" dirty="0">
              <a:solidFill>
                <a:schemeClr val="tx1"/>
              </a:solidFill>
            </a:endParaRP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p:txBody>
      </p:sp>
    </p:spTree>
    <p:extLst>
      <p:ext uri="{BB962C8B-B14F-4D97-AF65-F5344CB8AC3E}">
        <p14:creationId xmlns:p14="http://schemas.microsoft.com/office/powerpoint/2010/main" val="72779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extLst>
      <p:ext uri="{BB962C8B-B14F-4D97-AF65-F5344CB8AC3E}">
        <p14:creationId xmlns:p14="http://schemas.microsoft.com/office/powerpoint/2010/main" val="206971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407801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5" name="Text Placeholder 5">
            <a:extLst>
              <a:ext uri="{FF2B5EF4-FFF2-40B4-BE49-F238E27FC236}">
                <a16:creationId xmlns:a16="http://schemas.microsoft.com/office/drawing/2014/main" id="{16E4A77F-3921-494A-A1C7-9B634810D61A}"/>
              </a:ext>
            </a:extLst>
          </p:cNvPr>
          <p:cNvSpPr>
            <a:spLocks noGrp="1"/>
          </p:cNvSpPr>
          <p:nvPr>
            <p:ph type="body" sz="quarter" idx="10"/>
          </p:nvPr>
        </p:nvSpPr>
        <p:spPr>
          <a:xfrm>
            <a:off x="609600" y="1072342"/>
            <a:ext cx="10972800" cy="5116793"/>
          </a:xfrm>
        </p:spPr>
        <p:txBody>
          <a:bodyPr/>
          <a:lstStyle>
            <a:lvl1pPr>
              <a:lnSpc>
                <a:spcPct val="100000"/>
              </a:lnSpc>
              <a:spcBef>
                <a:spcPts val="600"/>
              </a:spcBef>
              <a:defRPr/>
            </a:lvl1pPr>
            <a:lvl2pPr>
              <a:lnSpc>
                <a:spcPct val="100000"/>
              </a:lnSpc>
              <a:spcBef>
                <a:spcPts val="600"/>
              </a:spcBef>
              <a:buClrTx/>
              <a:defRPr sz="2600">
                <a:solidFill>
                  <a:schemeClr val="bg1"/>
                </a:solidFill>
              </a:defRPr>
            </a:lvl2pPr>
            <a:lvl3pPr>
              <a:lnSpc>
                <a:spcPct val="100000"/>
              </a:lnSpc>
              <a:spcBef>
                <a:spcPts val="600"/>
              </a:spcBef>
              <a:buClrTx/>
              <a:defRPr>
                <a:solidFill>
                  <a:schemeClr val="bg1"/>
                </a:solidFill>
              </a:defRPr>
            </a:lvl3pPr>
            <a:lvl5pPr>
              <a:defRPr sz="2000"/>
            </a:lvl5pPr>
          </a:lstStyle>
          <a:p>
            <a:pPr lvl="0"/>
            <a:r>
              <a:rPr lang="en-US"/>
              <a:t>Click to edit Master text styles</a:t>
            </a:r>
          </a:p>
          <a:p>
            <a:pPr lvl="1"/>
            <a:r>
              <a:rPr lang="en-US"/>
              <a:t>Second level</a:t>
            </a:r>
          </a:p>
          <a:p>
            <a:pPr lvl="2"/>
            <a:r>
              <a:rPr lang="en-US"/>
              <a:t>Third level</a:t>
            </a:r>
          </a:p>
        </p:txBody>
      </p:sp>
      <p:sp>
        <p:nvSpPr>
          <p:cNvPr id="4" name="Rectangle 19">
            <a:extLst>
              <a:ext uri="{FF2B5EF4-FFF2-40B4-BE49-F238E27FC236}">
                <a16:creationId xmlns:a16="http://schemas.microsoft.com/office/drawing/2014/main" id="{A59F6A75-BA60-4850-A917-21334D6F90CF}"/>
              </a:ext>
            </a:extLst>
          </p:cNvPr>
          <p:cNvSpPr>
            <a:spLocks noGrp="1" noChangeArrowheads="1"/>
          </p:cNvSpPr>
          <p:nvPr>
            <p:ph type="title" hasCustomPrompt="1"/>
          </p:nvPr>
        </p:nvSpPr>
        <p:spPr bwMode="auto">
          <a:xfrm>
            <a:off x="609600" y="436726"/>
            <a:ext cx="10972800" cy="510925"/>
          </a:xfrm>
          <a:prstGeom prst="rect">
            <a:avLst/>
          </a:prstGeom>
          <a:noFill/>
          <a:ln w="9525">
            <a:noFill/>
            <a:miter lim="800000"/>
            <a:headEnd/>
            <a:tailEnd/>
          </a:ln>
          <a:effectLst/>
        </p:spPr>
        <p:txBody>
          <a:bodyPr vert="horz" wrap="square" lIns="80185" tIns="40092" rIns="80185" bIns="40092" numCol="1" anchor="ctr" anchorCtr="0" compatLnSpc="1">
            <a:prstTxWarp prst="textNoShape">
              <a:avLst/>
            </a:prstTxWarp>
          </a:bodyPr>
          <a:lstStyle>
            <a:lvl1pPr>
              <a:lnSpc>
                <a:spcPct val="100000"/>
              </a:lnSpc>
              <a:defRPr sz="3200"/>
            </a:lvl1pPr>
          </a:lstStyle>
          <a:p>
            <a:pPr lvl="0"/>
            <a:r>
              <a:rPr lang="en-US" dirty="0"/>
              <a:t>Click to edit master title style</a:t>
            </a:r>
          </a:p>
        </p:txBody>
      </p:sp>
    </p:spTree>
    <p:extLst>
      <p:ext uri="{BB962C8B-B14F-4D97-AF65-F5344CB8AC3E}">
        <p14:creationId xmlns:p14="http://schemas.microsoft.com/office/powerpoint/2010/main" val="11576491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16463811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33" b="0" i="0">
                <a:solidFill>
                  <a:srgbClr val="003B70"/>
                </a:solidFill>
                <a:latin typeface="Intel Clear"/>
                <a:cs typeface="Intel Clear"/>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4034716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5428991" y="6562504"/>
            <a:ext cx="1334020" cy="245324"/>
          </a:xfrm>
          <a:prstGeom prst="rect">
            <a:avLst/>
          </a:prstGeom>
        </p:spPr>
        <p:txBody>
          <a:bodyPr wrap="none">
            <a:spAutoFit/>
          </a:bodyPr>
          <a:lstStyle/>
          <a:p>
            <a:pPr algn="ctr"/>
            <a:r>
              <a:rPr lang="en-US" sz="1100" b="1">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 id="2147483782" r:id="rId27"/>
    <p:sldLayoutId id="2147483783" r:id="rId28"/>
    <p:sldLayoutId id="2147483784"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tx1"/>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9.png"/><Relationship Id="rId1" Type="http://schemas.openxmlformats.org/officeDocument/2006/relationships/slideLayout" Target="../slideLayouts/slideLayout29.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1749556" y="3585279"/>
            <a:ext cx="10215466" cy="1091827"/>
          </a:xfrm>
        </p:spPr>
        <p:txBody>
          <a:bodyPr/>
          <a:lstStyle/>
          <a:p>
            <a:r>
              <a:rPr lang="en-US" sz="3200" dirty="0"/>
              <a:t>Large Form Factor (LFF) ODM SMT Equipment Enabling </a:t>
            </a:r>
            <a:br>
              <a:rPr lang="en-US" sz="3200" dirty="0"/>
            </a:br>
            <a:r>
              <a:rPr lang="en-US" sz="3200" dirty="0"/>
              <a:t>Intel – </a:t>
            </a:r>
            <a:r>
              <a:rPr lang="en-US" sz="3200" dirty="0" err="1"/>
              <a:t>Wistron</a:t>
            </a:r>
            <a:r>
              <a:rPr lang="en-US" sz="3200" dirty="0"/>
              <a:t> Collaboration </a:t>
            </a:r>
          </a:p>
        </p:txBody>
      </p:sp>
      <p:sp>
        <p:nvSpPr>
          <p:cNvPr id="2" name="Text Placeholder 1">
            <a:extLst>
              <a:ext uri="{FF2B5EF4-FFF2-40B4-BE49-F238E27FC236}">
                <a16:creationId xmlns:a16="http://schemas.microsoft.com/office/drawing/2014/main" id="{957F845C-9834-4D66-B99D-E3FBE04EA913}"/>
              </a:ext>
            </a:extLst>
          </p:cNvPr>
          <p:cNvSpPr>
            <a:spLocks noGrp="1"/>
          </p:cNvSpPr>
          <p:nvPr>
            <p:ph type="body" sz="quarter" idx="27"/>
          </p:nvPr>
        </p:nvSpPr>
        <p:spPr>
          <a:xfrm>
            <a:off x="1820796" y="4677106"/>
            <a:ext cx="10283651" cy="984391"/>
          </a:xfrm>
        </p:spPr>
        <p:txBody>
          <a:bodyPr>
            <a:normAutofit/>
          </a:bodyPr>
          <a:lstStyle/>
          <a:p>
            <a:r>
              <a:rPr lang="en-US" dirty="0">
                <a:solidFill>
                  <a:schemeClr val="tx1"/>
                </a:solidFill>
              </a:rPr>
              <a:t>November XX, 2020</a:t>
            </a:r>
          </a:p>
          <a:p>
            <a:r>
              <a:rPr lang="en-US" dirty="0">
                <a:solidFill>
                  <a:srgbClr val="FFC000"/>
                </a:solidFill>
              </a:rPr>
              <a:t>CNDA # 014080</a:t>
            </a:r>
          </a:p>
          <a:p>
            <a:endParaRPr lang="en-US" dirty="0"/>
          </a:p>
        </p:txBody>
      </p:sp>
    </p:spTree>
    <p:extLst>
      <p:ext uri="{BB962C8B-B14F-4D97-AF65-F5344CB8AC3E}">
        <p14:creationId xmlns:p14="http://schemas.microsoft.com/office/powerpoint/2010/main" val="325105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3200" dirty="0">
                <a:solidFill>
                  <a:srgbClr val="000000"/>
                </a:solidFill>
                <a:latin typeface="Intel Clear" panose="020B0604020203020204" pitchFamily="34" charset="0"/>
                <a:ea typeface="Intel Clear" panose="020B0604020203020204" pitchFamily="34" charset="0"/>
                <a:cs typeface="Intel Clear" panose="020B0604020203020204" pitchFamily="34" charset="0"/>
              </a:rPr>
              <a:t>Legal Disclaimer, Terms, &amp; Conditions: </a:t>
            </a:r>
            <a:endParaRPr lang="en-US" sz="3200" dirty="0"/>
          </a:p>
        </p:txBody>
      </p:sp>
      <p:sp>
        <p:nvSpPr>
          <p:cNvPr id="3" name="Content Placeholder 2">
            <a:extLst>
              <a:ext uri="{FF2B5EF4-FFF2-40B4-BE49-F238E27FC236}">
                <a16:creationId xmlns:a16="http://schemas.microsoft.com/office/drawing/2014/main" id="{5A9A9D93-D51C-4210-9C10-57FDD7586CD4}"/>
              </a:ext>
            </a:extLst>
          </p:cNvPr>
          <p:cNvSpPr>
            <a:spLocks noGrp="1"/>
          </p:cNvSpPr>
          <p:nvPr>
            <p:ph sz="quarter" idx="28"/>
          </p:nvPr>
        </p:nvSpPr>
        <p:spPr>
          <a:xfrm>
            <a:off x="571370" y="1413476"/>
            <a:ext cx="11010900" cy="4709418"/>
          </a:xfrm>
        </p:spPr>
        <p:txBody>
          <a:bodyPr>
            <a:normAutofit fontScale="55000" lnSpcReduction="20000"/>
          </a:bodyPr>
          <a:lstStyle/>
          <a:p>
            <a:pPr marL="0" indent="0">
              <a:buNone/>
            </a:pPr>
            <a:r>
              <a:rPr lang="en-US" dirty="0">
                <a:solidFill>
                  <a:schemeClr val="tx1"/>
                </a:solidFill>
              </a:rPr>
              <a:t>INFORMATION IN THIS DOCUMENT IS PROVIDED IN CONNECTION WITH INTEL PRODUCTS. NO LICENSE, EXPRESS OR IMPLIED, BY ESTOPPEL OR OTHERWISE, TO ANY INTELLECTUAL PROPERTY RIGHTS IS GRANTED BY THIS DOCUMENT.  EXCEPT AS PROVIDED IN INTEL'S TERMS AND CONDITIONS OF SALE FOR SUCH PRODUCTS, INTEL ASSUMES NO LIABILITY WHATSOEVER AND INTEL DISCLAIMS ANY EXPRESS OR IMPLIED WARRANTY, RELATING TO SALE AND/OR USE OF INTEL PRODUCTS INCLUDING LIABILITY OR WARRANTIES RELATING TO FITNESS FOR A PARTICULAR PURPOSE, MERCHANTABILITY, OR INFRINGEMENT OF ANY PATENT, COPYRIGHT OR OTHER INTELLECTUAL PROPERTY RIGHT.</a:t>
            </a:r>
            <a:br>
              <a:rPr lang="en-US" dirty="0">
                <a:solidFill>
                  <a:schemeClr val="tx1"/>
                </a:solidFill>
              </a:rPr>
            </a:br>
            <a:br>
              <a:rPr lang="en-US" dirty="0">
                <a:solidFill>
                  <a:schemeClr val="tx1"/>
                </a:solidFill>
              </a:rPr>
            </a:br>
            <a:r>
              <a:rPr lang="en-US" dirty="0">
                <a:solidFill>
                  <a:schemeClr val="tx1"/>
                </a:solidFill>
              </a:rPr>
              <a:t>UNLESS OTHERWISE AGREED IN WRITING BY INTEL, THE INTEL PRODUCTS ARE NOT DESIGNED NOR INTENDED FOR</a:t>
            </a:r>
            <a:r>
              <a:rPr lang="en-US" i="1" dirty="0">
                <a:solidFill>
                  <a:schemeClr val="tx1"/>
                </a:solidFill>
              </a:rPr>
              <a:t> </a:t>
            </a:r>
            <a:r>
              <a:rPr lang="en-US" dirty="0">
                <a:solidFill>
                  <a:schemeClr val="tx1"/>
                </a:solidFill>
              </a:rPr>
              <a:t>ANY</a:t>
            </a:r>
            <a:r>
              <a:rPr lang="en-US" i="1" dirty="0">
                <a:solidFill>
                  <a:schemeClr val="tx1"/>
                </a:solidFill>
              </a:rPr>
              <a:t> </a:t>
            </a:r>
            <a:r>
              <a:rPr lang="en-US" dirty="0">
                <a:solidFill>
                  <a:schemeClr val="tx1"/>
                </a:solidFill>
              </a:rPr>
              <a:t>APPLICATION IN WHICH THE FAILURE OF THE INTEL PRODUCT COULD CREATE A SITUATION WHERE PERSONAL INJURY OR DEATH MAY OCCUR.</a:t>
            </a:r>
            <a:br>
              <a:rPr lang="en-US" dirty="0">
                <a:solidFill>
                  <a:schemeClr val="tx1"/>
                </a:solidFill>
              </a:rPr>
            </a:br>
            <a:br>
              <a:rPr lang="en-US" dirty="0">
                <a:solidFill>
                  <a:schemeClr val="tx1"/>
                </a:solidFill>
              </a:rPr>
            </a:br>
            <a:r>
              <a:rPr lang="en-US" dirty="0">
                <a:solidFill>
                  <a:schemeClr val="tx1"/>
                </a:solidFill>
              </a:rPr>
              <a:t>Intel may make changes to specifications and product descriptions at any time, without notice. The information here is subject to change without notice. Do not finalize a design with this information. All products, computer systems, dates, and figures specified are preliminary based on current expectations, and are subject to change without notice. </a:t>
            </a:r>
          </a:p>
          <a:p>
            <a:pPr marL="0" indent="0">
              <a:buNone/>
            </a:pPr>
            <a:br>
              <a:rPr lang="en-US" dirty="0">
                <a:solidFill>
                  <a:schemeClr val="tx1"/>
                </a:solidFill>
              </a:rPr>
            </a:br>
            <a:r>
              <a:rPr lang="en-US" dirty="0">
                <a:solidFill>
                  <a:schemeClr val="tx1"/>
                </a:solidFill>
              </a:rPr>
              <a:t>The products described in this document may contain design defects or errors known as errata which may cause the product to deviate from published specifications. Current characterized errata are available on request. </a:t>
            </a:r>
            <a:br>
              <a:rPr lang="en-US" dirty="0">
                <a:solidFill>
                  <a:schemeClr val="tx1"/>
                </a:solidFill>
              </a:rPr>
            </a:br>
            <a:br>
              <a:rPr lang="en-US" dirty="0">
                <a:solidFill>
                  <a:schemeClr val="tx1"/>
                </a:solidFill>
              </a:rPr>
            </a:br>
            <a:r>
              <a:rPr lang="en-US" dirty="0">
                <a:solidFill>
                  <a:schemeClr val="tx1"/>
                </a:solidFill>
                <a:cs typeface="Arial" charset="0"/>
              </a:rPr>
              <a:t>Intel, the Intel logo, other Intel brand name(s), and any other Intel logos are registered trademarks of Intel. Intel's trademarks may be used publicly with permission only from Intel. Fair use of Intel's trademarks in advertising and promotion of Intel products requires proper acknowledgement.</a:t>
            </a:r>
          </a:p>
          <a:p>
            <a:pPr marL="0" indent="0">
              <a:buNone/>
            </a:pPr>
            <a:r>
              <a:rPr lang="en-US" dirty="0">
                <a:solidFill>
                  <a:schemeClr val="tx1"/>
                </a:solidFill>
                <a:cs typeface="Arial" charset="0"/>
              </a:rPr>
              <a:t>*Other names and brands are the property of their respective owners.</a:t>
            </a:r>
          </a:p>
          <a:p>
            <a:pPr marL="0" indent="0">
              <a:buNone/>
            </a:pPr>
            <a:r>
              <a:rPr lang="en-US" dirty="0">
                <a:solidFill>
                  <a:schemeClr val="tx1"/>
                </a:solidFill>
                <a:cs typeface="Arial" charset="0"/>
              </a:rPr>
              <a:t>Copyright © 2020, Intel Corporation </a:t>
            </a:r>
          </a:p>
        </p:txBody>
      </p:sp>
    </p:spTree>
    <p:extLst>
      <p:ext uri="{BB962C8B-B14F-4D97-AF65-F5344CB8AC3E}">
        <p14:creationId xmlns:p14="http://schemas.microsoft.com/office/powerpoint/2010/main" val="3324651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9A9D93-D51C-4210-9C10-57FDD7586CD4}"/>
              </a:ext>
            </a:extLst>
          </p:cNvPr>
          <p:cNvSpPr>
            <a:spLocks noGrp="1"/>
          </p:cNvSpPr>
          <p:nvPr>
            <p:ph type="body" sz="quarter" idx="10"/>
          </p:nvPr>
        </p:nvSpPr>
        <p:spPr/>
        <p:txBody>
          <a:bodyPr>
            <a:normAutofit/>
          </a:bodyPr>
          <a:lstStyle/>
          <a:p>
            <a:r>
              <a:rPr lang="en-US" dirty="0"/>
              <a:t>Upcoming Intel Server Sockets</a:t>
            </a:r>
            <a:endParaRPr lang="en-US" dirty="0">
              <a:solidFill>
                <a:schemeClr val="tx1"/>
              </a:solidFill>
            </a:endParaRPr>
          </a:p>
          <a:p>
            <a:r>
              <a:rPr lang="en-US" dirty="0"/>
              <a:t>Intel</a:t>
            </a:r>
            <a:r>
              <a:rPr lang="en-US" dirty="0">
                <a:solidFill>
                  <a:srgbClr val="FFC000"/>
                </a:solidFill>
              </a:rPr>
              <a:t> </a:t>
            </a:r>
            <a:r>
              <a:rPr lang="en-US" dirty="0"/>
              <a:t>Equipment Assessment 2019/20 &amp; Equipment Verification </a:t>
            </a:r>
          </a:p>
          <a:p>
            <a:r>
              <a:rPr lang="en-US" dirty="0"/>
              <a:t>Intel Requested Feedback </a:t>
            </a:r>
          </a:p>
          <a:p>
            <a:r>
              <a:rPr lang="en-US" dirty="0"/>
              <a:t>Q and A’s </a:t>
            </a:r>
          </a:p>
        </p:txBody>
      </p:sp>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2800" dirty="0">
                <a:solidFill>
                  <a:schemeClr val="tx1"/>
                </a:solidFill>
              </a:rPr>
              <a:t>Discussion Agenda: SMT LFF Equipment Enablement</a:t>
            </a:r>
          </a:p>
        </p:txBody>
      </p:sp>
    </p:spTree>
    <p:extLst>
      <p:ext uri="{BB962C8B-B14F-4D97-AF65-F5344CB8AC3E}">
        <p14:creationId xmlns:p14="http://schemas.microsoft.com/office/powerpoint/2010/main" val="54195051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353211" y="333078"/>
            <a:ext cx="11150600" cy="413394"/>
          </a:xfrm>
        </p:spPr>
        <p:txBody>
          <a:bodyPr/>
          <a:lstStyle/>
          <a:p>
            <a:pPr algn="l"/>
            <a:r>
              <a:rPr lang="en-US" b="0" dirty="0"/>
              <a:t>Factory Readiness for Upcoming Intel Server Sockets</a:t>
            </a:r>
          </a:p>
        </p:txBody>
      </p:sp>
      <p:graphicFrame>
        <p:nvGraphicFramePr>
          <p:cNvPr id="6" name="Table 6">
            <a:extLst>
              <a:ext uri="{FF2B5EF4-FFF2-40B4-BE49-F238E27FC236}">
                <a16:creationId xmlns:a16="http://schemas.microsoft.com/office/drawing/2014/main" id="{ADC569E5-8360-4AA1-BFF8-09BDB200A8F6}"/>
              </a:ext>
            </a:extLst>
          </p:cNvPr>
          <p:cNvGraphicFramePr>
            <a:graphicFrameLocks noGrp="1"/>
          </p:cNvGraphicFramePr>
          <p:nvPr>
            <p:extLst>
              <p:ext uri="{D42A27DB-BD31-4B8C-83A1-F6EECF244321}">
                <p14:modId xmlns:p14="http://schemas.microsoft.com/office/powerpoint/2010/main" val="2386812410"/>
              </p:ext>
            </p:extLst>
          </p:nvPr>
        </p:nvGraphicFramePr>
        <p:xfrm>
          <a:off x="630724" y="884193"/>
          <a:ext cx="10474155" cy="4083681"/>
        </p:xfrm>
        <a:graphic>
          <a:graphicData uri="http://schemas.openxmlformats.org/drawingml/2006/table">
            <a:tbl>
              <a:tblPr firstRow="1" bandRow="1">
                <a:tableStyleId>{5C22544A-7EE6-4342-B048-85BDC9FD1C3A}</a:tableStyleId>
              </a:tblPr>
              <a:tblGrid>
                <a:gridCol w="3734552">
                  <a:extLst>
                    <a:ext uri="{9D8B030D-6E8A-4147-A177-3AD203B41FA5}">
                      <a16:colId xmlns:a16="http://schemas.microsoft.com/office/drawing/2014/main" val="3230779745"/>
                    </a:ext>
                  </a:extLst>
                </a:gridCol>
                <a:gridCol w="3676999">
                  <a:extLst>
                    <a:ext uri="{9D8B030D-6E8A-4147-A177-3AD203B41FA5}">
                      <a16:colId xmlns:a16="http://schemas.microsoft.com/office/drawing/2014/main" val="695314244"/>
                    </a:ext>
                  </a:extLst>
                </a:gridCol>
                <a:gridCol w="3062604">
                  <a:extLst>
                    <a:ext uri="{9D8B030D-6E8A-4147-A177-3AD203B41FA5}">
                      <a16:colId xmlns:a16="http://schemas.microsoft.com/office/drawing/2014/main" val="3001795913"/>
                    </a:ext>
                  </a:extLst>
                </a:gridCol>
              </a:tblGrid>
              <a:tr h="670419">
                <a:tc rowSpan="2">
                  <a:txBody>
                    <a:bodyPr/>
                    <a:lstStyle/>
                    <a:p>
                      <a:pPr algn="ctr"/>
                      <a:r>
                        <a:rPr lang="en-US" sz="2000" dirty="0"/>
                        <a:t>Socket Features</a:t>
                      </a:r>
                    </a:p>
                  </a:txBody>
                  <a:tcPr>
                    <a:solidFill>
                      <a:schemeClr val="tx2"/>
                    </a:solidFill>
                  </a:tcPr>
                </a:tc>
                <a:tc>
                  <a:txBody>
                    <a:bodyPr/>
                    <a:lstStyle/>
                    <a:p>
                      <a:pPr algn="ctr"/>
                      <a:r>
                        <a:rPr lang="en-US" sz="2000" dirty="0"/>
                        <a:t>Current/Prior</a:t>
                      </a:r>
                    </a:p>
                  </a:txBody>
                  <a:tcPr>
                    <a:solidFill>
                      <a:schemeClr val="tx2"/>
                    </a:solidFill>
                  </a:tcPr>
                </a:tc>
                <a:tc>
                  <a:txBody>
                    <a:bodyPr/>
                    <a:lstStyle/>
                    <a:p>
                      <a:pPr algn="ctr"/>
                      <a:r>
                        <a:rPr lang="en-US" sz="2000" dirty="0"/>
                        <a:t>Upcoming Server Socket</a:t>
                      </a:r>
                      <a:endParaRPr lang="en-US" sz="2000" dirty="0">
                        <a:solidFill>
                          <a:srgbClr val="FF0000"/>
                        </a:solidFill>
                      </a:endParaRPr>
                    </a:p>
                  </a:txBody>
                  <a:tcPr>
                    <a:solidFill>
                      <a:schemeClr val="tx2"/>
                    </a:solidFill>
                  </a:tcPr>
                </a:tc>
                <a:extLst>
                  <a:ext uri="{0D108BD9-81ED-4DB2-BD59-A6C34878D82A}">
                    <a16:rowId xmlns:a16="http://schemas.microsoft.com/office/drawing/2014/main" val="3415482378"/>
                  </a:ext>
                </a:extLst>
              </a:tr>
              <a:tr h="426507">
                <a:tc vMerge="1">
                  <a:txBody>
                    <a:bodyPr/>
                    <a:lstStyle/>
                    <a:p>
                      <a:endParaRPr lang="en-US" dirty="0"/>
                    </a:p>
                  </a:txBody>
                  <a:tcPr>
                    <a:solidFill>
                      <a:schemeClr val="tx2"/>
                    </a:solidFill>
                  </a:tcPr>
                </a:tc>
                <a:tc>
                  <a:txBody>
                    <a:bodyPr/>
                    <a:lstStyle/>
                    <a:p>
                      <a:pPr algn="ctr"/>
                      <a:r>
                        <a:rPr lang="en-US" sz="2000" dirty="0"/>
                        <a:t>Socket P4/5</a:t>
                      </a:r>
                    </a:p>
                  </a:txBody>
                  <a:tcPr>
                    <a:solidFill>
                      <a:schemeClr val="bg1">
                        <a:lumMod val="85000"/>
                      </a:schemeClr>
                    </a:solidFill>
                  </a:tcPr>
                </a:tc>
                <a:tc>
                  <a:txBody>
                    <a:bodyPr/>
                    <a:lstStyle/>
                    <a:p>
                      <a:pPr algn="ctr"/>
                      <a:r>
                        <a:rPr lang="en-US" sz="2000" dirty="0"/>
                        <a:t>Socket E</a:t>
                      </a:r>
                    </a:p>
                  </a:txBody>
                  <a:tcPr>
                    <a:solidFill>
                      <a:schemeClr val="bg1">
                        <a:lumMod val="85000"/>
                      </a:schemeClr>
                    </a:solidFill>
                  </a:tcPr>
                </a:tc>
                <a:extLst>
                  <a:ext uri="{0D108BD9-81ED-4DB2-BD59-A6C34878D82A}">
                    <a16:rowId xmlns:a16="http://schemas.microsoft.com/office/drawing/2014/main" val="3896542636"/>
                  </a:ext>
                </a:extLst>
              </a:tr>
              <a:tr h="670419">
                <a:tc>
                  <a:txBody>
                    <a:bodyPr/>
                    <a:lstStyle/>
                    <a:p>
                      <a:pPr algn="ctr"/>
                      <a:r>
                        <a:rPr lang="en-US" sz="2000" dirty="0"/>
                        <a:t>Size (mm)</a:t>
                      </a:r>
                    </a:p>
                  </a:txBody>
                  <a:tcPr>
                    <a:solidFill>
                      <a:schemeClr val="bg1">
                        <a:lumMod val="85000"/>
                      </a:schemeClr>
                    </a:solidFill>
                  </a:tcPr>
                </a:tc>
                <a:tc>
                  <a:txBody>
                    <a:bodyPr/>
                    <a:lstStyle/>
                    <a:p>
                      <a:pPr algn="ctr"/>
                      <a:r>
                        <a:rPr lang="en-US" sz="2000" dirty="0"/>
                        <a:t>82 x 62</a:t>
                      </a:r>
                    </a:p>
                    <a:p>
                      <a:pPr marL="0" marR="0" lvl="0" indent="0" algn="ctr" defTabSz="609600" eaLnBrk="1" fontAlgn="auto" latinLnBrk="0" hangingPunct="1">
                        <a:lnSpc>
                          <a:spcPct val="100000"/>
                        </a:lnSpc>
                        <a:spcBef>
                          <a:spcPts val="0"/>
                        </a:spcBef>
                        <a:spcAft>
                          <a:spcPts val="0"/>
                        </a:spcAft>
                        <a:buClrTx/>
                        <a:buSzTx/>
                        <a:buFontTx/>
                        <a:buNone/>
                        <a:tabLst/>
                        <a:defRPr/>
                      </a:pPr>
                      <a:r>
                        <a:rPr lang="en-US" sz="2000" dirty="0"/>
                        <a:t>(~41 x 31 per piece)</a:t>
                      </a:r>
                    </a:p>
                  </a:txBody>
                  <a:tcPr>
                    <a:solidFill>
                      <a:schemeClr val="bg1">
                        <a:lumMod val="85000"/>
                      </a:schemeClr>
                    </a:solidFill>
                  </a:tcPr>
                </a:tc>
                <a:tc>
                  <a:txBody>
                    <a:bodyPr/>
                    <a:lstStyle/>
                    <a:p>
                      <a:pPr algn="ctr"/>
                      <a:r>
                        <a:rPr lang="en-US" sz="2000" dirty="0"/>
                        <a:t>82 x 64.5</a:t>
                      </a:r>
                    </a:p>
                  </a:txBody>
                  <a:tcPr>
                    <a:solidFill>
                      <a:schemeClr val="bg1">
                        <a:lumMod val="85000"/>
                      </a:schemeClr>
                    </a:solidFill>
                  </a:tcPr>
                </a:tc>
                <a:extLst>
                  <a:ext uri="{0D108BD9-81ED-4DB2-BD59-A6C34878D82A}">
                    <a16:rowId xmlns:a16="http://schemas.microsoft.com/office/drawing/2014/main" val="2861941230"/>
                  </a:ext>
                </a:extLst>
              </a:tr>
              <a:tr h="426507">
                <a:tc>
                  <a:txBody>
                    <a:bodyPr/>
                    <a:lstStyle/>
                    <a:p>
                      <a:pPr algn="ctr"/>
                      <a:r>
                        <a:rPr lang="en-US" sz="2000" dirty="0"/>
                        <a:t>Socket Design</a:t>
                      </a:r>
                    </a:p>
                  </a:txBody>
                  <a:tcPr>
                    <a:solidFill>
                      <a:schemeClr val="bg1">
                        <a:lumMod val="85000"/>
                      </a:schemeClr>
                    </a:solidFill>
                  </a:tcPr>
                </a:tc>
                <a:tc>
                  <a:txBody>
                    <a:bodyPr/>
                    <a:lstStyle/>
                    <a:p>
                      <a:pPr algn="ctr"/>
                      <a:r>
                        <a:rPr lang="en-US" sz="2000" dirty="0"/>
                        <a:t>2 pieces</a:t>
                      </a:r>
                    </a:p>
                  </a:txBody>
                  <a:tcPr>
                    <a:solidFill>
                      <a:schemeClr val="bg1">
                        <a:lumMod val="85000"/>
                      </a:schemeClr>
                    </a:solidFill>
                  </a:tcPr>
                </a:tc>
                <a:tc>
                  <a:txBody>
                    <a:bodyPr/>
                    <a:lstStyle/>
                    <a:p>
                      <a:pPr algn="ctr"/>
                      <a:r>
                        <a:rPr lang="en-US" sz="2000" dirty="0"/>
                        <a:t>1 piece</a:t>
                      </a:r>
                    </a:p>
                  </a:txBody>
                  <a:tcPr>
                    <a:solidFill>
                      <a:schemeClr val="bg1">
                        <a:lumMod val="85000"/>
                      </a:schemeClr>
                    </a:solidFill>
                  </a:tcPr>
                </a:tc>
                <a:extLst>
                  <a:ext uri="{0D108BD9-81ED-4DB2-BD59-A6C34878D82A}">
                    <a16:rowId xmlns:a16="http://schemas.microsoft.com/office/drawing/2014/main" val="4170258115"/>
                  </a:ext>
                </a:extLst>
              </a:tr>
              <a:tr h="426507">
                <a:tc>
                  <a:txBody>
                    <a:bodyPr/>
                    <a:lstStyle/>
                    <a:p>
                      <a:pPr algn="ctr"/>
                      <a:r>
                        <a:rPr lang="en-US" sz="2000" dirty="0"/>
                        <a:t>Weight (g)</a:t>
                      </a:r>
                    </a:p>
                  </a:txBody>
                  <a:tcPr>
                    <a:solidFill>
                      <a:schemeClr val="bg1">
                        <a:lumMod val="85000"/>
                      </a:schemeClr>
                    </a:solidFill>
                  </a:tcPr>
                </a:tc>
                <a:tc>
                  <a:txBody>
                    <a:bodyPr/>
                    <a:lstStyle/>
                    <a:p>
                      <a:pPr algn="ctr"/>
                      <a:r>
                        <a:rPr lang="en-US" sz="2000" dirty="0"/>
                        <a:t>15 per piece</a:t>
                      </a:r>
                    </a:p>
                  </a:txBody>
                  <a:tcPr>
                    <a:solidFill>
                      <a:schemeClr val="bg1">
                        <a:lumMod val="85000"/>
                      </a:schemeClr>
                    </a:solidFill>
                  </a:tcPr>
                </a:tc>
                <a:tc>
                  <a:txBody>
                    <a:bodyPr/>
                    <a:lstStyle/>
                    <a:p>
                      <a:pPr algn="ctr"/>
                      <a:r>
                        <a:rPr lang="en-US" sz="2000" dirty="0"/>
                        <a:t>26</a:t>
                      </a:r>
                    </a:p>
                  </a:txBody>
                  <a:tcPr>
                    <a:solidFill>
                      <a:schemeClr val="bg1">
                        <a:lumMod val="85000"/>
                      </a:schemeClr>
                    </a:solidFill>
                  </a:tcPr>
                </a:tc>
                <a:extLst>
                  <a:ext uri="{0D108BD9-81ED-4DB2-BD59-A6C34878D82A}">
                    <a16:rowId xmlns:a16="http://schemas.microsoft.com/office/drawing/2014/main" val="4094257102"/>
                  </a:ext>
                </a:extLst>
              </a:tr>
              <a:tr h="670419">
                <a:tc>
                  <a:txBody>
                    <a:bodyPr/>
                    <a:lstStyle/>
                    <a:p>
                      <a:pPr algn="ctr"/>
                      <a:r>
                        <a:rPr lang="en-US" sz="2000" dirty="0"/>
                        <a:t>Total Number of Solder Bumps</a:t>
                      </a:r>
                    </a:p>
                  </a:txBody>
                  <a:tcPr>
                    <a:solidFill>
                      <a:schemeClr val="bg1">
                        <a:lumMod val="85000"/>
                      </a:schemeClr>
                    </a:solidFill>
                  </a:tcPr>
                </a:tc>
                <a:tc>
                  <a:txBody>
                    <a:bodyPr/>
                    <a:lstStyle/>
                    <a:p>
                      <a:pPr algn="ctr"/>
                      <a:r>
                        <a:rPr lang="en-US" sz="2000" dirty="0"/>
                        <a:t>4189</a:t>
                      </a:r>
                    </a:p>
                  </a:txBody>
                  <a:tcPr>
                    <a:solidFill>
                      <a:schemeClr val="bg1">
                        <a:lumMod val="85000"/>
                      </a:schemeClr>
                    </a:solidFill>
                  </a:tcPr>
                </a:tc>
                <a:tc>
                  <a:txBody>
                    <a:bodyPr/>
                    <a:lstStyle/>
                    <a:p>
                      <a:pPr algn="ctr"/>
                      <a:r>
                        <a:rPr lang="en-US" sz="2000" dirty="0"/>
                        <a:t>4677</a:t>
                      </a:r>
                    </a:p>
                  </a:txBody>
                  <a:tcPr>
                    <a:solidFill>
                      <a:schemeClr val="bg1">
                        <a:lumMod val="85000"/>
                      </a:schemeClr>
                    </a:solidFill>
                  </a:tcPr>
                </a:tc>
                <a:extLst>
                  <a:ext uri="{0D108BD9-81ED-4DB2-BD59-A6C34878D82A}">
                    <a16:rowId xmlns:a16="http://schemas.microsoft.com/office/drawing/2014/main" val="284969809"/>
                  </a:ext>
                </a:extLst>
              </a:tr>
              <a:tr h="681509">
                <a:tc>
                  <a:txBody>
                    <a:bodyPr/>
                    <a:lstStyle/>
                    <a:p>
                      <a:pPr algn="ctr"/>
                      <a:r>
                        <a:rPr lang="en-US" sz="2000" strike="noStrike" dirty="0"/>
                        <a:t>Target Q/Y Production Readiness</a:t>
                      </a:r>
                    </a:p>
                  </a:txBody>
                  <a:tcPr>
                    <a:solidFill>
                      <a:schemeClr val="bg1">
                        <a:lumMod val="85000"/>
                      </a:schemeClr>
                    </a:solidFill>
                  </a:tcPr>
                </a:tc>
                <a:tc>
                  <a:txBody>
                    <a:bodyPr/>
                    <a:lstStyle/>
                    <a:p>
                      <a:pPr algn="ctr"/>
                      <a:r>
                        <a:rPr lang="en-US" sz="2000" strike="noStrike" dirty="0"/>
                        <a:t>Launched</a:t>
                      </a:r>
                    </a:p>
                  </a:txBody>
                  <a:tcPr>
                    <a:solidFill>
                      <a:schemeClr val="bg1">
                        <a:lumMod val="85000"/>
                      </a:schemeClr>
                    </a:solidFill>
                  </a:tcPr>
                </a:tc>
                <a:tc>
                  <a:txBody>
                    <a:bodyPr/>
                    <a:lstStyle/>
                    <a:p>
                      <a:pPr algn="ctr"/>
                      <a:r>
                        <a:rPr lang="en-US" sz="2000" strike="noStrike" dirty="0"/>
                        <a:t>Q2’21</a:t>
                      </a:r>
                    </a:p>
                  </a:txBody>
                  <a:tcPr>
                    <a:solidFill>
                      <a:schemeClr val="bg1">
                        <a:lumMod val="85000"/>
                      </a:schemeClr>
                    </a:solidFill>
                  </a:tcPr>
                </a:tc>
                <a:extLst>
                  <a:ext uri="{0D108BD9-81ED-4DB2-BD59-A6C34878D82A}">
                    <a16:rowId xmlns:a16="http://schemas.microsoft.com/office/drawing/2014/main" val="903641240"/>
                  </a:ext>
                </a:extLst>
              </a:tr>
            </a:tbl>
          </a:graphicData>
        </a:graphic>
      </p:graphicFrame>
      <p:sp>
        <p:nvSpPr>
          <p:cNvPr id="8" name="Rectangle: Rounded Corners 7">
            <a:extLst>
              <a:ext uri="{FF2B5EF4-FFF2-40B4-BE49-F238E27FC236}">
                <a16:creationId xmlns:a16="http://schemas.microsoft.com/office/drawing/2014/main" id="{2F06E67D-83DB-41EC-8306-0A55E9FEC449}"/>
              </a:ext>
            </a:extLst>
          </p:cNvPr>
          <p:cNvSpPr/>
          <p:nvPr/>
        </p:nvSpPr>
        <p:spPr>
          <a:xfrm>
            <a:off x="506306" y="5058300"/>
            <a:ext cx="10719992"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With new Large Form factor (LFF) socket it is important to assess PnP SMT &amp; Rework tool Capability  </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Intel would like to understand SMT and rework status/readiness to manufacture the parts</a:t>
            </a:r>
          </a:p>
        </p:txBody>
      </p:sp>
    </p:spTree>
    <p:extLst>
      <p:ext uri="{BB962C8B-B14F-4D97-AF65-F5344CB8AC3E}">
        <p14:creationId xmlns:p14="http://schemas.microsoft.com/office/powerpoint/2010/main" val="26528919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C98B240-E156-42C1-8065-D2417C009F56}"/>
              </a:ext>
            </a:extLst>
          </p:cNvPr>
          <p:cNvSpPr txBox="1"/>
          <p:nvPr/>
        </p:nvSpPr>
        <p:spPr>
          <a:xfrm>
            <a:off x="314324" y="68598"/>
            <a:ext cx="11363326" cy="426079"/>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dirty="0">
                <a:latin typeface="Intel Clear" panose="020B0604020203020204" pitchFamily="34" charset="0"/>
                <a:ea typeface="Intel Clear" panose="020B0604020203020204" pitchFamily="34" charset="0"/>
                <a:cs typeface="Intel Clear" panose="020B0604020203020204" pitchFamily="34" charset="0"/>
              </a:rPr>
              <a:t>Intel Equipment Assessment 2019/20 - PnP and Rework Equipment Verification</a:t>
            </a:r>
          </a:p>
        </p:txBody>
      </p:sp>
      <p:graphicFrame>
        <p:nvGraphicFramePr>
          <p:cNvPr id="16" name="Table 15">
            <a:extLst>
              <a:ext uri="{FF2B5EF4-FFF2-40B4-BE49-F238E27FC236}">
                <a16:creationId xmlns:a16="http://schemas.microsoft.com/office/drawing/2014/main" id="{773B1429-A304-44DE-B400-AF7F32515B3F}"/>
              </a:ext>
            </a:extLst>
          </p:cNvPr>
          <p:cNvGraphicFramePr>
            <a:graphicFrameLocks noGrp="1"/>
          </p:cNvGraphicFramePr>
          <p:nvPr>
            <p:extLst>
              <p:ext uri="{D42A27DB-BD31-4B8C-83A1-F6EECF244321}">
                <p14:modId xmlns:p14="http://schemas.microsoft.com/office/powerpoint/2010/main" val="1136621543"/>
              </p:ext>
            </p:extLst>
          </p:nvPr>
        </p:nvGraphicFramePr>
        <p:xfrm>
          <a:off x="208475" y="510567"/>
          <a:ext cx="11363326" cy="2381514"/>
        </p:xfrm>
        <a:graphic>
          <a:graphicData uri="http://schemas.openxmlformats.org/drawingml/2006/table">
            <a:tbl>
              <a:tblPr firstRow="1" firstCol="1" bandRow="1">
                <a:tableStyleId>{5C22544A-7EE6-4342-B048-85BDC9FD1C3A}</a:tableStyleId>
              </a:tblPr>
              <a:tblGrid>
                <a:gridCol w="1100933">
                  <a:extLst>
                    <a:ext uri="{9D8B030D-6E8A-4147-A177-3AD203B41FA5}">
                      <a16:colId xmlns:a16="http://schemas.microsoft.com/office/drawing/2014/main" val="20000"/>
                    </a:ext>
                  </a:extLst>
                </a:gridCol>
                <a:gridCol w="1108796">
                  <a:extLst>
                    <a:ext uri="{9D8B030D-6E8A-4147-A177-3AD203B41FA5}">
                      <a16:colId xmlns:a16="http://schemas.microsoft.com/office/drawing/2014/main" val="20001"/>
                    </a:ext>
                  </a:extLst>
                </a:gridCol>
                <a:gridCol w="1134456">
                  <a:extLst>
                    <a:ext uri="{9D8B030D-6E8A-4147-A177-3AD203B41FA5}">
                      <a16:colId xmlns:a16="http://schemas.microsoft.com/office/drawing/2014/main" val="20002"/>
                    </a:ext>
                  </a:extLst>
                </a:gridCol>
                <a:gridCol w="1462775">
                  <a:extLst>
                    <a:ext uri="{9D8B030D-6E8A-4147-A177-3AD203B41FA5}">
                      <a16:colId xmlns:a16="http://schemas.microsoft.com/office/drawing/2014/main" val="20003"/>
                    </a:ext>
                  </a:extLst>
                </a:gridCol>
                <a:gridCol w="1629205">
                  <a:extLst>
                    <a:ext uri="{9D8B030D-6E8A-4147-A177-3AD203B41FA5}">
                      <a16:colId xmlns:a16="http://schemas.microsoft.com/office/drawing/2014/main" val="20007"/>
                    </a:ext>
                  </a:extLst>
                </a:gridCol>
                <a:gridCol w="1350170">
                  <a:extLst>
                    <a:ext uri="{9D8B030D-6E8A-4147-A177-3AD203B41FA5}">
                      <a16:colId xmlns:a16="http://schemas.microsoft.com/office/drawing/2014/main" val="210591066"/>
                    </a:ext>
                  </a:extLst>
                </a:gridCol>
                <a:gridCol w="1617917">
                  <a:extLst>
                    <a:ext uri="{9D8B030D-6E8A-4147-A177-3AD203B41FA5}">
                      <a16:colId xmlns:a16="http://schemas.microsoft.com/office/drawing/2014/main" val="732629900"/>
                    </a:ext>
                  </a:extLst>
                </a:gridCol>
                <a:gridCol w="1959074">
                  <a:extLst>
                    <a:ext uri="{9D8B030D-6E8A-4147-A177-3AD203B41FA5}">
                      <a16:colId xmlns:a16="http://schemas.microsoft.com/office/drawing/2014/main" val="3068742036"/>
                    </a:ext>
                  </a:extLst>
                </a:gridCol>
              </a:tblGrid>
              <a:tr h="0">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PNP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PNP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w/PNP Models</a:t>
                      </a:r>
                    </a:p>
                  </a:txBody>
                  <a:tcPr marL="51727" marR="51727" marT="0" marB="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89742">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What component is the PnP equip used to place?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of Tools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26478">
                <a:tc rowSpan="3">
                  <a:txBody>
                    <a:bodyPr/>
                    <a:lstStyle/>
                    <a:p>
                      <a:pPr marL="0" marR="0" algn="ctr">
                        <a:spcBef>
                          <a:spcPts val="0"/>
                        </a:spcBef>
                        <a:spcAft>
                          <a:spcPts val="0"/>
                        </a:spcAft>
                      </a:pPr>
                      <a:r>
                        <a:rPr lang="en-US" sz="1200" dirty="0" err="1">
                          <a:effectLst/>
                          <a:latin typeface="Intel Clear" panose="020B0604020203020204" pitchFamily="34" charset="0"/>
                          <a:ea typeface="Intel Clear" panose="020B0604020203020204" pitchFamily="34" charset="0"/>
                          <a:cs typeface="Intel Clear" panose="020B0604020203020204" pitchFamily="34" charset="0"/>
                        </a:rPr>
                        <a:t>Wistron</a:t>
                      </a:r>
                      <a:endParaRPr lang="en-US" sz="12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rowSpan="3">
                  <a:txBody>
                    <a:bodyPr/>
                    <a:lstStyle/>
                    <a:p>
                      <a:pPr marL="0" marR="0" indent="0" algn="ctr" defTabSz="609600" latinLnBrk="0">
                        <a:lnSpc>
                          <a:spcPct val="100000"/>
                        </a:lnSpc>
                        <a:spcBef>
                          <a:spcPts val="0"/>
                        </a:spcBef>
                        <a:spcAft>
                          <a:spcPts val="0"/>
                        </a:spcAft>
                        <a:buClrTx/>
                        <a:buSzTx/>
                        <a:buFontTx/>
                        <a:buNone/>
                        <a:tabLst/>
                      </a:pPr>
                      <a:r>
                        <a:rPr lang="en-US" sz="12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Panasonic</a:t>
                      </a:r>
                    </a:p>
                    <a:p>
                      <a:pPr marL="0" marR="0" indent="0" algn="ctr" defTabSz="609600" latinLnBrk="0">
                        <a:lnSpc>
                          <a:spcPct val="100000"/>
                        </a:lnSpc>
                        <a:spcBef>
                          <a:spcPts val="0"/>
                        </a:spcBef>
                        <a:spcAft>
                          <a:spcPts val="0"/>
                        </a:spcAft>
                        <a:buClrTx/>
                        <a:buSzTx/>
                        <a:buFontTx/>
                        <a:buNone/>
                        <a:tabLst/>
                      </a:pPr>
                      <a:r>
                        <a:rPr lang="en-US" sz="12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 </a:t>
                      </a:r>
                    </a:p>
                    <a:p>
                      <a:pPr marL="0" marR="0" indent="0" algn="ctr" defTabSz="609600" latinLnBrk="0">
                        <a:lnSpc>
                          <a:spcPct val="100000"/>
                        </a:lnSpc>
                        <a:spcBef>
                          <a:spcPts val="0"/>
                        </a:spcBef>
                        <a:spcAft>
                          <a:spcPts val="0"/>
                        </a:spcAft>
                        <a:buClrTx/>
                        <a:buSzTx/>
                        <a:buFontTx/>
                        <a:buNone/>
                        <a:tabLst/>
                      </a:pPr>
                      <a:r>
                        <a:rPr lang="en-US" sz="12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 </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2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DT401</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2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100 x 90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2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1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26478">
                <a:tc vMerge="1">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tc>
                <a:tc vMerge="1">
                  <a:txBody>
                    <a:bodyPr/>
                    <a:lstStyle/>
                    <a:p>
                      <a:pPr marL="0" marR="0">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nchor="ctr"/>
                </a:tc>
                <a:tc>
                  <a:txBody>
                    <a:bodyPr/>
                    <a:lstStyle/>
                    <a:p>
                      <a:pPr marL="0" marR="0" indent="0" algn="ctr" defTabSz="609600" latinLnBrk="0">
                        <a:lnSpc>
                          <a:spcPct val="100000"/>
                        </a:lnSpc>
                        <a:spcBef>
                          <a:spcPts val="0"/>
                        </a:spcBef>
                        <a:spcAft>
                          <a:spcPts val="0"/>
                        </a:spcAft>
                        <a:buClrTx/>
                        <a:buSzTx/>
                        <a:buFontTx/>
                        <a:buNone/>
                        <a:tabLst/>
                      </a:pPr>
                      <a:r>
                        <a:rPr lang="en-US" sz="12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CM602-F0</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2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100 x 50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200" b="0" i="0" u="none" strike="noStrike" cap="none" spc="0" baseline="0" dirty="0">
                          <a:solidFill>
                            <a:srgbClr val="FF0000"/>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1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745156"/>
                  </a:ext>
                </a:extLst>
              </a:tr>
              <a:tr h="326478">
                <a:tc v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vMerge="1">
                  <a:txBody>
                    <a:bodyPr/>
                    <a:lstStyle/>
                    <a:p>
                      <a:pPr marL="0" marR="0">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2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NPM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09600" rtl="0" eaLnBrk="1" fontAlgn="auto" latinLnBrk="0" hangingPunct="1">
                        <a:lnSpc>
                          <a:spcPct val="100000"/>
                        </a:lnSpc>
                        <a:spcBef>
                          <a:spcPts val="0"/>
                        </a:spcBef>
                        <a:spcAft>
                          <a:spcPts val="0"/>
                        </a:spcAft>
                        <a:buClrTx/>
                        <a:buSzTx/>
                        <a:buFontTx/>
                        <a:buNone/>
                        <a:tabLst/>
                        <a:defRPr/>
                      </a:pPr>
                      <a:r>
                        <a:rPr lang="en-US" sz="12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120 x 120 mm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2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Y</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6154514"/>
                  </a:ext>
                </a:extLst>
              </a:tr>
            </a:tbl>
          </a:graphicData>
        </a:graphic>
      </p:graphicFrame>
      <p:graphicFrame>
        <p:nvGraphicFramePr>
          <p:cNvPr id="22" name="Table 21">
            <a:extLst>
              <a:ext uri="{FF2B5EF4-FFF2-40B4-BE49-F238E27FC236}">
                <a16:creationId xmlns:a16="http://schemas.microsoft.com/office/drawing/2014/main" id="{655CA3C1-A071-4E19-8306-444F198F29D1}"/>
              </a:ext>
            </a:extLst>
          </p:cNvPr>
          <p:cNvGraphicFramePr>
            <a:graphicFrameLocks noGrp="1"/>
          </p:cNvGraphicFramePr>
          <p:nvPr>
            <p:extLst>
              <p:ext uri="{D42A27DB-BD31-4B8C-83A1-F6EECF244321}">
                <p14:modId xmlns:p14="http://schemas.microsoft.com/office/powerpoint/2010/main" val="2338622153"/>
              </p:ext>
            </p:extLst>
          </p:nvPr>
        </p:nvGraphicFramePr>
        <p:xfrm>
          <a:off x="143735" y="3058551"/>
          <a:ext cx="11446231" cy="2273775"/>
        </p:xfrm>
        <a:graphic>
          <a:graphicData uri="http://schemas.openxmlformats.org/drawingml/2006/table">
            <a:tbl>
              <a:tblPr firstRow="1" firstCol="1" bandRow="1">
                <a:tableStyleId>{5C22544A-7EE6-4342-B048-85BDC9FD1C3A}</a:tableStyleId>
              </a:tblPr>
              <a:tblGrid>
                <a:gridCol w="1285818">
                  <a:extLst>
                    <a:ext uri="{9D8B030D-6E8A-4147-A177-3AD203B41FA5}">
                      <a16:colId xmlns:a16="http://schemas.microsoft.com/office/drawing/2014/main" val="20000"/>
                    </a:ext>
                  </a:extLst>
                </a:gridCol>
                <a:gridCol w="1283833">
                  <a:extLst>
                    <a:ext uri="{9D8B030D-6E8A-4147-A177-3AD203B41FA5}">
                      <a16:colId xmlns:a16="http://schemas.microsoft.com/office/drawing/2014/main" val="20001"/>
                    </a:ext>
                  </a:extLst>
                </a:gridCol>
                <a:gridCol w="1450786">
                  <a:extLst>
                    <a:ext uri="{9D8B030D-6E8A-4147-A177-3AD203B41FA5}">
                      <a16:colId xmlns:a16="http://schemas.microsoft.com/office/drawing/2014/main" val="20002"/>
                    </a:ext>
                  </a:extLst>
                </a:gridCol>
                <a:gridCol w="1769268">
                  <a:extLst>
                    <a:ext uri="{9D8B030D-6E8A-4147-A177-3AD203B41FA5}">
                      <a16:colId xmlns:a16="http://schemas.microsoft.com/office/drawing/2014/main" val="20003"/>
                    </a:ext>
                  </a:extLst>
                </a:gridCol>
                <a:gridCol w="1899920">
                  <a:extLst>
                    <a:ext uri="{9D8B030D-6E8A-4147-A177-3AD203B41FA5}">
                      <a16:colId xmlns:a16="http://schemas.microsoft.com/office/drawing/2014/main" val="20007"/>
                    </a:ext>
                  </a:extLst>
                </a:gridCol>
                <a:gridCol w="1529297">
                  <a:extLst>
                    <a:ext uri="{9D8B030D-6E8A-4147-A177-3AD203B41FA5}">
                      <a16:colId xmlns:a16="http://schemas.microsoft.com/office/drawing/2014/main" val="2338990182"/>
                    </a:ext>
                  </a:extLst>
                </a:gridCol>
                <a:gridCol w="2227309">
                  <a:extLst>
                    <a:ext uri="{9D8B030D-6E8A-4147-A177-3AD203B41FA5}">
                      <a16:colId xmlns:a16="http://schemas.microsoft.com/office/drawing/2014/main" val="3820188341"/>
                    </a:ext>
                  </a:extLst>
                </a:gridCol>
              </a:tblGrid>
              <a:tr h="380871">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Rework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Rework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w/rework Models</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969489">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at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02807">
                <a:tc rowSpan="2">
                  <a:txBody>
                    <a:bodyPr/>
                    <a:lstStyle/>
                    <a:p>
                      <a:pPr marL="0" marR="0" algn="ctr">
                        <a:spcBef>
                          <a:spcPts val="0"/>
                        </a:spcBef>
                        <a:spcAft>
                          <a:spcPts val="0"/>
                        </a:spcAft>
                      </a:pPr>
                      <a:r>
                        <a:rPr lang="en-US" sz="1400" dirty="0" err="1">
                          <a:effectLst/>
                          <a:latin typeface="Intel Clear" panose="020B0604020203020204" pitchFamily="34" charset="0"/>
                          <a:ea typeface="Intel Clear" panose="020B0604020203020204" pitchFamily="34" charset="0"/>
                          <a:cs typeface="Intel Clear" panose="020B0604020203020204" pitchFamily="34" charset="0"/>
                        </a:rPr>
                        <a:t>Wistron</a:t>
                      </a: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rowSpan="2">
                  <a:txBody>
                    <a:bodyPr/>
                    <a:lstStyle/>
                    <a:p>
                      <a:pPr marL="0" marR="0" algn="ctr">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VJE</a:t>
                      </a:r>
                    </a:p>
                    <a:p>
                      <a:pPr marL="0" marR="0" algn="ctr">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 </a:t>
                      </a:r>
                    </a:p>
                    <a:p>
                      <a:pPr marL="0" marR="0" algn="ctr">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 </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SRT1100LX</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50 x 50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b="0" i="0" u="none" strike="noStrike" cap="none" spc="0" baseline="0" dirty="0">
                          <a:solidFill>
                            <a:srgbClr val="FF0000"/>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52839">
                <a:tc v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vMerge="1">
                  <a:txBody>
                    <a:bodyPr/>
                    <a:lstStyle/>
                    <a:p>
                      <a:endParaRPr lang="en-US"/>
                    </a:p>
                  </a:txBody>
                  <a:tcPr/>
                </a:tc>
                <a:tc>
                  <a:txBody>
                    <a:bodyPr/>
                    <a:lstStyle/>
                    <a:p>
                      <a:pPr marL="0" marR="0" algn="ctr">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SRT2200LX</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120 x 120 (w/Auto Alignment)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b="0" i="0" u="none" strike="noStrike" cap="none" spc="0" baseline="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Y</a:t>
                      </a:r>
                      <a:endPar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801296"/>
                  </a:ext>
                </a:extLst>
              </a:tr>
            </a:tbl>
          </a:graphicData>
        </a:graphic>
      </p:graphicFrame>
      <p:sp>
        <p:nvSpPr>
          <p:cNvPr id="3" name="TextBox 2">
            <a:extLst>
              <a:ext uri="{FF2B5EF4-FFF2-40B4-BE49-F238E27FC236}">
                <a16:creationId xmlns:a16="http://schemas.microsoft.com/office/drawing/2014/main" id="{98C402DD-7EFB-47D2-ADFF-392D88B199FD}"/>
              </a:ext>
            </a:extLst>
          </p:cNvPr>
          <p:cNvSpPr txBox="1"/>
          <p:nvPr/>
        </p:nvSpPr>
        <p:spPr>
          <a:xfrm>
            <a:off x="722376" y="5332326"/>
            <a:ext cx="7123176"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tx1"/>
                </a:solidFill>
                <a:effectLst/>
                <a:uFillTx/>
                <a:latin typeface="+mn-lt"/>
                <a:ea typeface="+mn-ea"/>
                <a:cs typeface="+mn-cs"/>
                <a:sym typeface="Helvetica Neue"/>
              </a:rPr>
              <a:t>*SRT-1800 may have some technical challenges</a:t>
            </a:r>
          </a:p>
        </p:txBody>
      </p:sp>
      <p:sp>
        <p:nvSpPr>
          <p:cNvPr id="2" name="Rectangle: Rounded Corners 1">
            <a:extLst>
              <a:ext uri="{FF2B5EF4-FFF2-40B4-BE49-F238E27FC236}">
                <a16:creationId xmlns:a16="http://schemas.microsoft.com/office/drawing/2014/main" id="{E4E54366-289A-4C6A-A73E-90B6899B67BD}"/>
              </a:ext>
            </a:extLst>
          </p:cNvPr>
          <p:cNvSpPr/>
          <p:nvPr/>
        </p:nvSpPr>
        <p:spPr>
          <a:xfrm>
            <a:off x="8059667" y="2362128"/>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a:t>
            </a:r>
            <a:r>
              <a:rPr lang="en-US" sz="1200" dirty="0" err="1">
                <a:solidFill>
                  <a:srgbClr val="FFFFFF"/>
                </a:solidFill>
                <a:latin typeface="Helvetica Neue Medium"/>
                <a:ea typeface="Helvetica Neue Medium"/>
                <a:cs typeface="Helvetica Neue Medium"/>
                <a:sym typeface="Helvetica Neue Medium"/>
              </a:rPr>
              <a:t>Wistron</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8" name="Rectangle: Rounded Corners 7">
            <a:extLst>
              <a:ext uri="{FF2B5EF4-FFF2-40B4-BE49-F238E27FC236}">
                <a16:creationId xmlns:a16="http://schemas.microsoft.com/office/drawing/2014/main" id="{72CE39B8-1819-40C4-B364-FD56E9FB9C40}"/>
              </a:ext>
            </a:extLst>
          </p:cNvPr>
          <p:cNvSpPr/>
          <p:nvPr/>
        </p:nvSpPr>
        <p:spPr>
          <a:xfrm>
            <a:off x="8504728" y="4948517"/>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a:t>
            </a:r>
            <a:r>
              <a:rPr lang="en-US" sz="1200" dirty="0" err="1">
                <a:solidFill>
                  <a:srgbClr val="FFFFFF"/>
                </a:solidFill>
                <a:latin typeface="Helvetica Neue Medium"/>
                <a:ea typeface="Helvetica Neue Medium"/>
                <a:cs typeface="Helvetica Neue Medium"/>
                <a:sym typeface="Helvetica Neue Medium"/>
              </a:rPr>
              <a:t>Wistron</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Rounded Corners 8">
            <a:extLst>
              <a:ext uri="{FF2B5EF4-FFF2-40B4-BE49-F238E27FC236}">
                <a16:creationId xmlns:a16="http://schemas.microsoft.com/office/drawing/2014/main" id="{75396A8E-270A-44E1-BAB3-5D524B215DD8}"/>
              </a:ext>
            </a:extLst>
          </p:cNvPr>
          <p:cNvSpPr/>
          <p:nvPr/>
        </p:nvSpPr>
        <p:spPr>
          <a:xfrm>
            <a:off x="602034" y="5644385"/>
            <a:ext cx="10719992" cy="930751"/>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6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Intel would like to understand the current tool is capable of handling socket E for manufacturing </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Are there plans to purchase new equipment or upgrade current equipment </a:t>
            </a:r>
          </a:p>
        </p:txBody>
      </p:sp>
    </p:spTree>
    <p:extLst>
      <p:ext uri="{BB962C8B-B14F-4D97-AF65-F5344CB8AC3E}">
        <p14:creationId xmlns:p14="http://schemas.microsoft.com/office/powerpoint/2010/main" val="115057401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AF66B6-4835-4254-9DF3-D325B20515AD}"/>
              </a:ext>
            </a:extLst>
          </p:cNvPr>
          <p:cNvSpPr>
            <a:spLocks noGrp="1"/>
          </p:cNvSpPr>
          <p:nvPr>
            <p:ph type="body" sz="quarter" idx="10"/>
          </p:nvPr>
        </p:nvSpPr>
        <p:spPr>
          <a:xfrm>
            <a:off x="609600" y="938697"/>
            <a:ext cx="10972800" cy="5116793"/>
          </a:xfrm>
        </p:spPr>
        <p:txBody>
          <a:bodyPr>
            <a:normAutofit/>
          </a:bodyPr>
          <a:lstStyle/>
          <a:p>
            <a:r>
              <a:rPr lang="en-US" sz="3200" dirty="0">
                <a:solidFill>
                  <a:schemeClr val="tx1"/>
                </a:solidFill>
              </a:rPr>
              <a:t>Intel would like to verify the capability of your SMT PnP and rework equipment for Socket E</a:t>
            </a:r>
            <a:endParaRPr lang="en-US" sz="3200" dirty="0">
              <a:solidFill>
                <a:srgbClr val="FF0000"/>
              </a:solidFill>
            </a:endParaRPr>
          </a:p>
          <a:p>
            <a:pPr lvl="1"/>
            <a:r>
              <a:rPr lang="en-US" sz="2800" dirty="0">
                <a:solidFill>
                  <a:schemeClr val="tx1"/>
                </a:solidFill>
              </a:rPr>
              <a:t>Intel can share collaterals to perform the assessments (sockets/PCBs)</a:t>
            </a:r>
          </a:p>
          <a:p>
            <a:pPr marL="228600" lvl="1" indent="0">
              <a:buNone/>
            </a:pPr>
            <a:endParaRPr lang="en-US" sz="2800" dirty="0">
              <a:solidFill>
                <a:schemeClr val="tx1"/>
              </a:solidFill>
            </a:endParaRPr>
          </a:p>
        </p:txBody>
      </p:sp>
      <p:sp>
        <p:nvSpPr>
          <p:cNvPr id="3" name="Title 2">
            <a:extLst>
              <a:ext uri="{FF2B5EF4-FFF2-40B4-BE49-F238E27FC236}">
                <a16:creationId xmlns:a16="http://schemas.microsoft.com/office/drawing/2014/main" id="{A208E4A6-6A26-43C1-A528-439DA0CB35A1}"/>
              </a:ext>
            </a:extLst>
          </p:cNvPr>
          <p:cNvSpPr>
            <a:spLocks noGrp="1"/>
          </p:cNvSpPr>
          <p:nvPr>
            <p:ph type="title"/>
          </p:nvPr>
        </p:nvSpPr>
        <p:spPr>
          <a:xfrm>
            <a:off x="609600" y="338194"/>
            <a:ext cx="10972800" cy="510925"/>
          </a:xfrm>
        </p:spPr>
        <p:txBody>
          <a:bodyPr/>
          <a:lstStyle/>
          <a:p>
            <a:r>
              <a:rPr lang="en-US" sz="2800" dirty="0">
                <a:solidFill>
                  <a:schemeClr val="tx1"/>
                </a:solidFill>
              </a:rPr>
              <a:t>Intel Requests/Help Needed</a:t>
            </a:r>
          </a:p>
        </p:txBody>
      </p:sp>
    </p:spTree>
    <p:extLst>
      <p:ext uri="{BB962C8B-B14F-4D97-AF65-F5344CB8AC3E}">
        <p14:creationId xmlns:p14="http://schemas.microsoft.com/office/powerpoint/2010/main" val="528623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hidden="1"/>
          <p:cNvSpPr>
            <a:spLocks noGrp="1"/>
          </p:cNvSpPr>
          <p:nvPr>
            <p:ph type="sldNum" sz="quarter" idx="4294967295"/>
          </p:nvPr>
        </p:nvSpPr>
        <p:spPr>
          <a:xfrm>
            <a:off x="11996738" y="6540500"/>
            <a:ext cx="195262" cy="180975"/>
          </a:xfrm>
        </p:spPr>
        <p:txBody>
          <a:bodyPr/>
          <a:lstStyle>
            <a:defPPr>
              <a:defRPr lang="en-US"/>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marL="33866">
              <a:lnSpc>
                <a:spcPct val="100000"/>
              </a:lnSpc>
            </a:pPr>
            <a:endParaRPr lang="en-US" sz="10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5201" y="4460863"/>
            <a:ext cx="2171700" cy="1263132"/>
          </a:xfrm>
          <a:prstGeom prst="rect">
            <a:avLst/>
          </a:prstGeom>
        </p:spPr>
      </p:pic>
    </p:spTree>
    <p:extLst>
      <p:ext uri="{BB962C8B-B14F-4D97-AF65-F5344CB8AC3E}">
        <p14:creationId xmlns:p14="http://schemas.microsoft.com/office/powerpoint/2010/main" val="419689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4019457" y="3004820"/>
            <a:ext cx="3145367" cy="848360"/>
          </a:xfrm>
          <a:custGeom>
            <a:avLst/>
            <a:gdLst/>
            <a:ahLst/>
            <a:cxnLst/>
            <a:rect l="l" t="t" r="r" b="b"/>
            <a:pathLst>
              <a:path w="2359025" h="636269">
                <a:moveTo>
                  <a:pt x="149504" y="18541"/>
                </a:moveTo>
                <a:lnTo>
                  <a:pt x="0" y="18541"/>
                </a:lnTo>
                <a:lnTo>
                  <a:pt x="0" y="491744"/>
                </a:lnTo>
                <a:lnTo>
                  <a:pt x="177547" y="491543"/>
                </a:lnTo>
                <a:lnTo>
                  <a:pt x="219098" y="487187"/>
                </a:lnTo>
                <a:lnTo>
                  <a:pt x="266447" y="471756"/>
                </a:lnTo>
                <a:lnTo>
                  <a:pt x="305680" y="443178"/>
                </a:lnTo>
                <a:lnTo>
                  <a:pt x="310004" y="437641"/>
                </a:lnTo>
                <a:lnTo>
                  <a:pt x="61721" y="437641"/>
                </a:lnTo>
                <a:lnTo>
                  <a:pt x="61721" y="278510"/>
                </a:lnTo>
                <a:lnTo>
                  <a:pt x="309375" y="278510"/>
                </a:lnTo>
                <a:lnTo>
                  <a:pt x="302120" y="270165"/>
                </a:lnTo>
                <a:lnTo>
                  <a:pt x="292679" y="261452"/>
                </a:lnTo>
                <a:lnTo>
                  <a:pt x="282184" y="253595"/>
                </a:lnTo>
                <a:lnTo>
                  <a:pt x="270683" y="246565"/>
                </a:lnTo>
                <a:lnTo>
                  <a:pt x="258223" y="240338"/>
                </a:lnTo>
                <a:lnTo>
                  <a:pt x="268905" y="232927"/>
                </a:lnTo>
                <a:lnTo>
                  <a:pt x="277191" y="225678"/>
                </a:lnTo>
                <a:lnTo>
                  <a:pt x="61721" y="225678"/>
                </a:lnTo>
                <a:lnTo>
                  <a:pt x="61721" y="72770"/>
                </a:lnTo>
                <a:lnTo>
                  <a:pt x="288179" y="72770"/>
                </a:lnTo>
                <a:lnTo>
                  <a:pt x="282895" y="65937"/>
                </a:lnTo>
                <a:lnTo>
                  <a:pt x="252719" y="40689"/>
                </a:lnTo>
                <a:lnTo>
                  <a:pt x="207215" y="24087"/>
                </a:lnTo>
                <a:lnTo>
                  <a:pt x="165076" y="18889"/>
                </a:lnTo>
                <a:lnTo>
                  <a:pt x="149504" y="18541"/>
                </a:lnTo>
                <a:close/>
              </a:path>
              <a:path w="2359025" h="636269">
                <a:moveTo>
                  <a:pt x="309375" y="278510"/>
                </a:moveTo>
                <a:lnTo>
                  <a:pt x="61721" y="278510"/>
                </a:lnTo>
                <a:lnTo>
                  <a:pt x="188544" y="278831"/>
                </a:lnTo>
                <a:lnTo>
                  <a:pt x="205683" y="280708"/>
                </a:lnTo>
                <a:lnTo>
                  <a:pt x="245000" y="296512"/>
                </a:lnTo>
                <a:lnTo>
                  <a:pt x="269191" y="341709"/>
                </a:lnTo>
                <a:lnTo>
                  <a:pt x="270198" y="357385"/>
                </a:lnTo>
                <a:lnTo>
                  <a:pt x="269234" y="371205"/>
                </a:lnTo>
                <a:lnTo>
                  <a:pt x="245278" y="415163"/>
                </a:lnTo>
                <a:lnTo>
                  <a:pt x="199558" y="434208"/>
                </a:lnTo>
                <a:lnTo>
                  <a:pt x="154990" y="437641"/>
                </a:lnTo>
                <a:lnTo>
                  <a:pt x="310004" y="437641"/>
                </a:lnTo>
                <a:lnTo>
                  <a:pt x="329345" y="398938"/>
                </a:lnTo>
                <a:lnTo>
                  <a:pt x="334670" y="357259"/>
                </a:lnTo>
                <a:lnTo>
                  <a:pt x="333930" y="341709"/>
                </a:lnTo>
                <a:lnTo>
                  <a:pt x="323640" y="301688"/>
                </a:lnTo>
                <a:lnTo>
                  <a:pt x="310459" y="279757"/>
                </a:lnTo>
                <a:lnTo>
                  <a:pt x="309375" y="278510"/>
                </a:lnTo>
                <a:close/>
              </a:path>
              <a:path w="2359025" h="636269">
                <a:moveTo>
                  <a:pt x="288179" y="72770"/>
                </a:moveTo>
                <a:lnTo>
                  <a:pt x="61721" y="72770"/>
                </a:lnTo>
                <a:lnTo>
                  <a:pt x="155337" y="72998"/>
                </a:lnTo>
                <a:lnTo>
                  <a:pt x="169695" y="74084"/>
                </a:lnTo>
                <a:lnTo>
                  <a:pt x="216733" y="89024"/>
                </a:lnTo>
                <a:lnTo>
                  <a:pt x="242373" y="126519"/>
                </a:lnTo>
                <a:lnTo>
                  <a:pt x="245214" y="158386"/>
                </a:lnTo>
                <a:lnTo>
                  <a:pt x="243327" y="171472"/>
                </a:lnTo>
                <a:lnTo>
                  <a:pt x="213276" y="213263"/>
                </a:lnTo>
                <a:lnTo>
                  <a:pt x="164037" y="225182"/>
                </a:lnTo>
                <a:lnTo>
                  <a:pt x="148132" y="225678"/>
                </a:lnTo>
                <a:lnTo>
                  <a:pt x="277191" y="225678"/>
                </a:lnTo>
                <a:lnTo>
                  <a:pt x="299878" y="194313"/>
                </a:lnTo>
                <a:lnTo>
                  <a:pt x="309350" y="157369"/>
                </a:lnTo>
                <a:lnTo>
                  <a:pt x="309981" y="143382"/>
                </a:lnTo>
                <a:lnTo>
                  <a:pt x="309835" y="136434"/>
                </a:lnTo>
                <a:lnTo>
                  <a:pt x="302501" y="98528"/>
                </a:lnTo>
                <a:lnTo>
                  <a:pt x="290897" y="76285"/>
                </a:lnTo>
                <a:lnTo>
                  <a:pt x="288179" y="72770"/>
                </a:lnTo>
                <a:close/>
              </a:path>
              <a:path w="2359025" h="636269">
                <a:moveTo>
                  <a:pt x="646858" y="191107"/>
                </a:moveTo>
                <a:lnTo>
                  <a:pt x="538166" y="191107"/>
                </a:lnTo>
                <a:lnTo>
                  <a:pt x="552151" y="192778"/>
                </a:lnTo>
                <a:lnTo>
                  <a:pt x="564679" y="195987"/>
                </a:lnTo>
                <a:lnTo>
                  <a:pt x="600781" y="227013"/>
                </a:lnTo>
                <a:lnTo>
                  <a:pt x="608304" y="266826"/>
                </a:lnTo>
                <a:lnTo>
                  <a:pt x="608304" y="287400"/>
                </a:lnTo>
                <a:lnTo>
                  <a:pt x="523959" y="287571"/>
                </a:lnTo>
                <a:lnTo>
                  <a:pt x="512360" y="288351"/>
                </a:lnTo>
                <a:lnTo>
                  <a:pt x="472742" y="295571"/>
                </a:lnTo>
                <a:lnTo>
                  <a:pt x="426247" y="318988"/>
                </a:lnTo>
                <a:lnTo>
                  <a:pt x="401812" y="349710"/>
                </a:lnTo>
                <a:lnTo>
                  <a:pt x="392395" y="400628"/>
                </a:lnTo>
                <a:lnTo>
                  <a:pt x="393585" y="413072"/>
                </a:lnTo>
                <a:lnTo>
                  <a:pt x="405689" y="449569"/>
                </a:lnTo>
                <a:lnTo>
                  <a:pt x="438428" y="482492"/>
                </a:lnTo>
                <a:lnTo>
                  <a:pt x="477741" y="497198"/>
                </a:lnTo>
                <a:lnTo>
                  <a:pt x="504375" y="499363"/>
                </a:lnTo>
                <a:lnTo>
                  <a:pt x="517095" y="498885"/>
                </a:lnTo>
                <a:lnTo>
                  <a:pt x="565725" y="486376"/>
                </a:lnTo>
                <a:lnTo>
                  <a:pt x="600091" y="463848"/>
                </a:lnTo>
                <a:lnTo>
                  <a:pt x="616468" y="448554"/>
                </a:lnTo>
                <a:lnTo>
                  <a:pt x="514118" y="448554"/>
                </a:lnTo>
                <a:lnTo>
                  <a:pt x="499270" y="447452"/>
                </a:lnTo>
                <a:lnTo>
                  <a:pt x="459645" y="424308"/>
                </a:lnTo>
                <a:lnTo>
                  <a:pt x="451721" y="383765"/>
                </a:lnTo>
                <a:lnTo>
                  <a:pt x="454398" y="372071"/>
                </a:lnTo>
                <a:lnTo>
                  <a:pt x="481760" y="341435"/>
                </a:lnTo>
                <a:lnTo>
                  <a:pt x="534238" y="331977"/>
                </a:lnTo>
                <a:lnTo>
                  <a:pt x="665877" y="331977"/>
                </a:lnTo>
                <a:lnTo>
                  <a:pt x="665853" y="262829"/>
                </a:lnTo>
                <a:lnTo>
                  <a:pt x="657370" y="213113"/>
                </a:lnTo>
                <a:lnTo>
                  <a:pt x="652533" y="201002"/>
                </a:lnTo>
                <a:lnTo>
                  <a:pt x="646858" y="191107"/>
                </a:lnTo>
                <a:close/>
              </a:path>
              <a:path w="2359025" h="636269">
                <a:moveTo>
                  <a:pt x="700201" y="448355"/>
                </a:moveTo>
                <a:lnTo>
                  <a:pt x="616676" y="448355"/>
                </a:lnTo>
                <a:lnTo>
                  <a:pt x="619607" y="460899"/>
                </a:lnTo>
                <a:lnTo>
                  <a:pt x="654942" y="492543"/>
                </a:lnTo>
                <a:lnTo>
                  <a:pt x="670026" y="493775"/>
                </a:lnTo>
                <a:lnTo>
                  <a:pt x="675513" y="493775"/>
                </a:lnTo>
                <a:lnTo>
                  <a:pt x="680999" y="493394"/>
                </a:lnTo>
                <a:lnTo>
                  <a:pt x="686485" y="492505"/>
                </a:lnTo>
                <a:lnTo>
                  <a:pt x="696544" y="490600"/>
                </a:lnTo>
                <a:lnTo>
                  <a:pt x="700201" y="489711"/>
                </a:lnTo>
                <a:lnTo>
                  <a:pt x="700201" y="448355"/>
                </a:lnTo>
                <a:close/>
              </a:path>
              <a:path w="2359025" h="636269">
                <a:moveTo>
                  <a:pt x="665877" y="331977"/>
                </a:moveTo>
                <a:lnTo>
                  <a:pt x="608304" y="331977"/>
                </a:lnTo>
                <a:lnTo>
                  <a:pt x="607897" y="359979"/>
                </a:lnTo>
                <a:lnTo>
                  <a:pt x="607795" y="361335"/>
                </a:lnTo>
                <a:lnTo>
                  <a:pt x="598230" y="400059"/>
                </a:lnTo>
                <a:lnTo>
                  <a:pt x="565077" y="435973"/>
                </a:lnTo>
                <a:lnTo>
                  <a:pt x="528345" y="447869"/>
                </a:lnTo>
                <a:lnTo>
                  <a:pt x="514118" y="448554"/>
                </a:lnTo>
                <a:lnTo>
                  <a:pt x="616468" y="448554"/>
                </a:lnTo>
                <a:lnTo>
                  <a:pt x="616676" y="448355"/>
                </a:lnTo>
                <a:lnTo>
                  <a:pt x="700201" y="448355"/>
                </a:lnTo>
                <a:lnTo>
                  <a:pt x="700201" y="447166"/>
                </a:lnTo>
                <a:lnTo>
                  <a:pt x="681685" y="447166"/>
                </a:lnTo>
                <a:lnTo>
                  <a:pt x="674484" y="445388"/>
                </a:lnTo>
                <a:lnTo>
                  <a:pt x="667624" y="438016"/>
                </a:lnTo>
                <a:lnTo>
                  <a:pt x="665911" y="431164"/>
                </a:lnTo>
                <a:lnTo>
                  <a:pt x="665877" y="331977"/>
                </a:lnTo>
                <a:close/>
              </a:path>
              <a:path w="2359025" h="636269">
                <a:moveTo>
                  <a:pt x="520682" y="140219"/>
                </a:moveTo>
                <a:lnTo>
                  <a:pt x="470918" y="148087"/>
                </a:lnTo>
                <a:lnTo>
                  <a:pt x="434099" y="161766"/>
                </a:lnTo>
                <a:lnTo>
                  <a:pt x="401878" y="181736"/>
                </a:lnTo>
                <a:lnTo>
                  <a:pt x="429392" y="220969"/>
                </a:lnTo>
                <a:lnTo>
                  <a:pt x="440226" y="214247"/>
                </a:lnTo>
                <a:lnTo>
                  <a:pt x="451399" y="208296"/>
                </a:lnTo>
                <a:lnTo>
                  <a:pt x="495908" y="193596"/>
                </a:lnTo>
                <a:lnTo>
                  <a:pt x="646858" y="191107"/>
                </a:lnTo>
                <a:lnTo>
                  <a:pt x="639634" y="181399"/>
                </a:lnTo>
                <a:lnTo>
                  <a:pt x="608175" y="155265"/>
                </a:lnTo>
                <a:lnTo>
                  <a:pt x="563194" y="142185"/>
                </a:lnTo>
                <a:lnTo>
                  <a:pt x="537117" y="140334"/>
                </a:lnTo>
                <a:lnTo>
                  <a:pt x="520682" y="140219"/>
                </a:lnTo>
                <a:close/>
              </a:path>
              <a:path w="2359025" h="636269">
                <a:moveTo>
                  <a:pt x="924871" y="140004"/>
                </a:moveTo>
                <a:lnTo>
                  <a:pt x="875504" y="146938"/>
                </a:lnTo>
                <a:lnTo>
                  <a:pt x="839028" y="161039"/>
                </a:lnTo>
                <a:lnTo>
                  <a:pt x="798381" y="192569"/>
                </a:lnTo>
                <a:lnTo>
                  <a:pt x="771191" y="235038"/>
                </a:lnTo>
                <a:lnTo>
                  <a:pt x="757340" y="283229"/>
                </a:lnTo>
                <a:lnTo>
                  <a:pt x="754380" y="322877"/>
                </a:lnTo>
                <a:lnTo>
                  <a:pt x="754708" y="335456"/>
                </a:lnTo>
                <a:lnTo>
                  <a:pt x="762725" y="385158"/>
                </a:lnTo>
                <a:lnTo>
                  <a:pt x="776843" y="420776"/>
                </a:lnTo>
                <a:lnTo>
                  <a:pt x="799845" y="452361"/>
                </a:lnTo>
                <a:lnTo>
                  <a:pt x="840435" y="481761"/>
                </a:lnTo>
                <a:lnTo>
                  <a:pt x="883634" y="496339"/>
                </a:lnTo>
                <a:lnTo>
                  <a:pt x="924511" y="500136"/>
                </a:lnTo>
                <a:lnTo>
                  <a:pt x="941469" y="500270"/>
                </a:lnTo>
                <a:lnTo>
                  <a:pt x="955473" y="499068"/>
                </a:lnTo>
                <a:lnTo>
                  <a:pt x="993777" y="490416"/>
                </a:lnTo>
                <a:lnTo>
                  <a:pt x="1036231" y="467105"/>
                </a:lnTo>
                <a:lnTo>
                  <a:pt x="1022219" y="447523"/>
                </a:lnTo>
                <a:lnTo>
                  <a:pt x="921863" y="447523"/>
                </a:lnTo>
                <a:lnTo>
                  <a:pt x="909035" y="445964"/>
                </a:lnTo>
                <a:lnTo>
                  <a:pt x="863128" y="426262"/>
                </a:lnTo>
                <a:lnTo>
                  <a:pt x="835953" y="397330"/>
                </a:lnTo>
                <a:lnTo>
                  <a:pt x="820147" y="349237"/>
                </a:lnTo>
                <a:lnTo>
                  <a:pt x="818201" y="315861"/>
                </a:lnTo>
                <a:lnTo>
                  <a:pt x="818897" y="301377"/>
                </a:lnTo>
                <a:lnTo>
                  <a:pt x="826941" y="262769"/>
                </a:lnTo>
                <a:lnTo>
                  <a:pt x="853232" y="220887"/>
                </a:lnTo>
                <a:lnTo>
                  <a:pt x="895306" y="197942"/>
                </a:lnTo>
                <a:lnTo>
                  <a:pt x="938598" y="192860"/>
                </a:lnTo>
                <a:lnTo>
                  <a:pt x="1022972" y="192860"/>
                </a:lnTo>
                <a:lnTo>
                  <a:pt x="1034481" y="172565"/>
                </a:lnTo>
                <a:lnTo>
                  <a:pt x="993111" y="150006"/>
                </a:lnTo>
                <a:lnTo>
                  <a:pt x="954666" y="141583"/>
                </a:lnTo>
                <a:lnTo>
                  <a:pt x="940213" y="140390"/>
                </a:lnTo>
                <a:lnTo>
                  <a:pt x="924871" y="140004"/>
                </a:lnTo>
                <a:close/>
              </a:path>
              <a:path w="2359025" h="636269">
                <a:moveTo>
                  <a:pt x="1007912" y="427528"/>
                </a:moveTo>
                <a:lnTo>
                  <a:pt x="972701" y="442714"/>
                </a:lnTo>
                <a:lnTo>
                  <a:pt x="921863" y="447523"/>
                </a:lnTo>
                <a:lnTo>
                  <a:pt x="1022219" y="447523"/>
                </a:lnTo>
                <a:lnTo>
                  <a:pt x="1007912" y="427528"/>
                </a:lnTo>
                <a:close/>
              </a:path>
              <a:path w="2359025" h="636269">
                <a:moveTo>
                  <a:pt x="1022972" y="192860"/>
                </a:moveTo>
                <a:lnTo>
                  <a:pt x="938598" y="192860"/>
                </a:lnTo>
                <a:lnTo>
                  <a:pt x="950005" y="193654"/>
                </a:lnTo>
                <a:lnTo>
                  <a:pt x="961722" y="195535"/>
                </a:lnTo>
                <a:lnTo>
                  <a:pt x="974439" y="198777"/>
                </a:lnTo>
                <a:lnTo>
                  <a:pt x="988845" y="203651"/>
                </a:lnTo>
                <a:lnTo>
                  <a:pt x="1000406" y="209244"/>
                </a:lnTo>
                <a:lnTo>
                  <a:pt x="1010196" y="215391"/>
                </a:lnTo>
                <a:lnTo>
                  <a:pt x="1022972" y="192860"/>
                </a:lnTo>
                <a:close/>
              </a:path>
              <a:path w="2359025" h="636269">
                <a:moveTo>
                  <a:pt x="1168184" y="0"/>
                </a:moveTo>
                <a:lnTo>
                  <a:pt x="1107224" y="0"/>
                </a:lnTo>
                <a:lnTo>
                  <a:pt x="1107224" y="491744"/>
                </a:lnTo>
                <a:lnTo>
                  <a:pt x="1168184" y="491744"/>
                </a:lnTo>
                <a:lnTo>
                  <a:pt x="1168184" y="327151"/>
                </a:lnTo>
                <a:lnTo>
                  <a:pt x="1274700" y="327151"/>
                </a:lnTo>
                <a:lnTo>
                  <a:pt x="1251877" y="299719"/>
                </a:lnTo>
                <a:lnTo>
                  <a:pt x="1271238" y="279145"/>
                </a:lnTo>
                <a:lnTo>
                  <a:pt x="1168184" y="279145"/>
                </a:lnTo>
                <a:lnTo>
                  <a:pt x="1168184" y="0"/>
                </a:lnTo>
                <a:close/>
              </a:path>
              <a:path w="2359025" h="636269">
                <a:moveTo>
                  <a:pt x="1274700" y="327151"/>
                </a:moveTo>
                <a:lnTo>
                  <a:pt x="1188758" y="327151"/>
                </a:lnTo>
                <a:lnTo>
                  <a:pt x="1196505" y="329056"/>
                </a:lnTo>
                <a:lnTo>
                  <a:pt x="1202736" y="332776"/>
                </a:lnTo>
                <a:lnTo>
                  <a:pt x="1211738" y="339983"/>
                </a:lnTo>
                <a:lnTo>
                  <a:pt x="1221016" y="350519"/>
                </a:lnTo>
                <a:lnTo>
                  <a:pt x="1333538" y="491744"/>
                </a:lnTo>
                <a:lnTo>
                  <a:pt x="1411643" y="491744"/>
                </a:lnTo>
                <a:lnTo>
                  <a:pt x="1274700" y="327151"/>
                </a:lnTo>
                <a:close/>
              </a:path>
              <a:path w="2359025" h="636269">
                <a:moveTo>
                  <a:pt x="1393863" y="148844"/>
                </a:moveTo>
                <a:lnTo>
                  <a:pt x="1321092" y="148844"/>
                </a:lnTo>
                <a:lnTo>
                  <a:pt x="1218984" y="259969"/>
                </a:lnTo>
                <a:lnTo>
                  <a:pt x="1212126" y="267334"/>
                </a:lnTo>
                <a:lnTo>
                  <a:pt x="1205903" y="272288"/>
                </a:lnTo>
                <a:lnTo>
                  <a:pt x="1200442" y="275081"/>
                </a:lnTo>
                <a:lnTo>
                  <a:pt x="1194981" y="277748"/>
                </a:lnTo>
                <a:lnTo>
                  <a:pt x="1187615" y="279145"/>
                </a:lnTo>
                <a:lnTo>
                  <a:pt x="1271238" y="279145"/>
                </a:lnTo>
                <a:lnTo>
                  <a:pt x="1393863" y="148844"/>
                </a:lnTo>
                <a:close/>
              </a:path>
              <a:path w="2359025" h="636269">
                <a:moveTo>
                  <a:pt x="1692821" y="148844"/>
                </a:moveTo>
                <a:lnTo>
                  <a:pt x="1631734" y="148844"/>
                </a:lnTo>
                <a:lnTo>
                  <a:pt x="1631744" y="366540"/>
                </a:lnTo>
                <a:lnTo>
                  <a:pt x="1635929" y="406020"/>
                </a:lnTo>
                <a:lnTo>
                  <a:pt x="1655441" y="451984"/>
                </a:lnTo>
                <a:lnTo>
                  <a:pt x="1681664" y="480557"/>
                </a:lnTo>
                <a:lnTo>
                  <a:pt x="1728793" y="498387"/>
                </a:lnTo>
                <a:lnTo>
                  <a:pt x="1758902" y="500587"/>
                </a:lnTo>
                <a:lnTo>
                  <a:pt x="1772128" y="499796"/>
                </a:lnTo>
                <a:lnTo>
                  <a:pt x="1819956" y="484863"/>
                </a:lnTo>
                <a:lnTo>
                  <a:pt x="1850601" y="459689"/>
                </a:lnTo>
                <a:lnTo>
                  <a:pt x="1859820" y="447122"/>
                </a:lnTo>
                <a:lnTo>
                  <a:pt x="1751520" y="447122"/>
                </a:lnTo>
                <a:lnTo>
                  <a:pt x="1738632" y="444343"/>
                </a:lnTo>
                <a:lnTo>
                  <a:pt x="1702329" y="412941"/>
                </a:lnTo>
                <a:lnTo>
                  <a:pt x="1693417" y="375103"/>
                </a:lnTo>
                <a:lnTo>
                  <a:pt x="1692908" y="361716"/>
                </a:lnTo>
                <a:lnTo>
                  <a:pt x="1692821" y="148844"/>
                </a:lnTo>
                <a:close/>
              </a:path>
              <a:path w="2359025" h="636269">
                <a:moveTo>
                  <a:pt x="1923199" y="439673"/>
                </a:moveTo>
                <a:lnTo>
                  <a:pt x="1864271" y="439673"/>
                </a:lnTo>
                <a:lnTo>
                  <a:pt x="1867125" y="480328"/>
                </a:lnTo>
                <a:lnTo>
                  <a:pt x="1876457" y="488885"/>
                </a:lnTo>
                <a:lnTo>
                  <a:pt x="1892338" y="491744"/>
                </a:lnTo>
                <a:lnTo>
                  <a:pt x="1923199" y="491744"/>
                </a:lnTo>
                <a:lnTo>
                  <a:pt x="1923199" y="439673"/>
                </a:lnTo>
                <a:close/>
              </a:path>
              <a:path w="2359025" h="636269">
                <a:moveTo>
                  <a:pt x="1923199" y="148844"/>
                </a:moveTo>
                <a:lnTo>
                  <a:pt x="1862112" y="148844"/>
                </a:lnTo>
                <a:lnTo>
                  <a:pt x="1862063" y="333362"/>
                </a:lnTo>
                <a:lnTo>
                  <a:pt x="1861267" y="347986"/>
                </a:lnTo>
                <a:lnTo>
                  <a:pt x="1852870" y="386554"/>
                </a:lnTo>
                <a:lnTo>
                  <a:pt x="1827266" y="425537"/>
                </a:lnTo>
                <a:lnTo>
                  <a:pt x="1783698" y="445140"/>
                </a:lnTo>
                <a:lnTo>
                  <a:pt x="1751520" y="447122"/>
                </a:lnTo>
                <a:lnTo>
                  <a:pt x="1859820" y="447122"/>
                </a:lnTo>
                <a:lnTo>
                  <a:pt x="1864271" y="439673"/>
                </a:lnTo>
                <a:lnTo>
                  <a:pt x="1923199" y="439673"/>
                </a:lnTo>
                <a:lnTo>
                  <a:pt x="1923199" y="148844"/>
                </a:lnTo>
                <a:close/>
              </a:path>
              <a:path w="2359025" h="636269">
                <a:moveTo>
                  <a:pt x="2062264" y="148844"/>
                </a:moveTo>
                <a:lnTo>
                  <a:pt x="2030768" y="148844"/>
                </a:lnTo>
                <a:lnTo>
                  <a:pt x="2030768" y="635761"/>
                </a:lnTo>
                <a:lnTo>
                  <a:pt x="2091728" y="635761"/>
                </a:lnTo>
                <a:lnTo>
                  <a:pt x="2098311" y="454800"/>
                </a:lnTo>
                <a:lnTo>
                  <a:pt x="2311611" y="454800"/>
                </a:lnTo>
                <a:lnTo>
                  <a:pt x="2317970" y="447363"/>
                </a:lnTo>
                <a:lnTo>
                  <a:pt x="2180967" y="447363"/>
                </a:lnTo>
                <a:lnTo>
                  <a:pt x="2168061" y="445340"/>
                </a:lnTo>
                <a:lnTo>
                  <a:pt x="2123666" y="421021"/>
                </a:lnTo>
                <a:lnTo>
                  <a:pt x="2098111" y="378761"/>
                </a:lnTo>
                <a:lnTo>
                  <a:pt x="2090819" y="338835"/>
                </a:lnTo>
                <a:lnTo>
                  <a:pt x="2090388" y="325499"/>
                </a:lnTo>
                <a:lnTo>
                  <a:pt x="2090392" y="318197"/>
                </a:lnTo>
                <a:lnTo>
                  <a:pt x="2095308" y="278682"/>
                </a:lnTo>
                <a:lnTo>
                  <a:pt x="2115778" y="233077"/>
                </a:lnTo>
                <a:lnTo>
                  <a:pt x="2152207" y="202566"/>
                </a:lnTo>
                <a:lnTo>
                  <a:pt x="2154722" y="201675"/>
                </a:lnTo>
                <a:lnTo>
                  <a:pt x="2090331" y="201675"/>
                </a:lnTo>
                <a:lnTo>
                  <a:pt x="2087449" y="160247"/>
                </a:lnTo>
                <a:lnTo>
                  <a:pt x="2078116" y="151694"/>
                </a:lnTo>
                <a:lnTo>
                  <a:pt x="2062264" y="148844"/>
                </a:lnTo>
                <a:close/>
              </a:path>
              <a:path w="2359025" h="636269">
                <a:moveTo>
                  <a:pt x="2311611" y="454800"/>
                </a:moveTo>
                <a:lnTo>
                  <a:pt x="2098311" y="454800"/>
                </a:lnTo>
                <a:lnTo>
                  <a:pt x="2106294" y="464051"/>
                </a:lnTo>
                <a:lnTo>
                  <a:pt x="2138455" y="487331"/>
                </a:lnTo>
                <a:lnTo>
                  <a:pt x="2187025" y="500108"/>
                </a:lnTo>
                <a:lnTo>
                  <a:pt x="2200821" y="500633"/>
                </a:lnTo>
                <a:lnTo>
                  <a:pt x="2210091" y="500424"/>
                </a:lnTo>
                <a:lnTo>
                  <a:pt x="2259678" y="490368"/>
                </a:lnTo>
                <a:lnTo>
                  <a:pt x="2302123" y="464242"/>
                </a:lnTo>
                <a:lnTo>
                  <a:pt x="2311611" y="454800"/>
                </a:lnTo>
                <a:close/>
              </a:path>
              <a:path w="2359025" h="636269">
                <a:moveTo>
                  <a:pt x="2323574" y="193180"/>
                </a:moveTo>
                <a:lnTo>
                  <a:pt x="2208894" y="193180"/>
                </a:lnTo>
                <a:lnTo>
                  <a:pt x="2221740" y="195034"/>
                </a:lnTo>
                <a:lnTo>
                  <a:pt x="2233741" y="198524"/>
                </a:lnTo>
                <a:lnTo>
                  <a:pt x="2265600" y="220124"/>
                </a:lnTo>
                <a:lnTo>
                  <a:pt x="2288380" y="262860"/>
                </a:lnTo>
                <a:lnTo>
                  <a:pt x="2294385" y="304407"/>
                </a:lnTo>
                <a:lnTo>
                  <a:pt x="2294651" y="323722"/>
                </a:lnTo>
                <a:lnTo>
                  <a:pt x="2294187" y="335170"/>
                </a:lnTo>
                <a:lnTo>
                  <a:pt x="2287421" y="374288"/>
                </a:lnTo>
                <a:lnTo>
                  <a:pt x="2265566" y="417483"/>
                </a:lnTo>
                <a:lnTo>
                  <a:pt x="2226759" y="442217"/>
                </a:lnTo>
                <a:lnTo>
                  <a:pt x="2180967" y="447363"/>
                </a:lnTo>
                <a:lnTo>
                  <a:pt x="2317970" y="447363"/>
                </a:lnTo>
                <a:lnTo>
                  <a:pt x="2339262" y="412455"/>
                </a:lnTo>
                <a:lnTo>
                  <a:pt x="2351622" y="375751"/>
                </a:lnTo>
                <a:lnTo>
                  <a:pt x="2358274" y="325499"/>
                </a:lnTo>
                <a:lnTo>
                  <a:pt x="2358549" y="311575"/>
                </a:lnTo>
                <a:lnTo>
                  <a:pt x="2358196" y="299075"/>
                </a:lnTo>
                <a:lnTo>
                  <a:pt x="2350399" y="249429"/>
                </a:lnTo>
                <a:lnTo>
                  <a:pt x="2330763" y="203666"/>
                </a:lnTo>
                <a:lnTo>
                  <a:pt x="2323574" y="193180"/>
                </a:lnTo>
                <a:close/>
              </a:path>
              <a:path w="2359025" h="636269">
                <a:moveTo>
                  <a:pt x="2209789" y="139962"/>
                </a:moveTo>
                <a:lnTo>
                  <a:pt x="2170794" y="144435"/>
                </a:lnTo>
                <a:lnTo>
                  <a:pt x="2123890" y="164568"/>
                </a:lnTo>
                <a:lnTo>
                  <a:pt x="2090331" y="201675"/>
                </a:lnTo>
                <a:lnTo>
                  <a:pt x="2154722" y="201675"/>
                </a:lnTo>
                <a:lnTo>
                  <a:pt x="2164107" y="198354"/>
                </a:lnTo>
                <a:lnTo>
                  <a:pt x="2177431" y="195381"/>
                </a:lnTo>
                <a:lnTo>
                  <a:pt x="2192315" y="193654"/>
                </a:lnTo>
                <a:lnTo>
                  <a:pt x="2208894" y="193180"/>
                </a:lnTo>
                <a:lnTo>
                  <a:pt x="2323574" y="193180"/>
                </a:lnTo>
                <a:lnTo>
                  <a:pt x="2323190" y="192619"/>
                </a:lnTo>
                <a:lnTo>
                  <a:pt x="2295199" y="164655"/>
                </a:lnTo>
                <a:lnTo>
                  <a:pt x="2249818" y="144139"/>
                </a:lnTo>
                <a:lnTo>
                  <a:pt x="2224067" y="140421"/>
                </a:lnTo>
                <a:lnTo>
                  <a:pt x="2209789" y="139962"/>
                </a:lnTo>
                <a:close/>
              </a:path>
            </a:pathLst>
          </a:custGeom>
          <a:solidFill>
            <a:srgbClr val="FFFFFF"/>
          </a:solidFill>
        </p:spPr>
        <p:txBody>
          <a:bodyPr wrap="square" lIns="0" tIns="0" rIns="0" bIns="0" rtlCol="0"/>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sz="3200"/>
          </a:p>
        </p:txBody>
      </p:sp>
    </p:spTree>
    <p:extLst>
      <p:ext uri="{BB962C8B-B14F-4D97-AF65-F5344CB8AC3E}">
        <p14:creationId xmlns:p14="http://schemas.microsoft.com/office/powerpoint/2010/main" val="160570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B6D5916E-7967-4050-B461-95A7F9E7580B}"/>
              </a:ext>
            </a:extLst>
          </p:cNvPr>
          <p:cNvPicPr>
            <a:picLocks noChangeAspect="1"/>
          </p:cNvPicPr>
          <p:nvPr/>
        </p:nvPicPr>
        <p:blipFill>
          <a:blip r:embed="rId2"/>
          <a:stretch>
            <a:fillRect/>
          </a:stretch>
        </p:blipFill>
        <p:spPr>
          <a:xfrm>
            <a:off x="1176153" y="604990"/>
            <a:ext cx="5245145" cy="5805585"/>
          </a:xfrm>
          <a:prstGeom prst="rect">
            <a:avLst/>
          </a:prstGeom>
        </p:spPr>
      </p:pic>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609600" y="240139"/>
            <a:ext cx="10972800" cy="574663"/>
          </a:xfrm>
        </p:spPr>
        <p:txBody>
          <a:bodyPr wrap="square" anchor="ctr">
            <a:normAutofit/>
          </a:bodyPr>
          <a:lstStyle/>
          <a:p>
            <a:r>
              <a:rPr lang="en-US" sz="2800" b="0" dirty="0"/>
              <a:t>Socket E Top-Down and Iso View</a:t>
            </a:r>
          </a:p>
        </p:txBody>
      </p:sp>
      <p:pic>
        <p:nvPicPr>
          <p:cNvPr id="12" name="Picture 11" descr="A close up of a sign&#10;&#10;Description automatically generated">
            <a:hlinkClick r:id="rId3" action="ppaction://hlinksldjump"/>
            <a:extLst>
              <a:ext uri="{FF2B5EF4-FFF2-40B4-BE49-F238E27FC236}">
                <a16:creationId xmlns:a16="http://schemas.microsoft.com/office/drawing/2014/main" id="{8669E1C4-1582-4249-9F52-EF4E21D3E366}"/>
              </a:ext>
            </a:extLst>
          </p:cNvPr>
          <p:cNvPicPr>
            <a:picLocks noChangeAspect="1"/>
          </p:cNvPicPr>
          <p:nvPr/>
        </p:nvPicPr>
        <p:blipFill>
          <a:blip r:embed="rId4"/>
          <a:stretch>
            <a:fillRect/>
          </a:stretch>
        </p:blipFill>
        <p:spPr>
          <a:xfrm>
            <a:off x="11505385" y="5593421"/>
            <a:ext cx="641065" cy="641065"/>
          </a:xfrm>
          <a:prstGeom prst="rect">
            <a:avLst/>
          </a:prstGeom>
        </p:spPr>
      </p:pic>
      <p:grpSp>
        <p:nvGrpSpPr>
          <p:cNvPr id="19" name="Group 18">
            <a:extLst>
              <a:ext uri="{FF2B5EF4-FFF2-40B4-BE49-F238E27FC236}">
                <a16:creationId xmlns:a16="http://schemas.microsoft.com/office/drawing/2014/main" id="{4D617472-316E-465B-9270-F880524F45A7}"/>
              </a:ext>
            </a:extLst>
          </p:cNvPr>
          <p:cNvGrpSpPr/>
          <p:nvPr/>
        </p:nvGrpSpPr>
        <p:grpSpPr>
          <a:xfrm>
            <a:off x="6837407" y="318003"/>
            <a:ext cx="4016370" cy="5710136"/>
            <a:chOff x="4633242" y="1262844"/>
            <a:chExt cx="3126573" cy="4454174"/>
          </a:xfrm>
        </p:grpSpPr>
        <p:sp>
          <p:nvSpPr>
            <p:cNvPr id="20" name="Rectangle 19">
              <a:extLst>
                <a:ext uri="{FF2B5EF4-FFF2-40B4-BE49-F238E27FC236}">
                  <a16:creationId xmlns:a16="http://schemas.microsoft.com/office/drawing/2014/main" id="{316C70C1-324D-4F6A-9139-8C0F885027D4}"/>
                </a:ext>
              </a:extLst>
            </p:cNvPr>
            <p:cNvSpPr/>
            <p:nvPr/>
          </p:nvSpPr>
          <p:spPr>
            <a:xfrm>
              <a:off x="5043190" y="1262844"/>
              <a:ext cx="293827" cy="6421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10DD762D-7A82-4D51-B9CA-18D210279606}"/>
                </a:ext>
              </a:extLst>
            </p:cNvPr>
            <p:cNvPicPr>
              <a:picLocks noChangeAspect="1"/>
            </p:cNvPicPr>
            <p:nvPr/>
          </p:nvPicPr>
          <p:blipFill>
            <a:blip r:embed="rId5">
              <a:clrChange>
                <a:clrFrom>
                  <a:srgbClr val="E8EAED"/>
                </a:clrFrom>
                <a:clrTo>
                  <a:srgbClr val="E8EAED">
                    <a:alpha val="0"/>
                  </a:srgbClr>
                </a:clrTo>
              </a:clrChange>
            </a:blip>
            <a:stretch>
              <a:fillRect/>
            </a:stretch>
          </p:blipFill>
          <p:spPr>
            <a:xfrm>
              <a:off x="4633242" y="1343964"/>
              <a:ext cx="2871427" cy="4092974"/>
            </a:xfrm>
            <a:prstGeom prst="rect">
              <a:avLst/>
            </a:prstGeom>
          </p:spPr>
        </p:pic>
        <p:cxnSp>
          <p:nvCxnSpPr>
            <p:cNvPr id="22" name="Straight Arrow Connector 21">
              <a:extLst>
                <a:ext uri="{FF2B5EF4-FFF2-40B4-BE49-F238E27FC236}">
                  <a16:creationId xmlns:a16="http://schemas.microsoft.com/office/drawing/2014/main" id="{E99605EE-423A-4684-A9BD-F4D5601BA415}"/>
                </a:ext>
              </a:extLst>
            </p:cNvPr>
            <p:cNvCxnSpPr/>
            <p:nvPr/>
          </p:nvCxnSpPr>
          <p:spPr>
            <a:xfrm>
              <a:off x="7413790" y="2089868"/>
              <a:ext cx="0" cy="262255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583F624-6842-4E54-9971-EA535F34DA8C}"/>
                </a:ext>
              </a:extLst>
            </p:cNvPr>
            <p:cNvCxnSpPr>
              <a:cxnSpLocks/>
            </p:cNvCxnSpPr>
            <p:nvPr/>
          </p:nvCxnSpPr>
          <p:spPr>
            <a:xfrm>
              <a:off x="5023181" y="5355674"/>
              <a:ext cx="197485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D18A15A-42F4-4563-89AE-A122B2297AD7}"/>
                </a:ext>
              </a:extLst>
            </p:cNvPr>
            <p:cNvCxnSpPr>
              <a:cxnSpLocks/>
            </p:cNvCxnSpPr>
            <p:nvPr/>
          </p:nvCxnSpPr>
          <p:spPr>
            <a:xfrm>
              <a:off x="6957860" y="208986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6E88AF4-AFCD-4EE5-A00B-313BA1A472D7}"/>
                </a:ext>
              </a:extLst>
            </p:cNvPr>
            <p:cNvCxnSpPr>
              <a:cxnSpLocks/>
            </p:cNvCxnSpPr>
            <p:nvPr/>
          </p:nvCxnSpPr>
          <p:spPr>
            <a:xfrm>
              <a:off x="6957860" y="472003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BFCBC47-9C2A-4CE8-9B3C-AE11E0C1879A}"/>
                </a:ext>
              </a:extLst>
            </p:cNvPr>
            <p:cNvCxnSpPr>
              <a:cxnSpLocks/>
            </p:cNvCxnSpPr>
            <p:nvPr/>
          </p:nvCxnSpPr>
          <p:spPr>
            <a:xfrm>
              <a:off x="5015561" y="469717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715E0F3-8287-446F-87C5-2EF08B342E3C}"/>
                </a:ext>
              </a:extLst>
            </p:cNvPr>
            <p:cNvCxnSpPr>
              <a:cxnSpLocks/>
            </p:cNvCxnSpPr>
            <p:nvPr/>
          </p:nvCxnSpPr>
          <p:spPr>
            <a:xfrm>
              <a:off x="7013271" y="468193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9ACB0DF-8296-4851-93E2-872FFFF263A6}"/>
                </a:ext>
              </a:extLst>
            </p:cNvPr>
            <p:cNvCxnSpPr>
              <a:cxnSpLocks/>
            </p:cNvCxnSpPr>
            <p:nvPr/>
          </p:nvCxnSpPr>
          <p:spPr>
            <a:xfrm>
              <a:off x="7285520" y="1467990"/>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97FEE55-CD81-4085-9D4E-8EDF376944C2}"/>
                </a:ext>
              </a:extLst>
            </p:cNvPr>
            <p:cNvCxnSpPr>
              <a:cxnSpLocks/>
            </p:cNvCxnSpPr>
            <p:nvPr/>
          </p:nvCxnSpPr>
          <p:spPr>
            <a:xfrm>
              <a:off x="7285520" y="5358096"/>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89BDC8D-5D30-4B0F-B02B-48C2EDFF829C}"/>
                </a:ext>
              </a:extLst>
            </p:cNvPr>
            <p:cNvCxnSpPr>
              <a:cxnSpLocks/>
            </p:cNvCxnSpPr>
            <p:nvPr/>
          </p:nvCxnSpPr>
          <p:spPr>
            <a:xfrm>
              <a:off x="7665413" y="1467990"/>
              <a:ext cx="0" cy="3887684"/>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2873AB3-837D-4E17-A1CC-1634B918EEEE}"/>
                </a:ext>
              </a:extLst>
            </p:cNvPr>
            <p:cNvCxnSpPr>
              <a:cxnSpLocks/>
            </p:cNvCxnSpPr>
            <p:nvPr/>
          </p:nvCxnSpPr>
          <p:spPr>
            <a:xfrm>
              <a:off x="4732820" y="524310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9A7669C-EE95-4E10-9188-F2787AF960C8}"/>
                </a:ext>
              </a:extLst>
            </p:cNvPr>
            <p:cNvCxnSpPr>
              <a:cxnSpLocks/>
            </p:cNvCxnSpPr>
            <p:nvPr/>
          </p:nvCxnSpPr>
          <p:spPr>
            <a:xfrm>
              <a:off x="7293140" y="5228502"/>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F7A1D5C-7AE0-4914-B371-C47253A6FC01}"/>
                </a:ext>
              </a:extLst>
            </p:cNvPr>
            <p:cNvCxnSpPr>
              <a:cxnSpLocks/>
            </p:cNvCxnSpPr>
            <p:nvPr/>
          </p:nvCxnSpPr>
          <p:spPr>
            <a:xfrm>
              <a:off x="4726001" y="5636172"/>
              <a:ext cx="256032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57D61B0B-5CCE-4204-9ABE-6BB71997612C}"/>
                </a:ext>
              </a:extLst>
            </p:cNvPr>
            <p:cNvSpPr/>
            <p:nvPr/>
          </p:nvSpPr>
          <p:spPr>
            <a:xfrm>
              <a:off x="5738660" y="5282247"/>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62 mm</a:t>
              </a:r>
              <a:endParaRPr lang="en-US" sz="1000" b="1" dirty="0">
                <a:solidFill>
                  <a:schemeClr val="accent6">
                    <a:lumMod val="60000"/>
                    <a:lumOff val="40000"/>
                  </a:schemeClr>
                </a:solidFill>
              </a:endParaRPr>
            </a:p>
          </p:txBody>
        </p:sp>
        <p:sp>
          <p:nvSpPr>
            <p:cNvPr id="35" name="Rectangle 34">
              <a:extLst>
                <a:ext uri="{FF2B5EF4-FFF2-40B4-BE49-F238E27FC236}">
                  <a16:creationId xmlns:a16="http://schemas.microsoft.com/office/drawing/2014/main" id="{7597EA8F-3A36-4E36-B505-333137410D6F}"/>
                </a:ext>
              </a:extLst>
            </p:cNvPr>
            <p:cNvSpPr/>
            <p:nvPr/>
          </p:nvSpPr>
          <p:spPr>
            <a:xfrm>
              <a:off x="5730760" y="5555326"/>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80 mm</a:t>
              </a:r>
              <a:endParaRPr lang="en-US" sz="1000" b="1" dirty="0">
                <a:solidFill>
                  <a:schemeClr val="accent6">
                    <a:lumMod val="60000"/>
                    <a:lumOff val="40000"/>
                  </a:schemeClr>
                </a:solidFill>
              </a:endParaRPr>
            </a:p>
          </p:txBody>
        </p:sp>
        <p:sp>
          <p:nvSpPr>
            <p:cNvPr id="36" name="Rectangle 35">
              <a:extLst>
                <a:ext uri="{FF2B5EF4-FFF2-40B4-BE49-F238E27FC236}">
                  <a16:creationId xmlns:a16="http://schemas.microsoft.com/office/drawing/2014/main" id="{B0A3AC55-2DB3-4168-9D6F-A45811B91628}"/>
                </a:ext>
              </a:extLst>
            </p:cNvPr>
            <p:cNvSpPr/>
            <p:nvPr/>
          </p:nvSpPr>
          <p:spPr>
            <a:xfrm rot="16200000">
              <a:off x="7141567" y="3267180"/>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82 mm</a:t>
              </a:r>
              <a:endParaRPr lang="en-US" sz="1000" b="1" dirty="0">
                <a:solidFill>
                  <a:schemeClr val="accent6">
                    <a:lumMod val="60000"/>
                    <a:lumOff val="40000"/>
                  </a:schemeClr>
                </a:solidFill>
              </a:endParaRPr>
            </a:p>
          </p:txBody>
        </p:sp>
        <p:sp>
          <p:nvSpPr>
            <p:cNvPr id="37" name="Rectangle 36">
              <a:extLst>
                <a:ext uri="{FF2B5EF4-FFF2-40B4-BE49-F238E27FC236}">
                  <a16:creationId xmlns:a16="http://schemas.microsoft.com/office/drawing/2014/main" id="{3483AD66-A3EE-4332-8716-6451C5125796}"/>
                </a:ext>
              </a:extLst>
            </p:cNvPr>
            <p:cNvSpPr/>
            <p:nvPr/>
          </p:nvSpPr>
          <p:spPr>
            <a:xfrm rot="16200000">
              <a:off x="7281906" y="3352638"/>
              <a:ext cx="752889" cy="2029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120 mm</a:t>
              </a:r>
              <a:endParaRPr lang="en-US" sz="1000" b="1" dirty="0">
                <a:solidFill>
                  <a:schemeClr val="accent6">
                    <a:lumMod val="60000"/>
                    <a:lumOff val="40000"/>
                  </a:schemeClr>
                </a:solidFill>
              </a:endParaRPr>
            </a:p>
          </p:txBody>
        </p:sp>
      </p:grpSp>
    </p:spTree>
    <p:extLst>
      <p:ext uri="{BB962C8B-B14F-4D97-AF65-F5344CB8AC3E}">
        <p14:creationId xmlns:p14="http://schemas.microsoft.com/office/powerpoint/2010/main" val="3318785622"/>
      </p:ext>
    </p:extLst>
  </p:cSld>
  <p:clrMapOvr>
    <a:masterClrMapping/>
  </p:clrMapOvr>
  <p:transition>
    <p:fade/>
  </p:transition>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6CFF97F-AC6A-4823-9C68-F1E9573E2DEB}"/>
</file>

<file path=customXml/itemProps2.xml><?xml version="1.0" encoding="utf-8"?>
<ds:datastoreItem xmlns:ds="http://schemas.openxmlformats.org/officeDocument/2006/customXml" ds:itemID="{724B8A99-8161-4D52-8DFD-478F5C1B3170}">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201C66F3-FBD8-4B0F-98D9-445FE3649D0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36706</TotalTime>
  <Words>817</Words>
  <Application>Microsoft Office PowerPoint</Application>
  <PresentationFormat>Widescreen</PresentationFormat>
  <Paragraphs>109</Paragraphs>
  <Slides>9</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Helvetica</vt:lpstr>
      <vt:lpstr>Helvetica Neue</vt:lpstr>
      <vt:lpstr>Helvetica Neue Medium</vt:lpstr>
      <vt:lpstr>Intel Clear</vt:lpstr>
      <vt:lpstr>Intel Clear Light</vt:lpstr>
      <vt:lpstr>Wingdings</vt:lpstr>
      <vt:lpstr>21_BasicWhite</vt:lpstr>
      <vt:lpstr>Large Form Factor (LFF) ODM SMT Equipment Enabling  Intel – Wistron Collaboration </vt:lpstr>
      <vt:lpstr>Legal Disclaimer, Terms, &amp; Conditions: </vt:lpstr>
      <vt:lpstr>Discussion Agenda: SMT LFF Equipment Enablement</vt:lpstr>
      <vt:lpstr>Factory Readiness for Upcoming Intel Server Sockets</vt:lpstr>
      <vt:lpstr>PowerPoint Presentation</vt:lpstr>
      <vt:lpstr>Intel Requests/Help Needed</vt:lpstr>
      <vt:lpstr>PowerPoint Presentation</vt:lpstr>
      <vt:lpstr>PowerPoint Presentation</vt:lpstr>
      <vt:lpstr>Socket E Top-Down and Iso 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Dewitt, Jesse</cp:lastModifiedBy>
  <cp:revision>245</cp:revision>
  <dcterms:modified xsi:type="dcterms:W3CDTF">2020-11-30T17:31:15Z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ies>
</file>