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71164" autoAdjust="0"/>
  </p:normalViewPr>
  <p:slideViewPr>
    <p:cSldViewPr snapToGrid="0" snapToObjects="1">
      <p:cViewPr varScale="1">
        <p:scale>
          <a:sx n="90" d="100"/>
          <a:sy n="90" d="100"/>
        </p:scale>
        <p:origin x="1932" y="7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r>
              <a:rPr lang="en-US" dirty="0"/>
              <a:t>Do you have plans for reaching out to ODMs to verify their equipment capabilities?</a:t>
            </a:r>
          </a:p>
          <a:p>
            <a:pPr lvl="1"/>
            <a:r>
              <a:rPr lang="en-US" sz="2200" b="1" dirty="0">
                <a:solidFill>
                  <a:schemeClr val="bg2"/>
                </a:solidFill>
              </a:rPr>
              <a:t>Who are the main ODMs you work with for SMT/PCBA and what is the percentage of your volume they support?</a:t>
            </a:r>
          </a:p>
          <a:p>
            <a:r>
              <a:rPr lang="en-US" dirty="0"/>
              <a:t>Intel is planning to reach out to ODMs to verify they are capable of handling socket E and Socket BR</a:t>
            </a:r>
          </a:p>
          <a:p>
            <a:pPr lvl="1"/>
            <a:r>
              <a:rPr lang="en-US" sz="2400" dirty="0">
                <a:solidFill>
                  <a:schemeClr val="bg2"/>
                </a:solidFill>
              </a:rPr>
              <a:t>Are there any ODMs that you would like Intel to work with for equipment enabling?</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Compal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NNNNNNNN</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4049318421"/>
              </p:ext>
            </p:extLst>
          </p:nvPr>
        </p:nvGraphicFramePr>
        <p:xfrm>
          <a:off x="630724" y="884193"/>
          <a:ext cx="10595573" cy="4149150"/>
        </p:xfrm>
        <a:graphic>
          <a:graphicData uri="http://schemas.openxmlformats.org/drawingml/2006/table">
            <a:tbl>
              <a:tblPr firstRow="1" bandRow="1">
                <a:tableStyleId>{5C22544A-7EE6-4342-B048-85BDC9FD1C3A}</a:tableStyleId>
              </a:tblPr>
              <a:tblGrid>
                <a:gridCol w="3777844">
                  <a:extLst>
                    <a:ext uri="{9D8B030D-6E8A-4147-A177-3AD203B41FA5}">
                      <a16:colId xmlns:a16="http://schemas.microsoft.com/office/drawing/2014/main" val="3230779745"/>
                    </a:ext>
                  </a:extLst>
                </a:gridCol>
                <a:gridCol w="3719623">
                  <a:extLst>
                    <a:ext uri="{9D8B030D-6E8A-4147-A177-3AD203B41FA5}">
                      <a16:colId xmlns:a16="http://schemas.microsoft.com/office/drawing/2014/main" val="695314244"/>
                    </a:ext>
                  </a:extLst>
                </a:gridCol>
                <a:gridCol w="3098106">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3928302073"/>
              </p:ext>
            </p:extLst>
          </p:nvPr>
        </p:nvGraphicFramePr>
        <p:xfrm>
          <a:off x="174519" y="829169"/>
          <a:ext cx="11285960" cy="1728558"/>
        </p:xfrm>
        <a:graphic>
          <a:graphicData uri="http://schemas.openxmlformats.org/drawingml/2006/table">
            <a:tbl>
              <a:tblPr firstRow="1" firstCol="1" bandRow="1">
                <a:tableStyleId>{5C22544A-7EE6-4342-B048-85BDC9FD1C3A}</a:tableStyleId>
              </a:tblPr>
              <a:tblGrid>
                <a:gridCol w="1254526">
                  <a:extLst>
                    <a:ext uri="{9D8B030D-6E8A-4147-A177-3AD203B41FA5}">
                      <a16:colId xmlns:a16="http://schemas.microsoft.com/office/drawing/2014/main" val="20000"/>
                    </a:ext>
                  </a:extLst>
                </a:gridCol>
                <a:gridCol w="940158">
                  <a:extLst>
                    <a:ext uri="{9D8B030D-6E8A-4147-A177-3AD203B41FA5}">
                      <a16:colId xmlns:a16="http://schemas.microsoft.com/office/drawing/2014/main" val="20001"/>
                    </a:ext>
                  </a:extLst>
                </a:gridCol>
                <a:gridCol w="1126732">
                  <a:extLst>
                    <a:ext uri="{9D8B030D-6E8A-4147-A177-3AD203B41FA5}">
                      <a16:colId xmlns:a16="http://schemas.microsoft.com/office/drawing/2014/main" val="20002"/>
                    </a:ext>
                  </a:extLst>
                </a:gridCol>
                <a:gridCol w="1330065">
                  <a:extLst>
                    <a:ext uri="{9D8B030D-6E8A-4147-A177-3AD203B41FA5}">
                      <a16:colId xmlns:a16="http://schemas.microsoft.com/office/drawing/2014/main" val="20003"/>
                    </a:ext>
                  </a:extLst>
                </a:gridCol>
                <a:gridCol w="1497737">
                  <a:extLst>
                    <a:ext uri="{9D8B030D-6E8A-4147-A177-3AD203B41FA5}">
                      <a16:colId xmlns:a16="http://schemas.microsoft.com/office/drawing/2014/main" val="20007"/>
                    </a:ext>
                  </a:extLst>
                </a:gridCol>
                <a:gridCol w="1584104">
                  <a:extLst>
                    <a:ext uri="{9D8B030D-6E8A-4147-A177-3AD203B41FA5}">
                      <a16:colId xmlns:a16="http://schemas.microsoft.com/office/drawing/2014/main" val="210591066"/>
                    </a:ext>
                  </a:extLst>
                </a:gridCol>
                <a:gridCol w="1606902">
                  <a:extLst>
                    <a:ext uri="{9D8B030D-6E8A-4147-A177-3AD203B41FA5}">
                      <a16:colId xmlns:a16="http://schemas.microsoft.com/office/drawing/2014/main" val="732629900"/>
                    </a:ext>
                  </a:extLst>
                </a:gridCol>
                <a:gridCol w="1945736">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algn="ctr" fontAlgn="b"/>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380831751"/>
              </p:ext>
            </p:extLst>
          </p:nvPr>
        </p:nvGraphicFramePr>
        <p:xfrm>
          <a:off x="143735" y="3037855"/>
          <a:ext cx="11285958" cy="2002874"/>
        </p:xfrm>
        <a:graphic>
          <a:graphicData uri="http://schemas.openxmlformats.org/drawingml/2006/table">
            <a:tbl>
              <a:tblPr firstRow="1" firstCol="1" bandRow="1">
                <a:tableStyleId>{5C22544A-7EE6-4342-B048-85BDC9FD1C3A}</a:tableStyleId>
              </a:tblPr>
              <a:tblGrid>
                <a:gridCol w="1267813">
                  <a:extLst>
                    <a:ext uri="{9D8B030D-6E8A-4147-A177-3AD203B41FA5}">
                      <a16:colId xmlns:a16="http://schemas.microsoft.com/office/drawing/2014/main" val="20000"/>
                    </a:ext>
                  </a:extLst>
                </a:gridCol>
                <a:gridCol w="1534300">
                  <a:extLst>
                    <a:ext uri="{9D8B030D-6E8A-4147-A177-3AD203B41FA5}">
                      <a16:colId xmlns:a16="http://schemas.microsoft.com/office/drawing/2014/main" val="20001"/>
                    </a:ext>
                  </a:extLst>
                </a:gridCol>
                <a:gridCol w="1162028">
                  <a:extLst>
                    <a:ext uri="{9D8B030D-6E8A-4147-A177-3AD203B41FA5}">
                      <a16:colId xmlns:a16="http://schemas.microsoft.com/office/drawing/2014/main" val="20002"/>
                    </a:ext>
                  </a:extLst>
                </a:gridCol>
                <a:gridCol w="1734124">
                  <a:extLst>
                    <a:ext uri="{9D8B030D-6E8A-4147-A177-3AD203B41FA5}">
                      <a16:colId xmlns:a16="http://schemas.microsoft.com/office/drawing/2014/main" val="20003"/>
                    </a:ext>
                  </a:extLst>
                </a:gridCol>
                <a:gridCol w="1828800">
                  <a:extLst>
                    <a:ext uri="{9D8B030D-6E8A-4147-A177-3AD203B41FA5}">
                      <a16:colId xmlns:a16="http://schemas.microsoft.com/office/drawing/2014/main" val="20007"/>
                    </a:ext>
                  </a:extLst>
                </a:gridCol>
                <a:gridCol w="1562771">
                  <a:extLst>
                    <a:ext uri="{9D8B030D-6E8A-4147-A177-3AD203B41FA5}">
                      <a16:colId xmlns:a16="http://schemas.microsoft.com/office/drawing/2014/main" val="2338990182"/>
                    </a:ext>
                  </a:extLst>
                </a:gridCol>
                <a:gridCol w="2196122">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H3C</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H3C</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29147"/>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a:t>
            </a:r>
            <a:r>
              <a:rPr lang="en-US" sz="3200">
                <a:solidFill>
                  <a:schemeClr val="tx1"/>
                </a:solidFill>
              </a:rPr>
              <a:t>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3.xml><?xml version="1.0" encoding="utf-8"?>
<ds:datastoreItem xmlns:ds="http://schemas.openxmlformats.org/officeDocument/2006/customXml" ds:itemID="{E9B0944F-8C7C-4E64-B27B-607C0ED9FD5C}"/>
</file>

<file path=docProps/app.xml><?xml version="1.0" encoding="utf-8"?>
<Properties xmlns="http://schemas.openxmlformats.org/officeDocument/2006/extended-properties" xmlns:vt="http://schemas.openxmlformats.org/officeDocument/2006/docPropsVTypes">
  <Template/>
  <TotalTime>36724</TotalTime>
  <Words>829</Words>
  <Application>Microsoft Office PowerPoint</Application>
  <PresentationFormat>Widescreen</PresentationFormat>
  <Paragraphs>97</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Compal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247</cp:revision>
  <dcterms:modified xsi:type="dcterms:W3CDTF">2020-12-02T01:22:14Z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