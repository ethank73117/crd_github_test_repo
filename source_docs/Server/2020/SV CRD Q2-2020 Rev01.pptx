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7" r:id="rId5"/>
    <p:sldId id="259" r:id="rId6"/>
    <p:sldId id="578" r:id="rId7"/>
    <p:sldId id="260" r:id="rId8"/>
    <p:sldId id="266" r:id="rId9"/>
    <p:sldId id="256" r:id="rId10"/>
    <p:sldId id="265" r:id="rId11"/>
    <p:sldId id="267" r:id="rId12"/>
    <p:sldId id="268" r:id="rId13"/>
    <p:sldId id="269" r:id="rId14"/>
    <p:sldId id="271" r:id="rId15"/>
    <p:sldId id="272" r:id="rId16"/>
    <p:sldId id="263" r:id="rId17"/>
    <p:sldId id="264" r:id="rId18"/>
    <p:sldId id="274" r:id="rId19"/>
    <p:sldId id="275" r:id="rId20"/>
    <p:sldId id="276" r:id="rId21"/>
    <p:sldId id="270" r:id="rId22"/>
    <p:sldId id="579" r:id="rId23"/>
    <p:sldId id="580" r:id="rId24"/>
    <p:sldId id="278" r:id="rId25"/>
  </p:sldIdLst>
  <p:sldSz cx="9144000" cy="5143500" type="screen16x9"/>
  <p:notesSz cx="7010400" cy="9296400"/>
  <p:embeddedFontLst>
    <p:embeddedFont>
      <p:font typeface="Intel Clear" panose="020B0604020202020204" charset="0"/>
      <p:regular r:id="rId28"/>
      <p:bold r:id="rId29"/>
      <p:italic r:id="rId30"/>
      <p:boldItalic r:id="rId31"/>
    </p:embeddedFont>
    <p:embeddedFont>
      <p:font typeface="Intel Clear Light" panose="020B0604020202020204" charset="0"/>
      <p:regular r:id="rId32"/>
      <p:italic r:id="rId33"/>
    </p:embeddedFont>
    <p:embeddedFont>
      <p:font typeface="Intel Clear Pro" panose="020B0604020202020204" charset="0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1">
          <p15:clr>
            <a:srgbClr val="A4A3A4"/>
          </p15:clr>
        </p15:guide>
        <p15:guide id="2" orient="horz" pos="3004">
          <p15:clr>
            <a:srgbClr val="A4A3A4"/>
          </p15:clr>
        </p15:guide>
        <p15:guide id="3" orient="horz" pos="422">
          <p15:clr>
            <a:srgbClr val="A4A3A4"/>
          </p15:clr>
        </p15:guide>
        <p15:guide id="4" orient="horz" pos="824">
          <p15:clr>
            <a:srgbClr val="A4A3A4"/>
          </p15:clr>
        </p15:guide>
        <p15:guide id="5" orient="horz" pos="2916">
          <p15:clr>
            <a:srgbClr val="A4A3A4"/>
          </p15:clr>
        </p15:guide>
        <p15:guide id="6" orient="horz" pos="1643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  <p15:guide id="9" pos="2909">
          <p15:clr>
            <a:srgbClr val="A4A3A4"/>
          </p15:clr>
        </p15:guide>
        <p15:guide id="10" pos="2811">
          <p15:clr>
            <a:srgbClr val="A4A3A4"/>
          </p15:clr>
        </p15:guide>
        <p15:guide id="11" pos="2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A72"/>
    <a:srgbClr val="0071C5"/>
    <a:srgbClr val="FD9208"/>
    <a:srgbClr val="002C54"/>
    <a:srgbClr val="FFFF66"/>
    <a:srgbClr val="00FF00"/>
    <a:srgbClr val="F83308"/>
    <a:srgbClr val="003C71"/>
    <a:srgbClr val="F3D54E"/>
    <a:srgbClr val="0055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93071-7DED-4002-A669-E8D66DC50F94}" v="8" dt="2020-08-12T05:51:35.9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9" autoAdjust="0"/>
    <p:restoredTop sz="94685" autoAdjust="0"/>
  </p:normalViewPr>
  <p:slideViewPr>
    <p:cSldViewPr snapToGrid="0">
      <p:cViewPr varScale="1">
        <p:scale>
          <a:sx n="104" d="100"/>
          <a:sy n="104" d="100"/>
        </p:scale>
        <p:origin x="1322" y="75"/>
      </p:cViewPr>
      <p:guideLst>
        <p:guide orient="horz" pos="1581"/>
        <p:guide orient="horz" pos="3004"/>
        <p:guide orient="horz" pos="422"/>
        <p:guide orient="horz" pos="824"/>
        <p:guide orient="horz" pos="2916"/>
        <p:guide orient="horz" pos="1643"/>
        <p:guide pos="5470"/>
        <p:guide pos="287"/>
        <p:guide pos="2909"/>
        <p:guide pos="2811"/>
        <p:guide pos="28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1536"/>
    </p:cViewPr>
  </p:sorterViewPr>
  <p:notesViewPr>
    <p:cSldViewPr snapToGrid="0" showGuides="1">
      <p:cViewPr varScale="1">
        <p:scale>
          <a:sx n="62" d="100"/>
          <a:sy n="62" d="100"/>
        </p:scale>
        <p:origin x="3226" y="5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8/11/2020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8/11/2020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970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624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70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794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589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09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5262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FXCN wave pitch </a:t>
            </a:r>
            <a:r>
              <a:rPr lang="en-MY" sz="1200" u="none" strike="noStrike" dirty="0">
                <a:effectLst/>
              </a:rPr>
              <a:t>4-7 seconds ?</a:t>
            </a:r>
            <a:endParaRPr lang="en-MY" sz="12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8914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562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7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</a:t>
            </a:r>
            <a:r>
              <a:rPr lang="en-US" dirty="0" err="1"/>
              <a:t>pega</a:t>
            </a:r>
            <a:r>
              <a:rPr lang="en-US" dirty="0"/>
              <a:t> glue on intel BGA ?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90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IEC&amp; </a:t>
            </a:r>
            <a:r>
              <a:rPr lang="en-US" dirty="0" err="1"/>
              <a:t>Wistron</a:t>
            </a:r>
            <a:r>
              <a:rPr lang="en-US" dirty="0"/>
              <a:t> did not provide </a:t>
            </a:r>
            <a:r>
              <a:rPr lang="en-US" dirty="0" err="1"/>
              <a:t>respose</a:t>
            </a:r>
            <a:r>
              <a:rPr lang="en-US" dirty="0"/>
              <a:t>. </a:t>
            </a:r>
          </a:p>
          <a:p>
            <a:r>
              <a:rPr lang="en-US" dirty="0"/>
              <a:t>Legend for L5/L6. 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449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SOP that focus 1 job &amp; 1 time and able to meet the speed. 2 socket @  time.</a:t>
            </a:r>
          </a:p>
          <a:p>
            <a:endParaRPr lang="en-MY" dirty="0"/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956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CRD from Mexico is in progress (Foxconn, IEC, </a:t>
            </a:r>
            <a:r>
              <a:rPr lang="en-US" dirty="0" err="1"/>
              <a:t>Wistron</a:t>
            </a:r>
            <a:r>
              <a:rPr lang="en-US" dirty="0"/>
              <a:t> &amp; </a:t>
            </a:r>
            <a:r>
              <a:rPr lang="en-US" dirty="0" err="1"/>
              <a:t>etc</a:t>
            </a:r>
            <a:r>
              <a:rPr lang="en-US" dirty="0"/>
              <a:t> - ),  internal target 1 month from now </a:t>
            </a:r>
          </a:p>
          <a:p>
            <a:r>
              <a:rPr lang="en-US" dirty="0"/>
              <a:t>Get a slide to l5/6 L10 </a:t>
            </a:r>
            <a:r>
              <a:rPr lang="en-US" dirty="0" err="1"/>
              <a:t>differentce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442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8129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customer name </a:t>
            </a:r>
          </a:p>
          <a:p>
            <a:r>
              <a:rPr lang="en-US" dirty="0" err="1"/>
              <a:t>Shenmao</a:t>
            </a:r>
            <a:r>
              <a:rPr lang="en-US" dirty="0"/>
              <a:t> paste not </a:t>
            </a:r>
            <a:r>
              <a:rPr lang="en-US" dirty="0" err="1"/>
              <a:t>prefer..wording</a:t>
            </a:r>
            <a:r>
              <a:rPr lang="en-US" dirty="0"/>
              <a:t> edit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302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customer name </a:t>
            </a:r>
          </a:p>
          <a:p>
            <a:r>
              <a:rPr lang="en-US" dirty="0" err="1"/>
              <a:t>Shenmao</a:t>
            </a:r>
            <a:r>
              <a:rPr lang="en-US" dirty="0"/>
              <a:t> paste not </a:t>
            </a:r>
            <a:r>
              <a:rPr lang="en-US" dirty="0" err="1"/>
              <a:t>prefer..wording</a:t>
            </a:r>
            <a:r>
              <a:rPr lang="en-US" dirty="0"/>
              <a:t> edit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3506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customer name </a:t>
            </a:r>
          </a:p>
          <a:p>
            <a:r>
              <a:rPr lang="en-US" dirty="0" err="1"/>
              <a:t>Shenmao</a:t>
            </a:r>
            <a:r>
              <a:rPr lang="en-US" dirty="0"/>
              <a:t> paste not </a:t>
            </a:r>
            <a:r>
              <a:rPr lang="en-US" dirty="0" err="1"/>
              <a:t>prefer..wording</a:t>
            </a:r>
            <a:r>
              <a:rPr lang="en-US" dirty="0"/>
              <a:t> edit</a:t>
            </a:r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0283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290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Radial Gradient">
    <p:bg>
      <p:bgPr>
        <a:blipFill dpi="0"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Intel Clear pro Title</a:t>
            </a:r>
            <a:br>
              <a:rPr lang="en-US" dirty="0"/>
            </a:br>
            <a:r>
              <a:rPr lang="en-US" dirty="0"/>
              <a:t>with radial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155233"/>
            <a:ext cx="8229600" cy="868680"/>
          </a:xfrm>
        </p:spPr>
        <p:txBody>
          <a:bodyPr/>
          <a:lstStyle>
            <a:lvl1pPr>
              <a:defRPr b="1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012875"/>
            <a:ext cx="8228012" cy="3616276"/>
          </a:xfrm>
        </p:spPr>
        <p:txBody>
          <a:bodyPr/>
          <a:lstStyle>
            <a:lvl1pPr>
              <a:spcBef>
                <a:spcPts val="600"/>
              </a:spcBef>
              <a:defRPr baseline="0">
                <a:solidFill>
                  <a:srgbClr val="0071C5"/>
                </a:solidFill>
              </a:defRPr>
            </a:lvl1pPr>
            <a:lvl2pPr>
              <a:spcBef>
                <a:spcPts val="300"/>
              </a:spcBef>
              <a:defRPr sz="1600"/>
            </a:lvl2pPr>
            <a:lvl3pPr>
              <a:spcBef>
                <a:spcPts val="300"/>
              </a:spcBef>
              <a:defRPr sz="1400"/>
            </a:lvl3pPr>
            <a:lvl4pPr>
              <a:spcBef>
                <a:spcPts val="300"/>
              </a:spcBef>
              <a:defRPr sz="1200"/>
            </a:lvl4pPr>
            <a:lvl5pPr>
              <a:spcBef>
                <a:spcPts val="300"/>
              </a:spcBef>
              <a:defRPr sz="1100"/>
            </a:lvl5pPr>
          </a:lstStyle>
          <a:p>
            <a:pPr lvl="0"/>
            <a:r>
              <a:rPr lang="en-US" dirty="0"/>
              <a:t>Intro sentence or paragraph has no bullet and is Intel Blue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eynote Encoder 1\Desktop\Picture2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1" i="0" baseline="0">
                <a:solidFill>
                  <a:schemeClr val="bg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130175"/>
            <a:ext cx="8228012" cy="3498975"/>
          </a:xfrm>
        </p:spPr>
        <p:txBody>
          <a:bodyPr/>
          <a:lstStyle>
            <a:lvl1pPr>
              <a:spcBef>
                <a:spcPts val="600"/>
              </a:spcBef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defRPr sz="1600"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defRPr sz="1400"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defRPr sz="12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Intel Clear body text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 userDrawn="1"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</a:rPr>
              <a:t>Intel Confidential  |  For Internal Use</a:t>
            </a:r>
            <a:r>
              <a:rPr lang="en-US" sz="800" baseline="0" dirty="0">
                <a:solidFill>
                  <a:schemeClr val="bg1"/>
                </a:solidFill>
              </a:rPr>
              <a:t> Only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0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e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1" i="0" baseline="0">
                <a:solidFill>
                  <a:schemeClr val="bg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130175"/>
            <a:ext cx="8228012" cy="3498975"/>
          </a:xfrm>
        </p:spPr>
        <p:txBody>
          <a:bodyPr/>
          <a:lstStyle>
            <a:lvl1pPr>
              <a:spcBef>
                <a:spcPts val="300"/>
              </a:spcBef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defRPr sz="1600"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defRPr sz="1400"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defRPr sz="1200"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Intel Clear body text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2" descr="C:\Users\Keynote Encoder 1\Desktop\CQN_text_treatment.png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56" y="4878388"/>
            <a:ext cx="2205519" cy="15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 userDrawn="1"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</a:rPr>
              <a:t>Intel Confidential  |  For Used</a:t>
            </a:r>
            <a:r>
              <a:rPr lang="en-US" sz="800" baseline="0" dirty="0">
                <a:solidFill>
                  <a:schemeClr val="bg1"/>
                </a:solidFill>
              </a:rPr>
              <a:t> Under NDA Only</a:t>
            </a:r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57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rgbClr val="003C7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127251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Intel Clear Headline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970671"/>
            <a:ext cx="8228012" cy="36584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Intel Clear body text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</a:rPr>
              <a:t>Intel Confidential  |  For Internal Use</a:t>
            </a:r>
            <a:r>
              <a:rPr lang="en-US" sz="800" baseline="0" dirty="0">
                <a:solidFill>
                  <a:schemeClr val="bg1"/>
                </a:solidFill>
              </a:rPr>
              <a:t> Only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0" r:id="rId2"/>
    <p:sldLayoutId id="2147483677" r:id="rId3"/>
    <p:sldLayoutId id="2147483678" r:id="rId4"/>
    <p:sldLayoutId id="2147483672" r:id="rId5"/>
    <p:sldLayoutId id="2147483651" r:id="rId6"/>
    <p:sldLayoutId id="2147483676" r:id="rId7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400" b="1" i="0" kern="1200" spc="0" baseline="0">
          <a:solidFill>
            <a:srgbClr val="003C71"/>
          </a:solidFill>
          <a:latin typeface="Intel Clear"/>
          <a:ea typeface="Intel Clear"/>
          <a:cs typeface="Intel Clear"/>
        </a:defRPr>
      </a:lvl1pPr>
    </p:titleStyle>
    <p:bodyStyle>
      <a:lvl1pPr marL="0" indent="0" algn="l" defTabSz="457200" rtl="0" eaLnBrk="1" latinLnBrk="0" hangingPunct="1">
        <a:spcBef>
          <a:spcPts val="300"/>
        </a:spcBef>
        <a:spcAft>
          <a:spcPts val="0"/>
        </a:spcAft>
        <a:buFont typeface="Wingdings" panose="05000000000000000000" pitchFamily="2" charset="2"/>
        <a:buNone/>
        <a:defRPr sz="16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300"/>
        </a:spcBef>
        <a:buFont typeface="Wingdings" charset="2"/>
        <a:buChar char="§"/>
        <a:defRPr sz="1600" kern="1200" baseline="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300"/>
        </a:spcBef>
        <a:buFont typeface="Intel Clear" panose="020B0604020203020204" pitchFamily="34" charset="0"/>
        <a:buChar char="–"/>
        <a:defRPr sz="14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ts val="300"/>
        </a:spcBef>
        <a:buFont typeface="Courier New" panose="02070309020205020404" pitchFamily="49" charset="0"/>
        <a:buChar char="o"/>
        <a:defRPr sz="11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4480D3-CF96-458F-910A-D3A08F2DF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2247344"/>
            <a:ext cx="7772400" cy="1021556"/>
          </a:xfrm>
        </p:spPr>
        <p:txBody>
          <a:bodyPr/>
          <a:lstStyle/>
          <a:p>
            <a:r>
              <a:rPr lang="en-US" dirty="0"/>
              <a:t>Eagle stream ODMs CRD survey Report </a:t>
            </a:r>
            <a:br>
              <a:rPr lang="en-US" dirty="0"/>
            </a:br>
            <a:r>
              <a:rPr lang="en-US" dirty="0"/>
              <a:t>(server segment)</a:t>
            </a:r>
            <a:endParaRPr lang="en-MY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7FBB45-A2DD-4FDC-B395-E624A9CA8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13" y="3380432"/>
            <a:ext cx="7772400" cy="1125140"/>
          </a:xfrm>
        </p:spPr>
        <p:txBody>
          <a:bodyPr/>
          <a:lstStyle/>
          <a:p>
            <a:r>
              <a:rPr lang="it-IT" dirty="0"/>
              <a:t>Customer participated : </a:t>
            </a:r>
          </a:p>
          <a:p>
            <a:r>
              <a:rPr lang="it-IT" dirty="0"/>
              <a:t>Inventec (SH &amp; TW), Wistron ZS, Quanta (SH &amp; TW), Foxconn TJ, Pegatron TW</a:t>
            </a:r>
          </a:p>
          <a:p>
            <a:r>
              <a:rPr lang="it-IT"/>
              <a:t>20ww32 Rev 1</a:t>
            </a:r>
            <a:endParaRPr lang="it-IT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905FF8-E5DF-46B6-8E1C-5DE6C27986E5}"/>
              </a:ext>
            </a:extLst>
          </p:cNvPr>
          <p:cNvSpPr/>
          <p:nvPr/>
        </p:nvSpPr>
        <p:spPr>
          <a:xfrm>
            <a:off x="2036980" y="586439"/>
            <a:ext cx="4869512" cy="1180016"/>
          </a:xfrm>
          <a:prstGeom prst="roundRect">
            <a:avLst/>
          </a:prstGeom>
          <a:noFill/>
          <a:ln w="317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CONFIDENTIAL</a:t>
            </a:r>
          </a:p>
          <a:p>
            <a:pPr algn="ctr"/>
            <a:r>
              <a:rPr lang="en-MY" sz="2000" dirty="0">
                <a:solidFill>
                  <a:srgbClr val="FF0000"/>
                </a:solidFill>
              </a:rPr>
              <a:t>Contained customer process information under NDA</a:t>
            </a:r>
          </a:p>
        </p:txBody>
      </p:sp>
    </p:spTree>
    <p:extLst>
      <p:ext uri="{BB962C8B-B14F-4D97-AF65-F5344CB8AC3E}">
        <p14:creationId xmlns:p14="http://schemas.microsoft.com/office/powerpoint/2010/main" val="340365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DBA428-7694-420E-A9D4-E45F33644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A56E7E-CA1A-425F-8F5B-4F6313E94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80727-7DE5-4B09-AC8F-E98F146A41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Server Customer Manufacturing</a:t>
            </a:r>
            <a:endParaRPr lang="en-US" sz="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PCBA Material / Consumables</a:t>
            </a:r>
          </a:p>
          <a:p>
            <a:pPr lvl="2"/>
            <a:r>
              <a:rPr lang="en-US" sz="1600" dirty="0"/>
              <a:t>Technology &amp; Process</a:t>
            </a:r>
          </a:p>
          <a:p>
            <a:endParaRPr lang="en-US" sz="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PCBA Machine / Equipment</a:t>
            </a:r>
          </a:p>
          <a:p>
            <a:pPr lvl="2"/>
            <a:r>
              <a:rPr lang="en-US" sz="1600" dirty="0"/>
              <a:t>Process Parameter &amp; Capability</a:t>
            </a:r>
          </a:p>
          <a:p>
            <a:pPr lvl="3"/>
            <a:r>
              <a:rPr lang="en-US" sz="1600" dirty="0"/>
              <a:t>Paste Print, PnP, Reflow, Wave Solder, Rework, Inspection (SPI, AOI)</a:t>
            </a:r>
          </a:p>
          <a:p>
            <a:endParaRPr lang="en-US" sz="4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Others &amp; Automation</a:t>
            </a:r>
          </a:p>
          <a:p>
            <a:pPr lvl="2"/>
            <a:r>
              <a:rPr lang="en-US" sz="1600" dirty="0"/>
              <a:t>PHM Assembly, Manufacturing Test, System Integration</a:t>
            </a:r>
          </a:p>
          <a:p>
            <a:endParaRPr lang="en-US" sz="3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Key Takeaway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Next Step</a:t>
            </a:r>
          </a:p>
          <a:p>
            <a:endParaRPr lang="en-US" dirty="0"/>
          </a:p>
          <a:p>
            <a:endParaRPr lang="en-US" dirty="0"/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4411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2F9B95-8C89-4E0F-87AF-6E358E7F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202D53-BCCB-4D62-BE12-DDBA1A94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Manufacturing Level &amp; Customer Landscape</a:t>
            </a:r>
            <a:endParaRPr lang="en-MY" dirty="0"/>
          </a:p>
        </p:txBody>
      </p:sp>
      <p:graphicFrame>
        <p:nvGraphicFramePr>
          <p:cNvPr id="68" name="Table 68">
            <a:extLst>
              <a:ext uri="{FF2B5EF4-FFF2-40B4-BE49-F238E27FC236}">
                <a16:creationId xmlns:a16="http://schemas.microsoft.com/office/drawing/2014/main" id="{D96BCB36-C738-4247-846F-3FD8AE4F77A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61625068"/>
              </p:ext>
            </p:extLst>
          </p:nvPr>
        </p:nvGraphicFramePr>
        <p:xfrm>
          <a:off x="3859300" y="2731580"/>
          <a:ext cx="4872041" cy="1965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7244">
                  <a:extLst>
                    <a:ext uri="{9D8B030D-6E8A-4147-A177-3AD203B41FA5}">
                      <a16:colId xmlns:a16="http://schemas.microsoft.com/office/drawing/2014/main" val="2386647239"/>
                    </a:ext>
                  </a:extLst>
                </a:gridCol>
                <a:gridCol w="4334797">
                  <a:extLst>
                    <a:ext uri="{9D8B030D-6E8A-4147-A177-3AD203B41FA5}">
                      <a16:colId xmlns:a16="http://schemas.microsoft.com/office/drawing/2014/main" val="645249946"/>
                    </a:ext>
                  </a:extLst>
                </a:gridCol>
              </a:tblGrid>
              <a:tr h="211987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Level</a:t>
                      </a:r>
                      <a:endParaRPr lang="en-MY" sz="105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MY" sz="105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529001"/>
                  </a:ext>
                </a:extLst>
              </a:tr>
              <a:tr h="211987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L6</a:t>
                      </a:r>
                      <a:endParaRPr lang="en-MY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Integration of motherboard into chassis enclosure and power on test.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5222833"/>
                  </a:ext>
                </a:extLst>
              </a:tr>
              <a:tr h="616689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L10</a:t>
                      </a:r>
                      <a:endParaRPr lang="en-MY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Full assembly of server with full system and component level</a:t>
                      </a:r>
                    </a:p>
                    <a:p>
                      <a:pPr algn="just"/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testing, OS/software integration, product kitted with user manual and other required. Documentation and delivered as a fully-integrated server solution.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616936"/>
                  </a:ext>
                </a:extLst>
              </a:tr>
              <a:tr h="616689">
                <a:tc>
                  <a:txBody>
                    <a:bodyPr/>
                    <a:lstStyle/>
                    <a:p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L11</a:t>
                      </a:r>
                      <a:endParaRPr lang="en-MY" sz="105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Node-level assembly, testing, OS/software loading of all server nodes followed by rack cabinet assembly of nodes into racks with full cable networking (including switches), and tested as a working total solution at the rack or </a:t>
                      </a:r>
                      <a:r>
                        <a:rPr lang="en-US" sz="1050" dirty="0" err="1">
                          <a:solidFill>
                            <a:schemeClr val="tx1"/>
                          </a:solidFill>
                        </a:rPr>
                        <a:t>multirack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 level.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268297"/>
                  </a:ext>
                </a:extLst>
              </a:tr>
            </a:tbl>
          </a:graphicData>
        </a:graphic>
      </p:graphicFrame>
      <p:pic>
        <p:nvPicPr>
          <p:cNvPr id="58" name="Picture 2" descr="http://www.amax.com/blog/wp-content/uploads/2014/11/Manufacturing-level-1-121.jpg">
            <a:extLst>
              <a:ext uri="{FF2B5EF4-FFF2-40B4-BE49-F238E27FC236}">
                <a16:creationId xmlns:a16="http://schemas.microsoft.com/office/drawing/2014/main" id="{F9411EF4-A337-4DCB-8828-8AF6493698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004" b="3202"/>
          <a:stretch/>
        </p:blipFill>
        <p:spPr bwMode="auto">
          <a:xfrm>
            <a:off x="3756363" y="553821"/>
            <a:ext cx="5013072" cy="2143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5CC85A0-4154-4C2A-8CCA-9203A7F02E07}"/>
              </a:ext>
            </a:extLst>
          </p:cNvPr>
          <p:cNvSpPr/>
          <p:nvPr/>
        </p:nvSpPr>
        <p:spPr>
          <a:xfrm>
            <a:off x="7763501" y="534105"/>
            <a:ext cx="931265" cy="117765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775D39B7-ECA8-42C1-9F8B-D03670CE7569}"/>
              </a:ext>
            </a:extLst>
          </p:cNvPr>
          <p:cNvSpPr/>
          <p:nvPr/>
        </p:nvSpPr>
        <p:spPr>
          <a:xfrm>
            <a:off x="6199585" y="1620652"/>
            <a:ext cx="1586026" cy="109121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7F4DC01-63FC-44E8-A89D-F539976A9677}"/>
              </a:ext>
            </a:extLst>
          </p:cNvPr>
          <p:cNvGrpSpPr/>
          <p:nvPr/>
        </p:nvGrpSpPr>
        <p:grpSpPr>
          <a:xfrm>
            <a:off x="182877" y="1542212"/>
            <a:ext cx="3632533" cy="3051725"/>
            <a:chOff x="182877" y="657082"/>
            <a:chExt cx="3632533" cy="3051725"/>
          </a:xfrm>
        </p:grpSpPr>
        <p:sp>
          <p:nvSpPr>
            <p:cNvPr id="12" name="Rounded Rectangle 36">
              <a:extLst>
                <a:ext uri="{FF2B5EF4-FFF2-40B4-BE49-F238E27FC236}">
                  <a16:creationId xmlns:a16="http://schemas.microsoft.com/office/drawing/2014/main" id="{BE9B5D30-D3A1-4C36-A2DC-AD48A6C30619}"/>
                </a:ext>
              </a:extLst>
            </p:cNvPr>
            <p:cNvSpPr/>
            <p:nvPr/>
          </p:nvSpPr>
          <p:spPr bwMode="auto">
            <a:xfrm>
              <a:off x="252328" y="1218320"/>
              <a:ext cx="866901" cy="472977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lIns="0" rIns="0"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1100" b="1" dirty="0"/>
                <a:t>PCBA &amp; Board assembly </a:t>
              </a:r>
            </a:p>
          </p:txBody>
        </p:sp>
        <p:sp>
          <p:nvSpPr>
            <p:cNvPr id="14" name="Rounded Rectangle 36">
              <a:extLst>
                <a:ext uri="{FF2B5EF4-FFF2-40B4-BE49-F238E27FC236}">
                  <a16:creationId xmlns:a16="http://schemas.microsoft.com/office/drawing/2014/main" id="{5BEC7904-3E59-4634-A865-9835FBC2AC1C}"/>
                </a:ext>
              </a:extLst>
            </p:cNvPr>
            <p:cNvSpPr/>
            <p:nvPr/>
          </p:nvSpPr>
          <p:spPr bwMode="auto">
            <a:xfrm>
              <a:off x="227347" y="2739648"/>
              <a:ext cx="935839" cy="329213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lIns="0" rIns="0"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1100" b="1" dirty="0"/>
                <a:t>L10 System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BCC399C-3BD7-4CF4-BF61-840E0B222DB1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 bwMode="auto">
            <a:xfrm>
              <a:off x="682526" y="2330566"/>
              <a:ext cx="12741" cy="40908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16" name="Straight Arrow Connector 109">
              <a:extLst>
                <a:ext uri="{FF2B5EF4-FFF2-40B4-BE49-F238E27FC236}">
                  <a16:creationId xmlns:a16="http://schemas.microsoft.com/office/drawing/2014/main" id="{24A5CC16-BB96-4A51-B0E8-9D018491A88D}"/>
                </a:ext>
              </a:extLst>
            </p:cNvPr>
            <p:cNvCxnSpPr>
              <a:cxnSpLocks/>
              <a:stCxn id="12" idx="3"/>
              <a:endCxn id="17" idx="3"/>
            </p:cNvCxnSpPr>
            <p:nvPr/>
          </p:nvCxnSpPr>
          <p:spPr bwMode="auto">
            <a:xfrm flipH="1">
              <a:off x="1097277" y="1454809"/>
              <a:ext cx="21952" cy="2035370"/>
            </a:xfrm>
            <a:prstGeom prst="bentConnector3">
              <a:avLst>
                <a:gd name="adj1" fmla="val -1041363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sp>
          <p:nvSpPr>
            <p:cNvPr id="17" name="Rounded Rectangle 36">
              <a:extLst>
                <a:ext uri="{FF2B5EF4-FFF2-40B4-BE49-F238E27FC236}">
                  <a16:creationId xmlns:a16="http://schemas.microsoft.com/office/drawing/2014/main" id="{FE39478B-ED1C-4F59-A2E5-85BC0F89C78C}"/>
                </a:ext>
              </a:extLst>
            </p:cNvPr>
            <p:cNvSpPr/>
            <p:nvPr/>
          </p:nvSpPr>
          <p:spPr bwMode="auto">
            <a:xfrm>
              <a:off x="248704" y="3325572"/>
              <a:ext cx="848573" cy="329213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lIns="0" rIns="0"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1100" b="1" dirty="0"/>
                <a:t>L11/L12 System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57BB4F8-F8C7-476F-A2AF-50225F274E5E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 bwMode="auto">
            <a:xfrm flipH="1">
              <a:off x="682526" y="1691297"/>
              <a:ext cx="3253" cy="31005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28AF7F6-6DCC-4A47-9ADB-7BFB0CF27459}"/>
                </a:ext>
              </a:extLst>
            </p:cNvPr>
            <p:cNvCxnSpPr>
              <a:cxnSpLocks/>
            </p:cNvCxnSpPr>
            <p:nvPr/>
          </p:nvCxnSpPr>
          <p:spPr>
            <a:xfrm>
              <a:off x="1494407" y="657082"/>
              <a:ext cx="1" cy="3051725"/>
            </a:xfrm>
            <a:prstGeom prst="line">
              <a:avLst/>
            </a:prstGeom>
            <a:ln>
              <a:solidFill>
                <a:srgbClr val="FD9208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ounded Rectangle 36">
              <a:extLst>
                <a:ext uri="{FF2B5EF4-FFF2-40B4-BE49-F238E27FC236}">
                  <a16:creationId xmlns:a16="http://schemas.microsoft.com/office/drawing/2014/main" id="{4BB0330A-4848-460E-BC0A-F13CB3B68159}"/>
                </a:ext>
              </a:extLst>
            </p:cNvPr>
            <p:cNvSpPr/>
            <p:nvPr/>
          </p:nvSpPr>
          <p:spPr bwMode="auto">
            <a:xfrm>
              <a:off x="1658947" y="2731580"/>
              <a:ext cx="935839" cy="329213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lIns="0" rIns="0"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1100" b="1" dirty="0"/>
                <a:t>L10 System</a:t>
              </a:r>
            </a:p>
          </p:txBody>
        </p:sp>
        <p:sp>
          <p:nvSpPr>
            <p:cNvPr id="22" name="Rounded Rectangle 36">
              <a:extLst>
                <a:ext uri="{FF2B5EF4-FFF2-40B4-BE49-F238E27FC236}">
                  <a16:creationId xmlns:a16="http://schemas.microsoft.com/office/drawing/2014/main" id="{C7A344FC-9901-44FD-B7F0-7C1AAD7B047F}"/>
                </a:ext>
              </a:extLst>
            </p:cNvPr>
            <p:cNvSpPr/>
            <p:nvPr/>
          </p:nvSpPr>
          <p:spPr bwMode="auto">
            <a:xfrm>
              <a:off x="2802221" y="2735727"/>
              <a:ext cx="935839" cy="329213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lIns="0" rIns="0"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1100" b="1" dirty="0"/>
                <a:t>L10 System</a:t>
              </a:r>
            </a:p>
          </p:txBody>
        </p: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865C3C5-82FF-49BF-9125-9B831792AF80}"/>
                </a:ext>
              </a:extLst>
            </p:cNvPr>
            <p:cNvCxnSpPr>
              <a:cxnSpLocks/>
            </p:cNvCxnSpPr>
            <p:nvPr/>
          </p:nvCxnSpPr>
          <p:spPr>
            <a:xfrm>
              <a:off x="2677892" y="657082"/>
              <a:ext cx="0" cy="3051725"/>
            </a:xfrm>
            <a:prstGeom prst="line">
              <a:avLst/>
            </a:prstGeom>
            <a:ln>
              <a:solidFill>
                <a:srgbClr val="FD9208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109">
              <a:extLst>
                <a:ext uri="{FF2B5EF4-FFF2-40B4-BE49-F238E27FC236}">
                  <a16:creationId xmlns:a16="http://schemas.microsoft.com/office/drawing/2014/main" id="{C49D8004-4401-4E2C-8D8B-08DD2DF06886}"/>
                </a:ext>
              </a:extLst>
            </p:cNvPr>
            <p:cNvCxnSpPr>
              <a:cxnSpLocks/>
              <a:stCxn id="13" idx="3"/>
              <a:endCxn id="21" idx="0"/>
            </p:cNvCxnSpPr>
            <p:nvPr/>
          </p:nvCxnSpPr>
          <p:spPr bwMode="auto">
            <a:xfrm>
              <a:off x="999948" y="2165960"/>
              <a:ext cx="1126919" cy="565620"/>
            </a:xfrm>
            <a:prstGeom prst="bentConnector2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cxnSp>
          <p:nvCxnSpPr>
            <p:cNvPr id="31" name="Straight Arrow Connector 109">
              <a:extLst>
                <a:ext uri="{FF2B5EF4-FFF2-40B4-BE49-F238E27FC236}">
                  <a16:creationId xmlns:a16="http://schemas.microsoft.com/office/drawing/2014/main" id="{7E2A66C2-51A2-4ECF-9BD5-6A6EF44B8142}"/>
                </a:ext>
              </a:extLst>
            </p:cNvPr>
            <p:cNvCxnSpPr>
              <a:cxnSpLocks/>
              <a:stCxn id="13" idx="3"/>
              <a:endCxn id="22" idx="0"/>
            </p:cNvCxnSpPr>
            <p:nvPr/>
          </p:nvCxnSpPr>
          <p:spPr bwMode="auto">
            <a:xfrm>
              <a:off x="999948" y="2165960"/>
              <a:ext cx="2270193" cy="569767"/>
            </a:xfrm>
            <a:prstGeom prst="bentConnector2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/>
            </a:ln>
            <a:effectLst/>
          </p:spPr>
        </p:cxn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443F2761-97CE-457E-A01B-CB785EFF9A47}"/>
                </a:ext>
              </a:extLst>
            </p:cNvPr>
            <p:cNvSpPr/>
            <p:nvPr/>
          </p:nvSpPr>
          <p:spPr>
            <a:xfrm>
              <a:off x="182877" y="685494"/>
              <a:ext cx="1057837" cy="40112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ODM (Board)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A9B06373-4D8F-4F60-93E2-FC1ACD33454E}"/>
                </a:ext>
              </a:extLst>
            </p:cNvPr>
            <p:cNvSpPr/>
            <p:nvPr/>
          </p:nvSpPr>
          <p:spPr>
            <a:xfrm>
              <a:off x="1537458" y="693660"/>
              <a:ext cx="1057837" cy="40112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ODM Sys Integration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634226DB-20AD-4CB5-A7D5-4725AE144AF1}"/>
                </a:ext>
              </a:extLst>
            </p:cNvPr>
            <p:cNvSpPr/>
            <p:nvPr/>
          </p:nvSpPr>
          <p:spPr>
            <a:xfrm>
              <a:off x="2757573" y="693660"/>
              <a:ext cx="1057837" cy="401121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err="1">
                  <a:solidFill>
                    <a:schemeClr val="tx1"/>
                  </a:solidFill>
                </a:rPr>
                <a:t>OxM</a:t>
              </a:r>
              <a:r>
                <a:rPr lang="en-US" sz="1200" b="1" dirty="0">
                  <a:solidFill>
                    <a:schemeClr val="tx1"/>
                  </a:solidFill>
                </a:rPr>
                <a:t> Sys Integration</a:t>
              </a:r>
              <a:endParaRPr lang="en-MY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ounded Rectangle 36">
              <a:extLst>
                <a:ext uri="{FF2B5EF4-FFF2-40B4-BE49-F238E27FC236}">
                  <a16:creationId xmlns:a16="http://schemas.microsoft.com/office/drawing/2014/main" id="{4E651110-BA47-44D0-823A-AE4F023859B5}"/>
                </a:ext>
              </a:extLst>
            </p:cNvPr>
            <p:cNvSpPr/>
            <p:nvPr/>
          </p:nvSpPr>
          <p:spPr bwMode="auto">
            <a:xfrm>
              <a:off x="365103" y="2001353"/>
              <a:ext cx="634845" cy="329213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lIns="0" rIns="0" anchor="ctr"/>
            <a:lstStyle/>
            <a:p>
              <a:pPr algn="ctr" eaLnBrk="0" hangingPunct="0">
                <a:lnSpc>
                  <a:spcPct val="80000"/>
                </a:lnSpc>
                <a:spcBef>
                  <a:spcPct val="50000"/>
                </a:spcBef>
                <a:defRPr/>
              </a:pPr>
              <a:r>
                <a:rPr lang="en-US" sz="1100" b="1" dirty="0"/>
                <a:t>L6 Board</a:t>
              </a: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316E27E-9394-46D9-97D9-12F66B235496}"/>
              </a:ext>
            </a:extLst>
          </p:cNvPr>
          <p:cNvGrpSpPr/>
          <p:nvPr/>
        </p:nvGrpSpPr>
        <p:grpSpPr>
          <a:xfrm>
            <a:off x="98996" y="574796"/>
            <a:ext cx="3764204" cy="922094"/>
            <a:chOff x="98996" y="574796"/>
            <a:chExt cx="3764204" cy="922094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494C6CB-AAA4-409D-92FA-D18E2723C75B}"/>
                </a:ext>
              </a:extLst>
            </p:cNvPr>
            <p:cNvSpPr/>
            <p:nvPr/>
          </p:nvSpPr>
          <p:spPr>
            <a:xfrm>
              <a:off x="98996" y="574796"/>
              <a:ext cx="3764204" cy="92209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71A4CE18-773C-4FC0-A466-3119A70320F0}"/>
                </a:ext>
              </a:extLst>
            </p:cNvPr>
            <p:cNvGrpSpPr/>
            <p:nvPr/>
          </p:nvGrpSpPr>
          <p:grpSpPr>
            <a:xfrm>
              <a:off x="223108" y="688742"/>
              <a:ext cx="3592302" cy="744253"/>
              <a:chOff x="223108" y="3848905"/>
              <a:chExt cx="3555718" cy="609101"/>
            </a:xfrm>
          </p:grpSpPr>
          <p:sp>
            <p:nvSpPr>
              <p:cNvPr id="90" name="Rectangle: Rounded Corners 89">
                <a:extLst>
                  <a:ext uri="{FF2B5EF4-FFF2-40B4-BE49-F238E27FC236}">
                    <a16:creationId xmlns:a16="http://schemas.microsoft.com/office/drawing/2014/main" id="{3DB6C255-E20F-4E9B-A38D-01EF29E39910}"/>
                  </a:ext>
                </a:extLst>
              </p:cNvPr>
              <p:cNvSpPr/>
              <p:nvPr/>
            </p:nvSpPr>
            <p:spPr>
              <a:xfrm>
                <a:off x="234074" y="4165866"/>
                <a:ext cx="3544752" cy="292140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US" sz="1250" b="1" dirty="0">
                    <a:solidFill>
                      <a:schemeClr val="bg1"/>
                    </a:solidFill>
                  </a:rPr>
                  <a:t>CSP Customer :	FB, Amazon, MSFT, Google</a:t>
                </a:r>
              </a:p>
            </p:txBody>
          </p:sp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BFC62941-0BF2-4071-8F8D-086CF9759F83}"/>
                  </a:ext>
                </a:extLst>
              </p:cNvPr>
              <p:cNvSpPr/>
              <p:nvPr/>
            </p:nvSpPr>
            <p:spPr>
              <a:xfrm>
                <a:off x="223108" y="3848905"/>
                <a:ext cx="3544752" cy="278468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r>
                  <a:rPr lang="en-US" sz="1250" b="1" dirty="0">
                    <a:solidFill>
                      <a:schemeClr val="bg1"/>
                    </a:solidFill>
                  </a:rPr>
                  <a:t>Enterprise Customer :	Dell, HP, Lenovo</a:t>
                </a:r>
                <a:endParaRPr lang="en-MY" sz="1250" b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9863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96709"/>
            <a:ext cx="8229600" cy="868680"/>
          </a:xfrm>
        </p:spPr>
        <p:txBody>
          <a:bodyPr/>
          <a:lstStyle/>
          <a:p>
            <a:r>
              <a:rPr lang="en-US" dirty="0"/>
              <a:t>PCBA Material / Consumables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0587337"/>
              </p:ext>
            </p:extLst>
          </p:nvPr>
        </p:nvGraphicFramePr>
        <p:xfrm>
          <a:off x="455613" y="717500"/>
          <a:ext cx="8228010" cy="26388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31785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1437904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544316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1371335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1371335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371335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175087">
                <a:tc>
                  <a:txBody>
                    <a:bodyPr/>
                    <a:lstStyle/>
                    <a:p>
                      <a:pPr algn="ctr" fontAlgn="t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Material</a:t>
                      </a:r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Inventec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Quanta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Foxconn TJ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Wistron</a:t>
                      </a:r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ZS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Pegatron TW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2715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Stencil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Local supplier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Local supplier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Foxconn;  </a:t>
                      </a:r>
                      <a:r>
                        <a:rPr lang="zh-TW" altLang="en-US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深精藝</a:t>
                      </a:r>
                      <a:r>
                        <a:rPr lang="en-US" altLang="zh-TW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-</a:t>
                      </a:r>
                      <a:r>
                        <a:rPr lang="en-MY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SHENJINGYI; </a:t>
                      </a:r>
                      <a:r>
                        <a:rPr lang="zh-TW" altLang="en-US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蒙瑞</a:t>
                      </a:r>
                      <a:r>
                        <a:rPr lang="en-US" altLang="zh-TW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-</a:t>
                      </a:r>
                      <a:r>
                        <a:rPr lang="en-MY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MENG RUI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Local supplier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Iden</a:t>
                      </a:r>
                      <a:b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Win-laser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65330007"/>
                  </a:ext>
                </a:extLst>
              </a:tr>
              <a:tr h="2715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PCB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Local supplier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Gold Circuit, Tripod, ISU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 GCE; BTK; Tripod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Hannstar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</a:t>
                      </a:r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Boardtek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 GCE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ACCL, GCE, </a:t>
                      </a:r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Compeq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431480162"/>
                  </a:ext>
                </a:extLst>
              </a:tr>
              <a:tr h="4041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Solder Paste (SMT)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PF606-P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PF606-P</a:t>
                      </a:r>
                      <a:b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PF606-P245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ALPHA OM338PT</a:t>
                      </a:r>
                      <a:br>
                        <a:rPr lang="en-MY" sz="10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MY" sz="10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Senju M705-S101HF-S4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PF606-F</a:t>
                      </a:r>
                      <a:b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Henkel GC-10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PF606-P</a:t>
                      </a:r>
                      <a:b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SMIC M705-S101HF(N6)-S5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891286287"/>
                  </a:ext>
                </a:extLst>
              </a:tr>
              <a:tr h="2715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Rework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SRT/Summit 1800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Conceptronic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 Feedom2000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SRT 1100LX, 2200LX	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SUMMIT-</a:t>
                      </a:r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Lxi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649597282"/>
                  </a:ext>
                </a:extLst>
              </a:tr>
              <a:tr h="27154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Paste/Flux (Rework)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PF606-P</a:t>
                      </a:r>
                    </a:p>
                    <a:p>
                      <a:pPr algn="ctr" rtl="0" fontAlgn="ctr"/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PF606-P245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Alpha OM338PT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SMF-2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297282793"/>
                  </a:ext>
                </a:extLst>
              </a:tr>
              <a:tr h="4041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Flux </a:t>
                      </a:r>
                    </a:p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(Wave solder)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SM816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SM816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SM816, </a:t>
                      </a: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Alphametal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EF-6808HF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Shenmao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SM-827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647994942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F4DE02F-88AC-4D13-8EA1-36BA7E4042CF}"/>
              </a:ext>
            </a:extLst>
          </p:cNvPr>
          <p:cNvSpPr/>
          <p:nvPr/>
        </p:nvSpPr>
        <p:spPr>
          <a:xfrm>
            <a:off x="455613" y="3299156"/>
            <a:ext cx="8228010" cy="1387983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0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Prefer Stencil local vendors for fast response, delivery time &amp; on-site support.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Wave solder process is still required for thru-hole components.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Shenmao</a:t>
            </a:r>
            <a:r>
              <a:rPr lang="en-US" sz="1200" dirty="0">
                <a:solidFill>
                  <a:schemeClr val="bg1"/>
                </a:solidFill>
              </a:rPr>
              <a:t> paste/flux is commonly used except Foxconn.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1200" dirty="0" err="1">
                <a:solidFill>
                  <a:schemeClr val="bg1"/>
                </a:solidFill>
              </a:rPr>
              <a:t>Shenmao</a:t>
            </a:r>
            <a:r>
              <a:rPr lang="en-US" sz="1200" dirty="0">
                <a:solidFill>
                  <a:schemeClr val="bg1"/>
                </a:solidFill>
              </a:rPr>
              <a:t> paste is generally used during early development; will be used as back-up during mass production (MP).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1200" dirty="0">
                <a:solidFill>
                  <a:schemeClr val="bg1"/>
                </a:solidFill>
              </a:rPr>
              <a:t>Alternate solder paste is mandatory for SMT per their customer requirement.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9BF96D-CB2C-4027-A4CE-51580BF6DD99}"/>
              </a:ext>
            </a:extLst>
          </p:cNvPr>
          <p:cNvSpPr/>
          <p:nvPr/>
        </p:nvSpPr>
        <p:spPr>
          <a:xfrm>
            <a:off x="7424928" y="413401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</p:spTree>
    <p:extLst>
      <p:ext uri="{BB962C8B-B14F-4D97-AF65-F5344CB8AC3E}">
        <p14:creationId xmlns:p14="http://schemas.microsoft.com/office/powerpoint/2010/main" val="150145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3" y="78365"/>
            <a:ext cx="8229600" cy="868680"/>
          </a:xfrm>
        </p:spPr>
        <p:txBody>
          <a:bodyPr/>
          <a:lstStyle/>
          <a:p>
            <a:r>
              <a:rPr lang="en-US" dirty="0"/>
              <a:t>PCBA Material / Consumables &amp; Technology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532768073"/>
              </p:ext>
            </p:extLst>
          </p:nvPr>
        </p:nvGraphicFramePr>
        <p:xfrm>
          <a:off x="510113" y="662434"/>
          <a:ext cx="8228011" cy="26740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9005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1032164">
                  <a:extLst>
                    <a:ext uri="{9D8B030D-6E8A-4147-A177-3AD203B41FA5}">
                      <a16:colId xmlns:a16="http://schemas.microsoft.com/office/drawing/2014/main" val="1685834067"/>
                    </a:ext>
                  </a:extLst>
                </a:gridCol>
                <a:gridCol w="916642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597958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1509062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1234138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119042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2761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Material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Technology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Inventec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Quanta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Foxconn TJ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Wistron</a:t>
                      </a:r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ZS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Pegatron TW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575411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Stencil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Cut / Coating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laser cut + nano coat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Laser cut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electroform, laser cut</a:t>
                      </a:r>
                      <a:b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with electro polish + nano coat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Laser cut with electro polished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Laser cut with etching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65330007"/>
                  </a:ext>
                </a:extLst>
              </a:tr>
              <a:tr h="386592">
                <a:tc vMerge="1">
                  <a:txBody>
                    <a:bodyPr/>
                    <a:lstStyle/>
                    <a:p>
                      <a:pPr algn="ctr" rtl="0" fontAlgn="ctr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Thickness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(mils)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&amp; 5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(typical)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 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(per MAS)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431480162"/>
                  </a:ext>
                </a:extLst>
              </a:tr>
              <a:tr h="386592">
                <a:tc vMerge="1">
                  <a:txBody>
                    <a:bodyPr/>
                    <a:lstStyle/>
                    <a:p>
                      <a:pPr algn="ctr" rtl="0" fontAlgn="ctr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Step up/down</a:t>
                      </a:r>
                    </a:p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(mils)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Yes,</a:t>
                      </a:r>
                    </a:p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4, 6 &amp; 8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Yes, 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4 - 6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Yes,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3, 5, 6, 7, 8 &amp; 10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Yes, </a:t>
                      </a:r>
                    </a:p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+1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Yes,</a:t>
                      </a:r>
                    </a:p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 – 6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891286287"/>
                  </a:ext>
                </a:extLst>
              </a:tr>
              <a:tr h="386592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PCB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Surface Finished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OSP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ENIG, OSP, </a:t>
                      </a:r>
                      <a:r>
                        <a:rPr lang="fr-F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ImAu</a:t>
                      </a:r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&amp; </a:t>
                      </a:r>
                      <a:r>
                        <a:rPr lang="fr-FR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etc</a:t>
                      </a:r>
                      <a:endParaRPr lang="fr-FR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OSP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OSP (majority),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ENIG (few)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OSP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649597282"/>
                  </a:ext>
                </a:extLst>
              </a:tr>
              <a:tr h="386592">
                <a:tc v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Thickness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(mils)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fr-FR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62, 79, 98 &amp; 118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62 &amp; 98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62, 98, &amp;118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79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51857847"/>
                  </a:ext>
                </a:extLst>
              </a:tr>
              <a:tr h="276120">
                <a:tc vMerge="1">
                  <a:txBody>
                    <a:bodyPr/>
                    <a:lstStyle/>
                    <a:p>
                      <a:pPr algn="ctr" rtl="0" fontAlgn="ctr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Type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Type 4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Type 4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297282793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2DF597-3017-494F-8EB7-67D007049D48}"/>
              </a:ext>
            </a:extLst>
          </p:cNvPr>
          <p:cNvSpPr/>
          <p:nvPr/>
        </p:nvSpPr>
        <p:spPr>
          <a:xfrm>
            <a:off x="455613" y="3409603"/>
            <a:ext cx="8228010" cy="1292163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Stepped stencil is very common for server ODMs, due to board design complexity (</a:t>
            </a:r>
            <a:r>
              <a:rPr lang="en-US" sz="1400" dirty="0" err="1">
                <a:solidFill>
                  <a:schemeClr val="bg1"/>
                </a:solidFill>
              </a:rPr>
              <a:t>eg</a:t>
            </a:r>
            <a:r>
              <a:rPr lang="en-US" sz="1400" dirty="0">
                <a:solidFill>
                  <a:schemeClr val="bg1"/>
                </a:solidFill>
              </a:rPr>
              <a:t>, large socket/ connectors and small passive components). Stepped up/down range between 3 – 10 mils.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Stencil thickness for Intel component 4 – 5 mils 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PCB thickness is within TMDG guideline.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3C94E36-3449-42E2-B0C3-154FE3B7F2AC}"/>
              </a:ext>
            </a:extLst>
          </p:cNvPr>
          <p:cNvSpPr/>
          <p:nvPr/>
        </p:nvSpPr>
        <p:spPr>
          <a:xfrm>
            <a:off x="7439558" y="354881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</p:spTree>
    <p:extLst>
      <p:ext uri="{BB962C8B-B14F-4D97-AF65-F5344CB8AC3E}">
        <p14:creationId xmlns:p14="http://schemas.microsoft.com/office/powerpoint/2010/main" val="296953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Machine (Brand &amp; Model)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94243165"/>
              </p:ext>
            </p:extLst>
          </p:nvPr>
        </p:nvGraphicFramePr>
        <p:xfrm>
          <a:off x="455613" y="626431"/>
          <a:ext cx="8228010" cy="33126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64478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1129145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870364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1433945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1537855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292223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20868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Area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Inventec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Quanta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Foxconn TJ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Wistron</a:t>
                      </a:r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ZS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Pegatron TW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274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Paste Print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ASM DEK/horizon 03IX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Fuji/GPX-C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ASM DEK/DEK 03i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ASM DEK</a:t>
                      </a:r>
                      <a:r>
                        <a:rPr lang="en-MY" sz="1050" b="0" i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 </a:t>
                      </a:r>
                      <a:r>
                        <a:rPr lang="en-MY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Infinity API; Horizon; Neo Horizon 03iX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DEK/ Neo Horizon 03iX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514872790"/>
                  </a:ext>
                </a:extLst>
              </a:tr>
              <a:tr h="46708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PnP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Fuji/NXT</a:t>
                      </a:r>
                      <a:r>
                        <a:rPr lang="en-US" sz="1050" b="0" i="0" u="none" strike="noStrike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II</a:t>
                      </a:r>
                      <a:endParaRPr lang="en-MY" sz="1050" b="0" i="1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Fuji/AIMEXIII, NXTIII, NXTII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Universal/GSM, </a:t>
                      </a: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Genesisa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Panasonic/CM602&amp;CM402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Panasonic/CM602F0,DT401,NPM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Fuji/NXT M6*14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744997634"/>
                  </a:ext>
                </a:extLst>
              </a:tr>
              <a:tr h="2364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Reflow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REHM</a:t>
                      </a:r>
                      <a:endParaRPr lang="en-MY" sz="1050" b="0" i="1" u="none" strike="noStrike" dirty="0">
                        <a:solidFill>
                          <a:srgbClr val="0070C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REHM/VXP-945</a:t>
                      </a:r>
                    </a:p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ERSA/</a:t>
                      </a: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Hotflow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3/26 XL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Vitronics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/XPM</a:t>
                      </a:r>
                      <a:r>
                        <a:rPr lang="en-US" sz="105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1240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REHM/ </a:t>
                      </a:r>
                      <a:r>
                        <a:rPr lang="en-US" sz="1050" b="0" i="1" u="none" strike="noStrike" dirty="0">
                          <a:solidFill>
                            <a:srgbClr val="0070C0"/>
                          </a:solidFill>
                          <a:effectLst/>
                          <a:latin typeface="+mn-lt"/>
                        </a:rPr>
                        <a:t>VXP-944, VXP945 (N)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Heller/2043 MK5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682804559"/>
                  </a:ext>
                </a:extLst>
              </a:tr>
              <a:tr h="2364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Rework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SRT/Summit 1800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Conceptronic</a:t>
                      </a:r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 Feedom2000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SRT 1100LX, 2200LX	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SUMMIT-</a:t>
                      </a:r>
                      <a:r>
                        <a:rPr lang="en-MY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Lxi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649597282"/>
                  </a:ext>
                </a:extLst>
              </a:tr>
              <a:tr h="23962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Wave Solder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Speed line/ </a:t>
                      </a: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electra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Ersa </a:t>
                      </a: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Hotflow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PowerFlow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N2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JT Smart610-H,  </a:t>
                      </a: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ChanLong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/600CNP-HA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JYI DIANN JT-620L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297282793"/>
                  </a:ext>
                </a:extLst>
              </a:tr>
              <a:tr h="2741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SPI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TRI-7007L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Parmi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Sigma XXL, SAKI BF-3Si (3D SPI), Cyber Optic SE5000L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TRI-7007L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TRI-7007 SII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894802498"/>
                  </a:ext>
                </a:extLst>
              </a:tr>
              <a:tr h="2364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SMT X-ray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VTROX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VTROX V810 XXL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Phynix-2D </a:t>
                      </a:r>
                      <a:r>
                        <a:rPr lang="en-US" sz="105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Xray</a:t>
                      </a: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,</a:t>
                      </a:r>
                    </a:p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TRI TR7500L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Nordson DAGE JADE FP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857259373"/>
                  </a:ext>
                </a:extLst>
              </a:tr>
              <a:tr h="23640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Auto Inspection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TRI-7700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SAKI BF10Z, (S/S, C/S) </a:t>
                      </a:r>
                    </a:p>
                    <a:p>
                      <a:pPr algn="ctr" rtl="0" fontAlgn="ctr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BF-3Di-ZS2 (Post W/S)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provided</a:t>
                      </a:r>
                      <a:endParaRPr kumimoji="0" lang="en-MY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provided</a:t>
                      </a:r>
                      <a:endParaRPr kumimoji="0" lang="en-MY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13301622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1788EC-766C-4BE9-B654-702353D3D43B}"/>
              </a:ext>
            </a:extLst>
          </p:cNvPr>
          <p:cNvSpPr/>
          <p:nvPr/>
        </p:nvSpPr>
        <p:spPr>
          <a:xfrm>
            <a:off x="455612" y="3884370"/>
            <a:ext cx="8228010" cy="800699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5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Wide variety of machine in server ODMs. More challenges in equipment capability assessment &amp; development for future package design.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1AE1CA-EAA9-4B5B-9CE7-F0A9A2F6B0E1}"/>
              </a:ext>
            </a:extLst>
          </p:cNvPr>
          <p:cNvSpPr/>
          <p:nvPr/>
        </p:nvSpPr>
        <p:spPr>
          <a:xfrm>
            <a:off x="7424928" y="318304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</p:spTree>
    <p:extLst>
      <p:ext uri="{BB962C8B-B14F-4D97-AF65-F5344CB8AC3E}">
        <p14:creationId xmlns:p14="http://schemas.microsoft.com/office/powerpoint/2010/main" val="409430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Process Parameter/Capability – Paste Printing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26990838"/>
              </p:ext>
            </p:extLst>
          </p:nvPr>
        </p:nvGraphicFramePr>
        <p:xfrm>
          <a:off x="455613" y="617726"/>
          <a:ext cx="8228010" cy="33007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84472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1050587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359382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1528877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979960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624732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267850">
                <a:tc>
                  <a:txBody>
                    <a:bodyPr/>
                    <a:lstStyle/>
                    <a:p>
                      <a:pPr algn="ctr" fontAlgn="t"/>
                      <a:r>
                        <a:rPr lang="en-MY" sz="1200" u="none" strike="noStrike" dirty="0">
                          <a:effectLst/>
                        </a:rPr>
                        <a:t>Parameter / Capability</a:t>
                      </a:r>
                      <a:r>
                        <a:rPr lang="en-MY" sz="1100" u="none" strike="noStrike" dirty="0">
                          <a:effectLst/>
                        </a:rPr>
                        <a:t> 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Inventec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Quanta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Foxconn TJ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Wistron</a:t>
                      </a:r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ZS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Pegatron TW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223469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Squeegee Speed (mm/s)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20 - 60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1 - 200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45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40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40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65330007"/>
                  </a:ext>
                </a:extLst>
              </a:tr>
              <a:tr h="29911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Squeegee Pressure (Kg)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8-15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 – 25.5</a:t>
                      </a:r>
                    </a:p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(automatic control)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6 - 9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11 - 14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431480162"/>
                  </a:ext>
                </a:extLst>
              </a:tr>
              <a:tr h="29911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Stencil Separation Speed (mm/s)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0.2-1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5.5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0.5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0.2~0.8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0-1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891286287"/>
                  </a:ext>
                </a:extLst>
              </a:tr>
              <a:tr h="394997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Under Screen Cleaning frequency (per print)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1~3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 (Top Side)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u="none" strike="noStrike" dirty="0">
                          <a:effectLst/>
                        </a:rPr>
                        <a:t>Bottom side : 3 </a:t>
                      </a:r>
                    </a:p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u="none" strike="noStrike" dirty="0">
                          <a:effectLst/>
                        </a:rPr>
                        <a:t>Top side : 2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1~4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50" u="none" strike="noStrike" dirty="0">
                          <a:effectLst/>
                        </a:rPr>
                        <a:t> </a:t>
                      </a:r>
                      <a:r>
                        <a:rPr lang="en-US" sz="1050" u="none" strike="noStrike" dirty="0">
                          <a:effectLst/>
                        </a:rPr>
                        <a:t>Bottom side : 4 </a:t>
                      </a:r>
                    </a:p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u="none" strike="noStrike" dirty="0">
                          <a:effectLst/>
                        </a:rPr>
                        <a:t>Top side : 2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649597282"/>
                  </a:ext>
                </a:extLst>
              </a:tr>
              <a:tr h="394997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Stencil Cleaning Frequency (hrs)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12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12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6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Not provided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297282793"/>
                  </a:ext>
                </a:extLst>
              </a:tr>
              <a:tr h="29911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Cleaning Process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Ultrasonic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Ultrasonic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The machine automatically to clean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Ultrasonic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Ultrasonic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647994942"/>
                  </a:ext>
                </a:extLst>
              </a:tr>
              <a:tr h="214788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PCB support type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Vacuum &amp; clip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Panel Vacuum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support block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Pin or Block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Vacuum and pin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191236245"/>
                  </a:ext>
                </a:extLst>
              </a:tr>
              <a:tr h="44504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Do you use the same pallet for paste print, PnP and reflow?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No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Yes,</a:t>
                      </a:r>
                    </a:p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if use pallet for paste print (case by case)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Yes,</a:t>
                      </a:r>
                    </a:p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if use pallet for paste print (case by case)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No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By model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140886148"/>
                  </a:ext>
                </a:extLst>
              </a:tr>
              <a:tr h="33261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Maximum board handling (inch, length x width)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24 x 20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24 x 24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24 x 20</a:t>
                      </a:r>
                      <a:endParaRPr kumimoji="0" lang="en-MY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l Clear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24 x 20</a:t>
                      </a:r>
                      <a:endParaRPr kumimoji="0" lang="en-MY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l Clear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24 x 20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575028090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5080F5E-FEE0-4BCD-8BD6-5617C4E80CB8}"/>
              </a:ext>
            </a:extLst>
          </p:cNvPr>
          <p:cNvSpPr/>
          <p:nvPr/>
        </p:nvSpPr>
        <p:spPr>
          <a:xfrm>
            <a:off x="470242" y="3960271"/>
            <a:ext cx="8228010" cy="761706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5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Varies PCB support type used at paste print. Pallet use depend on case/model.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PCB maximum size &gt; 20 inch (width) may require tool upgrade for most customers.     </a:t>
            </a:r>
            <a:endParaRPr lang="en-MY" sz="125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4D7754E-D76B-4B41-A39D-15A57F155F9B}"/>
              </a:ext>
            </a:extLst>
          </p:cNvPr>
          <p:cNvSpPr/>
          <p:nvPr/>
        </p:nvSpPr>
        <p:spPr>
          <a:xfrm>
            <a:off x="7439558" y="420716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</p:spTree>
    <p:extLst>
      <p:ext uri="{BB962C8B-B14F-4D97-AF65-F5344CB8AC3E}">
        <p14:creationId xmlns:p14="http://schemas.microsoft.com/office/powerpoint/2010/main" val="293388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Process Parameter/Capability – PnP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939749526"/>
              </p:ext>
            </p:extLst>
          </p:nvPr>
        </p:nvGraphicFramePr>
        <p:xfrm>
          <a:off x="455613" y="681275"/>
          <a:ext cx="8228011" cy="283613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84472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928697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558636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703119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703119">
                  <a:extLst>
                    <a:ext uri="{9D8B030D-6E8A-4147-A177-3AD203B41FA5}">
                      <a16:colId xmlns:a16="http://schemas.microsoft.com/office/drawing/2014/main" val="281686781"/>
                    </a:ext>
                  </a:extLst>
                </a:gridCol>
                <a:gridCol w="1517072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132896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292417">
                <a:tc>
                  <a:txBody>
                    <a:bodyPr/>
                    <a:lstStyle/>
                    <a:p>
                      <a:pPr algn="ctr" fontAlgn="t"/>
                      <a:r>
                        <a:rPr lang="en-MY" sz="1200" u="none" strike="noStrike" dirty="0">
                          <a:effectLst/>
                        </a:rPr>
                        <a:t>Parameter / Capability</a:t>
                      </a:r>
                      <a:r>
                        <a:rPr lang="en-MY" sz="1100" u="none" strike="noStrike" dirty="0">
                          <a:effectLst/>
                        </a:rPr>
                        <a:t> 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u="none" strike="noStrike" dirty="0" err="1">
                          <a:effectLst/>
                        </a:rPr>
                        <a:t>Inventec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u="none" strike="noStrike" dirty="0">
                          <a:effectLst/>
                        </a:rPr>
                        <a:t>Quanta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MY" sz="1200" u="none" strike="noStrike" dirty="0">
                          <a:effectLst/>
                        </a:rPr>
                        <a:t>Foxconn TJ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u="none" strike="noStrike" dirty="0" err="1">
                          <a:effectLst/>
                        </a:rPr>
                        <a:t>Wistron</a:t>
                      </a:r>
                      <a:r>
                        <a:rPr lang="en-MY" sz="1200" u="none" strike="noStrike" dirty="0">
                          <a:effectLst/>
                        </a:rPr>
                        <a:t> ZS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u="none" strike="noStrike" dirty="0">
                          <a:effectLst/>
                        </a:rPr>
                        <a:t>Pegatron TW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3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Nozzle size / </a:t>
                      </a:r>
                      <a:r>
                        <a:rPr lang="el-GR" sz="1050" u="none" strike="noStrike" dirty="0">
                          <a:effectLst/>
                        </a:rPr>
                        <a:t>φ</a:t>
                      </a:r>
                      <a:r>
                        <a:rPr lang="en-US" sz="1050" u="none" strike="noStrike" dirty="0">
                          <a:effectLst/>
                        </a:rPr>
                        <a:t> (mm)</a:t>
                      </a:r>
                    </a:p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(LGA socket &amp; Intel BGA)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20, 15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pt-BR" sz="1050" u="none" strike="noStrike" dirty="0">
                          <a:effectLst/>
                        </a:rPr>
                        <a:t>H08M (45 x 45)</a:t>
                      </a:r>
                      <a:br>
                        <a:rPr lang="pt-BR" sz="1050" u="none" strike="noStrike" dirty="0">
                          <a:effectLst/>
                        </a:rPr>
                      </a:br>
                      <a:r>
                        <a:rPr lang="pt-BR" sz="1050" u="none" strike="noStrike" dirty="0">
                          <a:effectLst/>
                        </a:rPr>
                        <a:t>H01/H02 (74 x 74)</a:t>
                      </a:r>
                      <a:endParaRPr lang="pt-BR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altLang="zh-TW" sz="1050" u="none" strike="noStrike" dirty="0">
                          <a:effectLst/>
                        </a:rPr>
                        <a:t>8.65,</a:t>
                      </a:r>
                      <a:endParaRPr lang="en-MY" sz="1050" u="none" strike="noStrike" dirty="0">
                        <a:effectLst/>
                      </a:endParaRPr>
                    </a:p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(Universal 340F)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15,</a:t>
                      </a:r>
                    </a:p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(#5401 Nozzle)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65330007"/>
                  </a:ext>
                </a:extLst>
              </a:tr>
              <a:tr h="4551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Max BGA/socket size capability (mm, x &amp; y)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X:74</a:t>
                      </a:r>
                    </a:p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Y:74</a:t>
                      </a:r>
                      <a:endParaRPr kumimoji="0" lang="en-MY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Intel Clear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X:74</a:t>
                      </a:r>
                    </a:p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Y:74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BGA</a:t>
                      </a:r>
                    </a:p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X: 55</a:t>
                      </a:r>
                    </a:p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Y: 55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Socket</a:t>
                      </a:r>
                    </a:p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X: 83</a:t>
                      </a:r>
                    </a:p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Y: 64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X: 100</a:t>
                      </a:r>
                    </a:p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Y: 80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X:74</a:t>
                      </a:r>
                    </a:p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Y:74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431480162"/>
                  </a:ext>
                </a:extLst>
              </a:tr>
              <a:tr h="3059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Max BGA/socket weight capability (g)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&lt; 50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&lt; 90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&lt; 28.5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&lt; 100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&lt; 38.5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891286287"/>
                  </a:ext>
                </a:extLst>
              </a:tr>
              <a:tr h="3904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Using pallet during placement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No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Board type dependent (&lt;1.6 mm thickness)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Yes,</a:t>
                      </a:r>
                    </a:p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if use pallet for paste print (case by case)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No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By model </a:t>
                      </a:r>
                    </a:p>
                    <a:p>
                      <a:pPr algn="ctr" fontAlgn="t"/>
                      <a:r>
                        <a:rPr lang="en-US" sz="1050" u="none" strike="noStrike" dirty="0">
                          <a:solidFill>
                            <a:schemeClr val="tx1"/>
                          </a:solidFill>
                          <a:effectLst/>
                        </a:rPr>
                        <a:t>(pin support)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649597282"/>
                  </a:ext>
                </a:extLst>
              </a:tr>
              <a:tr h="36121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Maximum board handling (inch, length x width)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24 x 21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30 x 30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24 x 20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26 x 18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21 x 16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297282793"/>
                  </a:ext>
                </a:extLst>
              </a:tr>
              <a:tr h="45515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>
                          <a:effectLst/>
                        </a:rPr>
                        <a:t>min pitch/ball recognition capability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0.4 pitch/0.25 bump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>
                          <a:effectLst/>
                        </a:rPr>
                        <a:t>Lead: 0.24mm</a:t>
                      </a:r>
                      <a:br>
                        <a:rPr lang="en-US" sz="1050" u="none" strike="noStrike">
                          <a:effectLst/>
                        </a:rPr>
                      </a:br>
                      <a:r>
                        <a:rPr lang="en-US" sz="1050" u="none" strike="noStrike">
                          <a:effectLst/>
                        </a:rPr>
                        <a:t>Bump: 0.40mm</a:t>
                      </a:r>
                      <a:br>
                        <a:rPr lang="en-US" sz="1050" u="none" strike="noStrike">
                          <a:effectLst/>
                        </a:rPr>
                      </a:br>
                      <a:r>
                        <a:rPr lang="en-US" sz="1050" u="none" strike="noStrike">
                          <a:effectLst/>
                        </a:rPr>
                        <a:t>Pin: 0.40mm</a:t>
                      </a:r>
                      <a:endParaRPr lang="en-US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0.4 pitch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hMerge="1">
                  <a:txBody>
                    <a:bodyPr/>
                    <a:lstStyle/>
                    <a:p>
                      <a:endParaRPr lang="en-MY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0.3 mm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0.4 mm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647994942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6C841B-9EC2-4645-BAE3-C8E3D4DC293A}"/>
              </a:ext>
            </a:extLst>
          </p:cNvPr>
          <p:cNvSpPr/>
          <p:nvPr/>
        </p:nvSpPr>
        <p:spPr>
          <a:xfrm>
            <a:off x="454024" y="3606393"/>
            <a:ext cx="8228010" cy="109328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25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LGA/BGA beyond socket-E had reached max weight capability for some customer, need early development roadmap &amp; engagement.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PCB maximum size &gt; 16/18 inch (width) require tool upgrade for Pegatron/</a:t>
            </a:r>
            <a:r>
              <a:rPr lang="en-US" sz="1250" dirty="0" err="1">
                <a:solidFill>
                  <a:schemeClr val="bg1"/>
                </a:solidFill>
              </a:rPr>
              <a:t>Wistron</a:t>
            </a:r>
            <a:r>
              <a:rPr lang="en-US" sz="1250" dirty="0">
                <a:solidFill>
                  <a:schemeClr val="bg1"/>
                </a:solidFill>
              </a:rPr>
              <a:t>. 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50" dirty="0">
                <a:solidFill>
                  <a:schemeClr val="bg1"/>
                </a:solidFill>
              </a:rPr>
              <a:t>PnP ball/lead recognition capability &gt; 0.4 mm pitch.   </a:t>
            </a:r>
            <a:endParaRPr lang="en-MY" sz="125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82545F-8074-428D-85D7-FFC18DD87AD0}"/>
              </a:ext>
            </a:extLst>
          </p:cNvPr>
          <p:cNvSpPr/>
          <p:nvPr/>
        </p:nvSpPr>
        <p:spPr>
          <a:xfrm>
            <a:off x="7439558" y="376826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</p:spTree>
    <p:extLst>
      <p:ext uri="{BB962C8B-B14F-4D97-AF65-F5344CB8AC3E}">
        <p14:creationId xmlns:p14="http://schemas.microsoft.com/office/powerpoint/2010/main" val="69786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16248"/>
            <a:ext cx="8229600" cy="868680"/>
          </a:xfrm>
        </p:spPr>
        <p:txBody>
          <a:bodyPr/>
          <a:lstStyle/>
          <a:p>
            <a:r>
              <a:rPr lang="en-US" dirty="0"/>
              <a:t>PCBA Process Parameter/Capability – Reflow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361440807"/>
              </p:ext>
            </p:extLst>
          </p:nvPr>
        </p:nvGraphicFramePr>
        <p:xfrm>
          <a:off x="461971" y="437256"/>
          <a:ext cx="8228010" cy="30957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49709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1063460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467599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1741018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1228953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177271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341529">
                <a:tc>
                  <a:txBody>
                    <a:bodyPr/>
                    <a:lstStyle/>
                    <a:p>
                      <a:pPr algn="ctr" fontAlgn="t"/>
                      <a:r>
                        <a:rPr lang="en-MY" sz="1200" u="none" strike="noStrike" dirty="0">
                          <a:effectLst/>
                        </a:rPr>
                        <a:t>Parameter/  Capability</a:t>
                      </a:r>
                      <a:r>
                        <a:rPr lang="en-MY" sz="1100" u="none" strike="noStrike" dirty="0">
                          <a:effectLst/>
                        </a:rPr>
                        <a:t> 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Inventec</a:t>
                      </a:r>
                      <a:endParaRPr lang="en-MY" sz="12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Quanta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Foxconn TJ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Wistron</a:t>
                      </a:r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ZS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Pegatron TW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335810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Use of PCB support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Carrier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Bottom : Center support</a:t>
                      </a:r>
                      <a:br>
                        <a:rPr lang="en-US" sz="1050" u="none" strike="noStrike" dirty="0">
                          <a:effectLst/>
                        </a:rPr>
                      </a:br>
                      <a:r>
                        <a:rPr lang="en-US" sz="1050" u="none" strike="noStrike" dirty="0">
                          <a:effectLst/>
                        </a:rPr>
                        <a:t>Top : Alloy Carrier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Main board usually use the carrier to support PCB.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Not provided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Special carrier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65330007"/>
                  </a:ext>
                </a:extLst>
              </a:tr>
              <a:tr h="15350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N2 purging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Yes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Yes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Yes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u="none" strike="noStrike" kern="1200" cap="none" spc="0" normalizeH="0" baseline="0" noProof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Yes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kumimoji="0" lang="en-US" sz="1050" u="none" strike="noStrike" kern="1200" cap="none" spc="0" normalizeH="0" baseline="0" noProof="0" dirty="0">
                          <a:ln>
                            <a:noFill/>
                          </a:ln>
                          <a:effectLst/>
                          <a:uLnTx/>
                          <a:uFillTx/>
                        </a:rPr>
                        <a:t>Yes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86055770"/>
                  </a:ext>
                </a:extLst>
              </a:tr>
              <a:tr h="15350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O2 PPM control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&lt; 3000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&lt; 3000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&lt; 1000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&lt; 1000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&lt; 2000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76088017"/>
                  </a:ext>
                </a:extLst>
              </a:tr>
              <a:tr h="29974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Air flow control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Yes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Yes, Left to Right (facing the machine)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 Yes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No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 Not provided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988171980"/>
                  </a:ext>
                </a:extLst>
              </a:tr>
              <a:tr h="15350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Belt Speed (mm/min)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900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900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50" u="none" strike="noStrike" dirty="0">
                          <a:effectLst/>
                        </a:rPr>
                        <a:t>250 -2030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50" u="none" strike="noStrike" dirty="0">
                          <a:effectLst/>
                        </a:rPr>
                        <a:t>900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50" u="none" strike="noStrike" dirty="0">
                          <a:effectLst/>
                        </a:rPr>
                        <a:t>850-1000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118140028"/>
                  </a:ext>
                </a:extLst>
              </a:tr>
              <a:tr h="15350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Ramp Rate (°C/s)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647994942"/>
                  </a:ext>
                </a:extLst>
              </a:tr>
              <a:tr h="15350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Cooling Rate (°C/s)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≦ 3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ea typeface="新細明體" panose="02020500000000000000" pitchFamily="18" charset="-120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899774159"/>
                  </a:ext>
                </a:extLst>
              </a:tr>
              <a:tr h="15350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Peak Temp Range</a:t>
                      </a:r>
                      <a:endParaRPr lang="en-MY" sz="105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230-250 °C</a:t>
                      </a:r>
                      <a:endParaRPr lang="en-MY" sz="105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230-250 °C</a:t>
                      </a:r>
                      <a:endParaRPr lang="en-MY" sz="105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235-255 °C</a:t>
                      </a:r>
                      <a:endParaRPr lang="en-MY" sz="105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 230-250 °C</a:t>
                      </a:r>
                      <a:endParaRPr lang="en-MY" sz="1050" b="1" i="0" u="none" strike="noStrike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230-250 °C</a:t>
                      </a:r>
                      <a:endParaRPr lang="en-MY" sz="1050" b="1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506507420"/>
                  </a:ext>
                </a:extLst>
              </a:tr>
              <a:tr h="15350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Time above Liquidus (s)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60 - 90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60 - 90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60 - 120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50" u="none" strike="noStrike" dirty="0">
                          <a:effectLst/>
                        </a:rPr>
                        <a:t> 60 - 90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60 - 120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407454485"/>
                  </a:ext>
                </a:extLst>
              </a:tr>
              <a:tr h="1695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Soak Temp Range (s)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90 -120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90 - 120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60 – 120 (145 – 175°C)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 90 - 120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60 - 120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480308711"/>
                  </a:ext>
                </a:extLst>
              </a:tr>
              <a:tr h="29974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Delta T across Intel component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15℃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10°C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5°C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 10°C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 dirty="0">
                          <a:effectLst/>
                        </a:rPr>
                        <a:t>10°C</a:t>
                      </a:r>
                      <a:endParaRPr lang="en-MY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67841648"/>
                  </a:ext>
                </a:extLst>
              </a:tr>
              <a:tr h="38488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Number of reflow and cooling zones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8- ramp,3- reflow,3- cooling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u="none" strike="noStrike">
                          <a:effectLst/>
                        </a:rPr>
                        <a:t>REHM:9/5</a:t>
                      </a:r>
                      <a:br>
                        <a:rPr lang="en-MY" sz="1050" u="none" strike="noStrike">
                          <a:effectLst/>
                        </a:rPr>
                      </a:br>
                      <a:r>
                        <a:rPr lang="en-MY" sz="1050" u="none" strike="noStrike">
                          <a:effectLst/>
                        </a:rPr>
                        <a:t>ERSA: 9/3</a:t>
                      </a:r>
                      <a:endParaRPr lang="en-MY" sz="105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12- reflow, 4- cooling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u="none" strike="noStrike" dirty="0">
                          <a:effectLst/>
                        </a:rPr>
                        <a:t> 9- ramp, 4- reflow, 5- cooling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1050" u="none" strike="noStrike" dirty="0">
                          <a:effectLst/>
                        </a:rPr>
                        <a:t>13 heating, 3 cooling</a:t>
                      </a:r>
                      <a:endParaRPr lang="it-IT" sz="105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586532809"/>
                  </a:ext>
                </a:extLst>
              </a:tr>
            </a:tbl>
          </a:graphicData>
        </a:graphic>
      </p:graphicFrame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DF2EC4-42AA-4FDF-BD49-D2EABCC94744}"/>
              </a:ext>
            </a:extLst>
          </p:cNvPr>
          <p:cNvSpPr/>
          <p:nvPr/>
        </p:nvSpPr>
        <p:spPr>
          <a:xfrm>
            <a:off x="454019" y="3525926"/>
            <a:ext cx="8353481" cy="1313091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15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Customer’s NPI typically followed MAS recommended profile. They customize mass production (MP) profile in order to achieve good yield.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1150" dirty="0">
                <a:solidFill>
                  <a:schemeClr val="bg1"/>
                </a:solidFill>
              </a:rPr>
              <a:t>Peak Temp range of 20 </a:t>
            </a:r>
            <a:r>
              <a:rPr lang="en-MY" sz="1150" dirty="0"/>
              <a:t>°C due to large components on PCB</a:t>
            </a:r>
            <a:r>
              <a:rPr lang="en-US" sz="1150" dirty="0">
                <a:solidFill>
                  <a:schemeClr val="bg1"/>
                </a:solidFill>
              </a:rPr>
              <a:t>. Foxconn required range </a:t>
            </a:r>
            <a:r>
              <a:rPr lang="en-MY" sz="1150" dirty="0"/>
              <a:t>235-255 °C, others </a:t>
            </a:r>
            <a:r>
              <a:rPr lang="en-US" sz="1150" dirty="0">
                <a:solidFill>
                  <a:schemeClr val="bg1"/>
                </a:solidFill>
              </a:rPr>
              <a:t>@</a:t>
            </a:r>
            <a:r>
              <a:rPr lang="en-MY" sz="1150" dirty="0"/>
              <a:t>230-250 °C</a:t>
            </a:r>
            <a:endParaRPr lang="en-US" sz="1150" dirty="0">
              <a:solidFill>
                <a:schemeClr val="bg1"/>
              </a:solidFill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1150" dirty="0">
                <a:solidFill>
                  <a:schemeClr val="bg1"/>
                </a:solidFill>
              </a:rPr>
              <a:t>TAL range 60 – 90s for most customer, Foxconn &amp; Pegatron required range 60 -120s.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1150" dirty="0" err="1">
                <a:solidFill>
                  <a:schemeClr val="bg1"/>
                </a:solidFill>
              </a:rPr>
              <a:t>Inventec</a:t>
            </a:r>
            <a:r>
              <a:rPr lang="en-US" sz="1150" dirty="0">
                <a:solidFill>
                  <a:schemeClr val="bg1"/>
                </a:solidFill>
              </a:rPr>
              <a:t> is </a:t>
            </a:r>
            <a:r>
              <a:rPr lang="en-US" sz="1150" dirty="0" err="1">
                <a:solidFill>
                  <a:schemeClr val="bg1"/>
                </a:solidFill>
              </a:rPr>
              <a:t>Delta_T</a:t>
            </a:r>
            <a:r>
              <a:rPr lang="en-US" sz="1150" dirty="0">
                <a:solidFill>
                  <a:schemeClr val="bg1"/>
                </a:solidFill>
              </a:rPr>
              <a:t> &lt;</a:t>
            </a:r>
            <a:r>
              <a:rPr lang="en-MY" sz="1150" dirty="0"/>
              <a:t>15°C (vs MAS </a:t>
            </a:r>
            <a:r>
              <a:rPr lang="en-US" sz="1150" dirty="0">
                <a:solidFill>
                  <a:schemeClr val="bg1"/>
                </a:solidFill>
              </a:rPr>
              <a:t>&lt;</a:t>
            </a:r>
            <a:r>
              <a:rPr lang="en-MY" sz="1150" dirty="0"/>
              <a:t>10°C).</a:t>
            </a:r>
            <a:r>
              <a:rPr lang="en-US" sz="1150" dirty="0">
                <a:solidFill>
                  <a:schemeClr val="bg1"/>
                </a:solidFill>
              </a:rPr>
              <a:t> </a:t>
            </a:r>
            <a:endParaRPr lang="en-MY" sz="115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DA04C3-E73A-4673-A28F-C2492393655C}"/>
              </a:ext>
            </a:extLst>
          </p:cNvPr>
          <p:cNvSpPr/>
          <p:nvPr/>
        </p:nvSpPr>
        <p:spPr>
          <a:xfrm>
            <a:off x="7439558" y="332936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</p:spTree>
    <p:extLst>
      <p:ext uri="{BB962C8B-B14F-4D97-AF65-F5344CB8AC3E}">
        <p14:creationId xmlns:p14="http://schemas.microsoft.com/office/powerpoint/2010/main" val="416348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Process Parameter/Capability – Wave &amp; Rework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874000652"/>
              </p:ext>
            </p:extLst>
          </p:nvPr>
        </p:nvGraphicFramePr>
        <p:xfrm>
          <a:off x="455613" y="748022"/>
          <a:ext cx="8228009" cy="293292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2873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1704442">
                  <a:extLst>
                    <a:ext uri="{9D8B030D-6E8A-4147-A177-3AD203B41FA5}">
                      <a16:colId xmlns:a16="http://schemas.microsoft.com/office/drawing/2014/main" val="428557085"/>
                    </a:ext>
                  </a:extLst>
                </a:gridCol>
                <a:gridCol w="950976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258214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1220788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157132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141973">
                <a:tc>
                  <a:txBody>
                    <a:bodyPr/>
                    <a:lstStyle/>
                    <a:p>
                      <a:pPr algn="ctr" fontAlgn="t"/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Area</a:t>
                      </a:r>
                      <a:r>
                        <a:rPr lang="en-MY" sz="1200" u="none" strike="noStrike" dirty="0">
                          <a:effectLst/>
                          <a:latin typeface="+mn-lt"/>
                        </a:rPr>
                        <a:t> </a:t>
                      </a:r>
                      <a:endParaRPr lang="en-MY" sz="12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Parameter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 err="1">
                          <a:effectLst/>
                          <a:latin typeface="+mn-lt"/>
                        </a:rPr>
                        <a:t>Inventec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Quanta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Foxconn TJ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 err="1">
                          <a:effectLst/>
                          <a:latin typeface="+mn-lt"/>
                        </a:rPr>
                        <a:t>Wistron</a:t>
                      </a:r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 ZS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Pegatron TW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177679">
                <a:tc rowSpan="5"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Wave soldering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Preheat Time (s)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&lt;180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192 - 240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by product</a:t>
                      </a:r>
                      <a:endParaRPr lang="en-MY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90 - 130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65330007"/>
                  </a:ext>
                </a:extLst>
              </a:tr>
              <a:tr h="107959"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Solder Pot Temperature (℃)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265 - 275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265 - 275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260 - 270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263 - 270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270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86055770"/>
                  </a:ext>
                </a:extLst>
              </a:tr>
              <a:tr h="177679"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Conveyor Speed (mm/min)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900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500 - 2500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600 - 750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600 - 800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850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76088017"/>
                  </a:ext>
                </a:extLst>
              </a:tr>
              <a:tr h="312046"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Components / pitch undergo wave solder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>
                          <a:effectLst/>
                          <a:latin typeface="+mn-lt"/>
                        </a:rPr>
                        <a:t>connector, dip capacitor</a:t>
                      </a:r>
                      <a:endParaRPr lang="en-MY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 component, &gt;2.5mm pitch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it-IT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E-Cap,  DIMM/IO Connectors, etc...   </a:t>
                      </a:r>
                    </a:p>
                    <a:p>
                      <a:pPr algn="ctr" fontAlgn="t"/>
                      <a:r>
                        <a:rPr lang="it-IT" sz="100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&gt; 1.57mm pitch</a:t>
                      </a:r>
                      <a:endParaRPr lang="it-IT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  <a:latin typeface="+mn-lt"/>
                        </a:rPr>
                        <a:t>All PTH component (DIP type)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988171980"/>
                  </a:ext>
                </a:extLst>
              </a:tr>
              <a:tr h="177679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O2 PPM monitor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N</a:t>
                      </a:r>
                      <a:r>
                        <a:rPr lang="en-MY" sz="1000" u="none" strike="noStrike" dirty="0" err="1">
                          <a:effectLst/>
                          <a:latin typeface="+mn-lt"/>
                        </a:rPr>
                        <a:t>ot</a:t>
                      </a:r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 provided</a:t>
                      </a:r>
                      <a:endParaRPr lang="en-MY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&lt;3000 O2 PPM</a:t>
                      </a:r>
                      <a:endParaRPr lang="en-MY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>
                          <a:effectLst/>
                          <a:latin typeface="+mn-lt"/>
                        </a:rPr>
                        <a:t>&lt;1000 O2 PPM</a:t>
                      </a:r>
                      <a:endParaRPr lang="en-MY" sz="1000" b="0" i="0" u="none" strike="noStrike"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 NA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>
                          <a:effectLst/>
                          <a:latin typeface="+mn-lt"/>
                        </a:rPr>
                        <a:t>NA</a:t>
                      </a:r>
                      <a:endParaRPr lang="en-MY" sz="10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480308711"/>
                  </a:ext>
                </a:extLst>
              </a:tr>
              <a:tr h="107959">
                <a:tc rowSpan="5"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  <a:latin typeface="+mn-lt"/>
                        </a:rPr>
                        <a:t>Rework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Peak Temp Range (°C)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235 - 250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50 - 400 (typo?)</a:t>
                      </a:r>
                      <a:endParaRPr lang="en-MY" sz="1000" b="0" i="0" u="none" strike="noStrike" dirty="0">
                        <a:solidFill>
                          <a:srgbClr val="FF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235 - 255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230 – 250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230 - 250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67841648"/>
                  </a:ext>
                </a:extLst>
              </a:tr>
              <a:tr h="329799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>
                          <a:effectLst/>
                          <a:latin typeface="+mn-lt"/>
                        </a:rPr>
                        <a:t>Time above Liquidus  (s)</a:t>
                      </a:r>
                      <a:endParaRPr lang="en-MY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30 - 120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60 - 90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60 - 120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60 - 90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Socket: 60 - 120</a:t>
                      </a:r>
                      <a:br>
                        <a:rPr lang="en-MY" sz="1000" u="none" strike="noStrike" dirty="0">
                          <a:effectLst/>
                          <a:latin typeface="+mn-lt"/>
                        </a:rPr>
                      </a:br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BGA: 60 – 90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586532809"/>
                  </a:ext>
                </a:extLst>
              </a:tr>
              <a:tr h="210002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  <a:latin typeface="+mn-lt"/>
                        </a:rPr>
                        <a:t>Soak Temp Range and Time 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90 - 120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90 - 120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60 – 120</a:t>
                      </a:r>
                    </a:p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(145-175 °C)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90 – 120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Socket: 60 - 100</a:t>
                      </a:r>
                      <a:br>
                        <a:rPr lang="en-MY" sz="1000" u="none" strike="noStrike" dirty="0">
                          <a:effectLst/>
                          <a:latin typeface="+mn-lt"/>
                        </a:rPr>
                      </a:br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BGA: 60 – 120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928627612"/>
                  </a:ext>
                </a:extLst>
              </a:tr>
              <a:tr h="210002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>
                          <a:effectLst/>
                          <a:latin typeface="+mn-lt"/>
                        </a:rPr>
                        <a:t>Max BGA/socket weight capability (grams)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Not provided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&lt; 900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&lt; 28.5</a:t>
                      </a:r>
                      <a:endParaRPr lang="en-MY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&lt; 100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&lt; 38.5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565731865"/>
                  </a:ext>
                </a:extLst>
              </a:tr>
              <a:tr h="437423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u="none" strike="noStrike" dirty="0">
                          <a:effectLst/>
                          <a:latin typeface="+mn-lt"/>
                        </a:rPr>
                        <a:t>Is N2 used&amp; O2 PPM control ?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Not provided</a:t>
                      </a:r>
                      <a:endParaRPr lang="en-MY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Yes,</a:t>
                      </a:r>
                    </a:p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 &lt;3000 O2 PPM</a:t>
                      </a:r>
                      <a:endParaRPr lang="en-MY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No,</a:t>
                      </a:r>
                    </a:p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no O2 PPM control</a:t>
                      </a:r>
                      <a:endParaRPr lang="en-MY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Yes,</a:t>
                      </a:r>
                    </a:p>
                    <a:p>
                      <a:pPr algn="ctr" fontAlgn="t"/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&lt; 3000 O2 PPM</a:t>
                      </a:r>
                      <a:endParaRPr lang="en-MY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000" u="none" strike="noStrike" dirty="0">
                          <a:effectLst/>
                          <a:latin typeface="+mn-lt"/>
                        </a:rPr>
                        <a:t>Not provided</a:t>
                      </a:r>
                      <a:endParaRPr lang="en-MY" sz="1000" b="0" i="0" u="none" strike="noStrike" dirty="0"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403462581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F47C89-8EFB-45BA-8EAA-E389A83DA29A}"/>
              </a:ext>
            </a:extLst>
          </p:cNvPr>
          <p:cNvSpPr/>
          <p:nvPr/>
        </p:nvSpPr>
        <p:spPr>
          <a:xfrm>
            <a:off x="7439558" y="464612"/>
            <a:ext cx="1258694" cy="283410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245FFC-B8CE-490F-9D3D-4ADE6DE175FD}"/>
              </a:ext>
            </a:extLst>
          </p:cNvPr>
          <p:cNvSpPr/>
          <p:nvPr/>
        </p:nvSpPr>
        <p:spPr>
          <a:xfrm>
            <a:off x="454022" y="3660903"/>
            <a:ext cx="8228010" cy="961412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Rework PnP had reached maximum weight capability for Foxconn &amp; Pegatron (&lt;28g).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Rework @ air is still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Peak Temp range of 20 </a:t>
            </a:r>
            <a:r>
              <a:rPr lang="en-MY" sz="1200" dirty="0"/>
              <a:t>°C required to achieve good yield (same as SMT)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  <a:endParaRPr lang="en-MY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33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Process Parameter/Capability – Inspection (1)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46295843"/>
              </p:ext>
            </p:extLst>
          </p:nvPr>
        </p:nvGraphicFramePr>
        <p:xfrm>
          <a:off x="455613" y="696814"/>
          <a:ext cx="8228009" cy="29687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2873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1610075">
                  <a:extLst>
                    <a:ext uri="{9D8B030D-6E8A-4147-A177-3AD203B41FA5}">
                      <a16:colId xmlns:a16="http://schemas.microsoft.com/office/drawing/2014/main" val="428557085"/>
                    </a:ext>
                  </a:extLst>
                </a:gridCol>
                <a:gridCol w="976785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202666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1367690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1220788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157132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343216">
                <a:tc>
                  <a:txBody>
                    <a:bodyPr/>
                    <a:lstStyle/>
                    <a:p>
                      <a:pPr algn="ctr" fontAlgn="t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Area</a:t>
                      </a:r>
                      <a:r>
                        <a:rPr lang="en-MY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Process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Inventec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Quanta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Foxconn TJ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 err="1">
                          <a:effectLst/>
                          <a:latin typeface="+mn-lt"/>
                        </a:rPr>
                        <a:t>Wistron</a:t>
                      </a:r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 ZS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Pegatron TW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238824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SPI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Sampling rate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65330007"/>
                  </a:ext>
                </a:extLst>
              </a:tr>
              <a:tr h="238824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Min/Max Spec and control limit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not provided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not provided</a:t>
                      </a:r>
                      <a:endParaRPr kumimoji="0" lang="en-MY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Intel Clear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not provided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not provided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not provided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690973073"/>
                  </a:ext>
                </a:extLst>
              </a:tr>
              <a:tr h="238824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 SPI Performed on selective components or 100%?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Yes, selective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69065441"/>
                  </a:ext>
                </a:extLst>
              </a:tr>
              <a:tr h="238824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Maximum board handling capability 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(inch, length x width)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 x 24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32 x 24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x 20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 x 24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 x 20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480049851"/>
                  </a:ext>
                </a:extLst>
              </a:tr>
              <a:tr h="238824">
                <a:tc rowSpan="2"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X-Ray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In line / offline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offline 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In-line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offline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AXI for In-line,  2DX-ray for offline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offline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28253232"/>
                  </a:ext>
                </a:extLst>
              </a:tr>
              <a:tr h="238824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sampling rate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Per customer requirement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NPI: 100%</a:t>
                      </a:r>
                      <a:br>
                        <a:rPr lang="en-US" sz="1100" b="0" i="0" u="none" strike="noStrike" dirty="0">
                          <a:effectLst/>
                          <a:latin typeface="+mn-lt"/>
                        </a:rPr>
                      </a:br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MP: Selective (BGA, Socket, TH component)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Sample 5 pcs/lot start, follow by 1 pcs per hour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Not provided 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NPI: 100%  </a:t>
                      </a:r>
                      <a:b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MP:  1 pcs every 2 </a:t>
                      </a:r>
                      <a:r>
                        <a:rPr lang="en-US" sz="11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hrs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30472849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1780CC-57E5-4CC6-A400-D609C5B5CCAD}"/>
              </a:ext>
            </a:extLst>
          </p:cNvPr>
          <p:cNvSpPr/>
          <p:nvPr/>
        </p:nvSpPr>
        <p:spPr>
          <a:xfrm>
            <a:off x="455612" y="3753839"/>
            <a:ext cx="8228010" cy="93156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SPI is performed 100% for every PCB.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Post SMT X-ray sampling plan varies by customer due to different run rate &amp; line set-up. </a:t>
            </a:r>
            <a:endParaRPr lang="en-MY" sz="14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7715A6-490F-4EE2-8903-7CDCA65867F0}"/>
              </a:ext>
            </a:extLst>
          </p:cNvPr>
          <p:cNvSpPr/>
          <p:nvPr/>
        </p:nvSpPr>
        <p:spPr>
          <a:xfrm>
            <a:off x="7439558" y="479238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</p:spTree>
    <p:extLst>
      <p:ext uri="{BB962C8B-B14F-4D97-AF65-F5344CB8AC3E}">
        <p14:creationId xmlns:p14="http://schemas.microsoft.com/office/powerpoint/2010/main" val="263457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Process Parameter/Capability – Inspection (2)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39222879"/>
              </p:ext>
            </p:extLst>
          </p:nvPr>
        </p:nvGraphicFramePr>
        <p:xfrm>
          <a:off x="455613" y="769967"/>
          <a:ext cx="8228009" cy="265865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92873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1411834">
                  <a:extLst>
                    <a:ext uri="{9D8B030D-6E8A-4147-A177-3AD203B41FA5}">
                      <a16:colId xmlns:a16="http://schemas.microsoft.com/office/drawing/2014/main" val="428557085"/>
                    </a:ext>
                  </a:extLst>
                </a:gridCol>
                <a:gridCol w="882595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781092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1081695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1096962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280958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263989">
                <a:tc>
                  <a:txBody>
                    <a:bodyPr/>
                    <a:lstStyle/>
                    <a:p>
                      <a:pPr algn="ctr" fontAlgn="t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Area</a:t>
                      </a:r>
                      <a:r>
                        <a:rPr lang="en-MY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Process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Inventec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Quanta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Foxconn TJ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 err="1">
                          <a:effectLst/>
                          <a:latin typeface="+mn-lt"/>
                        </a:rPr>
                        <a:t>Wistron</a:t>
                      </a:r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 ZS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u="none" strike="noStrike" dirty="0">
                          <a:effectLst/>
                          <a:latin typeface="+mn-lt"/>
                        </a:rPr>
                        <a:t>Pegatron TW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238824">
                <a:tc rowSpan="6"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AOI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In line / offline ?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In-line 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In-line  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In-line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In-line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Before in line  / After off line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17647249"/>
                  </a:ext>
                </a:extLst>
              </a:tr>
              <a:tr h="238824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sampling rate ?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 for production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100% for production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209326236"/>
                  </a:ext>
                </a:extLst>
              </a:tr>
              <a:tr h="238824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How many AOI's are used?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 2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Not provided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097701819"/>
                  </a:ext>
                </a:extLst>
              </a:tr>
              <a:tr h="238824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Where is AOI located?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 Post Reflow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Pre-reflow: 2 (CS/SS)*, 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Post wave solder: 2 (CS/SS)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 Post Reflow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Post reflow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Pre-reflow: 2,</a:t>
                      </a:r>
                    </a:p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Post-reflow: 2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09378265"/>
                  </a:ext>
                </a:extLst>
              </a:tr>
              <a:tr h="238824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 AOI Performed on selective components or 100%?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NPI: 100%</a:t>
                      </a:r>
                      <a:br>
                        <a:rPr lang="en-MY" sz="1100" b="0" i="0" u="none" strike="noStrike">
                          <a:effectLst/>
                          <a:latin typeface="+mn-lt"/>
                        </a:rPr>
                      </a:br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MP: Selective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 (no detail provided)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148259541"/>
                  </a:ext>
                </a:extLst>
              </a:tr>
              <a:tr h="238824"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Maximum board handling capability (inch, length x width)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26 x 24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34 x 27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 X 20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 x 24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 X 20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302693862"/>
                  </a:ext>
                </a:extLst>
              </a:tr>
            </a:tbl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245FFC-B8CE-490F-9D3D-4ADE6DE175FD}"/>
              </a:ext>
            </a:extLst>
          </p:cNvPr>
          <p:cNvSpPr/>
          <p:nvPr/>
        </p:nvSpPr>
        <p:spPr>
          <a:xfrm>
            <a:off x="507482" y="3764376"/>
            <a:ext cx="8228010" cy="844201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100% post-reflow AOI is performed during MP phase by in-line process for all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Only 2 customers performed pre-reflow AOI for early issue detection.</a:t>
            </a:r>
            <a:endParaRPr lang="en-MY" sz="1400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6A0E7A-88BF-47E2-9D13-4CCBD46CCD73}"/>
              </a:ext>
            </a:extLst>
          </p:cNvPr>
          <p:cNvSpPr/>
          <p:nvPr/>
        </p:nvSpPr>
        <p:spPr>
          <a:xfrm>
            <a:off x="7747258" y="521820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449A4-CBF7-4D06-BD0B-0EBF38D26709}"/>
              </a:ext>
            </a:extLst>
          </p:cNvPr>
          <p:cNvSpPr txBox="1"/>
          <p:nvPr/>
        </p:nvSpPr>
        <p:spPr>
          <a:xfrm>
            <a:off x="5844845" y="3509905"/>
            <a:ext cx="2853407" cy="217896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dirty="0"/>
              <a:t>*C/S – Chip Shooter; S/S – Socket Shooter</a:t>
            </a:r>
            <a:endParaRPr lang="en-MY" sz="1100" dirty="0"/>
          </a:p>
        </p:txBody>
      </p:sp>
    </p:spTree>
    <p:extLst>
      <p:ext uri="{BB962C8B-B14F-4D97-AF65-F5344CB8AC3E}">
        <p14:creationId xmlns:p14="http://schemas.microsoft.com/office/powerpoint/2010/main" val="13485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PCBA – Operation &amp; Others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18072A0-3339-494A-B539-6B0193C576F9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536623718"/>
              </p:ext>
            </p:extLst>
          </p:nvPr>
        </p:nvGraphicFramePr>
        <p:xfrm>
          <a:off x="455613" y="595864"/>
          <a:ext cx="8228011" cy="30165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36293">
                  <a:extLst>
                    <a:ext uri="{9D8B030D-6E8A-4147-A177-3AD203B41FA5}">
                      <a16:colId xmlns:a16="http://schemas.microsoft.com/office/drawing/2014/main" val="1033195551"/>
                    </a:ext>
                  </a:extLst>
                </a:gridCol>
                <a:gridCol w="1168471">
                  <a:extLst>
                    <a:ext uri="{9D8B030D-6E8A-4147-A177-3AD203B41FA5}">
                      <a16:colId xmlns:a16="http://schemas.microsoft.com/office/drawing/2014/main" val="1939866547"/>
                    </a:ext>
                  </a:extLst>
                </a:gridCol>
                <a:gridCol w="1168471">
                  <a:extLst>
                    <a:ext uri="{9D8B030D-6E8A-4147-A177-3AD203B41FA5}">
                      <a16:colId xmlns:a16="http://schemas.microsoft.com/office/drawing/2014/main" val="1857240689"/>
                    </a:ext>
                  </a:extLst>
                </a:gridCol>
                <a:gridCol w="1325006">
                  <a:extLst>
                    <a:ext uri="{9D8B030D-6E8A-4147-A177-3AD203B41FA5}">
                      <a16:colId xmlns:a16="http://schemas.microsoft.com/office/drawing/2014/main" val="481943837"/>
                    </a:ext>
                  </a:extLst>
                </a:gridCol>
                <a:gridCol w="1176590">
                  <a:extLst>
                    <a:ext uri="{9D8B030D-6E8A-4147-A177-3AD203B41FA5}">
                      <a16:colId xmlns:a16="http://schemas.microsoft.com/office/drawing/2014/main" val="959518646"/>
                    </a:ext>
                  </a:extLst>
                </a:gridCol>
                <a:gridCol w="1176590">
                  <a:extLst>
                    <a:ext uri="{9D8B030D-6E8A-4147-A177-3AD203B41FA5}">
                      <a16:colId xmlns:a16="http://schemas.microsoft.com/office/drawing/2014/main" val="3814848044"/>
                    </a:ext>
                  </a:extLst>
                </a:gridCol>
                <a:gridCol w="1176590">
                  <a:extLst>
                    <a:ext uri="{9D8B030D-6E8A-4147-A177-3AD203B41FA5}">
                      <a16:colId xmlns:a16="http://schemas.microsoft.com/office/drawing/2014/main" val="1894100937"/>
                    </a:ext>
                  </a:extLst>
                </a:gridCol>
              </a:tblGrid>
              <a:tr h="310933">
                <a:tc gridSpan="2">
                  <a:txBody>
                    <a:bodyPr/>
                    <a:lstStyle/>
                    <a:p>
                      <a:pPr algn="ctr" fontAlgn="t"/>
                      <a:r>
                        <a:rPr 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Area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Inventec</a:t>
                      </a:r>
                      <a:endParaRPr lang="en-MY" sz="14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Quanta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Foxconn TJ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Wistron</a:t>
                      </a:r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ZS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MY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Pegatron TW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27751065"/>
                  </a:ext>
                </a:extLst>
              </a:tr>
              <a:tr h="328074"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2D Scanner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Purpose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inventory check, traceability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shop floor scanning for traceability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inventory check, traceability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inventory check, traceability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Traceability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514872790"/>
                  </a:ext>
                </a:extLst>
              </a:tr>
              <a:tr h="648549">
                <a:tc vMerge="1">
                  <a:txBody>
                    <a:bodyPr/>
                    <a:lstStyle/>
                    <a:p>
                      <a:pPr algn="ctr" rtl="0" fontAlgn="ctr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Which process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kitting,SMT, etc.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SMT &amp; System Final assembly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All process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IQC, SMT, Assembly/Testing process, Rework process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SMT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865330007"/>
                  </a:ext>
                </a:extLst>
              </a:tr>
              <a:tr h="328074">
                <a:tc vMerge="1">
                  <a:txBody>
                    <a:bodyPr/>
                    <a:lstStyle/>
                    <a:p>
                      <a:pPr algn="ctr" rtl="0" fontAlgn="ctr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In line or offline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In 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effectLst/>
                          <a:latin typeface="+mn-lt"/>
                        </a:rPr>
                        <a:t>In-line assembly (SMT/System Assy)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In line traceability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effectLst/>
                          <a:latin typeface="+mn-lt"/>
                        </a:rPr>
                        <a:t>Both In line and offline 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In-line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431480162"/>
                  </a:ext>
                </a:extLst>
              </a:tr>
              <a:tr h="328074">
                <a:tc rowSpan="4"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Adhesive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Using adhesive for BGAs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Yes, </a:t>
                      </a:r>
                    </a:p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*not on Intel part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744997634"/>
                  </a:ext>
                </a:extLst>
              </a:tr>
              <a:tr h="328074">
                <a:tc vMerge="1">
                  <a:txBody>
                    <a:bodyPr/>
                    <a:lstStyle/>
                    <a:p>
                      <a:pPr algn="ctr" rtl="0" fontAlgn="ctr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Type of adhesive used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682804559"/>
                  </a:ext>
                </a:extLst>
              </a:tr>
              <a:tr h="310933">
                <a:tc vMerge="1">
                  <a:txBody>
                    <a:bodyPr/>
                    <a:lstStyle/>
                    <a:p>
                      <a:pPr algn="ctr" rtl="0" fontAlgn="ctr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Brand of adhesive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provided</a:t>
                      </a:r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649597282"/>
                  </a:ext>
                </a:extLst>
              </a:tr>
              <a:tr h="328074">
                <a:tc vMerge="1">
                  <a:txBody>
                    <a:bodyPr/>
                    <a:lstStyle/>
                    <a:p>
                      <a:pPr algn="ctr" rtl="0" fontAlgn="ctr"/>
                      <a:endParaRPr lang="en-MY" sz="11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effectLst/>
                          <a:latin typeface="+mn-lt"/>
                        </a:rPr>
                        <a:t>When adhesive applied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Not provided</a:t>
                      </a: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297282793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4E6903-CD74-42BE-A63F-6F7B600A07FC}"/>
              </a:ext>
            </a:extLst>
          </p:cNvPr>
          <p:cNvSpPr/>
          <p:nvPr/>
        </p:nvSpPr>
        <p:spPr>
          <a:xfrm>
            <a:off x="495370" y="3657600"/>
            <a:ext cx="8228010" cy="1101413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100% In-line 2DID (</a:t>
            </a:r>
            <a:r>
              <a:rPr lang="en-US" sz="1400" dirty="0" err="1">
                <a:solidFill>
                  <a:schemeClr val="bg1"/>
                </a:solidFill>
              </a:rPr>
              <a:t>SubMark</a:t>
            </a:r>
            <a:r>
              <a:rPr lang="en-US" sz="1400" dirty="0">
                <a:solidFill>
                  <a:schemeClr val="bg1"/>
                </a:solidFill>
              </a:rPr>
              <a:t>) scanned is a general practices across all ODMs for traceability.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Marking quality on 2DID is critical for flawless process execution.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No adhesive process performed/capability; Pegatron is equipped with adhesive process but not performed on Intel component.  </a:t>
            </a:r>
            <a:endParaRPr lang="en-MY" sz="14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BBD702-0321-4CAD-B262-B0E397DAEDB8}"/>
              </a:ext>
            </a:extLst>
          </p:cNvPr>
          <p:cNvSpPr/>
          <p:nvPr/>
        </p:nvSpPr>
        <p:spPr>
          <a:xfrm>
            <a:off x="7439558" y="384145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</p:spTree>
    <p:extLst>
      <p:ext uri="{BB962C8B-B14F-4D97-AF65-F5344CB8AC3E}">
        <p14:creationId xmlns:p14="http://schemas.microsoft.com/office/powerpoint/2010/main" val="270222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 / Automation (L5/L6) - 1</a:t>
            </a:r>
            <a:endParaRPr lang="en-MY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25866081-BDEC-429F-830B-693C475492A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97842222"/>
              </p:ext>
            </p:extLst>
          </p:nvPr>
        </p:nvGraphicFramePr>
        <p:xfrm>
          <a:off x="455613" y="559290"/>
          <a:ext cx="8228010" cy="31508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7327">
                  <a:extLst>
                    <a:ext uri="{9D8B030D-6E8A-4147-A177-3AD203B41FA5}">
                      <a16:colId xmlns:a16="http://schemas.microsoft.com/office/drawing/2014/main" val="2864413600"/>
                    </a:ext>
                  </a:extLst>
                </a:gridCol>
                <a:gridCol w="1432945">
                  <a:extLst>
                    <a:ext uri="{9D8B030D-6E8A-4147-A177-3AD203B41FA5}">
                      <a16:colId xmlns:a16="http://schemas.microsoft.com/office/drawing/2014/main" val="1013868257"/>
                    </a:ext>
                  </a:extLst>
                </a:gridCol>
                <a:gridCol w="1126541">
                  <a:extLst>
                    <a:ext uri="{9D8B030D-6E8A-4147-A177-3AD203B41FA5}">
                      <a16:colId xmlns:a16="http://schemas.microsoft.com/office/drawing/2014/main" val="1842069920"/>
                    </a:ext>
                  </a:extLst>
                </a:gridCol>
                <a:gridCol w="2289657">
                  <a:extLst>
                    <a:ext uri="{9D8B030D-6E8A-4147-A177-3AD203B41FA5}">
                      <a16:colId xmlns:a16="http://schemas.microsoft.com/office/drawing/2014/main" val="1706195158"/>
                    </a:ext>
                  </a:extLst>
                </a:gridCol>
                <a:gridCol w="1334946">
                  <a:extLst>
                    <a:ext uri="{9D8B030D-6E8A-4147-A177-3AD203B41FA5}">
                      <a16:colId xmlns:a16="http://schemas.microsoft.com/office/drawing/2014/main" val="2512207712"/>
                    </a:ext>
                  </a:extLst>
                </a:gridCol>
                <a:gridCol w="1196594">
                  <a:extLst>
                    <a:ext uri="{9D8B030D-6E8A-4147-A177-3AD203B41FA5}">
                      <a16:colId xmlns:a16="http://schemas.microsoft.com/office/drawing/2014/main" val="1482005974"/>
                    </a:ext>
                  </a:extLst>
                </a:gridCol>
              </a:tblGrid>
              <a:tr h="40617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latin typeface="+mn-lt"/>
                          <a:ea typeface="+mn-ea"/>
                        </a:rPr>
                        <a:t>Area</a:t>
                      </a:r>
                      <a:endParaRPr lang="en-MY" sz="11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latin typeface="+mn-lt"/>
                        </a:rPr>
                        <a:t>Quanta</a:t>
                      </a:r>
                      <a:endParaRPr lang="en-MY" sz="11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latin typeface="+mn-lt"/>
                        </a:rPr>
                        <a:t>Pegatron TW</a:t>
                      </a:r>
                      <a:endParaRPr lang="en-MY" sz="11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 err="1">
                          <a:latin typeface="+mn-lt"/>
                        </a:rPr>
                        <a:t>Wistron</a:t>
                      </a:r>
                      <a:r>
                        <a:rPr lang="en-US" sz="1150" dirty="0">
                          <a:latin typeface="+mn-lt"/>
                        </a:rPr>
                        <a:t> ZS</a:t>
                      </a:r>
                      <a:endParaRPr lang="en-MY" sz="11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50" dirty="0" err="1">
                          <a:latin typeface="+mn-lt"/>
                          <a:ea typeface="+mn-ea"/>
                        </a:rPr>
                        <a:t>Inventec</a:t>
                      </a:r>
                      <a:r>
                        <a:rPr lang="en-US" sz="1150" dirty="0">
                          <a:latin typeface="+mn-lt"/>
                          <a:ea typeface="+mn-ea"/>
                        </a:rPr>
                        <a:t> / Foxconn TJ</a:t>
                      </a:r>
                      <a:endParaRPr lang="en-MY" sz="11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368656"/>
                  </a:ext>
                </a:extLst>
              </a:tr>
              <a:tr h="812663">
                <a:tc rowSpan="4"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latin typeface="+mn-lt"/>
                        </a:rPr>
                        <a:t>Board Test</a:t>
                      </a:r>
                      <a:endParaRPr lang="en-MY" sz="11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50" u="none" strike="noStrike" dirty="0">
                          <a:effectLst/>
                          <a:latin typeface="+mn-lt"/>
                        </a:rPr>
                        <a:t>Partial / Full assembly process</a:t>
                      </a:r>
                      <a:endParaRPr lang="en-US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Full automation 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Partial: automated test machine (</a:t>
                      </a:r>
                      <a:r>
                        <a:rPr lang="en-MY" sz="1150" u="none" strike="noStrike" dirty="0" err="1">
                          <a:effectLst/>
                          <a:latin typeface="+mn-lt"/>
                        </a:rPr>
                        <a:t>eg.</a:t>
                      </a:r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 DIMM, display card &amp; etc) </a:t>
                      </a:r>
                      <a:r>
                        <a:rPr lang="en-US" altLang="zh-TW" sz="115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suggest test automation development assessment align to NPI direction)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Not p</a:t>
                      </a:r>
                      <a:r>
                        <a:rPr lang="en-MY" sz="11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rovided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 rowSpan="6">
                  <a:txBody>
                    <a:bodyPr/>
                    <a:lstStyle/>
                    <a:p>
                      <a:pPr algn="ctr" fontAlgn="t"/>
                      <a:r>
                        <a:rPr lang="en-US" sz="11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Not provided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7056188"/>
                  </a:ext>
                </a:extLst>
              </a:tr>
              <a:tr h="329449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50" u="none" strike="noStrike" dirty="0">
                          <a:effectLst/>
                          <a:latin typeface="+mn-lt"/>
                        </a:rPr>
                        <a:t>In-line / off-line automation</a:t>
                      </a:r>
                      <a:endParaRPr lang="en-US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In-line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>
                          <a:effectLst/>
                          <a:latin typeface="+mn-lt"/>
                        </a:rPr>
                        <a:t>in-line</a:t>
                      </a:r>
                      <a:endParaRPr lang="en-MY" sz="11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in-line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06493006"/>
                  </a:ext>
                </a:extLst>
              </a:tr>
              <a:tr h="490521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50" u="none" strike="noStrike" dirty="0">
                          <a:effectLst/>
                          <a:latin typeface="+mn-lt"/>
                        </a:rPr>
                        <a:t>Type of equipment/machines</a:t>
                      </a:r>
                      <a:endParaRPr lang="en-US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>
                          <a:effectLst/>
                          <a:latin typeface="+mn-lt"/>
                        </a:rPr>
                        <a:t>Quanta in-house design</a:t>
                      </a:r>
                      <a:endParaRPr lang="en-MY" sz="11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Semi-automated test machine</a:t>
                      </a:r>
                    </a:p>
                    <a:p>
                      <a:pPr algn="ctr" fontAlgn="t"/>
                      <a:r>
                        <a:rPr lang="en-US" altLang="zh-TW" sz="115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en-US" altLang="zh-TW" sz="1150" u="none" strike="noStrike" dirty="0" err="1">
                          <a:effectLst/>
                          <a:latin typeface="+mn-lt"/>
                        </a:rPr>
                        <a:t>eg.</a:t>
                      </a:r>
                      <a:r>
                        <a:rPr lang="en-US" altLang="zh-TW" sz="115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MY" sz="1150" u="none" strike="noStrike" dirty="0" err="1">
                          <a:effectLst/>
                          <a:latin typeface="+mn-lt"/>
                        </a:rPr>
                        <a:t>Oceancat</a:t>
                      </a:r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fixed auto test box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908970951"/>
                  </a:ext>
                </a:extLst>
              </a:tr>
              <a:tr h="490521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50" u="none" strike="noStrike" dirty="0">
                          <a:effectLst/>
                          <a:latin typeface="+mn-lt"/>
                        </a:rPr>
                        <a:t>Pick &amp; Place used ? </a:t>
                      </a:r>
                      <a:endParaRPr lang="en-US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vacuum nozzle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50" u="none" strike="noStrike" dirty="0">
                          <a:effectLst/>
                          <a:latin typeface="+mn-lt"/>
                        </a:rPr>
                        <a:t>Vacuum nozzle, gripper for CPU, and fixture for opening the CPU socket cover</a:t>
                      </a:r>
                      <a:endParaRPr lang="en-US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NA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90587951"/>
                  </a:ext>
                </a:extLst>
              </a:tr>
              <a:tr h="178119">
                <a:tc rowSpan="2">
                  <a:txBody>
                    <a:bodyPr/>
                    <a:lstStyle/>
                    <a:p>
                      <a:pPr algn="ctr"/>
                      <a:r>
                        <a:rPr lang="en-US" sz="1150" dirty="0">
                          <a:latin typeface="+mn-lt"/>
                          <a:ea typeface="+mn-ea"/>
                        </a:rPr>
                        <a:t>Assembly Fixture</a:t>
                      </a:r>
                      <a:endParaRPr lang="en-MY" sz="11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50" u="none" strike="noStrike" dirty="0">
                          <a:effectLst/>
                          <a:latin typeface="+mn-lt"/>
                        </a:rPr>
                        <a:t>PHM assembly</a:t>
                      </a:r>
                      <a:endParaRPr lang="en-US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>
                          <a:effectLst/>
                          <a:latin typeface="+mn-lt"/>
                        </a:rPr>
                        <a:t>No</a:t>
                      </a:r>
                      <a:endParaRPr lang="en-MY" sz="11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No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N/A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027999810"/>
                  </a:ext>
                </a:extLst>
              </a:tr>
              <a:tr h="228060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50" u="none" strike="noStrike" dirty="0">
                          <a:effectLst/>
                          <a:latin typeface="+mn-lt"/>
                        </a:rPr>
                        <a:t>Carrier to the CPU</a:t>
                      </a:r>
                      <a:endParaRPr lang="en-US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No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>
                          <a:effectLst/>
                          <a:latin typeface="+mn-lt"/>
                        </a:rPr>
                        <a:t>yes</a:t>
                      </a:r>
                      <a:endParaRPr lang="en-MY" sz="11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50" u="none" strike="noStrike" dirty="0">
                          <a:effectLst/>
                          <a:latin typeface="+mn-lt"/>
                        </a:rPr>
                        <a:t>NA</a:t>
                      </a:r>
                      <a:endParaRPr lang="en-MY" sz="11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136893384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8C9ED8-B91F-4AC7-B0CB-34DCD44E44AC}"/>
              </a:ext>
            </a:extLst>
          </p:cNvPr>
          <p:cNvSpPr/>
          <p:nvPr/>
        </p:nvSpPr>
        <p:spPr>
          <a:xfrm>
            <a:off x="7439558" y="318309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33AFB25-D273-41AD-B42C-9BB2581E6B10}"/>
              </a:ext>
            </a:extLst>
          </p:cNvPr>
          <p:cNvSpPr/>
          <p:nvPr/>
        </p:nvSpPr>
        <p:spPr>
          <a:xfrm>
            <a:off x="455613" y="3753394"/>
            <a:ext cx="8228010" cy="1086245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rgbClr val="FFFF00"/>
                </a:solidFill>
              </a:rPr>
              <a:t>Key Message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Customers are exploring automated test at board functional test.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ODMs’ automation development is a continuous learning process, for improvement &amp; enhancement. It is a trend / journey toward Industrial 4.0 (smart factory). </a:t>
            </a:r>
            <a:endParaRPr lang="en-US" sz="1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46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 / Automation (L5/L6) - 2</a:t>
            </a:r>
            <a:endParaRPr lang="en-MY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25866081-BDEC-429F-830B-693C475492A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4217262105"/>
              </p:ext>
            </p:extLst>
          </p:nvPr>
        </p:nvGraphicFramePr>
        <p:xfrm>
          <a:off x="387706" y="587070"/>
          <a:ext cx="8295918" cy="320268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06629">
                  <a:extLst>
                    <a:ext uri="{9D8B030D-6E8A-4147-A177-3AD203B41FA5}">
                      <a16:colId xmlns:a16="http://schemas.microsoft.com/office/drawing/2014/main" val="2864413600"/>
                    </a:ext>
                  </a:extLst>
                </a:gridCol>
                <a:gridCol w="1739060">
                  <a:extLst>
                    <a:ext uri="{9D8B030D-6E8A-4147-A177-3AD203B41FA5}">
                      <a16:colId xmlns:a16="http://schemas.microsoft.com/office/drawing/2014/main" val="1013868257"/>
                    </a:ext>
                  </a:extLst>
                </a:gridCol>
                <a:gridCol w="1448410">
                  <a:extLst>
                    <a:ext uri="{9D8B030D-6E8A-4147-A177-3AD203B41FA5}">
                      <a16:colId xmlns:a16="http://schemas.microsoft.com/office/drawing/2014/main" val="1842069920"/>
                    </a:ext>
                  </a:extLst>
                </a:gridCol>
                <a:gridCol w="1477670">
                  <a:extLst>
                    <a:ext uri="{9D8B030D-6E8A-4147-A177-3AD203B41FA5}">
                      <a16:colId xmlns:a16="http://schemas.microsoft.com/office/drawing/2014/main" val="1706195158"/>
                    </a:ext>
                  </a:extLst>
                </a:gridCol>
                <a:gridCol w="1821485">
                  <a:extLst>
                    <a:ext uri="{9D8B030D-6E8A-4147-A177-3AD203B41FA5}">
                      <a16:colId xmlns:a16="http://schemas.microsoft.com/office/drawing/2014/main" val="2512207712"/>
                    </a:ext>
                  </a:extLst>
                </a:gridCol>
                <a:gridCol w="1002664">
                  <a:extLst>
                    <a:ext uri="{9D8B030D-6E8A-4147-A177-3AD203B41FA5}">
                      <a16:colId xmlns:a16="http://schemas.microsoft.com/office/drawing/2014/main" val="942237869"/>
                    </a:ext>
                  </a:extLst>
                </a:gridCol>
              </a:tblGrid>
              <a:tr h="405077"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ea typeface="+mn-ea"/>
                        </a:rPr>
                        <a:t>Area</a:t>
                      </a:r>
                      <a:endParaRPr lang="en-MY" sz="12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ea typeface="+mn-ea"/>
                        </a:rPr>
                        <a:t>Quanta</a:t>
                      </a:r>
                      <a:endParaRPr lang="en-MY" sz="12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ea typeface="+mn-ea"/>
                        </a:rPr>
                        <a:t>Pegatron TW</a:t>
                      </a:r>
                      <a:endParaRPr lang="en-MY" sz="12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+mn-lt"/>
                          <a:ea typeface="+mn-ea"/>
                        </a:rPr>
                        <a:t>Wistron</a:t>
                      </a:r>
                      <a:r>
                        <a:rPr lang="en-US" sz="1200" dirty="0">
                          <a:latin typeface="+mn-lt"/>
                          <a:ea typeface="+mn-ea"/>
                        </a:rPr>
                        <a:t> ZS</a:t>
                      </a:r>
                      <a:endParaRPr lang="en-MY" sz="12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+mn-lt"/>
                          <a:ea typeface="+mn-ea"/>
                        </a:rPr>
                        <a:t>Inventec</a:t>
                      </a:r>
                      <a:r>
                        <a:rPr lang="en-US" sz="1200" dirty="0">
                          <a:latin typeface="+mn-lt"/>
                          <a:ea typeface="+mn-ea"/>
                        </a:rPr>
                        <a:t> / Foxconn TJ </a:t>
                      </a:r>
                      <a:endParaRPr lang="en-MY" sz="12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368656"/>
                  </a:ext>
                </a:extLst>
              </a:tr>
              <a:tr h="290598">
                <a:tc rowSpan="4"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+mn-lt"/>
                          <a:ea typeface="+mn-ea"/>
                        </a:rPr>
                        <a:t>Assembly Time (Target)</a:t>
                      </a:r>
                      <a:endParaRPr lang="en-MY" sz="10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Assembly of one PHM (CPU + carrier + heatsink)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30 - 40 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10 s </a:t>
                      </a:r>
                      <a:endParaRPr lang="en-US" alt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 N/A</a:t>
                      </a:r>
                    </a:p>
                  </a:txBody>
                  <a:tcPr marL="7951" marR="7951" marT="7951" marB="0" anchor="ctr"/>
                </a:tc>
                <a:tc rowSpan="8"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7056188"/>
                  </a:ext>
                </a:extLst>
              </a:tr>
              <a:tr h="200418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Attaching PHM assembly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&lt; 60 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15 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12 - 22 s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06493006"/>
                  </a:ext>
                </a:extLst>
              </a:tr>
              <a:tr h="208333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Throughput for standard 2S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&lt; 120 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50 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 N/A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908970951"/>
                  </a:ext>
                </a:extLst>
              </a:tr>
              <a:tr h="432375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Dissemble PHM from motherboard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&lt; 120 s for 2S board </a:t>
                      </a:r>
                    </a:p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(2S - 2 Socket solution)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 s</a:t>
                      </a:r>
                      <a:endParaRPr lang="en-US" alt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 N/A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90587951"/>
                  </a:ext>
                </a:extLst>
              </a:tr>
              <a:tr h="290598">
                <a:tc rowSpan="4"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+mn-lt"/>
                          <a:ea typeface="+mn-ea"/>
                        </a:rPr>
                        <a:t>General</a:t>
                      </a:r>
                      <a:endParaRPr lang="en-MY" sz="10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Any additional improvement required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*Socket PnP cover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*Socket cover need be designed for easy removal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027999810"/>
                  </a:ext>
                </a:extLst>
              </a:tr>
              <a:tr h="432375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Heatsink design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Follow Intel reference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Intel reference design, own customized design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Need a special heat-sink for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mfg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test (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eg.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Purley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FTT)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136893384"/>
                  </a:ext>
                </a:extLst>
              </a:tr>
              <a:tr h="432375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Is the Intel PHM design automation friendly?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Not applicable, </a:t>
                      </a:r>
                    </a:p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Designed PHM in Test fixture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Yes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</a:t>
                      </a:r>
                    </a:p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(PEEK nuts easily broken)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827397213"/>
                  </a:ext>
                </a:extLst>
              </a:tr>
              <a:tr h="290598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Torque Driver used, Brand and Model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generic brand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KILEWS SK-3120L</a:t>
                      </a:r>
                      <a:b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KILEWS SK-8140L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Conos</a:t>
                      </a:r>
                      <a:endParaRPr lang="en-MY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025906568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61013A1-3C2E-4752-8E0A-372F769D2CF7}"/>
              </a:ext>
            </a:extLst>
          </p:cNvPr>
          <p:cNvSpPr/>
          <p:nvPr/>
        </p:nvSpPr>
        <p:spPr>
          <a:xfrm>
            <a:off x="375006" y="3818925"/>
            <a:ext cx="8310546" cy="921325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EGS &amp; beyond required automation friendly for retention assembly. Customers made request since </a:t>
            </a:r>
            <a:r>
              <a:rPr lang="en-US" sz="1200" dirty="0" err="1">
                <a:solidFill>
                  <a:schemeClr val="bg1"/>
                </a:solidFill>
              </a:rPr>
              <a:t>Purley</a:t>
            </a:r>
            <a:r>
              <a:rPr lang="en-US" sz="1200" dirty="0">
                <a:solidFill>
                  <a:schemeClr val="bg1"/>
                </a:solidFill>
              </a:rPr>
              <a:t>/2016.</a:t>
            </a:r>
            <a:endParaRPr lang="en-MY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Retention design need to comprehend both manufacturing (automation) and field (manual) usage.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Need continues support for assembly test tool development (Whitley </a:t>
            </a:r>
            <a:r>
              <a:rPr lang="en-US" sz="1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>
                <a:solidFill>
                  <a:schemeClr val="bg1"/>
                </a:solidFill>
              </a:rPr>
              <a:t>Eagle stream </a:t>
            </a:r>
            <a:r>
              <a:rPr lang="en-US" sz="12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en-US" sz="1200" dirty="0">
                <a:solidFill>
                  <a:schemeClr val="bg1"/>
                </a:solidFill>
              </a:rPr>
              <a:t>future platform)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7CDB3F-C4FB-4498-BED3-52B166E6A789}"/>
              </a:ext>
            </a:extLst>
          </p:cNvPr>
          <p:cNvSpPr/>
          <p:nvPr/>
        </p:nvSpPr>
        <p:spPr>
          <a:xfrm>
            <a:off x="7439558" y="281730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F283F3-3ED2-4D6D-8EC4-E65B158BCDBF}"/>
              </a:ext>
            </a:extLst>
          </p:cNvPr>
          <p:cNvSpPr/>
          <p:nvPr/>
        </p:nvSpPr>
        <p:spPr>
          <a:xfrm>
            <a:off x="7937458" y="3358868"/>
            <a:ext cx="1180955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MY" sz="1050" dirty="0">
                <a:solidFill>
                  <a:srgbClr val="000000"/>
                </a:solidFill>
              </a:rPr>
              <a:t>* Need details from customer</a:t>
            </a:r>
            <a:endParaRPr lang="en-MY" sz="1050" dirty="0"/>
          </a:p>
        </p:txBody>
      </p:sp>
    </p:spTree>
    <p:extLst>
      <p:ext uri="{BB962C8B-B14F-4D97-AF65-F5344CB8AC3E}">
        <p14:creationId xmlns:p14="http://schemas.microsoft.com/office/powerpoint/2010/main" val="277948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 / Automation (L10) - 1</a:t>
            </a:r>
            <a:endParaRPr lang="en-MY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25866081-BDEC-429F-830B-693C475492A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81338481"/>
              </p:ext>
            </p:extLst>
          </p:nvPr>
        </p:nvGraphicFramePr>
        <p:xfrm>
          <a:off x="455613" y="603176"/>
          <a:ext cx="8228011" cy="31744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7999">
                  <a:extLst>
                    <a:ext uri="{9D8B030D-6E8A-4147-A177-3AD203B41FA5}">
                      <a16:colId xmlns:a16="http://schemas.microsoft.com/office/drawing/2014/main" val="2864413600"/>
                    </a:ext>
                  </a:extLst>
                </a:gridCol>
                <a:gridCol w="1354490">
                  <a:extLst>
                    <a:ext uri="{9D8B030D-6E8A-4147-A177-3AD203B41FA5}">
                      <a16:colId xmlns:a16="http://schemas.microsoft.com/office/drawing/2014/main" val="1013868257"/>
                    </a:ext>
                  </a:extLst>
                </a:gridCol>
                <a:gridCol w="1575491">
                  <a:extLst>
                    <a:ext uri="{9D8B030D-6E8A-4147-A177-3AD203B41FA5}">
                      <a16:colId xmlns:a16="http://schemas.microsoft.com/office/drawing/2014/main" val="1842069920"/>
                    </a:ext>
                  </a:extLst>
                </a:gridCol>
                <a:gridCol w="1912015">
                  <a:extLst>
                    <a:ext uri="{9D8B030D-6E8A-4147-A177-3AD203B41FA5}">
                      <a16:colId xmlns:a16="http://schemas.microsoft.com/office/drawing/2014/main" val="1706195158"/>
                    </a:ext>
                  </a:extLst>
                </a:gridCol>
                <a:gridCol w="1340526">
                  <a:extLst>
                    <a:ext uri="{9D8B030D-6E8A-4147-A177-3AD203B41FA5}">
                      <a16:colId xmlns:a16="http://schemas.microsoft.com/office/drawing/2014/main" val="2512207712"/>
                    </a:ext>
                  </a:extLst>
                </a:gridCol>
                <a:gridCol w="1207490">
                  <a:extLst>
                    <a:ext uri="{9D8B030D-6E8A-4147-A177-3AD203B41FA5}">
                      <a16:colId xmlns:a16="http://schemas.microsoft.com/office/drawing/2014/main" val="3714408008"/>
                    </a:ext>
                  </a:extLst>
                </a:gridCol>
              </a:tblGrid>
              <a:tr h="492094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  <a:ea typeface="+mn-ea"/>
                        </a:rPr>
                        <a:t>Area</a:t>
                      </a:r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Quanta</a:t>
                      </a:r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</a:rPr>
                        <a:t>Pegatron TW</a:t>
                      </a:r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+mn-lt"/>
                        </a:rPr>
                        <a:t>Wistron</a:t>
                      </a:r>
                      <a:r>
                        <a:rPr lang="en-US" sz="1400" dirty="0">
                          <a:latin typeface="+mn-lt"/>
                        </a:rPr>
                        <a:t> ZS</a:t>
                      </a:r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+mn-lt"/>
                          <a:ea typeface="+mn-ea"/>
                        </a:rPr>
                        <a:t>Inventec</a:t>
                      </a:r>
                      <a:r>
                        <a:rPr lang="en-US" sz="1400" dirty="0">
                          <a:latin typeface="+mn-lt"/>
                          <a:ea typeface="+mn-ea"/>
                        </a:rPr>
                        <a:t> / Foxconn TJ</a:t>
                      </a:r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368656"/>
                  </a:ext>
                </a:extLst>
              </a:tr>
              <a:tr h="644378">
                <a:tc rowSpan="4"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System Test</a:t>
                      </a:r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Partial / Full assembly process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Partial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 DIMM assembly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 HDD Tray Assembly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* Board screw assembly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 automation (suggest test automation development assessment align to NPI direction)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NA</a:t>
                      </a:r>
                      <a:endParaRPr kumimoji="0" lang="en-MY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tc rowSpan="6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Not provided</a:t>
                      </a:r>
                      <a:endParaRPr kumimoji="0" lang="en-MY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7056188"/>
                  </a:ext>
                </a:extLst>
              </a:tr>
              <a:tr h="269528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In-line / off-line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Off-line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</a:t>
                      </a:r>
                      <a:r>
                        <a:rPr lang="en-MY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n-line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NA</a:t>
                      </a:r>
                      <a:endParaRPr kumimoji="0" lang="en-MY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MY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06493006"/>
                  </a:ext>
                </a:extLst>
              </a:tr>
              <a:tr h="485172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Type of equipment/ machines are used?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Quanta in-house design and assembly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(suggest test automation development assessment align to NPI direction)</a:t>
                      </a:r>
                      <a:endParaRPr lang="en-US" altLang="zh-TW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Intel Clear"/>
                          <a:ea typeface="+mn-ea"/>
                          <a:cs typeface="+mn-cs"/>
                        </a:rPr>
                        <a:t>NA</a:t>
                      </a:r>
                      <a:endParaRPr kumimoji="0" lang="en-MY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MY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908970951"/>
                  </a:ext>
                </a:extLst>
              </a:tr>
              <a:tr h="485172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Pick &amp; Place used ?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Manual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Vacuum nozzle, gripper for CPU</a:t>
                      </a:r>
                      <a:b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u="none" strike="noStrike" dirty="0">
                          <a:effectLst/>
                        </a:rPr>
                        <a:t>NA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90587951"/>
                  </a:ext>
                </a:extLst>
              </a:tr>
              <a:tr h="325965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+mn-ea"/>
                          <a:ea typeface="+mn-ea"/>
                        </a:rPr>
                        <a:t>Assembly Fixture</a:t>
                      </a:r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PHM assembly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*Based</a:t>
                      </a:r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on Intel Design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027999810"/>
                  </a:ext>
                </a:extLst>
              </a:tr>
              <a:tr h="325965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u="none" strike="noStrike" dirty="0">
                          <a:effectLst/>
                        </a:rPr>
                        <a:t>Carrier to the CPU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*Based </a:t>
                      </a:r>
                      <a:r>
                        <a:rPr lang="en-MY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on Intel Design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4572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136893384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7B2E11-DBBF-4C96-B791-0614B3BBD7F2}"/>
              </a:ext>
            </a:extLst>
          </p:cNvPr>
          <p:cNvSpPr/>
          <p:nvPr/>
        </p:nvSpPr>
        <p:spPr>
          <a:xfrm>
            <a:off x="7439558" y="296356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63529-695B-441E-8456-093E1E6452F8}"/>
              </a:ext>
            </a:extLst>
          </p:cNvPr>
          <p:cNvSpPr/>
          <p:nvPr/>
        </p:nvSpPr>
        <p:spPr>
          <a:xfrm>
            <a:off x="6654103" y="4187314"/>
            <a:ext cx="204414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MY" sz="1100" dirty="0">
                <a:solidFill>
                  <a:srgbClr val="000000"/>
                </a:solidFill>
              </a:rPr>
              <a:t>* Need details from customer</a:t>
            </a:r>
            <a:endParaRPr lang="en-MY" sz="11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92E7BA-229C-4997-9917-343AC0778EB1}"/>
              </a:ext>
            </a:extLst>
          </p:cNvPr>
          <p:cNvSpPr/>
          <p:nvPr/>
        </p:nvSpPr>
        <p:spPr>
          <a:xfrm>
            <a:off x="419038" y="3852639"/>
            <a:ext cx="8315313" cy="86868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ODMs’ automation development is a continuous learning process, for improvement &amp; enhancement.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Automation is a trend / journey toward Industrial 4.0 (smart factory).</a:t>
            </a:r>
          </a:p>
        </p:txBody>
      </p:sp>
    </p:spTree>
    <p:extLst>
      <p:ext uri="{BB962C8B-B14F-4D97-AF65-F5344CB8AC3E}">
        <p14:creationId xmlns:p14="http://schemas.microsoft.com/office/powerpoint/2010/main" val="157052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6C050-4044-4DE8-93C6-ED87159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5CB22F-1585-4B71-A3DF-F8ABE2DF1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 / Automation (L10) - 2</a:t>
            </a:r>
            <a:endParaRPr lang="en-MY" dirty="0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25866081-BDEC-429F-830B-693C475492AD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12382262"/>
              </p:ext>
            </p:extLst>
          </p:nvPr>
        </p:nvGraphicFramePr>
        <p:xfrm>
          <a:off x="455613" y="581551"/>
          <a:ext cx="8228010" cy="324114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1770">
                  <a:extLst>
                    <a:ext uri="{9D8B030D-6E8A-4147-A177-3AD203B41FA5}">
                      <a16:colId xmlns:a16="http://schemas.microsoft.com/office/drawing/2014/main" val="2864413600"/>
                    </a:ext>
                  </a:extLst>
                </a:gridCol>
                <a:gridCol w="1775740">
                  <a:extLst>
                    <a:ext uri="{9D8B030D-6E8A-4147-A177-3AD203B41FA5}">
                      <a16:colId xmlns:a16="http://schemas.microsoft.com/office/drawing/2014/main" val="1013868257"/>
                    </a:ext>
                  </a:extLst>
                </a:gridCol>
                <a:gridCol w="1638605">
                  <a:extLst>
                    <a:ext uri="{9D8B030D-6E8A-4147-A177-3AD203B41FA5}">
                      <a16:colId xmlns:a16="http://schemas.microsoft.com/office/drawing/2014/main" val="1842069920"/>
                    </a:ext>
                  </a:extLst>
                </a:gridCol>
                <a:gridCol w="1287475">
                  <a:extLst>
                    <a:ext uri="{9D8B030D-6E8A-4147-A177-3AD203B41FA5}">
                      <a16:colId xmlns:a16="http://schemas.microsoft.com/office/drawing/2014/main" val="1706195158"/>
                    </a:ext>
                  </a:extLst>
                </a:gridCol>
                <a:gridCol w="1404519">
                  <a:extLst>
                    <a:ext uri="{9D8B030D-6E8A-4147-A177-3AD203B41FA5}">
                      <a16:colId xmlns:a16="http://schemas.microsoft.com/office/drawing/2014/main" val="2512207712"/>
                    </a:ext>
                  </a:extLst>
                </a:gridCol>
                <a:gridCol w="1309901">
                  <a:extLst>
                    <a:ext uri="{9D8B030D-6E8A-4147-A177-3AD203B41FA5}">
                      <a16:colId xmlns:a16="http://schemas.microsoft.com/office/drawing/2014/main" val="4135008815"/>
                    </a:ext>
                  </a:extLst>
                </a:gridCol>
              </a:tblGrid>
              <a:tr h="336913">
                <a:tc grid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+mn-lt"/>
                          <a:ea typeface="+mn-ea"/>
                        </a:rPr>
                        <a:t>Area</a:t>
                      </a:r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MY" sz="14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ea typeface="+mn-ea"/>
                        </a:rPr>
                        <a:t>Quanta</a:t>
                      </a:r>
                      <a:endParaRPr lang="en-MY" sz="12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  <a:ea typeface="+mn-ea"/>
                        </a:rPr>
                        <a:t>Pegatron TW</a:t>
                      </a:r>
                      <a:endParaRPr lang="en-MY" sz="12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+mn-lt"/>
                          <a:ea typeface="+mn-ea"/>
                        </a:rPr>
                        <a:t>Wistron</a:t>
                      </a:r>
                      <a:r>
                        <a:rPr lang="en-US" sz="1200" dirty="0">
                          <a:latin typeface="+mn-lt"/>
                          <a:ea typeface="+mn-ea"/>
                        </a:rPr>
                        <a:t> ZS</a:t>
                      </a:r>
                      <a:endParaRPr lang="en-MY" sz="12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latin typeface="+mn-lt"/>
                          <a:ea typeface="+mn-ea"/>
                        </a:rPr>
                        <a:t>Inventec</a:t>
                      </a:r>
                      <a:r>
                        <a:rPr lang="en-US" sz="1200" dirty="0">
                          <a:latin typeface="+mn-lt"/>
                          <a:ea typeface="+mn-ea"/>
                        </a:rPr>
                        <a:t> / Foxconn TJ</a:t>
                      </a:r>
                      <a:endParaRPr lang="en-MY" sz="120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1368656"/>
                  </a:ext>
                </a:extLst>
              </a:tr>
              <a:tr h="241698">
                <a:tc rowSpan="4"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+mn-lt"/>
                          <a:ea typeface="+mn-ea"/>
                        </a:rPr>
                        <a:t>Assembly Time (Target)</a:t>
                      </a:r>
                      <a:endParaRPr lang="en-MY" sz="10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Assembly of one PHM (CPU + carrier + heatsink)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N/A 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10 s</a:t>
                      </a:r>
                      <a:endParaRPr lang="en-US" alt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35 – 45 s</a:t>
                      </a:r>
                    </a:p>
                  </a:txBody>
                  <a:tcPr marL="7951" marR="7951" marT="7951" marB="0" anchor="ctr"/>
                </a:tc>
                <a:tc rowSpan="8"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Not provided</a:t>
                      </a:r>
                      <a:endParaRPr lang="en-MY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7056188"/>
                  </a:ext>
                </a:extLst>
              </a:tr>
              <a:tr h="123779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Attaching PHM assembly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&lt; 60 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~ 15 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Not provided 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1206493006"/>
                  </a:ext>
                </a:extLst>
              </a:tr>
              <a:tr h="123779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Throughput for standard 2S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&lt; 120 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50 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15 - 25 s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908970951"/>
                  </a:ext>
                </a:extLst>
              </a:tr>
              <a:tr h="241698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Dissemble PHM from motherboard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&lt; 120 s for 2S board</a:t>
                      </a:r>
                    </a:p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(2S – 2 socket)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20 s</a:t>
                      </a:r>
                      <a:endParaRPr lang="en-US" altLang="zh-TW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5s for each screw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90587951"/>
                  </a:ext>
                </a:extLst>
              </a:tr>
              <a:tr h="359618">
                <a:tc rowSpan="4"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latin typeface="+mn-lt"/>
                          <a:ea typeface="+mn-ea"/>
                        </a:rPr>
                        <a:t>General</a:t>
                      </a:r>
                      <a:endParaRPr lang="en-MY" sz="1050" dirty="0"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Any additional improvement required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No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socket cover need be designed for easy removal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4027999810"/>
                  </a:ext>
                </a:extLst>
              </a:tr>
              <a:tr h="359618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What heatsink design is used?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Follow Intel reference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Intel reference design, own customized design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2136893384"/>
                  </a:ext>
                </a:extLst>
              </a:tr>
              <a:tr h="359618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Is the Intel PHM design automation friendly?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N/A</a:t>
                      </a:r>
                    </a:p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Manual process to manage 1S/2S/4S variety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Yes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N/A</a:t>
                      </a: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827397213"/>
                  </a:ext>
                </a:extLst>
              </a:tr>
              <a:tr h="241698">
                <a:tc vMerge="1">
                  <a:txBody>
                    <a:bodyPr/>
                    <a:lstStyle/>
                    <a:p>
                      <a:pPr algn="ctr"/>
                      <a:endParaRPr lang="en-MY" sz="11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Torque Driver used, Brand and Model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generic brand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KILEWS SK-3120L</a:t>
                      </a:r>
                      <a:b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</a:br>
                      <a:r>
                        <a:rPr lang="en-MY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KILEWS SK-8140L</a:t>
                      </a:r>
                    </a:p>
                  </a:txBody>
                  <a:tcPr marL="7951" marR="7951" marT="7951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MY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</a:rPr>
                        <a:t>Conos</a:t>
                      </a:r>
                      <a:endParaRPr lang="en-MY" sz="105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tc vMerge="1">
                  <a:txBody>
                    <a:bodyPr/>
                    <a:lstStyle/>
                    <a:p>
                      <a:pPr algn="ctr" fontAlgn="t"/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7951" marR="7951" marT="7951" marB="0" anchor="ctr"/>
                </a:tc>
                <a:extLst>
                  <a:ext uri="{0D108BD9-81ED-4DB2-BD59-A6C34878D82A}">
                    <a16:rowId xmlns:a16="http://schemas.microsoft.com/office/drawing/2014/main" val="3025906568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109DE7-AC03-4AA7-A478-2574FB4ECE0F}"/>
              </a:ext>
            </a:extLst>
          </p:cNvPr>
          <p:cNvSpPr/>
          <p:nvPr/>
        </p:nvSpPr>
        <p:spPr>
          <a:xfrm>
            <a:off x="7439558" y="274414"/>
            <a:ext cx="1258694" cy="300527"/>
          </a:xfrm>
          <a:prstGeom prst="round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/>
              <a:t>Data Source</a:t>
            </a:r>
            <a:r>
              <a:rPr lang="en-US" sz="1100" b="1" dirty="0"/>
              <a:t>: Server ODMs</a:t>
            </a:r>
            <a:endParaRPr lang="en-MY" sz="11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5AC6F6-68F6-40A9-8495-AB2C95D4279F}"/>
              </a:ext>
            </a:extLst>
          </p:cNvPr>
          <p:cNvSpPr/>
          <p:nvPr/>
        </p:nvSpPr>
        <p:spPr>
          <a:xfrm>
            <a:off x="419038" y="3852639"/>
            <a:ext cx="8315313" cy="86868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28575">
            <a:solidFill>
              <a:srgbClr val="FFFF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u="sng" dirty="0">
                <a:solidFill>
                  <a:srgbClr val="FFFF00"/>
                </a:solidFill>
              </a:rPr>
              <a:t>Key Message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Throughput time (TPT) target is varies by individual customer. </a:t>
            </a:r>
            <a:r>
              <a:rPr lang="en-US" sz="1200" dirty="0" err="1">
                <a:solidFill>
                  <a:schemeClr val="bg1"/>
                </a:solidFill>
              </a:rPr>
              <a:t>Wistron</a:t>
            </a:r>
            <a:r>
              <a:rPr lang="en-US" sz="1200" dirty="0">
                <a:solidFill>
                  <a:schemeClr val="bg1"/>
                </a:solidFill>
              </a:rPr>
              <a:t> showed lowest TPT.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Higher manning ratio in </a:t>
            </a:r>
            <a:r>
              <a:rPr lang="en-US" sz="1200" dirty="0" err="1">
                <a:solidFill>
                  <a:schemeClr val="bg1"/>
                </a:solidFill>
              </a:rPr>
              <a:t>Wistron</a:t>
            </a:r>
            <a:r>
              <a:rPr lang="en-US" sz="1200" dirty="0">
                <a:solidFill>
                  <a:schemeClr val="bg1"/>
                </a:solidFill>
              </a:rPr>
              <a:t> to meet ~15s TPT for 2S PHM assembly (typical ~50s/operator). </a:t>
            </a:r>
          </a:p>
        </p:txBody>
      </p:sp>
    </p:spTree>
    <p:extLst>
      <p:ext uri="{BB962C8B-B14F-4D97-AF65-F5344CB8AC3E}">
        <p14:creationId xmlns:p14="http://schemas.microsoft.com/office/powerpoint/2010/main" val="142934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364A11-B4E5-43E9-A763-4CD16C99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D6D330-D1DC-4655-8991-588C518E2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 (1)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C2EED-1F95-494B-B447-6AB8A5EBFF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2" y="519383"/>
            <a:ext cx="8322627" cy="4305004"/>
          </a:xfrm>
        </p:spPr>
        <p:txBody>
          <a:bodyPr vert="horz" lIns="0" tIns="0" rIns="0" bIns="0" rtlCol="0" anchor="t">
            <a:noAutofit/>
          </a:bodyPr>
          <a:lstStyle/>
          <a:p>
            <a:pPr algn="just"/>
            <a:r>
              <a:rPr lang="en-MY" sz="1400" dirty="0"/>
              <a:t>PCBA –  Material  / Consumables</a:t>
            </a:r>
          </a:p>
          <a:p>
            <a:pPr lvl="1" algn="just"/>
            <a:r>
              <a:rPr lang="en-US" sz="1400" dirty="0"/>
              <a:t>Stencil vendors preferable from local support for fast response, delivery time &amp; on-site.</a:t>
            </a:r>
          </a:p>
          <a:p>
            <a:pPr lvl="1" algn="just"/>
            <a:r>
              <a:rPr lang="en-US" sz="1400" dirty="0"/>
              <a:t>Wave solder process is still required for thru-hole components. </a:t>
            </a:r>
          </a:p>
          <a:p>
            <a:pPr lvl="1" algn="just"/>
            <a:r>
              <a:rPr lang="en-US" sz="1400" dirty="0" err="1"/>
              <a:t>Shenmao</a:t>
            </a:r>
            <a:r>
              <a:rPr lang="en-US" sz="1400" dirty="0"/>
              <a:t> paste/flux is commonly used except 1 customer. </a:t>
            </a:r>
          </a:p>
          <a:p>
            <a:pPr lvl="2" algn="just"/>
            <a:r>
              <a:rPr lang="en-US" sz="1200" dirty="0" err="1"/>
              <a:t>Shenmao</a:t>
            </a:r>
            <a:r>
              <a:rPr lang="en-US" sz="1200" dirty="0"/>
              <a:t> paste is generally used during early development; will be used as back-up during mass production (MP).</a:t>
            </a:r>
          </a:p>
          <a:p>
            <a:pPr lvl="2" algn="just"/>
            <a:r>
              <a:rPr lang="en-US" sz="1200" dirty="0"/>
              <a:t>Alternate solder paste is mandatory for SMT per their customer requirement.</a:t>
            </a:r>
          </a:p>
          <a:p>
            <a:pPr lvl="1" algn="just"/>
            <a:r>
              <a:rPr lang="en-US" sz="1400" dirty="0"/>
              <a:t>Stepped stencil is commonly used, due to design complexity &amp; large variety of component/pad size (varies in Area Ratio). Stepped up/down range between 3 – 10 mils. </a:t>
            </a:r>
          </a:p>
          <a:p>
            <a:pPr lvl="1" algn="just"/>
            <a:r>
              <a:rPr lang="en-US" sz="1400" dirty="0">
                <a:solidFill>
                  <a:srgbClr val="FF0000"/>
                </a:solidFill>
                <a:cs typeface="Intel Clear"/>
              </a:rPr>
              <a:t>Stencil thickness for Intel component 4 – 5 mils.</a:t>
            </a:r>
            <a:endParaRPr lang="en-US" sz="1400" dirty="0">
              <a:solidFill>
                <a:srgbClr val="FF0000"/>
              </a:solidFill>
              <a:ea typeface="Intel Clear"/>
              <a:cs typeface="Intel Clear"/>
            </a:endParaRPr>
          </a:p>
          <a:p>
            <a:pPr lvl="1" algn="just"/>
            <a:r>
              <a:rPr lang="en-US" sz="1400" dirty="0">
                <a:solidFill>
                  <a:srgbClr val="FF0000"/>
                </a:solidFill>
                <a:cs typeface="Intel Clear"/>
              </a:rPr>
              <a:t>PCB thickness is within TMDG guideline.</a:t>
            </a:r>
            <a:endParaRPr lang="en-US" sz="1400" dirty="0">
              <a:solidFill>
                <a:srgbClr val="FF0000"/>
              </a:solidFill>
              <a:ea typeface="Intel Clear"/>
              <a:cs typeface="Intel Clear"/>
            </a:endParaRPr>
          </a:p>
          <a:p>
            <a:pPr algn="just"/>
            <a:r>
              <a:rPr lang="en-US" sz="1400" dirty="0"/>
              <a:t>PCBA – Process / Capability</a:t>
            </a:r>
          </a:p>
          <a:p>
            <a:pPr lvl="1" algn="just"/>
            <a:r>
              <a:rPr lang="en-US" sz="1400" dirty="0">
                <a:cs typeface="Intel Clear"/>
              </a:rPr>
              <a:t>Wide variety of machine used and some reached maximum capability, </a:t>
            </a:r>
            <a:r>
              <a:rPr lang="en-US" sz="1400" dirty="0">
                <a:solidFill>
                  <a:srgbClr val="FF0000"/>
                </a:solidFill>
                <a:cs typeface="Intel Clear"/>
              </a:rPr>
              <a:t>need early development roadmap &amp; engagement for tool capability assessment </a:t>
            </a:r>
            <a:endParaRPr lang="en-US" sz="1400" dirty="0">
              <a:solidFill>
                <a:srgbClr val="FF0000"/>
              </a:solidFill>
              <a:ea typeface="Intel Clear"/>
              <a:cs typeface="Intel Clear"/>
            </a:endParaRPr>
          </a:p>
          <a:p>
            <a:pPr lvl="1" algn="just"/>
            <a:r>
              <a:rPr lang="en-US" sz="1200" dirty="0">
                <a:solidFill>
                  <a:srgbClr val="FF0000"/>
                </a:solidFill>
                <a:cs typeface="Intel Clear"/>
              </a:rPr>
              <a:t>PCB handling capability reached maximum width of 20 inch (Paste Print, SPI &amp; AOI); 16 inch (PnP).</a:t>
            </a:r>
            <a:endParaRPr lang="en-US" sz="1200" dirty="0">
              <a:solidFill>
                <a:srgbClr val="FF0000"/>
              </a:solidFill>
              <a:ea typeface="Intel Clear"/>
              <a:cs typeface="Intel Clear"/>
            </a:endParaRPr>
          </a:p>
          <a:p>
            <a:pPr lvl="2" algn="just"/>
            <a:r>
              <a:rPr lang="en-US" sz="1200" dirty="0">
                <a:solidFill>
                  <a:srgbClr val="FF0000"/>
                </a:solidFill>
                <a:cs typeface="Intel Clear"/>
              </a:rPr>
              <a:t>PnP (SMT &amp; Rework) had reached maximum weight capability (~28g). </a:t>
            </a:r>
            <a:endParaRPr lang="en-US" sz="1800" dirty="0"/>
          </a:p>
          <a:p>
            <a:pPr lvl="1" algn="just"/>
            <a:r>
              <a:rPr lang="en-US" sz="1400" dirty="0">
                <a:cs typeface="Intel Clear"/>
              </a:rPr>
              <a:t>Varies PCB support type used at paste print. </a:t>
            </a:r>
            <a:endParaRPr lang="en-US" sz="1400" dirty="0">
              <a:ea typeface="Intel Clear"/>
            </a:endParaRPr>
          </a:p>
          <a:p>
            <a:pPr lvl="1" algn="just"/>
            <a:r>
              <a:rPr lang="en-US" sz="1400" dirty="0"/>
              <a:t>Pallet usage is case/model dependent for paste print &amp; PnP.</a:t>
            </a:r>
          </a:p>
          <a:p>
            <a:pPr lvl="1" algn="just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10464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364A11-B4E5-43E9-A763-4CD16C99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D6D330-D1DC-4655-8991-588C518E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104028"/>
            <a:ext cx="8229600" cy="868680"/>
          </a:xfrm>
        </p:spPr>
        <p:txBody>
          <a:bodyPr/>
          <a:lstStyle/>
          <a:p>
            <a:r>
              <a:rPr lang="en-US" dirty="0"/>
              <a:t>Key Takeaway (2)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C2EED-1F95-494B-B447-6AB8A5EBFF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534013"/>
            <a:ext cx="8228012" cy="3844740"/>
          </a:xfrm>
        </p:spPr>
        <p:txBody>
          <a:bodyPr vert="horz" lIns="0" tIns="0" rIns="0" bIns="0" rtlCol="0" anchor="t">
            <a:noAutofit/>
          </a:bodyPr>
          <a:lstStyle/>
          <a:p>
            <a:pPr algn="just"/>
            <a:r>
              <a:rPr lang="en-US" sz="1400" dirty="0"/>
              <a:t>PCBA – Process / Capability (continue) </a:t>
            </a:r>
            <a:endParaRPr lang="en-MY" sz="1400" dirty="0"/>
          </a:p>
          <a:p>
            <a:pPr lvl="1" algn="just"/>
            <a:r>
              <a:rPr lang="en-US" sz="1400" dirty="0"/>
              <a:t>Customer’s NPI typically followed MAS recommended profile. Profile will be customized profile in mass production (MP) to achieve good yield. </a:t>
            </a:r>
          </a:p>
          <a:p>
            <a:pPr lvl="2" algn="just"/>
            <a:r>
              <a:rPr lang="en-US" sz="1200" dirty="0">
                <a:solidFill>
                  <a:srgbClr val="FF0000"/>
                </a:solidFill>
                <a:cs typeface="Intel Clear"/>
              </a:rPr>
              <a:t>Peak Temp range of 20 °C due to large components/socket on PCB. Required range 235-255 °C, and 230-250 °C (customer depended)</a:t>
            </a:r>
            <a:endParaRPr lang="en-US" sz="1200" dirty="0">
              <a:solidFill>
                <a:srgbClr val="FF0000"/>
              </a:solidFill>
              <a:ea typeface="Intel Clear"/>
              <a:cs typeface="Intel Clear"/>
            </a:endParaRPr>
          </a:p>
          <a:p>
            <a:pPr lvl="2" algn="just"/>
            <a:r>
              <a:rPr lang="en-US" sz="1200" dirty="0">
                <a:solidFill>
                  <a:srgbClr val="FF0000"/>
                </a:solidFill>
                <a:cs typeface="Intel Clear"/>
              </a:rPr>
              <a:t>TAL range required 60 – 90s and 60 -120s (customer dependent). </a:t>
            </a:r>
          </a:p>
          <a:p>
            <a:pPr lvl="2" algn="just"/>
            <a:r>
              <a:rPr lang="en-US" sz="1200" dirty="0" err="1">
                <a:solidFill>
                  <a:srgbClr val="FF0000"/>
                </a:solidFill>
                <a:cs typeface="Intel Clear"/>
              </a:rPr>
              <a:t>Delta_T</a:t>
            </a:r>
            <a:r>
              <a:rPr lang="en-US" sz="1200" dirty="0">
                <a:solidFill>
                  <a:srgbClr val="FF0000"/>
                </a:solidFill>
                <a:cs typeface="Intel Clear"/>
              </a:rPr>
              <a:t> &lt;15°C (vs MAS &lt;10°C). </a:t>
            </a:r>
            <a:endParaRPr lang="en-US" sz="1200" dirty="0">
              <a:solidFill>
                <a:srgbClr val="FF0000"/>
              </a:solidFill>
              <a:ea typeface="Intel Clear"/>
            </a:endParaRPr>
          </a:p>
          <a:p>
            <a:pPr lvl="1" algn="just"/>
            <a:r>
              <a:rPr lang="en-US" sz="1400" dirty="0">
                <a:solidFill>
                  <a:srgbClr val="FF0000"/>
                </a:solidFill>
                <a:cs typeface="Intel Clear"/>
              </a:rPr>
              <a:t>Rework @ air is still required.</a:t>
            </a:r>
            <a:endParaRPr lang="en-US" sz="1400" dirty="0">
              <a:solidFill>
                <a:srgbClr val="FF0000"/>
              </a:solidFill>
              <a:ea typeface="Intel Clear"/>
              <a:cs typeface="Intel Clear"/>
            </a:endParaRPr>
          </a:p>
          <a:p>
            <a:pPr algn="just"/>
            <a:r>
              <a:rPr lang="en-US" sz="1400" dirty="0"/>
              <a:t>Inspection Process (SPI / AOI / X-ray)</a:t>
            </a:r>
          </a:p>
          <a:p>
            <a:pPr lvl="1" algn="just"/>
            <a:r>
              <a:rPr lang="en-US" sz="1400" dirty="0"/>
              <a:t>100% SPI &amp; post-reflow AOI is performed during MP phase. </a:t>
            </a:r>
          </a:p>
          <a:p>
            <a:pPr lvl="1" algn="just"/>
            <a:r>
              <a:rPr lang="en-US" sz="1400" dirty="0"/>
              <a:t>Post-SMT X-ray sampling plan varies by customer.</a:t>
            </a:r>
          </a:p>
          <a:p>
            <a:pPr algn="just"/>
            <a:r>
              <a:rPr lang="en-US" sz="1400" dirty="0"/>
              <a:t>Others / Automation</a:t>
            </a:r>
          </a:p>
          <a:p>
            <a:pPr lvl="1" algn="just"/>
            <a:r>
              <a:rPr lang="en-US" sz="1400" dirty="0"/>
              <a:t>2DID (</a:t>
            </a:r>
            <a:r>
              <a:rPr lang="en-US" sz="1400" dirty="0" err="1"/>
              <a:t>SubMark</a:t>
            </a:r>
            <a:r>
              <a:rPr lang="en-US" sz="1400" dirty="0"/>
              <a:t>) is 100% scanned in-line for traceability. Marking output stability &amp; quality is required to ensure stable 2DID reading.</a:t>
            </a:r>
          </a:p>
          <a:p>
            <a:pPr lvl="1" algn="just"/>
            <a:r>
              <a:rPr lang="en-US" sz="1400" dirty="0"/>
              <a:t>The traditional ODM manufacturing is transforming toward Industrial 4.0. Customer is exploring automation at board functional test process and other areas.</a:t>
            </a:r>
          </a:p>
          <a:p>
            <a:pPr lvl="1" algn="just"/>
            <a:r>
              <a:rPr lang="en-US" sz="1400" dirty="0">
                <a:cs typeface="Intel Clear"/>
              </a:rPr>
              <a:t>Throughput time (TPT) target is varies by individual customer. </a:t>
            </a: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4188922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364A11-B4E5-43E9-A763-4CD16C996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D6D330-D1DC-4655-8991-588C518E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613" y="104028"/>
            <a:ext cx="8229600" cy="868680"/>
          </a:xfrm>
        </p:spPr>
        <p:txBody>
          <a:bodyPr/>
          <a:lstStyle/>
          <a:p>
            <a:r>
              <a:rPr lang="en-US" dirty="0"/>
              <a:t>Next Step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C2EED-1F95-494B-B447-6AB8A5EBFF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613" y="534013"/>
            <a:ext cx="8228012" cy="3844740"/>
          </a:xfrm>
        </p:spPr>
        <p:txBody>
          <a:bodyPr/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Conduct CRD survey for L10 factory in US region, to understand automation practice, requirement &amp; trend.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Need continues support for assembly test tool development (Whitley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dirty="0"/>
              <a:t>Eagle stream </a:t>
            </a:r>
            <a:r>
              <a:rPr lang="en-US" sz="1400" dirty="0">
                <a:sym typeface="Wingdings" panose="05000000000000000000" pitchFamily="2" charset="2"/>
              </a:rPr>
              <a:t> </a:t>
            </a:r>
            <a:r>
              <a:rPr lang="en-US" sz="1400" dirty="0"/>
              <a:t>future platform). Possibly address customer concerns for breaking PEEK nuts issue. 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dirty="0"/>
              <a:t>Seek customer clarification for PnP cover (new) and socket cover concerns (if this is existing/new issue). </a:t>
            </a:r>
            <a:endParaRPr lang="en-MY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E93676-A490-4F33-A3FA-4D79C0FD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241" y="3300529"/>
            <a:ext cx="2001506" cy="11997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BC9750-7056-43E1-89C1-BEE270031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0937" y="1829418"/>
            <a:ext cx="1782114" cy="14096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5C6BD5-2130-45FE-966D-79969F5F00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578035" y="2471280"/>
            <a:ext cx="1566611" cy="11273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77F01E-BE61-4CF4-BE1C-DB328BA811D8}"/>
              </a:ext>
            </a:extLst>
          </p:cNvPr>
          <p:cNvSpPr txBox="1"/>
          <p:nvPr/>
        </p:nvSpPr>
        <p:spPr>
          <a:xfrm>
            <a:off x="7061200" y="4123244"/>
            <a:ext cx="1944752" cy="5859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Example of </a:t>
            </a:r>
            <a:r>
              <a:rPr lang="en-US" sz="1100" dirty="0" err="1">
                <a:solidFill>
                  <a:srgbClr val="003C71"/>
                </a:solidFill>
              </a:rPr>
              <a:t>Purley</a:t>
            </a:r>
            <a:r>
              <a:rPr lang="en-US" sz="1100" dirty="0">
                <a:solidFill>
                  <a:srgbClr val="003C71"/>
                </a:solidFill>
              </a:rPr>
              <a:t> socket cover improvement request</a:t>
            </a:r>
            <a:endParaRPr lang="en-MY" sz="1100" dirty="0">
              <a:solidFill>
                <a:srgbClr val="003C7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9341F-BF84-40D4-B217-CAD622A6760B}"/>
              </a:ext>
            </a:extLst>
          </p:cNvPr>
          <p:cNvSpPr txBox="1"/>
          <p:nvPr/>
        </p:nvSpPr>
        <p:spPr>
          <a:xfrm>
            <a:off x="7756140" y="1921175"/>
            <a:ext cx="1210399" cy="33047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DELL – available in eBay</a:t>
            </a:r>
            <a:endParaRPr lang="en-MY" sz="1100" dirty="0">
              <a:solidFill>
                <a:srgbClr val="003C7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18741F-EB23-432C-AA4A-F2CEBA2ADD90}"/>
              </a:ext>
            </a:extLst>
          </p:cNvPr>
          <p:cNvSpPr txBox="1"/>
          <p:nvPr/>
        </p:nvSpPr>
        <p:spPr>
          <a:xfrm>
            <a:off x="5472514" y="2051831"/>
            <a:ext cx="1210399" cy="33047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Foxconn</a:t>
            </a:r>
          </a:p>
          <a:p>
            <a:r>
              <a:rPr lang="en-US" sz="1100" dirty="0">
                <a:solidFill>
                  <a:srgbClr val="003C71"/>
                </a:solidFill>
              </a:rPr>
              <a:t> design </a:t>
            </a:r>
            <a:endParaRPr lang="en-MY" sz="1100" dirty="0">
              <a:solidFill>
                <a:srgbClr val="003C7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CFA7F2-AC76-448D-9FA9-EDC05B277ADA}"/>
              </a:ext>
            </a:extLst>
          </p:cNvPr>
          <p:cNvSpPr txBox="1"/>
          <p:nvPr/>
        </p:nvSpPr>
        <p:spPr>
          <a:xfrm>
            <a:off x="5359833" y="4250998"/>
            <a:ext cx="1210399" cy="33047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dirty="0">
                <a:solidFill>
                  <a:srgbClr val="003C71"/>
                </a:solidFill>
              </a:rPr>
              <a:t>HPE design </a:t>
            </a:r>
            <a:endParaRPr lang="en-MY" sz="1100" dirty="0">
              <a:solidFill>
                <a:srgbClr val="003C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625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5929F3-CEFF-4F38-8B9E-A13A61D1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83C60E9-6119-45C8-BF59-EAE1B52B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 Tracking</a:t>
            </a:r>
            <a:endParaRPr lang="en-MY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7DC6812-E0A2-4FBC-B9E1-5647A4C58A6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34889262"/>
              </p:ext>
            </p:extLst>
          </p:nvPr>
        </p:nvGraphicFramePr>
        <p:xfrm>
          <a:off x="455613" y="844576"/>
          <a:ext cx="8228010" cy="370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35028">
                  <a:extLst>
                    <a:ext uri="{9D8B030D-6E8A-4147-A177-3AD203B41FA5}">
                      <a16:colId xmlns:a16="http://schemas.microsoft.com/office/drawing/2014/main" val="2962252074"/>
                    </a:ext>
                  </a:extLst>
                </a:gridCol>
                <a:gridCol w="958014">
                  <a:extLst>
                    <a:ext uri="{9D8B030D-6E8A-4147-A177-3AD203B41FA5}">
                      <a16:colId xmlns:a16="http://schemas.microsoft.com/office/drawing/2014/main" val="3019903190"/>
                    </a:ext>
                  </a:extLst>
                </a:gridCol>
                <a:gridCol w="1413924">
                  <a:extLst>
                    <a:ext uri="{9D8B030D-6E8A-4147-A177-3AD203B41FA5}">
                      <a16:colId xmlns:a16="http://schemas.microsoft.com/office/drawing/2014/main" val="2982499619"/>
                    </a:ext>
                  </a:extLst>
                </a:gridCol>
                <a:gridCol w="5421044">
                  <a:extLst>
                    <a:ext uri="{9D8B030D-6E8A-4147-A177-3AD203B41FA5}">
                      <a16:colId xmlns:a16="http://schemas.microsoft.com/office/drawing/2014/main" val="3198117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#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Rev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Date Released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Change Description 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225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W26 Y2020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New doc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990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W32 Y2020</a:t>
                      </a:r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Updated machine information and  (page 4 &amp;  6, </a:t>
                      </a:r>
                      <a:r>
                        <a:rPr lang="en-US" sz="1400" i="0" dirty="0">
                          <a:solidFill>
                            <a:srgbClr val="0070C0"/>
                          </a:solidFill>
                        </a:rPr>
                        <a:t>in</a:t>
                      </a:r>
                      <a:r>
                        <a:rPr lang="en-US" sz="1400" dirty="0"/>
                        <a:t> </a:t>
                      </a:r>
                      <a:r>
                        <a:rPr lang="en-US" sz="1400" i="1" dirty="0">
                          <a:solidFill>
                            <a:srgbClr val="0070C0"/>
                          </a:solidFill>
                        </a:rPr>
                        <a:t>blue</a:t>
                      </a:r>
                      <a:r>
                        <a:rPr lang="en-US" sz="1400" dirty="0"/>
                        <a:t>)</a:t>
                      </a:r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85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7394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482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9649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007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2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0202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12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370118"/>
      </p:ext>
    </p:extLst>
  </p:cSld>
  <p:clrMapOvr>
    <a:masterClrMapping/>
  </p:clrMapOvr>
</p:sld>
</file>

<file path=ppt/theme/theme1.xml><?xml version="1.0" encoding="utf-8"?>
<a:theme xmlns:a="http://schemas.openxmlformats.org/drawingml/2006/main" name="Int_PPT Template_ClearPro_16x9">
  <a:themeElements>
    <a:clrScheme name="Custom 2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B7D108"/>
      </a:accent1>
      <a:accent2>
        <a:srgbClr val="0071C5"/>
      </a:accent2>
      <a:accent3>
        <a:srgbClr val="009CDA"/>
      </a:accent3>
      <a:accent4>
        <a:srgbClr val="F8D44C"/>
      </a:accent4>
      <a:accent5>
        <a:srgbClr val="FFA400"/>
      </a:accent5>
      <a:accent6>
        <a:srgbClr val="FF4E00"/>
      </a:accent6>
      <a:hlink>
        <a:srgbClr val="C3D600"/>
      </a:hlink>
      <a:folHlink>
        <a:srgbClr val="0071C5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>
          <a:defRPr sz="1100" dirty="0" smtClean="0">
            <a:solidFill>
              <a:srgbClr val="003C7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7" ma:contentTypeDescription="Create a new document." ma:contentTypeScope="" ma:versionID="fef3ffe62929f1eeb6dfc793b0bec489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9bda764ba488f0029c49e465dcc59d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12A06151-3692-47B4-BD5C-B8A6FC42B1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33071C-877A-4B38-B0F9-E0778C23EFCD}"/>
</file>

<file path=customXml/itemProps3.xml><?xml version="1.0" encoding="utf-8"?>
<ds:datastoreItem xmlns:ds="http://schemas.openxmlformats.org/officeDocument/2006/customXml" ds:itemID="{AE99ECB8-45FC-4100-8BF9-2ED702075700}">
  <ds:schemaRefs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4210</Words>
  <Application>Microsoft Office PowerPoint</Application>
  <PresentationFormat>On-screen Show (16:9)</PresentationFormat>
  <Paragraphs>952</Paragraphs>
  <Slides>21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Int_PPT Template_ClearPro_16x9</vt:lpstr>
      <vt:lpstr>Eagle stream ODMs CRD survey Report  (server segment)</vt:lpstr>
      <vt:lpstr>Agenda</vt:lpstr>
      <vt:lpstr>Server Manufacturing Level &amp; Customer Landscape</vt:lpstr>
      <vt:lpstr>PCBA Material / Consumables</vt:lpstr>
      <vt:lpstr>PCBA Material / Consumables &amp; Technology</vt:lpstr>
      <vt:lpstr>PCBA Machine (Brand &amp; Model)</vt:lpstr>
      <vt:lpstr>PCBA Process Parameter/Capability – Paste Printing</vt:lpstr>
      <vt:lpstr>PCBA Process Parameter/Capability – PnP</vt:lpstr>
      <vt:lpstr>PCBA Process Parameter/Capability – Reflow</vt:lpstr>
      <vt:lpstr>PCBA Process Parameter/Capability – Wave &amp; Rework</vt:lpstr>
      <vt:lpstr>PCBA Process Parameter/Capability – Inspection (1)</vt:lpstr>
      <vt:lpstr>PCBA Process Parameter/Capability – Inspection (2)</vt:lpstr>
      <vt:lpstr>PCBA – Operation &amp; Others</vt:lpstr>
      <vt:lpstr>Others / Automation (L5/L6) - 1</vt:lpstr>
      <vt:lpstr>Others / Automation (L5/L6) - 2</vt:lpstr>
      <vt:lpstr>Others / Automation (L10) - 1</vt:lpstr>
      <vt:lpstr>Others / Automation (L10) - 2</vt:lpstr>
      <vt:lpstr>Key Takeaway (1)</vt:lpstr>
      <vt:lpstr>Key Takeaway (2)</vt:lpstr>
      <vt:lpstr>Next Step</vt:lpstr>
      <vt:lpstr>Rev Tracking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Eagle stream ODMs CRD survey Report  (server segment)</dc:title>
  <dc:creator/>
  <cp:keywords>CTPClassification=CTP_NT</cp:keywords>
  <cp:lastModifiedBy/>
  <cp:revision>11</cp:revision>
  <dcterms:created xsi:type="dcterms:W3CDTF">2015-05-06T16:36:39Z</dcterms:created>
  <dcterms:modified xsi:type="dcterms:W3CDTF">2020-08-12T05:51:58Z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  <property fmtid="{D5CDD505-2E9C-101B-9397-08002B2CF9AE}" pid="3" name="TitusGUID">
    <vt:lpwstr>2bb53cbb-5b9d-4f91-b56a-191a30a36530</vt:lpwstr>
  </property>
  <property fmtid="{D5CDD505-2E9C-101B-9397-08002B2CF9AE}" pid="4" name="CTP_TimeStamp">
    <vt:lpwstr>2020-06-23 23:56:58Z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