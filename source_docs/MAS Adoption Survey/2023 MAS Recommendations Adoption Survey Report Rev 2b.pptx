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46" r:id="rId6"/>
    <p:sldId id="402" r:id="rId7"/>
    <p:sldId id="404" r:id="rId8"/>
    <p:sldId id="444" r:id="rId9"/>
    <p:sldId id="445" r:id="rId10"/>
    <p:sldId id="447" r:id="rId11"/>
    <p:sldId id="446" r:id="rId12"/>
    <p:sldId id="448" r:id="rId13"/>
    <p:sldId id="292" r:id="rId14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0068B5"/>
    <a:srgbClr val="E7EBF3"/>
    <a:srgbClr val="2872C5"/>
    <a:srgbClr val="FFFFFF"/>
    <a:srgbClr val="00C7FD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70229-E507-4098-8940-10BE0D7AC36E}" v="11" dt="2023-12-22T17:11:20.13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7423" autoAdjust="0"/>
  </p:normalViewPr>
  <p:slideViewPr>
    <p:cSldViewPr snapToGrid="0" snapToObjects="1">
      <p:cViewPr varScale="1">
        <p:scale>
          <a:sx n="111" d="100"/>
          <a:sy n="111" d="100"/>
        </p:scale>
        <p:origin x="768" y="96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5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lmes, Brett" userId="06362215-36e7-475f-afc0-d6360d79f1e0" providerId="ADAL" clId="{4D770229-E507-4098-8940-10BE0D7AC36E}"/>
    <pc:docChg chg="custSel modSld">
      <pc:chgData name="Holmes, Brett" userId="06362215-36e7-475f-afc0-d6360d79f1e0" providerId="ADAL" clId="{4D770229-E507-4098-8940-10BE0D7AC36E}" dt="2023-12-22T17:11:20.139" v="12" actId="108"/>
      <pc:docMkLst>
        <pc:docMk/>
      </pc:docMkLst>
      <pc:sldChg chg="modSp mod modAnim">
        <pc:chgData name="Holmes, Brett" userId="06362215-36e7-475f-afc0-d6360d79f1e0" providerId="ADAL" clId="{4D770229-E507-4098-8940-10BE0D7AC36E}" dt="2023-12-22T17:11:20.139" v="12" actId="108"/>
        <pc:sldMkLst>
          <pc:docMk/>
          <pc:sldMk cId="723533408" sldId="402"/>
        </pc:sldMkLst>
        <pc:spChg chg="mod">
          <ac:chgData name="Holmes, Brett" userId="06362215-36e7-475f-afc0-d6360d79f1e0" providerId="ADAL" clId="{4D770229-E507-4098-8940-10BE0D7AC36E}" dt="2023-12-22T17:11:20.139" v="12" actId="108"/>
          <ac:spMkLst>
            <pc:docMk/>
            <pc:sldMk cId="723533408" sldId="402"/>
            <ac:spMk id="3" creationId="{96457946-1483-4C9A-8FE4-A2862E3EFF3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12/22/2023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</a:rPr>
              <a:t>CQR | </a:t>
            </a:r>
            <a:r>
              <a:rPr lang="en-US" sz="1000" b="0" dirty="0">
                <a:solidFill>
                  <a:schemeClr val="bg2"/>
                </a:solidFill>
              </a:rPr>
              <a:t> Customer Quality &amp; Reliability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5" y="2079391"/>
            <a:ext cx="11310050" cy="1504200"/>
          </a:xfrm>
        </p:spPr>
        <p:txBody>
          <a:bodyPr anchor="b" anchorCtr="0"/>
          <a:lstStyle/>
          <a:p>
            <a:pPr algn="ctr"/>
            <a:r>
              <a:rPr lang="en-US" sz="4800" dirty="0"/>
              <a:t>2023 </a:t>
            </a:r>
            <a:br>
              <a:rPr lang="en-US" sz="4800" dirty="0"/>
            </a:br>
            <a:r>
              <a:rPr lang="en-US" sz="4800" dirty="0"/>
              <a:t>MAS Recommendations Adoption </a:t>
            </a:r>
            <a:br>
              <a:rPr lang="en-US" sz="4800" dirty="0"/>
            </a:br>
            <a:r>
              <a:rPr lang="en-US" sz="4800" dirty="0"/>
              <a:t>Survey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 dirty="0"/>
              <a:t>Rev2.0, CQ&amp;R CMEE Team, Q4 ‘23</a:t>
            </a: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780631"/>
            <a:ext cx="11010900" cy="36057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Data was collected from 4 ODM customers/sites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Wistron, </a:t>
            </a:r>
            <a:r>
              <a:rPr lang="en-US" sz="2000" dirty="0" err="1"/>
              <a:t>HuaQin</a:t>
            </a:r>
            <a:r>
              <a:rPr lang="en-US" sz="2000" dirty="0"/>
              <a:t>, Inventec(</a:t>
            </a:r>
            <a:r>
              <a:rPr lang="en-US" sz="2000" dirty="0" err="1"/>
              <a:t>ChongQing</a:t>
            </a:r>
            <a:r>
              <a:rPr lang="en-US" sz="2000" dirty="0"/>
              <a:t>), Pegatron (</a:t>
            </a:r>
            <a:r>
              <a:rPr lang="en-US" sz="2000" dirty="0" err="1"/>
              <a:t>ChongQing</a:t>
            </a:r>
            <a:r>
              <a:rPr lang="en-US" sz="2000" dirty="0"/>
              <a:t>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survey was sent to 6 ODMs, only 4 of them replied.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Why were these 6 ODM’s chosen to participate?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CMEE has an established relationship with the 6 ODMs.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These 6 ODMs were part of the LNL-MX CRD earlier survey this year.</a:t>
            </a:r>
          </a:p>
          <a:p>
            <a:pPr marL="2286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Share Findings From CMEE Mobile Industry Data Collection (MAS Recommendations Adoption Survey)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C6ED2-0C15-853C-4D12-447B92E9D063}"/>
              </a:ext>
            </a:extLst>
          </p:cNvPr>
          <p:cNvSpPr txBox="1"/>
          <p:nvPr/>
        </p:nvSpPr>
        <p:spPr>
          <a:xfrm>
            <a:off x="1449236" y="5615795"/>
            <a:ext cx="8790318" cy="738664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Given the sample methodology, these results </a:t>
            </a:r>
            <a:r>
              <a:rPr kumimoji="0" lang="en-US" b="1" i="0" u="sng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cannot</a:t>
            </a:r>
            <a:r>
              <a:rPr kumimoji="0" lang="en-US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be considered representative of all ODM’s who receive MAS docs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/>
          </a:bodyPr>
          <a:lstStyle/>
          <a:p>
            <a:pPr marL="288925" indent="-288925">
              <a:spcAft>
                <a:spcPts val="600"/>
              </a:spcAft>
            </a:pPr>
            <a:r>
              <a:rPr lang="en-US" sz="2400" dirty="0"/>
              <a:t>All 4 customers sampled follow Intel’s MAS to design stencil. </a:t>
            </a:r>
          </a:p>
          <a:p>
            <a:pPr marL="288925" indent="-288925">
              <a:spcAft>
                <a:spcPts val="600"/>
              </a:spcAft>
            </a:pPr>
            <a:r>
              <a:rPr lang="en-US" sz="2400" dirty="0"/>
              <a:t>Half of the customers sampled follow the MAS to select solder paste. ODM will also certify solder paste by themselves or follow OEM’s recommendation </a:t>
            </a:r>
          </a:p>
          <a:p>
            <a:pPr marL="288925" indent="-288925">
              <a:spcAft>
                <a:spcPts val="600"/>
              </a:spcAft>
            </a:pPr>
            <a:r>
              <a:rPr lang="en-US" altLang="zh-CN" sz="2400" dirty="0">
                <a:sym typeface="Wingdings" panose="05000000000000000000" pitchFamily="2" charset="2"/>
              </a:rPr>
              <a:t> Most of the customers sampled follow the MAS to set reflow profile. ODM will also refer to solder paste’s advice before refer to Intel recommendation.</a:t>
            </a:r>
          </a:p>
          <a:p>
            <a:pPr marL="288925" indent="-288925">
              <a:spcAft>
                <a:spcPts val="600"/>
              </a:spcAft>
            </a:pPr>
            <a:r>
              <a:rPr lang="en-US" altLang="zh-CN" sz="2400" dirty="0">
                <a:sym typeface="Wingdings" panose="05000000000000000000" pitchFamily="2" charset="2"/>
              </a:rPr>
              <a:t>Most of the customers sampled follow the MAS rework recommendations.</a:t>
            </a:r>
          </a:p>
          <a:p>
            <a:pPr marL="288925" indent="-288925">
              <a:spcAft>
                <a:spcPts val="600"/>
              </a:spcAft>
            </a:pPr>
            <a:r>
              <a:rPr lang="en-US" sz="2400" dirty="0"/>
              <a:t>None of the 4 customers sampled follow the MAS recommended adhesives. </a:t>
            </a:r>
          </a:p>
          <a:p>
            <a:pPr marL="492125" lvl="1" indent="-288925">
              <a:spcAft>
                <a:spcPts val="600"/>
              </a:spcAft>
            </a:pPr>
            <a:r>
              <a:rPr lang="en-US" sz="2000" dirty="0"/>
              <a:t>ODM also need to take OEM’s recommendation into consideration when they select adhesives.</a:t>
            </a:r>
            <a:endParaRPr lang="en-US" altLang="zh-CN" sz="1800" dirty="0">
              <a:sym typeface="Wingdings" panose="05000000000000000000" pitchFamily="2" charset="2"/>
            </a:endParaRPr>
          </a:p>
          <a:p>
            <a:pPr marL="288925" indent="-288925">
              <a:spcAft>
                <a:spcPts val="600"/>
              </a:spcAft>
            </a:pPr>
            <a:endParaRPr lang="en-US" altLang="zh-CN" sz="2400" dirty="0">
              <a:sym typeface="Wingdings" panose="05000000000000000000" pitchFamily="2" charset="2"/>
            </a:endParaRPr>
          </a:p>
          <a:p>
            <a:pPr marL="288925" indent="-288925">
              <a:spcAft>
                <a:spcPts val="600"/>
              </a:spcAft>
            </a:pPr>
            <a:endParaRPr lang="en-US" altLang="zh-CN" sz="2400" dirty="0">
              <a:sym typeface="Wingdings" panose="05000000000000000000" pitchFamily="2" charset="2"/>
            </a:endParaRPr>
          </a:p>
          <a:p>
            <a:pPr marL="288925" indent="-288925">
              <a:spcAft>
                <a:spcPts val="600"/>
              </a:spcAft>
            </a:pPr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 (1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07928"/>
              </p:ext>
            </p:extLst>
          </p:nvPr>
        </p:nvGraphicFramePr>
        <p:xfrm>
          <a:off x="571370" y="1392555"/>
          <a:ext cx="10686440" cy="2225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MAS stencil recommendation in your production?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0686438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All customers sampled follow Intel MAS to design stencil. 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49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 (2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628200"/>
              </p:ext>
            </p:extLst>
          </p:nvPr>
        </p:nvGraphicFramePr>
        <p:xfrm>
          <a:off x="571370" y="1392555"/>
          <a:ext cx="10686440" cy="25952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verified solder paste in your production?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solder paste certified by internal team or specified by customer(In most cases, our solder paste was included in MAS)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Use solder paste certified by internal team or specified by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1010816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Half of the customers sampled follow Intel MAS to select solder paste. ODM will also certify solder paste by themselves or follow OEM’s recommendation.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9928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 (3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99546"/>
              </p:ext>
            </p:extLst>
          </p:nvPr>
        </p:nvGraphicFramePr>
        <p:xfrm>
          <a:off x="571370" y="1392555"/>
          <a:ext cx="10686440" cy="25952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recommended reflow profile setting?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Follow solder paste supplier’s advice as priority. If encounter some issues, like LTS hot tearing issue, then will refer to Intel MAS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0686438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Most of the customers sampled follow Intel MAS to set reflow profile. ODM will also refer to solder paste’s advice before refer to Intel recommendation.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3396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 (4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74954"/>
              </p:ext>
            </p:extLst>
          </p:nvPr>
        </p:nvGraphicFramePr>
        <p:xfrm>
          <a:off x="571370" y="1392555"/>
          <a:ext cx="10686440" cy="22294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follow Intel rework recommendations?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BGA re-ball recommendation in Intel 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0686438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Most of the customers sampled follow Intel MAS to rework.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2090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 (5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620819"/>
              </p:ext>
            </p:extLst>
          </p:nvPr>
        </p:nvGraphicFramePr>
        <p:xfrm>
          <a:off x="571370" y="1392555"/>
          <a:ext cx="10686440" cy="24123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recommended adhesive recommendation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 is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Our current adhesive is good enough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Our current adhesive is good enough.  Adhesive required by our customer not in Intel 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We certified adhesive by ourselves. Adhesive required by our customer was not in Intel 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Our current adhesive is good enough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0686438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None of  customers sampled follow Intel MAS recommended adhesives.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C56DA4-3907-2809-F4C7-49C54C698138}"/>
              </a:ext>
            </a:extLst>
          </p:cNvPr>
          <p:cNvSpPr txBox="1"/>
          <p:nvPr/>
        </p:nvSpPr>
        <p:spPr>
          <a:xfrm>
            <a:off x="1416170" y="6194167"/>
            <a:ext cx="1060186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Note:  Based on our experience, only Microsoft uses the adhesive (</a:t>
            </a:r>
            <a:r>
              <a:rPr kumimoji="0" lang="en-US" sz="1200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Zymet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), which was recommended </a:t>
            </a: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 the</a:t>
            </a: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LNL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Intel MAS. </a:t>
            </a:r>
          </a:p>
        </p:txBody>
      </p:sp>
    </p:spTree>
    <p:extLst>
      <p:ext uri="{BB962C8B-B14F-4D97-AF65-F5344CB8AC3E}">
        <p14:creationId xmlns:p14="http://schemas.microsoft.com/office/powerpoint/2010/main" val="26341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8961-41D0-C1DB-E1AA-2A6D43CF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9DB5-6F47-8E59-6C7D-5A9DA3ED2D2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523999"/>
            <a:ext cx="11010900" cy="457494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/>
              <a:t>Impossible</a:t>
            </a:r>
            <a:r>
              <a:rPr lang="en-US" sz="2400" dirty="0"/>
              <a:t> for CMEE to scale (by conducting census or representative sampling of ODM’s).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Very difficult to know where Intel is shipping products.  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The list of who is building a product is not stable but fluctuates over time.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Customers have multiple manufacturing lines.. which ones are we trying to ask about this?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We do </a:t>
            </a:r>
            <a:r>
              <a:rPr lang="en-US" sz="1800" u="sng" dirty="0"/>
              <a:t>not have contacts/relationships </a:t>
            </a:r>
            <a:r>
              <a:rPr lang="en-US" sz="1800" dirty="0"/>
              <a:t>with all the customers building with our products.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Would be very resource intensive for CMEE (lack the resources to support).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Attempting to collect “MAS recommendation adoption data”, on large scale, would be a logistical nightmare.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We do </a:t>
            </a:r>
            <a:r>
              <a:rPr lang="en-US" sz="2400" u="sng" dirty="0"/>
              <a:t>not</a:t>
            </a:r>
            <a:r>
              <a:rPr lang="en-US" sz="2400" dirty="0"/>
              <a:t> recommend we publish such an indicator on  a routine basis as an OKR indicator.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People will falsely assume the data </a:t>
            </a:r>
            <a:r>
              <a:rPr lang="en-US" sz="1800" i="1" dirty="0"/>
              <a:t>is</a:t>
            </a:r>
            <a:r>
              <a:rPr lang="en-US" sz="1800" dirty="0"/>
              <a:t> representative of all our ODM’s… therefore it will easily become a misleading indicator.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We will consider adding it to future CRD’s to at least have “spot” information on MAS recommendation adoption.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Such (limited) info might come in handy during issue management / troubleshooting. </a:t>
            </a:r>
          </a:p>
        </p:txBody>
      </p:sp>
    </p:spTree>
    <p:extLst>
      <p:ext uri="{BB962C8B-B14F-4D97-AF65-F5344CB8AC3E}">
        <p14:creationId xmlns:p14="http://schemas.microsoft.com/office/powerpoint/2010/main" val="281629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7" ma:contentTypeDescription="Create a new document." ma:contentTypeScope="" ma:versionID="fef3ffe62929f1eeb6dfc793b0bec48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9bda764ba488f0029c49e465dcc59d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E0B3A8-DBD5-44EA-861E-55B752315E4C}"/>
</file>

<file path=customXml/itemProps3.xml><?xml version="1.0" encoding="utf-8"?>
<ds:datastoreItem xmlns:ds="http://schemas.openxmlformats.org/officeDocument/2006/customXml" ds:itemID="{724B8A99-8161-4D52-8DFD-478F5C1B317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26373</TotalTime>
  <Words>859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Helvetica</vt:lpstr>
      <vt:lpstr>Helvetica Neue</vt:lpstr>
      <vt:lpstr>Helvetica Neue Medium</vt:lpstr>
      <vt:lpstr>Intel Clear</vt:lpstr>
      <vt:lpstr>Intel Clear Light</vt:lpstr>
      <vt:lpstr>Wingdings</vt:lpstr>
      <vt:lpstr>21_BasicWhite</vt:lpstr>
      <vt:lpstr>2023  MAS Recommendations Adoption  Survey Report</vt:lpstr>
      <vt:lpstr>Objectives</vt:lpstr>
      <vt:lpstr>Summary</vt:lpstr>
      <vt:lpstr>MAS Compliance (1 of 5)</vt:lpstr>
      <vt:lpstr>MAS Compliance (2 of 5)</vt:lpstr>
      <vt:lpstr>MAS Compliance (3 of 5)</vt:lpstr>
      <vt:lpstr>MAS Compliance (4 of 5)</vt:lpstr>
      <vt:lpstr>MAS Compliance (5 of 5)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Holmes, Brett</cp:lastModifiedBy>
  <cp:revision>189</cp:revision>
  <dcterms:modified xsi:type="dcterms:W3CDTF">2023-12-22T17:11:21Z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